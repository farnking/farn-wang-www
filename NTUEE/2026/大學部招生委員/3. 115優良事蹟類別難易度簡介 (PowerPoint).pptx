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3" r:id="rId1"/>
  </p:sldMasterIdLst>
  <p:notesMasterIdLst>
    <p:notesMasterId r:id="rId21"/>
  </p:notesMasterIdLst>
  <p:handoutMasterIdLst>
    <p:handoutMasterId r:id="rId22"/>
  </p:handoutMasterIdLst>
  <p:sldIdLst>
    <p:sldId id="291" r:id="rId2"/>
    <p:sldId id="413" r:id="rId3"/>
    <p:sldId id="390" r:id="rId4"/>
    <p:sldId id="396" r:id="rId5"/>
    <p:sldId id="407" r:id="rId6"/>
    <p:sldId id="408" r:id="rId7"/>
    <p:sldId id="409" r:id="rId8"/>
    <p:sldId id="410" r:id="rId9"/>
    <p:sldId id="401" r:id="rId10"/>
    <p:sldId id="406" r:id="rId11"/>
    <p:sldId id="402" r:id="rId12"/>
    <p:sldId id="403" r:id="rId13"/>
    <p:sldId id="404" r:id="rId14"/>
    <p:sldId id="412" r:id="rId15"/>
    <p:sldId id="392" r:id="rId16"/>
    <p:sldId id="393" r:id="rId17"/>
    <p:sldId id="394" r:id="rId18"/>
    <p:sldId id="395" r:id="rId19"/>
    <p:sldId id="405" r:id="rId20"/>
  </p:sldIdLst>
  <p:sldSz cx="9144000" cy="6858000" type="screen4x3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FCCFF"/>
    <a:srgbClr val="FF99FF"/>
    <a:srgbClr val="FF0000"/>
    <a:srgbClr val="800000"/>
    <a:srgbClr val="663300"/>
    <a:srgbClr val="003300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0" autoAdjust="0"/>
    <p:restoredTop sz="94687" autoAdjust="0"/>
  </p:normalViewPr>
  <p:slideViewPr>
    <p:cSldViewPr>
      <p:cViewPr varScale="1">
        <p:scale>
          <a:sx n="115" d="100"/>
          <a:sy n="115" d="100"/>
        </p:scale>
        <p:origin x="72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96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2C35192-D712-45F5-9685-133CDF136F0B}" type="datetimeFigureOut">
              <a:rPr lang="zh-TW" altLang="en-US"/>
              <a:pPr>
                <a:defRPr/>
              </a:pPr>
              <a:t>2026/5/7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5DB767-F9D1-4339-BF16-D3264993C8F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12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40B63E8E-31E7-4D8F-A31C-88B05B1CF9A1}" type="datetimeFigureOut">
              <a:rPr lang="zh-TW" altLang="en-US"/>
              <a:pPr>
                <a:defRPr/>
              </a:pPr>
              <a:t>2026/5/7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36C94886-D860-40A3-8D2F-A03C9597AD7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086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560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60A121-06BF-41C5-8578-3F990D894A6A}" type="slidenum">
              <a:rPr lang="zh-TW" altLang="en-US" smtClean="0"/>
              <a:pPr/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3208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662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6FBBA63-ADAB-45AA-9FBA-675109BB7CC2}" type="slidenum">
              <a:rPr lang="zh-TW" altLang="en-US" smtClean="0"/>
              <a:pPr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105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765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E2076F-C0FE-48DB-9E0A-45D4EEE0AC3B}" type="slidenum">
              <a:rPr lang="zh-TW" altLang="en-US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8530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867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E1E289A-A54D-434F-BF98-E3B947381DA4}" type="slidenum">
              <a:rPr lang="zh-TW" altLang="en-US" smtClean="0"/>
              <a:pPr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4567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5AAAB7-3B4A-4BF1-8149-0672798EB7D0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7C33E-9AEB-4E96-9818-B4DB79204A3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5880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63EE84-B2C8-4D44-8807-1C8BBB3A3F3F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908C33-2A32-456D-B326-C40BA8DB36C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946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B3EBCA-AB70-434A-8F5E-1E6E64073D0C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0FB97-7248-40E5-BB0A-5FC697B59D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05483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1E1AEF-E41F-41CC-B9DA-8BA924E2FD2C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5894B-CC6F-4B21-BF43-C713449F3F4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3565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5D50E6-4292-4926-B327-C64EB205CE6E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D1C0FC-35D1-4976-919F-7225666BE98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797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8358DA-C636-4B59-A76F-3EF827D8CCB8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24122-F3C1-4544-8974-A295A3717A4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109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617F9B-50E5-4464-92FB-E4F3DDCB46F7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7E93B8-8733-4AB9-9598-6943F1C2751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126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0F0884-AA84-4826-867C-D78979D0F490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E27F6D-0E8C-4A20-8499-72DC0658708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231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78FE49-5125-46DC-8C01-889DF1A56EFB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32C07B-DF03-4BB6-BA35-1323FC024DF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878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B3EBCA-AB70-434A-8F5E-1E6E64073D0C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0FB97-7248-40E5-BB0A-5FC697B59D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99174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B3EBCA-AB70-434A-8F5E-1E6E64073D0C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0FB97-7248-40E5-BB0A-5FC697B59D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26729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B3EBCA-AB70-434A-8F5E-1E6E64073D0C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0FB97-7248-40E5-BB0A-5FC697B59D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50349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B3EBCA-AB70-434A-8F5E-1E6E64073D0C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0FB97-7248-40E5-BB0A-5FC697B59D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02040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B3EBCA-AB70-434A-8F5E-1E6E64073D0C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0FB97-7248-40E5-BB0A-5FC697B59D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95427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8DDF94-DD0C-4709-9E07-43539579F218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3C73FA-D076-4DE5-AD4A-9E6B03ACBC9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5732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112FCA-BAB3-4DA8-8447-FA64AB80BBE8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677838-C63F-4E2D-A8C5-EAA6A4DAA83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607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3B3EBCA-AB70-434A-8F5E-1E6E64073D0C}" type="datetime1">
              <a:rPr lang="en-US" altLang="zh-TW" smtClean="0"/>
              <a:pPr>
                <a:defRPr/>
              </a:pPr>
              <a:t>5/7/2026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Copyright © 2011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30FB97-7248-40E5-BB0A-5FC697B59DE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671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  <p:sldLayoutId id="2147484063" r:id="rId10"/>
    <p:sldLayoutId id="2147484064" r:id="rId11"/>
    <p:sldLayoutId id="2147484065" r:id="rId12"/>
    <p:sldLayoutId id="2147484066" r:id="rId13"/>
    <p:sldLayoutId id="2147484067" r:id="rId14"/>
    <p:sldLayoutId id="2147484068" r:id="rId15"/>
    <p:sldLayoutId id="214748406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zh-TW" sz="2800" dirty="0">
                <a:latin typeface="標楷體" pitchFamily="65" charset="-120"/>
                <a:ea typeface="標楷體" pitchFamily="65" charset="-120"/>
              </a:rPr>
            </a:br>
            <a:br>
              <a:rPr lang="en-US" altLang="zh-TW" sz="2800" dirty="0">
                <a:latin typeface="標楷體" pitchFamily="65" charset="-120"/>
                <a:ea typeface="標楷體" pitchFamily="65" charset="-120"/>
              </a:rPr>
            </a:br>
            <a:r>
              <a:rPr lang="zh-TW" altLang="en-US" sz="2800" dirty="0">
                <a:latin typeface="標楷體" pitchFamily="65" charset="-120"/>
                <a:ea typeface="標楷體" pitchFamily="65" charset="-120"/>
              </a:rPr>
              <a:t>大學甄試備審資料</a:t>
            </a:r>
            <a:br>
              <a:rPr lang="en-US" altLang="zh-TW" sz="2800" dirty="0">
                <a:latin typeface="標楷體" pitchFamily="65" charset="-120"/>
                <a:ea typeface="標楷體" pitchFamily="65" charset="-120"/>
              </a:rPr>
            </a:br>
            <a:r>
              <a:rPr lang="zh-TW" altLang="en-US" sz="4800" b="1" dirty="0">
                <a:latin typeface="標楷體" pitchFamily="65" charset="-120"/>
                <a:ea typeface="標楷體" pitchFamily="65" charset="-120"/>
              </a:rPr>
              <a:t>優良競賽事蹟 難易度簡介</a:t>
            </a:r>
            <a:br>
              <a:rPr lang="en-US" altLang="zh-TW" sz="4800" b="1" dirty="0">
                <a:latin typeface="標楷體" pitchFamily="65" charset="-120"/>
                <a:ea typeface="標楷體" pitchFamily="65" charset="-120"/>
              </a:rPr>
            </a:br>
            <a:endParaRPr lang="en-US" altLang="zh-TW" sz="2800" b="1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6147" name="Rectangle 5"/>
          <p:cNvSpPr>
            <a:spLocks noGrp="1"/>
          </p:cNvSpPr>
          <p:nvPr>
            <p:ph type="subTitle" idx="1"/>
          </p:nvPr>
        </p:nvSpPr>
        <p:spPr>
          <a:xfrm>
            <a:off x="1371600" y="4509120"/>
            <a:ext cx="6400800" cy="175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200" dirty="0">
                <a:latin typeface="標楷體" pitchFamily="65" charset="-120"/>
                <a:ea typeface="標楷體" pitchFamily="65" charset="-120"/>
              </a:rPr>
              <a:t>115</a:t>
            </a:r>
            <a:r>
              <a:rPr lang="zh-TW" altLang="en-US" sz="2200" dirty="0"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sz="2200" dirty="0">
                <a:latin typeface="標楷體" pitchFamily="65" charset="-120"/>
                <a:ea typeface="標楷體" pitchFamily="65" charset="-120"/>
              </a:rPr>
              <a:t>5</a:t>
            </a:r>
            <a:r>
              <a:rPr lang="zh-TW" altLang="en-US" sz="2200" dirty="0">
                <a:latin typeface="標楷體" pitchFamily="65" charset="-120"/>
                <a:ea typeface="標楷體" pitchFamily="65" charset="-120"/>
              </a:rPr>
              <a:t>月提供審查委員參考</a:t>
            </a:r>
            <a:endParaRPr lang="en-US" altLang="zh-TW" sz="2200" dirty="0">
              <a:latin typeface="標楷體" pitchFamily="65" charset="-120"/>
              <a:ea typeface="標楷體" pitchFamily="65" charset="-120"/>
            </a:endParaRPr>
          </a:p>
          <a:p>
            <a:pPr>
              <a:lnSpc>
                <a:spcPct val="80000"/>
              </a:lnSpc>
            </a:pPr>
            <a:endParaRPr lang="en-US" altLang="zh-TW" sz="220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a typeface="標楷體" pitchFamily="65" charset="-120"/>
              </a:rPr>
              <a:t>如果不想細分，可以認關鍵字</a:t>
            </a:r>
            <a:r>
              <a:rPr lang="en-US" altLang="zh-TW" dirty="0">
                <a:ea typeface="標楷體" pitchFamily="65" charset="-120"/>
              </a:rPr>
              <a:t>:</a:t>
            </a:r>
            <a:endParaRPr lang="zh-TW" altLang="en-US" dirty="0">
              <a:ea typeface="標楷體" pitchFamily="65" charset="-120"/>
            </a:endParaRPr>
          </a:p>
        </p:txBody>
      </p:sp>
      <p:sp>
        <p:nvSpPr>
          <p:cNvPr id="19459" name="內容版面配置區 2"/>
          <p:cNvSpPr>
            <a:spLocks noGrp="1"/>
          </p:cNvSpPr>
          <p:nvPr>
            <p:ph idx="1"/>
          </p:nvPr>
        </p:nvSpPr>
        <p:spPr>
          <a:xfrm>
            <a:off x="609598" y="2160590"/>
            <a:ext cx="6914729" cy="3880773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全國前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20-50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名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學科類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進入奧林匹亞選訓營 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/ 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選拔營 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/ 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複選營 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一階約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40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人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學科能力競賽全國決賽一等獎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(3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)/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二等獎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(7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)/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三等獎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(10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科展類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全國中小學科學展覽會得名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各科一等獎到三等獎各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2-3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台灣國際科學展覽會得名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參加各國國際科展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endParaRPr lang="en-US" altLang="zh-TW" dirty="0">
              <a:latin typeface="Calibri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284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itchFamily="65" charset="-120"/>
                <a:ea typeface="標楷體" pitchFamily="65" charset="-120"/>
              </a:rPr>
              <a:t>大綱</a:t>
            </a:r>
          </a:p>
        </p:txBody>
      </p:sp>
      <p:sp>
        <p:nvSpPr>
          <p:cNvPr id="717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優良事蹟的類別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奧林匹亞  科展  競賽  其他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優良事蹟的難易度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常常是先比簡單的 然後越來越難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地區</a:t>
            </a:r>
            <a:r>
              <a:rPr lang="en-US" altLang="zh-TW">
                <a:latin typeface="Calibri" pitchFamily="34" charset="0"/>
                <a:ea typeface="標楷體" pitchFamily="65" charset="-120"/>
                <a:sym typeface="Wingdings" pitchFamily="2" charset="2"/>
              </a:rPr>
              <a:t>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全國</a:t>
            </a:r>
            <a:r>
              <a:rPr lang="en-US" altLang="zh-TW">
                <a:latin typeface="Calibri" pitchFamily="34" charset="0"/>
                <a:ea typeface="標楷體" pitchFamily="65" charset="-120"/>
                <a:sym typeface="Wingdings" pitchFamily="2" charset="2"/>
              </a:rPr>
              <a:t></a:t>
            </a:r>
            <a:r>
              <a:rPr lang="zh-TW" altLang="en-US">
                <a:latin typeface="Calibri" pitchFamily="34" charset="0"/>
                <a:ea typeface="標楷體" pitchFamily="65" charset="-120"/>
                <a:sym typeface="Wingdings" pitchFamily="2" charset="2"/>
              </a:rPr>
              <a:t>國際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en-US" altLang="zh-TW">
                <a:latin typeface="Calibri" pitchFamily="34" charset="0"/>
                <a:ea typeface="標楷體" pitchFamily="65" charset="-120"/>
              </a:rPr>
              <a:t>Ballpark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評法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建議分級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本來就會有主觀判斷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標楷體" pitchFamily="65" charset="-120"/>
              </a:rPr>
              <a:t>學科類</a:t>
            </a:r>
          </a:p>
        </p:txBody>
      </p:sp>
      <p:sp>
        <p:nvSpPr>
          <p:cNvPr id="819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考試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解題能力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筆試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當場表現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實驗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)</a:t>
            </a: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台灣高中生拿手項目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競爭也大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指標競賽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>
                <a:latin typeface="Calibri" pitchFamily="34" charset="0"/>
                <a:ea typeface="標楷體" pitchFamily="65" charset="-120"/>
              </a:rPr>
              <a:t>xx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奧林匹亞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學科能力競賽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a typeface="標楷體" pitchFamily="65" charset="-120"/>
              </a:rPr>
              <a:t>學科類 競賽制度</a:t>
            </a:r>
          </a:p>
        </p:txBody>
      </p:sp>
      <p:sp>
        <p:nvSpPr>
          <p:cNvPr id="8195" name="內容版面配置區 4"/>
          <p:cNvSpPr>
            <a:spLocks noGrp="1"/>
          </p:cNvSpPr>
          <p:nvPr>
            <p:ph idx="1"/>
          </p:nvPr>
        </p:nvSpPr>
        <p:spPr>
          <a:xfrm>
            <a:off x="609599" y="1844824"/>
            <a:ext cx="6347714" cy="4536504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學科能力競賽 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每年上學期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各校先推選四名代表，參加各區域的能力競賽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457200" lvl="1" indent="0">
              <a:buNone/>
            </a:pPr>
            <a:r>
              <a:rPr lang="en-US" altLang="zh-TW" dirty="0">
                <a:latin typeface="Calibri" pitchFamily="34" charset="0"/>
                <a:ea typeface="標楷體" pitchFamily="65" charset="-120"/>
              </a:rPr>
              <a:t>	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不同學校代表程度可以差很多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各區域能力競賽共取 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54 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名參加全國能力競賽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全國能力競賽最後成績分一等獎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-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三等獎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共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20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一等獎和二等獎加起來約十名，進入奧林匹亞選訓營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奧林匹亞選拔 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每年下學期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各科制度不同，但能進選訓營的應該都不錯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國手幾乎都可保送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大部份科目今年選訓營可能還沒辦完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最後注意一下得獎年份，有些人高一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二就進選訓營甚至獲選為國手。等於是今年的準國手。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021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標楷體" pitchFamily="65" charset="-120"/>
              </a:rPr>
              <a:t>國際數學奧林匹亞</a:t>
            </a:r>
            <a:r>
              <a:rPr lang="en-US" altLang="zh-TW" dirty="0">
                <a:ea typeface="標楷體" pitchFamily="65" charset="-120"/>
              </a:rPr>
              <a:t>(IMO)</a:t>
            </a:r>
            <a:endParaRPr lang="zh-TW" altLang="en-US" dirty="0">
              <a:ea typeface="標楷體" pitchFamily="65" charset="-120"/>
            </a:endParaRPr>
          </a:p>
        </p:txBody>
      </p:sp>
      <p:sp>
        <p:nvSpPr>
          <p:cNvPr id="9219" name="文字方塊 5"/>
          <p:cNvSpPr txBox="1">
            <a:spLocks noChangeArrowheads="1"/>
          </p:cNvSpPr>
          <p:nvPr/>
        </p:nvSpPr>
        <p:spPr bwMode="auto">
          <a:xfrm>
            <a:off x="5373413" y="3064760"/>
            <a:ext cx="1284326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IMO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選訓營</a:t>
            </a:r>
          </a:p>
        </p:txBody>
      </p:sp>
      <p:sp>
        <p:nvSpPr>
          <p:cNvPr id="9220" name="文字方塊 6"/>
          <p:cNvSpPr txBox="1">
            <a:spLocks noChangeArrowheads="1"/>
          </p:cNvSpPr>
          <p:nvPr/>
        </p:nvSpPr>
        <p:spPr bwMode="auto">
          <a:xfrm>
            <a:off x="4866864" y="2348637"/>
            <a:ext cx="2297424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IMO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選訓營二階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三階</a:t>
            </a:r>
          </a:p>
        </p:txBody>
      </p:sp>
      <p:sp>
        <p:nvSpPr>
          <p:cNvPr id="9221" name="文字方塊 7"/>
          <p:cNvSpPr txBox="1">
            <a:spLocks noChangeArrowheads="1"/>
          </p:cNvSpPr>
          <p:nvPr/>
        </p:nvSpPr>
        <p:spPr bwMode="auto">
          <a:xfrm>
            <a:off x="5467890" y="1529557"/>
            <a:ext cx="1095375" cy="369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IMO</a:t>
            </a:r>
            <a:r>
              <a:rPr lang="zh-TW" altLang="en-US" sz="1800">
                <a:latin typeface="Calibri" pitchFamily="34" charset="0"/>
                <a:ea typeface="標楷體" pitchFamily="65" charset="-120"/>
              </a:rPr>
              <a:t>國手</a:t>
            </a:r>
          </a:p>
        </p:txBody>
      </p:sp>
      <p:sp>
        <p:nvSpPr>
          <p:cNvPr id="9222" name="文字方塊 8"/>
          <p:cNvSpPr txBox="1">
            <a:spLocks noChangeArrowheads="1"/>
          </p:cNvSpPr>
          <p:nvPr/>
        </p:nvSpPr>
        <p:spPr bwMode="auto">
          <a:xfrm>
            <a:off x="4039686" y="4240637"/>
            <a:ext cx="709954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TMO</a:t>
            </a:r>
            <a:endParaRPr lang="zh-TW" altLang="en-US" sz="1800" dirty="0"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9225" name="文字方塊 11"/>
          <p:cNvSpPr txBox="1">
            <a:spLocks noChangeArrowheads="1"/>
          </p:cNvSpPr>
          <p:nvPr/>
        </p:nvSpPr>
        <p:spPr bwMode="auto">
          <a:xfrm>
            <a:off x="250825" y="5940425"/>
            <a:ext cx="8281988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 sz="1800">
                <a:latin typeface="Calibri" pitchFamily="34" charset="0"/>
                <a:ea typeface="標楷體" pitchFamily="65" charset="-120"/>
              </a:rPr>
              <a:t>各校擇優推薦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4931703" y="4447087"/>
            <a:ext cx="2536272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全國學科能力競賽決賽</a:t>
            </a:r>
          </a:p>
        </p:txBody>
      </p:sp>
      <p:cxnSp>
        <p:nvCxnSpPr>
          <p:cNvPr id="32" name="肘形接點 31"/>
          <p:cNvCxnSpPr>
            <a:cxnSpLocks/>
            <a:stCxn id="9222" idx="0"/>
            <a:endCxn id="9219" idx="1"/>
          </p:cNvCxnSpPr>
          <p:nvPr/>
        </p:nvCxnSpPr>
        <p:spPr>
          <a:xfrm rot="5400000" flipH="1" flipV="1">
            <a:off x="4388433" y="3255657"/>
            <a:ext cx="991211" cy="97875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接點 42"/>
          <p:cNvCxnSpPr>
            <a:cxnSpLocks/>
            <a:stCxn id="9225" idx="0"/>
            <a:endCxn id="9222" idx="2"/>
          </p:cNvCxnSpPr>
          <p:nvPr/>
        </p:nvCxnSpPr>
        <p:spPr>
          <a:xfrm rot="5400000" flipH="1" flipV="1">
            <a:off x="3728013" y="5273775"/>
            <a:ext cx="1330456" cy="284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46"/>
          <p:cNvCxnSpPr>
            <a:stCxn id="9225" idx="0"/>
            <a:endCxn id="52" idx="2"/>
          </p:cNvCxnSpPr>
          <p:nvPr/>
        </p:nvCxnSpPr>
        <p:spPr>
          <a:xfrm rot="5400000" flipH="1" flipV="1">
            <a:off x="5080379" y="4830253"/>
            <a:ext cx="421612" cy="179873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9219" idx="0"/>
            <a:endCxn id="9220" idx="2"/>
          </p:cNvCxnSpPr>
          <p:nvPr/>
        </p:nvCxnSpPr>
        <p:spPr>
          <a:xfrm flipV="1">
            <a:off x="6015576" y="2717969"/>
            <a:ext cx="0" cy="3467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9220" idx="0"/>
            <a:endCxn id="9221" idx="2"/>
          </p:cNvCxnSpPr>
          <p:nvPr/>
        </p:nvCxnSpPr>
        <p:spPr>
          <a:xfrm flipV="1">
            <a:off x="6015576" y="1899444"/>
            <a:ext cx="2" cy="4491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6" name="文字方塊 67"/>
          <p:cNvSpPr txBox="1">
            <a:spLocks noChangeArrowheads="1"/>
          </p:cNvSpPr>
          <p:nvPr/>
        </p:nvSpPr>
        <p:spPr bwMode="auto">
          <a:xfrm>
            <a:off x="6132358" y="1939925"/>
            <a:ext cx="5461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6+2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9237" name="文字方塊 68"/>
          <p:cNvSpPr txBox="1">
            <a:spLocks noChangeArrowheads="1"/>
          </p:cNvSpPr>
          <p:nvPr/>
        </p:nvSpPr>
        <p:spPr bwMode="auto">
          <a:xfrm>
            <a:off x="6166390" y="2719303"/>
            <a:ext cx="9637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18 / 12 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 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9238" name="文字方塊 69"/>
          <p:cNvSpPr txBox="1">
            <a:spLocks noChangeArrowheads="1"/>
          </p:cNvSpPr>
          <p:nvPr/>
        </p:nvSpPr>
        <p:spPr bwMode="auto">
          <a:xfrm>
            <a:off x="4318000" y="3449693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30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9239" name="文字方塊 70"/>
          <p:cNvSpPr txBox="1">
            <a:spLocks noChangeArrowheads="1"/>
          </p:cNvSpPr>
          <p:nvPr/>
        </p:nvSpPr>
        <p:spPr bwMode="auto">
          <a:xfrm>
            <a:off x="2943603" y="4431396"/>
            <a:ext cx="5341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~90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9240" name="文字方塊 71"/>
          <p:cNvSpPr txBox="1">
            <a:spLocks noChangeArrowheads="1"/>
          </p:cNvSpPr>
          <p:nvPr/>
        </p:nvSpPr>
        <p:spPr bwMode="auto">
          <a:xfrm>
            <a:off x="5841853" y="3781276"/>
            <a:ext cx="2585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3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9241" name="文字方塊 72"/>
          <p:cNvSpPr txBox="1">
            <a:spLocks noChangeArrowheads="1"/>
          </p:cNvSpPr>
          <p:nvPr/>
        </p:nvSpPr>
        <p:spPr bwMode="auto">
          <a:xfrm>
            <a:off x="6199839" y="4812936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54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9242" name="文字方塊 73"/>
          <p:cNvSpPr txBox="1">
            <a:spLocks noChangeArrowheads="1"/>
          </p:cNvSpPr>
          <p:nvPr/>
        </p:nvSpPr>
        <p:spPr bwMode="auto">
          <a:xfrm>
            <a:off x="3033472" y="5423403"/>
            <a:ext cx="9557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~90-100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5059472" y="5149481"/>
            <a:ext cx="2262158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各區域學科能力競賽</a:t>
            </a:r>
          </a:p>
        </p:txBody>
      </p:sp>
      <p:cxnSp>
        <p:nvCxnSpPr>
          <p:cNvPr id="57" name="直線單箭頭接點 56"/>
          <p:cNvCxnSpPr/>
          <p:nvPr/>
        </p:nvCxnSpPr>
        <p:spPr>
          <a:xfrm flipV="1">
            <a:off x="6199839" y="4765166"/>
            <a:ext cx="1" cy="3816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72"/>
          <p:cNvSpPr txBox="1">
            <a:spLocks noChangeArrowheads="1"/>
          </p:cNvSpPr>
          <p:nvPr/>
        </p:nvSpPr>
        <p:spPr bwMode="auto">
          <a:xfrm>
            <a:off x="6252964" y="5519500"/>
            <a:ext cx="9941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每校</a:t>
            </a:r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4</a:t>
            </a:r>
            <a:r>
              <a:rPr lang="zh-TW" altLang="en-US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人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2DF007C4-95BD-4EEA-8B13-0BE8E568EC89}"/>
              </a:ext>
            </a:extLst>
          </p:cNvPr>
          <p:cNvCxnSpPr>
            <a:cxnSpLocks/>
            <a:stCxn id="13" idx="0"/>
            <a:endCxn id="9219" idx="2"/>
          </p:cNvCxnSpPr>
          <p:nvPr/>
        </p:nvCxnSpPr>
        <p:spPr>
          <a:xfrm flipH="1" flipV="1">
            <a:off x="6015576" y="3434092"/>
            <a:ext cx="184263" cy="10129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9">
            <a:extLst>
              <a:ext uri="{FF2B5EF4-FFF2-40B4-BE49-F238E27FC236}">
                <a16:creationId xmlns:a16="http://schemas.microsoft.com/office/drawing/2014/main" id="{1B4ED9CF-DEDF-438E-B31D-BB32F2AE7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4240" y="4927601"/>
            <a:ext cx="1338828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亞太數學營</a:t>
            </a:r>
            <a:endParaRPr lang="en-US" altLang="zh-TW" sz="1800" dirty="0">
              <a:latin typeface="Calibri" pitchFamily="34" charset="0"/>
              <a:ea typeface="標楷體" pitchFamily="65" charset="-120"/>
            </a:endParaRPr>
          </a:p>
        </p:txBody>
      </p:sp>
      <p:cxnSp>
        <p:nvCxnSpPr>
          <p:cNvPr id="46" name="肘形接點 42">
            <a:extLst>
              <a:ext uri="{FF2B5EF4-FFF2-40B4-BE49-F238E27FC236}">
                <a16:creationId xmlns:a16="http://schemas.microsoft.com/office/drawing/2014/main" id="{26D75F66-9A19-40E1-8BBB-EC606DC5FCB4}"/>
              </a:ext>
            </a:extLst>
          </p:cNvPr>
          <p:cNvCxnSpPr>
            <a:cxnSpLocks/>
            <a:endCxn id="40" idx="2"/>
          </p:cNvCxnSpPr>
          <p:nvPr/>
        </p:nvCxnSpPr>
        <p:spPr>
          <a:xfrm rot="16200000" flipV="1">
            <a:off x="2639518" y="5621069"/>
            <a:ext cx="649438" cy="116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9">
            <a:extLst>
              <a:ext uri="{FF2B5EF4-FFF2-40B4-BE49-F238E27FC236}">
                <a16:creationId xmlns:a16="http://schemas.microsoft.com/office/drawing/2014/main" id="{2A7A7E9A-B827-4563-8AF3-A2D31B9A6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2627" y="3825138"/>
            <a:ext cx="2031325" cy="64633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亞太數學奧林匹亞</a:t>
            </a:r>
            <a:endParaRPr lang="en-US" altLang="zh-TW" sz="1800" dirty="0">
              <a:latin typeface="Calibri" pitchFamily="34" charset="0"/>
              <a:ea typeface="標楷體" pitchFamily="65" charset="-120"/>
            </a:endParaRPr>
          </a:p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 (APMO)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參賽</a:t>
            </a:r>
            <a:endParaRPr lang="en-US" altLang="zh-TW" sz="1800" dirty="0">
              <a:latin typeface="Calibri" pitchFamily="34" charset="0"/>
              <a:ea typeface="標楷體" pitchFamily="65" charset="-120"/>
            </a:endParaRPr>
          </a:p>
        </p:txBody>
      </p:sp>
      <p:cxnSp>
        <p:nvCxnSpPr>
          <p:cNvPr id="51" name="肘形接點 42">
            <a:extLst>
              <a:ext uri="{FF2B5EF4-FFF2-40B4-BE49-F238E27FC236}">
                <a16:creationId xmlns:a16="http://schemas.microsoft.com/office/drawing/2014/main" id="{D94FB505-83EB-4770-B54B-69B934E3EBEB}"/>
              </a:ext>
            </a:extLst>
          </p:cNvPr>
          <p:cNvCxnSpPr>
            <a:cxnSpLocks/>
            <a:stCxn id="40" idx="0"/>
            <a:endCxn id="50" idx="2"/>
          </p:cNvCxnSpPr>
          <p:nvPr/>
        </p:nvCxnSpPr>
        <p:spPr>
          <a:xfrm rot="5400000" flipH="1" flipV="1">
            <a:off x="2737906" y="4697217"/>
            <a:ext cx="456132" cy="463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9">
            <a:extLst>
              <a:ext uri="{FF2B5EF4-FFF2-40B4-BE49-F238E27FC236}">
                <a16:creationId xmlns:a16="http://schemas.microsoft.com/office/drawing/2014/main" id="{04E47E7A-8EEE-4430-9193-F81559053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2499336"/>
            <a:ext cx="2531462" cy="64633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亞太數學奧林匹亞</a:t>
            </a:r>
            <a:endParaRPr lang="en-US" altLang="zh-TW" sz="1800" dirty="0">
              <a:latin typeface="Calibri" pitchFamily="34" charset="0"/>
              <a:ea typeface="標楷體" pitchFamily="65" charset="-120"/>
            </a:endParaRPr>
          </a:p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金、銀、銅牌、榮譽獎</a:t>
            </a:r>
            <a:endParaRPr lang="en-US" altLang="zh-TW" sz="1800" dirty="0">
              <a:latin typeface="Calibri" pitchFamily="34" charset="0"/>
              <a:ea typeface="標楷體" pitchFamily="65" charset="-120"/>
            </a:endParaRPr>
          </a:p>
        </p:txBody>
      </p:sp>
      <p:cxnSp>
        <p:nvCxnSpPr>
          <p:cNvPr id="63" name="肘形接點 42">
            <a:extLst>
              <a:ext uri="{FF2B5EF4-FFF2-40B4-BE49-F238E27FC236}">
                <a16:creationId xmlns:a16="http://schemas.microsoft.com/office/drawing/2014/main" id="{860B7D83-F281-4D0D-9919-8B75F9C7A25E}"/>
              </a:ext>
            </a:extLst>
          </p:cNvPr>
          <p:cNvCxnSpPr>
            <a:cxnSpLocks/>
            <a:stCxn id="50" idx="0"/>
            <a:endCxn id="61" idx="2"/>
          </p:cNvCxnSpPr>
          <p:nvPr/>
        </p:nvCxnSpPr>
        <p:spPr>
          <a:xfrm rot="16200000" flipV="1">
            <a:off x="2623116" y="3479963"/>
            <a:ext cx="679471" cy="1087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70">
            <a:extLst>
              <a:ext uri="{FF2B5EF4-FFF2-40B4-BE49-F238E27FC236}">
                <a16:creationId xmlns:a16="http://schemas.microsoft.com/office/drawing/2014/main" id="{E4B2C11A-4818-4167-A420-6C47B3C25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140" y="443430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4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71" name="文字方塊 73">
            <a:extLst>
              <a:ext uri="{FF2B5EF4-FFF2-40B4-BE49-F238E27FC236}">
                <a16:creationId xmlns:a16="http://schemas.microsoft.com/office/drawing/2014/main" id="{90E6AC5A-9094-4F1A-B7C5-11740CE3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009" y="5426312"/>
            <a:ext cx="5341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~30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72" name="文字方塊 9">
            <a:extLst>
              <a:ext uri="{FF2B5EF4-FFF2-40B4-BE49-F238E27FC236}">
                <a16:creationId xmlns:a16="http://schemas.microsoft.com/office/drawing/2014/main" id="{3D996A4C-6632-4ABA-9825-3C0FA9F75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50" y="4858467"/>
            <a:ext cx="1482009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EGMO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培訓班</a:t>
            </a:r>
            <a:endParaRPr lang="en-US" altLang="zh-TW" sz="1800" dirty="0">
              <a:latin typeface="Calibri" pitchFamily="34" charset="0"/>
              <a:ea typeface="標楷體" pitchFamily="65" charset="-120"/>
            </a:endParaRPr>
          </a:p>
        </p:txBody>
      </p:sp>
      <p:cxnSp>
        <p:nvCxnSpPr>
          <p:cNvPr id="73" name="肘形接點 42">
            <a:extLst>
              <a:ext uri="{FF2B5EF4-FFF2-40B4-BE49-F238E27FC236}">
                <a16:creationId xmlns:a16="http://schemas.microsoft.com/office/drawing/2014/main" id="{3D140106-76EA-4945-9B6F-B611B268DB0B}"/>
              </a:ext>
            </a:extLst>
          </p:cNvPr>
          <p:cNvCxnSpPr>
            <a:cxnSpLocks/>
            <a:endCxn id="72" idx="2"/>
          </p:cNvCxnSpPr>
          <p:nvPr/>
        </p:nvCxnSpPr>
        <p:spPr>
          <a:xfrm rot="5400000" flipH="1" flipV="1">
            <a:off x="655401" y="5578539"/>
            <a:ext cx="709993" cy="851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9">
            <a:extLst>
              <a:ext uri="{FF2B5EF4-FFF2-40B4-BE49-F238E27FC236}">
                <a16:creationId xmlns:a16="http://schemas.microsoft.com/office/drawing/2014/main" id="{B0F17F36-960C-492E-8B83-DD6501AD7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36" y="3244113"/>
            <a:ext cx="1569660" cy="64633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歐洲女子數奧</a:t>
            </a:r>
            <a:endParaRPr lang="en-US" altLang="zh-TW" sz="1800" dirty="0">
              <a:latin typeface="Calibri" pitchFamily="34" charset="0"/>
              <a:ea typeface="標楷體" pitchFamily="65" charset="-120"/>
            </a:endParaRPr>
          </a:p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 (EGMO)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國手</a:t>
            </a:r>
            <a:endParaRPr lang="en-US" altLang="zh-TW" sz="1800" dirty="0">
              <a:latin typeface="Calibri" pitchFamily="34" charset="0"/>
              <a:ea typeface="標楷體" pitchFamily="65" charset="-120"/>
            </a:endParaRPr>
          </a:p>
        </p:txBody>
      </p:sp>
      <p:cxnSp>
        <p:nvCxnSpPr>
          <p:cNvPr id="75" name="肘形接點 42">
            <a:extLst>
              <a:ext uri="{FF2B5EF4-FFF2-40B4-BE49-F238E27FC236}">
                <a16:creationId xmlns:a16="http://schemas.microsoft.com/office/drawing/2014/main" id="{CD594C8D-65DE-4330-92B0-3126C1259106}"/>
              </a:ext>
            </a:extLst>
          </p:cNvPr>
          <p:cNvCxnSpPr>
            <a:cxnSpLocks/>
            <a:stCxn id="72" idx="0"/>
            <a:endCxn id="74" idx="2"/>
          </p:cNvCxnSpPr>
          <p:nvPr/>
        </p:nvCxnSpPr>
        <p:spPr>
          <a:xfrm rot="5400000" flipH="1" flipV="1">
            <a:off x="534149" y="4370951"/>
            <a:ext cx="968023" cy="701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08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標楷體" pitchFamily="65" charset="-120"/>
              </a:rPr>
              <a:t>國際物理奧林匹亞</a:t>
            </a:r>
            <a:r>
              <a:rPr lang="en-US" altLang="zh-TW" dirty="0">
                <a:ea typeface="標楷體" pitchFamily="65" charset="-120"/>
              </a:rPr>
              <a:t>(</a:t>
            </a:r>
            <a:r>
              <a:rPr lang="en-US" altLang="zh-TW" dirty="0" err="1">
                <a:ea typeface="標楷體" pitchFamily="65" charset="-120"/>
              </a:rPr>
              <a:t>IPhO</a:t>
            </a:r>
            <a:r>
              <a:rPr lang="en-US" altLang="zh-TW" dirty="0">
                <a:ea typeface="標楷體" pitchFamily="65" charset="-120"/>
              </a:rPr>
              <a:t>)</a:t>
            </a:r>
            <a:endParaRPr lang="zh-TW" altLang="en-US" dirty="0">
              <a:ea typeface="標楷體" pitchFamily="65" charset="-120"/>
            </a:endParaRPr>
          </a:p>
        </p:txBody>
      </p:sp>
      <p:sp>
        <p:nvSpPr>
          <p:cNvPr id="10243" name="文字方塊 5"/>
          <p:cNvSpPr txBox="1">
            <a:spLocks noChangeArrowheads="1"/>
          </p:cNvSpPr>
          <p:nvPr/>
        </p:nvSpPr>
        <p:spPr bwMode="auto">
          <a:xfrm>
            <a:off x="2815838" y="3468471"/>
            <a:ext cx="2853666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物理奧林匹亞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(</a:t>
            </a:r>
            <a:r>
              <a:rPr lang="en-US" altLang="zh-TW" sz="1800" dirty="0" err="1">
                <a:latin typeface="Calibri" pitchFamily="34" charset="0"/>
                <a:ea typeface="標楷體" pitchFamily="65" charset="-120"/>
              </a:rPr>
              <a:t>IPhO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)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選訓營</a:t>
            </a:r>
          </a:p>
        </p:txBody>
      </p:sp>
      <p:sp>
        <p:nvSpPr>
          <p:cNvPr id="10244" name="文字方塊 6"/>
          <p:cNvSpPr txBox="1">
            <a:spLocks noChangeArrowheads="1"/>
          </p:cNvSpPr>
          <p:nvPr/>
        </p:nvSpPr>
        <p:spPr bwMode="auto">
          <a:xfrm>
            <a:off x="2996176" y="2807992"/>
            <a:ext cx="2492990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亞太物理奧林匹亞國手</a:t>
            </a:r>
          </a:p>
        </p:txBody>
      </p:sp>
      <p:sp>
        <p:nvSpPr>
          <p:cNvPr id="10245" name="文字方塊 7"/>
          <p:cNvSpPr txBox="1">
            <a:spLocks noChangeArrowheads="1"/>
          </p:cNvSpPr>
          <p:nvPr/>
        </p:nvSpPr>
        <p:spPr bwMode="auto">
          <a:xfrm>
            <a:off x="2700421" y="2086148"/>
            <a:ext cx="3084499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國際物理奧林匹亞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(</a:t>
            </a:r>
            <a:r>
              <a:rPr lang="en-US" altLang="zh-TW" sz="1800" dirty="0" err="1">
                <a:latin typeface="Calibri" pitchFamily="34" charset="0"/>
                <a:ea typeface="標楷體" pitchFamily="65" charset="-120"/>
              </a:rPr>
              <a:t>IPhO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)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國手</a:t>
            </a:r>
          </a:p>
        </p:txBody>
      </p:sp>
      <p:sp>
        <p:nvSpPr>
          <p:cNvPr id="10246" name="文字方塊 8"/>
          <p:cNvSpPr txBox="1">
            <a:spLocks noChangeArrowheads="1"/>
          </p:cNvSpPr>
          <p:nvPr/>
        </p:nvSpPr>
        <p:spPr bwMode="auto">
          <a:xfrm>
            <a:off x="1979613" y="4437063"/>
            <a:ext cx="2622834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物理奧林匹亞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(</a:t>
            </a:r>
            <a:r>
              <a:rPr lang="en-US" altLang="zh-TW" sz="1800" dirty="0" err="1">
                <a:latin typeface="Calibri" pitchFamily="34" charset="0"/>
                <a:ea typeface="標楷體" pitchFamily="65" charset="-120"/>
              </a:rPr>
              <a:t>IPhO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)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複試</a:t>
            </a:r>
          </a:p>
        </p:txBody>
      </p:sp>
      <p:sp>
        <p:nvSpPr>
          <p:cNvPr id="10247" name="文字方塊 10"/>
          <p:cNvSpPr txBox="1">
            <a:spLocks noChangeArrowheads="1"/>
          </p:cNvSpPr>
          <p:nvPr/>
        </p:nvSpPr>
        <p:spPr bwMode="auto">
          <a:xfrm>
            <a:off x="1981200" y="5157788"/>
            <a:ext cx="2622834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物理奧林匹亞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(</a:t>
            </a:r>
            <a:r>
              <a:rPr lang="en-US" altLang="zh-TW" sz="1800" dirty="0" err="1">
                <a:latin typeface="Calibri" pitchFamily="34" charset="0"/>
                <a:ea typeface="標楷體" pitchFamily="65" charset="-120"/>
              </a:rPr>
              <a:t>IPhO</a:t>
            </a:r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)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初試</a:t>
            </a:r>
          </a:p>
        </p:txBody>
      </p:sp>
      <p:sp>
        <p:nvSpPr>
          <p:cNvPr id="10248" name="文字方塊 11"/>
          <p:cNvSpPr txBox="1">
            <a:spLocks noChangeArrowheads="1"/>
          </p:cNvSpPr>
          <p:nvPr/>
        </p:nvSpPr>
        <p:spPr bwMode="auto">
          <a:xfrm>
            <a:off x="250825" y="5940425"/>
            <a:ext cx="8281988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 sz="1800">
                <a:latin typeface="Calibri" pitchFamily="34" charset="0"/>
                <a:ea typeface="標楷體" pitchFamily="65" charset="-120"/>
              </a:rPr>
              <a:t>各校擇優推薦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5310188" y="4437063"/>
            <a:ext cx="2536272" cy="36933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全國學科能力競賽決賽</a:t>
            </a:r>
          </a:p>
        </p:txBody>
      </p:sp>
      <p:cxnSp>
        <p:nvCxnSpPr>
          <p:cNvPr id="32" name="肘形接點 31"/>
          <p:cNvCxnSpPr>
            <a:stCxn id="10246" idx="0"/>
            <a:endCxn id="10243" idx="2"/>
          </p:cNvCxnSpPr>
          <p:nvPr/>
        </p:nvCxnSpPr>
        <p:spPr>
          <a:xfrm rot="5400000" flipH="1" flipV="1">
            <a:off x="3467220" y="3661613"/>
            <a:ext cx="599260" cy="95164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stCxn id="13" idx="0"/>
            <a:endCxn id="10243" idx="2"/>
          </p:cNvCxnSpPr>
          <p:nvPr/>
        </p:nvCxnSpPr>
        <p:spPr>
          <a:xfrm rot="16200000" flipV="1">
            <a:off x="5110868" y="2969606"/>
            <a:ext cx="599260" cy="233565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>
            <a:stCxn id="10247" idx="0"/>
            <a:endCxn id="10246" idx="2"/>
          </p:cNvCxnSpPr>
          <p:nvPr/>
        </p:nvCxnSpPr>
        <p:spPr>
          <a:xfrm rot="16200000" flipV="1">
            <a:off x="3116128" y="4981298"/>
            <a:ext cx="351393" cy="158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接點 44"/>
          <p:cNvCxnSpPr>
            <a:stCxn id="10248" idx="0"/>
            <a:endCxn id="10247" idx="2"/>
          </p:cNvCxnSpPr>
          <p:nvPr/>
        </p:nvCxnSpPr>
        <p:spPr>
          <a:xfrm rot="16200000" flipV="1">
            <a:off x="3635566" y="5184172"/>
            <a:ext cx="413305" cy="109920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46"/>
          <p:cNvCxnSpPr>
            <a:stCxn id="10248" idx="0"/>
            <a:endCxn id="13" idx="2"/>
          </p:cNvCxnSpPr>
          <p:nvPr/>
        </p:nvCxnSpPr>
        <p:spPr>
          <a:xfrm rot="5400000" flipH="1" flipV="1">
            <a:off x="4918056" y="4280158"/>
            <a:ext cx="1134030" cy="218650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10243" idx="0"/>
            <a:endCxn id="10244" idx="2"/>
          </p:cNvCxnSpPr>
          <p:nvPr/>
        </p:nvCxnSpPr>
        <p:spPr>
          <a:xfrm flipV="1">
            <a:off x="4242671" y="3177324"/>
            <a:ext cx="0" cy="2911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10244" idx="0"/>
            <a:endCxn id="10245" idx="2"/>
          </p:cNvCxnSpPr>
          <p:nvPr/>
        </p:nvCxnSpPr>
        <p:spPr>
          <a:xfrm flipV="1">
            <a:off x="4242671" y="2455480"/>
            <a:ext cx="0" cy="352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7" name="文字方塊 67"/>
          <p:cNvSpPr txBox="1">
            <a:spLocks noChangeArrowheads="1"/>
          </p:cNvSpPr>
          <p:nvPr/>
        </p:nvSpPr>
        <p:spPr bwMode="auto">
          <a:xfrm>
            <a:off x="4325938" y="2431494"/>
            <a:ext cx="5341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5+2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0258" name="文字方塊 68"/>
          <p:cNvSpPr txBox="1">
            <a:spLocks noChangeArrowheads="1"/>
          </p:cNvSpPr>
          <p:nvPr/>
        </p:nvSpPr>
        <p:spPr bwMode="auto">
          <a:xfrm>
            <a:off x="4303147" y="3099833"/>
            <a:ext cx="5870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 8+2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0259" name="文字方塊 69"/>
          <p:cNvSpPr txBox="1">
            <a:spLocks noChangeArrowheads="1"/>
          </p:cNvSpPr>
          <p:nvPr/>
        </p:nvSpPr>
        <p:spPr bwMode="auto">
          <a:xfrm>
            <a:off x="4303147" y="3777139"/>
            <a:ext cx="5341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~40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0260" name="文字方塊 70"/>
          <p:cNvSpPr txBox="1">
            <a:spLocks noChangeArrowheads="1"/>
          </p:cNvSpPr>
          <p:nvPr/>
        </p:nvSpPr>
        <p:spPr bwMode="auto">
          <a:xfrm>
            <a:off x="2521604" y="4085670"/>
            <a:ext cx="53412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~30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0261" name="文字方塊 71"/>
          <p:cNvSpPr txBox="1">
            <a:spLocks noChangeArrowheads="1"/>
          </p:cNvSpPr>
          <p:nvPr/>
        </p:nvSpPr>
        <p:spPr bwMode="auto">
          <a:xfrm>
            <a:off x="6324600" y="4121727"/>
            <a:ext cx="4892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3-5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0262" name="文字方塊 73"/>
          <p:cNvSpPr txBox="1">
            <a:spLocks noChangeArrowheads="1"/>
          </p:cNvSpPr>
          <p:nvPr/>
        </p:nvSpPr>
        <p:spPr bwMode="auto">
          <a:xfrm>
            <a:off x="2579415" y="4835811"/>
            <a:ext cx="6511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400+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199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ea typeface="標楷體" pitchFamily="65" charset="-120"/>
              </a:rPr>
              <a:t>國際資訊奧林匹亞</a:t>
            </a:r>
            <a:r>
              <a:rPr lang="en-US" altLang="zh-TW" dirty="0">
                <a:ea typeface="標楷體" pitchFamily="65" charset="-120"/>
              </a:rPr>
              <a:t>(IOI)</a:t>
            </a:r>
            <a:endParaRPr lang="zh-TW" altLang="en-US" dirty="0">
              <a:ea typeface="標楷體" pitchFamily="65" charset="-120"/>
            </a:endParaRPr>
          </a:p>
        </p:txBody>
      </p:sp>
      <p:sp>
        <p:nvSpPr>
          <p:cNvPr id="11267" name="文字方塊 5"/>
          <p:cNvSpPr txBox="1">
            <a:spLocks noChangeArrowheads="1"/>
          </p:cNvSpPr>
          <p:nvPr/>
        </p:nvSpPr>
        <p:spPr bwMode="auto">
          <a:xfrm>
            <a:off x="3635375" y="3500438"/>
            <a:ext cx="1144865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IOI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選訓營</a:t>
            </a:r>
          </a:p>
        </p:txBody>
      </p:sp>
      <p:sp>
        <p:nvSpPr>
          <p:cNvPr id="11268" name="文字方塊 6"/>
          <p:cNvSpPr txBox="1">
            <a:spLocks noChangeArrowheads="1"/>
          </p:cNvSpPr>
          <p:nvPr/>
        </p:nvSpPr>
        <p:spPr bwMode="auto">
          <a:xfrm>
            <a:off x="3419475" y="2751138"/>
            <a:ext cx="1606530" cy="36933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IOI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選訓營二階</a:t>
            </a:r>
          </a:p>
        </p:txBody>
      </p:sp>
      <p:sp>
        <p:nvSpPr>
          <p:cNvPr id="11269" name="文字方塊 7"/>
          <p:cNvSpPr txBox="1">
            <a:spLocks noChangeArrowheads="1"/>
          </p:cNvSpPr>
          <p:nvPr/>
        </p:nvSpPr>
        <p:spPr bwMode="auto">
          <a:xfrm>
            <a:off x="3783456" y="2080125"/>
            <a:ext cx="914400" cy="369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IOI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國手</a:t>
            </a:r>
          </a:p>
        </p:txBody>
      </p:sp>
      <p:sp>
        <p:nvSpPr>
          <p:cNvPr id="11270" name="文字方塊 8"/>
          <p:cNvSpPr txBox="1">
            <a:spLocks noChangeArrowheads="1"/>
          </p:cNvSpPr>
          <p:nvPr/>
        </p:nvSpPr>
        <p:spPr bwMode="auto">
          <a:xfrm>
            <a:off x="1979613" y="4437063"/>
            <a:ext cx="914033" cy="36933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dirty="0">
                <a:latin typeface="Calibri" pitchFamily="34" charset="0"/>
                <a:ea typeface="標楷體" pitchFamily="65" charset="-120"/>
              </a:rPr>
              <a:t>IOI</a:t>
            </a: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初試</a:t>
            </a:r>
          </a:p>
        </p:txBody>
      </p:sp>
      <p:sp>
        <p:nvSpPr>
          <p:cNvPr id="11271" name="文字方塊 11"/>
          <p:cNvSpPr txBox="1">
            <a:spLocks noChangeArrowheads="1"/>
          </p:cNvSpPr>
          <p:nvPr/>
        </p:nvSpPr>
        <p:spPr bwMode="auto">
          <a:xfrm>
            <a:off x="250825" y="5940425"/>
            <a:ext cx="8281988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 sz="1800">
                <a:latin typeface="Calibri" pitchFamily="34" charset="0"/>
                <a:ea typeface="標楷體" pitchFamily="65" charset="-120"/>
              </a:rPr>
              <a:t>各校擇優推薦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5310188" y="4437063"/>
            <a:ext cx="2030412" cy="369887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TW" altLang="en-US" sz="1800" dirty="0">
                <a:latin typeface="Calibri" pitchFamily="34" charset="0"/>
                <a:ea typeface="標楷體" pitchFamily="65" charset="-120"/>
              </a:rPr>
              <a:t>全國學科能力競賽</a:t>
            </a:r>
          </a:p>
        </p:txBody>
      </p:sp>
      <p:cxnSp>
        <p:nvCxnSpPr>
          <p:cNvPr id="32" name="肘形接點 31"/>
          <p:cNvCxnSpPr>
            <a:stCxn id="11270" idx="0"/>
            <a:endCxn id="11267" idx="2"/>
          </p:cNvCxnSpPr>
          <p:nvPr/>
        </p:nvCxnSpPr>
        <p:spPr>
          <a:xfrm rot="5400000" flipH="1" flipV="1">
            <a:off x="3038573" y="3267828"/>
            <a:ext cx="567293" cy="177117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stCxn id="13" idx="0"/>
            <a:endCxn id="11267" idx="2"/>
          </p:cNvCxnSpPr>
          <p:nvPr/>
        </p:nvCxnSpPr>
        <p:spPr>
          <a:xfrm rot="16200000" flipV="1">
            <a:off x="4982955" y="3094624"/>
            <a:ext cx="567293" cy="211758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接點 44"/>
          <p:cNvCxnSpPr>
            <a:stCxn id="11271" idx="0"/>
            <a:endCxn id="11270" idx="2"/>
          </p:cNvCxnSpPr>
          <p:nvPr/>
        </p:nvCxnSpPr>
        <p:spPr>
          <a:xfrm rot="16200000" flipV="1">
            <a:off x="2847210" y="4395815"/>
            <a:ext cx="1134030" cy="195518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46"/>
          <p:cNvCxnSpPr>
            <a:stCxn id="11271" idx="0"/>
            <a:endCxn id="13" idx="2"/>
          </p:cNvCxnSpPr>
          <p:nvPr/>
        </p:nvCxnSpPr>
        <p:spPr>
          <a:xfrm rot="5400000" flipH="1" flipV="1">
            <a:off x="4791869" y="4407694"/>
            <a:ext cx="1133475" cy="1931987"/>
          </a:xfrm>
          <a:prstGeom prst="bentConnector3">
            <a:avLst>
              <a:gd name="adj1" fmla="val 1944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11267" idx="0"/>
            <a:endCxn id="11268" idx="2"/>
          </p:cNvCxnSpPr>
          <p:nvPr/>
        </p:nvCxnSpPr>
        <p:spPr>
          <a:xfrm flipV="1">
            <a:off x="4207808" y="3120470"/>
            <a:ext cx="14932" cy="3799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11268" idx="0"/>
            <a:endCxn id="11269" idx="2"/>
          </p:cNvCxnSpPr>
          <p:nvPr/>
        </p:nvCxnSpPr>
        <p:spPr>
          <a:xfrm flipV="1">
            <a:off x="4222740" y="2450012"/>
            <a:ext cx="17916" cy="3011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9" name="文字方塊 67"/>
          <p:cNvSpPr txBox="1">
            <a:spLocks noChangeArrowheads="1"/>
          </p:cNvSpPr>
          <p:nvPr/>
        </p:nvSpPr>
        <p:spPr bwMode="auto">
          <a:xfrm>
            <a:off x="4483388" y="2406110"/>
            <a:ext cx="3000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4</a:t>
            </a:r>
            <a:endParaRPr lang="zh-TW" altLang="en-US" sz="1800" b="1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1280" name="文字方塊 68"/>
          <p:cNvSpPr txBox="1">
            <a:spLocks noChangeArrowheads="1"/>
          </p:cNvSpPr>
          <p:nvPr/>
        </p:nvSpPr>
        <p:spPr bwMode="auto">
          <a:xfrm>
            <a:off x="4469879" y="3109079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10-12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1281" name="文字方塊 69"/>
          <p:cNvSpPr txBox="1">
            <a:spLocks noChangeArrowheads="1"/>
          </p:cNvSpPr>
          <p:nvPr/>
        </p:nvSpPr>
        <p:spPr bwMode="auto">
          <a:xfrm>
            <a:off x="4508317" y="3836694"/>
            <a:ext cx="723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30-35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1282" name="文字方塊 70"/>
          <p:cNvSpPr txBox="1">
            <a:spLocks noChangeArrowheads="1"/>
          </p:cNvSpPr>
          <p:nvPr/>
        </p:nvSpPr>
        <p:spPr bwMode="auto">
          <a:xfrm>
            <a:off x="2040043" y="3958638"/>
            <a:ext cx="4159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20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1283" name="文字方塊 71"/>
          <p:cNvSpPr txBox="1">
            <a:spLocks noChangeArrowheads="1"/>
          </p:cNvSpPr>
          <p:nvPr/>
        </p:nvSpPr>
        <p:spPr bwMode="auto">
          <a:xfrm>
            <a:off x="6325245" y="3968749"/>
            <a:ext cx="4143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10</a:t>
            </a:r>
            <a:endParaRPr lang="zh-TW" altLang="en-US" sz="1800" b="1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940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標楷體" pitchFamily="65" charset="-120"/>
              </a:rPr>
              <a:t>國際奧林匹亞競賽</a:t>
            </a:r>
          </a:p>
        </p:txBody>
      </p:sp>
      <p:sp>
        <p:nvSpPr>
          <p:cNvPr id="1331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化學、生物、地科與資訊差不多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r>
              <a:rPr lang="en-US" altLang="zh-TW" dirty="0">
                <a:latin typeface="Calibri" pitchFamily="34" charset="0"/>
                <a:ea typeface="標楷體" pitchFamily="65" charset="-120"/>
              </a:rPr>
              <a:t>Keyword:</a:t>
            </a:r>
            <a:r>
              <a:rPr lang="zh-TW" altLang="en-US" sz="2800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選訓營</a:t>
            </a:r>
            <a:r>
              <a:rPr lang="en-US" altLang="zh-TW" sz="2800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 sz="2800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選拔營</a:t>
            </a:r>
            <a:r>
              <a:rPr lang="en-US" altLang="zh-TW" sz="2800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 sz="2800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複選營</a:t>
            </a:r>
            <a:endParaRPr lang="en-US" altLang="zh-TW" dirty="0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  <a:p>
            <a:r>
              <a:rPr lang="zh-TW" altLang="en-US" sz="2800" dirty="0">
                <a:latin typeface="Calibri" pitchFamily="34" charset="0"/>
                <a:ea typeface="標楷體" pitchFamily="65" charset="-120"/>
              </a:rPr>
              <a:t>選手來源</a:t>
            </a:r>
            <a:endParaRPr lang="en-US" altLang="zh-TW" sz="2800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 dirty="0">
                <a:latin typeface="Calibri" pitchFamily="34" charset="0"/>
                <a:ea typeface="標楷體" pitchFamily="65" charset="-120"/>
              </a:rPr>
              <a:t>xx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奧林匹亞初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複試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學科能力競賽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標楷體" pitchFamily="65" charset="-120"/>
              </a:rPr>
              <a:t>美國</a:t>
            </a:r>
            <a:r>
              <a:rPr lang="en-US" altLang="zh-TW">
                <a:ea typeface="標楷體" pitchFamily="65" charset="-120"/>
              </a:rPr>
              <a:t>IMO</a:t>
            </a:r>
            <a:r>
              <a:rPr lang="zh-TW" altLang="en-US">
                <a:ea typeface="標楷體" pitchFamily="65" charset="-120"/>
              </a:rPr>
              <a:t>選拔</a:t>
            </a:r>
          </a:p>
        </p:txBody>
      </p:sp>
      <p:sp>
        <p:nvSpPr>
          <p:cNvPr id="14339" name="文字方塊 5"/>
          <p:cNvSpPr txBox="1">
            <a:spLocks noChangeArrowheads="1"/>
          </p:cNvSpPr>
          <p:nvPr/>
        </p:nvSpPr>
        <p:spPr bwMode="auto">
          <a:xfrm>
            <a:off x="3348038" y="4202113"/>
            <a:ext cx="925512" cy="3698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AMC 12</a:t>
            </a:r>
            <a:endParaRPr lang="zh-TW" altLang="en-US" sz="1800"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4340" name="文字方塊 6"/>
          <p:cNvSpPr txBox="1">
            <a:spLocks noChangeArrowheads="1"/>
          </p:cNvSpPr>
          <p:nvPr/>
        </p:nvSpPr>
        <p:spPr bwMode="auto">
          <a:xfrm>
            <a:off x="3209925" y="3482975"/>
            <a:ext cx="1146175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AIME</a:t>
            </a:r>
            <a:r>
              <a:rPr lang="zh-TW" altLang="en-US" sz="1800">
                <a:latin typeface="Calibri" pitchFamily="34" charset="0"/>
                <a:ea typeface="標楷體" pitchFamily="65" charset="-120"/>
              </a:rPr>
              <a:t>得名</a:t>
            </a:r>
          </a:p>
        </p:txBody>
      </p:sp>
      <p:sp>
        <p:nvSpPr>
          <p:cNvPr id="14341" name="文字方塊 7"/>
          <p:cNvSpPr txBox="1">
            <a:spLocks noChangeArrowheads="1"/>
          </p:cNvSpPr>
          <p:nvPr/>
        </p:nvSpPr>
        <p:spPr bwMode="auto">
          <a:xfrm>
            <a:off x="3059113" y="2771775"/>
            <a:ext cx="1381125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USAMO</a:t>
            </a:r>
            <a:r>
              <a:rPr lang="zh-TW" altLang="en-US" sz="1800">
                <a:latin typeface="Calibri" pitchFamily="34" charset="0"/>
                <a:ea typeface="標楷體" pitchFamily="65" charset="-120"/>
              </a:rPr>
              <a:t>選手</a:t>
            </a:r>
          </a:p>
        </p:txBody>
      </p:sp>
      <p:sp>
        <p:nvSpPr>
          <p:cNvPr id="14342" name="文字方塊 8"/>
          <p:cNvSpPr txBox="1">
            <a:spLocks noChangeArrowheads="1"/>
          </p:cNvSpPr>
          <p:nvPr/>
        </p:nvSpPr>
        <p:spPr bwMode="auto">
          <a:xfrm>
            <a:off x="3348038" y="4941888"/>
            <a:ext cx="925512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AMC 10</a:t>
            </a:r>
            <a:endParaRPr lang="zh-TW" altLang="en-US" sz="1800"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4343" name="文字方塊 9"/>
          <p:cNvSpPr txBox="1">
            <a:spLocks noChangeArrowheads="1"/>
          </p:cNvSpPr>
          <p:nvPr/>
        </p:nvSpPr>
        <p:spPr bwMode="auto">
          <a:xfrm>
            <a:off x="2771775" y="5670550"/>
            <a:ext cx="2087563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 sz="1800">
                <a:latin typeface="Calibri" pitchFamily="34" charset="0"/>
                <a:ea typeface="標楷體" pitchFamily="65" charset="-120"/>
              </a:rPr>
              <a:t>各校擇優推薦</a:t>
            </a:r>
          </a:p>
        </p:txBody>
      </p:sp>
      <p:cxnSp>
        <p:nvCxnSpPr>
          <p:cNvPr id="11" name="肘形接點 10"/>
          <p:cNvCxnSpPr>
            <a:stCxn id="14342" idx="0"/>
            <a:endCxn id="14339" idx="2"/>
          </p:cNvCxnSpPr>
          <p:nvPr/>
        </p:nvCxnSpPr>
        <p:spPr>
          <a:xfrm rot="5400000" flipH="1" flipV="1">
            <a:off x="3625850" y="4756150"/>
            <a:ext cx="369888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接點 12"/>
          <p:cNvCxnSpPr>
            <a:stCxn id="14343" idx="0"/>
            <a:endCxn id="14342" idx="2"/>
          </p:cNvCxnSpPr>
          <p:nvPr/>
        </p:nvCxnSpPr>
        <p:spPr>
          <a:xfrm rot="16200000" flipV="1">
            <a:off x="3632994" y="5487194"/>
            <a:ext cx="360362" cy="635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6" name="文字方塊 16"/>
          <p:cNvSpPr txBox="1">
            <a:spLocks noChangeArrowheads="1"/>
          </p:cNvSpPr>
          <p:nvPr/>
        </p:nvSpPr>
        <p:spPr bwMode="auto">
          <a:xfrm>
            <a:off x="4284663" y="2060575"/>
            <a:ext cx="4175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30</a:t>
            </a:r>
            <a:endParaRPr lang="zh-TW" altLang="en-US" sz="1800" b="1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sp>
        <p:nvSpPr>
          <p:cNvPr id="14347" name="文字方塊 17"/>
          <p:cNvSpPr txBox="1">
            <a:spLocks noChangeArrowheads="1"/>
          </p:cNvSpPr>
          <p:nvPr/>
        </p:nvSpPr>
        <p:spPr bwMode="auto">
          <a:xfrm>
            <a:off x="4427538" y="3492500"/>
            <a:ext cx="11080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每州頂尖</a:t>
            </a:r>
          </a:p>
        </p:txBody>
      </p:sp>
      <p:cxnSp>
        <p:nvCxnSpPr>
          <p:cNvPr id="38" name="直線單箭頭接點 37"/>
          <p:cNvCxnSpPr>
            <a:stCxn id="14339" idx="0"/>
          </p:cNvCxnSpPr>
          <p:nvPr/>
        </p:nvCxnSpPr>
        <p:spPr>
          <a:xfrm flipV="1">
            <a:off x="3810794" y="3832224"/>
            <a:ext cx="3149" cy="3698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V="1">
            <a:off x="3810001" y="3169444"/>
            <a:ext cx="6349" cy="3007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0" name="文字方塊 15"/>
          <p:cNvSpPr txBox="1">
            <a:spLocks noChangeArrowheads="1"/>
          </p:cNvSpPr>
          <p:nvPr/>
        </p:nvSpPr>
        <p:spPr bwMode="auto">
          <a:xfrm>
            <a:off x="3203575" y="2060575"/>
            <a:ext cx="1054100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IMO</a:t>
            </a:r>
            <a:r>
              <a:rPr lang="zh-TW" altLang="en-US" sz="1800">
                <a:latin typeface="Calibri" pitchFamily="34" charset="0"/>
                <a:ea typeface="標楷體" pitchFamily="65" charset="-120"/>
              </a:rPr>
              <a:t>國手</a:t>
            </a:r>
          </a:p>
        </p:txBody>
      </p:sp>
      <p:cxnSp>
        <p:nvCxnSpPr>
          <p:cNvPr id="29" name="直線單箭頭接點 28"/>
          <p:cNvCxnSpPr/>
          <p:nvPr/>
        </p:nvCxnSpPr>
        <p:spPr>
          <a:xfrm flipH="1" flipV="1">
            <a:off x="3816350" y="2420937"/>
            <a:ext cx="4910" cy="3689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2" name="文字方塊 30"/>
          <p:cNvSpPr txBox="1">
            <a:spLocks noChangeArrowheads="1"/>
          </p:cNvSpPr>
          <p:nvPr/>
        </p:nvSpPr>
        <p:spPr bwMode="auto">
          <a:xfrm>
            <a:off x="5734050" y="3482975"/>
            <a:ext cx="1214438" cy="3683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ARME</a:t>
            </a:r>
            <a:r>
              <a:rPr lang="zh-TW" altLang="en-US" sz="1800">
                <a:latin typeface="Calibri" pitchFamily="34" charset="0"/>
                <a:ea typeface="標楷體" pitchFamily="65" charset="-120"/>
              </a:rPr>
              <a:t>得名</a:t>
            </a:r>
          </a:p>
        </p:txBody>
      </p:sp>
      <p:sp>
        <p:nvSpPr>
          <p:cNvPr id="14353" name="文字方塊 31"/>
          <p:cNvSpPr txBox="1">
            <a:spLocks noChangeArrowheads="1"/>
          </p:cNvSpPr>
          <p:nvPr/>
        </p:nvSpPr>
        <p:spPr bwMode="auto">
          <a:xfrm>
            <a:off x="6992938" y="3492500"/>
            <a:ext cx="11080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團隊解題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標楷體" pitchFamily="65" charset="-120"/>
              </a:rPr>
              <a:t>科展類</a:t>
            </a:r>
          </a:p>
        </p:txBody>
      </p:sp>
      <p:sp>
        <p:nvSpPr>
          <p:cNvPr id="15363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計畫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主題創意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展示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長期耕耘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書面研究報告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)</a:t>
            </a: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台灣高中生不太拿手項目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競爭相對沒那麼大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一隊一獎 人數較多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指標競賽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台灣國際科學展覽會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全國中小學科學展覽會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endParaRPr lang="zh-TW" altLang="en-US">
              <a:latin typeface="Calibri" pitchFamily="34" charset="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ea typeface="標楷體" pitchFamily="65" charset="-120"/>
              </a:rPr>
              <a:t>國際科展</a:t>
            </a:r>
            <a:r>
              <a:rPr lang="en-US" altLang="zh-TW" dirty="0">
                <a:ea typeface="標楷體" pitchFamily="65" charset="-120"/>
              </a:rPr>
              <a:t>(ISEF)</a:t>
            </a:r>
            <a:endParaRPr lang="zh-TW" altLang="en-US" dirty="0">
              <a:ea typeface="標楷體" pitchFamily="65" charset="-120"/>
            </a:endParaRPr>
          </a:p>
        </p:txBody>
      </p:sp>
      <p:sp>
        <p:nvSpPr>
          <p:cNvPr id="16387" name="文字方塊 5"/>
          <p:cNvSpPr txBox="1">
            <a:spLocks noChangeArrowheads="1"/>
          </p:cNvSpPr>
          <p:nvPr/>
        </p:nvSpPr>
        <p:spPr bwMode="auto">
          <a:xfrm>
            <a:off x="2339975" y="3870325"/>
            <a:ext cx="2954338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>
                <a:latin typeface="Calibri" pitchFamily="34" charset="0"/>
                <a:ea typeface="標楷體" pitchFamily="65" charset="-120"/>
              </a:rPr>
              <a:t>全國中小學科學展覽會得名</a:t>
            </a:r>
          </a:p>
        </p:txBody>
      </p:sp>
      <p:sp>
        <p:nvSpPr>
          <p:cNvPr id="16388" name="文字方塊 6"/>
          <p:cNvSpPr txBox="1">
            <a:spLocks noChangeArrowheads="1"/>
          </p:cNvSpPr>
          <p:nvPr/>
        </p:nvSpPr>
        <p:spPr bwMode="auto">
          <a:xfrm>
            <a:off x="2828925" y="3078163"/>
            <a:ext cx="2030413" cy="3698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>
                <a:latin typeface="Calibri" pitchFamily="34" charset="0"/>
                <a:ea typeface="標楷體" pitchFamily="65" charset="-120"/>
              </a:rPr>
              <a:t>台灣國際科展得名</a:t>
            </a:r>
          </a:p>
        </p:txBody>
      </p:sp>
      <p:sp>
        <p:nvSpPr>
          <p:cNvPr id="16389" name="文字方塊 7"/>
          <p:cNvSpPr txBox="1">
            <a:spLocks noChangeArrowheads="1"/>
          </p:cNvSpPr>
          <p:nvPr/>
        </p:nvSpPr>
        <p:spPr bwMode="auto">
          <a:xfrm>
            <a:off x="3276600" y="2276475"/>
            <a:ext cx="1027113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ISEF</a:t>
            </a:r>
            <a:r>
              <a:rPr lang="zh-TW" altLang="en-US" sz="1800">
                <a:latin typeface="Calibri" pitchFamily="34" charset="0"/>
                <a:ea typeface="標楷體" pitchFamily="65" charset="-120"/>
              </a:rPr>
              <a:t>國手</a:t>
            </a:r>
          </a:p>
        </p:txBody>
      </p:sp>
      <p:sp>
        <p:nvSpPr>
          <p:cNvPr id="16390" name="文字方塊 8"/>
          <p:cNvSpPr txBox="1">
            <a:spLocks noChangeArrowheads="1"/>
          </p:cNvSpPr>
          <p:nvPr/>
        </p:nvSpPr>
        <p:spPr bwMode="auto">
          <a:xfrm>
            <a:off x="2339975" y="4743450"/>
            <a:ext cx="2954338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itchFamily="34" charset="0"/>
                <a:ea typeface="標楷體" pitchFamily="65" charset="-120"/>
              </a:rPr>
              <a:t>xx</a:t>
            </a:r>
            <a:r>
              <a:rPr lang="zh-TW" altLang="en-US" sz="1800">
                <a:latin typeface="Calibri" pitchFamily="34" charset="0"/>
                <a:ea typeface="標楷體" pitchFamily="65" charset="-120"/>
              </a:rPr>
              <a:t>市中小學科學展覽會得名</a:t>
            </a:r>
          </a:p>
        </p:txBody>
      </p:sp>
      <p:sp>
        <p:nvSpPr>
          <p:cNvPr id="16391" name="文字方塊 9"/>
          <p:cNvSpPr txBox="1">
            <a:spLocks noChangeArrowheads="1"/>
          </p:cNvSpPr>
          <p:nvPr/>
        </p:nvSpPr>
        <p:spPr bwMode="auto">
          <a:xfrm>
            <a:off x="2771775" y="5454650"/>
            <a:ext cx="2087563" cy="36988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TW" altLang="en-US" sz="1800">
                <a:latin typeface="Calibri" pitchFamily="34" charset="0"/>
                <a:ea typeface="標楷體" pitchFamily="65" charset="-120"/>
              </a:rPr>
              <a:t>各校擇優推薦</a:t>
            </a:r>
          </a:p>
        </p:txBody>
      </p:sp>
      <p:cxnSp>
        <p:nvCxnSpPr>
          <p:cNvPr id="11" name="肘形接點 10"/>
          <p:cNvCxnSpPr>
            <a:stCxn id="16390" idx="0"/>
            <a:endCxn id="16387" idx="2"/>
          </p:cNvCxnSpPr>
          <p:nvPr/>
        </p:nvCxnSpPr>
        <p:spPr>
          <a:xfrm rot="5400000" flipH="1" flipV="1">
            <a:off x="3564731" y="4491832"/>
            <a:ext cx="504825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接點 12"/>
          <p:cNvCxnSpPr>
            <a:stCxn id="16391" idx="0"/>
            <a:endCxn id="16390" idx="2"/>
          </p:cNvCxnSpPr>
          <p:nvPr/>
        </p:nvCxnSpPr>
        <p:spPr>
          <a:xfrm rot="5400000" flipH="1" flipV="1">
            <a:off x="3645694" y="5283994"/>
            <a:ext cx="341312" cy="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94" name="文字方塊 16"/>
          <p:cNvSpPr txBox="1">
            <a:spLocks noChangeArrowheads="1"/>
          </p:cNvSpPr>
          <p:nvPr/>
        </p:nvSpPr>
        <p:spPr bwMode="auto">
          <a:xfrm>
            <a:off x="4559300" y="2295525"/>
            <a:ext cx="7667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4~8</a:t>
            </a:r>
            <a:r>
              <a:rPr lang="zh-TW" altLang="en-US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組</a:t>
            </a:r>
          </a:p>
        </p:txBody>
      </p:sp>
      <p:sp>
        <p:nvSpPr>
          <p:cNvPr id="16395" name="文字方塊 17"/>
          <p:cNvSpPr txBox="1">
            <a:spLocks noChangeArrowheads="1"/>
          </p:cNvSpPr>
          <p:nvPr/>
        </p:nvSpPr>
        <p:spPr bwMode="auto">
          <a:xfrm>
            <a:off x="4932363" y="3078163"/>
            <a:ext cx="9969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12~24</a:t>
            </a:r>
            <a:r>
              <a:rPr lang="zh-TW" altLang="en-US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組</a:t>
            </a:r>
          </a:p>
        </p:txBody>
      </p:sp>
      <p:sp>
        <p:nvSpPr>
          <p:cNvPr id="16396" name="文字方塊 20"/>
          <p:cNvSpPr txBox="1">
            <a:spLocks noChangeArrowheads="1"/>
          </p:cNvSpPr>
          <p:nvPr/>
        </p:nvSpPr>
        <p:spPr bwMode="auto">
          <a:xfrm>
            <a:off x="5375275" y="3870325"/>
            <a:ext cx="9969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30~60</a:t>
            </a:r>
            <a:r>
              <a:rPr lang="zh-TW" altLang="en-US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組</a:t>
            </a:r>
          </a:p>
        </p:txBody>
      </p:sp>
      <p:sp>
        <p:nvSpPr>
          <p:cNvPr id="16397" name="文字方塊 35"/>
          <p:cNvSpPr txBox="1">
            <a:spLocks noChangeArrowheads="1"/>
          </p:cNvSpPr>
          <p:nvPr/>
        </p:nvSpPr>
        <p:spPr bwMode="auto">
          <a:xfrm>
            <a:off x="5375275" y="4806950"/>
            <a:ext cx="8921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100</a:t>
            </a:r>
            <a:r>
              <a:rPr lang="zh-TW" altLang="en-US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組</a:t>
            </a:r>
            <a:r>
              <a:rPr lang="en-US" altLang="zh-TW" sz="1800" b="1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+</a:t>
            </a:r>
            <a:endParaRPr lang="zh-TW" altLang="en-US" sz="1800" b="1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  <p:cxnSp>
        <p:nvCxnSpPr>
          <p:cNvPr id="38" name="直線單箭頭接點 37"/>
          <p:cNvCxnSpPr>
            <a:endCxn id="16388" idx="2"/>
          </p:cNvCxnSpPr>
          <p:nvPr/>
        </p:nvCxnSpPr>
        <p:spPr>
          <a:xfrm flipV="1">
            <a:off x="3844131" y="3448050"/>
            <a:ext cx="1" cy="3937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6388" idx="0"/>
          </p:cNvCxnSpPr>
          <p:nvPr/>
        </p:nvCxnSpPr>
        <p:spPr>
          <a:xfrm flipV="1">
            <a:off x="3844132" y="2646363"/>
            <a:ext cx="794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342900" indent="-342900"/>
            <a:r>
              <a:rPr lang="zh-TW" altLang="en-US">
                <a:ea typeface="標楷體" pitchFamily="65" charset="-120"/>
              </a:rPr>
              <a:t>建議分級</a:t>
            </a:r>
            <a:endParaRPr lang="zh-TW" altLang="en-US"/>
          </a:p>
        </p:txBody>
      </p:sp>
      <p:sp>
        <p:nvSpPr>
          <p:cNvPr id="17411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特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A – A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級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 – B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級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 – C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級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 – 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其他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986737" cy="1320800"/>
          </a:xfrm>
        </p:spPr>
        <p:txBody>
          <a:bodyPr>
            <a:normAutofit/>
          </a:bodyPr>
          <a:lstStyle/>
          <a:p>
            <a:r>
              <a:rPr lang="zh-TW" altLang="en-US" dirty="0">
                <a:ea typeface="標楷體" pitchFamily="65" charset="-120"/>
              </a:rPr>
              <a:t>特</a:t>
            </a:r>
            <a:r>
              <a:rPr lang="en-US" altLang="zh-TW" dirty="0">
                <a:ea typeface="標楷體" pitchFamily="65" charset="-120"/>
              </a:rPr>
              <a:t>A</a:t>
            </a:r>
            <a:r>
              <a:rPr lang="zh-TW" altLang="en-US" dirty="0">
                <a:ea typeface="標楷體" pitchFamily="65" charset="-120"/>
              </a:rPr>
              <a:t>級 </a:t>
            </a:r>
            <a:br>
              <a:rPr lang="en-US" altLang="zh-TW" dirty="0">
                <a:ea typeface="標楷體" pitchFamily="65" charset="-120"/>
              </a:rPr>
            </a:br>
            <a:r>
              <a:rPr lang="en-US" altLang="zh-TW" dirty="0">
                <a:ea typeface="標楷體" pitchFamily="65" charset="-120"/>
              </a:rPr>
              <a:t>(</a:t>
            </a:r>
            <a:r>
              <a:rPr lang="zh-TW" altLang="en-US" dirty="0">
                <a:ea typeface="標楷體" pitchFamily="65" charset="-120"/>
              </a:rPr>
              <a:t>今年各科國手應該都還沒選出來</a:t>
            </a:r>
            <a:r>
              <a:rPr lang="en-US" altLang="zh-TW" dirty="0">
                <a:ea typeface="標楷體" pitchFamily="65" charset="-120"/>
              </a:rPr>
              <a:t>)</a:t>
            </a:r>
            <a:endParaRPr lang="zh-TW" altLang="en-US" dirty="0">
              <a:ea typeface="標楷體" pitchFamily="65" charset="-120"/>
            </a:endParaRPr>
          </a:p>
        </p:txBody>
      </p:sp>
      <p:sp>
        <p:nvSpPr>
          <p:cNvPr id="18435" name="內容版面配置區 2"/>
          <p:cNvSpPr>
            <a:spLocks noGrp="1"/>
          </p:cNvSpPr>
          <p:nvPr>
            <p:ph idx="1"/>
          </p:nvPr>
        </p:nvSpPr>
        <p:spPr>
          <a:xfrm>
            <a:off x="609598" y="2160590"/>
            <a:ext cx="7634810" cy="3880773"/>
          </a:xfrm>
        </p:spPr>
        <p:txBody>
          <a:bodyPr>
            <a:normAutofit lnSpcReduction="10000"/>
          </a:bodyPr>
          <a:lstStyle/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全國前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10 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這些幾乎最後都可保送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學科類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 dirty="0">
                <a:latin typeface="Calibri" pitchFamily="34" charset="0"/>
                <a:ea typeface="標楷體" pitchFamily="65" charset="-120"/>
              </a:rPr>
              <a:t>“</a:t>
            </a:r>
            <a:r>
              <a:rPr lang="zh-TW" altLang="zh-TW" dirty="0">
                <a:latin typeface="Calibri" pitchFamily="34" charset="0"/>
                <a:ea typeface="標楷體" pitchFamily="65" charset="-120"/>
              </a:rPr>
              <a:t>國際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xx</a:t>
            </a:r>
            <a:r>
              <a:rPr lang="zh-TW" altLang="zh-TW" dirty="0">
                <a:latin typeface="Calibri" pitchFamily="34" charset="0"/>
                <a:ea typeface="標楷體" pitchFamily="65" charset="-120"/>
              </a:rPr>
              <a:t>奧林匹亞競賽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”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參賽國手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正取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+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備取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物理 </a:t>
            </a:r>
            <a:r>
              <a:rPr lang="zh-TW" altLang="zh-TW" dirty="0">
                <a:latin typeface="Calibri" pitchFamily="34" charset="0"/>
                <a:ea typeface="標楷體" pitchFamily="65" charset="-120"/>
              </a:rPr>
              <a:t>數學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 </a:t>
            </a:r>
            <a:r>
              <a:rPr lang="zh-TW" altLang="zh-TW" dirty="0">
                <a:latin typeface="Calibri" pitchFamily="34" charset="0"/>
                <a:ea typeface="標楷體" pitchFamily="65" charset="-120"/>
              </a:rPr>
              <a:t>資訊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 </a:t>
            </a:r>
            <a:r>
              <a:rPr lang="zh-TW" altLang="zh-TW" dirty="0">
                <a:latin typeface="Calibri" pitchFamily="34" charset="0"/>
                <a:ea typeface="標楷體" pitchFamily="65" charset="-120"/>
              </a:rPr>
              <a:t>化學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 </a:t>
            </a:r>
            <a:r>
              <a:rPr lang="zh-TW" altLang="zh-TW" dirty="0">
                <a:latin typeface="Calibri" pitchFamily="34" charset="0"/>
                <a:ea typeface="標楷體" pitchFamily="65" charset="-120"/>
              </a:rPr>
              <a:t>生物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 </a:t>
            </a:r>
            <a:r>
              <a:rPr lang="en-US" altLang="zh-TW" dirty="0" err="1">
                <a:latin typeface="Calibri" pitchFamily="34" charset="0"/>
                <a:ea typeface="標楷體" pitchFamily="65" charset="-120"/>
              </a:rPr>
              <a:t>地球科學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 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六科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 dirty="0">
                <a:latin typeface="Calibri" pitchFamily="34" charset="0"/>
                <a:ea typeface="標楷體" pitchFamily="65" charset="-120"/>
              </a:rPr>
              <a:t>“</a:t>
            </a:r>
            <a:r>
              <a:rPr lang="zh-TW" altLang="zh-TW" dirty="0">
                <a:latin typeface="Calibri" pitchFamily="34" charset="0"/>
                <a:ea typeface="標楷體" pitchFamily="65" charset="-120"/>
              </a:rPr>
              <a:t>亞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太物理</a:t>
            </a:r>
            <a:r>
              <a:rPr lang="zh-TW" altLang="zh-TW" dirty="0">
                <a:latin typeface="Calibri" pitchFamily="34" charset="0"/>
                <a:ea typeface="標楷體" pitchFamily="65" charset="-120"/>
              </a:rPr>
              <a:t>奧林匹亞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競賽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”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參賽國手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正取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+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備取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en-US" altLang="zh-TW" dirty="0">
                <a:latin typeface="Calibri" pitchFamily="34" charset="0"/>
                <a:ea typeface="標楷體" pitchFamily="65" charset="-120"/>
              </a:rPr>
              <a:t>“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亞太數學奧林匹亞競賽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”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得獎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金牌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1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、銀牌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2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、銅牌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4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、榮譽獎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3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共十名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全國學科能力競賽一等獎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(3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人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、二等獎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(7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人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科展類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 dirty="0">
                <a:latin typeface="Calibri" pitchFamily="34" charset="0"/>
                <a:ea typeface="標楷體" pitchFamily="65" charset="-120"/>
              </a:rPr>
              <a:t>Intel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國際科展 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(ISEF)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參賽國手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 dirty="0">
                <a:latin typeface="Calibri" pitchFamily="34" charset="0"/>
                <a:ea typeface="標楷體" pitchFamily="65" charset="-120"/>
              </a:rPr>
              <a:t>被選去都是一時之選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endParaRPr lang="en-US" altLang="zh-TW" dirty="0">
              <a:latin typeface="Calibri" pitchFamily="34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8520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標楷體" pitchFamily="65" charset="-120"/>
              </a:rPr>
              <a:t>A</a:t>
            </a:r>
            <a:r>
              <a:rPr lang="zh-TW" altLang="en-US">
                <a:ea typeface="標楷體" pitchFamily="65" charset="-120"/>
              </a:rPr>
              <a:t>級</a:t>
            </a:r>
          </a:p>
        </p:txBody>
      </p:sp>
      <p:sp>
        <p:nvSpPr>
          <p:cNvPr id="19459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全國前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20-50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名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學科類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進入奧林匹亞選訓營 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2"/>
            <a:r>
              <a:rPr lang="zh-TW" altLang="en-US">
                <a:latin typeface="Calibri" pitchFamily="34" charset="0"/>
                <a:ea typeface="標楷體" pitchFamily="65" charset="-120"/>
              </a:rPr>
              <a:t>通過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xx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奧林匹亞競賽初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複選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2"/>
            <a:r>
              <a:rPr lang="zh-TW" altLang="en-US">
                <a:latin typeface="Calibri" pitchFamily="34" charset="0"/>
                <a:ea typeface="標楷體" pitchFamily="65" charset="-120"/>
              </a:rPr>
              <a:t>全國學科競賽前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10</a:t>
            </a: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科展類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en-US" altLang="zh-TW">
                <a:latin typeface="Calibri" pitchFamily="34" charset="0"/>
                <a:ea typeface="標楷體" pitchFamily="65" charset="-120"/>
              </a:rPr>
              <a:t>“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台灣國際科學展覽會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”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得名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有的會被推薦參加其他國家舉辦的國際科展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endParaRPr lang="en-US" altLang="zh-TW">
              <a:latin typeface="Calibri" pitchFamily="34" charset="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標楷體" pitchFamily="65" charset="-120"/>
              </a:rPr>
              <a:t>B</a:t>
            </a:r>
            <a:r>
              <a:rPr lang="zh-TW" altLang="en-US">
                <a:ea typeface="標楷體" pitchFamily="65" charset="-120"/>
              </a:rPr>
              <a:t>級</a:t>
            </a:r>
          </a:p>
        </p:txBody>
      </p:sp>
      <p:sp>
        <p:nvSpPr>
          <p:cNvPr id="2048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3050" lvl="1" indent="-273050">
              <a:buClr>
                <a:srgbClr val="E2A200"/>
              </a:buClr>
              <a:buSzPct val="95000"/>
            </a:pPr>
            <a:r>
              <a:rPr lang="zh-TW" altLang="en-US" dirty="0">
                <a:latin typeface="Calibri" pitchFamily="34" charset="0"/>
                <a:ea typeface="標楷體" pitchFamily="65" charset="-120"/>
              </a:rPr>
              <a:t>全國前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50-100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名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273050" lvl="1" indent="-273050">
              <a:buClr>
                <a:srgbClr val="E2A200"/>
              </a:buClr>
              <a:buSzPct val="95000"/>
            </a:pP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273050" lvl="1" indent="-273050">
              <a:buClr>
                <a:srgbClr val="E2A200"/>
              </a:buClr>
              <a:buSzPct val="95000"/>
            </a:pPr>
            <a:r>
              <a:rPr lang="zh-TW" altLang="en-US" dirty="0">
                <a:latin typeface="Calibri" pitchFamily="34" charset="0"/>
                <a:ea typeface="標楷體" pitchFamily="65" charset="-120"/>
              </a:rPr>
              <a:t>學科類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546100" lvl="2" indent="-273050">
              <a:buClr>
                <a:srgbClr val="E2A200"/>
              </a:buClr>
              <a:buSzPct val="95000"/>
            </a:pPr>
            <a:r>
              <a:rPr lang="en-US" altLang="zh-TW" dirty="0">
                <a:latin typeface="Calibri" pitchFamily="34" charset="0"/>
                <a:ea typeface="標楷體" pitchFamily="65" charset="-120"/>
              </a:rPr>
              <a:t>AIME/ARML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得名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(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美國的數學科能力競賽</a:t>
            </a:r>
            <a:r>
              <a:rPr lang="en-US" altLang="zh-TW" dirty="0">
                <a:latin typeface="Calibri" pitchFamily="34" charset="0"/>
                <a:ea typeface="標楷體" pitchFamily="65" charset="-120"/>
              </a:rPr>
              <a:t>)</a:t>
            </a:r>
          </a:p>
          <a:p>
            <a:pPr marL="546100" lvl="2" indent="-273050">
              <a:buClr>
                <a:srgbClr val="E2A200"/>
              </a:buClr>
              <a:buSzPct val="95000"/>
            </a:pPr>
            <a:r>
              <a:rPr lang="en-US" altLang="zh-TW" dirty="0">
                <a:latin typeface="Calibri" pitchFamily="34" charset="0"/>
                <a:ea typeface="標楷體" pitchFamily="65" charset="-120"/>
              </a:rPr>
              <a:t>xx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區高中數學及自然學科能力競賽得名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546100" lvl="2" indent="-273050">
              <a:buClr>
                <a:srgbClr val="E2A200"/>
              </a:buClr>
              <a:buSzPct val="95000"/>
            </a:pPr>
            <a:r>
              <a:rPr lang="zh-TW" altLang="en-US" dirty="0">
                <a:latin typeface="Calibri" pitchFamily="34" charset="0"/>
                <a:ea typeface="標楷體" pitchFamily="65" charset="-120"/>
              </a:rPr>
              <a:t>丘成桐數學獎得獎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546100" lvl="2" indent="-273050">
              <a:buClr>
                <a:srgbClr val="E2A200"/>
              </a:buClr>
              <a:buSzPct val="95000"/>
            </a:pPr>
            <a:r>
              <a:rPr lang="zh-TW" altLang="en-US" dirty="0">
                <a:latin typeface="Calibri" pitchFamily="34" charset="0"/>
                <a:ea typeface="標楷體" pitchFamily="65" charset="-120"/>
              </a:rPr>
              <a:t>網際網路程式設計全國大賽得名</a:t>
            </a:r>
          </a:p>
          <a:p>
            <a:pPr marL="273050" lvl="1" indent="-273050">
              <a:buClr>
                <a:srgbClr val="E2A200"/>
              </a:buClr>
              <a:buSzPct val="95000"/>
            </a:pPr>
            <a:r>
              <a:rPr lang="zh-TW" altLang="en-US" dirty="0">
                <a:latin typeface="Calibri" pitchFamily="34" charset="0"/>
                <a:ea typeface="標楷體" pitchFamily="65" charset="-120"/>
              </a:rPr>
              <a:t>科展類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546100" lvl="2" indent="-273050">
              <a:buClr>
                <a:srgbClr val="E2A200"/>
              </a:buClr>
              <a:buSzPct val="95000"/>
            </a:pPr>
            <a:r>
              <a:rPr lang="zh-TW" altLang="en-US" dirty="0">
                <a:latin typeface="Calibri" pitchFamily="34" charset="0"/>
                <a:ea typeface="標楷體" pitchFamily="65" charset="-120"/>
              </a:rPr>
              <a:t>全國中小學科學展覽會得名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546100" lvl="2" indent="-273050">
              <a:buClr>
                <a:srgbClr val="E2A200"/>
              </a:buClr>
              <a:buSzPct val="95000"/>
            </a:pPr>
            <a:r>
              <a:rPr lang="zh-TW" altLang="en-US" dirty="0">
                <a:latin typeface="Calibri" pitchFamily="34" charset="0"/>
                <a:ea typeface="標楷體" pitchFamily="65" charset="-120"/>
              </a:rPr>
              <a:t>台北市中等學校學生科學研究獎助得獎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pPr marL="546100" lvl="2" indent="-273050">
              <a:buClr>
                <a:srgbClr val="E2A200"/>
              </a:buClr>
              <a:buSzPct val="95000"/>
            </a:pPr>
            <a:r>
              <a:rPr lang="zh-TW" altLang="en-US" dirty="0">
                <a:latin typeface="Calibri" pitchFamily="34" charset="0"/>
                <a:ea typeface="標楷體" pitchFamily="65" charset="-120"/>
              </a:rPr>
              <a:t>旺宏科學獎得獎</a:t>
            </a:r>
            <a:endParaRPr lang="en-US" altLang="zh-TW" dirty="0">
              <a:latin typeface="Calibri" pitchFamily="34" charset="0"/>
              <a:ea typeface="標楷體" pitchFamily="65" charset="-120"/>
            </a:endParaRPr>
          </a:p>
          <a:p>
            <a:endParaRPr lang="zh-TW" altLang="en-US" dirty="0">
              <a:latin typeface="Calibri" pitchFamily="34" charset="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標楷體" pitchFamily="65" charset="-120"/>
              </a:rPr>
              <a:t>C</a:t>
            </a:r>
            <a:r>
              <a:rPr lang="zh-TW" altLang="en-US">
                <a:ea typeface="標楷體" pitchFamily="65" charset="-120"/>
              </a:rPr>
              <a:t>級</a:t>
            </a:r>
          </a:p>
        </p:txBody>
      </p:sp>
      <p:sp>
        <p:nvSpPr>
          <p:cNvPr id="21507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有點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trivial</a:t>
            </a:r>
          </a:p>
          <a:p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還是有學科或科展類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小比賽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營隊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培育計畫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主辦者通常需要鼓勵同學參加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參與的意義在於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同學對該學科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領域</a:t>
            </a:r>
            <a:r>
              <a:rPr lang="zh-TW" altLang="en-US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有興趣</a:t>
            </a:r>
            <a:endParaRPr lang="en-US" altLang="zh-TW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標楷體" pitchFamily="65" charset="-120"/>
              </a:rPr>
              <a:t>其他</a:t>
            </a:r>
          </a:p>
        </p:txBody>
      </p:sp>
      <p:sp>
        <p:nvSpPr>
          <p:cNvPr id="2253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並不完全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trivial</a:t>
            </a:r>
          </a:p>
          <a:p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非學科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科展類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英檢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語文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志工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交流</a:t>
            </a:r>
            <a:r>
              <a:rPr lang="en-US" altLang="zh-TW">
                <a:latin typeface="Calibri" pitchFamily="34" charset="0"/>
                <a:ea typeface="標楷體" pitchFamily="65" charset="-120"/>
              </a:rPr>
              <a:t>/</a:t>
            </a:r>
            <a:r>
              <a:rPr lang="zh-TW" altLang="en-US">
                <a:latin typeface="Calibri" pitchFamily="34" charset="0"/>
                <a:ea typeface="標楷體" pitchFamily="65" charset="-120"/>
              </a:rPr>
              <a:t>領袖培訓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自願參加為主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r>
              <a:rPr lang="zh-TW" altLang="en-US">
                <a:latin typeface="Calibri" pitchFamily="34" charset="0"/>
                <a:ea typeface="標楷體" pitchFamily="65" charset="-120"/>
              </a:rPr>
              <a:t>參與的意義意義在於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同學</a:t>
            </a:r>
            <a:r>
              <a:rPr lang="zh-TW" altLang="en-US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自我期許</a:t>
            </a:r>
            <a:endParaRPr lang="en-US" altLang="zh-TW">
              <a:solidFill>
                <a:srgbClr val="6600FF"/>
              </a:solidFill>
              <a:latin typeface="Calibri" pitchFamily="34" charset="0"/>
              <a:ea typeface="標楷體" pitchFamily="65" charset="-120"/>
            </a:endParaRPr>
          </a:p>
          <a:p>
            <a:pPr lvl="1"/>
            <a:r>
              <a:rPr lang="zh-TW" altLang="en-US">
                <a:latin typeface="Calibri" pitchFamily="34" charset="0"/>
                <a:ea typeface="標楷體" pitchFamily="65" charset="-120"/>
              </a:rPr>
              <a:t>溝通表達能力</a:t>
            </a:r>
            <a:endParaRPr lang="en-US" altLang="zh-TW">
              <a:latin typeface="Calibri" pitchFamily="34" charset="0"/>
              <a:ea typeface="標楷體" pitchFamily="65" charset="-120"/>
            </a:endParaRPr>
          </a:p>
          <a:p>
            <a:endParaRPr lang="zh-TW" altLang="en-US">
              <a:latin typeface="Calibri" pitchFamily="34" charset="0"/>
              <a:ea typeface="標楷體" pitchFamily="65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a typeface="標楷體" pitchFamily="65" charset="-120"/>
              </a:rPr>
              <a:t>注意</a:t>
            </a:r>
            <a:r>
              <a:rPr lang="en-US" altLang="zh-TW">
                <a:ea typeface="標楷體" pitchFamily="65" charset="-120"/>
              </a:rPr>
              <a:t>:</a:t>
            </a:r>
            <a:endParaRPr lang="zh-TW" altLang="en-US">
              <a:ea typeface="標楷體" pitchFamily="65" charset="-120"/>
            </a:endParaRPr>
          </a:p>
        </p:txBody>
      </p:sp>
      <p:sp>
        <p:nvSpPr>
          <p:cNvPr id="23555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Calibri" pitchFamily="34" charset="0"/>
                <a:ea typeface="標楷體" pitchFamily="65" charset="-120"/>
              </a:rPr>
              <a:t>競賽成果應以</a:t>
            </a:r>
            <a:r>
              <a:rPr lang="zh-TW" altLang="en-US" dirty="0">
                <a:solidFill>
                  <a:srgbClr val="6600FF"/>
                </a:solidFill>
                <a:latin typeface="Calibri" pitchFamily="34" charset="0"/>
                <a:ea typeface="標楷體" pitchFamily="65" charset="-120"/>
              </a:rPr>
              <a:t>高中教育階段三年時期</a:t>
            </a:r>
            <a:r>
              <a:rPr lang="zh-TW" altLang="en-US" dirty="0">
                <a:latin typeface="Calibri" pitchFamily="34" charset="0"/>
                <a:ea typeface="標楷體" pitchFamily="65" charset="-120"/>
              </a:rPr>
              <a:t>為主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2291</TotalTime>
  <Words>1054</Words>
  <Application>Microsoft Office PowerPoint</Application>
  <PresentationFormat>如螢幕大小 (4:3)</PresentationFormat>
  <Paragraphs>193</Paragraphs>
  <Slides>19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標楷體</vt:lpstr>
      <vt:lpstr>Arial</vt:lpstr>
      <vt:lpstr>Calibri</vt:lpstr>
      <vt:lpstr>Times New Roman</vt:lpstr>
      <vt:lpstr>Trebuchet MS</vt:lpstr>
      <vt:lpstr>Wingdings 3</vt:lpstr>
      <vt:lpstr>多面向</vt:lpstr>
      <vt:lpstr>  大學甄試備審資料 優良競賽事蹟 難易度簡介 </vt:lpstr>
      <vt:lpstr>如果不想細分，可以認關鍵字:</vt:lpstr>
      <vt:lpstr>大綱</vt:lpstr>
      <vt:lpstr>學科類</vt:lpstr>
      <vt:lpstr>學科類 競賽制度</vt:lpstr>
      <vt:lpstr>國際數學奧林匹亞(IMO)</vt:lpstr>
      <vt:lpstr>國際物理奧林匹亞(IPhO)</vt:lpstr>
      <vt:lpstr>國際資訊奧林匹亞(IOI)</vt:lpstr>
      <vt:lpstr>國際奧林匹亞競賽</vt:lpstr>
      <vt:lpstr>美國IMO選拔</vt:lpstr>
      <vt:lpstr>科展類</vt:lpstr>
      <vt:lpstr>國際科展(ISEF)</vt:lpstr>
      <vt:lpstr>建議分級</vt:lpstr>
      <vt:lpstr>特A級  (今年各科國手應該都還沒選出來)</vt:lpstr>
      <vt:lpstr>A級</vt:lpstr>
      <vt:lpstr>B級</vt:lpstr>
      <vt:lpstr>C級</vt:lpstr>
      <vt:lpstr>其他</vt:lpstr>
      <vt:lpstr>注意: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nslab</dc:creator>
  <cp:lastModifiedBy>Lulu</cp:lastModifiedBy>
  <cp:revision>382</cp:revision>
  <dcterms:created xsi:type="dcterms:W3CDTF">2007-05-23T09:04:49Z</dcterms:created>
  <dcterms:modified xsi:type="dcterms:W3CDTF">2026-05-07T03:20:34Z</dcterms:modified>
</cp:coreProperties>
</file>