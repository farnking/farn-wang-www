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314" r:id="rId3"/>
    <p:sldId id="280" r:id="rId4"/>
    <p:sldId id="281" r:id="rId5"/>
    <p:sldId id="282" r:id="rId6"/>
    <p:sldId id="283" r:id="rId7"/>
    <p:sldId id="284" r:id="rId8"/>
    <p:sldId id="285" r:id="rId9"/>
    <p:sldId id="286" r:id="rId10"/>
    <p:sldId id="287" r:id="rId11"/>
    <p:sldId id="288" r:id="rId12"/>
    <p:sldId id="321" r:id="rId13"/>
    <p:sldId id="289" r:id="rId14"/>
    <p:sldId id="315" r:id="rId15"/>
    <p:sldId id="316" r:id="rId16"/>
    <p:sldId id="317" r:id="rId17"/>
    <p:sldId id="318"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 id="310" r:id="rId37"/>
    <p:sldId id="311" r:id="rId38"/>
    <p:sldId id="312" r:id="rId39"/>
    <p:sldId id="319" r:id="rId40"/>
    <p:sldId id="320" r:id="rId41"/>
    <p:sldId id="313" r:id="rId4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4660"/>
  </p:normalViewPr>
  <p:slideViewPr>
    <p:cSldViewPr snapToGrid="0">
      <p:cViewPr varScale="1">
        <p:scale>
          <a:sx n="69" d="100"/>
          <a:sy n="69" d="100"/>
        </p:scale>
        <p:origin x="57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18BAB-3267-43B1-9272-904BA6A06431}" type="datetimeFigureOut">
              <a:rPr lang="zh-TW" altLang="en-US" smtClean="0"/>
              <a:t>2018/9/27</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D9AC04-4A9C-4A1F-A398-148B794CD375}" type="slidenum">
              <a:rPr lang="zh-TW" altLang="en-US" smtClean="0"/>
              <a:t>‹#›</a:t>
            </a:fld>
            <a:endParaRPr lang="zh-TW" altLang="en-US"/>
          </a:p>
        </p:txBody>
      </p:sp>
    </p:spTree>
    <p:extLst>
      <p:ext uri="{BB962C8B-B14F-4D97-AF65-F5344CB8AC3E}">
        <p14:creationId xmlns:p14="http://schemas.microsoft.com/office/powerpoint/2010/main" val="3206878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2E3C9CE-A606-4F2C-BE7E-B95769E65E0E}" type="datetime1">
              <a:rPr lang="zh-TW" altLang="en-US" smtClean="0"/>
              <a:t>2018/9/27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2254353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3C48CB2-2BA9-493A-8EB0-534E7D57AEE0}" type="datetime1">
              <a:rPr lang="zh-TW" altLang="en-US" smtClean="0"/>
              <a:t>2018/9/27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1497028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編輯母片文字樣式</a:t>
            </a:r>
          </a:p>
        </p:txBody>
      </p:sp>
      <p:sp>
        <p:nvSpPr>
          <p:cNvPr id="4" name="日期版面配置區 3"/>
          <p:cNvSpPr>
            <a:spLocks noGrp="1"/>
          </p:cNvSpPr>
          <p:nvPr>
            <p:ph type="dt" sz="half" idx="10"/>
          </p:nvPr>
        </p:nvSpPr>
        <p:spPr/>
        <p:txBody>
          <a:bodyPr/>
          <a:lstStyle/>
          <a:p>
            <a:fld id="{B8DFA4C3-0C93-4095-AFE6-AD7A507D9BC5}" type="datetime1">
              <a:rPr lang="zh-TW" altLang="en-US" smtClean="0"/>
              <a:t>2018/9/27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2917294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A911046E-8227-4EFA-91CB-5C31080E6320}" type="datetime1">
              <a:rPr lang="zh-TW" altLang="en-US" smtClean="0"/>
              <a:t>2018/9/27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1040440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30CFDE10-FFB3-4E5F-BF19-70DB0C94D16B}" type="datetime1">
              <a:rPr lang="zh-TW" altLang="en-US" smtClean="0"/>
              <a:t>2018/9/27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826122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322E4A1-05F4-4AF9-844B-AF05D8DCBD6C}" type="datetime1">
              <a:rPr lang="zh-TW" altLang="en-US" smtClean="0"/>
              <a:t>2018/9/27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962320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66A664CC-9593-4D5F-A802-B0A86083CD98}" type="datetime1">
              <a:rPr lang="zh-TW" altLang="en-US" smtClean="0"/>
              <a:t>2018/9/27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2694990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76847D9A-FF9F-4D9D-A6D0-CADCA1293680}" type="datetime1">
              <a:rPr lang="zh-TW" altLang="en-US" smtClean="0"/>
              <a:t>2018/9/27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346030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日期版面配置區 4"/>
          <p:cNvSpPr>
            <a:spLocks noGrp="1"/>
          </p:cNvSpPr>
          <p:nvPr>
            <p:ph type="dt" sz="half" idx="10"/>
          </p:nvPr>
        </p:nvSpPr>
        <p:spPr/>
        <p:txBody>
          <a:bodyPr/>
          <a:lstStyle/>
          <a:p>
            <a:fld id="{DEDD2D3B-7210-4D10-B636-C13354D1D6A2}" type="datetime1">
              <a:rPr lang="zh-TW" altLang="en-US" smtClean="0"/>
              <a:t>2018/9/27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1848920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F1821B4-6086-4169-A421-E2564D4A9544}" type="datetime1">
              <a:rPr lang="zh-TW" altLang="en-US" smtClean="0"/>
              <a:t>2018/9/27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2619641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6D3B830-345A-4B56-9C5E-1CCF2CB34793}" type="datetime1">
              <a:rPr lang="zh-TW" altLang="en-US" smtClean="0"/>
              <a:t>2018/9/27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708186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43BBD1-E93E-4DEA-ABFC-60C554E0B9F6}" type="datetime1">
              <a:rPr lang="zh-TW" altLang="en-US" smtClean="0"/>
              <a:t>2018/9/27</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664DA0-2BCB-4BEE-B230-7CFCA9EBBD78}" type="slidenum">
              <a:rPr lang="zh-TW" altLang="en-US" smtClean="0"/>
              <a:t>‹#›</a:t>
            </a:fld>
            <a:endParaRPr lang="zh-TW" altLang="en-US"/>
          </a:p>
        </p:txBody>
      </p:sp>
    </p:spTree>
    <p:extLst>
      <p:ext uri="{BB962C8B-B14F-4D97-AF65-F5344CB8AC3E}">
        <p14:creationId xmlns:p14="http://schemas.microsoft.com/office/powerpoint/2010/main" val="2407202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eclipse.org/downloads/packages/release/2018-09/r/eclipse-ide-java-developers"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drive.google.com/file/d/1rBMrKxrba9pj648qFAKXeVnkSK6W_m-q/view?usp=shari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netbeans.org/kb/docs/java/junit-intro.html#Exercise_10"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github.com/" TargetMode="Externa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pkg.jenkins.io/debian-stable/" TargetMode="External"/><Relationship Id="rId2" Type="http://schemas.openxmlformats.org/officeDocument/2006/relationships/hyperlink" Target="https://jenkins.io/download/" TargetMode="External"/><Relationship Id="rId1" Type="http://schemas.openxmlformats.org/officeDocument/2006/relationships/slideLayout" Target="../slideLayouts/slideLayout2.xml"/><Relationship Id="rId4" Type="http://schemas.openxmlformats.org/officeDocument/2006/relationships/hyperlink" Target="http://localhost:8080/"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www.nncron.ru/help/EN/working/cron-format.ht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lee-w.github.io/git-tutoria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b="1" i="1" dirty="0" smtClean="0"/>
              <a:t>Software Testing</a:t>
            </a:r>
            <a:br>
              <a:rPr lang="en-US" altLang="zh-TW" b="1" i="1" dirty="0" smtClean="0"/>
            </a:br>
            <a:r>
              <a:rPr lang="en-US" altLang="zh-TW" b="1" i="1" dirty="0"/>
              <a:t>Project1</a:t>
            </a:r>
            <a:br>
              <a:rPr lang="en-US" altLang="zh-TW" b="1" i="1" dirty="0"/>
            </a:br>
            <a:r>
              <a:rPr lang="en-US" altLang="zh-TW" b="1" i="1" dirty="0"/>
              <a:t>Continuous </a:t>
            </a:r>
            <a:r>
              <a:rPr lang="en-US" altLang="zh-TW" b="1" i="1" dirty="0" smtClean="0"/>
              <a:t>Integration</a:t>
            </a:r>
            <a:endParaRPr lang="zh-TW" altLang="en-US" b="1" i="1" dirty="0"/>
          </a:p>
        </p:txBody>
      </p:sp>
      <p:sp>
        <p:nvSpPr>
          <p:cNvPr id="3" name="副標題 2"/>
          <p:cNvSpPr>
            <a:spLocks noGrp="1"/>
          </p:cNvSpPr>
          <p:nvPr>
            <p:ph type="subTitle" idx="1"/>
          </p:nvPr>
        </p:nvSpPr>
        <p:spPr>
          <a:xfrm>
            <a:off x="5766816" y="5028502"/>
            <a:ext cx="6998208" cy="1683194"/>
          </a:xfrm>
        </p:spPr>
        <p:txBody>
          <a:bodyPr/>
          <a:lstStyle/>
          <a:p>
            <a:r>
              <a:rPr lang="en-US" altLang="zh-TW" dirty="0" smtClean="0"/>
              <a:t>Instructor: </a:t>
            </a:r>
            <a:r>
              <a:rPr lang="zh-TW" altLang="en-US" dirty="0" smtClean="0"/>
              <a:t>王凡教授</a:t>
            </a:r>
            <a:endParaRPr lang="en-US" altLang="zh-TW" dirty="0" smtClean="0"/>
          </a:p>
          <a:p>
            <a:r>
              <a:rPr lang="en-US" altLang="zh-TW" dirty="0" smtClean="0"/>
              <a:t>TA: </a:t>
            </a:r>
            <a:r>
              <a:rPr lang="zh-TW" altLang="en-US" dirty="0" smtClean="0"/>
              <a:t>鄭大容</a:t>
            </a:r>
            <a:endParaRPr lang="zh-TW" altLang="en-US" dirty="0"/>
          </a:p>
          <a:p>
            <a:r>
              <a:rPr lang="en-US" altLang="zh-TW" dirty="0" smtClean="0"/>
              <a:t>Email: R06943080@ntu.edu.tw</a:t>
            </a:r>
          </a:p>
        </p:txBody>
      </p:sp>
      <p:sp>
        <p:nvSpPr>
          <p:cNvPr id="4" name="Subtitle 2">
            <a:extLst>
              <a:ext uri="{FF2B5EF4-FFF2-40B4-BE49-F238E27FC236}">
                <a16:creationId xmlns:a16="http://schemas.microsoft.com/office/drawing/2014/main" id="{14E01E8F-9028-DC4C-9D23-D4B29EC68FF6}"/>
              </a:ext>
            </a:extLst>
          </p:cNvPr>
          <p:cNvSpPr txBox="1">
            <a:spLocks/>
          </p:cNvSpPr>
          <p:nvPr/>
        </p:nvSpPr>
        <p:spPr>
          <a:xfrm>
            <a:off x="1524000" y="3528251"/>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smtClean="0"/>
              <a:t>Tutorial</a:t>
            </a:r>
          </a:p>
          <a:p>
            <a:r>
              <a:rPr lang="en-US" b="1" i="1" smtClean="0"/>
              <a:t>Junit + Github + Jenkins+JaCoCo</a:t>
            </a:r>
            <a:endParaRPr lang="en-US" b="1" i="1" dirty="0"/>
          </a:p>
        </p:txBody>
      </p:sp>
      <p:sp>
        <p:nvSpPr>
          <p:cNvPr id="5" name="投影片編號版面配置區 4"/>
          <p:cNvSpPr>
            <a:spLocks noGrp="1"/>
          </p:cNvSpPr>
          <p:nvPr>
            <p:ph type="sldNum" sz="quarter" idx="12"/>
          </p:nvPr>
        </p:nvSpPr>
        <p:spPr/>
        <p:txBody>
          <a:bodyPr/>
          <a:lstStyle/>
          <a:p>
            <a:fld id="{21664DA0-2BCB-4BEE-B230-7CFCA9EBBD78}" type="slidenum">
              <a:rPr lang="zh-TW" altLang="en-US" smtClean="0"/>
              <a:t>1</a:t>
            </a:fld>
            <a:endParaRPr lang="zh-TW" altLang="en-US"/>
          </a:p>
        </p:txBody>
      </p:sp>
    </p:spTree>
    <p:extLst>
      <p:ext uri="{BB962C8B-B14F-4D97-AF65-F5344CB8AC3E}">
        <p14:creationId xmlns:p14="http://schemas.microsoft.com/office/powerpoint/2010/main" val="879476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i="1" dirty="0" smtClean="0"/>
              <a:t>Unit Test</a:t>
            </a:r>
            <a:endParaRPr lang="zh-TW" altLang="en-US" b="1" i="1" dirty="0"/>
          </a:p>
        </p:txBody>
      </p:sp>
      <p:sp>
        <p:nvSpPr>
          <p:cNvPr id="3" name="內容版面配置區 2"/>
          <p:cNvSpPr>
            <a:spLocks noGrp="1"/>
          </p:cNvSpPr>
          <p:nvPr>
            <p:ph idx="1"/>
          </p:nvPr>
        </p:nvSpPr>
        <p:spPr/>
        <p:txBody>
          <a:bodyPr/>
          <a:lstStyle/>
          <a:p>
            <a:r>
              <a:rPr lang="zh-TW" altLang="en-US" dirty="0" smtClean="0"/>
              <a:t>對於程式碼中的單元如</a:t>
            </a:r>
            <a:r>
              <a:rPr lang="en-US" altLang="zh-TW" dirty="0" smtClean="0"/>
              <a:t>class,</a:t>
            </a:r>
            <a:r>
              <a:rPr lang="zh-TW" altLang="en-US" dirty="0" smtClean="0"/>
              <a:t> </a:t>
            </a:r>
            <a:r>
              <a:rPr lang="en-US" altLang="zh-TW" dirty="0" smtClean="0"/>
              <a:t>method</a:t>
            </a:r>
            <a:r>
              <a:rPr lang="zh-TW" altLang="en-US" dirty="0" smtClean="0"/>
              <a:t>進行測試的方法。</a:t>
            </a:r>
            <a:endParaRPr lang="en-US" altLang="zh-TW" dirty="0" smtClean="0"/>
          </a:p>
          <a:p>
            <a:r>
              <a:rPr lang="zh-TW" altLang="en-US" dirty="0" smtClean="0"/>
              <a:t>對於大型專案的單元測試，已有現成的</a:t>
            </a:r>
            <a:r>
              <a:rPr lang="en-US" altLang="zh-TW" dirty="0" smtClean="0"/>
              <a:t>IDE</a:t>
            </a:r>
            <a:r>
              <a:rPr lang="zh-TW" altLang="en-US" dirty="0" smtClean="0"/>
              <a:t>工具可供使用。</a:t>
            </a:r>
            <a:endParaRPr lang="en-US" altLang="zh-TW" dirty="0" smtClean="0"/>
          </a:p>
          <a:p>
            <a:pPr marL="457200" lvl="1" indent="0">
              <a:buNone/>
            </a:pPr>
            <a:r>
              <a:rPr lang="en-US" altLang="zh-TW" dirty="0" smtClean="0"/>
              <a:t>Ex. Eclipse</a:t>
            </a:r>
            <a:endParaRPr lang="zh-TW" altLang="en-US" dirty="0"/>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2</a:t>
            </a:fld>
            <a:endParaRPr lang="zh-TW" altLang="en-US"/>
          </a:p>
        </p:txBody>
      </p:sp>
    </p:spTree>
    <p:extLst>
      <p:ext uri="{BB962C8B-B14F-4D97-AF65-F5344CB8AC3E}">
        <p14:creationId xmlns:p14="http://schemas.microsoft.com/office/powerpoint/2010/main" val="731579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0EA8-AD2E-634B-ABAF-0582D813F1C8}"/>
              </a:ext>
            </a:extLst>
          </p:cNvPr>
          <p:cNvSpPr>
            <a:spLocks noGrp="1"/>
          </p:cNvSpPr>
          <p:nvPr>
            <p:ph type="title"/>
          </p:nvPr>
        </p:nvSpPr>
        <p:spPr/>
        <p:txBody>
          <a:bodyPr/>
          <a:lstStyle/>
          <a:p>
            <a:r>
              <a:rPr lang="en-US" b="1" i="1" dirty="0"/>
              <a:t>What is CI?</a:t>
            </a:r>
            <a:endParaRPr lang="en-US" dirty="0"/>
          </a:p>
        </p:txBody>
      </p:sp>
      <p:sp>
        <p:nvSpPr>
          <p:cNvPr id="3" name="Content Placeholder 2">
            <a:extLst>
              <a:ext uri="{FF2B5EF4-FFF2-40B4-BE49-F238E27FC236}">
                <a16:creationId xmlns:a16="http://schemas.microsoft.com/office/drawing/2014/main" id="{08549DCD-0A0A-1145-B0C7-406C833B9789}"/>
              </a:ext>
            </a:extLst>
          </p:cNvPr>
          <p:cNvSpPr>
            <a:spLocks noGrp="1"/>
          </p:cNvSpPr>
          <p:nvPr>
            <p:ph idx="1"/>
          </p:nvPr>
        </p:nvSpPr>
        <p:spPr/>
        <p:txBody>
          <a:bodyPr/>
          <a:lstStyle/>
          <a:p>
            <a:r>
              <a:rPr lang="en-US" dirty="0"/>
              <a:t>Continuous integration is the method used to determine that the entire system is in the running state and the changes made have not lead to errors in some parts of the system.</a:t>
            </a:r>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3</a:t>
            </a:fld>
            <a:endParaRPr lang="zh-TW" altLang="en-US"/>
          </a:p>
        </p:txBody>
      </p:sp>
    </p:spTree>
    <p:extLst>
      <p:ext uri="{BB962C8B-B14F-4D97-AF65-F5344CB8AC3E}">
        <p14:creationId xmlns:p14="http://schemas.microsoft.com/office/powerpoint/2010/main" val="1878988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27C7E-2111-C44F-9014-141BB5793C61}"/>
              </a:ext>
            </a:extLst>
          </p:cNvPr>
          <p:cNvSpPr>
            <a:spLocks noGrp="1"/>
          </p:cNvSpPr>
          <p:nvPr>
            <p:ph type="title"/>
          </p:nvPr>
        </p:nvSpPr>
        <p:spPr/>
        <p:txBody>
          <a:bodyPr/>
          <a:lstStyle/>
          <a:p>
            <a:r>
              <a:rPr lang="en-US" b="1" i="1" dirty="0"/>
              <a:t>How CI works?</a:t>
            </a:r>
            <a:endParaRPr lang="en-US" dirty="0"/>
          </a:p>
        </p:txBody>
      </p:sp>
      <p:pic>
        <p:nvPicPr>
          <p:cNvPr id="5" name="Content Placeholder 4">
            <a:extLst>
              <a:ext uri="{FF2B5EF4-FFF2-40B4-BE49-F238E27FC236}">
                <a16:creationId xmlns:a16="http://schemas.microsoft.com/office/drawing/2014/main" id="{751E421E-BAE3-2F48-91CF-203BCFE40AC7}"/>
              </a:ext>
            </a:extLst>
          </p:cNvPr>
          <p:cNvPicPr>
            <a:picLocks noGrp="1" noChangeAspect="1"/>
          </p:cNvPicPr>
          <p:nvPr>
            <p:ph idx="1"/>
          </p:nvPr>
        </p:nvPicPr>
        <p:blipFill>
          <a:blip r:embed="rId2"/>
          <a:stretch>
            <a:fillRect/>
          </a:stretch>
        </p:blipFill>
        <p:spPr>
          <a:xfrm>
            <a:off x="2423160" y="1690688"/>
            <a:ext cx="5074920" cy="4668928"/>
          </a:xfrm>
        </p:spPr>
      </p:pic>
      <p:sp>
        <p:nvSpPr>
          <p:cNvPr id="3" name="投影片編號版面配置區 2"/>
          <p:cNvSpPr>
            <a:spLocks noGrp="1"/>
          </p:cNvSpPr>
          <p:nvPr>
            <p:ph type="sldNum" sz="quarter" idx="12"/>
          </p:nvPr>
        </p:nvSpPr>
        <p:spPr/>
        <p:txBody>
          <a:bodyPr/>
          <a:lstStyle/>
          <a:p>
            <a:fld id="{21664DA0-2BCB-4BEE-B230-7CFCA9EBBD78}" type="slidenum">
              <a:rPr lang="zh-TW" altLang="en-US" smtClean="0"/>
              <a:t>4</a:t>
            </a:fld>
            <a:endParaRPr lang="zh-TW" altLang="en-US"/>
          </a:p>
        </p:txBody>
      </p:sp>
    </p:spTree>
    <p:extLst>
      <p:ext uri="{BB962C8B-B14F-4D97-AF65-F5344CB8AC3E}">
        <p14:creationId xmlns:p14="http://schemas.microsoft.com/office/powerpoint/2010/main" val="4231718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A4BB2-8D26-F942-B155-E15ABA65216D}"/>
              </a:ext>
            </a:extLst>
          </p:cNvPr>
          <p:cNvSpPr>
            <a:spLocks noGrp="1"/>
          </p:cNvSpPr>
          <p:nvPr>
            <p:ph type="title"/>
          </p:nvPr>
        </p:nvSpPr>
        <p:spPr/>
        <p:txBody>
          <a:bodyPr/>
          <a:lstStyle/>
          <a:p>
            <a:r>
              <a:rPr lang="en-US" b="1" i="1" dirty="0"/>
              <a:t>What is Jenkins?</a:t>
            </a:r>
            <a:endParaRPr lang="en-US" dirty="0"/>
          </a:p>
        </p:txBody>
      </p:sp>
      <p:sp>
        <p:nvSpPr>
          <p:cNvPr id="3" name="Content Placeholder 2">
            <a:extLst>
              <a:ext uri="{FF2B5EF4-FFF2-40B4-BE49-F238E27FC236}">
                <a16:creationId xmlns:a16="http://schemas.microsoft.com/office/drawing/2014/main" id="{78CC7DD0-16CB-5E44-B5D7-FA52FF644826}"/>
              </a:ext>
            </a:extLst>
          </p:cNvPr>
          <p:cNvSpPr>
            <a:spLocks noGrp="1"/>
          </p:cNvSpPr>
          <p:nvPr>
            <p:ph idx="1"/>
          </p:nvPr>
        </p:nvSpPr>
        <p:spPr/>
        <p:txBody>
          <a:bodyPr/>
          <a:lstStyle/>
          <a:p>
            <a:r>
              <a:rPr lang="en-US" dirty="0"/>
              <a:t>An open source continuous integration and build automation tool</a:t>
            </a:r>
          </a:p>
          <a:p>
            <a:r>
              <a:rPr lang="en-US" dirty="0"/>
              <a:t>Helps automate tasks:</a:t>
            </a:r>
          </a:p>
          <a:p>
            <a:pPr lvl="1"/>
            <a:r>
              <a:rPr lang="en-US" dirty="0">
                <a:solidFill>
                  <a:srgbClr val="FF0000"/>
                </a:solidFill>
              </a:rPr>
              <a:t>Building</a:t>
            </a:r>
          </a:p>
          <a:p>
            <a:pPr lvl="1"/>
            <a:r>
              <a:rPr lang="en-US" dirty="0">
                <a:solidFill>
                  <a:srgbClr val="FF0000"/>
                </a:solidFill>
              </a:rPr>
              <a:t>Testing</a:t>
            </a:r>
          </a:p>
          <a:p>
            <a:pPr lvl="1"/>
            <a:r>
              <a:rPr lang="en-US" dirty="0"/>
              <a:t>Deploying</a:t>
            </a:r>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5</a:t>
            </a:fld>
            <a:endParaRPr lang="zh-TW" altLang="en-US"/>
          </a:p>
        </p:txBody>
      </p:sp>
    </p:spTree>
    <p:extLst>
      <p:ext uri="{BB962C8B-B14F-4D97-AF65-F5344CB8AC3E}">
        <p14:creationId xmlns:p14="http://schemas.microsoft.com/office/powerpoint/2010/main" val="557257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5C243-B66D-3642-837C-6D74D169EBC5}"/>
              </a:ext>
            </a:extLst>
          </p:cNvPr>
          <p:cNvSpPr>
            <a:spLocks noGrp="1"/>
          </p:cNvSpPr>
          <p:nvPr>
            <p:ph type="title"/>
          </p:nvPr>
        </p:nvSpPr>
        <p:spPr/>
        <p:txBody>
          <a:bodyPr/>
          <a:lstStyle/>
          <a:p>
            <a:r>
              <a:rPr lang="en-US" b="1" i="1" dirty="0"/>
              <a:t>Goals</a:t>
            </a:r>
          </a:p>
        </p:txBody>
      </p:sp>
      <p:sp>
        <p:nvSpPr>
          <p:cNvPr id="3" name="Content Placeholder 2">
            <a:extLst>
              <a:ext uri="{FF2B5EF4-FFF2-40B4-BE49-F238E27FC236}">
                <a16:creationId xmlns:a16="http://schemas.microsoft.com/office/drawing/2014/main" id="{EFF3EA5B-96EF-6048-BBB0-C86000B297E8}"/>
              </a:ext>
            </a:extLst>
          </p:cNvPr>
          <p:cNvSpPr>
            <a:spLocks noGrp="1"/>
          </p:cNvSpPr>
          <p:nvPr>
            <p:ph idx="1"/>
          </p:nvPr>
        </p:nvSpPr>
        <p:spPr/>
        <p:txBody>
          <a:bodyPr>
            <a:normAutofit/>
          </a:bodyPr>
          <a:lstStyle/>
          <a:p>
            <a:pPr marL="385763" indent="-385763">
              <a:buFont typeface="+mj-lt"/>
              <a:buAutoNum type="arabicPeriod"/>
            </a:pPr>
            <a:r>
              <a:rPr lang="en-US" dirty="0"/>
              <a:t>Create a Java project </a:t>
            </a:r>
          </a:p>
          <a:p>
            <a:pPr marL="385763" indent="-385763">
              <a:buFont typeface="+mj-lt"/>
              <a:buAutoNum type="arabicPeriod"/>
            </a:pPr>
            <a:r>
              <a:rPr lang="en-US" dirty="0"/>
              <a:t>Use an external library. (ex. Sort)</a:t>
            </a:r>
          </a:p>
          <a:p>
            <a:pPr marL="385763" indent="-385763">
              <a:buFont typeface="+mj-lt"/>
              <a:buAutoNum type="arabicPeriod"/>
            </a:pPr>
            <a:r>
              <a:rPr lang="en-US" dirty="0"/>
              <a:t>Writing testcases for this project</a:t>
            </a:r>
          </a:p>
          <a:p>
            <a:pPr marL="385763" indent="-385763">
              <a:buFont typeface="+mj-lt"/>
              <a:buAutoNum type="arabicPeriod"/>
            </a:pPr>
            <a:r>
              <a:rPr lang="en-US" dirty="0"/>
              <a:t>Create a public repo and push your work to </a:t>
            </a:r>
            <a:r>
              <a:rPr lang="en-US" dirty="0" err="1"/>
              <a:t>Github</a:t>
            </a:r>
            <a:endParaRPr lang="en-US" dirty="0"/>
          </a:p>
          <a:p>
            <a:pPr marL="385763" indent="-385763">
              <a:buFont typeface="+mj-lt"/>
              <a:buAutoNum type="arabicPeriod"/>
            </a:pPr>
            <a:r>
              <a:rPr lang="en-US" dirty="0"/>
              <a:t>Setup Jenkins server</a:t>
            </a:r>
          </a:p>
          <a:p>
            <a:pPr marL="385763" indent="-385763">
              <a:buFont typeface="+mj-lt"/>
              <a:buAutoNum type="arabicPeriod"/>
            </a:pPr>
            <a:r>
              <a:rPr lang="en-US" dirty="0"/>
              <a:t>Automatic fetch and build your java project from </a:t>
            </a:r>
            <a:r>
              <a:rPr lang="en-US" dirty="0" err="1"/>
              <a:t>Github</a:t>
            </a:r>
            <a:r>
              <a:rPr lang="en-US" dirty="0"/>
              <a:t> on Jenkins</a:t>
            </a:r>
          </a:p>
          <a:p>
            <a:pPr marL="385763" indent="-385763">
              <a:buFont typeface="+mj-lt"/>
              <a:buAutoNum type="arabicPeriod"/>
            </a:pPr>
            <a:r>
              <a:rPr lang="en-US" dirty="0"/>
              <a:t>Coverage report with JaCoCo plugin</a:t>
            </a:r>
          </a:p>
          <a:p>
            <a:pPr marL="385763" indent="-385763">
              <a:buFont typeface="+mj-lt"/>
              <a:buAutoNum type="arabicPeriod"/>
            </a:pPr>
            <a:r>
              <a:rPr lang="en-US" dirty="0"/>
              <a:t>Find an external library and design your testcases</a:t>
            </a:r>
          </a:p>
          <a:p>
            <a:pPr marL="385763" indent="-385763">
              <a:buFont typeface="+mj-lt"/>
              <a:buAutoNum type="arabicPeriod"/>
            </a:pPr>
            <a:endParaRPr lang="en-US" dirty="0"/>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6</a:t>
            </a:fld>
            <a:endParaRPr lang="zh-TW" altLang="en-US"/>
          </a:p>
        </p:txBody>
      </p:sp>
    </p:spTree>
    <p:extLst>
      <p:ext uri="{BB962C8B-B14F-4D97-AF65-F5344CB8AC3E}">
        <p14:creationId xmlns:p14="http://schemas.microsoft.com/office/powerpoint/2010/main" val="348984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A45A-2312-4F42-B5B5-7C9B3FA87725}"/>
              </a:ext>
            </a:extLst>
          </p:cNvPr>
          <p:cNvSpPr>
            <a:spLocks noGrp="1"/>
          </p:cNvSpPr>
          <p:nvPr>
            <p:ph type="title"/>
          </p:nvPr>
        </p:nvSpPr>
        <p:spPr/>
        <p:txBody>
          <a:bodyPr/>
          <a:lstStyle/>
          <a:p>
            <a:r>
              <a:rPr lang="en-US" b="1" i="1" dirty="0"/>
              <a:t>Prerequisite</a:t>
            </a:r>
          </a:p>
        </p:txBody>
      </p:sp>
      <p:sp>
        <p:nvSpPr>
          <p:cNvPr id="3" name="Content Placeholder 2">
            <a:extLst>
              <a:ext uri="{FF2B5EF4-FFF2-40B4-BE49-F238E27FC236}">
                <a16:creationId xmlns:a16="http://schemas.microsoft.com/office/drawing/2014/main" id="{B4ECE436-1257-474F-B502-BD620A64E9C9}"/>
              </a:ext>
            </a:extLst>
          </p:cNvPr>
          <p:cNvSpPr>
            <a:spLocks noGrp="1"/>
          </p:cNvSpPr>
          <p:nvPr>
            <p:ph idx="1"/>
          </p:nvPr>
        </p:nvSpPr>
        <p:spPr/>
        <p:txBody>
          <a:bodyPr/>
          <a:lstStyle/>
          <a:p>
            <a:r>
              <a:rPr lang="en-US" dirty="0"/>
              <a:t>Ubuntu 16.04</a:t>
            </a:r>
          </a:p>
          <a:p>
            <a:pPr lvl="1"/>
            <a:r>
              <a:rPr lang="en-US" dirty="0"/>
              <a:t>This tutorial was written and tested on Ubuntu 16.04</a:t>
            </a:r>
          </a:p>
          <a:p>
            <a:pPr lvl="1"/>
            <a:r>
              <a:rPr lang="en-US" dirty="0"/>
              <a:t>There might be some difference if you use other OS.</a:t>
            </a:r>
          </a:p>
          <a:p>
            <a:r>
              <a:rPr lang="en-US" dirty="0"/>
              <a:t>Install Java SE 8 first</a:t>
            </a:r>
          </a:p>
          <a:p>
            <a:pPr lvl="1"/>
            <a:r>
              <a:rPr lang="en-US" dirty="0"/>
              <a:t>For Ubuntu</a:t>
            </a:r>
          </a:p>
          <a:p>
            <a:pPr lvl="2"/>
            <a:r>
              <a:rPr lang="en-US" dirty="0" err="1">
                <a:latin typeface="Consolas" panose="020B0609020204030204" pitchFamily="49" charset="0"/>
                <a:cs typeface="Consolas" panose="020B0609020204030204" pitchFamily="49" charset="0"/>
              </a:rPr>
              <a:t>sudo</a:t>
            </a:r>
            <a:r>
              <a:rPr lang="en-US" dirty="0">
                <a:latin typeface="Consolas" panose="020B0609020204030204" pitchFamily="49" charset="0"/>
                <a:cs typeface="Consolas" panose="020B0609020204030204" pitchFamily="49" charset="0"/>
              </a:rPr>
              <a:t> add-apt-repository ppa:webupd8team/java </a:t>
            </a:r>
          </a:p>
          <a:p>
            <a:pPr lvl="2"/>
            <a:r>
              <a:rPr lang="en-US" dirty="0" err="1">
                <a:latin typeface="Consolas" panose="020B0609020204030204" pitchFamily="49" charset="0"/>
                <a:cs typeface="Consolas" panose="020B0609020204030204" pitchFamily="49" charset="0"/>
              </a:rPr>
              <a:t>sudo</a:t>
            </a:r>
            <a:r>
              <a:rPr lang="en-US" dirty="0">
                <a:latin typeface="Consolas" panose="020B0609020204030204" pitchFamily="49" charset="0"/>
                <a:cs typeface="Consolas" panose="020B0609020204030204" pitchFamily="49" charset="0"/>
              </a:rPr>
              <a:t> apt-get update </a:t>
            </a:r>
          </a:p>
          <a:p>
            <a:pPr lvl="2"/>
            <a:r>
              <a:rPr lang="en-US" dirty="0" err="1">
                <a:latin typeface="Consolas" panose="020B0609020204030204" pitchFamily="49" charset="0"/>
                <a:cs typeface="Consolas" panose="020B0609020204030204" pitchFamily="49" charset="0"/>
              </a:rPr>
              <a:t>sudo</a:t>
            </a:r>
            <a:r>
              <a:rPr lang="en-US" dirty="0">
                <a:latin typeface="Consolas" panose="020B0609020204030204" pitchFamily="49" charset="0"/>
                <a:cs typeface="Consolas" panose="020B0609020204030204" pitchFamily="49" charset="0"/>
              </a:rPr>
              <a:t> apt-get install oracle-java8-installer</a:t>
            </a:r>
          </a:p>
          <a:p>
            <a:r>
              <a:rPr lang="en-US" dirty="0">
                <a:cs typeface="Consolas" panose="020B0609020204030204" pitchFamily="49" charset="0"/>
              </a:rPr>
              <a:t>Eclipse IDE</a:t>
            </a:r>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7</a:t>
            </a:fld>
            <a:endParaRPr lang="zh-TW" altLang="en-US"/>
          </a:p>
        </p:txBody>
      </p:sp>
    </p:spTree>
    <p:extLst>
      <p:ext uri="{BB962C8B-B14F-4D97-AF65-F5344CB8AC3E}">
        <p14:creationId xmlns:p14="http://schemas.microsoft.com/office/powerpoint/2010/main" val="2381427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8B01-028A-2741-8809-C3F6EC7D5420}"/>
              </a:ext>
            </a:extLst>
          </p:cNvPr>
          <p:cNvSpPr>
            <a:spLocks noGrp="1"/>
          </p:cNvSpPr>
          <p:nvPr>
            <p:ph type="title"/>
          </p:nvPr>
        </p:nvSpPr>
        <p:spPr/>
        <p:txBody>
          <a:bodyPr/>
          <a:lstStyle/>
          <a:p>
            <a:r>
              <a:rPr lang="en-US" b="1" i="1" dirty="0"/>
              <a:t>Goal 1: Create a Java project</a:t>
            </a:r>
          </a:p>
        </p:txBody>
      </p:sp>
      <p:sp>
        <p:nvSpPr>
          <p:cNvPr id="3" name="Content Placeholder 2">
            <a:extLst>
              <a:ext uri="{FF2B5EF4-FFF2-40B4-BE49-F238E27FC236}">
                <a16:creationId xmlns:a16="http://schemas.microsoft.com/office/drawing/2014/main" id="{16CC8367-F916-4142-AA8F-273EB9874377}"/>
              </a:ext>
            </a:extLst>
          </p:cNvPr>
          <p:cNvSpPr>
            <a:spLocks noGrp="1"/>
          </p:cNvSpPr>
          <p:nvPr>
            <p:ph idx="1"/>
          </p:nvPr>
        </p:nvSpPr>
        <p:spPr>
          <a:xfrm>
            <a:off x="2152650" y="1491227"/>
            <a:ext cx="7886700" cy="3263504"/>
          </a:xfrm>
        </p:spPr>
        <p:txBody>
          <a:bodyPr/>
          <a:lstStyle/>
          <a:p>
            <a:r>
              <a:rPr lang="en-US" dirty="0"/>
              <a:t>We use eclipse for demo: </a:t>
            </a:r>
          </a:p>
          <a:p>
            <a:pPr lvl="1"/>
            <a:r>
              <a:rPr lang="en-US" sz="1500" dirty="0"/>
              <a:t>Download here: </a:t>
            </a:r>
            <a:r>
              <a:rPr lang="en-US" sz="1200" dirty="0">
                <a:hlinkClick r:id="rId2"/>
              </a:rPr>
              <a:t>https://www.eclipse.org/downloads/packages/release/2018-09/r/eclipse-ide-java-developers</a:t>
            </a:r>
            <a:endParaRPr lang="en-US" sz="1500" dirty="0"/>
          </a:p>
          <a:p>
            <a:r>
              <a:rPr lang="en-US" sz="1800" dirty="0"/>
              <a:t>We’ll be using Gradle to manage our Java project</a:t>
            </a:r>
          </a:p>
          <a:p>
            <a:r>
              <a:rPr lang="en-US" sz="1800" dirty="0"/>
              <a:t>File &gt;&gt; New &gt;&gt; Project &gt;&gt; </a:t>
            </a:r>
            <a:r>
              <a:rPr lang="en-US" sz="1800" dirty="0">
                <a:solidFill>
                  <a:srgbClr val="FF0000"/>
                </a:solidFill>
              </a:rPr>
              <a:t>Select Gradle Project</a:t>
            </a:r>
          </a:p>
          <a:p>
            <a:endParaRPr lang="en-US" sz="1800" dirty="0"/>
          </a:p>
        </p:txBody>
      </p:sp>
      <p:pic>
        <p:nvPicPr>
          <p:cNvPr id="7" name="Picture 6">
            <a:extLst>
              <a:ext uri="{FF2B5EF4-FFF2-40B4-BE49-F238E27FC236}">
                <a16:creationId xmlns:a16="http://schemas.microsoft.com/office/drawing/2014/main" id="{70824541-20F2-F54B-99E9-95D07FF45974}"/>
              </a:ext>
            </a:extLst>
          </p:cNvPr>
          <p:cNvPicPr>
            <a:picLocks noChangeAspect="1"/>
          </p:cNvPicPr>
          <p:nvPr/>
        </p:nvPicPr>
        <p:blipFill>
          <a:blip r:embed="rId3"/>
          <a:stretch>
            <a:fillRect/>
          </a:stretch>
        </p:blipFill>
        <p:spPr>
          <a:xfrm>
            <a:off x="1821590" y="3189886"/>
            <a:ext cx="4918744" cy="3378182"/>
          </a:xfrm>
          <a:prstGeom prst="rect">
            <a:avLst/>
          </a:prstGeom>
        </p:spPr>
      </p:pic>
      <p:pic>
        <p:nvPicPr>
          <p:cNvPr id="9" name="Picture 8">
            <a:extLst>
              <a:ext uri="{FF2B5EF4-FFF2-40B4-BE49-F238E27FC236}">
                <a16:creationId xmlns:a16="http://schemas.microsoft.com/office/drawing/2014/main" id="{65771D92-5D65-1D40-A78A-70424BB5FE35}"/>
              </a:ext>
            </a:extLst>
          </p:cNvPr>
          <p:cNvPicPr>
            <a:picLocks noChangeAspect="1"/>
          </p:cNvPicPr>
          <p:nvPr/>
        </p:nvPicPr>
        <p:blipFill>
          <a:blip r:embed="rId4"/>
          <a:stretch>
            <a:fillRect/>
          </a:stretch>
        </p:blipFill>
        <p:spPr>
          <a:xfrm>
            <a:off x="6938450" y="2823274"/>
            <a:ext cx="3764433" cy="3599828"/>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8</a:t>
            </a:fld>
            <a:endParaRPr lang="zh-TW" altLang="en-US"/>
          </a:p>
        </p:txBody>
      </p:sp>
    </p:spTree>
    <p:extLst>
      <p:ext uri="{BB962C8B-B14F-4D97-AF65-F5344CB8AC3E}">
        <p14:creationId xmlns:p14="http://schemas.microsoft.com/office/powerpoint/2010/main" val="2627527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8B01-028A-2741-8809-C3F6EC7D5420}"/>
              </a:ext>
            </a:extLst>
          </p:cNvPr>
          <p:cNvSpPr>
            <a:spLocks noGrp="1"/>
          </p:cNvSpPr>
          <p:nvPr>
            <p:ph type="title"/>
          </p:nvPr>
        </p:nvSpPr>
        <p:spPr/>
        <p:txBody>
          <a:bodyPr/>
          <a:lstStyle/>
          <a:p>
            <a:r>
              <a:rPr lang="en-US" b="1" i="1" dirty="0"/>
              <a:t>Goal 2: Use an external library</a:t>
            </a:r>
          </a:p>
        </p:txBody>
      </p:sp>
      <p:sp>
        <p:nvSpPr>
          <p:cNvPr id="3" name="Content Placeholder 2">
            <a:extLst>
              <a:ext uri="{FF2B5EF4-FFF2-40B4-BE49-F238E27FC236}">
                <a16:creationId xmlns:a16="http://schemas.microsoft.com/office/drawing/2014/main" id="{16CC8367-F916-4142-AA8F-273EB9874377}"/>
              </a:ext>
            </a:extLst>
          </p:cNvPr>
          <p:cNvSpPr>
            <a:spLocks noGrp="1"/>
          </p:cNvSpPr>
          <p:nvPr>
            <p:ph idx="1"/>
          </p:nvPr>
        </p:nvSpPr>
        <p:spPr>
          <a:xfrm>
            <a:off x="2152650" y="1690689"/>
            <a:ext cx="7886700" cy="3263504"/>
          </a:xfrm>
        </p:spPr>
        <p:txBody>
          <a:bodyPr/>
          <a:lstStyle/>
          <a:p>
            <a:r>
              <a:rPr lang="en-US" dirty="0"/>
              <a:t>In our demo:</a:t>
            </a:r>
          </a:p>
          <a:p>
            <a:pPr lvl="1"/>
            <a:r>
              <a:rPr lang="en-US" sz="2000" dirty="0"/>
              <a:t>We use a sort algorithm library: </a:t>
            </a:r>
            <a:r>
              <a:rPr lang="en-US" sz="2000" dirty="0">
                <a:hlinkClick r:id="rId2"/>
              </a:rPr>
              <a:t>LINK</a:t>
            </a:r>
            <a:endParaRPr lang="en-US" sz="2000" dirty="0"/>
          </a:p>
          <a:p>
            <a:r>
              <a:rPr lang="en-US" sz="2400" dirty="0"/>
              <a:t>Drag &amp; Drop the file into </a:t>
            </a:r>
            <a:r>
              <a:rPr lang="en-US" sz="2400" dirty="0" err="1">
                <a:latin typeface="Consolas" panose="020B0609020204030204" pitchFamily="49" charset="0"/>
                <a:cs typeface="Consolas" panose="020B0609020204030204" pitchFamily="49" charset="0"/>
              </a:rPr>
              <a:t>src</a:t>
            </a:r>
            <a:r>
              <a:rPr lang="en-US" sz="2400" dirty="0">
                <a:latin typeface="Consolas" panose="020B0609020204030204" pitchFamily="49" charset="0"/>
                <a:cs typeface="Consolas" panose="020B0609020204030204" pitchFamily="49" charset="0"/>
              </a:rPr>
              <a:t>/main/java</a:t>
            </a:r>
          </a:p>
          <a:p>
            <a:endParaRPr lang="en-US" sz="1800" dirty="0"/>
          </a:p>
        </p:txBody>
      </p:sp>
      <p:pic>
        <p:nvPicPr>
          <p:cNvPr id="8" name="Picture 7">
            <a:extLst>
              <a:ext uri="{FF2B5EF4-FFF2-40B4-BE49-F238E27FC236}">
                <a16:creationId xmlns:a16="http://schemas.microsoft.com/office/drawing/2014/main" id="{683366B0-C140-914F-95A0-7673DF7E16E4}"/>
              </a:ext>
            </a:extLst>
          </p:cNvPr>
          <p:cNvPicPr>
            <a:picLocks noChangeAspect="1"/>
          </p:cNvPicPr>
          <p:nvPr/>
        </p:nvPicPr>
        <p:blipFill>
          <a:blip r:embed="rId3"/>
          <a:stretch>
            <a:fillRect/>
          </a:stretch>
        </p:blipFill>
        <p:spPr>
          <a:xfrm>
            <a:off x="2539560" y="3181480"/>
            <a:ext cx="3734860" cy="2758851"/>
          </a:xfrm>
          <a:prstGeom prst="rect">
            <a:avLst/>
          </a:prstGeom>
        </p:spPr>
      </p:pic>
      <p:sp>
        <p:nvSpPr>
          <p:cNvPr id="10" name="Rectangle 9">
            <a:extLst>
              <a:ext uri="{FF2B5EF4-FFF2-40B4-BE49-F238E27FC236}">
                <a16:creationId xmlns:a16="http://schemas.microsoft.com/office/drawing/2014/main" id="{800657DA-F068-BA40-9A71-70A40401D120}"/>
              </a:ext>
            </a:extLst>
          </p:cNvPr>
          <p:cNvSpPr/>
          <p:nvPr/>
        </p:nvSpPr>
        <p:spPr>
          <a:xfrm>
            <a:off x="3047957" y="4099838"/>
            <a:ext cx="1743419" cy="214829"/>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ln>
                <a:solidFill>
                  <a:srgbClr val="FF0000"/>
                </a:solidFill>
              </a:ln>
              <a:noFill/>
            </a:endParaRPr>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9</a:t>
            </a:fld>
            <a:endParaRPr lang="zh-TW" altLang="en-US"/>
          </a:p>
        </p:txBody>
      </p:sp>
    </p:spTree>
    <p:extLst>
      <p:ext uri="{BB962C8B-B14F-4D97-AF65-F5344CB8AC3E}">
        <p14:creationId xmlns:p14="http://schemas.microsoft.com/office/powerpoint/2010/main" val="1872260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8B01-028A-2741-8809-C3F6EC7D5420}"/>
              </a:ext>
            </a:extLst>
          </p:cNvPr>
          <p:cNvSpPr>
            <a:spLocks noGrp="1"/>
          </p:cNvSpPr>
          <p:nvPr>
            <p:ph type="title"/>
          </p:nvPr>
        </p:nvSpPr>
        <p:spPr/>
        <p:txBody>
          <a:bodyPr/>
          <a:lstStyle/>
          <a:p>
            <a:r>
              <a:rPr lang="en-US" b="1" i="1" dirty="0"/>
              <a:t>Goal 3: Writing testcases</a:t>
            </a:r>
          </a:p>
        </p:txBody>
      </p:sp>
      <p:sp>
        <p:nvSpPr>
          <p:cNvPr id="3" name="Content Placeholder 2">
            <a:extLst>
              <a:ext uri="{FF2B5EF4-FFF2-40B4-BE49-F238E27FC236}">
                <a16:creationId xmlns:a16="http://schemas.microsoft.com/office/drawing/2014/main" id="{16CC8367-F916-4142-AA8F-273EB9874377}"/>
              </a:ext>
            </a:extLst>
          </p:cNvPr>
          <p:cNvSpPr>
            <a:spLocks noGrp="1"/>
          </p:cNvSpPr>
          <p:nvPr>
            <p:ph idx="1"/>
          </p:nvPr>
        </p:nvSpPr>
        <p:spPr>
          <a:xfrm>
            <a:off x="2152650" y="1690689"/>
            <a:ext cx="7886700" cy="3263504"/>
          </a:xfrm>
        </p:spPr>
        <p:txBody>
          <a:bodyPr/>
          <a:lstStyle/>
          <a:p>
            <a:r>
              <a:rPr lang="en-US" dirty="0"/>
              <a:t>In </a:t>
            </a:r>
            <a:r>
              <a:rPr lang="en-US" dirty="0" err="1"/>
              <a:t>src</a:t>
            </a:r>
            <a:r>
              <a:rPr lang="en-US" dirty="0"/>
              <a:t>/test/java &gt;&gt; Right click &gt;&gt; New &gt;&gt; Junit Testcase:</a:t>
            </a:r>
          </a:p>
          <a:p>
            <a:pPr lvl="1"/>
            <a:r>
              <a:rPr lang="en-US" dirty="0"/>
              <a:t>Create a class for test: ex. </a:t>
            </a:r>
            <a:r>
              <a:rPr lang="en-US" dirty="0" err="1"/>
              <a:t>TestSort</a:t>
            </a:r>
            <a:endParaRPr lang="en-US" dirty="0"/>
          </a:p>
          <a:p>
            <a:endParaRPr lang="en-US" sz="1800" dirty="0"/>
          </a:p>
        </p:txBody>
      </p:sp>
      <p:pic>
        <p:nvPicPr>
          <p:cNvPr id="5" name="Picture 4">
            <a:extLst>
              <a:ext uri="{FF2B5EF4-FFF2-40B4-BE49-F238E27FC236}">
                <a16:creationId xmlns:a16="http://schemas.microsoft.com/office/drawing/2014/main" id="{8446ABFB-4A49-AA44-93B3-8DEE651D6D9D}"/>
              </a:ext>
            </a:extLst>
          </p:cNvPr>
          <p:cNvPicPr>
            <a:picLocks noChangeAspect="1"/>
          </p:cNvPicPr>
          <p:nvPr/>
        </p:nvPicPr>
        <p:blipFill>
          <a:blip r:embed="rId2"/>
          <a:stretch>
            <a:fillRect/>
          </a:stretch>
        </p:blipFill>
        <p:spPr>
          <a:xfrm>
            <a:off x="2094812" y="2622945"/>
            <a:ext cx="4210444" cy="3183632"/>
          </a:xfrm>
          <a:prstGeom prst="rect">
            <a:avLst/>
          </a:prstGeom>
        </p:spPr>
      </p:pic>
      <p:pic>
        <p:nvPicPr>
          <p:cNvPr id="7" name="Picture 6">
            <a:extLst>
              <a:ext uri="{FF2B5EF4-FFF2-40B4-BE49-F238E27FC236}">
                <a16:creationId xmlns:a16="http://schemas.microsoft.com/office/drawing/2014/main" id="{4B6C4F19-D0F3-CC4C-83A6-7CB24ADCC5F1}"/>
              </a:ext>
            </a:extLst>
          </p:cNvPr>
          <p:cNvPicPr>
            <a:picLocks noChangeAspect="1"/>
          </p:cNvPicPr>
          <p:nvPr/>
        </p:nvPicPr>
        <p:blipFill>
          <a:blip r:embed="rId3"/>
          <a:stretch>
            <a:fillRect/>
          </a:stretch>
        </p:blipFill>
        <p:spPr>
          <a:xfrm>
            <a:off x="6780200" y="2292901"/>
            <a:ext cx="3259151" cy="3714062"/>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10</a:t>
            </a:fld>
            <a:endParaRPr lang="zh-TW" altLang="en-US"/>
          </a:p>
        </p:txBody>
      </p:sp>
    </p:spTree>
    <p:extLst>
      <p:ext uri="{BB962C8B-B14F-4D97-AF65-F5344CB8AC3E}">
        <p14:creationId xmlns:p14="http://schemas.microsoft.com/office/powerpoint/2010/main" val="1198592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8B01-028A-2741-8809-C3F6EC7D5420}"/>
              </a:ext>
            </a:extLst>
          </p:cNvPr>
          <p:cNvSpPr>
            <a:spLocks noGrp="1"/>
          </p:cNvSpPr>
          <p:nvPr>
            <p:ph type="title"/>
          </p:nvPr>
        </p:nvSpPr>
        <p:spPr/>
        <p:txBody>
          <a:bodyPr/>
          <a:lstStyle/>
          <a:p>
            <a:r>
              <a:rPr lang="en-US" b="1" i="1" dirty="0"/>
              <a:t>Goal 3: Writing testcases</a:t>
            </a:r>
          </a:p>
        </p:txBody>
      </p:sp>
      <p:sp>
        <p:nvSpPr>
          <p:cNvPr id="3" name="Content Placeholder 2">
            <a:extLst>
              <a:ext uri="{FF2B5EF4-FFF2-40B4-BE49-F238E27FC236}">
                <a16:creationId xmlns:a16="http://schemas.microsoft.com/office/drawing/2014/main" id="{16CC8367-F916-4142-AA8F-273EB9874377}"/>
              </a:ext>
            </a:extLst>
          </p:cNvPr>
          <p:cNvSpPr>
            <a:spLocks noGrp="1"/>
          </p:cNvSpPr>
          <p:nvPr>
            <p:ph idx="1"/>
          </p:nvPr>
        </p:nvSpPr>
        <p:spPr>
          <a:xfrm>
            <a:off x="765048" y="1937576"/>
            <a:ext cx="10445496" cy="4207192"/>
          </a:xfrm>
        </p:spPr>
        <p:txBody>
          <a:bodyPr/>
          <a:lstStyle/>
          <a:p>
            <a:r>
              <a:rPr lang="en-US" sz="3200" dirty="0"/>
              <a:t>Let’s say, we’re testing on the Bubble sort algorithm</a:t>
            </a:r>
          </a:p>
          <a:p>
            <a:pPr lvl="1"/>
            <a:r>
              <a:rPr lang="en-US" dirty="0"/>
              <a:t>Method with decorator </a:t>
            </a:r>
            <a:r>
              <a:rPr lang="en-US" dirty="0">
                <a:latin typeface="Consolas" panose="020B0609020204030204" pitchFamily="49" charset="0"/>
                <a:cs typeface="Consolas" panose="020B0609020204030204" pitchFamily="49" charset="0"/>
              </a:rPr>
              <a:t>@Test </a:t>
            </a:r>
            <a:r>
              <a:rPr lang="en-US" dirty="0">
                <a:cs typeface="Consolas" panose="020B0609020204030204" pitchFamily="49" charset="0"/>
              </a:rPr>
              <a:t>will be executed while </a:t>
            </a:r>
            <a:r>
              <a:rPr lang="en-US" dirty="0" smtClean="0">
                <a:cs typeface="Consolas" panose="020B0609020204030204" pitchFamily="49" charset="0"/>
              </a:rPr>
              <a:t>testing</a:t>
            </a:r>
          </a:p>
          <a:p>
            <a:pPr lvl="1"/>
            <a:r>
              <a:rPr lang="en-US" dirty="0" smtClean="0">
                <a:cs typeface="Consolas" panose="020B0609020204030204" pitchFamily="49" charset="0"/>
              </a:rPr>
              <a:t>You can import other </a:t>
            </a:r>
            <a:r>
              <a:rPr lang="en-US" altLang="zh-TW" dirty="0" smtClean="0"/>
              <a:t>decorator such as @</a:t>
            </a:r>
            <a:r>
              <a:rPr lang="en-US" altLang="zh-TW" dirty="0" err="1" smtClean="0"/>
              <a:t>BeforeClass</a:t>
            </a:r>
            <a:r>
              <a:rPr lang="en-US" altLang="zh-TW" dirty="0" smtClean="0"/>
              <a:t>, @</a:t>
            </a:r>
            <a:r>
              <a:rPr lang="en-US" altLang="zh-TW" dirty="0" err="1" smtClean="0"/>
              <a:t>AfterClass</a:t>
            </a:r>
            <a:r>
              <a:rPr lang="en-US" altLang="zh-TW" dirty="0" smtClean="0"/>
              <a:t>, @Ignore</a:t>
            </a:r>
          </a:p>
          <a:p>
            <a:pPr lvl="1"/>
            <a:r>
              <a:rPr lang="en-US" dirty="0" smtClean="0">
                <a:cs typeface="Consolas" panose="020B0609020204030204" pitchFamily="49" charset="0"/>
              </a:rPr>
              <a:t>See </a:t>
            </a:r>
            <a:r>
              <a:rPr lang="en-US" altLang="zh-TW" dirty="0">
                <a:hlinkClick r:id="rId2"/>
              </a:rPr>
              <a:t>https://</a:t>
            </a:r>
            <a:r>
              <a:rPr lang="en-US" altLang="zh-TW" dirty="0" smtClean="0">
                <a:hlinkClick r:id="rId2"/>
              </a:rPr>
              <a:t>netbeans.org/kb/docs/java/junit-intro.html#Exercise_10</a:t>
            </a:r>
            <a:endParaRPr lang="en-US" dirty="0">
              <a:cs typeface="Consolas" panose="020B0609020204030204" pitchFamily="49" charset="0"/>
            </a:endParaRPr>
          </a:p>
          <a:p>
            <a:pPr lvl="1"/>
            <a:r>
              <a:rPr lang="en-US" dirty="0">
                <a:cs typeface="Consolas" panose="020B0609020204030204" pitchFamily="49" charset="0"/>
              </a:rPr>
              <a:t>Using the external class Sort</a:t>
            </a:r>
          </a:p>
          <a:p>
            <a:pPr marL="457200" lvl="1" indent="0">
              <a:buNone/>
            </a:pPr>
            <a:endParaRPr lang="en-US" sz="1500" dirty="0"/>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11</a:t>
            </a:fld>
            <a:endParaRPr lang="zh-TW" altLang="en-US"/>
          </a:p>
        </p:txBody>
      </p:sp>
    </p:spTree>
    <p:extLst>
      <p:ext uri="{BB962C8B-B14F-4D97-AF65-F5344CB8AC3E}">
        <p14:creationId xmlns:p14="http://schemas.microsoft.com/office/powerpoint/2010/main" val="2757707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i="1" dirty="0"/>
              <a:t>Goal 3: Writing </a:t>
            </a:r>
            <a:r>
              <a:rPr lang="en-US" altLang="zh-TW" b="1" i="1" dirty="0" err="1"/>
              <a:t>testcases</a:t>
            </a:r>
            <a:endParaRPr lang="zh-TW" altLang="en-US" dirty="0"/>
          </a:p>
        </p:txBody>
      </p:sp>
      <p:sp>
        <p:nvSpPr>
          <p:cNvPr id="3" name="內容版面配置區 2"/>
          <p:cNvSpPr>
            <a:spLocks noGrp="1"/>
          </p:cNvSpPr>
          <p:nvPr>
            <p:ph idx="1"/>
          </p:nvPr>
        </p:nvSpPr>
        <p:spPr/>
        <p:txBody>
          <a:bodyPr/>
          <a:lstStyle/>
          <a:p>
            <a:r>
              <a:rPr lang="en-US" altLang="zh-TW" dirty="0" smtClean="0"/>
              <a:t>Example</a:t>
            </a:r>
            <a:endParaRPr lang="zh-TW" altLang="en-US" dirty="0"/>
          </a:p>
        </p:txBody>
      </p:sp>
      <p:pic>
        <p:nvPicPr>
          <p:cNvPr id="4" name="圖片 3"/>
          <p:cNvPicPr>
            <a:picLocks noChangeAspect="1"/>
          </p:cNvPicPr>
          <p:nvPr/>
        </p:nvPicPr>
        <p:blipFill>
          <a:blip r:embed="rId2"/>
          <a:stretch>
            <a:fillRect/>
          </a:stretch>
        </p:blipFill>
        <p:spPr>
          <a:xfrm>
            <a:off x="3258632" y="1690688"/>
            <a:ext cx="7330120" cy="5031762"/>
          </a:xfrm>
          <a:prstGeom prst="rect">
            <a:avLst/>
          </a:prstGeom>
        </p:spPr>
      </p:pic>
      <p:sp>
        <p:nvSpPr>
          <p:cNvPr id="5" name="投影片編號版面配置區 4"/>
          <p:cNvSpPr>
            <a:spLocks noGrp="1"/>
          </p:cNvSpPr>
          <p:nvPr>
            <p:ph type="sldNum" sz="quarter" idx="12"/>
          </p:nvPr>
        </p:nvSpPr>
        <p:spPr/>
        <p:txBody>
          <a:bodyPr/>
          <a:lstStyle/>
          <a:p>
            <a:fld id="{21664DA0-2BCB-4BEE-B230-7CFCA9EBBD78}" type="slidenum">
              <a:rPr lang="zh-TW" altLang="en-US" smtClean="0"/>
              <a:t>12</a:t>
            </a:fld>
            <a:endParaRPr lang="zh-TW" altLang="en-US"/>
          </a:p>
        </p:txBody>
      </p:sp>
    </p:spTree>
    <p:extLst>
      <p:ext uri="{BB962C8B-B14F-4D97-AF65-F5344CB8AC3E}">
        <p14:creationId xmlns:p14="http://schemas.microsoft.com/office/powerpoint/2010/main" val="2365177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8B01-028A-2741-8809-C3F6EC7D5420}"/>
              </a:ext>
            </a:extLst>
          </p:cNvPr>
          <p:cNvSpPr>
            <a:spLocks noGrp="1"/>
          </p:cNvSpPr>
          <p:nvPr>
            <p:ph type="title"/>
          </p:nvPr>
        </p:nvSpPr>
        <p:spPr/>
        <p:txBody>
          <a:bodyPr/>
          <a:lstStyle/>
          <a:p>
            <a:r>
              <a:rPr lang="en-US" b="1" i="1" dirty="0"/>
              <a:t>Goal 3: Writing testcases</a:t>
            </a:r>
          </a:p>
        </p:txBody>
      </p:sp>
      <p:sp>
        <p:nvSpPr>
          <p:cNvPr id="3" name="Content Placeholder 2">
            <a:extLst>
              <a:ext uri="{FF2B5EF4-FFF2-40B4-BE49-F238E27FC236}">
                <a16:creationId xmlns:a16="http://schemas.microsoft.com/office/drawing/2014/main" id="{16CC8367-F916-4142-AA8F-273EB9874377}"/>
              </a:ext>
            </a:extLst>
          </p:cNvPr>
          <p:cNvSpPr>
            <a:spLocks noGrp="1"/>
          </p:cNvSpPr>
          <p:nvPr>
            <p:ph idx="1"/>
          </p:nvPr>
        </p:nvSpPr>
        <p:spPr>
          <a:xfrm>
            <a:off x="2152650" y="1690689"/>
            <a:ext cx="7886700" cy="3263504"/>
          </a:xfrm>
        </p:spPr>
        <p:txBody>
          <a:bodyPr/>
          <a:lstStyle/>
          <a:p>
            <a:r>
              <a:rPr lang="en-US" sz="2400" dirty="0"/>
              <a:t>We can run the test locally</a:t>
            </a:r>
          </a:p>
          <a:p>
            <a:pPr lvl="1"/>
            <a:r>
              <a:rPr lang="en-US" sz="1800" dirty="0"/>
              <a:t>Right click on the testing class &gt;&gt; Run as &gt;&gt; Junit Test</a:t>
            </a:r>
          </a:p>
          <a:p>
            <a:endParaRPr lang="en-US" sz="1800" dirty="0"/>
          </a:p>
          <a:p>
            <a:pPr lvl="1"/>
            <a:endParaRPr lang="en-US" sz="1500" dirty="0"/>
          </a:p>
        </p:txBody>
      </p:sp>
      <p:pic>
        <p:nvPicPr>
          <p:cNvPr id="5" name="Picture 4">
            <a:extLst>
              <a:ext uri="{FF2B5EF4-FFF2-40B4-BE49-F238E27FC236}">
                <a16:creationId xmlns:a16="http://schemas.microsoft.com/office/drawing/2014/main" id="{F65AE627-CE13-2945-8DCE-89F515F5FCA9}"/>
              </a:ext>
            </a:extLst>
          </p:cNvPr>
          <p:cNvPicPr>
            <a:picLocks noChangeAspect="1"/>
          </p:cNvPicPr>
          <p:nvPr/>
        </p:nvPicPr>
        <p:blipFill>
          <a:blip r:embed="rId2"/>
          <a:stretch>
            <a:fillRect/>
          </a:stretch>
        </p:blipFill>
        <p:spPr>
          <a:xfrm>
            <a:off x="1740055" y="3466708"/>
            <a:ext cx="8699656" cy="2242717"/>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13</a:t>
            </a:fld>
            <a:endParaRPr lang="zh-TW" altLang="en-US"/>
          </a:p>
        </p:txBody>
      </p:sp>
    </p:spTree>
    <p:extLst>
      <p:ext uri="{BB962C8B-B14F-4D97-AF65-F5344CB8AC3E}">
        <p14:creationId xmlns:p14="http://schemas.microsoft.com/office/powerpoint/2010/main" val="2672422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i="1" dirty="0">
                <a:solidFill>
                  <a:prstClr val="black"/>
                </a:solidFill>
              </a:rPr>
              <a:t>Goal 3: Writing </a:t>
            </a:r>
            <a:r>
              <a:rPr lang="en-US" altLang="zh-TW" b="1" i="1" dirty="0" err="1">
                <a:solidFill>
                  <a:prstClr val="black"/>
                </a:solidFill>
              </a:rPr>
              <a:t>testcases</a:t>
            </a:r>
            <a:endParaRPr lang="zh-TW" altLang="en-US" dirty="0"/>
          </a:p>
        </p:txBody>
      </p:sp>
      <p:sp>
        <p:nvSpPr>
          <p:cNvPr id="3" name="內容版面配置區 2"/>
          <p:cNvSpPr>
            <a:spLocks noGrp="1"/>
          </p:cNvSpPr>
          <p:nvPr>
            <p:ph idx="1"/>
          </p:nvPr>
        </p:nvSpPr>
        <p:spPr/>
        <p:txBody>
          <a:bodyPr/>
          <a:lstStyle/>
          <a:p>
            <a:r>
              <a:rPr lang="en-US" altLang="zh-TW" dirty="0" smtClean="0"/>
              <a:t>Test Result:</a:t>
            </a:r>
            <a:endParaRPr lang="zh-TW" altLang="en-US" dirty="0"/>
          </a:p>
        </p:txBody>
      </p:sp>
      <p:pic>
        <p:nvPicPr>
          <p:cNvPr id="5" name="圖片 4"/>
          <p:cNvPicPr>
            <a:picLocks noChangeAspect="1"/>
          </p:cNvPicPr>
          <p:nvPr/>
        </p:nvPicPr>
        <p:blipFill>
          <a:blip r:embed="rId2"/>
          <a:stretch>
            <a:fillRect/>
          </a:stretch>
        </p:blipFill>
        <p:spPr>
          <a:xfrm>
            <a:off x="923925" y="2461610"/>
            <a:ext cx="3712083" cy="4081684"/>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14</a:t>
            </a:fld>
            <a:endParaRPr lang="zh-TW" altLang="en-US"/>
          </a:p>
        </p:txBody>
      </p:sp>
    </p:spTree>
    <p:extLst>
      <p:ext uri="{BB962C8B-B14F-4D97-AF65-F5344CB8AC3E}">
        <p14:creationId xmlns:p14="http://schemas.microsoft.com/office/powerpoint/2010/main" val="2622265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i="1" dirty="0">
                <a:solidFill>
                  <a:prstClr val="black"/>
                </a:solidFill>
              </a:rPr>
              <a:t>Goal 3: Writing </a:t>
            </a:r>
            <a:r>
              <a:rPr lang="en-US" altLang="zh-TW" b="1" i="1" dirty="0" err="1">
                <a:solidFill>
                  <a:prstClr val="black"/>
                </a:solidFill>
              </a:rPr>
              <a:t>testcases</a:t>
            </a:r>
            <a:endParaRPr lang="zh-TW" altLang="en-US" dirty="0"/>
          </a:p>
        </p:txBody>
      </p:sp>
      <p:sp>
        <p:nvSpPr>
          <p:cNvPr id="3" name="內容版面配置區 2"/>
          <p:cNvSpPr>
            <a:spLocks noGrp="1"/>
          </p:cNvSpPr>
          <p:nvPr>
            <p:ph idx="1"/>
          </p:nvPr>
        </p:nvSpPr>
        <p:spPr/>
        <p:txBody>
          <a:bodyPr/>
          <a:lstStyle/>
          <a:p>
            <a:r>
              <a:rPr lang="en-US" altLang="zh-TW" dirty="0" smtClean="0"/>
              <a:t>Buggy method:</a:t>
            </a:r>
            <a:endParaRPr lang="zh-TW" altLang="en-US" dirty="0"/>
          </a:p>
        </p:txBody>
      </p:sp>
      <p:pic>
        <p:nvPicPr>
          <p:cNvPr id="4" name="圖片 3"/>
          <p:cNvPicPr>
            <a:picLocks noChangeAspect="1"/>
          </p:cNvPicPr>
          <p:nvPr/>
        </p:nvPicPr>
        <p:blipFill>
          <a:blip r:embed="rId2"/>
          <a:stretch>
            <a:fillRect/>
          </a:stretch>
        </p:blipFill>
        <p:spPr>
          <a:xfrm>
            <a:off x="1041463" y="2557843"/>
            <a:ext cx="9267825" cy="3095625"/>
          </a:xfrm>
          <a:prstGeom prst="rect">
            <a:avLst/>
          </a:prstGeom>
        </p:spPr>
      </p:pic>
      <p:sp>
        <p:nvSpPr>
          <p:cNvPr id="5" name="圓角矩形 4"/>
          <p:cNvSpPr/>
          <p:nvPr/>
        </p:nvSpPr>
        <p:spPr>
          <a:xfrm>
            <a:off x="1856232" y="3062986"/>
            <a:ext cx="8540496" cy="224053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投影片編號版面配置區 5"/>
          <p:cNvSpPr>
            <a:spLocks noGrp="1"/>
          </p:cNvSpPr>
          <p:nvPr>
            <p:ph type="sldNum" sz="quarter" idx="12"/>
          </p:nvPr>
        </p:nvSpPr>
        <p:spPr/>
        <p:txBody>
          <a:bodyPr/>
          <a:lstStyle/>
          <a:p>
            <a:fld id="{21664DA0-2BCB-4BEE-B230-7CFCA9EBBD78}" type="slidenum">
              <a:rPr lang="zh-TW" altLang="en-US" smtClean="0"/>
              <a:t>15</a:t>
            </a:fld>
            <a:endParaRPr lang="zh-TW" altLang="en-US"/>
          </a:p>
        </p:txBody>
      </p:sp>
    </p:spTree>
    <p:extLst>
      <p:ext uri="{BB962C8B-B14F-4D97-AF65-F5344CB8AC3E}">
        <p14:creationId xmlns:p14="http://schemas.microsoft.com/office/powerpoint/2010/main" val="3380973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i="1" dirty="0">
                <a:solidFill>
                  <a:prstClr val="black"/>
                </a:solidFill>
              </a:rPr>
              <a:t>Goal 3: Writing </a:t>
            </a:r>
            <a:r>
              <a:rPr lang="en-US" altLang="zh-TW" b="1" i="1" dirty="0" err="1">
                <a:solidFill>
                  <a:prstClr val="black"/>
                </a:solidFill>
              </a:rPr>
              <a:t>testcases</a:t>
            </a:r>
            <a:endParaRPr lang="zh-TW" altLang="en-US" dirty="0"/>
          </a:p>
        </p:txBody>
      </p:sp>
      <p:pic>
        <p:nvPicPr>
          <p:cNvPr id="5" name="內容版面配置區 4"/>
          <p:cNvPicPr>
            <a:picLocks noGrp="1" noChangeAspect="1"/>
          </p:cNvPicPr>
          <p:nvPr>
            <p:ph idx="1"/>
          </p:nvPr>
        </p:nvPicPr>
        <p:blipFill>
          <a:blip r:embed="rId2"/>
          <a:stretch>
            <a:fillRect/>
          </a:stretch>
        </p:blipFill>
        <p:spPr>
          <a:xfrm>
            <a:off x="607695" y="2856389"/>
            <a:ext cx="9696450" cy="3295650"/>
          </a:xfrm>
          <a:prstGeom prst="rect">
            <a:avLst/>
          </a:prstGeom>
        </p:spPr>
      </p:pic>
      <p:sp>
        <p:nvSpPr>
          <p:cNvPr id="6" name="內容版面配置區 2"/>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smtClean="0"/>
              <a:t>Replaced with correct codes:</a:t>
            </a:r>
            <a:endParaRPr lang="zh-TW" altLang="en-US" dirty="0"/>
          </a:p>
        </p:txBody>
      </p:sp>
      <p:sp>
        <p:nvSpPr>
          <p:cNvPr id="3" name="投影片編號版面配置區 2"/>
          <p:cNvSpPr>
            <a:spLocks noGrp="1"/>
          </p:cNvSpPr>
          <p:nvPr>
            <p:ph type="sldNum" sz="quarter" idx="12"/>
          </p:nvPr>
        </p:nvSpPr>
        <p:spPr/>
        <p:txBody>
          <a:bodyPr/>
          <a:lstStyle/>
          <a:p>
            <a:fld id="{21664DA0-2BCB-4BEE-B230-7CFCA9EBBD78}" type="slidenum">
              <a:rPr lang="zh-TW" altLang="en-US" smtClean="0"/>
              <a:t>16</a:t>
            </a:fld>
            <a:endParaRPr lang="zh-TW" altLang="en-US"/>
          </a:p>
        </p:txBody>
      </p:sp>
    </p:spTree>
    <p:extLst>
      <p:ext uri="{BB962C8B-B14F-4D97-AF65-F5344CB8AC3E}">
        <p14:creationId xmlns:p14="http://schemas.microsoft.com/office/powerpoint/2010/main" val="2740901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i="1" dirty="0">
                <a:solidFill>
                  <a:prstClr val="black"/>
                </a:solidFill>
              </a:rPr>
              <a:t>Goal 3: Writing </a:t>
            </a:r>
            <a:r>
              <a:rPr lang="en-US" altLang="zh-TW" b="1" i="1" dirty="0" err="1">
                <a:solidFill>
                  <a:prstClr val="black"/>
                </a:solidFill>
              </a:rPr>
              <a:t>testcases</a:t>
            </a:r>
            <a:endParaRPr lang="zh-TW" altLang="en-US" dirty="0"/>
          </a:p>
        </p:txBody>
      </p:sp>
      <p:sp>
        <p:nvSpPr>
          <p:cNvPr id="3" name="內容版面配置區 2"/>
          <p:cNvSpPr>
            <a:spLocks noGrp="1"/>
          </p:cNvSpPr>
          <p:nvPr>
            <p:ph idx="1"/>
          </p:nvPr>
        </p:nvSpPr>
        <p:spPr/>
        <p:txBody>
          <a:bodyPr/>
          <a:lstStyle/>
          <a:p>
            <a:r>
              <a:rPr lang="en-US" altLang="zh-TW" dirty="0" smtClean="0"/>
              <a:t>Test result:</a:t>
            </a:r>
            <a:endParaRPr lang="zh-TW" altLang="en-US" dirty="0"/>
          </a:p>
        </p:txBody>
      </p:sp>
      <p:pic>
        <p:nvPicPr>
          <p:cNvPr id="5" name="圖片 4"/>
          <p:cNvPicPr>
            <a:picLocks noChangeAspect="1"/>
          </p:cNvPicPr>
          <p:nvPr/>
        </p:nvPicPr>
        <p:blipFill>
          <a:blip r:embed="rId2"/>
          <a:stretch>
            <a:fillRect/>
          </a:stretch>
        </p:blipFill>
        <p:spPr>
          <a:xfrm>
            <a:off x="838200" y="2303335"/>
            <a:ext cx="3744527" cy="4072573"/>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17</a:t>
            </a:fld>
            <a:endParaRPr lang="zh-TW" altLang="en-US"/>
          </a:p>
        </p:txBody>
      </p:sp>
    </p:spTree>
    <p:extLst>
      <p:ext uri="{BB962C8B-B14F-4D97-AF65-F5344CB8AC3E}">
        <p14:creationId xmlns:p14="http://schemas.microsoft.com/office/powerpoint/2010/main" val="2197671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4: </a:t>
            </a:r>
            <a:r>
              <a:rPr lang="en-US" sz="2800" b="1" i="1" dirty="0"/>
              <a:t>Create a public repo and push your work</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3263504"/>
          </a:xfrm>
        </p:spPr>
        <p:txBody>
          <a:bodyPr/>
          <a:lstStyle/>
          <a:p>
            <a:r>
              <a:rPr lang="en-US" dirty="0"/>
              <a:t>If you do not have a </a:t>
            </a:r>
            <a:r>
              <a:rPr lang="en-US" dirty="0" err="1"/>
              <a:t>Github</a:t>
            </a:r>
            <a:r>
              <a:rPr lang="en-US" dirty="0"/>
              <a:t> account, </a:t>
            </a:r>
            <a:r>
              <a:rPr lang="en-US" b="1" i="1" dirty="0"/>
              <a:t>register first on </a:t>
            </a:r>
            <a:r>
              <a:rPr lang="en-US" b="1" i="1" dirty="0">
                <a:hlinkClick r:id="rId2"/>
              </a:rPr>
              <a:t>https://github.com/</a:t>
            </a:r>
            <a:endParaRPr lang="en-US" b="1" i="1" dirty="0"/>
          </a:p>
          <a:p>
            <a:r>
              <a:rPr lang="en-US" dirty="0"/>
              <a:t>Create a new public repo</a:t>
            </a:r>
          </a:p>
          <a:p>
            <a:endParaRPr lang="en-US" dirty="0"/>
          </a:p>
        </p:txBody>
      </p:sp>
      <p:pic>
        <p:nvPicPr>
          <p:cNvPr id="5" name="Picture 4">
            <a:extLst>
              <a:ext uri="{FF2B5EF4-FFF2-40B4-BE49-F238E27FC236}">
                <a16:creationId xmlns:a16="http://schemas.microsoft.com/office/drawing/2014/main" id="{92950F88-AE7F-0940-B711-7290BE8CBED6}"/>
              </a:ext>
            </a:extLst>
          </p:cNvPr>
          <p:cNvPicPr>
            <a:picLocks noChangeAspect="1"/>
          </p:cNvPicPr>
          <p:nvPr/>
        </p:nvPicPr>
        <p:blipFill rotWithShape="1">
          <a:blip r:embed="rId3"/>
          <a:srcRect r="45187"/>
          <a:stretch/>
        </p:blipFill>
        <p:spPr>
          <a:xfrm>
            <a:off x="2152650" y="3322442"/>
            <a:ext cx="2394196" cy="3835967"/>
          </a:xfrm>
          <a:prstGeom prst="rect">
            <a:avLst/>
          </a:prstGeom>
        </p:spPr>
      </p:pic>
      <p:sp>
        <p:nvSpPr>
          <p:cNvPr id="6" name="Rectangle 5">
            <a:extLst>
              <a:ext uri="{FF2B5EF4-FFF2-40B4-BE49-F238E27FC236}">
                <a16:creationId xmlns:a16="http://schemas.microsoft.com/office/drawing/2014/main" id="{AC1EE31B-498B-5E4B-B0C7-F7647A47BF4A}"/>
              </a:ext>
            </a:extLst>
          </p:cNvPr>
          <p:cNvSpPr/>
          <p:nvPr/>
        </p:nvSpPr>
        <p:spPr>
          <a:xfrm>
            <a:off x="3780418" y="3502266"/>
            <a:ext cx="595859" cy="26982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pic>
        <p:nvPicPr>
          <p:cNvPr id="8" name="Picture 7">
            <a:extLst>
              <a:ext uri="{FF2B5EF4-FFF2-40B4-BE49-F238E27FC236}">
                <a16:creationId xmlns:a16="http://schemas.microsoft.com/office/drawing/2014/main" id="{5D0B7287-4354-4D47-886F-A450CCC41A4E}"/>
              </a:ext>
            </a:extLst>
          </p:cNvPr>
          <p:cNvPicPr>
            <a:picLocks noChangeAspect="1"/>
          </p:cNvPicPr>
          <p:nvPr/>
        </p:nvPicPr>
        <p:blipFill>
          <a:blip r:embed="rId4"/>
          <a:stretch>
            <a:fillRect/>
          </a:stretch>
        </p:blipFill>
        <p:spPr>
          <a:xfrm>
            <a:off x="4898991" y="3115960"/>
            <a:ext cx="5671395" cy="4248928"/>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18</a:t>
            </a:fld>
            <a:endParaRPr lang="zh-TW" altLang="en-US"/>
          </a:p>
        </p:txBody>
      </p:sp>
    </p:spTree>
    <p:extLst>
      <p:ext uri="{BB962C8B-B14F-4D97-AF65-F5344CB8AC3E}">
        <p14:creationId xmlns:p14="http://schemas.microsoft.com/office/powerpoint/2010/main" val="3069506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4: </a:t>
            </a:r>
            <a:r>
              <a:rPr lang="en-US" sz="2800" b="1" i="1" dirty="0"/>
              <a:t>Create a public repo and push your work</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3263504"/>
          </a:xfrm>
        </p:spPr>
        <p:txBody>
          <a:bodyPr/>
          <a:lstStyle/>
          <a:p>
            <a:r>
              <a:rPr lang="en-US" dirty="0"/>
              <a:t>On your terminal, cd to your project folder</a:t>
            </a:r>
          </a:p>
          <a:p>
            <a:r>
              <a:rPr lang="en-US" dirty="0"/>
              <a:t>If your not familiar with git: Tutorial</a:t>
            </a:r>
          </a:p>
          <a:p>
            <a:r>
              <a:rPr lang="en-US" dirty="0"/>
              <a:t>Sample instruction:</a:t>
            </a:r>
          </a:p>
        </p:txBody>
      </p:sp>
      <p:pic>
        <p:nvPicPr>
          <p:cNvPr id="7" name="Picture 6">
            <a:extLst>
              <a:ext uri="{FF2B5EF4-FFF2-40B4-BE49-F238E27FC236}">
                <a16:creationId xmlns:a16="http://schemas.microsoft.com/office/drawing/2014/main" id="{8ADCD12B-376C-004D-93A1-6D6D32239A9F}"/>
              </a:ext>
            </a:extLst>
          </p:cNvPr>
          <p:cNvPicPr>
            <a:picLocks noChangeAspect="1"/>
          </p:cNvPicPr>
          <p:nvPr/>
        </p:nvPicPr>
        <p:blipFill>
          <a:blip r:embed="rId2"/>
          <a:stretch>
            <a:fillRect/>
          </a:stretch>
        </p:blipFill>
        <p:spPr>
          <a:xfrm>
            <a:off x="2321657" y="3474531"/>
            <a:ext cx="8653346" cy="2125909"/>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19</a:t>
            </a:fld>
            <a:endParaRPr lang="zh-TW" altLang="en-US"/>
          </a:p>
        </p:txBody>
      </p:sp>
    </p:spTree>
    <p:extLst>
      <p:ext uri="{BB962C8B-B14F-4D97-AF65-F5344CB8AC3E}">
        <p14:creationId xmlns:p14="http://schemas.microsoft.com/office/powerpoint/2010/main" val="2682927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0A238-668A-1E46-9F8B-401AA55F36A5}"/>
              </a:ext>
            </a:extLst>
          </p:cNvPr>
          <p:cNvSpPr>
            <a:spLocks noGrp="1"/>
          </p:cNvSpPr>
          <p:nvPr>
            <p:ph type="title"/>
          </p:nvPr>
        </p:nvSpPr>
        <p:spPr/>
        <p:txBody>
          <a:bodyPr/>
          <a:lstStyle/>
          <a:p>
            <a:r>
              <a:rPr lang="en-US" b="1" i="1" dirty="0"/>
              <a:t>Goal 4: Terminal Snapshot</a:t>
            </a:r>
          </a:p>
        </p:txBody>
      </p:sp>
      <p:sp>
        <p:nvSpPr>
          <p:cNvPr id="3" name="Content Placeholder 2">
            <a:extLst>
              <a:ext uri="{FF2B5EF4-FFF2-40B4-BE49-F238E27FC236}">
                <a16:creationId xmlns:a16="http://schemas.microsoft.com/office/drawing/2014/main" id="{969D66CF-A11B-FF45-BD64-700ADB04629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BB42935-B1E4-C24A-95A7-67E1BF6976D1}"/>
              </a:ext>
            </a:extLst>
          </p:cNvPr>
          <p:cNvPicPr>
            <a:picLocks noChangeAspect="1"/>
          </p:cNvPicPr>
          <p:nvPr/>
        </p:nvPicPr>
        <p:blipFill>
          <a:blip r:embed="rId2"/>
          <a:stretch>
            <a:fillRect/>
          </a:stretch>
        </p:blipFill>
        <p:spPr>
          <a:xfrm>
            <a:off x="1524000" y="1559965"/>
            <a:ext cx="9144000" cy="2444527"/>
          </a:xfrm>
          <a:prstGeom prst="rect">
            <a:avLst/>
          </a:prstGeom>
        </p:spPr>
      </p:pic>
      <p:pic>
        <p:nvPicPr>
          <p:cNvPr id="5" name="Picture 4">
            <a:extLst>
              <a:ext uri="{FF2B5EF4-FFF2-40B4-BE49-F238E27FC236}">
                <a16:creationId xmlns:a16="http://schemas.microsoft.com/office/drawing/2014/main" id="{A114A6D1-F843-3743-A115-921756B1E5B9}"/>
              </a:ext>
            </a:extLst>
          </p:cNvPr>
          <p:cNvPicPr>
            <a:picLocks noChangeAspect="1"/>
          </p:cNvPicPr>
          <p:nvPr/>
        </p:nvPicPr>
        <p:blipFill>
          <a:blip r:embed="rId3"/>
          <a:stretch>
            <a:fillRect/>
          </a:stretch>
        </p:blipFill>
        <p:spPr>
          <a:xfrm>
            <a:off x="1524000" y="3058578"/>
            <a:ext cx="9144000" cy="3485176"/>
          </a:xfrm>
          <a:prstGeom prst="rect">
            <a:avLst/>
          </a:prstGeom>
        </p:spPr>
      </p:pic>
      <p:sp>
        <p:nvSpPr>
          <p:cNvPr id="6" name="投影片編號版面配置區 5"/>
          <p:cNvSpPr>
            <a:spLocks noGrp="1"/>
          </p:cNvSpPr>
          <p:nvPr>
            <p:ph type="sldNum" sz="quarter" idx="12"/>
          </p:nvPr>
        </p:nvSpPr>
        <p:spPr/>
        <p:txBody>
          <a:bodyPr/>
          <a:lstStyle/>
          <a:p>
            <a:fld id="{21664DA0-2BCB-4BEE-B230-7CFCA9EBBD78}" type="slidenum">
              <a:rPr lang="zh-TW" altLang="en-US" smtClean="0"/>
              <a:t>20</a:t>
            </a:fld>
            <a:endParaRPr lang="zh-TW" altLang="en-US"/>
          </a:p>
        </p:txBody>
      </p:sp>
    </p:spTree>
    <p:extLst>
      <p:ext uri="{BB962C8B-B14F-4D97-AF65-F5344CB8AC3E}">
        <p14:creationId xmlns:p14="http://schemas.microsoft.com/office/powerpoint/2010/main" val="574422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4: </a:t>
            </a:r>
            <a:r>
              <a:rPr lang="en-US" sz="2800" b="1" i="1" dirty="0"/>
              <a:t>Create a public repo and push your work</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3263504"/>
          </a:xfrm>
        </p:spPr>
        <p:txBody>
          <a:bodyPr/>
          <a:lstStyle/>
          <a:p>
            <a:r>
              <a:rPr lang="en-US" dirty="0"/>
              <a:t>You’re now able to see files on </a:t>
            </a:r>
            <a:r>
              <a:rPr lang="en-US" dirty="0" err="1"/>
              <a:t>Github</a:t>
            </a:r>
            <a:endParaRPr lang="en-US" dirty="0"/>
          </a:p>
        </p:txBody>
      </p:sp>
      <p:pic>
        <p:nvPicPr>
          <p:cNvPr id="5" name="Picture 4">
            <a:extLst>
              <a:ext uri="{FF2B5EF4-FFF2-40B4-BE49-F238E27FC236}">
                <a16:creationId xmlns:a16="http://schemas.microsoft.com/office/drawing/2014/main" id="{0C24987C-C604-914E-827B-814030C39119}"/>
              </a:ext>
            </a:extLst>
          </p:cNvPr>
          <p:cNvPicPr>
            <a:picLocks noChangeAspect="1"/>
          </p:cNvPicPr>
          <p:nvPr/>
        </p:nvPicPr>
        <p:blipFill>
          <a:blip r:embed="rId2"/>
          <a:stretch>
            <a:fillRect/>
          </a:stretch>
        </p:blipFill>
        <p:spPr>
          <a:xfrm>
            <a:off x="3074020" y="2334680"/>
            <a:ext cx="6345042" cy="4523321"/>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21</a:t>
            </a:fld>
            <a:endParaRPr lang="zh-TW" altLang="en-US"/>
          </a:p>
        </p:txBody>
      </p:sp>
    </p:spTree>
    <p:extLst>
      <p:ext uri="{BB962C8B-B14F-4D97-AF65-F5344CB8AC3E}">
        <p14:creationId xmlns:p14="http://schemas.microsoft.com/office/powerpoint/2010/main" val="2372966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5: </a:t>
            </a:r>
            <a:r>
              <a:rPr lang="en-US" sz="4000" b="1" i="1" dirty="0"/>
              <a:t>Setup Jenkins server</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3263504"/>
          </a:xfrm>
        </p:spPr>
        <p:txBody>
          <a:bodyPr/>
          <a:lstStyle/>
          <a:p>
            <a:r>
              <a:rPr lang="en-US" dirty="0"/>
              <a:t>Install Jenkins </a:t>
            </a:r>
            <a:r>
              <a:rPr lang="en-US" dirty="0">
                <a:hlinkClick r:id="rId2"/>
              </a:rPr>
              <a:t>https://jenkins.io/download/</a:t>
            </a:r>
            <a:endParaRPr lang="en-US" dirty="0"/>
          </a:p>
          <a:p>
            <a:pPr lvl="1"/>
            <a:r>
              <a:rPr lang="en-US" dirty="0"/>
              <a:t>For Ubuntu, follow the steps here.</a:t>
            </a:r>
          </a:p>
          <a:p>
            <a:pPr lvl="2"/>
            <a:r>
              <a:rPr lang="en-US" dirty="0">
                <a:hlinkClick r:id="rId3"/>
              </a:rPr>
              <a:t>https://pkg.jenkins.io/debian-stable/</a:t>
            </a:r>
            <a:endParaRPr lang="en-US" dirty="0"/>
          </a:p>
          <a:p>
            <a:r>
              <a:rPr lang="en-US" dirty="0"/>
              <a:t>After finished, Jenkins service will always start at boot time and will be available at </a:t>
            </a:r>
            <a:r>
              <a:rPr lang="en-US" dirty="0">
                <a:hlinkClick r:id="rId4"/>
              </a:rPr>
              <a:t>http://localhost:8080</a:t>
            </a:r>
            <a:endParaRPr lang="en-US" dirty="0"/>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22</a:t>
            </a:fld>
            <a:endParaRPr lang="zh-TW" altLang="en-US"/>
          </a:p>
        </p:txBody>
      </p:sp>
    </p:spTree>
    <p:extLst>
      <p:ext uri="{BB962C8B-B14F-4D97-AF65-F5344CB8AC3E}">
        <p14:creationId xmlns:p14="http://schemas.microsoft.com/office/powerpoint/2010/main" val="1886249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5: </a:t>
            </a:r>
            <a:r>
              <a:rPr lang="en-US" sz="4000" b="1" i="1" dirty="0"/>
              <a:t>Setup Jenkins server</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3263504"/>
          </a:xfrm>
        </p:spPr>
        <p:txBody>
          <a:bodyPr/>
          <a:lstStyle/>
          <a:p>
            <a:r>
              <a:rPr lang="en-US" dirty="0"/>
              <a:t>You’ll see this page for the first time</a:t>
            </a:r>
          </a:p>
          <a:p>
            <a:r>
              <a:rPr lang="en-US" sz="2000" dirty="0">
                <a:latin typeface="Consolas" panose="020B0609020204030204" pitchFamily="49" charset="0"/>
                <a:cs typeface="Consolas" panose="020B0609020204030204" pitchFamily="49" charset="0"/>
              </a:rPr>
              <a:t>$ </a:t>
            </a:r>
            <a:r>
              <a:rPr lang="en-US" sz="2000" dirty="0" err="1">
                <a:latin typeface="Consolas" panose="020B0609020204030204" pitchFamily="49" charset="0"/>
                <a:cs typeface="Consolas" panose="020B0609020204030204" pitchFamily="49" charset="0"/>
              </a:rPr>
              <a:t>sudo</a:t>
            </a:r>
            <a:r>
              <a:rPr lang="en-US" sz="2000" dirty="0">
                <a:latin typeface="Consolas" panose="020B0609020204030204" pitchFamily="49" charset="0"/>
                <a:cs typeface="Consolas" panose="020B0609020204030204" pitchFamily="49" charset="0"/>
              </a:rPr>
              <a:t> cat /</a:t>
            </a:r>
            <a:r>
              <a:rPr lang="en-US" sz="2000" dirty="0" err="1">
                <a:latin typeface="Consolas" panose="020B0609020204030204" pitchFamily="49" charset="0"/>
                <a:cs typeface="Consolas" panose="020B0609020204030204" pitchFamily="49" charset="0"/>
              </a:rPr>
              <a:t>var</a:t>
            </a:r>
            <a:r>
              <a:rPr lang="en-US" sz="2000" dirty="0">
                <a:latin typeface="Consolas" panose="020B0609020204030204" pitchFamily="49" charset="0"/>
                <a:cs typeface="Consolas" panose="020B0609020204030204" pitchFamily="49" charset="0"/>
              </a:rPr>
              <a:t>/lib/</a:t>
            </a:r>
            <a:r>
              <a:rPr lang="en-US" sz="2000" dirty="0" err="1">
                <a:latin typeface="Consolas" panose="020B0609020204030204" pitchFamily="49" charset="0"/>
                <a:cs typeface="Consolas" panose="020B0609020204030204" pitchFamily="49" charset="0"/>
              </a:rPr>
              <a:t>jenkins</a:t>
            </a:r>
            <a:r>
              <a:rPr lang="en-US" sz="2000" dirty="0">
                <a:latin typeface="Consolas" panose="020B0609020204030204" pitchFamily="49" charset="0"/>
                <a:cs typeface="Consolas" panose="020B0609020204030204" pitchFamily="49" charset="0"/>
              </a:rPr>
              <a:t>/secrets/</a:t>
            </a:r>
            <a:r>
              <a:rPr lang="en-US" sz="2000" dirty="0" err="1">
                <a:latin typeface="Consolas" panose="020B0609020204030204" pitchFamily="49" charset="0"/>
                <a:cs typeface="Consolas" panose="020B0609020204030204" pitchFamily="49" charset="0"/>
              </a:rPr>
              <a:t>initialAdminPassword</a:t>
            </a:r>
            <a:endParaRPr lang="en-US" sz="2000" dirty="0">
              <a:latin typeface="Consolas" panose="020B0609020204030204" pitchFamily="49" charset="0"/>
              <a:cs typeface="Consolas" panose="020B0609020204030204" pitchFamily="49" charset="0"/>
            </a:endParaRPr>
          </a:p>
          <a:p>
            <a:r>
              <a:rPr lang="en-US" sz="2000" dirty="0">
                <a:cs typeface="Consolas" panose="020B0609020204030204" pitchFamily="49" charset="0"/>
              </a:rPr>
              <a:t>Paste the code shown</a:t>
            </a:r>
          </a:p>
        </p:txBody>
      </p:sp>
      <p:pic>
        <p:nvPicPr>
          <p:cNvPr id="5" name="Picture 4">
            <a:extLst>
              <a:ext uri="{FF2B5EF4-FFF2-40B4-BE49-F238E27FC236}">
                <a16:creationId xmlns:a16="http://schemas.microsoft.com/office/drawing/2014/main" id="{172A51B9-8375-9A46-B80F-0E10D08EB3B1}"/>
              </a:ext>
            </a:extLst>
          </p:cNvPr>
          <p:cNvPicPr>
            <a:picLocks noChangeAspect="1"/>
          </p:cNvPicPr>
          <p:nvPr/>
        </p:nvPicPr>
        <p:blipFill>
          <a:blip r:embed="rId2"/>
          <a:stretch>
            <a:fillRect/>
          </a:stretch>
        </p:blipFill>
        <p:spPr>
          <a:xfrm>
            <a:off x="2906752" y="2942108"/>
            <a:ext cx="5854390" cy="3915893"/>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23</a:t>
            </a:fld>
            <a:endParaRPr lang="zh-TW" altLang="en-US"/>
          </a:p>
        </p:txBody>
      </p:sp>
    </p:spTree>
    <p:extLst>
      <p:ext uri="{BB962C8B-B14F-4D97-AF65-F5344CB8AC3E}">
        <p14:creationId xmlns:p14="http://schemas.microsoft.com/office/powerpoint/2010/main" val="1550235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5: </a:t>
            </a:r>
            <a:r>
              <a:rPr lang="en-US" sz="4000" b="1" i="1" dirty="0"/>
              <a:t>Setup Jenkins server</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3263504"/>
          </a:xfrm>
        </p:spPr>
        <p:txBody>
          <a:bodyPr/>
          <a:lstStyle/>
          <a:p>
            <a:r>
              <a:rPr lang="en-US" dirty="0"/>
              <a:t>Install suggested plugins </a:t>
            </a:r>
            <a:endParaRPr lang="en-US" sz="2000" dirty="0">
              <a:cs typeface="Consolas" panose="020B0609020204030204" pitchFamily="49" charset="0"/>
            </a:endParaRPr>
          </a:p>
        </p:txBody>
      </p:sp>
      <p:pic>
        <p:nvPicPr>
          <p:cNvPr id="6" name="Picture 5">
            <a:extLst>
              <a:ext uri="{FF2B5EF4-FFF2-40B4-BE49-F238E27FC236}">
                <a16:creationId xmlns:a16="http://schemas.microsoft.com/office/drawing/2014/main" id="{9DF83EFD-69E1-FF4C-9DAD-2468651E6B56}"/>
              </a:ext>
            </a:extLst>
          </p:cNvPr>
          <p:cNvPicPr>
            <a:picLocks noChangeAspect="1"/>
          </p:cNvPicPr>
          <p:nvPr/>
        </p:nvPicPr>
        <p:blipFill>
          <a:blip r:embed="rId2"/>
          <a:stretch>
            <a:fillRect/>
          </a:stretch>
        </p:blipFill>
        <p:spPr>
          <a:xfrm>
            <a:off x="2884450" y="2192921"/>
            <a:ext cx="6668429" cy="4428369"/>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24</a:t>
            </a:fld>
            <a:endParaRPr lang="zh-TW" altLang="en-US"/>
          </a:p>
        </p:txBody>
      </p:sp>
    </p:spTree>
    <p:extLst>
      <p:ext uri="{BB962C8B-B14F-4D97-AF65-F5344CB8AC3E}">
        <p14:creationId xmlns:p14="http://schemas.microsoft.com/office/powerpoint/2010/main" val="10647416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5: </a:t>
            </a:r>
            <a:r>
              <a:rPr lang="en-US" sz="4000" b="1" i="1" dirty="0"/>
              <a:t>Setup Jenkins server</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3263504"/>
          </a:xfrm>
        </p:spPr>
        <p:txBody>
          <a:bodyPr/>
          <a:lstStyle/>
          <a:p>
            <a:r>
              <a:rPr lang="en-US" dirty="0"/>
              <a:t>Create a Jenkins job</a:t>
            </a:r>
          </a:p>
          <a:p>
            <a:pPr lvl="1"/>
            <a:r>
              <a:rPr lang="en-US" sz="2000" dirty="0">
                <a:cs typeface="Consolas" panose="020B0609020204030204" pitchFamily="49" charset="0"/>
              </a:rPr>
              <a:t>Select Free-style project</a:t>
            </a:r>
          </a:p>
          <a:p>
            <a:pPr lvl="1"/>
            <a:endParaRPr lang="en-US" sz="1600" dirty="0">
              <a:cs typeface="Consolas" panose="020B0609020204030204" pitchFamily="49" charset="0"/>
            </a:endParaRPr>
          </a:p>
        </p:txBody>
      </p:sp>
      <p:pic>
        <p:nvPicPr>
          <p:cNvPr id="5" name="Picture 4">
            <a:extLst>
              <a:ext uri="{FF2B5EF4-FFF2-40B4-BE49-F238E27FC236}">
                <a16:creationId xmlns:a16="http://schemas.microsoft.com/office/drawing/2014/main" id="{AA6124B3-BB98-8A46-AE78-C0B2248D2E7F}"/>
              </a:ext>
            </a:extLst>
          </p:cNvPr>
          <p:cNvPicPr>
            <a:picLocks noChangeAspect="1"/>
          </p:cNvPicPr>
          <p:nvPr/>
        </p:nvPicPr>
        <p:blipFill>
          <a:blip r:embed="rId2"/>
          <a:stretch>
            <a:fillRect/>
          </a:stretch>
        </p:blipFill>
        <p:spPr>
          <a:xfrm>
            <a:off x="1524000" y="2716256"/>
            <a:ext cx="9144000" cy="3678034"/>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25</a:t>
            </a:fld>
            <a:endParaRPr lang="zh-TW" altLang="en-US"/>
          </a:p>
        </p:txBody>
      </p:sp>
    </p:spTree>
    <p:extLst>
      <p:ext uri="{BB962C8B-B14F-4D97-AF65-F5344CB8AC3E}">
        <p14:creationId xmlns:p14="http://schemas.microsoft.com/office/powerpoint/2010/main" val="1930306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5: </a:t>
            </a:r>
            <a:r>
              <a:rPr lang="en-US" sz="4000" b="1" i="1" dirty="0"/>
              <a:t>Setup Jenkins server</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Set project </a:t>
            </a:r>
            <a:r>
              <a:rPr lang="en-US" dirty="0" err="1">
                <a:cs typeface="Consolas" panose="020B0609020204030204" pitchFamily="49" charset="0"/>
              </a:rPr>
              <a:t>url</a:t>
            </a:r>
            <a:r>
              <a:rPr lang="en-US" dirty="0">
                <a:cs typeface="Consolas" panose="020B0609020204030204" pitchFamily="49" charset="0"/>
              </a:rPr>
              <a:t> (without .git)</a:t>
            </a:r>
          </a:p>
          <a:p>
            <a:endParaRPr lang="en-US" dirty="0">
              <a:cs typeface="Consolas" panose="020B0609020204030204" pitchFamily="49" charset="0"/>
            </a:endParaRPr>
          </a:p>
          <a:p>
            <a:endParaRPr lang="en-US" dirty="0">
              <a:cs typeface="Consolas" panose="020B0609020204030204" pitchFamily="49" charset="0"/>
            </a:endParaRPr>
          </a:p>
          <a:p>
            <a:endParaRPr lang="en-US" dirty="0">
              <a:cs typeface="Consolas" panose="020B0609020204030204" pitchFamily="49" charset="0"/>
            </a:endParaRPr>
          </a:p>
          <a:p>
            <a:endParaRPr lang="en-US" dirty="0">
              <a:cs typeface="Consolas" panose="020B0609020204030204" pitchFamily="49" charset="0"/>
            </a:endParaRPr>
          </a:p>
          <a:p>
            <a:endParaRPr lang="en-US" dirty="0">
              <a:cs typeface="Consolas" panose="020B0609020204030204" pitchFamily="49" charset="0"/>
            </a:endParaRPr>
          </a:p>
          <a:p>
            <a:endParaRPr lang="en-US" dirty="0">
              <a:cs typeface="Consolas" panose="020B0609020204030204" pitchFamily="49" charset="0"/>
            </a:endParaRPr>
          </a:p>
          <a:p>
            <a:endParaRPr lang="en-US" dirty="0">
              <a:cs typeface="Consolas" panose="020B0609020204030204" pitchFamily="49" charset="0"/>
            </a:endParaRPr>
          </a:p>
        </p:txBody>
      </p:sp>
      <p:pic>
        <p:nvPicPr>
          <p:cNvPr id="8" name="Picture 7">
            <a:extLst>
              <a:ext uri="{FF2B5EF4-FFF2-40B4-BE49-F238E27FC236}">
                <a16:creationId xmlns:a16="http://schemas.microsoft.com/office/drawing/2014/main" id="{96C1CFF8-A981-8146-8C12-E43A8C385B60}"/>
              </a:ext>
            </a:extLst>
          </p:cNvPr>
          <p:cNvPicPr>
            <a:picLocks noChangeAspect="1"/>
          </p:cNvPicPr>
          <p:nvPr/>
        </p:nvPicPr>
        <p:blipFill>
          <a:blip r:embed="rId2"/>
          <a:stretch>
            <a:fillRect/>
          </a:stretch>
        </p:blipFill>
        <p:spPr>
          <a:xfrm>
            <a:off x="2152651" y="2521622"/>
            <a:ext cx="7754279" cy="2635651"/>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26</a:t>
            </a:fld>
            <a:endParaRPr lang="zh-TW" altLang="en-US"/>
          </a:p>
        </p:txBody>
      </p:sp>
    </p:spTree>
    <p:extLst>
      <p:ext uri="{BB962C8B-B14F-4D97-AF65-F5344CB8AC3E}">
        <p14:creationId xmlns:p14="http://schemas.microsoft.com/office/powerpoint/2010/main" val="583160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5: </a:t>
            </a:r>
            <a:r>
              <a:rPr lang="en-US" sz="4000" b="1" i="1" dirty="0"/>
              <a:t>Setup Jenkins server</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Set git repository (with .git)</a:t>
            </a:r>
          </a:p>
        </p:txBody>
      </p:sp>
      <p:pic>
        <p:nvPicPr>
          <p:cNvPr id="10" name="Picture 9">
            <a:extLst>
              <a:ext uri="{FF2B5EF4-FFF2-40B4-BE49-F238E27FC236}">
                <a16:creationId xmlns:a16="http://schemas.microsoft.com/office/drawing/2014/main" id="{81F3A197-96C9-3B42-9C94-FCBDB5CCEB34}"/>
              </a:ext>
            </a:extLst>
          </p:cNvPr>
          <p:cNvPicPr>
            <a:picLocks noChangeAspect="1"/>
          </p:cNvPicPr>
          <p:nvPr/>
        </p:nvPicPr>
        <p:blipFill>
          <a:blip r:embed="rId2"/>
          <a:stretch>
            <a:fillRect/>
          </a:stretch>
        </p:blipFill>
        <p:spPr>
          <a:xfrm>
            <a:off x="2594518" y="2437539"/>
            <a:ext cx="6813395" cy="3528365"/>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27</a:t>
            </a:fld>
            <a:endParaRPr lang="zh-TW" altLang="en-US"/>
          </a:p>
        </p:txBody>
      </p:sp>
    </p:spTree>
    <p:extLst>
      <p:ext uri="{BB962C8B-B14F-4D97-AF65-F5344CB8AC3E}">
        <p14:creationId xmlns:p14="http://schemas.microsoft.com/office/powerpoint/2010/main" val="3396492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5: </a:t>
            </a:r>
            <a:r>
              <a:rPr lang="en-US" sz="4000" b="1" i="1" dirty="0"/>
              <a:t>Setup Jenkins server</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Set git repository (with .git)</a:t>
            </a:r>
          </a:p>
        </p:txBody>
      </p:sp>
      <p:pic>
        <p:nvPicPr>
          <p:cNvPr id="10" name="Picture 9">
            <a:extLst>
              <a:ext uri="{FF2B5EF4-FFF2-40B4-BE49-F238E27FC236}">
                <a16:creationId xmlns:a16="http://schemas.microsoft.com/office/drawing/2014/main" id="{81F3A197-96C9-3B42-9C94-FCBDB5CCEB34}"/>
              </a:ext>
            </a:extLst>
          </p:cNvPr>
          <p:cNvPicPr>
            <a:picLocks noChangeAspect="1"/>
          </p:cNvPicPr>
          <p:nvPr/>
        </p:nvPicPr>
        <p:blipFill>
          <a:blip r:embed="rId2"/>
          <a:stretch>
            <a:fillRect/>
          </a:stretch>
        </p:blipFill>
        <p:spPr>
          <a:xfrm>
            <a:off x="2594518" y="2437539"/>
            <a:ext cx="6813395" cy="3528365"/>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28</a:t>
            </a:fld>
            <a:endParaRPr lang="zh-TW" altLang="en-US"/>
          </a:p>
        </p:txBody>
      </p:sp>
    </p:spTree>
    <p:extLst>
      <p:ext uri="{BB962C8B-B14F-4D97-AF65-F5344CB8AC3E}">
        <p14:creationId xmlns:p14="http://schemas.microsoft.com/office/powerpoint/2010/main" val="3718276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5: </a:t>
            </a:r>
            <a:r>
              <a:rPr lang="en-US" sz="4000" b="1" i="1" dirty="0"/>
              <a:t>Setup Jenkins server</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Go to </a:t>
            </a:r>
            <a:r>
              <a:rPr lang="en-US" dirty="0"/>
              <a:t>“Build Triggers” section</a:t>
            </a:r>
          </a:p>
          <a:p>
            <a:pPr lvl="1"/>
            <a:r>
              <a:rPr lang="en-US" dirty="0"/>
              <a:t>Check Poll </a:t>
            </a:r>
            <a:r>
              <a:rPr lang="en-US" dirty="0" err="1"/>
              <a:t>Scm</a:t>
            </a:r>
            <a:r>
              <a:rPr lang="en-US" dirty="0"/>
              <a:t> and enter five stars with spaces (* * * * * )</a:t>
            </a:r>
          </a:p>
          <a:p>
            <a:pPr lvl="1"/>
            <a:r>
              <a:rPr lang="en-US" dirty="0"/>
              <a:t>It means “every minute” for </a:t>
            </a:r>
            <a:r>
              <a:rPr lang="en-US" dirty="0">
                <a:hlinkClick r:id="rId2"/>
              </a:rPr>
              <a:t>cron time</a:t>
            </a:r>
            <a:r>
              <a:rPr lang="en-US" dirty="0"/>
              <a:t> process. So our </a:t>
            </a:r>
            <a:r>
              <a:rPr lang="en-US" dirty="0" err="1"/>
              <a:t>jenkins</a:t>
            </a:r>
            <a:r>
              <a:rPr lang="en-US" dirty="0"/>
              <a:t> server will check </a:t>
            </a:r>
            <a:r>
              <a:rPr lang="en-US" dirty="0" err="1"/>
              <a:t>github</a:t>
            </a:r>
            <a:r>
              <a:rPr lang="en-US" dirty="0"/>
              <a:t> every minute, if there is any change in the repo it will trigger the job and tests will start. </a:t>
            </a:r>
            <a:r>
              <a:rPr lang="en-US" dirty="0">
                <a:solidFill>
                  <a:srgbClr val="FF0000"/>
                </a:solidFill>
              </a:rPr>
              <a:t>You can set trigger time however you want using </a:t>
            </a:r>
            <a:r>
              <a:rPr lang="en-US" dirty="0" err="1">
                <a:solidFill>
                  <a:srgbClr val="FF0000"/>
                </a:solidFill>
              </a:rPr>
              <a:t>cron</a:t>
            </a:r>
            <a:r>
              <a:rPr lang="en-US" dirty="0">
                <a:solidFill>
                  <a:srgbClr val="FF0000"/>
                </a:solidFill>
              </a:rPr>
              <a:t> time.</a:t>
            </a:r>
          </a:p>
          <a:p>
            <a:pPr lvl="1"/>
            <a:endParaRPr lang="en-US" dirty="0">
              <a:cs typeface="Consolas" panose="020B0609020204030204" pitchFamily="49" charset="0"/>
            </a:endParaRPr>
          </a:p>
        </p:txBody>
      </p:sp>
      <p:pic>
        <p:nvPicPr>
          <p:cNvPr id="5" name="Picture 4">
            <a:extLst>
              <a:ext uri="{FF2B5EF4-FFF2-40B4-BE49-F238E27FC236}">
                <a16:creationId xmlns:a16="http://schemas.microsoft.com/office/drawing/2014/main" id="{70CAD8F4-6016-8947-A07A-2B05BA9D04A8}"/>
              </a:ext>
            </a:extLst>
          </p:cNvPr>
          <p:cNvPicPr>
            <a:picLocks noChangeAspect="1"/>
          </p:cNvPicPr>
          <p:nvPr/>
        </p:nvPicPr>
        <p:blipFill>
          <a:blip r:embed="rId3"/>
          <a:stretch>
            <a:fillRect/>
          </a:stretch>
        </p:blipFill>
        <p:spPr>
          <a:xfrm>
            <a:off x="2093056" y="4013752"/>
            <a:ext cx="8463776" cy="3300017"/>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29</a:t>
            </a:fld>
            <a:endParaRPr lang="zh-TW" altLang="en-US"/>
          </a:p>
        </p:txBody>
      </p:sp>
    </p:spTree>
    <p:extLst>
      <p:ext uri="{BB962C8B-B14F-4D97-AF65-F5344CB8AC3E}">
        <p14:creationId xmlns:p14="http://schemas.microsoft.com/office/powerpoint/2010/main" val="2692313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5: </a:t>
            </a:r>
            <a:r>
              <a:rPr lang="en-US" sz="4000" b="1" i="1" dirty="0"/>
              <a:t>Setup Jenkins server</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Go to </a:t>
            </a:r>
            <a:r>
              <a:rPr lang="en-US" dirty="0"/>
              <a:t>“Build Options” section</a:t>
            </a:r>
          </a:p>
          <a:p>
            <a:pPr lvl="1"/>
            <a:r>
              <a:rPr lang="en-US" dirty="0"/>
              <a:t>&gt;&gt; Add build step &gt;&gt; Invoke Gradle script</a:t>
            </a:r>
            <a:r>
              <a:rPr lang="zh-TW" altLang="en-US" dirty="0"/>
              <a:t> </a:t>
            </a:r>
            <a:endParaRPr lang="en-US" altLang="zh-TW" dirty="0"/>
          </a:p>
          <a:p>
            <a:pPr lvl="1"/>
            <a:r>
              <a:rPr lang="en-US" dirty="0"/>
              <a:t>Select “Use Gradle Wrapper”</a:t>
            </a:r>
          </a:p>
          <a:p>
            <a:pPr lvl="1"/>
            <a:r>
              <a:rPr lang="en-US" dirty="0"/>
              <a:t>Input the script into “Tasks”</a:t>
            </a:r>
          </a:p>
          <a:p>
            <a:pPr lvl="1"/>
            <a:endParaRPr lang="en-US" dirty="0">
              <a:solidFill>
                <a:srgbClr val="FF0000"/>
              </a:solidFill>
            </a:endParaRPr>
          </a:p>
          <a:p>
            <a:pPr lvl="1"/>
            <a:endParaRPr lang="en-US" dirty="0">
              <a:cs typeface="Consolas" panose="020B0609020204030204" pitchFamily="49" charset="0"/>
            </a:endParaRPr>
          </a:p>
        </p:txBody>
      </p:sp>
      <p:pic>
        <p:nvPicPr>
          <p:cNvPr id="6" name="Picture 5">
            <a:extLst>
              <a:ext uri="{FF2B5EF4-FFF2-40B4-BE49-F238E27FC236}">
                <a16:creationId xmlns:a16="http://schemas.microsoft.com/office/drawing/2014/main" id="{599B829F-BA3F-124D-B987-C60D7B42ED12}"/>
              </a:ext>
            </a:extLst>
          </p:cNvPr>
          <p:cNvPicPr>
            <a:picLocks noChangeAspect="1"/>
          </p:cNvPicPr>
          <p:nvPr/>
        </p:nvPicPr>
        <p:blipFill>
          <a:blip r:embed="rId2"/>
          <a:stretch>
            <a:fillRect/>
          </a:stretch>
        </p:blipFill>
        <p:spPr>
          <a:xfrm>
            <a:off x="2823117" y="3331756"/>
            <a:ext cx="6545766" cy="3526245"/>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30</a:t>
            </a:fld>
            <a:endParaRPr lang="zh-TW" altLang="en-US"/>
          </a:p>
        </p:txBody>
      </p:sp>
    </p:spTree>
    <p:extLst>
      <p:ext uri="{BB962C8B-B14F-4D97-AF65-F5344CB8AC3E}">
        <p14:creationId xmlns:p14="http://schemas.microsoft.com/office/powerpoint/2010/main" val="844134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5: </a:t>
            </a:r>
            <a:r>
              <a:rPr lang="en-US" sz="4000" b="1" i="1" dirty="0"/>
              <a:t>Setup Jenkins server</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Go to </a:t>
            </a:r>
            <a:r>
              <a:rPr lang="en-US" dirty="0"/>
              <a:t>“Post-Build Actions” section</a:t>
            </a:r>
          </a:p>
          <a:p>
            <a:pPr lvl="1"/>
            <a:r>
              <a:rPr lang="en-US" dirty="0"/>
              <a:t>Add “Publish JUnit test result report ”</a:t>
            </a:r>
          </a:p>
          <a:p>
            <a:pPr lvl="1"/>
            <a:endParaRPr lang="en-US" dirty="0">
              <a:cs typeface="Consolas" panose="020B0609020204030204" pitchFamily="49" charset="0"/>
            </a:endParaRPr>
          </a:p>
        </p:txBody>
      </p:sp>
      <p:pic>
        <p:nvPicPr>
          <p:cNvPr id="9" name="Picture 8">
            <a:extLst>
              <a:ext uri="{FF2B5EF4-FFF2-40B4-BE49-F238E27FC236}">
                <a16:creationId xmlns:a16="http://schemas.microsoft.com/office/drawing/2014/main" id="{F9B86129-0D9E-6A43-8283-E594FD5E3A19}"/>
              </a:ext>
            </a:extLst>
          </p:cNvPr>
          <p:cNvPicPr>
            <a:picLocks noChangeAspect="1"/>
          </p:cNvPicPr>
          <p:nvPr/>
        </p:nvPicPr>
        <p:blipFill>
          <a:blip r:embed="rId2"/>
          <a:stretch>
            <a:fillRect/>
          </a:stretch>
        </p:blipFill>
        <p:spPr>
          <a:xfrm>
            <a:off x="1524000" y="3016252"/>
            <a:ext cx="9144000" cy="3083442"/>
          </a:xfrm>
          <a:prstGeom prst="rect">
            <a:avLst/>
          </a:prstGeom>
        </p:spPr>
      </p:pic>
      <p:sp>
        <p:nvSpPr>
          <p:cNvPr id="7" name="Rectangle 6">
            <a:extLst>
              <a:ext uri="{FF2B5EF4-FFF2-40B4-BE49-F238E27FC236}">
                <a16:creationId xmlns:a16="http://schemas.microsoft.com/office/drawing/2014/main" id="{28274BF7-3F76-E14C-A273-6E821646F54A}"/>
              </a:ext>
            </a:extLst>
          </p:cNvPr>
          <p:cNvSpPr/>
          <p:nvPr/>
        </p:nvSpPr>
        <p:spPr>
          <a:xfrm>
            <a:off x="3810000" y="3839447"/>
            <a:ext cx="2821258" cy="4237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31</a:t>
            </a:fld>
            <a:endParaRPr lang="zh-TW" altLang="en-US"/>
          </a:p>
        </p:txBody>
      </p:sp>
    </p:spTree>
    <p:extLst>
      <p:ext uri="{BB962C8B-B14F-4D97-AF65-F5344CB8AC3E}">
        <p14:creationId xmlns:p14="http://schemas.microsoft.com/office/powerpoint/2010/main" val="2272962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6: </a:t>
            </a:r>
            <a:br>
              <a:rPr lang="en-US" b="1" i="1" dirty="0"/>
            </a:br>
            <a:r>
              <a:rPr lang="en-US" b="1" i="1" dirty="0"/>
              <a:t> </a:t>
            </a:r>
            <a:r>
              <a:rPr lang="en-US" sz="2400" b="1" i="1" dirty="0"/>
              <a:t>Automatic fetch and build your java project from </a:t>
            </a:r>
            <a:r>
              <a:rPr lang="en-US" sz="2400" b="1" i="1" dirty="0" err="1"/>
              <a:t>Github</a:t>
            </a:r>
            <a:r>
              <a:rPr lang="en-US" sz="2400" b="1" i="1" dirty="0"/>
              <a:t> on Jenkins</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Apply the settings and your done!!!</a:t>
            </a:r>
          </a:p>
          <a:p>
            <a:r>
              <a:rPr lang="en-US" dirty="0">
                <a:cs typeface="Consolas" panose="020B0609020204030204" pitchFamily="49" charset="0"/>
              </a:rPr>
              <a:t>See the build history and results</a:t>
            </a:r>
          </a:p>
          <a:p>
            <a:endParaRPr lang="en-US" dirty="0">
              <a:cs typeface="Consolas" panose="020B0609020204030204" pitchFamily="49" charset="0"/>
            </a:endParaRPr>
          </a:p>
        </p:txBody>
      </p:sp>
      <p:pic>
        <p:nvPicPr>
          <p:cNvPr id="5" name="Picture 4">
            <a:extLst>
              <a:ext uri="{FF2B5EF4-FFF2-40B4-BE49-F238E27FC236}">
                <a16:creationId xmlns:a16="http://schemas.microsoft.com/office/drawing/2014/main" id="{3A60C222-9964-744A-A67B-CF0584A4AED8}"/>
              </a:ext>
            </a:extLst>
          </p:cNvPr>
          <p:cNvPicPr>
            <a:picLocks noChangeAspect="1"/>
          </p:cNvPicPr>
          <p:nvPr/>
        </p:nvPicPr>
        <p:blipFill rotWithShape="1">
          <a:blip r:embed="rId2"/>
          <a:srcRect r="51602"/>
          <a:stretch/>
        </p:blipFill>
        <p:spPr>
          <a:xfrm>
            <a:off x="2427248" y="2736601"/>
            <a:ext cx="3367670" cy="3872350"/>
          </a:xfrm>
          <a:prstGeom prst="rect">
            <a:avLst/>
          </a:prstGeom>
        </p:spPr>
      </p:pic>
      <p:sp>
        <p:nvSpPr>
          <p:cNvPr id="6" name="Rectangle 5">
            <a:extLst>
              <a:ext uri="{FF2B5EF4-FFF2-40B4-BE49-F238E27FC236}">
                <a16:creationId xmlns:a16="http://schemas.microsoft.com/office/drawing/2014/main" id="{9B785FE7-7CA4-0E41-B859-8975FD090F57}"/>
              </a:ext>
            </a:extLst>
          </p:cNvPr>
          <p:cNvSpPr/>
          <p:nvPr/>
        </p:nvSpPr>
        <p:spPr>
          <a:xfrm>
            <a:off x="2460703" y="4750421"/>
            <a:ext cx="1739591" cy="172843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D931F5-DC5D-6044-8E0B-BAC19AF7A70D}"/>
              </a:ext>
            </a:extLst>
          </p:cNvPr>
          <p:cNvSpPr/>
          <p:nvPr/>
        </p:nvSpPr>
        <p:spPr>
          <a:xfrm>
            <a:off x="4289502" y="4259767"/>
            <a:ext cx="1336402" cy="3679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5CFB911-3443-2440-B134-3FF5D79A6AAF}"/>
              </a:ext>
            </a:extLst>
          </p:cNvPr>
          <p:cNvSpPr txBox="1"/>
          <p:nvPr/>
        </p:nvSpPr>
        <p:spPr>
          <a:xfrm>
            <a:off x="6542050" y="3055434"/>
            <a:ext cx="2669449" cy="369332"/>
          </a:xfrm>
          <a:prstGeom prst="rect">
            <a:avLst/>
          </a:prstGeom>
          <a:noFill/>
        </p:spPr>
        <p:txBody>
          <a:bodyPr wrap="none" rtlCol="0">
            <a:spAutoFit/>
          </a:bodyPr>
          <a:lstStyle/>
          <a:p>
            <a:r>
              <a:rPr lang="en-US" dirty="0"/>
              <a:t>&gt;&gt; Click “#6” to see details</a:t>
            </a:r>
          </a:p>
        </p:txBody>
      </p:sp>
      <p:pic>
        <p:nvPicPr>
          <p:cNvPr id="12" name="Picture 11">
            <a:extLst>
              <a:ext uri="{FF2B5EF4-FFF2-40B4-BE49-F238E27FC236}">
                <a16:creationId xmlns:a16="http://schemas.microsoft.com/office/drawing/2014/main" id="{6D2EB590-B863-8242-9B00-81E94798A9A1}"/>
              </a:ext>
            </a:extLst>
          </p:cNvPr>
          <p:cNvPicPr>
            <a:picLocks noChangeAspect="1"/>
          </p:cNvPicPr>
          <p:nvPr/>
        </p:nvPicPr>
        <p:blipFill>
          <a:blip r:embed="rId3"/>
          <a:stretch>
            <a:fillRect/>
          </a:stretch>
        </p:blipFill>
        <p:spPr>
          <a:xfrm>
            <a:off x="6759497" y="3442322"/>
            <a:ext cx="3092295" cy="3092295"/>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32</a:t>
            </a:fld>
            <a:endParaRPr lang="zh-TW" altLang="en-US"/>
          </a:p>
        </p:txBody>
      </p:sp>
    </p:spTree>
    <p:extLst>
      <p:ext uri="{BB962C8B-B14F-4D97-AF65-F5344CB8AC3E}">
        <p14:creationId xmlns:p14="http://schemas.microsoft.com/office/powerpoint/2010/main" val="30624010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7: </a:t>
            </a:r>
            <a:r>
              <a:rPr lang="en-US" sz="3200" b="1" i="1" dirty="0"/>
              <a:t>Coverage report with </a:t>
            </a:r>
            <a:r>
              <a:rPr lang="en-US" sz="3200" b="1" i="1" dirty="0" err="1"/>
              <a:t>Jacoco</a:t>
            </a:r>
            <a:r>
              <a:rPr lang="en-US" sz="3200" b="1" i="1" dirty="0"/>
              <a:t> plugin</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In your project, Edit </a:t>
            </a:r>
            <a:r>
              <a:rPr lang="en-US" dirty="0" err="1">
                <a:cs typeface="Consolas" panose="020B0609020204030204" pitchFamily="49" charset="0"/>
              </a:rPr>
              <a:t>build.gradle</a:t>
            </a:r>
            <a:r>
              <a:rPr lang="en-US" dirty="0">
                <a:cs typeface="Consolas" panose="020B0609020204030204" pitchFamily="49" charset="0"/>
              </a:rPr>
              <a:t> file (Add line 30~34)</a:t>
            </a:r>
          </a:p>
        </p:txBody>
      </p:sp>
      <p:pic>
        <p:nvPicPr>
          <p:cNvPr id="7" name="Picture 6">
            <a:extLst>
              <a:ext uri="{FF2B5EF4-FFF2-40B4-BE49-F238E27FC236}">
                <a16:creationId xmlns:a16="http://schemas.microsoft.com/office/drawing/2014/main" id="{137ED6BF-22A2-E74F-8ED1-CD93EC2D0E00}"/>
              </a:ext>
            </a:extLst>
          </p:cNvPr>
          <p:cNvPicPr>
            <a:picLocks noChangeAspect="1"/>
          </p:cNvPicPr>
          <p:nvPr/>
        </p:nvPicPr>
        <p:blipFill>
          <a:blip r:embed="rId2"/>
          <a:stretch>
            <a:fillRect/>
          </a:stretch>
        </p:blipFill>
        <p:spPr>
          <a:xfrm>
            <a:off x="2271133" y="2146458"/>
            <a:ext cx="5718282" cy="4970039"/>
          </a:xfrm>
          <a:prstGeom prst="rect">
            <a:avLst/>
          </a:prstGeom>
        </p:spPr>
      </p:pic>
      <p:sp>
        <p:nvSpPr>
          <p:cNvPr id="6" name="Rectangle 5">
            <a:extLst>
              <a:ext uri="{FF2B5EF4-FFF2-40B4-BE49-F238E27FC236}">
                <a16:creationId xmlns:a16="http://schemas.microsoft.com/office/drawing/2014/main" id="{9B785FE7-7CA4-0E41-B859-8975FD090F57}"/>
              </a:ext>
            </a:extLst>
          </p:cNvPr>
          <p:cNvSpPr/>
          <p:nvPr/>
        </p:nvSpPr>
        <p:spPr>
          <a:xfrm>
            <a:off x="4222594" y="5362034"/>
            <a:ext cx="2141035" cy="6150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FC3378A-6662-7B4E-B7F8-38937FF2A1AF}"/>
              </a:ext>
            </a:extLst>
          </p:cNvPr>
          <p:cNvSpPr txBox="1"/>
          <p:nvPr/>
        </p:nvSpPr>
        <p:spPr>
          <a:xfrm>
            <a:off x="8237034" y="3605271"/>
            <a:ext cx="1661532" cy="1477328"/>
          </a:xfrm>
          <a:prstGeom prst="rect">
            <a:avLst/>
          </a:prstGeom>
          <a:noFill/>
        </p:spPr>
        <p:txBody>
          <a:bodyPr wrap="square" rtlCol="0">
            <a:spAutoFit/>
          </a:bodyPr>
          <a:lstStyle/>
          <a:p>
            <a:r>
              <a:rPr lang="en-US" dirty="0">
                <a:solidFill>
                  <a:srgbClr val="FF0000"/>
                </a:solidFill>
                <a:cs typeface="Consolas" panose="020B0609020204030204" pitchFamily="49" charset="0"/>
              </a:rPr>
              <a:t>Remember to push to </a:t>
            </a:r>
            <a:r>
              <a:rPr lang="en-US" dirty="0" err="1">
                <a:solidFill>
                  <a:srgbClr val="FF0000"/>
                </a:solidFill>
                <a:cs typeface="Consolas" panose="020B0609020204030204" pitchFamily="49" charset="0"/>
              </a:rPr>
              <a:t>github</a:t>
            </a:r>
            <a:r>
              <a:rPr lang="en-US" dirty="0">
                <a:solidFill>
                  <a:srgbClr val="FF0000"/>
                </a:solidFill>
                <a:cs typeface="Consolas" panose="020B0609020204030204" pitchFamily="49" charset="0"/>
              </a:rPr>
              <a:t> after you modified your project</a:t>
            </a:r>
            <a:endParaRPr lang="en-US" dirty="0">
              <a:solidFill>
                <a:srgbClr val="FF0000"/>
              </a:solidFill>
            </a:endParaRPr>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33</a:t>
            </a:fld>
            <a:endParaRPr lang="zh-TW" altLang="en-US"/>
          </a:p>
        </p:txBody>
      </p:sp>
    </p:spTree>
    <p:extLst>
      <p:ext uri="{BB962C8B-B14F-4D97-AF65-F5344CB8AC3E}">
        <p14:creationId xmlns:p14="http://schemas.microsoft.com/office/powerpoint/2010/main" val="13646810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7: </a:t>
            </a:r>
            <a:r>
              <a:rPr lang="en-US" sz="3200" b="1" i="1" dirty="0"/>
              <a:t>Coverage report with </a:t>
            </a:r>
            <a:r>
              <a:rPr lang="en-US" sz="3200" b="1" i="1" dirty="0" err="1"/>
              <a:t>Jacoco</a:t>
            </a:r>
            <a:r>
              <a:rPr lang="en-US" sz="3200" b="1" i="1" dirty="0"/>
              <a:t> plugin</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In Jenkins, add the extension JaCoCo</a:t>
            </a:r>
          </a:p>
        </p:txBody>
      </p:sp>
      <p:pic>
        <p:nvPicPr>
          <p:cNvPr id="5" name="Picture 4">
            <a:extLst>
              <a:ext uri="{FF2B5EF4-FFF2-40B4-BE49-F238E27FC236}">
                <a16:creationId xmlns:a16="http://schemas.microsoft.com/office/drawing/2014/main" id="{D28BB310-4E03-7649-A099-BFF97364640B}"/>
              </a:ext>
            </a:extLst>
          </p:cNvPr>
          <p:cNvPicPr>
            <a:picLocks noChangeAspect="1"/>
          </p:cNvPicPr>
          <p:nvPr/>
        </p:nvPicPr>
        <p:blipFill>
          <a:blip r:embed="rId2"/>
          <a:stretch>
            <a:fillRect/>
          </a:stretch>
        </p:blipFill>
        <p:spPr>
          <a:xfrm>
            <a:off x="1668966" y="2144463"/>
            <a:ext cx="9144000" cy="4599613"/>
          </a:xfrm>
          <a:prstGeom prst="rect">
            <a:avLst/>
          </a:prstGeom>
        </p:spPr>
      </p:pic>
      <p:sp>
        <p:nvSpPr>
          <p:cNvPr id="9" name="Rectangle 8">
            <a:extLst>
              <a:ext uri="{FF2B5EF4-FFF2-40B4-BE49-F238E27FC236}">
                <a16:creationId xmlns:a16="http://schemas.microsoft.com/office/drawing/2014/main" id="{EE2452AD-119A-2D4D-A22C-3B5E2FE6E0D2}"/>
              </a:ext>
            </a:extLst>
          </p:cNvPr>
          <p:cNvSpPr/>
          <p:nvPr/>
        </p:nvSpPr>
        <p:spPr>
          <a:xfrm>
            <a:off x="1657816" y="3211551"/>
            <a:ext cx="2129883" cy="23417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EE8D3CB-46B5-D449-9A7F-5710A400A4A4}"/>
              </a:ext>
            </a:extLst>
          </p:cNvPr>
          <p:cNvSpPr/>
          <p:nvPr/>
        </p:nvSpPr>
        <p:spPr>
          <a:xfrm>
            <a:off x="4464205" y="5871117"/>
            <a:ext cx="6033034" cy="57086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34</a:t>
            </a:fld>
            <a:endParaRPr lang="zh-TW" altLang="en-US"/>
          </a:p>
        </p:txBody>
      </p:sp>
    </p:spTree>
    <p:extLst>
      <p:ext uri="{BB962C8B-B14F-4D97-AF65-F5344CB8AC3E}">
        <p14:creationId xmlns:p14="http://schemas.microsoft.com/office/powerpoint/2010/main" val="13399600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7: </a:t>
            </a:r>
            <a:r>
              <a:rPr lang="en-US" sz="3200" b="1" i="1" dirty="0"/>
              <a:t>Coverage report with </a:t>
            </a:r>
            <a:r>
              <a:rPr lang="en-US" sz="3200" b="1" i="1" dirty="0" err="1"/>
              <a:t>Jacoco</a:t>
            </a:r>
            <a:r>
              <a:rPr lang="en-US" sz="3200" b="1" i="1" dirty="0"/>
              <a:t> plugin</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In Jenkins, add the extension JaCoCo</a:t>
            </a:r>
          </a:p>
        </p:txBody>
      </p:sp>
      <p:pic>
        <p:nvPicPr>
          <p:cNvPr id="6" name="Picture 5">
            <a:extLst>
              <a:ext uri="{FF2B5EF4-FFF2-40B4-BE49-F238E27FC236}">
                <a16:creationId xmlns:a16="http://schemas.microsoft.com/office/drawing/2014/main" id="{82A73AB9-CAB0-834E-8800-8E22887E13F5}"/>
              </a:ext>
            </a:extLst>
          </p:cNvPr>
          <p:cNvPicPr>
            <a:picLocks noChangeAspect="1"/>
          </p:cNvPicPr>
          <p:nvPr/>
        </p:nvPicPr>
        <p:blipFill>
          <a:blip r:embed="rId2"/>
          <a:stretch>
            <a:fillRect/>
          </a:stretch>
        </p:blipFill>
        <p:spPr>
          <a:xfrm>
            <a:off x="1602059" y="2815682"/>
            <a:ext cx="9144000" cy="2922478"/>
          </a:xfrm>
          <a:prstGeom prst="rect">
            <a:avLst/>
          </a:prstGeom>
        </p:spPr>
      </p:pic>
      <p:sp>
        <p:nvSpPr>
          <p:cNvPr id="9" name="Rectangle 8">
            <a:extLst>
              <a:ext uri="{FF2B5EF4-FFF2-40B4-BE49-F238E27FC236}">
                <a16:creationId xmlns:a16="http://schemas.microsoft.com/office/drawing/2014/main" id="{EE2452AD-119A-2D4D-A22C-3B5E2FE6E0D2}"/>
              </a:ext>
            </a:extLst>
          </p:cNvPr>
          <p:cNvSpPr/>
          <p:nvPr/>
        </p:nvSpPr>
        <p:spPr>
          <a:xfrm>
            <a:off x="8463889" y="3058861"/>
            <a:ext cx="2129883" cy="23417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EE8D3CB-46B5-D449-9A7F-5710A400A4A4}"/>
              </a:ext>
            </a:extLst>
          </p:cNvPr>
          <p:cNvSpPr/>
          <p:nvPr/>
        </p:nvSpPr>
        <p:spPr>
          <a:xfrm>
            <a:off x="1944606" y="3811786"/>
            <a:ext cx="1174018" cy="118396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35</a:t>
            </a:fld>
            <a:endParaRPr lang="zh-TW" altLang="en-US"/>
          </a:p>
        </p:txBody>
      </p:sp>
    </p:spTree>
    <p:extLst>
      <p:ext uri="{BB962C8B-B14F-4D97-AF65-F5344CB8AC3E}">
        <p14:creationId xmlns:p14="http://schemas.microsoft.com/office/powerpoint/2010/main" val="4223194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7: </a:t>
            </a:r>
            <a:r>
              <a:rPr lang="en-US" sz="3200" b="1" i="1" dirty="0"/>
              <a:t>Coverage report with </a:t>
            </a:r>
            <a:r>
              <a:rPr lang="en-US" sz="3200" b="1" i="1" dirty="0" err="1"/>
              <a:t>Jacoco</a:t>
            </a:r>
            <a:r>
              <a:rPr lang="en-US" sz="3200" b="1" i="1" dirty="0"/>
              <a:t> plugin</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In Jenkins project</a:t>
            </a:r>
          </a:p>
          <a:p>
            <a:pPr lvl="1"/>
            <a:r>
              <a:rPr lang="en-US" dirty="0">
                <a:cs typeface="Consolas" panose="020B0609020204030204" pitchFamily="49" charset="0"/>
              </a:rPr>
              <a:t>Go to “Post-Build” section </a:t>
            </a:r>
          </a:p>
          <a:p>
            <a:pPr lvl="1"/>
            <a:r>
              <a:rPr lang="en-US" dirty="0">
                <a:cs typeface="Consolas" panose="020B0609020204030204" pitchFamily="49" charset="0"/>
              </a:rPr>
              <a:t>Add “Record JaCoCo coverage report”</a:t>
            </a:r>
          </a:p>
          <a:p>
            <a:pPr lvl="1"/>
            <a:r>
              <a:rPr lang="en-US" dirty="0">
                <a:cs typeface="Consolas" panose="020B0609020204030204" pitchFamily="49" charset="0"/>
              </a:rPr>
              <a:t>Apply</a:t>
            </a:r>
          </a:p>
        </p:txBody>
      </p:sp>
      <p:pic>
        <p:nvPicPr>
          <p:cNvPr id="5" name="Picture 4">
            <a:extLst>
              <a:ext uri="{FF2B5EF4-FFF2-40B4-BE49-F238E27FC236}">
                <a16:creationId xmlns:a16="http://schemas.microsoft.com/office/drawing/2014/main" id="{560FABA9-BC36-2047-A556-623DBE65024B}"/>
              </a:ext>
            </a:extLst>
          </p:cNvPr>
          <p:cNvPicPr>
            <a:picLocks noChangeAspect="1"/>
          </p:cNvPicPr>
          <p:nvPr/>
        </p:nvPicPr>
        <p:blipFill>
          <a:blip r:embed="rId2"/>
          <a:stretch>
            <a:fillRect/>
          </a:stretch>
        </p:blipFill>
        <p:spPr>
          <a:xfrm>
            <a:off x="4140024" y="3038048"/>
            <a:ext cx="5056132" cy="3819953"/>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36</a:t>
            </a:fld>
            <a:endParaRPr lang="zh-TW" altLang="en-US"/>
          </a:p>
        </p:txBody>
      </p:sp>
    </p:spTree>
    <p:extLst>
      <p:ext uri="{BB962C8B-B14F-4D97-AF65-F5344CB8AC3E}">
        <p14:creationId xmlns:p14="http://schemas.microsoft.com/office/powerpoint/2010/main" val="4137290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p:txBody>
          <a:bodyPr>
            <a:normAutofit/>
          </a:bodyPr>
          <a:lstStyle/>
          <a:p>
            <a:r>
              <a:rPr lang="en-US" b="1" i="1" dirty="0"/>
              <a:t>Goal 7: </a:t>
            </a:r>
            <a:r>
              <a:rPr lang="en-US" sz="3200" b="1" i="1" dirty="0"/>
              <a:t>Coverage report with </a:t>
            </a:r>
            <a:r>
              <a:rPr lang="en-US" sz="3200" b="1" i="1" dirty="0" err="1"/>
              <a:t>Jacoco</a:t>
            </a:r>
            <a:r>
              <a:rPr lang="en-US" sz="3200" b="1" i="1" dirty="0"/>
              <a:t> plugin</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r>
              <a:rPr lang="en-US" dirty="0">
                <a:cs typeface="Consolas" panose="020B0609020204030204" pitchFamily="49" charset="0"/>
              </a:rPr>
              <a:t>In the next build</a:t>
            </a:r>
          </a:p>
          <a:p>
            <a:pPr lvl="1"/>
            <a:r>
              <a:rPr lang="en-US" dirty="0">
                <a:cs typeface="Consolas" panose="020B0609020204030204" pitchFamily="49" charset="0"/>
              </a:rPr>
              <a:t>Extra coverage report is shown!</a:t>
            </a:r>
          </a:p>
        </p:txBody>
      </p:sp>
      <p:pic>
        <p:nvPicPr>
          <p:cNvPr id="6" name="Picture 5">
            <a:extLst>
              <a:ext uri="{FF2B5EF4-FFF2-40B4-BE49-F238E27FC236}">
                <a16:creationId xmlns:a16="http://schemas.microsoft.com/office/drawing/2014/main" id="{30B95A0D-D828-CC4B-90DB-DA8426957797}"/>
              </a:ext>
            </a:extLst>
          </p:cNvPr>
          <p:cNvPicPr>
            <a:picLocks noChangeAspect="1"/>
          </p:cNvPicPr>
          <p:nvPr/>
        </p:nvPicPr>
        <p:blipFill>
          <a:blip r:embed="rId2"/>
          <a:stretch>
            <a:fillRect/>
          </a:stretch>
        </p:blipFill>
        <p:spPr>
          <a:xfrm>
            <a:off x="3951257" y="2560484"/>
            <a:ext cx="4101489" cy="4297516"/>
          </a:xfrm>
          <a:prstGeom prst="rect">
            <a:avLst/>
          </a:prstGeom>
        </p:spPr>
      </p:pic>
      <p:sp>
        <p:nvSpPr>
          <p:cNvPr id="4" name="投影片編號版面配置區 3"/>
          <p:cNvSpPr>
            <a:spLocks noGrp="1"/>
          </p:cNvSpPr>
          <p:nvPr>
            <p:ph type="sldNum" sz="quarter" idx="12"/>
          </p:nvPr>
        </p:nvSpPr>
        <p:spPr/>
        <p:txBody>
          <a:bodyPr/>
          <a:lstStyle/>
          <a:p>
            <a:fld id="{21664DA0-2BCB-4BEE-B230-7CFCA9EBBD78}" type="slidenum">
              <a:rPr lang="zh-TW" altLang="en-US" smtClean="0"/>
              <a:t>37</a:t>
            </a:fld>
            <a:endParaRPr lang="zh-TW" altLang="en-US"/>
          </a:p>
        </p:txBody>
      </p:sp>
    </p:spTree>
    <p:extLst>
      <p:ext uri="{BB962C8B-B14F-4D97-AF65-F5344CB8AC3E}">
        <p14:creationId xmlns:p14="http://schemas.microsoft.com/office/powerpoint/2010/main" val="25420701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B601E-9EB9-1444-8C3B-D91319FD2506}"/>
              </a:ext>
            </a:extLst>
          </p:cNvPr>
          <p:cNvSpPr>
            <a:spLocks noGrp="1"/>
          </p:cNvSpPr>
          <p:nvPr>
            <p:ph type="title"/>
          </p:nvPr>
        </p:nvSpPr>
        <p:spPr>
          <a:xfrm>
            <a:off x="2152650" y="365127"/>
            <a:ext cx="8113906" cy="1325563"/>
          </a:xfrm>
        </p:spPr>
        <p:txBody>
          <a:bodyPr>
            <a:normAutofit fontScale="90000"/>
          </a:bodyPr>
          <a:lstStyle/>
          <a:p>
            <a:r>
              <a:rPr lang="en-US" b="1" i="1" dirty="0"/>
              <a:t>Final Goal : </a:t>
            </a:r>
            <a:br>
              <a:rPr lang="en-US" b="1" i="1" dirty="0"/>
            </a:br>
            <a:r>
              <a:rPr lang="en-US" b="1" i="1" dirty="0"/>
              <a:t>    </a:t>
            </a:r>
            <a:r>
              <a:rPr lang="en-US" sz="3200" b="1" i="1" dirty="0"/>
              <a:t>Find an external library and design your testcases</a:t>
            </a:r>
            <a:endParaRPr lang="en-US" b="1" i="1" dirty="0"/>
          </a:p>
        </p:txBody>
      </p:sp>
      <p:sp>
        <p:nvSpPr>
          <p:cNvPr id="3" name="Content Placeholder 2">
            <a:extLst>
              <a:ext uri="{FF2B5EF4-FFF2-40B4-BE49-F238E27FC236}">
                <a16:creationId xmlns:a16="http://schemas.microsoft.com/office/drawing/2014/main" id="{6DFF928A-2B91-E146-95A3-81D72D3D6A7B}"/>
              </a:ext>
            </a:extLst>
          </p:cNvPr>
          <p:cNvSpPr>
            <a:spLocks noGrp="1"/>
          </p:cNvSpPr>
          <p:nvPr>
            <p:ph idx="1"/>
          </p:nvPr>
        </p:nvSpPr>
        <p:spPr>
          <a:xfrm>
            <a:off x="2152651" y="1690689"/>
            <a:ext cx="8344589" cy="4297516"/>
          </a:xfrm>
        </p:spPr>
        <p:txBody>
          <a:bodyPr>
            <a:normAutofit/>
          </a:bodyPr>
          <a:lstStyle/>
          <a:p>
            <a:pPr marL="514350" indent="-514350">
              <a:buFont typeface="+mj-lt"/>
              <a:buAutoNum type="arabicPeriod"/>
            </a:pPr>
            <a:r>
              <a:rPr lang="en-US" dirty="0">
                <a:cs typeface="Consolas" panose="020B0609020204030204" pitchFamily="49" charset="0"/>
              </a:rPr>
              <a:t>Find a library (ex. the Sort we use in the demo)</a:t>
            </a:r>
          </a:p>
          <a:p>
            <a:pPr marL="514350" indent="-514350">
              <a:buFont typeface="+mj-lt"/>
              <a:buAutoNum type="arabicPeriod"/>
            </a:pPr>
            <a:r>
              <a:rPr lang="en-US" dirty="0">
                <a:cs typeface="Consolas" panose="020B0609020204030204" pitchFamily="49" charset="0"/>
              </a:rPr>
              <a:t>Create a Gradle project and write testcases</a:t>
            </a:r>
          </a:p>
          <a:p>
            <a:pPr marL="514350" indent="-514350">
              <a:buFont typeface="+mj-lt"/>
              <a:buAutoNum type="arabicPeriod"/>
            </a:pPr>
            <a:r>
              <a:rPr lang="en-US" dirty="0">
                <a:cs typeface="Consolas" panose="020B0609020204030204" pitchFamily="49" charset="0"/>
              </a:rPr>
              <a:t>Make sure to put it on </a:t>
            </a:r>
            <a:r>
              <a:rPr lang="en-US" dirty="0" err="1">
                <a:cs typeface="Consolas" panose="020B0609020204030204" pitchFamily="49" charset="0"/>
              </a:rPr>
              <a:t>github</a:t>
            </a:r>
            <a:endParaRPr lang="en-US" dirty="0">
              <a:cs typeface="Consolas" panose="020B0609020204030204" pitchFamily="49" charset="0"/>
            </a:endParaRPr>
          </a:p>
          <a:p>
            <a:pPr marL="514350" indent="-514350">
              <a:buFont typeface="+mj-lt"/>
              <a:buAutoNum type="arabicPeriod"/>
            </a:pPr>
            <a:r>
              <a:rPr lang="en-US" dirty="0">
                <a:cs typeface="Consolas" panose="020B0609020204030204" pitchFamily="49" charset="0"/>
              </a:rPr>
              <a:t>Automatically build and test on Jenkins!</a:t>
            </a:r>
          </a:p>
          <a:p>
            <a:pPr marL="514350" indent="-514350">
              <a:buFont typeface="+mj-lt"/>
              <a:buAutoNum type="arabicPeriod"/>
            </a:pPr>
            <a:endParaRPr lang="en-US" dirty="0">
              <a:cs typeface="Consolas" panose="020B0609020204030204" pitchFamily="49" charset="0"/>
            </a:endParaRPr>
          </a:p>
          <a:p>
            <a:pPr marL="0" indent="0">
              <a:buNone/>
            </a:pPr>
            <a:endParaRPr lang="en-US" dirty="0">
              <a:cs typeface="Consolas" panose="020B0609020204030204" pitchFamily="49" charset="0"/>
            </a:endParaRPr>
          </a:p>
          <a:p>
            <a:pPr marL="0" indent="0">
              <a:buNone/>
            </a:pPr>
            <a:r>
              <a:rPr lang="en-US" dirty="0">
                <a:cs typeface="Consolas" panose="020B0609020204030204" pitchFamily="49" charset="0"/>
              </a:rPr>
              <a:t>Git tutorial: </a:t>
            </a:r>
            <a:r>
              <a:rPr lang="en-US" dirty="0">
                <a:cs typeface="Consolas" panose="020B0609020204030204" pitchFamily="49" charset="0"/>
                <a:hlinkClick r:id="rId2"/>
              </a:rPr>
              <a:t>https://lee-w.github.io/git-tutorial/</a:t>
            </a:r>
            <a:endParaRPr lang="en-US" dirty="0">
              <a:cs typeface="Consolas" panose="020B0609020204030204" pitchFamily="49" charset="0"/>
            </a:endParaRPr>
          </a:p>
          <a:p>
            <a:pPr marL="0" indent="0">
              <a:buNone/>
            </a:pPr>
            <a:endParaRPr lang="en-US" dirty="0">
              <a:cs typeface="Consolas" panose="020B0609020204030204" pitchFamily="49" charset="0"/>
            </a:endParaRPr>
          </a:p>
          <a:p>
            <a:pPr marL="0" indent="0">
              <a:buNone/>
            </a:pPr>
            <a:endParaRPr lang="en-US" dirty="0">
              <a:cs typeface="Consolas" panose="020B0609020204030204" pitchFamily="49" charset="0"/>
            </a:endParaRPr>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38</a:t>
            </a:fld>
            <a:endParaRPr lang="zh-TW" altLang="en-US"/>
          </a:p>
        </p:txBody>
      </p:sp>
    </p:spTree>
    <p:extLst>
      <p:ext uri="{BB962C8B-B14F-4D97-AF65-F5344CB8AC3E}">
        <p14:creationId xmlns:p14="http://schemas.microsoft.com/office/powerpoint/2010/main" val="12878849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i="1" dirty="0" smtClean="0"/>
              <a:t>Score</a:t>
            </a:r>
            <a:endParaRPr lang="zh-TW" altLang="en-US" b="1" i="1" dirty="0"/>
          </a:p>
        </p:txBody>
      </p:sp>
      <p:sp>
        <p:nvSpPr>
          <p:cNvPr id="3" name="內容版面配置區 2"/>
          <p:cNvSpPr>
            <a:spLocks noGrp="1"/>
          </p:cNvSpPr>
          <p:nvPr>
            <p:ph idx="1"/>
          </p:nvPr>
        </p:nvSpPr>
        <p:spPr/>
        <p:txBody>
          <a:bodyPr/>
          <a:lstStyle/>
          <a:p>
            <a:r>
              <a:rPr lang="en-US" altLang="zh-TW" dirty="0"/>
              <a:t>rawScore(you) = #bugs-found + line-coverage * log2(#total lines of the library SUT</a:t>
            </a:r>
            <a:r>
              <a:rPr lang="en-US" altLang="zh-TW" dirty="0" smtClean="0"/>
              <a:t>)</a:t>
            </a:r>
          </a:p>
          <a:p>
            <a:r>
              <a:rPr lang="en-US" altLang="zh-TW" i="1" dirty="0" err="1"/>
              <a:t>projectScore</a:t>
            </a:r>
            <a:r>
              <a:rPr lang="en-US" altLang="zh-TW" i="1" dirty="0"/>
              <a:t>(you)</a:t>
            </a:r>
            <a:r>
              <a:rPr lang="en-US" altLang="zh-TW" dirty="0"/>
              <a:t> = 15*rawScore(you)/(max </a:t>
            </a:r>
            <a:r>
              <a:rPr lang="en-US" altLang="zh-TW" baseline="-25000" dirty="0" err="1"/>
              <a:t>anyStudent</a:t>
            </a:r>
            <a:r>
              <a:rPr lang="en-US" altLang="zh-TW" baseline="-25000" dirty="0"/>
              <a:t> s</a:t>
            </a:r>
            <a:r>
              <a:rPr lang="en-US" altLang="zh-TW" dirty="0"/>
              <a:t> rawScore(s))</a:t>
            </a:r>
            <a:endParaRPr lang="zh-TW" altLang="en-US" dirty="0"/>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39</a:t>
            </a:fld>
            <a:endParaRPr lang="zh-TW" altLang="en-US"/>
          </a:p>
        </p:txBody>
      </p:sp>
    </p:spTree>
    <p:extLst>
      <p:ext uri="{BB962C8B-B14F-4D97-AF65-F5344CB8AC3E}">
        <p14:creationId xmlns:p14="http://schemas.microsoft.com/office/powerpoint/2010/main" val="2022288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i="1" dirty="0" smtClean="0"/>
              <a:t>Submission</a:t>
            </a:r>
            <a:endParaRPr lang="zh-TW" altLang="en-US" b="1" i="1" dirty="0"/>
          </a:p>
        </p:txBody>
      </p:sp>
      <p:sp>
        <p:nvSpPr>
          <p:cNvPr id="3" name="內容版面配置區 2"/>
          <p:cNvSpPr>
            <a:spLocks noGrp="1"/>
          </p:cNvSpPr>
          <p:nvPr>
            <p:ph idx="1"/>
          </p:nvPr>
        </p:nvSpPr>
        <p:spPr/>
        <p:txBody>
          <a:bodyPr/>
          <a:lstStyle/>
          <a:p>
            <a:r>
              <a:rPr lang="en-US" altLang="zh-TW" dirty="0" smtClean="0"/>
              <a:t>Put everything in one folder named by your student id</a:t>
            </a:r>
          </a:p>
          <a:p>
            <a:r>
              <a:rPr lang="en-US" altLang="zh-TW" dirty="0" smtClean="0"/>
              <a:t>The folder should include:</a:t>
            </a:r>
          </a:p>
          <a:p>
            <a:pPr marL="514350" indent="-514350">
              <a:buAutoNum type="arabicPeriod"/>
            </a:pPr>
            <a:r>
              <a:rPr lang="en-US" altLang="zh-TW" dirty="0" smtClean="0"/>
              <a:t>Your Junit project </a:t>
            </a:r>
            <a:r>
              <a:rPr lang="en-US" altLang="zh-TW" dirty="0" err="1" smtClean="0"/>
              <a:t>Github</a:t>
            </a:r>
            <a:r>
              <a:rPr lang="en-US" altLang="zh-TW" dirty="0" smtClean="0"/>
              <a:t> repository URL</a:t>
            </a:r>
          </a:p>
          <a:p>
            <a:pPr marL="514350" indent="-514350">
              <a:buAutoNum type="arabicPeriod"/>
            </a:pPr>
            <a:r>
              <a:rPr lang="en-US" altLang="zh-TW" dirty="0" smtClean="0">
                <a:cs typeface="Consolas" panose="020B0609020204030204" pitchFamily="49" charset="0"/>
              </a:rPr>
              <a:t>Screenshot of your JaCoCo </a:t>
            </a:r>
            <a:r>
              <a:rPr lang="en-US" altLang="zh-TW" dirty="0">
                <a:cs typeface="Consolas" panose="020B0609020204030204" pitchFamily="49" charset="0"/>
              </a:rPr>
              <a:t>coverage </a:t>
            </a:r>
            <a:r>
              <a:rPr lang="en-US" altLang="zh-TW" dirty="0" smtClean="0">
                <a:cs typeface="Consolas" panose="020B0609020204030204" pitchFamily="49" charset="0"/>
              </a:rPr>
              <a:t>report</a:t>
            </a:r>
          </a:p>
          <a:p>
            <a:pPr marL="514350" indent="-514350">
              <a:buAutoNum type="arabicPeriod"/>
            </a:pPr>
            <a:r>
              <a:rPr lang="en-US" altLang="zh-TW" dirty="0" smtClean="0"/>
              <a:t>rawScore calculate yourself</a:t>
            </a:r>
          </a:p>
          <a:p>
            <a:r>
              <a:rPr lang="en-US" altLang="zh-TW" dirty="0" smtClean="0">
                <a:cs typeface="Consolas" panose="020B0609020204030204" pitchFamily="49" charset="0"/>
              </a:rPr>
              <a:t>Compress to .zip format</a:t>
            </a:r>
          </a:p>
          <a:p>
            <a:r>
              <a:rPr lang="en-US" altLang="zh-TW" dirty="0" smtClean="0">
                <a:cs typeface="Consolas" panose="020B0609020204030204" pitchFamily="49" charset="0"/>
              </a:rPr>
              <a:t>Upload to </a:t>
            </a:r>
            <a:r>
              <a:rPr lang="en-US" altLang="zh-TW" dirty="0" err="1" smtClean="0">
                <a:cs typeface="Consolas" panose="020B0609020204030204" pitchFamily="49" charset="0"/>
              </a:rPr>
              <a:t>Ceiba</a:t>
            </a:r>
            <a:endParaRPr lang="en-US" altLang="zh-TW" dirty="0" smtClean="0">
              <a:cs typeface="Consolas" panose="020B0609020204030204" pitchFamily="49" charset="0"/>
            </a:endParaRPr>
          </a:p>
          <a:p>
            <a:pPr marL="514350" indent="-514350">
              <a:buAutoNum type="arabicPeriod"/>
            </a:pPr>
            <a:endParaRPr lang="en-US" altLang="zh-TW" dirty="0" smtClean="0"/>
          </a:p>
          <a:p>
            <a:pPr marL="514350" indent="-514350">
              <a:buAutoNum type="arabicPeriod"/>
            </a:pPr>
            <a:endParaRPr lang="en-US" altLang="zh-TW" dirty="0" smtClean="0"/>
          </a:p>
          <a:p>
            <a:pPr marL="514350" indent="-514350">
              <a:buAutoNum type="arabicPeriod"/>
            </a:pPr>
            <a:endParaRPr lang="en-US" altLang="zh-TW" dirty="0" smtClean="0"/>
          </a:p>
          <a:p>
            <a:endParaRPr lang="zh-TW" altLang="en-US" dirty="0"/>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40</a:t>
            </a:fld>
            <a:endParaRPr lang="zh-TW" altLang="en-US"/>
          </a:p>
        </p:txBody>
      </p:sp>
    </p:spTree>
    <p:extLst>
      <p:ext uri="{BB962C8B-B14F-4D97-AF65-F5344CB8AC3E}">
        <p14:creationId xmlns:p14="http://schemas.microsoft.com/office/powerpoint/2010/main" val="41230947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3D654-6422-6146-8B68-3861ADC2854A}"/>
              </a:ext>
            </a:extLst>
          </p:cNvPr>
          <p:cNvSpPr>
            <a:spLocks noGrp="1"/>
          </p:cNvSpPr>
          <p:nvPr>
            <p:ph type="title"/>
          </p:nvPr>
        </p:nvSpPr>
        <p:spPr>
          <a:xfrm>
            <a:off x="2152650" y="2796092"/>
            <a:ext cx="7886700" cy="1325563"/>
          </a:xfrm>
        </p:spPr>
        <p:txBody>
          <a:bodyPr/>
          <a:lstStyle/>
          <a:p>
            <a:pPr algn="ctr"/>
            <a:r>
              <a:rPr lang="en-US" dirty="0"/>
              <a:t>End</a:t>
            </a:r>
          </a:p>
        </p:txBody>
      </p:sp>
      <p:sp>
        <p:nvSpPr>
          <p:cNvPr id="3" name="Content Placeholder 2">
            <a:extLst>
              <a:ext uri="{FF2B5EF4-FFF2-40B4-BE49-F238E27FC236}">
                <a16:creationId xmlns:a16="http://schemas.microsoft.com/office/drawing/2014/main" id="{5FC982C2-F830-B742-8EE4-F8FCDD123D24}"/>
              </a:ext>
            </a:extLst>
          </p:cNvPr>
          <p:cNvSpPr>
            <a:spLocks noGrp="1"/>
          </p:cNvSpPr>
          <p:nvPr>
            <p:ph idx="1"/>
          </p:nvPr>
        </p:nvSpPr>
        <p:spPr/>
        <p:txBody>
          <a:bodyPr/>
          <a:lstStyle/>
          <a:p>
            <a:endParaRPr lang="en-US"/>
          </a:p>
        </p:txBody>
      </p:sp>
      <p:sp>
        <p:nvSpPr>
          <p:cNvPr id="4" name="投影片編號版面配置區 3"/>
          <p:cNvSpPr>
            <a:spLocks noGrp="1"/>
          </p:cNvSpPr>
          <p:nvPr>
            <p:ph type="sldNum" sz="quarter" idx="12"/>
          </p:nvPr>
        </p:nvSpPr>
        <p:spPr/>
        <p:txBody>
          <a:bodyPr/>
          <a:lstStyle/>
          <a:p>
            <a:fld id="{21664DA0-2BCB-4BEE-B230-7CFCA9EBBD78}" type="slidenum">
              <a:rPr lang="zh-TW" altLang="en-US" smtClean="0"/>
              <a:t>41</a:t>
            </a:fld>
            <a:endParaRPr lang="zh-TW" altLang="en-US"/>
          </a:p>
        </p:txBody>
      </p:sp>
    </p:spTree>
    <p:extLst>
      <p:ext uri="{BB962C8B-B14F-4D97-AF65-F5344CB8AC3E}">
        <p14:creationId xmlns:p14="http://schemas.microsoft.com/office/powerpoint/2010/main" val="370413771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1552</TotalTime>
  <Words>990</Words>
  <Application>Microsoft Office PowerPoint</Application>
  <PresentationFormat>寬螢幕</PresentationFormat>
  <Paragraphs>198</Paragraphs>
  <Slides>41</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41</vt:i4>
      </vt:variant>
    </vt:vector>
  </HeadingPairs>
  <TitlesOfParts>
    <vt:vector size="47" baseType="lpstr">
      <vt:lpstr>新細明體</vt:lpstr>
      <vt:lpstr>Arial</vt:lpstr>
      <vt:lpstr>Calibri</vt:lpstr>
      <vt:lpstr>Calibri Light</vt:lpstr>
      <vt:lpstr>Consolas</vt:lpstr>
      <vt:lpstr>Office 佈景主題</vt:lpstr>
      <vt:lpstr>Software Testing Project1 Continuous Integration</vt:lpstr>
      <vt:lpstr>Unit Test</vt:lpstr>
      <vt:lpstr>What is CI?</vt:lpstr>
      <vt:lpstr>How CI works?</vt:lpstr>
      <vt:lpstr>What is Jenkins?</vt:lpstr>
      <vt:lpstr>Goals</vt:lpstr>
      <vt:lpstr>Prerequisite</vt:lpstr>
      <vt:lpstr>Goal 1: Create a Java project</vt:lpstr>
      <vt:lpstr>Goal 2: Use an external library</vt:lpstr>
      <vt:lpstr>Goal 3: Writing testcases</vt:lpstr>
      <vt:lpstr>Goal 3: Writing testcases</vt:lpstr>
      <vt:lpstr>Goal 3: Writing testcases</vt:lpstr>
      <vt:lpstr>Goal 3: Writing testcases</vt:lpstr>
      <vt:lpstr>Goal 3: Writing testcases</vt:lpstr>
      <vt:lpstr>Goal 3: Writing testcases</vt:lpstr>
      <vt:lpstr>Goal 3: Writing testcases</vt:lpstr>
      <vt:lpstr>Goal 3: Writing testcases</vt:lpstr>
      <vt:lpstr>Goal 4: Create a public repo and push your work</vt:lpstr>
      <vt:lpstr>Goal 4: Create a public repo and push your work</vt:lpstr>
      <vt:lpstr>Goal 4: Terminal Snapshot</vt:lpstr>
      <vt:lpstr>Goal 4: Create a public repo and push your work</vt:lpstr>
      <vt:lpstr>Goal 5: Setup Jenkins server</vt:lpstr>
      <vt:lpstr>Goal 5: Setup Jenkins server</vt:lpstr>
      <vt:lpstr>Goal 5: Setup Jenkins server</vt:lpstr>
      <vt:lpstr>Goal 5: Setup Jenkins server</vt:lpstr>
      <vt:lpstr>Goal 5: Setup Jenkins server</vt:lpstr>
      <vt:lpstr>Goal 5: Setup Jenkins server</vt:lpstr>
      <vt:lpstr>Goal 5: Setup Jenkins server</vt:lpstr>
      <vt:lpstr>Goal 5: Setup Jenkins server</vt:lpstr>
      <vt:lpstr>Goal 5: Setup Jenkins server</vt:lpstr>
      <vt:lpstr>Goal 5: Setup Jenkins server</vt:lpstr>
      <vt:lpstr>Goal 6:   Automatic fetch and build your java project from Github on Jenkins</vt:lpstr>
      <vt:lpstr>Goal 7: Coverage report with Jacoco plugin</vt:lpstr>
      <vt:lpstr>Goal 7: Coverage report with Jacoco plugin</vt:lpstr>
      <vt:lpstr>Goal 7: Coverage report with Jacoco plugin</vt:lpstr>
      <vt:lpstr>Goal 7: Coverage report with Jacoco plugin</vt:lpstr>
      <vt:lpstr>Goal 7: Coverage report with Jacoco plugin</vt:lpstr>
      <vt:lpstr>Final Goal :      Find an external library and design your testcases</vt:lpstr>
      <vt:lpstr>Score</vt:lpstr>
      <vt:lpstr>Submission</vt:lpstr>
      <vt:lpstr>End</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Testing Project1 Cunit,CppUnit,Junit Test</dc:title>
  <dc:creator>simon</dc:creator>
  <cp:lastModifiedBy>FARN</cp:lastModifiedBy>
  <cp:revision>99</cp:revision>
  <dcterms:created xsi:type="dcterms:W3CDTF">2018-09-25T03:06:26Z</dcterms:created>
  <dcterms:modified xsi:type="dcterms:W3CDTF">2018-09-27T09:29:00Z</dcterms:modified>
</cp:coreProperties>
</file>