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8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72" d="100"/>
          <a:sy n="72" d="100"/>
        </p:scale>
        <p:origin x="6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C17746-DD21-4BA9-9C37-3327C3AE8B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6E958D7-2C13-4F65-9766-A8229F32B2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6D1FC64-D65D-41AF-87A5-6508BDCD2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47E76-47AB-4B10-BF45-5B834A58A32C}" type="datetimeFigureOut">
              <a:rPr lang="zh-TW" altLang="en-US" smtClean="0"/>
              <a:t>2020/3/9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9A05A2A-42D2-4ADD-85EA-5A9DFA477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60B699-05EA-495A-BFD8-B5BF3478D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61BE-2D82-453B-90B7-12F17D58B7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2439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361387-1C85-4E05-BED7-E475FEE70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FD1C9D5-49B8-40F3-BB6D-07722861A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356DF91-1F71-4909-839C-7DC6D3F40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47E76-47AB-4B10-BF45-5B834A58A32C}" type="datetimeFigureOut">
              <a:rPr lang="zh-TW" altLang="en-US" smtClean="0"/>
              <a:t>2020/3/9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E455F6D-66D9-4FC4-AAB4-B402745FB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16C2E1F-8DDC-4D9C-9C93-4C1F4DADD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61BE-2D82-453B-90B7-12F17D58B7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2851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E71A3C-3A8A-424D-B5AF-55A9B5D41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3B9EABE-32D2-4F9E-B152-C55F7DFED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A057F71-FAE6-435F-8396-61995712C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47E76-47AB-4B10-BF45-5B834A58A32C}" type="datetimeFigureOut">
              <a:rPr lang="zh-TW" altLang="en-US" smtClean="0"/>
              <a:t>2020/3/9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D2A1424-D88B-4AC9-87B7-7F5EEA70D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C7550F-9CB3-4D75-B41E-3E80628D1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61BE-2D82-453B-90B7-12F17D58B7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5698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2B508C-3AB1-4D65-A49E-1DDB3DEBB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34C4D7E-FFFC-449D-8679-4A130C0D8F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7C700CA-5513-4DEE-B452-D1D2AD7D43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76A1B2A-3B9A-4F91-B4B4-CEE726CBF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47E76-47AB-4B10-BF45-5B834A58A32C}" type="datetimeFigureOut">
              <a:rPr lang="zh-TW" altLang="en-US" smtClean="0"/>
              <a:t>2020/3/9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4DE7916-4354-482D-820B-33A30DDA5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DEE16A2-E8DD-4AEA-8DDD-CF955C28E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61BE-2D82-453B-90B7-12F17D58B7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0448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72210F-A3EA-46D3-B36B-27C9D349A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64040E2-8F5E-4E08-8203-4825186EE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88F4D38-E53C-4192-BC31-64BD443DF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70BE912-1986-4ACF-A3BF-02FC29F315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AD453A3-AFE3-42F5-843F-19F1B4C599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1A86D0B-FB92-49DA-9C8E-051E17E96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47E76-47AB-4B10-BF45-5B834A58A32C}" type="datetimeFigureOut">
              <a:rPr lang="zh-TW" altLang="en-US" smtClean="0"/>
              <a:t>2020/3/9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8294083-ED53-453F-99EB-12EBAAEE4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D9E3663-A6C2-4976-8A14-0771D23D3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61BE-2D82-453B-90B7-12F17D58B7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0684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ED9DC6-12B7-49FB-A2FD-C57EF1A02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E48449A-00EF-410A-828D-11D4E472A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47E76-47AB-4B10-BF45-5B834A58A32C}" type="datetimeFigureOut">
              <a:rPr lang="zh-TW" altLang="en-US" smtClean="0"/>
              <a:t>2020/3/9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5323DC0-FE76-4368-BC86-124D0C195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0DDD951-24AD-48A4-81D5-164A77DFC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61BE-2D82-453B-90B7-12F17D58B7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3023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AFF357E-59ED-4F06-BF91-740F2AE51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47E76-47AB-4B10-BF45-5B834A58A32C}" type="datetimeFigureOut">
              <a:rPr lang="zh-TW" altLang="en-US" smtClean="0"/>
              <a:t>2020/3/9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8523EF2-D9CD-4808-9F1B-487AA620F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C026121-A6B0-4796-A164-42735060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61BE-2D82-453B-90B7-12F17D58B7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7913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E24B5C-ED1B-4C3C-A623-0D5372192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88C6B81-59CB-4013-87CE-ABC29ABCF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4C01745-821A-4021-886B-44DDD16519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31555C3-7ADD-406E-9E0E-85CF8A182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47E76-47AB-4B10-BF45-5B834A58A32C}" type="datetimeFigureOut">
              <a:rPr lang="zh-TW" altLang="en-US" smtClean="0"/>
              <a:t>2020/3/9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B76DDA6-FF87-49AB-83A8-DFDB8638F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75DD046-906C-4DA9-9067-A823CBD36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61BE-2D82-453B-90B7-12F17D58B7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880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BB6F11-5D7F-4D90-82B1-458BED75E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8E262BB-C04D-4233-8841-6C6AA1B63C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D64A4E0-1D5F-419E-BA6E-1498FA1078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5B3EB26-03AD-41DB-A659-5FDB52C6B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47E76-47AB-4B10-BF45-5B834A58A32C}" type="datetimeFigureOut">
              <a:rPr lang="zh-TW" altLang="en-US" smtClean="0"/>
              <a:t>2020/3/9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8BB2CF4-397D-417C-9A66-72088F564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74A89E6-251B-40BD-98EA-EF3F79DBF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61BE-2D82-453B-90B7-12F17D58B7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2141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FF353D-234E-4B83-989A-2E26E415A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46DCE1C-AC66-4C29-9259-C77C47E5C7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453724B-5A42-4B0A-BC3A-73242A4E4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47E76-47AB-4B10-BF45-5B834A58A32C}" type="datetimeFigureOut">
              <a:rPr lang="zh-TW" altLang="en-US" smtClean="0"/>
              <a:t>2020/3/9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44DF168-56C9-434E-B707-256EC9A9A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0CF8838-864C-4AC1-BE94-2A1A8BCE7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61BE-2D82-453B-90B7-12F17D58B7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8745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40E03CE-EF9B-4FB5-8A3F-38D2004EC6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039C056-F7B5-4514-A15D-60EFD20794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2AA59C3-B0FE-4C93-9FC0-923B05A9A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47E76-47AB-4B10-BF45-5B834A58A32C}" type="datetimeFigureOut">
              <a:rPr lang="zh-TW" altLang="en-US" smtClean="0"/>
              <a:t>2020/3/9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1801845-D97B-4F6C-ACBE-A306E88DF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60B40AB-8666-4E05-9B41-CE23ECDA5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F61BE-2D82-453B-90B7-12F17D58B7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1903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AFC96B9-D315-4E19-9C61-B9EDC9241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9D78B04-6676-4E54-BA03-2AA19F3F0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872227-2861-4CD1-A106-58FE1AB55D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F47E76-47AB-4B10-BF45-5B834A58A32C}" type="datetimeFigureOut">
              <a:rPr lang="zh-TW" altLang="en-US" smtClean="0"/>
              <a:t>2020/3/9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6249F44-CFAA-4AAE-A9FF-1D189DD4F5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CC8FB14-53E2-4098-AA64-54E20ABC08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9F61BE-2D82-453B-90B7-12F17D58B7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7151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uru99.com/testing-tools.html" TargetMode="External"/><Relationship Id="rId2" Type="http://schemas.openxmlformats.org/officeDocument/2006/relationships/hyperlink" Target="https://medium.com/@briananderson2209/best-automation-testing-tools-for-2018-top-10-reviews-8a4a19f664d2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softwaretestinghelp.com/software-testing-service-providers/" TargetMode="External"/><Relationship Id="rId4" Type="http://schemas.openxmlformats.org/officeDocument/2006/relationships/hyperlink" Target="https://www.softwaretestinghelp.com/top-20-automation-testing-tools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1AEB72-C952-4315-B520-B9AE490265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Software Testing Market </a:t>
            </a:r>
            <a:br>
              <a:rPr lang="en-US" altLang="zh-TW" dirty="0"/>
            </a:br>
            <a:r>
              <a:rPr lang="en-US" altLang="zh-TW" sz="8000" b="1" dirty="0">
                <a:solidFill>
                  <a:srgbClr val="002060"/>
                </a:solidFill>
              </a:rPr>
              <a:t>Survey</a:t>
            </a:r>
            <a:br>
              <a:rPr lang="en-US" altLang="zh-TW" sz="8000" dirty="0"/>
            </a:br>
            <a:r>
              <a:rPr lang="en-US" altLang="zh-TW" sz="3600" i="1" dirty="0">
                <a:solidFill>
                  <a:srgbClr val="C00000"/>
                </a:solidFill>
              </a:rPr>
              <a:t>Making a 10-min mp4 with </a:t>
            </a:r>
            <a:r>
              <a:rPr lang="en-US" altLang="zh-TW" sz="3600" i="1" dirty="0" err="1">
                <a:solidFill>
                  <a:srgbClr val="C00000"/>
                </a:solidFill>
              </a:rPr>
              <a:t>Powerpoint</a:t>
            </a:r>
            <a:r>
              <a:rPr lang="en-US" altLang="zh-TW" sz="3600" i="1" dirty="0">
                <a:solidFill>
                  <a:srgbClr val="C00000"/>
                </a:solidFill>
              </a:rPr>
              <a:t>!</a:t>
            </a:r>
            <a:endParaRPr lang="zh-TW" altLang="en-US" sz="8000" dirty="0">
              <a:solidFill>
                <a:srgbClr val="C00000"/>
              </a:solidFill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EC3E189-6D6E-49DC-B29C-9E4CF96CB4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85134"/>
            <a:ext cx="9144000" cy="1655762"/>
          </a:xfrm>
        </p:spPr>
        <p:txBody>
          <a:bodyPr>
            <a:normAutofit/>
          </a:bodyPr>
          <a:lstStyle/>
          <a:p>
            <a:r>
              <a:rPr lang="en-US" altLang="zh-TW" dirty="0"/>
              <a:t>Assignment</a:t>
            </a:r>
          </a:p>
          <a:p>
            <a:r>
              <a:rPr lang="en-US" altLang="zh-TW" dirty="0"/>
              <a:t>by </a:t>
            </a:r>
            <a:r>
              <a:rPr lang="en-US" altLang="zh-TW" dirty="0" err="1"/>
              <a:t>Farn</a:t>
            </a:r>
            <a:r>
              <a:rPr lang="en-US" altLang="zh-TW" dirty="0"/>
              <a:t> Wang</a:t>
            </a:r>
          </a:p>
          <a:p>
            <a:r>
              <a:rPr lang="en-US" altLang="zh-TW" dirty="0"/>
              <a:t>Submission deadline 2020/03/25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74895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DEEEDB-AFA3-4177-B243-FFBD4A52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solidFill>
                  <a:schemeClr val="accent1"/>
                </a:solidFill>
              </a:rPr>
              <a:t>Goal </a:t>
            </a:r>
            <a:r>
              <a:rPr lang="en-US" altLang="zh-TW" sz="2800" i="1" dirty="0"/>
              <a:t>- So that you have an idea about the opportunities in software QA and testing market</a:t>
            </a:r>
            <a:endParaRPr lang="zh-TW" altLang="en-US" sz="2800" i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F722929-F134-4837-A088-304F42F77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TW" dirty="0"/>
              <a:t>Please submit a PPT </a:t>
            </a:r>
            <a:r>
              <a:rPr lang="en-US" altLang="zh-TW" dirty="0" err="1"/>
              <a:t>ppsx</a:t>
            </a:r>
            <a:r>
              <a:rPr lang="en-US" altLang="zh-TW" dirty="0"/>
              <a:t> file (recording file) by March 25, 2020.  </a:t>
            </a:r>
          </a:p>
          <a:p>
            <a:pPr marL="0" indent="0">
              <a:buNone/>
            </a:pPr>
            <a:r>
              <a:rPr lang="en-US" altLang="zh-TW" dirty="0"/>
              <a:t>In your </a:t>
            </a:r>
            <a:r>
              <a:rPr lang="en-US" altLang="zh-TW" dirty="0" err="1"/>
              <a:t>ppsx</a:t>
            </a:r>
            <a:r>
              <a:rPr lang="en-US" altLang="zh-TW" dirty="0"/>
              <a:t>, your should analyze the following issues. </a:t>
            </a:r>
          </a:p>
          <a:p>
            <a:pPr marL="0" indent="0">
              <a:buNone/>
            </a:pPr>
            <a:endParaRPr lang="zh-TW" altLang="en-US" dirty="0"/>
          </a:p>
          <a:p>
            <a:pPr marL="514350" indent="-514350">
              <a:buAutoNum type="arabicPeriod"/>
            </a:pPr>
            <a:r>
              <a:rPr lang="en-US" altLang="zh-TW" dirty="0"/>
              <a:t>Global revenue in one year, including in-house and out-sourcing to test services. </a:t>
            </a:r>
          </a:p>
          <a:p>
            <a:pPr marL="514350" indent="-514350">
              <a:buAutoNum type="arabicPeriod"/>
            </a:pPr>
            <a:r>
              <a:rPr lang="en-US" altLang="zh-TW" dirty="0"/>
              <a:t>Growth momentum and trend of the software testing industry.</a:t>
            </a:r>
          </a:p>
          <a:p>
            <a:pPr marL="514350" indent="-514350">
              <a:buAutoNum type="arabicPeriod"/>
            </a:pPr>
            <a:r>
              <a:rPr lang="en-US" altLang="zh-TW" dirty="0"/>
              <a:t>Market value of testing tools for web, Android, iOS</a:t>
            </a:r>
            <a:r>
              <a:rPr lang="zh-TW" altLang="en-US" dirty="0"/>
              <a:t> </a:t>
            </a:r>
            <a:r>
              <a:rPr lang="en-US" altLang="zh-TW" dirty="0"/>
              <a:t>apps. </a:t>
            </a:r>
          </a:p>
          <a:p>
            <a:pPr marL="514350" indent="-514350">
              <a:buAutoNum type="arabicPeriod"/>
            </a:pPr>
            <a:r>
              <a:rPr lang="en-US" altLang="zh-TW" dirty="0"/>
              <a:t>Market value of testing service companies in one year.</a:t>
            </a:r>
          </a:p>
          <a:p>
            <a:pPr marL="514350" indent="-514350">
              <a:buAutoNum type="arabicPeriod"/>
            </a:pPr>
            <a:r>
              <a:rPr lang="en-US" altLang="zh-TW" dirty="0"/>
              <a:t>Functionalities of testing tools for web,</a:t>
            </a:r>
            <a:r>
              <a:rPr lang="zh-TW" altLang="en-US" dirty="0"/>
              <a:t> </a:t>
            </a:r>
            <a:r>
              <a:rPr lang="en-US" altLang="zh-TW" dirty="0"/>
              <a:t>Android, iOS apps. </a:t>
            </a:r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9154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DEEEDB-AFA3-4177-B243-FFBD4A526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Goal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F722929-F134-4837-A088-304F42F77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TW" dirty="0"/>
              <a:t>Some useful links:</a:t>
            </a:r>
          </a:p>
          <a:p>
            <a:r>
              <a:rPr lang="en-US" altLang="zh-TW" dirty="0"/>
              <a:t>https://www.technavio.com/research/software-testing-market</a:t>
            </a:r>
          </a:p>
          <a:p>
            <a:r>
              <a:rPr lang="en-US" altLang="zh-TW" dirty="0"/>
              <a:t>Top 10 tools: </a:t>
            </a:r>
          </a:p>
          <a:p>
            <a:pPr marL="0" indent="0" algn="ctr">
              <a:buNone/>
            </a:pPr>
            <a:r>
              <a:rPr lang="en-US" altLang="zh-TW" sz="1700" dirty="0">
                <a:hlinkClick r:id="rId2"/>
              </a:rPr>
              <a:t>https://medium.com/@briananderson2209/best-automation-testing-tools-for-2018-top-10-reviews-8a4a19f664d2</a:t>
            </a:r>
            <a:endParaRPr lang="en-US" altLang="zh-TW" sz="1700" dirty="0"/>
          </a:p>
          <a:p>
            <a:pPr lvl="1"/>
            <a:r>
              <a:rPr lang="en-US" altLang="zh-TW" dirty="0"/>
              <a:t>Many Selenium plugins are not free.  A mobile version of Selenium is Appium.</a:t>
            </a:r>
            <a:endParaRPr lang="zh-TW" altLang="en-US" dirty="0"/>
          </a:p>
          <a:p>
            <a:r>
              <a:rPr lang="en-US" altLang="zh-TW" dirty="0"/>
              <a:t>Top 50 in 2019: </a:t>
            </a:r>
          </a:p>
          <a:p>
            <a:pPr marL="0" indent="0" algn="ctr">
              <a:buNone/>
            </a:pPr>
            <a:r>
              <a:rPr lang="en-US" altLang="zh-TW" sz="2600" dirty="0">
                <a:hlinkClick r:id="rId3"/>
              </a:rPr>
              <a:t>https://www.guru99.com/testing-tools.html</a:t>
            </a:r>
            <a:endParaRPr lang="en-US" altLang="zh-TW" sz="2600" dirty="0"/>
          </a:p>
          <a:p>
            <a:r>
              <a:rPr lang="en-US" altLang="zh-TW" dirty="0"/>
              <a:t>Top 20 in 2019: </a:t>
            </a:r>
          </a:p>
          <a:p>
            <a:pPr marL="0" indent="0" algn="ctr">
              <a:buNone/>
            </a:pPr>
            <a:r>
              <a:rPr lang="en-US" altLang="zh-TW" sz="2200" dirty="0">
                <a:hlinkClick r:id="rId4"/>
              </a:rPr>
              <a:t>https://www.softwaretestinghelp.com/top-20-automation-testing-tools/</a:t>
            </a:r>
            <a:endParaRPr lang="en-US" altLang="zh-TW" sz="2200" dirty="0"/>
          </a:p>
          <a:p>
            <a:r>
              <a:rPr lang="en-US" altLang="zh-TW" dirty="0"/>
              <a:t>Top 20 testing services in 2019:</a:t>
            </a:r>
          </a:p>
          <a:p>
            <a:pPr marL="0" indent="0" algn="ctr">
              <a:buNone/>
            </a:pPr>
            <a:r>
              <a:rPr lang="en-US" altLang="zh-TW" sz="2200" dirty="0">
                <a:hlinkClick r:id="rId5"/>
              </a:rPr>
              <a:t>https://www.softwaretestinghelp.com/software-testing-service-providers/</a:t>
            </a:r>
            <a:endParaRPr lang="en-US" altLang="zh-TW" sz="2200" dirty="0"/>
          </a:p>
          <a:p>
            <a:pPr marL="0" indent="0" algn="ctr">
              <a:buNone/>
            </a:pPr>
            <a:endParaRPr lang="zh-TW" altLang="en-US" sz="2200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54419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D36552-6B19-435C-8924-6070201AD5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B032004-A6D0-43C7-93EC-E07ABB61BC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1BBB132-F9A1-45B4-BE5A-EFFC49FAE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" y="0"/>
            <a:ext cx="12144375" cy="6858000"/>
          </a:xfrm>
          <a:prstGeom prst="rect">
            <a:avLst/>
          </a:prstGeom>
        </p:spPr>
      </p:pic>
      <p:sp>
        <p:nvSpPr>
          <p:cNvPr id="5" name="橢圓 4">
            <a:extLst>
              <a:ext uri="{FF2B5EF4-FFF2-40B4-BE49-F238E27FC236}">
                <a16:creationId xmlns:a16="http://schemas.microsoft.com/office/drawing/2014/main" id="{6A1D96CB-323B-4031-A7FC-46F47DA1F544}"/>
              </a:ext>
            </a:extLst>
          </p:cNvPr>
          <p:cNvSpPr/>
          <p:nvPr/>
        </p:nvSpPr>
        <p:spPr>
          <a:xfrm>
            <a:off x="-119270" y="159026"/>
            <a:ext cx="861392" cy="51683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386CBD1-049C-4781-BE71-3DC124477373}"/>
              </a:ext>
            </a:extLst>
          </p:cNvPr>
          <p:cNvSpPr txBox="1"/>
          <p:nvPr/>
        </p:nvSpPr>
        <p:spPr>
          <a:xfrm>
            <a:off x="573462" y="511721"/>
            <a:ext cx="13547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i="1" dirty="0">
                <a:solidFill>
                  <a:srgbClr val="FF0000"/>
                </a:solidFill>
              </a:rPr>
              <a:t>Step 1</a:t>
            </a:r>
            <a:endParaRPr lang="zh-TW" altLang="en-US" sz="3600" i="1" dirty="0">
              <a:solidFill>
                <a:srgbClr val="FF0000"/>
              </a:solidFill>
            </a:endParaRPr>
          </a:p>
        </p:txBody>
      </p:sp>
      <p:sp>
        <p:nvSpPr>
          <p:cNvPr id="7" name="綵帶: 向下傾斜 6">
            <a:extLst>
              <a:ext uri="{FF2B5EF4-FFF2-40B4-BE49-F238E27FC236}">
                <a16:creationId xmlns:a16="http://schemas.microsoft.com/office/drawing/2014/main" id="{875B3CA7-0900-4AC0-BD3F-14D8586DA7D2}"/>
              </a:ext>
            </a:extLst>
          </p:cNvPr>
          <p:cNvSpPr/>
          <p:nvPr/>
        </p:nvSpPr>
        <p:spPr>
          <a:xfrm>
            <a:off x="8242853" y="548164"/>
            <a:ext cx="3670852" cy="791818"/>
          </a:xfrm>
          <a:prstGeom prst="ribbon">
            <a:avLst>
              <a:gd name="adj1" fmla="val 16667"/>
              <a:gd name="adj2" fmla="val 69731"/>
            </a:avLst>
          </a:prstGeom>
          <a:solidFill>
            <a:schemeClr val="accent2"/>
          </a:solidFill>
          <a:ln w="571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i="1" dirty="0">
                <a:solidFill>
                  <a:schemeClr val="tx1"/>
                </a:solidFill>
              </a:rPr>
              <a:t>How to make </a:t>
            </a:r>
            <a:r>
              <a:rPr lang="en-US" altLang="zh-TW" b="1" i="1" dirty="0" err="1">
                <a:solidFill>
                  <a:schemeClr val="tx1"/>
                </a:solidFill>
              </a:rPr>
              <a:t>ppsx</a:t>
            </a:r>
            <a:r>
              <a:rPr lang="en-US" altLang="zh-TW" b="1" i="1" dirty="0">
                <a:solidFill>
                  <a:schemeClr val="tx1"/>
                </a:solidFill>
              </a:rPr>
              <a:t> file ?</a:t>
            </a:r>
          </a:p>
          <a:p>
            <a:pPr algn="ctr"/>
            <a:r>
              <a:rPr lang="en-US" altLang="zh-TW" b="1" i="1" dirty="0">
                <a:solidFill>
                  <a:schemeClr val="tx1"/>
                </a:solidFill>
              </a:rPr>
              <a:t>(1/9)</a:t>
            </a:r>
            <a:endParaRPr lang="zh-TW" altLang="en-US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8062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70CF2D-EFDC-4246-BCFB-1A9CE7E7B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1746E03-8DF8-4CFE-9271-7561AF085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2741514-31E2-457F-BFDE-069B1C72F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" y="0"/>
            <a:ext cx="12144375" cy="6858000"/>
          </a:xfrm>
          <a:prstGeom prst="rect">
            <a:avLst/>
          </a:prstGeom>
        </p:spPr>
      </p:pic>
      <p:sp>
        <p:nvSpPr>
          <p:cNvPr id="5" name="橢圓 4">
            <a:extLst>
              <a:ext uri="{FF2B5EF4-FFF2-40B4-BE49-F238E27FC236}">
                <a16:creationId xmlns:a16="http://schemas.microsoft.com/office/drawing/2014/main" id="{A95A5732-0EBF-4F30-B5E0-12FD917C68C1}"/>
              </a:ext>
            </a:extLst>
          </p:cNvPr>
          <p:cNvSpPr/>
          <p:nvPr/>
        </p:nvSpPr>
        <p:spPr>
          <a:xfrm>
            <a:off x="0" y="4890053"/>
            <a:ext cx="861392" cy="51683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9FC5D8B-3BF8-4B3D-8DC0-45FE75603232}"/>
              </a:ext>
            </a:extLst>
          </p:cNvPr>
          <p:cNvSpPr txBox="1"/>
          <p:nvPr/>
        </p:nvSpPr>
        <p:spPr>
          <a:xfrm>
            <a:off x="692732" y="5242748"/>
            <a:ext cx="13387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i="1" dirty="0">
                <a:solidFill>
                  <a:srgbClr val="FF0000"/>
                </a:solidFill>
              </a:rPr>
              <a:t>Step 2</a:t>
            </a:r>
            <a:endParaRPr lang="zh-TW" altLang="en-US" sz="3600" i="1" dirty="0">
              <a:solidFill>
                <a:srgbClr val="FF0000"/>
              </a:solidFill>
            </a:endParaRPr>
          </a:p>
        </p:txBody>
      </p:sp>
      <p:sp>
        <p:nvSpPr>
          <p:cNvPr id="7" name="綵帶: 向下傾斜 6">
            <a:extLst>
              <a:ext uri="{FF2B5EF4-FFF2-40B4-BE49-F238E27FC236}">
                <a16:creationId xmlns:a16="http://schemas.microsoft.com/office/drawing/2014/main" id="{AB25514C-C92C-4250-B3A5-D6A213FB4E6C}"/>
              </a:ext>
            </a:extLst>
          </p:cNvPr>
          <p:cNvSpPr/>
          <p:nvPr/>
        </p:nvSpPr>
        <p:spPr>
          <a:xfrm>
            <a:off x="8242853" y="548164"/>
            <a:ext cx="3670852" cy="791818"/>
          </a:xfrm>
          <a:prstGeom prst="ribbon">
            <a:avLst>
              <a:gd name="adj1" fmla="val 16667"/>
              <a:gd name="adj2" fmla="val 69731"/>
            </a:avLst>
          </a:prstGeom>
          <a:solidFill>
            <a:schemeClr val="accent2"/>
          </a:solidFill>
          <a:ln w="571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i="1" dirty="0">
                <a:solidFill>
                  <a:schemeClr val="tx1"/>
                </a:solidFill>
              </a:rPr>
              <a:t>How to make </a:t>
            </a:r>
            <a:r>
              <a:rPr lang="en-US" altLang="zh-TW" b="1" i="1" dirty="0" err="1">
                <a:solidFill>
                  <a:schemeClr val="tx1"/>
                </a:solidFill>
              </a:rPr>
              <a:t>ppsx</a:t>
            </a:r>
            <a:r>
              <a:rPr lang="en-US" altLang="zh-TW" b="1" i="1" dirty="0">
                <a:solidFill>
                  <a:schemeClr val="tx1"/>
                </a:solidFill>
              </a:rPr>
              <a:t> file ?</a:t>
            </a:r>
          </a:p>
          <a:p>
            <a:pPr algn="ctr"/>
            <a:r>
              <a:rPr lang="en-US" altLang="zh-TW" b="1" i="1" dirty="0">
                <a:solidFill>
                  <a:schemeClr val="tx1"/>
                </a:solidFill>
              </a:rPr>
              <a:t>(2/9)</a:t>
            </a:r>
            <a:endParaRPr lang="zh-TW" altLang="en-US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9918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BE8AA0-F36F-4857-9DB6-17DB00AF7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86F38A-9E18-4CF0-B8A2-D514605C6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6EE8B3B-69F6-4AAC-8B58-36BD8DE43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" y="0"/>
            <a:ext cx="12144375" cy="6858000"/>
          </a:xfrm>
          <a:prstGeom prst="rect">
            <a:avLst/>
          </a:prstGeom>
        </p:spPr>
      </p:pic>
      <p:sp>
        <p:nvSpPr>
          <p:cNvPr id="5" name="橢圓 4">
            <a:extLst>
              <a:ext uri="{FF2B5EF4-FFF2-40B4-BE49-F238E27FC236}">
                <a16:creationId xmlns:a16="http://schemas.microsoft.com/office/drawing/2014/main" id="{DA3A7EC3-0B17-476D-8F88-B6F26119A756}"/>
              </a:ext>
            </a:extLst>
          </p:cNvPr>
          <p:cNvSpPr/>
          <p:nvPr/>
        </p:nvSpPr>
        <p:spPr>
          <a:xfrm>
            <a:off x="2292626" y="2160105"/>
            <a:ext cx="861392" cy="51683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130E458-CD0E-4CCD-8E33-3D27A807061F}"/>
              </a:ext>
            </a:extLst>
          </p:cNvPr>
          <p:cNvSpPr txBox="1"/>
          <p:nvPr/>
        </p:nvSpPr>
        <p:spPr>
          <a:xfrm>
            <a:off x="2985358" y="2512800"/>
            <a:ext cx="13387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i="1" dirty="0">
                <a:solidFill>
                  <a:srgbClr val="FF0000"/>
                </a:solidFill>
              </a:rPr>
              <a:t>Step 3</a:t>
            </a:r>
            <a:endParaRPr lang="zh-TW" altLang="en-US" sz="3600" i="1" dirty="0">
              <a:solidFill>
                <a:srgbClr val="FF0000"/>
              </a:solidFill>
            </a:endParaRPr>
          </a:p>
        </p:txBody>
      </p:sp>
      <p:sp>
        <p:nvSpPr>
          <p:cNvPr id="7" name="綵帶: 向下傾斜 6">
            <a:extLst>
              <a:ext uri="{FF2B5EF4-FFF2-40B4-BE49-F238E27FC236}">
                <a16:creationId xmlns:a16="http://schemas.microsoft.com/office/drawing/2014/main" id="{C4A79648-E1FB-4B14-A4DA-6D6158484C9B}"/>
              </a:ext>
            </a:extLst>
          </p:cNvPr>
          <p:cNvSpPr/>
          <p:nvPr/>
        </p:nvSpPr>
        <p:spPr>
          <a:xfrm>
            <a:off x="8242853" y="548164"/>
            <a:ext cx="3670852" cy="791818"/>
          </a:xfrm>
          <a:prstGeom prst="ribbon">
            <a:avLst>
              <a:gd name="adj1" fmla="val 16667"/>
              <a:gd name="adj2" fmla="val 69731"/>
            </a:avLst>
          </a:prstGeom>
          <a:solidFill>
            <a:schemeClr val="accent2"/>
          </a:solidFill>
          <a:ln w="571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i="1" dirty="0">
                <a:solidFill>
                  <a:schemeClr val="tx1"/>
                </a:solidFill>
              </a:rPr>
              <a:t>How to make </a:t>
            </a:r>
            <a:r>
              <a:rPr lang="en-US" altLang="zh-TW" b="1" i="1" dirty="0" err="1">
                <a:solidFill>
                  <a:schemeClr val="tx1"/>
                </a:solidFill>
              </a:rPr>
              <a:t>ppsx</a:t>
            </a:r>
            <a:r>
              <a:rPr lang="en-US" altLang="zh-TW" b="1" i="1" dirty="0">
                <a:solidFill>
                  <a:schemeClr val="tx1"/>
                </a:solidFill>
              </a:rPr>
              <a:t> file ?</a:t>
            </a:r>
          </a:p>
          <a:p>
            <a:pPr algn="ctr"/>
            <a:r>
              <a:rPr lang="en-US" altLang="zh-TW" b="1" i="1" dirty="0">
                <a:solidFill>
                  <a:schemeClr val="tx1"/>
                </a:solidFill>
              </a:rPr>
              <a:t>(3/9)</a:t>
            </a:r>
            <a:endParaRPr lang="zh-TW" altLang="en-US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3636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254A1F-DF33-4C41-8846-6AE2FD93B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A713767-EA1D-40E3-A17E-867AB66B6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94504EB-BED9-402C-B40D-09E7C2282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" y="0"/>
            <a:ext cx="12144375" cy="6858000"/>
          </a:xfrm>
          <a:prstGeom prst="rect">
            <a:avLst/>
          </a:prstGeom>
        </p:spPr>
      </p:pic>
      <p:sp>
        <p:nvSpPr>
          <p:cNvPr id="5" name="橢圓 4">
            <a:extLst>
              <a:ext uri="{FF2B5EF4-FFF2-40B4-BE49-F238E27FC236}">
                <a16:creationId xmlns:a16="http://schemas.microsoft.com/office/drawing/2014/main" id="{6E41A6CE-06AD-4347-8157-5500686BEE5F}"/>
              </a:ext>
            </a:extLst>
          </p:cNvPr>
          <p:cNvSpPr/>
          <p:nvPr/>
        </p:nvSpPr>
        <p:spPr>
          <a:xfrm>
            <a:off x="8415131" y="5795065"/>
            <a:ext cx="861392" cy="51683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6633F21-BC6D-4299-86DC-4BA00BC98C0A}"/>
              </a:ext>
            </a:extLst>
          </p:cNvPr>
          <p:cNvSpPr txBox="1"/>
          <p:nvPr/>
        </p:nvSpPr>
        <p:spPr>
          <a:xfrm>
            <a:off x="9276523" y="5547985"/>
            <a:ext cx="13387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i="1" dirty="0">
                <a:solidFill>
                  <a:srgbClr val="FF0000"/>
                </a:solidFill>
              </a:rPr>
              <a:t>Step 5</a:t>
            </a:r>
            <a:endParaRPr lang="zh-TW" altLang="en-US" sz="3600" i="1" dirty="0">
              <a:solidFill>
                <a:srgbClr val="FF0000"/>
              </a:solidFill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37582C00-847C-44D4-A076-F47EF73CB378}"/>
              </a:ext>
            </a:extLst>
          </p:cNvPr>
          <p:cNvSpPr/>
          <p:nvPr/>
        </p:nvSpPr>
        <p:spPr>
          <a:xfrm>
            <a:off x="6672469" y="4003670"/>
            <a:ext cx="861392" cy="16414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094F73E-4036-42A1-B854-0BBD2AA91E77}"/>
              </a:ext>
            </a:extLst>
          </p:cNvPr>
          <p:cNvSpPr txBox="1"/>
          <p:nvPr/>
        </p:nvSpPr>
        <p:spPr>
          <a:xfrm>
            <a:off x="7365201" y="4003670"/>
            <a:ext cx="13387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i="1" dirty="0">
                <a:solidFill>
                  <a:srgbClr val="FF0000"/>
                </a:solidFill>
              </a:rPr>
              <a:t>Step 4</a:t>
            </a:r>
            <a:endParaRPr lang="zh-TW" altLang="en-US" sz="3600" i="1" dirty="0">
              <a:solidFill>
                <a:srgbClr val="FF0000"/>
              </a:solidFill>
            </a:endParaRPr>
          </a:p>
        </p:txBody>
      </p:sp>
      <p:sp>
        <p:nvSpPr>
          <p:cNvPr id="9" name="綵帶: 向下傾斜 8">
            <a:extLst>
              <a:ext uri="{FF2B5EF4-FFF2-40B4-BE49-F238E27FC236}">
                <a16:creationId xmlns:a16="http://schemas.microsoft.com/office/drawing/2014/main" id="{7ECEC445-353A-4B73-B4A0-9F19DF41715A}"/>
              </a:ext>
            </a:extLst>
          </p:cNvPr>
          <p:cNvSpPr/>
          <p:nvPr/>
        </p:nvSpPr>
        <p:spPr>
          <a:xfrm>
            <a:off x="8242853" y="548164"/>
            <a:ext cx="3670852" cy="791818"/>
          </a:xfrm>
          <a:prstGeom prst="ribbon">
            <a:avLst>
              <a:gd name="adj1" fmla="val 16667"/>
              <a:gd name="adj2" fmla="val 69731"/>
            </a:avLst>
          </a:prstGeom>
          <a:solidFill>
            <a:schemeClr val="accent2"/>
          </a:solidFill>
          <a:ln w="571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i="1" dirty="0">
                <a:solidFill>
                  <a:schemeClr val="tx1"/>
                </a:solidFill>
              </a:rPr>
              <a:t>How to make </a:t>
            </a:r>
            <a:r>
              <a:rPr lang="en-US" altLang="zh-TW" b="1" i="1" dirty="0" err="1">
                <a:solidFill>
                  <a:schemeClr val="tx1"/>
                </a:solidFill>
              </a:rPr>
              <a:t>ppsx</a:t>
            </a:r>
            <a:r>
              <a:rPr lang="en-US" altLang="zh-TW" b="1" i="1" dirty="0">
                <a:solidFill>
                  <a:schemeClr val="tx1"/>
                </a:solidFill>
              </a:rPr>
              <a:t> file ?</a:t>
            </a:r>
          </a:p>
          <a:p>
            <a:pPr algn="ctr"/>
            <a:r>
              <a:rPr lang="en-US" altLang="zh-TW" b="1" i="1" dirty="0">
                <a:solidFill>
                  <a:schemeClr val="tx1"/>
                </a:solidFill>
              </a:rPr>
              <a:t>(4/9)</a:t>
            </a:r>
            <a:endParaRPr lang="zh-TW" altLang="en-US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093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82868B-667E-4C20-92E8-200A628CC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0BEACB8-69CC-4F4E-8509-DF02EDBE5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72AF80B-8BA7-4A76-9303-52838256D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" y="0"/>
            <a:ext cx="12144375" cy="6858000"/>
          </a:xfrm>
          <a:prstGeom prst="rect">
            <a:avLst/>
          </a:prstGeom>
        </p:spPr>
      </p:pic>
      <p:sp>
        <p:nvSpPr>
          <p:cNvPr id="5" name="橢圓 4">
            <a:extLst>
              <a:ext uri="{FF2B5EF4-FFF2-40B4-BE49-F238E27FC236}">
                <a16:creationId xmlns:a16="http://schemas.microsoft.com/office/drawing/2014/main" id="{66B4C567-06F8-423C-968A-92136D427019}"/>
              </a:ext>
            </a:extLst>
          </p:cNvPr>
          <p:cNvSpPr/>
          <p:nvPr/>
        </p:nvSpPr>
        <p:spPr>
          <a:xfrm>
            <a:off x="4784035" y="164202"/>
            <a:ext cx="861392" cy="51683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AFB1572-476B-4262-B7F8-ADCF38C26E61}"/>
              </a:ext>
            </a:extLst>
          </p:cNvPr>
          <p:cNvSpPr txBox="1"/>
          <p:nvPr/>
        </p:nvSpPr>
        <p:spPr>
          <a:xfrm>
            <a:off x="5476767" y="516897"/>
            <a:ext cx="13387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i="1" dirty="0">
                <a:solidFill>
                  <a:srgbClr val="FF0000"/>
                </a:solidFill>
              </a:rPr>
              <a:t>Step 6</a:t>
            </a:r>
            <a:endParaRPr lang="zh-TW" altLang="en-US" sz="3600" i="1" dirty="0">
              <a:solidFill>
                <a:srgbClr val="FF0000"/>
              </a:solidFill>
            </a:endParaRPr>
          </a:p>
        </p:txBody>
      </p:sp>
      <p:sp>
        <p:nvSpPr>
          <p:cNvPr id="7" name="綵帶: 向下傾斜 6">
            <a:extLst>
              <a:ext uri="{FF2B5EF4-FFF2-40B4-BE49-F238E27FC236}">
                <a16:creationId xmlns:a16="http://schemas.microsoft.com/office/drawing/2014/main" id="{4A833867-BA4F-46F8-9FD6-3E4E982170B4}"/>
              </a:ext>
            </a:extLst>
          </p:cNvPr>
          <p:cNvSpPr/>
          <p:nvPr/>
        </p:nvSpPr>
        <p:spPr>
          <a:xfrm>
            <a:off x="8242853" y="548164"/>
            <a:ext cx="3670852" cy="791818"/>
          </a:xfrm>
          <a:prstGeom prst="ribbon">
            <a:avLst>
              <a:gd name="adj1" fmla="val 16667"/>
              <a:gd name="adj2" fmla="val 69731"/>
            </a:avLst>
          </a:prstGeom>
          <a:solidFill>
            <a:schemeClr val="accent2"/>
          </a:solidFill>
          <a:ln w="571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i="1" dirty="0">
                <a:solidFill>
                  <a:schemeClr val="tx1"/>
                </a:solidFill>
              </a:rPr>
              <a:t>How to make </a:t>
            </a:r>
            <a:r>
              <a:rPr lang="en-US" altLang="zh-TW" b="1" i="1" dirty="0" err="1">
                <a:solidFill>
                  <a:schemeClr val="tx1"/>
                </a:solidFill>
              </a:rPr>
              <a:t>ppsx</a:t>
            </a:r>
            <a:r>
              <a:rPr lang="en-US" altLang="zh-TW" b="1" i="1" dirty="0">
                <a:solidFill>
                  <a:schemeClr val="tx1"/>
                </a:solidFill>
              </a:rPr>
              <a:t> file ?</a:t>
            </a:r>
          </a:p>
          <a:p>
            <a:pPr algn="ctr"/>
            <a:r>
              <a:rPr lang="en-US" altLang="zh-TW" b="1" i="1" dirty="0">
                <a:solidFill>
                  <a:schemeClr val="tx1"/>
                </a:solidFill>
              </a:rPr>
              <a:t>(5/9)</a:t>
            </a:r>
            <a:endParaRPr lang="zh-TW" altLang="en-US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8759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98CE27-2646-4D93-9B87-B232CF9F7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A5526D2-F566-46AB-9CB5-FDEFFDEC8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2B2BBDE-E47B-4531-BD79-9FE3C38C5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" y="0"/>
            <a:ext cx="12144375" cy="6858000"/>
          </a:xfrm>
          <a:prstGeom prst="rect">
            <a:avLst/>
          </a:prstGeom>
        </p:spPr>
      </p:pic>
      <p:sp>
        <p:nvSpPr>
          <p:cNvPr id="5" name="橢圓 4">
            <a:extLst>
              <a:ext uri="{FF2B5EF4-FFF2-40B4-BE49-F238E27FC236}">
                <a16:creationId xmlns:a16="http://schemas.microsoft.com/office/drawing/2014/main" id="{B6A79809-15BE-40EE-B6C9-B279F7C0616C}"/>
              </a:ext>
            </a:extLst>
          </p:cNvPr>
          <p:cNvSpPr/>
          <p:nvPr/>
        </p:nvSpPr>
        <p:spPr>
          <a:xfrm>
            <a:off x="23812" y="537844"/>
            <a:ext cx="861392" cy="74761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F27F7FC-236E-4571-BDCE-9037953E99B7}"/>
              </a:ext>
            </a:extLst>
          </p:cNvPr>
          <p:cNvSpPr txBox="1"/>
          <p:nvPr/>
        </p:nvSpPr>
        <p:spPr>
          <a:xfrm>
            <a:off x="716544" y="890539"/>
            <a:ext cx="13387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i="1" dirty="0">
                <a:solidFill>
                  <a:srgbClr val="FF0000"/>
                </a:solidFill>
              </a:rPr>
              <a:t>Step 7</a:t>
            </a:r>
            <a:endParaRPr lang="zh-TW" altLang="en-US" sz="3600" i="1" dirty="0">
              <a:solidFill>
                <a:srgbClr val="FF0000"/>
              </a:solidFill>
            </a:endParaRPr>
          </a:p>
        </p:txBody>
      </p:sp>
      <p:sp>
        <p:nvSpPr>
          <p:cNvPr id="7" name="綵帶: 向下傾斜 6">
            <a:extLst>
              <a:ext uri="{FF2B5EF4-FFF2-40B4-BE49-F238E27FC236}">
                <a16:creationId xmlns:a16="http://schemas.microsoft.com/office/drawing/2014/main" id="{3F8E05A1-F153-40F8-ADDF-4326DA81F173}"/>
              </a:ext>
            </a:extLst>
          </p:cNvPr>
          <p:cNvSpPr/>
          <p:nvPr/>
        </p:nvSpPr>
        <p:spPr>
          <a:xfrm>
            <a:off x="8242853" y="548164"/>
            <a:ext cx="3670852" cy="791818"/>
          </a:xfrm>
          <a:prstGeom prst="ribbon">
            <a:avLst>
              <a:gd name="adj1" fmla="val 16667"/>
              <a:gd name="adj2" fmla="val 69731"/>
            </a:avLst>
          </a:prstGeom>
          <a:solidFill>
            <a:schemeClr val="accent2"/>
          </a:solidFill>
          <a:ln w="571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i="1" dirty="0">
                <a:solidFill>
                  <a:schemeClr val="tx1"/>
                </a:solidFill>
              </a:rPr>
              <a:t>How to make </a:t>
            </a:r>
            <a:r>
              <a:rPr lang="en-US" altLang="zh-TW" b="1" i="1" dirty="0" err="1">
                <a:solidFill>
                  <a:schemeClr val="tx1"/>
                </a:solidFill>
              </a:rPr>
              <a:t>ppsx</a:t>
            </a:r>
            <a:r>
              <a:rPr lang="en-US" altLang="zh-TW" b="1" i="1" dirty="0">
                <a:solidFill>
                  <a:schemeClr val="tx1"/>
                </a:solidFill>
              </a:rPr>
              <a:t> file ?</a:t>
            </a:r>
          </a:p>
          <a:p>
            <a:pPr algn="ctr"/>
            <a:r>
              <a:rPr lang="en-US" altLang="zh-TW" b="1" i="1" dirty="0">
                <a:solidFill>
                  <a:schemeClr val="tx1"/>
                </a:solidFill>
              </a:rPr>
              <a:t>(6/9)</a:t>
            </a:r>
            <a:endParaRPr lang="zh-TW" altLang="en-US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9247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20EC4D-2892-458B-9CCA-9D1D9D63D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EE64AD2-A40B-4F9A-9CAB-CCE4FC500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F406D5A-99CD-4C12-9F4D-1CAE3CC3C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" y="0"/>
            <a:ext cx="12144375" cy="6858000"/>
          </a:xfrm>
          <a:prstGeom prst="rect">
            <a:avLst/>
          </a:prstGeom>
        </p:spPr>
      </p:pic>
      <p:sp>
        <p:nvSpPr>
          <p:cNvPr id="5" name="橢圓 4">
            <a:extLst>
              <a:ext uri="{FF2B5EF4-FFF2-40B4-BE49-F238E27FC236}">
                <a16:creationId xmlns:a16="http://schemas.microsoft.com/office/drawing/2014/main" id="{AD7C31E0-90B8-477D-9E68-4FC07F45559B}"/>
              </a:ext>
            </a:extLst>
          </p:cNvPr>
          <p:cNvSpPr/>
          <p:nvPr/>
        </p:nvSpPr>
        <p:spPr>
          <a:xfrm>
            <a:off x="938434" y="106707"/>
            <a:ext cx="651827" cy="83165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51FC93A-B2B9-4909-A224-380ABD64198B}"/>
              </a:ext>
            </a:extLst>
          </p:cNvPr>
          <p:cNvSpPr txBox="1"/>
          <p:nvPr/>
        </p:nvSpPr>
        <p:spPr>
          <a:xfrm>
            <a:off x="1590261" y="577982"/>
            <a:ext cx="13387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i="1" dirty="0">
                <a:solidFill>
                  <a:srgbClr val="FF0000"/>
                </a:solidFill>
              </a:rPr>
              <a:t>Step 9</a:t>
            </a:r>
            <a:endParaRPr lang="zh-TW" altLang="en-US" sz="3600" i="1" dirty="0">
              <a:solidFill>
                <a:srgbClr val="FF0000"/>
              </a:solidFill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E4217716-4A69-4F4E-96C6-28770A14746F}"/>
              </a:ext>
            </a:extLst>
          </p:cNvPr>
          <p:cNvSpPr/>
          <p:nvPr/>
        </p:nvSpPr>
        <p:spPr>
          <a:xfrm>
            <a:off x="437322" y="106707"/>
            <a:ext cx="501112" cy="79444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5918CBB-83ED-490F-8BFE-E0E03C7D24C8}"/>
              </a:ext>
            </a:extLst>
          </p:cNvPr>
          <p:cNvSpPr txBox="1"/>
          <p:nvPr/>
        </p:nvSpPr>
        <p:spPr>
          <a:xfrm>
            <a:off x="-31589" y="918501"/>
            <a:ext cx="13387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i="1" dirty="0">
                <a:solidFill>
                  <a:srgbClr val="FF0000"/>
                </a:solidFill>
              </a:rPr>
              <a:t>Step 8</a:t>
            </a:r>
            <a:endParaRPr lang="zh-TW" altLang="en-US" sz="3600" i="1" dirty="0">
              <a:solidFill>
                <a:srgbClr val="FF0000"/>
              </a:solidFill>
            </a:endParaRPr>
          </a:p>
        </p:txBody>
      </p:sp>
      <p:sp>
        <p:nvSpPr>
          <p:cNvPr id="9" name="綵帶: 向下傾斜 8">
            <a:extLst>
              <a:ext uri="{FF2B5EF4-FFF2-40B4-BE49-F238E27FC236}">
                <a16:creationId xmlns:a16="http://schemas.microsoft.com/office/drawing/2014/main" id="{0D02797F-91AB-4890-9F05-76116F2D112A}"/>
              </a:ext>
            </a:extLst>
          </p:cNvPr>
          <p:cNvSpPr/>
          <p:nvPr/>
        </p:nvSpPr>
        <p:spPr>
          <a:xfrm>
            <a:off x="8242853" y="548164"/>
            <a:ext cx="3670852" cy="791818"/>
          </a:xfrm>
          <a:prstGeom prst="ribbon">
            <a:avLst>
              <a:gd name="adj1" fmla="val 16667"/>
              <a:gd name="adj2" fmla="val 69731"/>
            </a:avLst>
          </a:prstGeom>
          <a:solidFill>
            <a:schemeClr val="accent2"/>
          </a:solidFill>
          <a:ln w="571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i="1" dirty="0">
                <a:solidFill>
                  <a:schemeClr val="tx1"/>
                </a:solidFill>
              </a:rPr>
              <a:t>How to make </a:t>
            </a:r>
            <a:r>
              <a:rPr lang="en-US" altLang="zh-TW" b="1" i="1" dirty="0" err="1">
                <a:solidFill>
                  <a:schemeClr val="tx1"/>
                </a:solidFill>
              </a:rPr>
              <a:t>ppsx</a:t>
            </a:r>
            <a:r>
              <a:rPr lang="en-US" altLang="zh-TW" b="1" i="1" dirty="0">
                <a:solidFill>
                  <a:schemeClr val="tx1"/>
                </a:solidFill>
              </a:rPr>
              <a:t> file ?</a:t>
            </a:r>
          </a:p>
          <a:p>
            <a:pPr algn="ctr"/>
            <a:r>
              <a:rPr lang="en-US" altLang="zh-TW" b="1" i="1" dirty="0">
                <a:solidFill>
                  <a:schemeClr val="tx1"/>
                </a:solidFill>
              </a:rPr>
              <a:t>(7/9)</a:t>
            </a:r>
            <a:endParaRPr lang="zh-TW" altLang="en-US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4961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98CE27-2646-4D93-9B87-B232CF9F7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A5526D2-F566-46AB-9CB5-FDEFFDEC8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2B2BBDE-E47B-4531-BD79-9FE3C38C5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" y="0"/>
            <a:ext cx="12144375" cy="6858000"/>
          </a:xfrm>
          <a:prstGeom prst="rect">
            <a:avLst/>
          </a:prstGeom>
        </p:spPr>
      </p:pic>
      <p:sp>
        <p:nvSpPr>
          <p:cNvPr id="5" name="橢圓 4">
            <a:extLst>
              <a:ext uri="{FF2B5EF4-FFF2-40B4-BE49-F238E27FC236}">
                <a16:creationId xmlns:a16="http://schemas.microsoft.com/office/drawing/2014/main" id="{B14B2526-FF36-4012-9820-3B3A9D666559}"/>
              </a:ext>
            </a:extLst>
          </p:cNvPr>
          <p:cNvSpPr/>
          <p:nvPr/>
        </p:nvSpPr>
        <p:spPr>
          <a:xfrm>
            <a:off x="2726788" y="511071"/>
            <a:ext cx="665769" cy="97317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62EE52-EB45-4184-A479-8539BE88023E}"/>
              </a:ext>
            </a:extLst>
          </p:cNvPr>
          <p:cNvSpPr txBox="1"/>
          <p:nvPr/>
        </p:nvSpPr>
        <p:spPr>
          <a:xfrm>
            <a:off x="2190227" y="1434991"/>
            <a:ext cx="1566326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i="1" dirty="0">
                <a:solidFill>
                  <a:srgbClr val="FF0000"/>
                </a:solidFill>
              </a:rPr>
              <a:t>Step 9: </a:t>
            </a:r>
          </a:p>
          <a:p>
            <a:r>
              <a:rPr lang="en-US" altLang="zh-TW" sz="2800" i="1" dirty="0">
                <a:solidFill>
                  <a:schemeClr val="accent2">
                    <a:lumMod val="75000"/>
                  </a:schemeClr>
                </a:solidFill>
              </a:rPr>
              <a:t>Generate</a:t>
            </a:r>
          </a:p>
          <a:p>
            <a:r>
              <a:rPr lang="en-US" altLang="zh-TW" sz="2800" i="1" dirty="0" err="1">
                <a:solidFill>
                  <a:schemeClr val="accent2">
                    <a:lumMod val="75000"/>
                  </a:schemeClr>
                </a:solidFill>
              </a:rPr>
              <a:t>ppsx</a:t>
            </a:r>
            <a:r>
              <a:rPr lang="en-US" altLang="zh-TW" sz="2800" i="1" dirty="0">
                <a:solidFill>
                  <a:schemeClr val="accent2">
                    <a:lumMod val="75000"/>
                  </a:schemeClr>
                </a:solidFill>
              </a:rPr>
              <a:t>!</a:t>
            </a:r>
            <a:endParaRPr lang="zh-TW" altLang="en-US" sz="2800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DC9A30DA-02CB-43A6-87DB-AEDDF436176C}"/>
              </a:ext>
            </a:extLst>
          </p:cNvPr>
          <p:cNvSpPr/>
          <p:nvPr/>
        </p:nvSpPr>
        <p:spPr>
          <a:xfrm>
            <a:off x="3249713" y="511071"/>
            <a:ext cx="861392" cy="78898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B960439-3A85-4EBB-A338-15F4498CC809}"/>
              </a:ext>
            </a:extLst>
          </p:cNvPr>
          <p:cNvSpPr txBox="1"/>
          <p:nvPr/>
        </p:nvSpPr>
        <p:spPr>
          <a:xfrm>
            <a:off x="3942444" y="863766"/>
            <a:ext cx="4525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i="1" dirty="0">
                <a:solidFill>
                  <a:srgbClr val="FF0000"/>
                </a:solidFill>
              </a:rPr>
              <a:t>Step 10: </a:t>
            </a:r>
            <a:r>
              <a:rPr lang="en-US" altLang="zh-TW" sz="3200" i="1" dirty="0">
                <a:solidFill>
                  <a:schemeClr val="accent2">
                    <a:lumMod val="75000"/>
                  </a:schemeClr>
                </a:solidFill>
              </a:rPr>
              <a:t>Generate mp4!</a:t>
            </a:r>
            <a:endParaRPr lang="zh-TW" altLang="en-US" sz="3200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" name="綵帶: 向下傾斜 8">
            <a:extLst>
              <a:ext uri="{FF2B5EF4-FFF2-40B4-BE49-F238E27FC236}">
                <a16:creationId xmlns:a16="http://schemas.microsoft.com/office/drawing/2014/main" id="{C8880DC5-BA89-40BD-8EB5-0C05D2F28A80}"/>
              </a:ext>
            </a:extLst>
          </p:cNvPr>
          <p:cNvSpPr/>
          <p:nvPr/>
        </p:nvSpPr>
        <p:spPr>
          <a:xfrm>
            <a:off x="8242853" y="548164"/>
            <a:ext cx="3670852" cy="791818"/>
          </a:xfrm>
          <a:prstGeom prst="ribbon">
            <a:avLst>
              <a:gd name="adj1" fmla="val 16667"/>
              <a:gd name="adj2" fmla="val 69731"/>
            </a:avLst>
          </a:prstGeom>
          <a:solidFill>
            <a:schemeClr val="accent2"/>
          </a:solidFill>
          <a:ln w="571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i="1" dirty="0">
                <a:solidFill>
                  <a:schemeClr val="tx1"/>
                </a:solidFill>
              </a:rPr>
              <a:t>How to make </a:t>
            </a:r>
            <a:r>
              <a:rPr lang="en-US" altLang="zh-TW" b="1" i="1" dirty="0" err="1">
                <a:solidFill>
                  <a:schemeClr val="tx1"/>
                </a:solidFill>
              </a:rPr>
              <a:t>ppsx</a:t>
            </a:r>
            <a:r>
              <a:rPr lang="en-US" altLang="zh-TW" b="1" i="1" dirty="0">
                <a:solidFill>
                  <a:schemeClr val="tx1"/>
                </a:solidFill>
              </a:rPr>
              <a:t> file ?</a:t>
            </a:r>
          </a:p>
          <a:p>
            <a:pPr algn="ctr"/>
            <a:r>
              <a:rPr lang="en-US" altLang="zh-TW" b="1" i="1" dirty="0">
                <a:solidFill>
                  <a:schemeClr val="tx1"/>
                </a:solidFill>
              </a:rPr>
              <a:t>(8/9)</a:t>
            </a:r>
            <a:endParaRPr lang="zh-TW" altLang="en-US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2822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05C5E8-A75D-4409-96F6-B4CA9FCB2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72B7A7-1194-4B01-8D81-7F9F156B9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1837355-6E86-4F62-B5E4-E2B7880EC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" y="0"/>
            <a:ext cx="12144375" cy="6858000"/>
          </a:xfrm>
          <a:prstGeom prst="rect">
            <a:avLst/>
          </a:prstGeom>
        </p:spPr>
      </p:pic>
      <p:sp>
        <p:nvSpPr>
          <p:cNvPr id="5" name="橢圓 4">
            <a:extLst>
              <a:ext uri="{FF2B5EF4-FFF2-40B4-BE49-F238E27FC236}">
                <a16:creationId xmlns:a16="http://schemas.microsoft.com/office/drawing/2014/main" id="{C3464779-25D9-40DC-ABCE-B0D6D3B7CBB7}"/>
              </a:ext>
            </a:extLst>
          </p:cNvPr>
          <p:cNvSpPr/>
          <p:nvPr/>
        </p:nvSpPr>
        <p:spPr>
          <a:xfrm>
            <a:off x="4134678" y="3502887"/>
            <a:ext cx="1232451" cy="102935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75786AF-B5EB-469C-8E94-3AED58C1A430}"/>
              </a:ext>
            </a:extLst>
          </p:cNvPr>
          <p:cNvSpPr txBox="1"/>
          <p:nvPr/>
        </p:nvSpPr>
        <p:spPr>
          <a:xfrm>
            <a:off x="5367129" y="4001294"/>
            <a:ext cx="15727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i="1" dirty="0">
                <a:solidFill>
                  <a:srgbClr val="FF0000"/>
                </a:solidFill>
              </a:rPr>
              <a:t>Step 11</a:t>
            </a:r>
            <a:endParaRPr lang="zh-TW" altLang="en-US" sz="3600" i="1" dirty="0">
              <a:solidFill>
                <a:srgbClr val="FF0000"/>
              </a:solidFill>
            </a:endParaRPr>
          </a:p>
        </p:txBody>
      </p:sp>
      <p:sp>
        <p:nvSpPr>
          <p:cNvPr id="7" name="綵帶: 向下傾斜 6">
            <a:extLst>
              <a:ext uri="{FF2B5EF4-FFF2-40B4-BE49-F238E27FC236}">
                <a16:creationId xmlns:a16="http://schemas.microsoft.com/office/drawing/2014/main" id="{0AA22D86-37C6-497D-8251-9205C069449C}"/>
              </a:ext>
            </a:extLst>
          </p:cNvPr>
          <p:cNvSpPr/>
          <p:nvPr/>
        </p:nvSpPr>
        <p:spPr>
          <a:xfrm>
            <a:off x="8242853" y="548164"/>
            <a:ext cx="3670852" cy="791818"/>
          </a:xfrm>
          <a:prstGeom prst="ribbon">
            <a:avLst>
              <a:gd name="adj1" fmla="val 16667"/>
              <a:gd name="adj2" fmla="val 69731"/>
            </a:avLst>
          </a:prstGeom>
          <a:solidFill>
            <a:schemeClr val="accent2"/>
          </a:solidFill>
          <a:ln w="571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i="1" dirty="0">
                <a:solidFill>
                  <a:schemeClr val="tx1"/>
                </a:solidFill>
              </a:rPr>
              <a:t>How to make </a:t>
            </a:r>
            <a:r>
              <a:rPr lang="en-US" altLang="zh-TW" b="1" i="1" dirty="0" err="1">
                <a:solidFill>
                  <a:schemeClr val="tx1"/>
                </a:solidFill>
              </a:rPr>
              <a:t>ppsx</a:t>
            </a:r>
            <a:r>
              <a:rPr lang="en-US" altLang="zh-TW" b="1" i="1" dirty="0">
                <a:solidFill>
                  <a:schemeClr val="tx1"/>
                </a:solidFill>
              </a:rPr>
              <a:t> file ?</a:t>
            </a:r>
          </a:p>
          <a:p>
            <a:pPr algn="ctr"/>
            <a:r>
              <a:rPr lang="en-US" altLang="zh-TW" b="1" i="1" dirty="0">
                <a:solidFill>
                  <a:schemeClr val="tx1"/>
                </a:solidFill>
              </a:rPr>
              <a:t>(9/9)</a:t>
            </a:r>
            <a:endParaRPr lang="zh-TW" altLang="en-US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538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328</Words>
  <Application>Microsoft Office PowerPoint</Application>
  <PresentationFormat>寬螢幕</PresentationFormat>
  <Paragraphs>57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新細明體</vt:lpstr>
      <vt:lpstr>Arial</vt:lpstr>
      <vt:lpstr>Calibri</vt:lpstr>
      <vt:lpstr>Calibri Light</vt:lpstr>
      <vt:lpstr>Office 佈景主題</vt:lpstr>
      <vt:lpstr>Software Testing Market  Survey Making a 10-min mp4 with Powerpoint!</vt:lpstr>
      <vt:lpstr>Goal - So that you have an idea about the opportunities in software QA and testing market</vt:lpstr>
      <vt:lpstr>Goal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Testing Market  Survey Making a 10-min mp4 with Powerpoint!</dc:title>
  <dc:creator>FARN</dc:creator>
  <cp:lastModifiedBy>FARN</cp:lastModifiedBy>
  <cp:revision>5</cp:revision>
  <dcterms:created xsi:type="dcterms:W3CDTF">2020-03-09T05:06:59Z</dcterms:created>
  <dcterms:modified xsi:type="dcterms:W3CDTF">2020-03-09T05:33:33Z</dcterms:modified>
</cp:coreProperties>
</file>