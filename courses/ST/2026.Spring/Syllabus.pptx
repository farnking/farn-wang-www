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65" r:id="rId1"/>
  </p:sldMasterIdLst>
  <p:notesMasterIdLst>
    <p:notesMasterId r:id="rId34"/>
  </p:notesMasterIdLst>
  <p:handoutMasterIdLst>
    <p:handoutMasterId r:id="rId35"/>
  </p:handoutMasterIdLst>
  <p:sldIdLst>
    <p:sldId id="336" r:id="rId2"/>
    <p:sldId id="511" r:id="rId3"/>
    <p:sldId id="471" r:id="rId4"/>
    <p:sldId id="683" r:id="rId5"/>
    <p:sldId id="577" r:id="rId6"/>
    <p:sldId id="682" r:id="rId7"/>
    <p:sldId id="685" r:id="rId8"/>
    <p:sldId id="684" r:id="rId9"/>
    <p:sldId id="686" r:id="rId10"/>
    <p:sldId id="578" r:id="rId11"/>
    <p:sldId id="579" r:id="rId12"/>
    <p:sldId id="691" r:id="rId13"/>
    <p:sldId id="465" r:id="rId14"/>
    <p:sldId id="472" r:id="rId15"/>
    <p:sldId id="524" r:id="rId16"/>
    <p:sldId id="526" r:id="rId17"/>
    <p:sldId id="977" r:id="rId18"/>
    <p:sldId id="317" r:id="rId19"/>
    <p:sldId id="319" r:id="rId20"/>
    <p:sldId id="575" r:id="rId21"/>
    <p:sldId id="687" r:id="rId22"/>
    <p:sldId id="344" r:id="rId23"/>
    <p:sldId id="572" r:id="rId24"/>
    <p:sldId id="527" r:id="rId25"/>
    <p:sldId id="507" r:id="rId26"/>
    <p:sldId id="508" r:id="rId27"/>
    <p:sldId id="509" r:id="rId28"/>
    <p:sldId id="510" r:id="rId29"/>
    <p:sldId id="514" r:id="rId30"/>
    <p:sldId id="533" r:id="rId31"/>
    <p:sldId id="513" r:id="rId32"/>
    <p:sldId id="512" r:id="rId33"/>
  </p:sldIdLst>
  <p:sldSz cx="9144000" cy="6858000" type="screen4x3"/>
  <p:notesSz cx="7315200" cy="96012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1E5A"/>
    <a:srgbClr val="00FF00"/>
    <a:srgbClr val="0000CC"/>
    <a:srgbClr val="0014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31" autoAdjust="0"/>
  </p:normalViewPr>
  <p:slideViewPr>
    <p:cSldViewPr snapToGrid="0">
      <p:cViewPr varScale="1">
        <p:scale>
          <a:sx n="62" d="100"/>
          <a:sy n="62" d="100"/>
        </p:scale>
        <p:origin x="1352" y="68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370844-D1F2-4528-8D60-CB104FEA9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1327212-FB83-4062-BDF2-B8FE863CCB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5C491B-F85F-4E4E-BB04-39DAE207E2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D948304-55E0-40BF-9F11-B851D005CA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fld id="{CD99912A-0628-4823-B136-D40CC8FD1F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8A4522-0744-414F-940C-8F40FF333C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7427713-DC27-4E42-9F64-8674210A82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897707-D18B-4AAA-8675-495597139F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76509A6-258F-4163-88FF-DF596595DE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CA50831-9127-4B10-9B2F-C5798AB68D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E8E8D27-A7BE-49B8-A8D0-9041F379B0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9" tIns="48661" rIns="97319" bIns="48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45BE0C0-809B-46D8-9613-8EC0B11D680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6" name="Rectangle 8">
            <a:extLst>
              <a:ext uri="{FF2B5EF4-FFF2-40B4-BE49-F238E27FC236}">
                <a16:creationId xmlns:a16="http://schemas.microsoft.com/office/drawing/2014/main" id="{76BCECE3-F92E-4201-8E78-2AC1B296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9144000"/>
            <a:ext cx="731837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8" tIns="46983" rIns="92288" bIns="46983">
            <a:spAutoFit/>
          </a:bodyPr>
          <a:lstStyle>
            <a:lvl1pPr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400" b="0">
                <a:solidFill>
                  <a:schemeClr val="tx1"/>
                </a:solidFill>
              </a:rPr>
              <a:t>Page </a:t>
            </a:r>
            <a:fld id="{05CFF13C-2E90-46CA-BC8A-7D2958CBF6B7}" type="slidenum">
              <a:rPr lang="en-US" altLang="zh-TW" sz="1400" b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0775B91-AD1F-44C8-B7A6-194B9115BA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A334D0D-0B4B-4A1A-B9BF-B34D73B3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4674DE2-8D01-411A-BC09-BC9F0155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6ACB12E-7FF2-40E8-9945-BA387A061325}" type="slidenum">
              <a:rPr lang="en-US" altLang="zh-TW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61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這是美國軟體業某資深經理人</a:t>
            </a:r>
          </a:p>
          <a:p>
            <a:r>
              <a:rPr lang="zh-TW" altLang="en-US" dirty="0"/>
              <a:t>對軟體測試的時間成本的評估。</a:t>
            </a:r>
          </a:p>
          <a:p>
            <a:r>
              <a:rPr lang="zh-TW" altLang="en-US" dirty="0"/>
              <a:t>基本上一個分散式</a:t>
            </a:r>
            <a:r>
              <a:rPr lang="en-US" altLang="zh-TW" dirty="0"/>
              <a:t>APP</a:t>
            </a:r>
            <a:r>
              <a:rPr lang="zh-TW" altLang="en-US" dirty="0"/>
              <a:t>，也就是需要伺服機，</a:t>
            </a:r>
          </a:p>
          <a:p>
            <a:r>
              <a:rPr lang="zh-TW" altLang="en-US" dirty="0"/>
              <a:t>並且還有用戶端使用者圖型介面，</a:t>
            </a:r>
          </a:p>
          <a:p>
            <a:r>
              <a:rPr lang="zh-TW" altLang="en-US" dirty="0"/>
              <a:t>可能高達</a:t>
            </a:r>
            <a:r>
              <a:rPr lang="en-US" altLang="zh-TW" dirty="0"/>
              <a:t>50</a:t>
            </a:r>
            <a:r>
              <a:rPr lang="zh-TW" altLang="en-US" dirty="0"/>
              <a:t>％的開發時間用在測試上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347FC-1E8F-E045-AFFD-19151A338C7C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4061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但話說回來，大家都在寫程式到現在已經七八十年了，驗收流程一直都存在，為什麼我們公司還有機會呢？</a:t>
            </a:r>
          </a:p>
          <a:p>
            <a:r>
              <a:rPr lang="zh-TW" altLang="en-US" dirty="0"/>
              <a:t> </a:t>
            </a:r>
          </a:p>
          <a:p>
            <a:r>
              <a:rPr lang="zh-TW" altLang="en-US" dirty="0"/>
              <a:t>這主要是一直到今天，資訊產業，</a:t>
            </a:r>
          </a:p>
          <a:p>
            <a:r>
              <a:rPr lang="zh-TW" altLang="en-US" dirty="0"/>
              <a:t>譬如在敏捷式測試中，包含</a:t>
            </a:r>
          </a:p>
          <a:p>
            <a:r>
              <a:rPr lang="zh-TW" altLang="en-US" dirty="0"/>
              <a:t>使用者經驗測試、</a:t>
            </a:r>
          </a:p>
          <a:p>
            <a:r>
              <a:rPr lang="zh-TW" altLang="en-US" dirty="0"/>
              <a:t>場景測試、</a:t>
            </a:r>
          </a:p>
          <a:p>
            <a:r>
              <a:rPr lang="zh-TW" altLang="en-US" dirty="0"/>
              <a:t>故事測試</a:t>
            </a:r>
          </a:p>
          <a:p>
            <a:r>
              <a:rPr lang="zh-TW" altLang="en-US" dirty="0"/>
              <a:t>都還需要人工撰寫腳本與評估程序，</a:t>
            </a:r>
          </a:p>
          <a:p>
            <a:r>
              <a:rPr lang="zh-TW" altLang="en-US" dirty="0"/>
              <a:t> </a:t>
            </a:r>
          </a:p>
          <a:p>
            <a:r>
              <a:rPr lang="zh-TW" altLang="en-US" dirty="0"/>
              <a:t>即使探索測試由於路徑爆炸問題，也需要避免隨機亂測，導致在有限測試成本下錯過</a:t>
            </a:r>
            <a:r>
              <a:rPr lang="en-US" altLang="zh-TW" dirty="0"/>
              <a:t>critical cases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347FC-1E8F-E045-AFFD-19151A338C7C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0157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4354-FAAD-3A20-BAF8-C5C9079E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B045206-D1BC-A5E5-D589-67AED5568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1D024F-958A-0BA6-EE50-104D38AB0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破題很重要</a:t>
            </a:r>
            <a:endParaRPr lang="en-US" altLang="zh-TW" dirty="0"/>
          </a:p>
          <a:p>
            <a:pPr marL="285750" indent="-285750" algn="l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四頁的痛點還不知道要賣甚麼東西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認知偏誤：難以突破非線性邊際案例</a:t>
            </a:r>
          </a:p>
          <a:p>
            <a:pPr marL="285750" indent="-285750" algn="l">
              <a:spcBef>
                <a:spcPts val="60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環境侷限：無法模擬全球動態組合</a:t>
            </a:r>
            <a:endParaRPr lang="en-US" altLang="zh-TW" sz="1200" b="0" i="0" dirty="0">
              <a:solidFill>
                <a:srgbClr val="334155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l">
              <a:spcBef>
                <a:spcPts val="60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US" altLang="zh-TW" sz="1200" b="0" i="0" dirty="0">
              <a:solidFill>
                <a:srgbClr val="334155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l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人力缺口：高品質專家僅佔約 </a:t>
            </a:r>
            <a:r>
              <a:rPr lang="en-US" altLang="zh-TW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</a:p>
          <a:p>
            <a:pPr marL="285750" indent="-285750" algn="l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參與動機與黏著度：缺乏長期有效激勵機制</a:t>
            </a:r>
            <a:endParaRPr lang="en-US" altLang="zh-TW" sz="1200" b="0" i="0" dirty="0">
              <a:solidFill>
                <a:srgbClr val="334155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l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機敏資產：</a:t>
            </a:r>
            <a:r>
              <a:rPr lang="en-US" altLang="zh-TW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IP </a:t>
            </a:r>
            <a:r>
              <a:rPr lang="zh-TW" altLang="en-US" sz="1200" b="0" i="0" dirty="0">
                <a:solidFill>
                  <a:srgbClr val="33415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保護與群眾參與的矛盾</a:t>
            </a:r>
          </a:p>
          <a:p>
            <a:pPr marL="285750" indent="-285750" algn="l">
              <a:spcBef>
                <a:spcPts val="60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zh-TW" altLang="en-US" sz="1200" b="0" i="0" dirty="0">
              <a:solidFill>
                <a:srgbClr val="334155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DC2743-7371-E5D8-DF84-2F80CE76F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27E1B57-3F63-CD4A-A52F-E750D232699F}" type="slidenum">
              <a:rPr lang="en-US" altLang="zh-TW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37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61E85-4278-89DD-324C-18D28A97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5C21FE-872D-DCCD-70DA-866AFBA07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407186-173C-E5DB-DA0B-70C8A24DA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轉換驗證是在驗證甚麼，每頁驗證都很好但是都起來不知道說甚麼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BED1A0-C7C3-5449-394B-B3B3AE45C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27E1B57-3F63-CD4A-A52F-E750D232699F}" type="slidenum">
              <a:rPr lang="en-US" altLang="zh-TW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504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153425-8468-4505-B2B4-985D19F2C509}" type="slidenum">
              <a:rPr lang="zh-TW" altLang="en-US" smtClean="0"/>
              <a:pPr>
                <a:spcBef>
                  <a:spcPct val="0"/>
                </a:spcBef>
              </a:pPr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885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862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56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27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35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13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29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558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883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83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3512A-C98C-4A4B-ABD1-959A9FC71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F25623-F671-4CF7-98D3-E5650ADF1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9907F5-8CA1-4290-8BF2-0EFA8DD9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ECEE8C-443F-4F98-8200-1A20A3AD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3E5AC6-BE8A-4EB2-A26D-A15DBC4F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438715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72180-86BE-4D05-A918-BB563E5C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82DE18-75EA-4E77-9769-CC7564B54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41274-CD07-4F93-B327-A90EFC80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874632-824A-42AD-930E-4F6B8029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880BDC-35AB-44D9-AE7A-4595218B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55546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5A969E-E4A3-4E93-9C6B-09C56931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8DCEBB-704A-49F1-9CFE-7ADDE0095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5769AA-7413-4F23-AD82-A58147EB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232342-6126-4931-A32E-55CA0FEE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837527-5E64-47DA-8601-99EE9867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092563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6F35B-F96B-4864-9475-AB49516E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19B4D2-0C3F-4DBB-A8BC-006437211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718853-6D8E-409E-AAFF-D1BDCFFE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5223C0-6ACD-41E5-9958-125CDD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A67934-8157-4603-8346-1151C831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85F9FB-9027-4CB4-B6E5-092DE27E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655418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68967-F9D4-4535-9B12-74967A9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61B981-51DB-4F4D-916A-553676E3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4D411E-312C-4242-8BCF-B3EC2340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86FF8F-1E86-44F7-8A94-A1F7F07B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DC3BC5-B4F7-40D8-882D-25D181FE5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3365C0-4736-4A93-8395-B1D2F561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9E2FD7C-70A3-4336-BAF2-DEAAE86F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6ECFE2-9C86-495B-9DF4-397BCBFB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676085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0DE38-CEE2-448B-BBC1-FFE8B96D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C7E0319-B63B-40AD-8FE8-C28014D8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A37CA3C-5AFE-4B3E-8025-6FC4A65B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68EF8B-1E76-4F14-AF98-0AD1A81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9892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F67C3D-9AAA-4012-895E-9E1A897F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5A284C-3E86-4F60-AE18-11CE8C6E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AF3165-DC61-4B89-8493-6B394031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304900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82D61-7B00-4CE8-A0C1-ACBB4B1C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6482E9-3FC8-4EA3-ADA9-92CB7A652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CB4A33-31E8-49F9-8555-EC2242BE4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74D361E-87B2-422B-9443-CDF3546F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3F5CA0-A75F-4A42-9F65-01AFB1BB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A30802-E468-4BC3-8A56-A09AA5BE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037397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F5B04-E852-4649-8BBB-2C608FE5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3EE4B81-EEF6-48D5-9367-C9A72601E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33EC58-38EE-41B5-937B-D595CF727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4D9403-8A88-4E72-9F6F-D500E1BF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79EAF8-0158-4ED1-B575-DEAA4792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8A3BF0-7FF6-495C-B4BC-ECB6F2EB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059905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86EA0-6D0A-4F52-A0F5-AF162E2A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8AE09D-5067-4DE8-883E-A944148B1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B2866-4697-4E70-8E2A-15563B4E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7E69D2-32B2-4130-B2CF-0B879EF5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E8E365-0814-4A54-933A-0F9636BF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230422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1B5909-D929-420D-A808-D602B7323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54491-7367-49F4-A015-3428A508E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EF7048-EF40-487D-BBD9-07909196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E4C0DC-ABF5-446C-849C-75455B68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C9620-431B-4D40-A393-5AC55AF8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990273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C69191-32F8-41AD-A03E-1DFC12F6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505798-BC9D-4317-9E15-2A79EC7C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001CD-1AE2-401F-B161-B5AFB7A2F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ED707-B6F9-40F9-8AE1-CBFD3D1FF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2693FD-F400-4F1B-BA40-65FE0AC87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169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f11921091@ntu.edu.t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rformancelab.com.br/home" TargetMode="External"/><Relationship Id="rId3" Type="http://schemas.openxmlformats.org/officeDocument/2006/relationships/hyperlink" Target="https://www.v-cubed.net/" TargetMode="External"/><Relationship Id="rId7" Type="http://schemas.openxmlformats.org/officeDocument/2006/relationships/hyperlink" Target="https://www.parasoft.com/" TargetMode="External"/><Relationship Id="rId2" Type="http://schemas.openxmlformats.org/officeDocument/2006/relationships/hyperlink" Target="https://www.qualitylogic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otys.com/" TargetMode="External"/><Relationship Id="rId11" Type="http://schemas.openxmlformats.org/officeDocument/2006/relationships/hyperlink" Target="https://tenon.io/" TargetMode="External"/><Relationship Id="rId5" Type="http://schemas.openxmlformats.org/officeDocument/2006/relationships/hyperlink" Target="http://www.itautomation.com/" TargetMode="External"/><Relationship Id="rId10" Type="http://schemas.openxmlformats.org/officeDocument/2006/relationships/hyperlink" Target="https://www.symbio.com/" TargetMode="External"/><Relationship Id="rId4" Type="http://schemas.openxmlformats.org/officeDocument/2006/relationships/hyperlink" Target="http://www.valuestreamengineers.com/" TargetMode="External"/><Relationship Id="rId9" Type="http://schemas.openxmlformats.org/officeDocument/2006/relationships/hyperlink" Target="https://www.scnsoft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testing.cioreview.com/cxoinsight/the-cost-of-software-testing-nid-27746-cid-112.html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4A73DA-1E6B-477E-9F30-09885ACEA5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533400"/>
            <a:ext cx="9144000" cy="2870200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altLang="zh-TW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Software Testing &amp; Security Checking</a:t>
            </a:r>
            <a:br>
              <a:rPr lang="en-US" altLang="zh-TW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Spring 2026, EE 5191</a:t>
            </a:r>
            <a:b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b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Syllabus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68FFC3-A138-4177-885A-695A10CAB4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5944" y="3918028"/>
            <a:ext cx="7012112" cy="20951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zh-TW" altLang="en-US" sz="280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王凡 </a:t>
            </a:r>
            <a:r>
              <a:rPr lang="zh-TW" altLang="en-US" sz="2800" dirty="0">
                <a:ea typeface="新細明體" panose="02020500000000000000" pitchFamily="18" charset="-120"/>
              </a:rPr>
              <a:t>（</a:t>
            </a:r>
            <a:r>
              <a:rPr lang="en-US" altLang="zh-TW" sz="2800" dirty="0" err="1">
                <a:ea typeface="新細明體" panose="02020500000000000000" pitchFamily="18" charset="-120"/>
              </a:rPr>
              <a:t>Farn</a:t>
            </a:r>
            <a:r>
              <a:rPr lang="en-US" altLang="zh-TW" sz="2800" dirty="0">
                <a:ea typeface="新細明體" panose="02020500000000000000" pitchFamily="18" charset="-120"/>
              </a:rPr>
              <a:t> Wang</a:t>
            </a:r>
            <a:r>
              <a:rPr lang="zh-TW" altLang="en-US" sz="2800" dirty="0">
                <a:ea typeface="新細明體" panose="02020500000000000000" pitchFamily="18" charset="-120"/>
              </a:rPr>
              <a:t>）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r>
              <a:rPr lang="hsb-DE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https://farnking.github.io/Farn-Wang-WWW/courses/ST/2026.Spring</a:t>
            </a:r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  <a:p>
            <a:r>
              <a:rPr lang="zh-TW" altLang="en-US" b="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國立臺灣大學 電機工程學系</a:t>
            </a:r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</p:txBody>
      </p:sp>
    </p:spTree>
  </p:cSld>
  <p:clrMapOvr>
    <a:masterClrMapping/>
  </p:clrMapOvr>
  <p:transition spd="med" advTm="6643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866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Textbook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54" y="1366560"/>
            <a:ext cx="8126691" cy="10866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3200" b="0" dirty="0">
                <a:ea typeface="新細明體" panose="02020500000000000000" pitchFamily="18" charset="-120"/>
              </a:rPr>
              <a:t>Introduction to Software Testing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zh-TW" sz="900" b="0" dirty="0"/>
          </a:p>
        </p:txBody>
      </p:sp>
      <p:pic>
        <p:nvPicPr>
          <p:cNvPr id="196610" name="Picture 2" descr="https://cs.gmu.edu/~offutt/softwaretest/SecondEditionCover.jpg">
            <a:extLst>
              <a:ext uri="{FF2B5EF4-FFF2-40B4-BE49-F238E27FC236}">
                <a16:creationId xmlns:a16="http://schemas.microsoft.com/office/drawing/2014/main" id="{1EDE5AF5-4B43-443C-8415-D961C98DC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3" y="1937061"/>
            <a:ext cx="2802718" cy="403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EAD921-61C2-4FF4-8C01-3BBE00B1B006}"/>
              </a:ext>
            </a:extLst>
          </p:cNvPr>
          <p:cNvSpPr txBox="1">
            <a:spLocks/>
          </p:cNvSpPr>
          <p:nvPr/>
        </p:nvSpPr>
        <p:spPr bwMode="auto">
          <a:xfrm>
            <a:off x="3440550" y="2500587"/>
            <a:ext cx="5347196" cy="267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Monotype Sorts"/>
              <a:buNone/>
            </a:pPr>
            <a:r>
              <a:rPr lang="en-US" altLang="zh-TW" sz="2800" b="0" i="1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Paul Ammann and Jeff Offutt</a:t>
            </a:r>
          </a:p>
          <a:p>
            <a:pPr marL="0" indent="0">
              <a:buFont typeface="Monotype Sorts"/>
              <a:buNone/>
            </a:pPr>
            <a:endParaRPr lang="en-US" altLang="zh-TW" sz="2800" b="0" kern="0" dirty="0">
              <a:solidFill>
                <a:schemeClr val="accent1"/>
              </a:solidFill>
              <a:ea typeface="新細明體" panose="02020500000000000000" pitchFamily="18" charset="-120"/>
            </a:endParaRP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related materials in </a:t>
            </a: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http://cs.gmu.edu/~offutt/softwaretest/</a:t>
            </a:r>
          </a:p>
        </p:txBody>
      </p:sp>
    </p:spTree>
    <p:extLst>
      <p:ext uri="{BB962C8B-B14F-4D97-AF65-F5344CB8AC3E}">
        <p14:creationId xmlns:p14="http://schemas.microsoft.com/office/powerpoint/2010/main" val="1568211718"/>
      </p:ext>
    </p:extLst>
  </p:cSld>
  <p:clrMapOvr>
    <a:masterClrMapping/>
  </p:clrMapOvr>
  <p:transition spd="med" advTm="1067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Class</a:t>
            </a:r>
            <a:r>
              <a:rPr lang="zh-TW" altLang="en-US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 </a:t>
            </a:r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Information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15440"/>
            <a:ext cx="8323580" cy="4761547"/>
          </a:xfrm>
        </p:spPr>
        <p:txBody>
          <a:bodyPr>
            <a:normAutofit/>
          </a:bodyPr>
          <a:lstStyle/>
          <a:p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課號：</a:t>
            </a:r>
            <a:r>
              <a:rPr lang="en-US" altLang="zh-TW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EE</a:t>
            </a:r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solidFill>
                  <a:schemeClr val="tx2"/>
                </a:solidFill>
              </a:rPr>
              <a:t>5191		Credits: 3</a:t>
            </a:r>
            <a:endParaRPr lang="en-US" altLang="zh-TW" sz="2800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</a:rPr>
              <a:t>Spring 2026, </a:t>
            </a:r>
            <a:r>
              <a:rPr lang="en-US" altLang="zh-TW" sz="2400" dirty="0">
                <a:ea typeface="新細明體" panose="02020500000000000000" pitchFamily="18" charset="-120"/>
              </a:rPr>
              <a:t>Fri</a:t>
            </a:r>
            <a:r>
              <a:rPr lang="en-US" altLang="zh-TW" sz="2400" b="0" dirty="0">
                <a:ea typeface="新細明體" panose="02020500000000000000" pitchFamily="18" charset="-120"/>
              </a:rPr>
              <a:t>day, 9:10am-12:00noon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Classroom: BL 212              </a:t>
            </a:r>
          </a:p>
          <a:p>
            <a:r>
              <a:rPr lang="zh-TW" altLang="en-US" sz="2800" b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王 凡 教授</a:t>
            </a:r>
            <a:endParaRPr lang="en-US" altLang="zh-TW" sz="2800" b="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dirty="0">
                <a:ea typeface="新細明體" panose="02020500000000000000" pitchFamily="18" charset="-120"/>
              </a:rPr>
              <a:t>528</a:t>
            </a:r>
            <a:r>
              <a:rPr lang="zh-TW" altLang="en-US" sz="2400" b="0" dirty="0">
                <a:ea typeface="新細明體" panose="02020500000000000000" pitchFamily="18" charset="-120"/>
              </a:rPr>
              <a:t>，</a:t>
            </a:r>
            <a:r>
              <a:rPr lang="en-US" altLang="zh-TW" sz="2400" b="0" dirty="0">
                <a:ea typeface="新細明體" panose="02020500000000000000" pitchFamily="18" charset="-120"/>
              </a:rPr>
              <a:t>02-33663602</a:t>
            </a:r>
          </a:p>
          <a:p>
            <a:pPr marL="342900" lvl="1" indent="0">
              <a:buNone/>
            </a:pPr>
            <a:r>
              <a:rPr lang="en-US" altLang="zh-TW" b="0" dirty="0"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hsb-DE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https://farnking.github.io/Farn-Wang-WWW/ </a:t>
            </a:r>
            <a:endParaRPr lang="en-US" altLang="zh-TW" b="0" dirty="0">
              <a:ea typeface="新細明體" panose="02020500000000000000" pitchFamily="18" charset="-120"/>
            </a:endParaRPr>
          </a:p>
          <a:p>
            <a:r>
              <a:rPr lang="zh-TW" altLang="en-US" sz="2800" b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助教：楊冠彥</a:t>
            </a:r>
            <a:endParaRPr lang="en-US" altLang="zh-TW" sz="2800" b="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ea typeface="新細明體" panose="02020500000000000000" pitchFamily="18" charset="-120"/>
              </a:rPr>
              <a:t>618</a:t>
            </a: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  <a:hlinkClick r:id="rId4"/>
              </a:rPr>
              <a:t>f11921091@ntu.edu.tw</a:t>
            </a:r>
            <a:endParaRPr lang="en-US" altLang="zh-TW" sz="2400" b="0" dirty="0"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</a:rPr>
              <a:t>Office hour: </a:t>
            </a:r>
            <a:r>
              <a:rPr lang="en-US" altLang="zh-TW" sz="2400" dirty="0">
                <a:ea typeface="新細明體" panose="02020500000000000000" pitchFamily="18" charset="-120"/>
              </a:rPr>
              <a:t>Fri</a:t>
            </a:r>
            <a:r>
              <a:rPr lang="en-US" altLang="zh-TW" sz="2400" b="0" dirty="0">
                <a:ea typeface="新細明體" panose="02020500000000000000" pitchFamily="18" charset="-120"/>
              </a:rPr>
              <a:t>day 12:00noon -13:00pm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0DA960-A70A-42C6-99B1-78814E79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zh-TW" sz="900" b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587D1AF-59C5-49A5-A63F-3FC6FE693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351" y="3532323"/>
            <a:ext cx="2822749" cy="2810422"/>
          </a:xfrm>
          <a:prstGeom prst="rect">
            <a:avLst/>
          </a:prstGeom>
        </p:spPr>
      </p:pic>
    </p:spTree>
  </p:cSld>
  <p:clrMapOvr>
    <a:masterClrMapping/>
  </p:clrMapOvr>
  <p:transition spd="med" advTm="150162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246880" y="1338360"/>
            <a:ext cx="4724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測試成本居高不下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30-35%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研發成本：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具圖形介面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35-50%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：如果還有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持續高漲中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AD641DD-1CC9-4791-BCFE-4F69FF63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0" y="1338360"/>
            <a:ext cx="3668510" cy="32369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A4DA3D5-9B1D-46E7-9F13-8C945E2FFF5C}"/>
              </a:ext>
            </a:extLst>
          </p:cNvPr>
          <p:cNvSpPr/>
          <p:nvPr/>
        </p:nvSpPr>
        <p:spPr>
          <a:xfrm>
            <a:off x="1478845" y="408671"/>
            <a:ext cx="5994009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423AE3-983A-40F2-80D3-DAE70F24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735548"/>
            <a:ext cx="7886700" cy="179733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b="0">
                <a:ea typeface="新細明體" panose="02020500000000000000" pitchFamily="18" charset="-120"/>
              </a:rPr>
              <a:t>Software </a:t>
            </a:r>
            <a:r>
              <a:rPr lang="en-US" altLang="zh-TW" sz="2800">
                <a:ea typeface="新細明體" panose="02020500000000000000" pitchFamily="18" charset="-120"/>
              </a:rPr>
              <a:t>QA &amp; </a:t>
            </a:r>
            <a:r>
              <a:rPr lang="en-US" altLang="zh-TW" sz="2800" b="0">
                <a:ea typeface="新細明體" panose="02020500000000000000" pitchFamily="18" charset="-120"/>
              </a:rPr>
              <a:t>security is a highly visible and fast-growing sector of software testing.  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Taiwan's high-tech companies do not think that they should spend money in software testing.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>
                <a:ea typeface="新細明體" panose="02020500000000000000" pitchFamily="18" charset="-120"/>
              </a:rPr>
              <a:t>Taiwan's industrial strength in OEM and ODM</a:t>
            </a:r>
            <a:endParaRPr lang="en-US" altLang="zh-TW" sz="2400" b="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132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8"/>
            <a:ext cx="6346433" cy="93380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2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140046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軟體品管預算膨脹迅速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目前一般軟體開發計畫，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％以上成本與時間都花在測試與品管。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若能降低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％軟體品管成本，就可提昇公司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％獲利。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軟體品管技術交流不易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空有天下優良軟體工程師，卻只能進行手工測試。</a:t>
            </a: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目前一般透過網路廣告，測試需求顧客與軟體測試服務公司個別接洽！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底層結構（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infrastructure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）把持在少數測試工具公司！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0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241927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F84B5086-D804-450D-9FB9-9B7C9DF627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55584"/>
            <a:ext cx="4572000" cy="4006859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77466E3D-3F92-49F0-BFE2-86671C019D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2262669"/>
            <a:ext cx="4687173" cy="40346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854AB49-389B-46DF-B836-A7BB8C7878D2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85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C3EDB2AD-F371-4A58-92F0-E14A6AC357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1F1CAE03-12C2-40BA-8B88-64306CBBA1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054" y="2035717"/>
            <a:ext cx="6746452" cy="236307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FAC212A5-5CDC-4C17-A658-08687D437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2" y="3962718"/>
            <a:ext cx="8775698" cy="26786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E2077E5-08AB-4509-AD29-88BC42D7D4AF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0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D8FA6331-2785-46E4-80A7-4357D714D1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49C9D773-69D5-41B2-BAD3-501CB50E3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035319"/>
            <a:ext cx="3531049" cy="4605988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D4FD266D-F4BF-41F3-9973-E83806F6C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249" y="2108916"/>
            <a:ext cx="4806585" cy="459788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59D80B-6C62-4FC6-B1C9-23A273AB74F9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D8FA6331-2785-46E4-80A7-4357D714D1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4A570471-E2A8-4182-AAAB-CC4955265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9" y="2128754"/>
            <a:ext cx="8910725" cy="46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42434"/>
          </a:xfrm>
          <a:solidFill>
            <a:schemeClr val="accent2"/>
          </a:solidFill>
        </p:spPr>
        <p:txBody>
          <a:bodyPr/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3200" i="1" dirty="0"/>
              <a:t>Functional Testing</a:t>
            </a:r>
          </a:p>
          <a:p>
            <a:r>
              <a:rPr lang="en-US" altLang="zh-TW" sz="2700" dirty="0"/>
              <a:t>Unit testing</a:t>
            </a:r>
          </a:p>
          <a:p>
            <a:r>
              <a:rPr lang="en-US" altLang="zh-TW" sz="2700" dirty="0"/>
              <a:t>Integration testing</a:t>
            </a:r>
          </a:p>
          <a:p>
            <a:r>
              <a:rPr lang="en-US" altLang="zh-TW" sz="2700" dirty="0"/>
              <a:t>End-to-end testing</a:t>
            </a:r>
          </a:p>
          <a:p>
            <a:r>
              <a:rPr lang="en-US" altLang="zh-TW" sz="2700" dirty="0"/>
              <a:t>Smoke testing</a:t>
            </a:r>
          </a:p>
          <a:p>
            <a:r>
              <a:rPr lang="en-US" altLang="zh-TW" sz="2700" dirty="0"/>
              <a:t>Sanity testing</a:t>
            </a:r>
          </a:p>
          <a:p>
            <a:r>
              <a:rPr lang="en-US" altLang="zh-TW" sz="2700" dirty="0"/>
              <a:t>Regression testing</a:t>
            </a:r>
          </a:p>
          <a:p>
            <a:r>
              <a:rPr lang="en-US" altLang="zh-TW" sz="2700" dirty="0"/>
              <a:t>Acceptance testing</a:t>
            </a:r>
          </a:p>
          <a:p>
            <a:r>
              <a:rPr lang="en-US" altLang="zh-TW" sz="2700" dirty="0"/>
              <a:t>Interface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 altLang="zh-TW" u="sng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9B9C515-F289-4AD6-9389-C775D210CF0F}"/>
              </a:ext>
            </a:extLst>
          </p:cNvPr>
          <p:cNvSpPr txBox="1">
            <a:spLocks/>
          </p:cNvSpPr>
          <p:nvPr/>
        </p:nvSpPr>
        <p:spPr bwMode="auto">
          <a:xfrm>
            <a:off x="4785019" y="2326639"/>
            <a:ext cx="3963054" cy="455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sz="2800" b="0" kern="0" dirty="0"/>
              <a:t>White box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b="0" kern="0" dirty="0"/>
              <a:t>Black box testing</a:t>
            </a:r>
          </a:p>
        </p:txBody>
      </p:sp>
    </p:spTree>
    <p:extLst>
      <p:ext uri="{BB962C8B-B14F-4D97-AF65-F5344CB8AC3E}">
        <p14:creationId xmlns:p14="http://schemas.microsoft.com/office/powerpoint/2010/main" val="1031498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83530"/>
          </a:xfrm>
          <a:solidFill>
            <a:schemeClr val="accent2"/>
          </a:solidFill>
        </p:spPr>
        <p:txBody>
          <a:bodyPr/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78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sz="2800" i="1" dirty="0"/>
              <a:t>Non-functional Testing</a:t>
            </a:r>
          </a:p>
          <a:p>
            <a:r>
              <a:rPr lang="en-US" altLang="zh-TW" sz="2700" dirty="0"/>
              <a:t>Performance testing</a:t>
            </a:r>
          </a:p>
          <a:p>
            <a:r>
              <a:rPr lang="en-US" altLang="zh-TW" sz="2700" dirty="0"/>
              <a:t>Security testing</a:t>
            </a:r>
          </a:p>
          <a:p>
            <a:r>
              <a:rPr lang="en-US" altLang="zh-TW" sz="2700" dirty="0"/>
              <a:t>Load testing</a:t>
            </a:r>
          </a:p>
          <a:p>
            <a:r>
              <a:rPr lang="en-US" altLang="zh-TW" sz="2700" dirty="0"/>
              <a:t>Failover testing</a:t>
            </a:r>
          </a:p>
          <a:p>
            <a:r>
              <a:rPr lang="en-US" altLang="zh-TW" sz="2700" dirty="0"/>
              <a:t>Compatibility testing</a:t>
            </a:r>
          </a:p>
          <a:p>
            <a:r>
              <a:rPr lang="en-US" altLang="zh-TW" sz="2700" dirty="0"/>
              <a:t>Usability testing</a:t>
            </a:r>
          </a:p>
          <a:p>
            <a:r>
              <a:rPr lang="en-US" altLang="zh-TW" sz="2700" dirty="0"/>
              <a:t>Scalability testing</a:t>
            </a:r>
          </a:p>
          <a:p>
            <a:r>
              <a:rPr lang="en-US" altLang="zh-TW" sz="2700" dirty="0"/>
              <a:t>Volume testing</a:t>
            </a:r>
          </a:p>
          <a:p>
            <a:r>
              <a:rPr lang="en-US" altLang="zh-TW" sz="2700" dirty="0"/>
              <a:t>Stress testing</a:t>
            </a:r>
          </a:p>
          <a:p>
            <a:r>
              <a:rPr lang="en-US" altLang="zh-TW" sz="2700" dirty="0"/>
              <a:t>Accessibility testing</a:t>
            </a:r>
          </a:p>
          <a:p>
            <a:r>
              <a:rPr lang="en-US" altLang="zh-TW" sz="2700" dirty="0"/>
              <a:t>Alpha testing</a:t>
            </a:r>
          </a:p>
          <a:p>
            <a:r>
              <a:rPr lang="en-US" altLang="zh-TW" sz="2700" dirty="0"/>
              <a:t>Beta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Software Testing  &amp; Security Checking, Syllabus</a:t>
            </a:r>
            <a:endParaRPr lang="en-US" altLang="zh-TW" u="sng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BE9F2F-13E9-4B4E-A320-EEE5EAA49015}"/>
              </a:ext>
            </a:extLst>
          </p:cNvPr>
          <p:cNvSpPr txBox="1">
            <a:spLocks/>
          </p:cNvSpPr>
          <p:nvPr/>
        </p:nvSpPr>
        <p:spPr bwMode="auto">
          <a:xfrm>
            <a:off x="4382814" y="2131574"/>
            <a:ext cx="4475436" cy="5546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Maintainability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Compliance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Efficiency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Reliability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Endurance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Disaster recovery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Localization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Internationalization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Ad-hoc testing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TW" b="0" kern="0" dirty="0"/>
          </a:p>
        </p:txBody>
      </p:sp>
    </p:spTree>
    <p:extLst>
      <p:ext uri="{BB962C8B-B14F-4D97-AF65-F5344CB8AC3E}">
        <p14:creationId xmlns:p14="http://schemas.microsoft.com/office/powerpoint/2010/main" val="57396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29600" cy="17880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現有自動化解決方案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幾乎都著重在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Test Execution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 Setup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1049336" y="359281"/>
            <a:ext cx="7045327" cy="769441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pPr marL="0" lvl="1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prstClr val="black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Steps in a Testing Project</a:t>
            </a:r>
            <a:endParaRPr kumimoji="1" lang="zh-TW" altLang="en-US" sz="4400" b="1" dirty="0">
              <a:solidFill>
                <a:prstClr val="black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CB8CA7E-0B0E-4105-8F26-73286137C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787" y="1276827"/>
            <a:ext cx="4750750" cy="4608938"/>
          </a:xfrm>
          <a:prstGeom prst="rect">
            <a:avLst/>
          </a:prstGeom>
        </p:spPr>
      </p:pic>
      <p:pic>
        <p:nvPicPr>
          <p:cNvPr id="14" name="Picture 2" descr="iT 邦幫忙::一起幫忙解決難題，拯救IT 人的一天">
            <a:extLst>
              <a:ext uri="{FF2B5EF4-FFF2-40B4-BE49-F238E27FC236}">
                <a16:creationId xmlns:a16="http://schemas.microsoft.com/office/drawing/2014/main" id="{2351DC10-759E-403D-AF43-12C719871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43" y="3648072"/>
            <a:ext cx="2154996" cy="82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BBD8DCB1-3726-490C-A134-37194EFC7EA4}"/>
              </a:ext>
            </a:extLst>
          </p:cNvPr>
          <p:cNvGrpSpPr/>
          <p:nvPr/>
        </p:nvGrpSpPr>
        <p:grpSpPr>
          <a:xfrm>
            <a:off x="1720840" y="4628665"/>
            <a:ext cx="1834677" cy="909706"/>
            <a:chOff x="1848587" y="3303262"/>
            <a:chExt cx="1834677" cy="909706"/>
          </a:xfrm>
        </p:grpSpPr>
        <p:pic>
          <p:nvPicPr>
            <p:cNvPr id="16" name="Picture 2" descr="About SideeX - HackMD">
              <a:extLst>
                <a:ext uri="{FF2B5EF4-FFF2-40B4-BE49-F238E27FC236}">
                  <a16:creationId xmlns:a16="http://schemas.microsoft.com/office/drawing/2014/main" id="{C71B99E6-9728-4A58-841E-2C402F17C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587" y="3303262"/>
              <a:ext cx="909706" cy="909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48E2A12-7F9E-425A-A89F-70811BB5DE38}"/>
                </a:ext>
              </a:extLst>
            </p:cNvPr>
            <p:cNvSpPr txBox="1"/>
            <p:nvPr/>
          </p:nvSpPr>
          <p:spPr>
            <a:xfrm>
              <a:off x="2443807" y="3723242"/>
              <a:ext cx="12394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SiteeX</a:t>
              </a:r>
              <a:endParaRPr lang="zh-TW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098" name="Picture 2" descr="AWS Marketplace: Tricentis Tosca Reviews">
            <a:extLst>
              <a:ext uri="{FF2B5EF4-FFF2-40B4-BE49-F238E27FC236}">
                <a16:creationId xmlns:a16="http://schemas.microsoft.com/office/drawing/2014/main" id="{AB7A1275-8F58-46CF-8807-6F0F6302E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363" y="6025285"/>
            <a:ext cx="1800307" cy="51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EBC2F8C-C24F-4F38-A79A-22B6DC6BA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1" y="2972304"/>
            <a:ext cx="1701901" cy="646896"/>
          </a:xfrm>
          <a:prstGeom prst="rect">
            <a:avLst/>
          </a:prstGeom>
        </p:spPr>
      </p:pic>
      <p:pic>
        <p:nvPicPr>
          <p:cNvPr id="20" name="Picture 2" descr="XAMARIN : The Next level of Cross-Platform Mobile App Development. - Wildnet">
            <a:extLst>
              <a:ext uri="{FF2B5EF4-FFF2-40B4-BE49-F238E27FC236}">
                <a16:creationId xmlns:a16="http://schemas.microsoft.com/office/drawing/2014/main" id="{DC7A0B66-8208-449F-9C1A-64F667A1F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18" y="3686868"/>
            <a:ext cx="1668842" cy="82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FE23C27-A8CA-434E-80E4-5010E0CF55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70" y="2820625"/>
            <a:ext cx="770077" cy="962756"/>
          </a:xfrm>
          <a:prstGeom prst="rect">
            <a:avLst/>
          </a:prstGeom>
        </p:spPr>
      </p:pic>
      <p:pic>
        <p:nvPicPr>
          <p:cNvPr id="23" name="Picture 6" descr="Testing Asynchronous Code In Swift | by Christopher Webb | Journey Of One  Thousand Apps | Medium">
            <a:extLst>
              <a:ext uri="{FF2B5EF4-FFF2-40B4-BE49-F238E27FC236}">
                <a16:creationId xmlns:a16="http://schemas.microsoft.com/office/drawing/2014/main" id="{7B629CFB-5D6A-4E7C-AE42-33CD57E66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39" y="4469155"/>
            <a:ext cx="1126132" cy="133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45E1395-392E-4387-B0E3-E4221905E1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308" y="5879630"/>
            <a:ext cx="2382042" cy="961421"/>
          </a:xfrm>
          <a:prstGeom prst="rect">
            <a:avLst/>
          </a:prstGeom>
        </p:spPr>
      </p:pic>
      <p:pic>
        <p:nvPicPr>
          <p:cNvPr id="25" name="Picture 10" descr="Learn MonkeyTalk - Best MonkeyTalk Tutorials and Courses | Devglan">
            <a:extLst>
              <a:ext uri="{FF2B5EF4-FFF2-40B4-BE49-F238E27FC236}">
                <a16:creationId xmlns:a16="http://schemas.microsoft.com/office/drawing/2014/main" id="{4759457E-53B8-4B26-90A6-B7442E5DC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403" y="5926927"/>
            <a:ext cx="859690" cy="96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0F430EA6-9214-4E2B-A635-FCEFE21951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98" y="5933794"/>
            <a:ext cx="2025696" cy="7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8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A9F066-C601-44D4-A06F-87130A55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影像" descr="影像">
            <a:extLst>
              <a:ext uri="{FF2B5EF4-FFF2-40B4-BE49-F238E27FC236}">
                <a16:creationId xmlns:a16="http://schemas.microsoft.com/office/drawing/2014/main" id="{0B1BC956-19B7-4F6D-85F4-ECA8D5877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27" y="1500697"/>
            <a:ext cx="8149492" cy="440048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8F27663-6370-4310-AD55-5D9131769224}"/>
              </a:ext>
            </a:extLst>
          </p:cNvPr>
          <p:cNvSpPr/>
          <p:nvPr/>
        </p:nvSpPr>
        <p:spPr>
          <a:xfrm>
            <a:off x="1188936" y="503670"/>
            <a:ext cx="6800673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3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901" y="1743515"/>
            <a:ext cx="8041064" cy="39881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年營收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en-US" altLang="zh-TW" sz="2000" dirty="0"/>
              <a:t>				</a:t>
            </a:r>
            <a:r>
              <a:rPr lang="zh-TW" altLang="en-US" sz="2000" dirty="0"/>
              <a:t>            </a:t>
            </a:r>
            <a:r>
              <a:rPr lang="en-US" altLang="zh-TW" sz="2000" dirty="0"/>
              <a:t>M</a:t>
            </a:r>
            <a:r>
              <a:rPr lang="zh-TW" altLang="en-US" sz="2000" dirty="0"/>
              <a:t>：</a:t>
            </a:r>
            <a:r>
              <a:rPr lang="en-US" altLang="zh-TW" sz="2000" dirty="0"/>
              <a:t>1</a:t>
            </a:r>
            <a:r>
              <a:rPr lang="zh-TW" altLang="en-US" sz="2000" dirty="0"/>
              <a:t> 百萬美元</a:t>
            </a:r>
            <a:r>
              <a:rPr lang="en-US" altLang="zh-TW" sz="2000" dirty="0"/>
              <a:t>Revenue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QualityLogic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https://www.qualitylogic.com/</a:t>
            </a:r>
            <a:r>
              <a:rPr lang="en-US" altLang="zh-TW" sz="2000" dirty="0"/>
              <a:t> (9.7M)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V-Cubed Solutions, </a:t>
            </a:r>
            <a:r>
              <a:rPr lang="en-US" altLang="zh-TW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https://www.v-cubed.net/</a:t>
            </a:r>
            <a:r>
              <a:rPr lang="en-US" altLang="zh-TW" sz="2000" dirty="0"/>
              <a:t> (27M)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Value Stream Engineering, </a:t>
            </a:r>
            <a:r>
              <a:rPr lang="en-US" altLang="zh-TW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http://www.valuestreamengineers.com/</a:t>
            </a:r>
            <a:r>
              <a:rPr lang="en-US" altLang="zh-TW" sz="2000" dirty="0"/>
              <a:t> (3.8M)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IT Automation LLC, </a:t>
            </a:r>
            <a:r>
              <a:rPr lang="en-US" altLang="zh-TW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http://www.itautomation.com/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NeoTys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https://www.neotys.com/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Parasoft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https://www.parasoft.com/</a:t>
            </a:r>
            <a:r>
              <a:rPr lang="en-US" altLang="zh-TW" sz="2000" dirty="0"/>
              <a:t> (55M)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Performancelab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https://www.performancelab.com.br/home</a:t>
            </a:r>
            <a:r>
              <a:rPr lang="en-US" altLang="zh-TW" sz="2000" dirty="0"/>
              <a:t> (25.3M)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ScienceSoft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https://www.scnsoft.com/</a:t>
            </a:r>
            <a:r>
              <a:rPr lang="en-US" altLang="zh-TW" sz="2000" dirty="0"/>
              <a:t> (22M)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Symbio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https://www.symbio.com/</a:t>
            </a:r>
            <a:r>
              <a:rPr lang="en-US" altLang="zh-TW" sz="2000" dirty="0"/>
              <a:t> (150M)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tenio.io, </a:t>
            </a:r>
            <a:r>
              <a:rPr lang="en-US" altLang="zh-TW" sz="20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https://tenon.io/</a:t>
            </a:r>
            <a:r>
              <a:rPr lang="en-US" altLang="zh-TW" sz="2000" dirty="0"/>
              <a:t> 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8A6BD6-C456-4DBD-BECF-227382FB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4B89D0-9922-41D3-85D3-D36E1C6CFC15}"/>
              </a:ext>
            </a:extLst>
          </p:cNvPr>
          <p:cNvSpPr txBox="1"/>
          <p:nvPr/>
        </p:nvSpPr>
        <p:spPr>
          <a:xfrm rot="20446638">
            <a:off x="2259481" y="2722700"/>
            <a:ext cx="4880823" cy="1615827"/>
          </a:xfrm>
          <a:prstGeom prst="rect">
            <a:avLst/>
          </a:prstGeom>
          <a:solidFill>
            <a:srgbClr val="FFFF00">
              <a:alpha val="54902"/>
            </a:srgbClr>
          </a:solidFill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4950" dirty="0">
                <a:solidFill>
                  <a:srgbClr val="FF0000"/>
                </a:solidFill>
                <a:sym typeface="Symbol" panose="05050102010706020507" pitchFamily="18" charset="2"/>
              </a:rPr>
              <a:t></a:t>
            </a:r>
            <a:r>
              <a:rPr lang="en-US" altLang="zh-TW" sz="4950" dirty="0">
                <a:solidFill>
                  <a:srgbClr val="FF0000"/>
                </a:solidFill>
              </a:rPr>
              <a:t>310.4 Millions</a:t>
            </a:r>
          </a:p>
          <a:p>
            <a:r>
              <a:rPr lang="en-US" altLang="zh-TW" sz="4950" dirty="0">
                <a:solidFill>
                  <a:srgbClr val="FF0000"/>
                </a:solidFill>
              </a:rPr>
              <a:t>Avg.</a:t>
            </a:r>
            <a:r>
              <a:rPr lang="zh-TW" altLang="en-US" sz="4950" dirty="0">
                <a:solidFill>
                  <a:srgbClr val="FF0000"/>
                </a:solidFill>
              </a:rPr>
              <a:t> </a:t>
            </a:r>
            <a:r>
              <a:rPr lang="en-US" altLang="zh-TW" sz="4950" dirty="0">
                <a:solidFill>
                  <a:srgbClr val="FF0000"/>
                </a:solidFill>
              </a:rPr>
              <a:t>34.5Millions</a:t>
            </a:r>
            <a:endParaRPr lang="zh-TW" altLang="en-US" sz="495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001DC-D2A3-4289-8391-2FD8E8E52A8A}"/>
              </a:ext>
            </a:extLst>
          </p:cNvPr>
          <p:cNvSpPr/>
          <p:nvPr/>
        </p:nvSpPr>
        <p:spPr>
          <a:xfrm>
            <a:off x="1356360" y="497777"/>
            <a:ext cx="643128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03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304550"/>
            <a:ext cx="8966200" cy="1162506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hsb-DE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sb-DE" altLang="zh-TW" sz="2800" i="1" dirty="0">
                <a:latin typeface="Arial" panose="020B0604020202020204" pitchFamily="34" charset="0"/>
                <a:cs typeface="Arial" panose="020B0604020202020204" pitchFamily="34" charset="0"/>
              </a:rPr>
              <a:t>from the Boss‘ perspective</a:t>
            </a:r>
            <a:endParaRPr lang="zh-TW" alt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42" y="1753420"/>
            <a:ext cx="7999364" cy="2524116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upon a time in a QA meeting when MS hired 10000 testers, </a:t>
            </a:r>
          </a:p>
          <a:p>
            <a:pPr marL="0" indent="0">
              <a:buNone/>
            </a:pP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</a:t>
            </a:r>
            <a:r>
              <a:rPr lang="zh-TW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 I pay a lot of testers, but I really have no idea what they do.“</a:t>
            </a:r>
          </a:p>
          <a:p>
            <a:pPr marL="0" indent="0">
              <a:buNone/>
            </a:pPr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「Bill Gates」的圖片搜尋結果">
            <a:extLst>
              <a:ext uri="{FF2B5EF4-FFF2-40B4-BE49-F238E27FC236}">
                <a16:creationId xmlns:a16="http://schemas.microsoft.com/office/drawing/2014/main" id="{C9E88FC8-0B60-4B5A-BDD8-FAF9F63E0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358" y="3574318"/>
            <a:ext cx="3068200" cy="208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27CDC00-4974-41B2-A6EE-B0A40E427E3E}"/>
              </a:ext>
            </a:extLst>
          </p:cNvPr>
          <p:cNvSpPr txBox="1">
            <a:spLocks/>
          </p:cNvSpPr>
          <p:nvPr/>
        </p:nvSpPr>
        <p:spPr>
          <a:xfrm>
            <a:off x="288187" y="5661145"/>
            <a:ext cx="8516447" cy="4088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https://softwaretesting.cioreview.com/cxoinsight/the-cost-of-software-testing-nid-27746-cid-112.html</a:t>
            </a:r>
            <a:endParaRPr lang="en-US" altLang="zh-TW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400" dirty="0">
              <a:solidFill>
                <a:schemeClr val="tx2"/>
              </a:solidFill>
            </a:endParaRPr>
          </a:p>
          <a:p>
            <a:endParaRPr lang="zh-TW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17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692" y="1041835"/>
            <a:ext cx="6140617" cy="71757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市場痛點</a:t>
            </a:r>
            <a:endParaRPr lang="zh-TW" altLang="en-US" sz="3600" b="1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19" y="2056512"/>
            <a:ext cx="4483824" cy="3284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dirty="0"/>
              <a:t>Testing occupies overall development time </a:t>
            </a:r>
          </a:p>
          <a:p>
            <a:r>
              <a:rPr lang="en-US" altLang="zh-TW" sz="1800" dirty="0"/>
              <a:t>20% the for a single-component application, </a:t>
            </a:r>
          </a:p>
          <a:p>
            <a:r>
              <a:rPr lang="en-US" altLang="zh-TW" sz="1800" dirty="0"/>
              <a:t>20-30% for a two-component application </a:t>
            </a:r>
          </a:p>
          <a:p>
            <a:r>
              <a:rPr lang="en-US" altLang="zh-TW" sz="1800" dirty="0"/>
              <a:t>30-35% for an application with GUI. </a:t>
            </a:r>
          </a:p>
          <a:p>
            <a:r>
              <a:rPr lang="en-US" altLang="zh-TW" sz="1800" dirty="0"/>
              <a:t>35-50% for a distributed application with GUI.</a:t>
            </a:r>
          </a:p>
          <a:p>
            <a:endParaRPr lang="en-US" altLang="zh-TW" sz="1800" dirty="0"/>
          </a:p>
          <a:p>
            <a:endParaRPr lang="zh-TW" altLang="en-US" sz="1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D19588-68A3-4B96-900F-909779B7E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475" y="2021306"/>
            <a:ext cx="3402875" cy="3354860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5780AA-5968-473F-95AF-594437BACBF3}"/>
              </a:ext>
            </a:extLst>
          </p:cNvPr>
          <p:cNvSpPr txBox="1">
            <a:spLocks/>
          </p:cNvSpPr>
          <p:nvPr/>
        </p:nvSpPr>
        <p:spPr>
          <a:xfrm>
            <a:off x="1398783" y="4660205"/>
            <a:ext cx="6108896" cy="99785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1800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C20FAB48-43F1-D14A-F99D-2D097027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F759741F-B0CD-B04A-B740-29C5E1083A8B}" type="slidenum">
              <a:rPr kumimoji="1" lang="zh-TW" altLang="en-US" smtClean="0">
                <a:solidFill>
                  <a:schemeClr val="tx1"/>
                </a:solidFill>
              </a:rPr>
              <a:t>16</a:t>
            </a:fld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57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736">
        <p:cut/>
      </p:transition>
    </mc:Choice>
    <mc:Fallback xmlns="">
      <p:transition spd="slow" advTm="109736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1ACE65-0D78-499E-B204-71CB5E50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435" y="400680"/>
            <a:ext cx="5611130" cy="7426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市場痛點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060A406-54ED-48DD-BBF3-9A418D6D9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8546" y="2074448"/>
            <a:ext cx="3180398" cy="212026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7344538-0235-444E-823D-95F399CB7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735" y="1960157"/>
            <a:ext cx="3106855" cy="2074545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B2BA418E-85F4-4FDA-A9FB-C208B4FD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2402" y="5549461"/>
            <a:ext cx="2057400" cy="273844"/>
          </a:xfrm>
        </p:spPr>
        <p:txBody>
          <a:bodyPr/>
          <a:lstStyle/>
          <a:p>
            <a:fld id="{F759741F-B0CD-B04A-B740-29C5E1083A8B}" type="slidenum">
              <a:rPr kumimoji="1" lang="zh-TW" altLang="en-US" smtClean="0">
                <a:solidFill>
                  <a:schemeClr val="tx1"/>
                </a:solidFill>
              </a:rPr>
              <a:t>17</a:t>
            </a:fld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8B445CF-99B6-4638-AF85-E3838AAF3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274" y="3633904"/>
            <a:ext cx="2030934" cy="2094533"/>
          </a:xfrm>
          <a:prstGeom prst="rect">
            <a:avLst/>
          </a:prstGeom>
        </p:spPr>
      </p:pic>
      <p:sp>
        <p:nvSpPr>
          <p:cNvPr id="11" name="圖說文字: 直線加上強調線 10">
            <a:extLst>
              <a:ext uri="{FF2B5EF4-FFF2-40B4-BE49-F238E27FC236}">
                <a16:creationId xmlns:a16="http://schemas.microsoft.com/office/drawing/2014/main" id="{374D5EB4-15EA-4915-BF7A-9C8E38331640}"/>
              </a:ext>
            </a:extLst>
          </p:cNvPr>
          <p:cNvSpPr/>
          <p:nvPr/>
        </p:nvSpPr>
        <p:spPr>
          <a:xfrm>
            <a:off x="6617971" y="4380547"/>
            <a:ext cx="2306003" cy="470010"/>
          </a:xfrm>
          <a:prstGeom prst="accentCallout1">
            <a:avLst>
              <a:gd name="adj1" fmla="val 75802"/>
              <a:gd name="adj2" fmla="val 8391"/>
              <a:gd name="adj3" fmla="val 52025"/>
              <a:gd name="adj4" fmla="val -57259"/>
            </a:avLst>
          </a:prstGeom>
          <a:solidFill>
            <a:schemeClr val="tx2">
              <a:lumMod val="20000"/>
              <a:lumOff val="80000"/>
            </a:schemeClr>
          </a:solidFill>
          <a:ln w="57150">
            <a:tailEnd type="triangle" w="lg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D7DB25B-354D-4B13-98E4-105E66BEDF7A}"/>
              </a:ext>
            </a:extLst>
          </p:cNvPr>
          <p:cNvSpPr txBox="1"/>
          <p:nvPr/>
        </p:nvSpPr>
        <p:spPr>
          <a:xfrm>
            <a:off x="6938815" y="44424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故事測試（人工）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圖說文字: 直線加上強調線 12">
            <a:extLst>
              <a:ext uri="{FF2B5EF4-FFF2-40B4-BE49-F238E27FC236}">
                <a16:creationId xmlns:a16="http://schemas.microsoft.com/office/drawing/2014/main" id="{0CAC8377-91C0-4D0B-AA18-623D0ABAF949}"/>
              </a:ext>
            </a:extLst>
          </p:cNvPr>
          <p:cNvSpPr/>
          <p:nvPr/>
        </p:nvSpPr>
        <p:spPr>
          <a:xfrm rot="10800000">
            <a:off x="515417" y="4646295"/>
            <a:ext cx="3259856" cy="1243013"/>
          </a:xfrm>
          <a:prstGeom prst="accentCallout1">
            <a:avLst>
              <a:gd name="adj1" fmla="val 62404"/>
              <a:gd name="adj2" fmla="val 6910"/>
              <a:gd name="adj3" fmla="val 52196"/>
              <a:gd name="adj4" fmla="val -15444"/>
            </a:avLst>
          </a:prstGeom>
          <a:solidFill>
            <a:schemeClr val="tx2">
              <a:lumMod val="20000"/>
              <a:lumOff val="80000"/>
            </a:schemeClr>
          </a:solidFill>
          <a:ln w="57150">
            <a:headEnd type="none" w="med" len="med"/>
            <a:tailEnd type="triangle" w="lg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7BED517-F8DB-4DAF-91FE-E474FDDB22B3}"/>
              </a:ext>
            </a:extLst>
          </p:cNvPr>
          <p:cNvSpPr txBox="1"/>
          <p:nvPr/>
        </p:nvSpPr>
        <p:spPr>
          <a:xfrm>
            <a:off x="734303" y="4850557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使用者經驗測試（人工）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場景測試（人工）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探索測試（大量無意義）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94FDBF-3B75-4C87-9314-14F4A53607D5}"/>
              </a:ext>
            </a:extLst>
          </p:cNvPr>
          <p:cNvSpPr txBox="1"/>
          <p:nvPr/>
        </p:nvSpPr>
        <p:spPr>
          <a:xfrm>
            <a:off x="1343467" y="1677495"/>
            <a:ext cx="68945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350" dirty="0"/>
              <a:t>https://idealink.tech/blog/understanding-software-testing-costs-development-breakdown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D729A1CB-6000-44A6-966F-BA542301D338}"/>
              </a:ext>
            </a:extLst>
          </p:cNvPr>
          <p:cNvSpPr/>
          <p:nvPr/>
        </p:nvSpPr>
        <p:spPr>
          <a:xfrm>
            <a:off x="397943" y="2250173"/>
            <a:ext cx="1225868" cy="65456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甲方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D1AA75F-C9B9-4111-B750-3C2887768041}"/>
              </a:ext>
            </a:extLst>
          </p:cNvPr>
          <p:cNvSpPr/>
          <p:nvPr/>
        </p:nvSpPr>
        <p:spPr>
          <a:xfrm>
            <a:off x="6122537" y="1849876"/>
            <a:ext cx="1225868" cy="65456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乙方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3954D41-28CB-4D56-9B8D-C5AB5B5C0D3D}"/>
              </a:ext>
            </a:extLst>
          </p:cNvPr>
          <p:cNvSpPr txBox="1"/>
          <p:nvPr/>
        </p:nvSpPr>
        <p:spPr>
          <a:xfrm>
            <a:off x="3652640" y="2127334"/>
            <a:ext cx="2057400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軟體測試成本</a:t>
            </a:r>
            <a:endParaRPr lang="en-US" altLang="zh-TW" b="1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佔開發成本</a:t>
            </a:r>
            <a:endParaRPr lang="en-US" altLang="zh-TW" b="1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b="1" i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20-40</a:t>
            </a:r>
            <a:r>
              <a:rPr lang="zh-TW" altLang="en-US" b="1" i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BB7C196-7F26-4BD6-B353-07B9978C86BA}"/>
              </a:ext>
            </a:extLst>
          </p:cNvPr>
          <p:cNvSpPr txBox="1"/>
          <p:nvPr/>
        </p:nvSpPr>
        <p:spPr>
          <a:xfrm>
            <a:off x="6122537" y="4960838"/>
            <a:ext cx="2888052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依然大量仰賴人工</a:t>
            </a:r>
            <a:endParaRPr lang="en-US" altLang="zh-TW" b="1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測試腳本生成</a:t>
            </a:r>
            <a:endParaRPr lang="en-US" altLang="zh-TW" b="1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測試軌跡評估</a:t>
            </a:r>
          </a:p>
        </p:txBody>
      </p:sp>
    </p:spTree>
    <p:extLst>
      <p:ext uri="{BB962C8B-B14F-4D97-AF65-F5344CB8AC3E}">
        <p14:creationId xmlns:p14="http://schemas.microsoft.com/office/powerpoint/2010/main" val="2886726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7BE-8173-A495-9CEC-CD2BED93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40;p5">
            <a:extLst>
              <a:ext uri="{FF2B5EF4-FFF2-40B4-BE49-F238E27FC236}">
                <a16:creationId xmlns:a16="http://schemas.microsoft.com/office/drawing/2014/main" id="{70615618-85C8-70A3-9130-7A9E0E4C3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2" y="427634"/>
            <a:ext cx="8229600" cy="1150668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lvl="0" algn="ctr"/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Vibe Coding 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開發危機</a:t>
            </a:r>
            <a:b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</a:b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失控的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AI 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指令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/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Inter"/>
              </a:rPr>
              <a:t> 軟體驗證新挑戰</a:t>
            </a:r>
            <a:endParaRPr lang="en-US" altLang="zh-TW" sz="3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BCA7A1E1-BC12-86FD-F103-253D3A59BA49}"/>
              </a:ext>
            </a:extLst>
          </p:cNvPr>
          <p:cNvCxnSpPr>
            <a:cxnSpLocks/>
          </p:cNvCxnSpPr>
          <p:nvPr/>
        </p:nvCxnSpPr>
        <p:spPr>
          <a:xfrm>
            <a:off x="287239" y="1762079"/>
            <a:ext cx="852530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形 15" descr="警告 以實心填滿">
            <a:extLst>
              <a:ext uri="{FF2B5EF4-FFF2-40B4-BE49-F238E27FC236}">
                <a16:creationId xmlns:a16="http://schemas.microsoft.com/office/drawing/2014/main" id="{FB9CC5D7-0195-D30D-6F92-5F55C1B51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2007" y="952436"/>
            <a:ext cx="268407" cy="268407"/>
          </a:xfrm>
          <a:prstGeom prst="rect">
            <a:avLst/>
          </a:prstGeom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066F7650-7704-0A5A-E479-2551AD4DFC97}"/>
              </a:ext>
            </a:extLst>
          </p:cNvPr>
          <p:cNvSpPr txBox="1"/>
          <p:nvPr/>
        </p:nvSpPr>
        <p:spPr>
          <a:xfrm>
            <a:off x="358357" y="4796755"/>
            <a:ext cx="414481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TW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Vibe Coding </a:t>
            </a:r>
            <a:r>
              <a:rPr lang="zh-TW" altLang="en-US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可以讓產品 </a:t>
            </a:r>
            <a:r>
              <a:rPr lang="en-US" altLang="zh-TW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倍快上市</a:t>
            </a:r>
            <a:endParaRPr lang="en-US" altLang="zh-TW" sz="2000" b="1" i="1" dirty="0">
              <a:solidFill>
                <a:srgbClr val="1E293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TW" altLang="en-US" sz="2000" b="1" i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但也讓「資料毀損、資安外洩、系統崩潰」從例外變成常態風險</a:t>
            </a:r>
            <a:endParaRPr lang="en-US" altLang="zh-TW" sz="2000" b="1" i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TW" altLang="en-US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公司須多承擔 </a:t>
            </a:r>
            <a:r>
              <a:rPr lang="en-US" altLang="zh-TW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3~10 </a:t>
            </a:r>
            <a:r>
              <a:rPr lang="zh-TW" altLang="en-US" sz="2000" b="1" i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倍長期風險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667B464-DE90-529F-5055-3B922349C057}"/>
              </a:ext>
            </a:extLst>
          </p:cNvPr>
          <p:cNvSpPr txBox="1"/>
          <p:nvPr/>
        </p:nvSpPr>
        <p:spPr>
          <a:xfrm>
            <a:off x="3476579" y="4718090"/>
            <a:ext cx="2421582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200" dirty="0">
              <a:solidFill>
                <a:srgbClr val="36415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1200" dirty="0">
              <a:solidFill>
                <a:srgbClr val="36415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141FF863-C58B-4D53-9316-BC9BF2581059}"/>
              </a:ext>
            </a:extLst>
          </p:cNvPr>
          <p:cNvGrpSpPr/>
          <p:nvPr/>
        </p:nvGrpSpPr>
        <p:grpSpPr>
          <a:xfrm>
            <a:off x="4821190" y="2061243"/>
            <a:ext cx="4013462" cy="4536199"/>
            <a:chOff x="5756898" y="2268127"/>
            <a:chExt cx="6152604" cy="388048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212FC8F-7565-411B-0700-817A18C45702}"/>
                </a:ext>
              </a:extLst>
            </p:cNvPr>
            <p:cNvGrpSpPr/>
            <p:nvPr/>
          </p:nvGrpSpPr>
          <p:grpSpPr>
            <a:xfrm>
              <a:off x="5756898" y="2268127"/>
              <a:ext cx="6152604" cy="3513518"/>
              <a:chOff x="609602" y="2845130"/>
              <a:chExt cx="5794458" cy="1531260"/>
            </a:xfrm>
          </p:grpSpPr>
          <p:sp>
            <p:nvSpPr>
              <p:cNvPr id="12" name="圓角矩形 19">
                <a:extLst>
                  <a:ext uri="{FF2B5EF4-FFF2-40B4-BE49-F238E27FC236}">
                    <a16:creationId xmlns:a16="http://schemas.microsoft.com/office/drawing/2014/main" id="{43BEFE3E-E97D-89F8-713B-C9BE2B76BE8F}"/>
                  </a:ext>
                </a:extLst>
              </p:cNvPr>
              <p:cNvSpPr/>
              <p:nvPr/>
            </p:nvSpPr>
            <p:spPr>
              <a:xfrm>
                <a:off x="609602" y="2845130"/>
                <a:ext cx="5486397" cy="1530146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BF3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350"/>
              </a:p>
            </p:txBody>
          </p:sp>
          <p:sp>
            <p:nvSpPr>
              <p:cNvPr id="15" name="圓角矩形 20">
                <a:extLst>
                  <a:ext uri="{FF2B5EF4-FFF2-40B4-BE49-F238E27FC236}">
                    <a16:creationId xmlns:a16="http://schemas.microsoft.com/office/drawing/2014/main" id="{317F26C0-EF2B-BFD4-E510-260BEAE201C5}"/>
                  </a:ext>
                </a:extLst>
              </p:cNvPr>
              <p:cNvSpPr/>
              <p:nvPr/>
            </p:nvSpPr>
            <p:spPr>
              <a:xfrm>
                <a:off x="715888" y="2845130"/>
                <a:ext cx="5688172" cy="1531260"/>
              </a:xfrm>
              <a:prstGeom prst="roundRect">
                <a:avLst/>
              </a:prstGeom>
              <a:solidFill>
                <a:srgbClr val="FBF3F2"/>
              </a:solidFill>
              <a:ln>
                <a:solidFill>
                  <a:srgbClr val="FBF3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350" dirty="0"/>
              </a:p>
            </p:txBody>
          </p:sp>
        </p:grp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4C3A0FB-E054-356D-E98C-278287640CF8}"/>
                </a:ext>
              </a:extLst>
            </p:cNvPr>
            <p:cNvSpPr txBox="1"/>
            <p:nvPr/>
          </p:nvSpPr>
          <p:spPr>
            <a:xfrm>
              <a:off x="5978506" y="2340904"/>
              <a:ext cx="5879167" cy="38077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14313" indent="-21431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350" dirty="0">
                  <a:solidFill>
                    <a:srgbClr val="36415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Jason Lemkin </a:t>
              </a:r>
              <a:r>
                <a:rPr lang="zh-TW" altLang="en-US" sz="1350" dirty="0">
                  <a:solidFill>
                    <a:srgbClr val="36415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的資料庫數千條資料誤刪，</a:t>
              </a:r>
              <a:r>
                <a:rPr lang="en-US" altLang="zh-TW" sz="1350" dirty="0">
                  <a:solidFill>
                    <a:srgbClr val="36415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lang="zh-TW" altLang="en-US" sz="1350" dirty="0">
                  <a:solidFill>
                    <a:srgbClr val="36415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又生成 </a:t>
              </a:r>
              <a:r>
                <a:rPr lang="en-US" altLang="zh-TW" sz="1350" dirty="0">
                  <a:solidFill>
                    <a:srgbClr val="36415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4,000 </a:t>
              </a:r>
              <a:r>
                <a:rPr lang="zh-TW" altLang="en-US" sz="1350" dirty="0">
                  <a:solidFill>
                    <a:srgbClr val="36415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筆假資料掩蓋錯誤</a:t>
              </a:r>
              <a:endParaRPr lang="en-US" altLang="zh-TW" sz="1350" dirty="0">
                <a:solidFill>
                  <a:srgbClr val="36415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14313" indent="-21431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瑞典 </a:t>
              </a: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Lovable 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平台：</a:t>
              </a: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10% 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的應用程式存在嚴重漏洞</a:t>
              </a:r>
              <a:endParaRPr lang="en-US" altLang="zh-TW" sz="1350" dirty="0">
                <a:solidFill>
                  <a:schemeClr val="accent6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14313" indent="-21431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350" dirty="0">
                  <a:solidFill>
                    <a:srgbClr val="36415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Tea App </a:t>
              </a:r>
              <a:r>
                <a:rPr lang="zh-TW" altLang="en-US" sz="1350" dirty="0">
                  <a:solidFill>
                    <a:srgbClr val="36415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因缺乏權限與加密設計，導致隱私個資外洩</a:t>
              </a:r>
              <a:endParaRPr lang="en-US" altLang="zh-TW" sz="1350" dirty="0">
                <a:solidFill>
                  <a:srgbClr val="36415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14313" indent="-21431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Air Canada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：幻覺政策導致的法律與財務錯誤，額外投入超過 </a:t>
              </a: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 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百萬美元進行系統回測</a:t>
              </a:r>
              <a:endParaRPr lang="en-US" altLang="zh-TW" sz="1350" dirty="0">
                <a:solidFill>
                  <a:schemeClr val="accent6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14313" indent="-21431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36415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澳洲 </a:t>
              </a:r>
              <a:r>
                <a:rPr lang="en-US" altLang="zh-TW" sz="1350" dirty="0">
                  <a:solidFill>
                    <a:srgbClr val="36415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Deloitte </a:t>
              </a:r>
              <a:r>
                <a:rPr lang="zh-TW" altLang="en-US" sz="1350" dirty="0">
                  <a:solidFill>
                    <a:srgbClr val="36415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報告出錯，導致該專案營收直接損失 </a:t>
              </a:r>
              <a:r>
                <a:rPr lang="en-US" altLang="zh-TW" sz="1350" dirty="0">
                  <a:solidFill>
                    <a:srgbClr val="36415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51%</a:t>
              </a:r>
            </a:p>
            <a:p>
              <a:pPr marL="214313" indent="-21431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Bloomberg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</a:t>
              </a: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2026 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年的調查報告指出，</a:t>
              </a:r>
              <a:r>
                <a:rPr lang="en-US" altLang="zh-TW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15% - 25% </a:t>
              </a:r>
              <a:r>
                <a:rPr lang="zh-TW" altLang="en-US" sz="1350" dirty="0">
                  <a:solidFill>
                    <a:schemeClr val="accent6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的效率提升背後隱藏大量後續的「修補漏洞」</a:t>
              </a:r>
              <a:endParaRPr lang="en-US" altLang="zh-TW" sz="1350" dirty="0">
                <a:solidFill>
                  <a:schemeClr val="accent6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" name="Google Shape;256;p17">
            <a:extLst>
              <a:ext uri="{FF2B5EF4-FFF2-40B4-BE49-F238E27FC236}">
                <a16:creationId xmlns:a16="http://schemas.microsoft.com/office/drawing/2014/main" id="{F896D6D2-5AE3-4888-9236-9CEF91F4D400}"/>
              </a:ext>
            </a:extLst>
          </p:cNvPr>
          <p:cNvSpPr txBox="1"/>
          <p:nvPr/>
        </p:nvSpPr>
        <p:spPr>
          <a:xfrm>
            <a:off x="7924803" y="5624514"/>
            <a:ext cx="761999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FB1B6E-29AC-2D42-86C6-76C356A8EF4E}" type="slidenum">
              <a:rPr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pPr algn="r" defTabSz="68580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18</a:t>
            </a:fld>
            <a:endParaRPr lang="en-US" sz="1200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ngLiu"/>
            </a:endParaRPr>
          </a:p>
        </p:txBody>
      </p:sp>
      <p:pic>
        <p:nvPicPr>
          <p:cNvPr id="36" name="圖形 35" descr="警告 以實心填滿">
            <a:extLst>
              <a:ext uri="{FF2B5EF4-FFF2-40B4-BE49-F238E27FC236}">
                <a16:creationId xmlns:a16="http://schemas.microsoft.com/office/drawing/2014/main" id="{B935BA4C-7A5F-439F-889C-ECFBC692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3586" y="1002968"/>
            <a:ext cx="268407" cy="26840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84AE11C-7B1F-4EEF-B916-FCA37B324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39" y="2061244"/>
            <a:ext cx="4533951" cy="247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89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A49C-21F5-3541-F94F-76D6C603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6;p17">
            <a:extLst>
              <a:ext uri="{FF2B5EF4-FFF2-40B4-BE49-F238E27FC236}">
                <a16:creationId xmlns:a16="http://schemas.microsoft.com/office/drawing/2014/main" id="{D35CBCBF-21B7-5BA7-4078-2767D7AEFBC7}"/>
              </a:ext>
            </a:extLst>
          </p:cNvPr>
          <p:cNvSpPr txBox="1"/>
          <p:nvPr/>
        </p:nvSpPr>
        <p:spPr>
          <a:xfrm>
            <a:off x="8032958" y="6401262"/>
            <a:ext cx="761999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FB1B6E-29AC-2D42-86C6-76C356A8EF4E}" type="slidenum">
              <a:rPr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pPr algn="r" defTabSz="68580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19</a:t>
            </a:fld>
            <a:endParaRPr lang="en-US" sz="1200" kern="0" dirty="0">
              <a:latin typeface="微軟正黑體" panose="020B0604030504040204" pitchFamily="34" charset="-120"/>
              <a:ea typeface="微軟正黑體" panose="020B0604030504040204" pitchFamily="34" charset="-120"/>
              <a:cs typeface="MingLiu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E4F2172A-1B40-4877-2659-2F0D48267D9D}"/>
              </a:ext>
            </a:extLst>
          </p:cNvPr>
          <p:cNvSpPr/>
          <p:nvPr/>
        </p:nvSpPr>
        <p:spPr>
          <a:xfrm>
            <a:off x="3802407" y="3018711"/>
            <a:ext cx="1539187" cy="15391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" name="Google Shape;140;p5">
            <a:extLst>
              <a:ext uri="{FF2B5EF4-FFF2-40B4-BE49-F238E27FC236}">
                <a16:creationId xmlns:a16="http://schemas.microsoft.com/office/drawing/2014/main" id="{1FD9B588-6C13-CAD3-F280-D27A66B435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054" y="544366"/>
            <a:ext cx="8229600" cy="958444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lvl="0" algn="ctr"/>
            <a:r>
              <a:rPr lang="en-US" altLang="zh-TW" sz="4000" b="1" dirty="0">
                <a:sym typeface="Inter"/>
              </a:rPr>
              <a:t>Vibe Coding </a:t>
            </a:r>
            <a:r>
              <a:rPr lang="zh-TW" altLang="en-US" sz="4000" b="1" dirty="0">
                <a:sym typeface="Inter"/>
              </a:rPr>
              <a:t>帶來軟體危機</a:t>
            </a:r>
            <a:endParaRPr lang="en-US" altLang="zh-TW" sz="4000" b="1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92F8CF0F-F20D-7F30-8D98-526796B14F2C}"/>
              </a:ext>
            </a:extLst>
          </p:cNvPr>
          <p:cNvSpPr/>
          <p:nvPr/>
        </p:nvSpPr>
        <p:spPr>
          <a:xfrm>
            <a:off x="4029649" y="3603972"/>
            <a:ext cx="1084703" cy="108470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2C51BA16-7179-46EC-9059-3C1589644999}"/>
              </a:ext>
            </a:extLst>
          </p:cNvPr>
          <p:cNvGrpSpPr/>
          <p:nvPr/>
        </p:nvGrpSpPr>
        <p:grpSpPr>
          <a:xfrm>
            <a:off x="280219" y="1604523"/>
            <a:ext cx="8583561" cy="5070586"/>
            <a:chOff x="799800" y="1321168"/>
            <a:chExt cx="10355975" cy="5676008"/>
          </a:xfrm>
        </p:grpSpPr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A225D480-652F-C80E-E953-1B7A83D05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5296" y="1321168"/>
              <a:ext cx="3218468" cy="2323446"/>
            </a:xfrm>
            <a:prstGeom prst="rect">
              <a:avLst/>
            </a:prstGeom>
          </p:spPr>
        </p:pic>
        <p:pic>
          <p:nvPicPr>
            <p:cNvPr id="3" name="圖片 2" descr="The image illustrates a playful and humorous take on computer security, featuring a stack of boxes representing various concepts, with a focus on the themes of debt, bugs, and security vulnerabilities.&#10;&#10;AI 產生的內容可能不正確。">
              <a:extLst>
                <a:ext uri="{FF2B5EF4-FFF2-40B4-BE49-F238E27FC236}">
                  <a16:creationId xmlns:a16="http://schemas.microsoft.com/office/drawing/2014/main" id="{79D9EDFC-D069-CC08-0947-B43DA07AD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0638" y="4525477"/>
              <a:ext cx="3415618" cy="2471699"/>
            </a:xfrm>
            <a:prstGeom prst="rect">
              <a:avLst/>
            </a:prstGeom>
          </p:spPr>
        </p:pic>
        <p:pic>
          <p:nvPicPr>
            <p:cNvPr id="6" name="圖片 5" descr="The illustration humorously depicts a person working on coding, suggesting that while Vibe coding is great for generating ideas, it's not sufficient for quality assurance, which requires code reviews, security patches, and refactoring.&#10;&#10;AI 產生的內容可能不正確。">
              <a:extLst>
                <a:ext uri="{FF2B5EF4-FFF2-40B4-BE49-F238E27FC236}">
                  <a16:creationId xmlns:a16="http://schemas.microsoft.com/office/drawing/2014/main" id="{B70702D7-6281-461F-0E4D-45E6FB31B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9811" y="1348251"/>
              <a:ext cx="3160875" cy="229636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9F875BA-A31D-98C4-3F25-1CEA5F779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80249" y="3823871"/>
              <a:ext cx="3375526" cy="2457535"/>
            </a:xfrm>
            <a:prstGeom prst="rect">
              <a:avLst/>
            </a:prstGeom>
          </p:spPr>
        </p:pic>
        <p:pic>
          <p:nvPicPr>
            <p:cNvPr id="12" name="圖片 11" descr="The image depicts a comic-style illustration highlighting various cybersecurity concepts such as HIDDEN TRAP 2, CRUNCH, MONITERANCE, MAINTENANCE, LEGACY, SQL INJECTION, and STRUCTURAL FAILURE.&#10;&#10;AI 產生的內容可能不正確。">
              <a:extLst>
                <a:ext uri="{FF2B5EF4-FFF2-40B4-BE49-F238E27FC236}">
                  <a16:creationId xmlns:a16="http://schemas.microsoft.com/office/drawing/2014/main" id="{8554EB09-902B-A6FB-44AE-FB3C5BB0B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9800" y="3823871"/>
              <a:ext cx="3337274" cy="24716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9439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91466"/>
            <a:ext cx="8966200" cy="91598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hsb-DE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sb-DE" altLang="zh-TW" sz="3100" i="1" dirty="0">
                <a:latin typeface="Arial" panose="020B0604020202020204" pitchFamily="34" charset="0"/>
                <a:cs typeface="Arial" panose="020B0604020202020204" pitchFamily="34" charset="0"/>
              </a:rPr>
              <a:t>from Taiwana Boss‘ perspective</a:t>
            </a:r>
            <a:endParaRPr lang="zh-TW" altLang="en-US" sz="3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217" y="2052485"/>
            <a:ext cx="6346433" cy="2409963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82DD0C-09F9-4128-A3E2-CA20FEC54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02" y="1294808"/>
            <a:ext cx="5137608" cy="5030201"/>
          </a:xfrm>
          <a:prstGeom prst="rect">
            <a:avLst/>
          </a:prstGeom>
        </p:spPr>
      </p:pic>
      <p:sp>
        <p:nvSpPr>
          <p:cNvPr id="9" name="語音泡泡: 矩形 8">
            <a:extLst>
              <a:ext uri="{FF2B5EF4-FFF2-40B4-BE49-F238E27FC236}">
                <a16:creationId xmlns:a16="http://schemas.microsoft.com/office/drawing/2014/main" id="{D1EC007B-0BAF-4396-88F9-BE73115C6D81}"/>
              </a:ext>
            </a:extLst>
          </p:cNvPr>
          <p:cNvSpPr/>
          <p:nvPr/>
        </p:nvSpPr>
        <p:spPr>
          <a:xfrm>
            <a:off x="2249260" y="1615921"/>
            <a:ext cx="4575746" cy="1485498"/>
          </a:xfrm>
          <a:prstGeom prst="wedgeRectCallout">
            <a:avLst>
              <a:gd name="adj1" fmla="val -18294"/>
              <a:gd name="adj2" fmla="val 49639"/>
            </a:avLst>
          </a:prstGeom>
          <a:solidFill>
            <a:srgbClr val="8EB383"/>
          </a:solidFill>
          <a:ln>
            <a:solidFill>
              <a:srgbClr val="8EB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sb-DE" altLang="zh-TW" sz="3200" dirty="0">
                <a:solidFill>
                  <a:schemeClr val="tx1"/>
                </a:solidFill>
              </a:rPr>
              <a:t>If our product does not crash before clients, all your testing is wasted. 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28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CED221D-7AB1-4036-8FEE-2528063A9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9" y="1166822"/>
            <a:ext cx="8312141" cy="48366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625" b="1" i="1" dirty="0">
                <a:solidFill>
                  <a:schemeClr val="tx2"/>
                </a:solidFill>
              </a:rPr>
              <a:t>Q #35) How many test cases have you automated per day?</a:t>
            </a:r>
            <a:endParaRPr lang="en-US" altLang="zh-TW" dirty="0">
              <a:solidFill>
                <a:schemeClr val="tx2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1478845" y="408671"/>
            <a:ext cx="5994009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68F2FBF-8578-42EF-87D2-76CD4943B21A}"/>
              </a:ext>
            </a:extLst>
          </p:cNvPr>
          <p:cNvSpPr txBox="1">
            <a:spLocks/>
          </p:cNvSpPr>
          <p:nvPr/>
        </p:nvSpPr>
        <p:spPr>
          <a:xfrm>
            <a:off x="374659" y="5579521"/>
            <a:ext cx="8312141" cy="81899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b="1" u="sng" dirty="0">
                <a:solidFill>
                  <a:schemeClr val="accent1"/>
                </a:solidFill>
              </a:rPr>
              <a:t>39 TOP Automation Testing Interview Questions And Answers </a:t>
            </a:r>
            <a:endParaRPr lang="en-US" altLang="zh-TW" sz="16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1"/>
                </a:solidFill>
              </a:rPr>
              <a:t>https://www.softwaretestinghelp.com/test-automation-interview-questions/</a:t>
            </a:r>
          </a:p>
          <a:p>
            <a:endParaRPr lang="zh-TW" altLang="en-US" sz="1600" dirty="0">
              <a:solidFill>
                <a:schemeClr val="accent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20A663A-3434-403B-87C3-17BDEED59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704" y="1754717"/>
            <a:ext cx="3459808" cy="3352433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773DFC9-E80C-4370-BFC5-908FD51DF335}"/>
              </a:ext>
            </a:extLst>
          </p:cNvPr>
          <p:cNvSpPr txBox="1">
            <a:spLocks/>
          </p:cNvSpPr>
          <p:nvPr/>
        </p:nvSpPr>
        <p:spPr>
          <a:xfrm>
            <a:off x="374659" y="1733444"/>
            <a:ext cx="5144035" cy="37631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Answer: Well, the number depends on the complexity of the test cases. When the complexity was limited, I was able to automate </a:t>
            </a:r>
            <a:r>
              <a:rPr lang="en-US" altLang="zh-TW" b="1" dirty="0">
                <a:solidFill>
                  <a:schemeClr val="tx2"/>
                </a:solidFill>
              </a:rPr>
              <a:t>5 to 6 test cases per day</a:t>
            </a:r>
            <a:r>
              <a:rPr lang="en-US" altLang="zh-TW" dirty="0">
                <a:solidFill>
                  <a:schemeClr val="tx2"/>
                </a:solidFill>
              </a:rPr>
              <a:t>. 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     Sometimes, I was able to automate </a:t>
            </a:r>
            <a:r>
              <a:rPr lang="en-US" altLang="zh-TW" b="1" dirty="0">
                <a:solidFill>
                  <a:schemeClr val="tx2"/>
                </a:solidFill>
              </a:rPr>
              <a:t>only one test case for complex scenarios</a:t>
            </a:r>
            <a:r>
              <a:rPr lang="en-US" altLang="zh-TW" dirty="0">
                <a:solidFill>
                  <a:schemeClr val="tx2"/>
                </a:solidFill>
              </a:rPr>
              <a:t>.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      I have also broken down my test cases into different components like, take input, do the calculation, verify the output etc. 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	in case of </a:t>
            </a:r>
            <a:r>
              <a:rPr lang="en-US" altLang="zh-TW" b="1" dirty="0">
                <a:solidFill>
                  <a:schemeClr val="tx2"/>
                </a:solidFill>
              </a:rPr>
              <a:t>very complex scenarios and have taken 2 or more days</a:t>
            </a:r>
            <a:r>
              <a:rPr lang="en-US" altLang="zh-TW" dirty="0">
                <a:solidFill>
                  <a:schemeClr val="tx2"/>
                </a:solidFill>
              </a:rPr>
              <a:t>.</a:t>
            </a:r>
            <a:endParaRPr lang="zh-TW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82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9280" y="1089398"/>
            <a:ext cx="7731760" cy="1917183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altLang="zh-TW" sz="2400" i="1" dirty="0"/>
              <a:t>Basically record/replay and test management.</a:t>
            </a:r>
          </a:p>
          <a:p>
            <a:pPr>
              <a:defRPr/>
            </a:pPr>
            <a:r>
              <a:rPr lang="en-US" altLang="zh-TW" sz="2400" i="1" dirty="0"/>
              <a:t>Test scripts are not reusable across projects.</a:t>
            </a:r>
          </a:p>
          <a:p>
            <a:pPr>
              <a:defRPr/>
            </a:pPr>
            <a:r>
              <a:rPr lang="en-US" altLang="zh-TW" sz="2400" i="1" dirty="0"/>
              <a:t>Need human to design tests</a:t>
            </a:r>
          </a:p>
          <a:p>
            <a:pPr>
              <a:defRPr/>
            </a:pPr>
            <a:r>
              <a:rPr lang="en-US" altLang="zh-TW" sz="2400" i="1" dirty="0"/>
              <a:t>Need human to recognize screens</a:t>
            </a:r>
          </a:p>
          <a:p>
            <a:pPr>
              <a:defRPr/>
            </a:pPr>
            <a:r>
              <a:rPr lang="en-US" altLang="zh-TW" sz="2400" i="1" dirty="0"/>
              <a:t>Need human to understand traces. 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59D247-F831-47A2-9085-440BECBA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D9988B7-FC32-4FFC-9AAC-35FDBAF58787}" type="slidenum">
              <a:rPr lang="zh-TW" altLang="en-US" sz="9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zh-TW" altLang="en-US" sz="900">
              <a:solidFill>
                <a:srgbClr val="898989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" y="3294303"/>
            <a:ext cx="3251200" cy="290960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78" y="3212887"/>
            <a:ext cx="1728243" cy="307243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80" y="3138708"/>
            <a:ext cx="1862224" cy="331062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D46145-9484-421A-A310-ED7262D1AF5C}"/>
              </a:ext>
            </a:extLst>
          </p:cNvPr>
          <p:cNvSpPr/>
          <p:nvPr/>
        </p:nvSpPr>
        <p:spPr>
          <a:xfrm>
            <a:off x="1092200" y="375725"/>
            <a:ext cx="672592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2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3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6362" y="379622"/>
            <a:ext cx="6346433" cy="1059731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solutions </a:t>
            </a:r>
            <a:r>
              <a:rPr lang="en-US" altLang="zh-TW" sz="27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nowaday</a:t>
            </a:r>
            <a:endParaRPr lang="zh-TW" altLang="en-US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6497" y="1609463"/>
            <a:ext cx="8286161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測試外包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適合大型軟體公司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只能做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testin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acceptance testing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外洩風險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Feedback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緩慢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l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軟體測試自動化工具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只幫你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replay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testing (low intelligence)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low reusability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許多未經整合的測試準備工作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語音泡泡: 矩形 5">
            <a:extLst>
              <a:ext uri="{FF2B5EF4-FFF2-40B4-BE49-F238E27FC236}">
                <a16:creationId xmlns:a16="http://schemas.microsoft.com/office/drawing/2014/main" id="{49EA1480-4358-44A5-846F-A3B8982D8C33}"/>
              </a:ext>
            </a:extLst>
          </p:cNvPr>
          <p:cNvSpPr/>
          <p:nvPr/>
        </p:nvSpPr>
        <p:spPr>
          <a:xfrm>
            <a:off x="5311110" y="3120785"/>
            <a:ext cx="3446393" cy="1427479"/>
          </a:xfrm>
          <a:prstGeom prst="wedgeRectCallout">
            <a:avLst>
              <a:gd name="adj1" fmla="val -90827"/>
              <a:gd name="adj2" fmla="val 26560"/>
            </a:avLst>
          </a:prstGeom>
          <a:solidFill>
            <a:srgbClr val="00FFFF"/>
          </a:solidFill>
          <a:ln w="762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r>
              <a:rPr lang="zh-TW" altLang="en-US" sz="2100" dirty="0">
                <a:solidFill>
                  <a:srgbClr val="FF0000"/>
                </a:solidFill>
              </a:rPr>
              <a:t>巨大市場機會</a:t>
            </a:r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endParaRPr lang="en-US" altLang="zh-TW" sz="2100" dirty="0">
              <a:solidFill>
                <a:srgbClr val="0000FF"/>
              </a:solidFill>
            </a:endParaRPr>
          </a:p>
          <a:p>
            <a:pPr algn="ctr"/>
            <a:r>
              <a:rPr lang="en-US" altLang="zh-TW" sz="2100" dirty="0">
                <a:solidFill>
                  <a:srgbClr val="FF0000"/>
                </a:solidFill>
              </a:rPr>
              <a:t>App</a:t>
            </a:r>
            <a:r>
              <a:rPr lang="zh-TW" altLang="en-US" sz="2100" dirty="0">
                <a:solidFill>
                  <a:srgbClr val="FF0000"/>
                </a:solidFill>
              </a:rPr>
              <a:t>智慧型測試工具</a:t>
            </a:r>
          </a:p>
        </p:txBody>
      </p:sp>
    </p:spTree>
    <p:extLst>
      <p:ext uri="{BB962C8B-B14F-4D97-AF65-F5344CB8AC3E}">
        <p14:creationId xmlns:p14="http://schemas.microsoft.com/office/powerpoint/2010/main" val="2859408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8"/>
            <a:ext cx="6346433" cy="82367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078772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應用測試難以自動化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目前測試自動化成果重複使用性都非常低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對一個顧客所製作的成果，幾乎都沒辦法用在另一個顧客。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軟體流程差異性、軟體文件差異性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學界的軟體測試成果基本上沒有在工業界應用可能性。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8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61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70514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Goal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513840"/>
            <a:ext cx="8158480" cy="486314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Theory in software testing.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Advanced testing and security-checking tools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Capability of deploying software testing technology to various companies.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Basic concepts and skills in security checking.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10D86D32-AE63-4ACB-8E82-0FD275F9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451820092"/>
      </p:ext>
    </p:extLst>
  </p:cSld>
  <p:clrMapOvr>
    <a:masterClrMapping/>
  </p:clrMapOvr>
  <p:transition spd="med" advTm="11699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078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Plan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44320"/>
            <a:ext cx="8027670" cy="48326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The first module: foundations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The second module: Testing criteria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Graph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Logic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Input space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Syntax testing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Third module: practical consideration. </a:t>
            </a:r>
          </a:p>
          <a:p>
            <a:r>
              <a:rPr lang="en-US" altLang="zh-TW" sz="2800" b="0" dirty="0" err="1">
                <a:ea typeface="新細明體" panose="02020500000000000000" pitchFamily="18" charset="-120"/>
              </a:rPr>
              <a:t>Criterias</a:t>
            </a:r>
            <a:r>
              <a:rPr lang="en-US" altLang="zh-TW" sz="2800" b="0" dirty="0">
                <a:ea typeface="新細明體" panose="02020500000000000000" pitchFamily="18" charset="-120"/>
              </a:rPr>
              <a:t> for new app types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Security checking overview. 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3592912791"/>
      </p:ext>
    </p:extLst>
  </p:cSld>
  <p:clrMapOvr>
    <a:masterClrMapping/>
  </p:clrMapOvr>
  <p:transition spd="med" advTm="168273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52708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Pre-requisites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595120"/>
            <a:ext cx="8007350" cy="47818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Basic Computer Concepts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C/C++, Java programming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Python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Data-Structures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Algorithms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2691107570"/>
      </p:ext>
    </p:extLst>
  </p:cSld>
  <p:clrMapOvr>
    <a:masterClrMapping/>
  </p:clrMapOvr>
  <p:transition spd="med" advTm="157772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188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493520"/>
            <a:ext cx="8173040" cy="48834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Final exam (40%) , </a:t>
            </a:r>
            <a:r>
              <a:rPr lang="en-US" altLang="zh-TW" sz="2800" b="0">
                <a:ea typeface="新細明體" panose="02020500000000000000" pitchFamily="18" charset="-120"/>
              </a:rPr>
              <a:t>June 1</a:t>
            </a:r>
            <a:r>
              <a:rPr lang="en-US" altLang="zh-TW" sz="2800" b="0" dirty="0">
                <a:ea typeface="新細明體" panose="02020500000000000000" pitchFamily="18" charset="-120"/>
              </a:rPr>
              <a:t>2</a:t>
            </a:r>
            <a:r>
              <a:rPr lang="en-US" altLang="zh-TW" sz="2800" b="0">
                <a:ea typeface="新細明體" panose="02020500000000000000" pitchFamily="18" charset="-120"/>
              </a:rPr>
              <a:t>, 2026</a:t>
            </a:r>
            <a:endParaRPr lang="en-US" altLang="zh-TW" sz="2800" b="0" dirty="0">
              <a:ea typeface="新細明體" panose="02020500000000000000" pitchFamily="18" charset="-120"/>
            </a:endParaRP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b="0" dirty="0">
                <a:ea typeface="新細明體" panose="02020500000000000000" pitchFamily="18" charset="-120"/>
              </a:rPr>
              <a:t>20% of final exam scores w</a:t>
            </a:r>
            <a:r>
              <a:rPr lang="en-US" altLang="zh-TW" sz="2500" dirty="0">
                <a:ea typeface="新細明體" panose="02020500000000000000" pitchFamily="18" charset="-120"/>
              </a:rPr>
              <a:t>ill be for questions on selected midterm reports. </a:t>
            </a:r>
            <a:endParaRPr lang="en-US" altLang="zh-TW" sz="2500" b="0" dirty="0">
              <a:ea typeface="新細明體" panose="02020500000000000000" pitchFamily="18" charset="-120"/>
            </a:endParaRP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Mid-term report (10%), deadline on April 26, 2023.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/>
              <a:t>Deadline for midterm presentation registration: 3/8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/>
              <a:t>Confirmation of midterm presentation registration: 3/15</a:t>
            </a:r>
            <a:endParaRPr lang="en-US" altLang="zh-TW" sz="2500" b="0" dirty="0">
              <a:ea typeface="新細明體" panose="02020500000000000000" pitchFamily="18" charset="-120"/>
            </a:endParaRPr>
          </a:p>
          <a:p>
            <a:r>
              <a:rPr lang="en-US" altLang="zh-TW" sz="2800" dirty="0">
                <a:ea typeface="新細明體" panose="02020500000000000000" pitchFamily="18" charset="-120"/>
              </a:rPr>
              <a:t>3</a:t>
            </a:r>
            <a:r>
              <a:rPr lang="en-US" altLang="zh-TW" sz="2800" b="0" dirty="0">
                <a:ea typeface="新細明體" panose="02020500000000000000" pitchFamily="18" charset="-120"/>
              </a:rPr>
              <a:t> projects (50%)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 err="1">
                <a:ea typeface="新細明體" panose="02020500000000000000" pitchFamily="18" charset="-120"/>
              </a:rPr>
              <a:t>CppUnit</a:t>
            </a:r>
            <a:r>
              <a:rPr lang="en-US" altLang="zh-TW" sz="2500" dirty="0">
                <a:ea typeface="新細明體" panose="02020500000000000000" pitchFamily="18" charset="-120"/>
              </a:rPr>
              <a:t> and GOV for unit testing (15%), due by April 12, 2023.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b="0" dirty="0">
                <a:ea typeface="新細明體" panose="02020500000000000000" pitchFamily="18" charset="-120"/>
              </a:rPr>
              <a:t>Selenium for web-testing (15%), due by May 3, 2023.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>
                <a:ea typeface="新細明體" panose="02020500000000000000" pitchFamily="18" charset="-120"/>
              </a:rPr>
              <a:t>App/Web/Security Testing (20%), due by June 14, 2023. </a:t>
            </a:r>
          </a:p>
          <a:p>
            <a:pPr lvl="2">
              <a:buFont typeface="Wingdings" panose="05000000000000000000" pitchFamily="2" charset="2"/>
              <a:buChar char="u"/>
            </a:pPr>
            <a:r>
              <a:rPr lang="en-US" altLang="zh-TW" sz="2200" b="0" dirty="0">
                <a:ea typeface="新細明體" panose="02020500000000000000" pitchFamily="18" charset="-120"/>
              </a:rPr>
              <a:t>Experiment with AI </a:t>
            </a:r>
          </a:p>
          <a:p>
            <a:pPr lvl="1">
              <a:buFont typeface="Wingdings" panose="05000000000000000000" pitchFamily="2" charset="2"/>
              <a:buChar char="n"/>
            </a:pPr>
            <a:endParaRPr lang="en-US" altLang="zh-TW" sz="2500" b="0" dirty="0">
              <a:ea typeface="新細明體" panose="02020500000000000000" pitchFamily="18" charset="-120"/>
            </a:endParaRPr>
          </a:p>
          <a:p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700656095"/>
      </p:ext>
    </p:extLst>
  </p:cSld>
  <p:clrMapOvr>
    <a:masterClrMapping/>
  </p:clrMapOvr>
  <p:transition spd="med" advTm="22574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969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3520"/>
            <a:ext cx="7886700" cy="48834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sb-DE" altLang="zh-TW" sz="2800" b="0" dirty="0">
                <a:ea typeface="新細明體" panose="02020500000000000000" pitchFamily="18" charset="-120"/>
              </a:rPr>
              <a:t>Midterm presentation (10%) </a:t>
            </a: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a main paper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b="0" dirty="0">
                <a:ea typeface="新細明體" panose="02020500000000000000" pitchFamily="18" charset="-120"/>
              </a:rPr>
              <a:t>must be a regular paper published in ACM/IEEE ICSE 2021-22, ACM FSE 2021-22, IEEE ASE 2021-22, ACM ISSTA 2021-22, or ACM PLDI 2021-22.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i="1" dirty="0">
                <a:solidFill>
                  <a:schemeClr val="accent1"/>
                </a:solidFill>
                <a:ea typeface="新細明體" panose="02020500000000000000" pitchFamily="18" charset="-120"/>
              </a:rPr>
              <a:t>No tool paper, no short paper, no affiliated workshop paper.</a:t>
            </a:r>
            <a:endParaRPr lang="en-US" altLang="zh-TW" sz="2700" b="0" i="1" dirty="0">
              <a:solidFill>
                <a:schemeClr val="accent1"/>
              </a:solidFill>
              <a:ea typeface="新細明體" panose="02020500000000000000" pitchFamily="18" charset="-120"/>
            </a:endParaRP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2 comparison papers related to the main paper.</a:t>
            </a: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Comparing the three papers that you selected in the above. </a:t>
            </a:r>
          </a:p>
          <a:p>
            <a:r>
              <a:rPr lang="en-US" altLang="zh-TW" sz="3100" dirty="0">
                <a:ea typeface="新細明體" panose="02020500000000000000" pitchFamily="18" charset="-120"/>
              </a:rPr>
              <a:t>Submission including your PPT file and MP4 Video for 10mins.</a:t>
            </a:r>
            <a:endParaRPr lang="en-US" altLang="zh-TW" sz="3100" b="0" dirty="0"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3769813048"/>
      </p:ext>
    </p:extLst>
  </p:cSld>
  <p:clrMapOvr>
    <a:masterClrMapping/>
  </p:clrMapOvr>
  <p:transition spd="med" advTm="225749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D14D6-8E57-4C84-9C81-34F3CA5E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969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hsb-DE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Videos</a:t>
            </a:r>
            <a:endParaRPr lang="zh-TW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8F14786-8795-4CD8-8B74-BD382E8C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Department of Electrical Engineering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F7336F-E612-4AAD-806F-79A63164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849596"/>
            <a:ext cx="7768590" cy="4369832"/>
          </a:xfrm>
          <a:prstGeom prst="rect">
            <a:avLst/>
          </a:prstGeom>
        </p:spPr>
      </p:pic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E12B84F-8DA2-42D7-8D66-6039AD356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517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26676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Schedule (1/2)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US" altLang="zh-TW" sz="9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C1D9459-23A9-4A4F-A8ED-1B342739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9" name="內容版面配置區 6">
            <a:extLst>
              <a:ext uri="{FF2B5EF4-FFF2-40B4-BE49-F238E27FC236}">
                <a16:creationId xmlns:a16="http://schemas.microsoft.com/office/drawing/2014/main" id="{64A1272E-B186-4C72-994D-9D47284C9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916242"/>
              </p:ext>
            </p:extLst>
          </p:nvPr>
        </p:nvGraphicFramePr>
        <p:xfrm>
          <a:off x="1037689" y="1360235"/>
          <a:ext cx="6976154" cy="4996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284">
                  <a:extLst>
                    <a:ext uri="{9D8B030D-6E8A-4147-A177-3AD203B41FA5}">
                      <a16:colId xmlns:a16="http://schemas.microsoft.com/office/drawing/2014/main" val="201773542"/>
                    </a:ext>
                  </a:extLst>
                </a:gridCol>
                <a:gridCol w="885078">
                  <a:extLst>
                    <a:ext uri="{9D8B030D-6E8A-4147-A177-3AD203B41FA5}">
                      <a16:colId xmlns:a16="http://schemas.microsoft.com/office/drawing/2014/main" val="3428574508"/>
                    </a:ext>
                  </a:extLst>
                </a:gridCol>
                <a:gridCol w="5655792">
                  <a:extLst>
                    <a:ext uri="{9D8B030D-6E8A-4147-A177-3AD203B41FA5}">
                      <a16:colId xmlns:a16="http://schemas.microsoft.com/office/drawing/2014/main" val="123791886"/>
                    </a:ext>
                  </a:extLst>
                </a:gridCol>
              </a:tblGrid>
              <a:tr h="713730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1. 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3/6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kern="100">
                          <a:effectLst/>
                        </a:rPr>
                        <a:t>a) Syllabus, </a:t>
                      </a:r>
                      <a:endParaRPr lang="zh-TW" sz="1800" kern="100">
                        <a:effectLst/>
                      </a:endParaRPr>
                    </a:p>
                    <a:p>
                      <a:pPr algn="l"/>
                      <a:r>
                        <a:rPr lang="fr-FR" sz="1800" kern="100">
                          <a:effectLst/>
                        </a:rPr>
                        <a:t>b) Chapter 1: introduction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4050217085"/>
                  </a:ext>
                </a:extLst>
              </a:tr>
              <a:tr h="387021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2. 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3/13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1800" kern="100">
                          <a:effectLst/>
                        </a:rPr>
                        <a:t>Chapter 1: introduction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3518461554"/>
                  </a:ext>
                </a:extLst>
              </a:tr>
              <a:tr h="104043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3. 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3/20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a) Chapter 2: Graph-based Testing</a:t>
                      </a:r>
                      <a:endParaRPr lang="zh-TW" sz="1800" kern="100">
                        <a:effectLst/>
                      </a:endParaRPr>
                    </a:p>
                    <a:p>
                      <a:pPr algn="l"/>
                      <a:r>
                        <a:rPr lang="en-US" sz="1800" kern="100">
                          <a:effectLst/>
                        </a:rPr>
                        <a:t>b) Deadline for midterm presentation registration</a:t>
                      </a:r>
                      <a:endParaRPr lang="zh-TW" sz="1800" kern="100">
                        <a:effectLst/>
                      </a:endParaRPr>
                    </a:p>
                    <a:p>
                      <a:pPr algn="l"/>
                      <a:r>
                        <a:rPr lang="en-US" sz="1800" kern="100">
                          <a:effectLst/>
                        </a:rPr>
                        <a:t>c) Project 1 announcement: unit testing 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4099624459"/>
                  </a:ext>
                </a:extLst>
              </a:tr>
              <a:tr h="713730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4. 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3/27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a) Chapter 2: Graph-based Testing </a:t>
                      </a:r>
                      <a:endParaRPr lang="zh-TW" sz="1800" kern="100">
                        <a:effectLst/>
                      </a:endParaRPr>
                    </a:p>
                    <a:p>
                      <a:pPr algn="l"/>
                      <a:r>
                        <a:rPr lang="en-US" sz="1800" kern="100">
                          <a:effectLst/>
                        </a:rPr>
                        <a:t>b) Confirmation of midterm presentation registration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15061235"/>
                  </a:ext>
                </a:extLst>
              </a:tr>
              <a:tr h="387021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5.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1800" kern="100">
                          <a:effectLst/>
                        </a:rPr>
                        <a:t>4/3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800" kern="100" dirty="0">
                          <a:effectLst/>
                        </a:rPr>
                        <a:t>兒童節放假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1103412045"/>
                  </a:ext>
                </a:extLst>
              </a:tr>
              <a:tr h="713730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6. 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1800" kern="100">
                          <a:effectLst/>
                        </a:rPr>
                        <a:t>4/10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1800" kern="100">
                          <a:effectLst/>
                        </a:rPr>
                        <a:t>(a) Chapter 2: Graph-based Testing </a:t>
                      </a:r>
                      <a:endParaRPr lang="zh-TW" sz="1800" kern="100">
                        <a:effectLst/>
                      </a:endParaRPr>
                    </a:p>
                    <a:p>
                      <a:pPr algn="l"/>
                      <a:r>
                        <a:rPr lang="hsb-DE" sz="1800" kern="100">
                          <a:effectLst/>
                        </a:rPr>
                        <a:t>(b) Chapter 3: Logic-based Testing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19084187"/>
                  </a:ext>
                </a:extLst>
              </a:tr>
              <a:tr h="104043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7.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4/17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 dirty="0">
                          <a:effectLst/>
                        </a:rPr>
                        <a:t>a) Chapter 3: Logic-based Testing </a:t>
                      </a:r>
                      <a:endParaRPr lang="zh-TW" sz="1800" kern="100" dirty="0">
                        <a:effectLst/>
                      </a:endParaRPr>
                    </a:p>
                    <a:p>
                      <a:pPr algn="l"/>
                      <a:r>
                        <a:rPr lang="en-US" sz="1800" kern="100" dirty="0">
                          <a:effectLst/>
                        </a:rPr>
                        <a:t>b) Project 1 deadline</a:t>
                      </a:r>
                      <a:endParaRPr lang="zh-TW" sz="1800" kern="100" dirty="0">
                        <a:effectLst/>
                      </a:endParaRPr>
                    </a:p>
                    <a:p>
                      <a:pPr algn="l"/>
                      <a:r>
                        <a:rPr lang="en-US" sz="1800" kern="100" dirty="0">
                          <a:effectLst/>
                        </a:rPr>
                        <a:t>c) Project 2 announcement: web-testing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3433874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168282"/>
      </p:ext>
    </p:extLst>
  </p:cSld>
  <p:clrMapOvr>
    <a:masterClrMapping/>
  </p:clrMapOvr>
  <p:transition spd="med" advTm="35199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78046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Schedule (</a:t>
            </a:r>
            <a:r>
              <a:rPr lang="hsb-DE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2</a:t>
            </a:r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32</a:t>
            </a:fld>
            <a:endParaRPr lang="en-US" altLang="zh-TW" sz="9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18466D-CDB0-413A-AD47-2345A207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9" name="內容版面配置區 6">
            <a:extLst>
              <a:ext uri="{FF2B5EF4-FFF2-40B4-BE49-F238E27FC236}">
                <a16:creationId xmlns:a16="http://schemas.microsoft.com/office/drawing/2014/main" id="{6F88C372-346E-4695-8B20-D63F1F7F9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109885"/>
              </p:ext>
            </p:extLst>
          </p:nvPr>
        </p:nvGraphicFramePr>
        <p:xfrm>
          <a:off x="976045" y="1431926"/>
          <a:ext cx="7253555" cy="45175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593">
                  <a:extLst>
                    <a:ext uri="{9D8B030D-6E8A-4147-A177-3AD203B41FA5}">
                      <a16:colId xmlns:a16="http://schemas.microsoft.com/office/drawing/2014/main" val="201773542"/>
                    </a:ext>
                  </a:extLst>
                </a:gridCol>
                <a:gridCol w="920272">
                  <a:extLst>
                    <a:ext uri="{9D8B030D-6E8A-4147-A177-3AD203B41FA5}">
                      <a16:colId xmlns:a16="http://schemas.microsoft.com/office/drawing/2014/main" val="3428574508"/>
                    </a:ext>
                  </a:extLst>
                </a:gridCol>
                <a:gridCol w="5880690">
                  <a:extLst>
                    <a:ext uri="{9D8B030D-6E8A-4147-A177-3AD203B41FA5}">
                      <a16:colId xmlns:a16="http://schemas.microsoft.com/office/drawing/2014/main" val="123791886"/>
                    </a:ext>
                  </a:extLst>
                </a:gridCol>
              </a:tblGrid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8.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4/24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 dirty="0">
                          <a:effectLst/>
                        </a:rPr>
                        <a:t>Chapter 3: Logic-based Testing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2154636361"/>
                  </a:ext>
                </a:extLst>
              </a:tr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9.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5/1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800" kern="100">
                          <a:effectLst/>
                        </a:rPr>
                        <a:t>勞動節放假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293205106"/>
                  </a:ext>
                </a:extLst>
              </a:tr>
              <a:tr h="981263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10.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5/8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 dirty="0">
                          <a:effectLst/>
                        </a:rPr>
                        <a:t>a) Deadline of midterm presentation submission </a:t>
                      </a:r>
                      <a:endParaRPr lang="zh-TW" sz="1800" kern="100" dirty="0">
                        <a:effectLst/>
                      </a:endParaRPr>
                    </a:p>
                    <a:p>
                      <a:pPr algn="l"/>
                      <a:r>
                        <a:rPr lang="en-US" sz="1800" kern="100" dirty="0">
                          <a:effectLst/>
                        </a:rPr>
                        <a:t>b) Chapter 3: Logic-based Testing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3143118275"/>
                  </a:ext>
                </a:extLst>
              </a:tr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11.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5/15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Chapter 4: Input-Space Partition Testing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3994840405"/>
                  </a:ext>
                </a:extLst>
              </a:tr>
              <a:tr h="981263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12.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5/22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lphaLcParenR"/>
                      </a:pPr>
                      <a:r>
                        <a:rPr lang="en-US" sz="1800" kern="100">
                          <a:effectLst/>
                        </a:rPr>
                        <a:t>Chapter 5: Mutation Testing </a:t>
                      </a:r>
                      <a:endParaRPr lang="zh-TW" sz="1800" kern="100">
                        <a:effectLst/>
                      </a:endParaRPr>
                    </a:p>
                    <a:p>
                      <a:pPr marL="342900" lvl="0" indent="-342900" algn="l">
                        <a:buFont typeface="+mj-lt"/>
                        <a:buAutoNum type="alphaLcParenR"/>
                      </a:pPr>
                      <a:r>
                        <a:rPr lang="en-US" sz="1800" kern="100">
                          <a:effectLst/>
                        </a:rPr>
                        <a:t>Project 2 deadline</a:t>
                      </a:r>
                      <a:endParaRPr lang="zh-TW" sz="1800" kern="100">
                        <a:effectLst/>
                      </a:endParaRPr>
                    </a:p>
                    <a:p>
                      <a:pPr marL="342900" lvl="0" indent="-342900" algn="l">
                        <a:buFont typeface="+mj-lt"/>
                        <a:buAutoNum type="alphaLcParenR"/>
                      </a:pPr>
                      <a:r>
                        <a:rPr lang="en-US" sz="1800" kern="100">
                          <a:effectLst/>
                        </a:rPr>
                        <a:t>Project 3 announcement: app/web RWD testing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692876662"/>
                  </a:ext>
                </a:extLst>
              </a:tr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13.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5/29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Chapter 5: Mutation Testing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3998434577"/>
                  </a:ext>
                </a:extLst>
              </a:tr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14.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6/5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 dirty="0">
                          <a:effectLst/>
                        </a:rPr>
                        <a:t>Symbolic Model-Checking/ Security Checking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1036117852"/>
                  </a:ext>
                </a:extLst>
              </a:tr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15.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6/12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Final exam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2563534596"/>
                  </a:ext>
                </a:extLst>
              </a:tr>
              <a:tr h="365009"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16.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>
                          <a:effectLst/>
                        </a:rPr>
                        <a:t>6/19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00" dirty="0">
                          <a:effectLst/>
                        </a:rPr>
                        <a:t>Project 3 deadline and demonstration!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27743" marR="27743" marT="14067" marB="14067" anchor="ctr"/>
                </a:tc>
                <a:extLst>
                  <a:ext uri="{0D108BD9-81ED-4DB2-BD59-A6C34878D82A}">
                    <a16:rowId xmlns:a16="http://schemas.microsoft.com/office/drawing/2014/main" val="2342476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351198"/>
      </p:ext>
    </p:extLst>
  </p:cSld>
  <p:clrMapOvr>
    <a:masterClrMapping/>
  </p:clrMapOvr>
  <p:transition spd="med" advTm="18430"/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6766</TotalTime>
  <Pages>49</Pages>
  <Words>2260</Words>
  <Application>Microsoft Office PowerPoint</Application>
  <PresentationFormat>如螢幕大小 (4:3)</PresentationFormat>
  <Paragraphs>391</Paragraphs>
  <Slides>32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2" baseType="lpstr">
      <vt:lpstr>微軟正黑體</vt:lpstr>
      <vt:lpstr>微軟正黑體</vt:lpstr>
      <vt:lpstr>華康儷楷書(P)</vt:lpstr>
      <vt:lpstr>Arial</vt:lpstr>
      <vt:lpstr>Calibri</vt:lpstr>
      <vt:lpstr>Calibri Light</vt:lpstr>
      <vt:lpstr>Monotype Sorts</vt:lpstr>
      <vt:lpstr>Times New Roman</vt:lpstr>
      <vt:lpstr>Wingdings</vt:lpstr>
      <vt:lpstr>Office 佈景主題</vt:lpstr>
      <vt:lpstr>Software Testing &amp; Security Checking Spring 2026, EE 5191  Syllabus</vt:lpstr>
      <vt:lpstr>Textbook</vt:lpstr>
      <vt:lpstr>Class Information</vt:lpstr>
      <vt:lpstr>PowerPoint 簡報</vt:lpstr>
      <vt:lpstr>產業分析</vt:lpstr>
      <vt:lpstr>PowerPoint 簡報</vt:lpstr>
      <vt:lpstr>PowerPoint 簡報</vt:lpstr>
      <vt:lpstr>PowerPoint 簡報</vt:lpstr>
      <vt:lpstr>PowerPoint 簡報</vt:lpstr>
      <vt:lpstr>Status in the Industry</vt:lpstr>
      <vt:lpstr>Status in the Industry</vt:lpstr>
      <vt:lpstr>PowerPoint 簡報</vt:lpstr>
      <vt:lpstr>PowerPoint 簡報</vt:lpstr>
      <vt:lpstr>PowerPoint 簡報</vt:lpstr>
      <vt:lpstr>Background from the Boss‘ perspective</vt:lpstr>
      <vt:lpstr>市場痛點</vt:lpstr>
      <vt:lpstr>市場痛點</vt:lpstr>
      <vt:lpstr>Vibe Coding 開發危機 失控的 AI 指令/ 軟體驗證新挑戰</vt:lpstr>
      <vt:lpstr>Vibe Coding 帶來軟體危機</vt:lpstr>
      <vt:lpstr>Background from Taiwana Boss‘ perspective</vt:lpstr>
      <vt:lpstr>PowerPoint 簡報</vt:lpstr>
      <vt:lpstr>PowerPoint 簡報</vt:lpstr>
      <vt:lpstr>產業分析 solutions nowaday</vt:lpstr>
      <vt:lpstr>產業分析</vt:lpstr>
      <vt:lpstr>Goal</vt:lpstr>
      <vt:lpstr>Course Plan</vt:lpstr>
      <vt:lpstr>Pre-requisites</vt:lpstr>
      <vt:lpstr>Evaluation</vt:lpstr>
      <vt:lpstr>Evaluation</vt:lpstr>
      <vt:lpstr>Videos</vt:lpstr>
      <vt:lpstr>Course Schedule (1/2)</vt:lpstr>
      <vt:lpstr>Course Schedule (2/2)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subject/>
  <dc:creator>Jeff Offutt</dc:creator>
  <cp:keywords/>
  <dc:description/>
  <cp:lastModifiedBy>user</cp:lastModifiedBy>
  <cp:revision>355</cp:revision>
  <cp:lastPrinted>1996-04-04T10:27:56Z</cp:lastPrinted>
  <dcterms:created xsi:type="dcterms:W3CDTF">1996-06-15T03:21:08Z</dcterms:created>
  <dcterms:modified xsi:type="dcterms:W3CDTF">2026-03-21T22:46:26Z</dcterms:modified>
</cp:coreProperties>
</file>