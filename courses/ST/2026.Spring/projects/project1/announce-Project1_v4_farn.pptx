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84" r:id="rId4"/>
    <p:sldId id="279" r:id="rId5"/>
    <p:sldId id="258" r:id="rId6"/>
    <p:sldId id="280" r:id="rId7"/>
    <p:sldId id="281" r:id="rId8"/>
    <p:sldId id="274" r:id="rId9"/>
    <p:sldId id="259" r:id="rId10"/>
    <p:sldId id="282" r:id="rId11"/>
    <p:sldId id="277" r:id="rId12"/>
    <p:sldId id="278" r:id="rId13"/>
    <p:sldId id="262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2529" autoAdjust="0"/>
  </p:normalViewPr>
  <p:slideViewPr>
    <p:cSldViewPr snapToGrid="0" snapToObjects="1">
      <p:cViewPr varScale="1">
        <p:scale>
          <a:sx n="51" d="100"/>
          <a:sy n="51" d="100"/>
        </p:scale>
        <p:origin x="1164" y="48"/>
      </p:cViewPr>
      <p:guideLst/>
    </p:cSldViewPr>
  </p:slideViewPr>
  <p:notesTextViewPr>
    <p:cViewPr>
      <p:scale>
        <a:sx n="300" d="100"/>
        <a:sy n="3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6368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 err="1"/>
              <a:t>這學期我們要研究一個問題：LLM</a:t>
            </a:r>
            <a:r>
              <a:rPr lang="en-US" altLang="zh-TW" dirty="0"/>
              <a:t> </a:t>
            </a:r>
            <a:r>
              <a:rPr lang="en-US" altLang="zh-TW" dirty="0" err="1"/>
              <a:t>能不能取代人工判斷測試結果</a:t>
            </a:r>
            <a:r>
              <a:rPr lang="en-US" altLang="zh-TW" dirty="0"/>
              <a:t>？
</a:t>
            </a:r>
            <a:r>
              <a:rPr lang="en-US" altLang="zh-TW" dirty="0" err="1"/>
              <a:t>也就是說，當一個測試跑完之後，LLM</a:t>
            </a:r>
            <a:r>
              <a:rPr lang="en-US" altLang="zh-TW" dirty="0"/>
              <a:t> </a:t>
            </a:r>
            <a:r>
              <a:rPr lang="en-US" altLang="zh-TW" dirty="0" err="1"/>
              <a:t>能不能根據執行結果，自動判斷它是</a:t>
            </a:r>
            <a:r>
              <a:rPr lang="en-US" altLang="zh-TW" dirty="0"/>
              <a:t> pass </a:t>
            </a:r>
            <a:r>
              <a:rPr lang="en-US" altLang="zh-TW" dirty="0" err="1"/>
              <a:t>還是</a:t>
            </a:r>
            <a:r>
              <a:rPr lang="en-US" altLang="zh-TW" dirty="0"/>
              <a:t> </a:t>
            </a:r>
            <a:r>
              <a:rPr lang="en-US" altLang="zh-TW" dirty="0" err="1"/>
              <a:t>fail，而不是每次都靠人一個一個看</a:t>
            </a:r>
            <a:r>
              <a:rPr lang="en-US" altLang="zh-TW" dirty="0"/>
              <a:t>。
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 err="1"/>
              <a:t>這學期我們要研究一個問題：LLM</a:t>
            </a:r>
            <a:r>
              <a:rPr lang="en-US" altLang="zh-TW" dirty="0"/>
              <a:t> </a:t>
            </a:r>
            <a:r>
              <a:rPr lang="en-US" altLang="zh-TW" dirty="0" err="1"/>
              <a:t>能不能取代人工判斷測試結果</a:t>
            </a:r>
            <a:r>
              <a:rPr lang="en-US" altLang="zh-TW" dirty="0"/>
              <a:t>？
</a:t>
            </a:r>
            <a:r>
              <a:rPr lang="en-US" altLang="zh-TW" dirty="0" err="1"/>
              <a:t>也就是說，當一個測試跑完之後，LLM</a:t>
            </a:r>
            <a:r>
              <a:rPr lang="en-US" altLang="zh-TW" dirty="0"/>
              <a:t> </a:t>
            </a:r>
            <a:r>
              <a:rPr lang="en-US" altLang="zh-TW" dirty="0" err="1"/>
              <a:t>能不能根據執行結果，自動判斷它是</a:t>
            </a:r>
            <a:r>
              <a:rPr lang="en-US" altLang="zh-TW" dirty="0"/>
              <a:t> pass </a:t>
            </a:r>
            <a:r>
              <a:rPr lang="en-US" altLang="zh-TW" dirty="0" err="1"/>
              <a:t>還是</a:t>
            </a:r>
            <a:r>
              <a:rPr lang="en-US" altLang="zh-TW" dirty="0"/>
              <a:t> </a:t>
            </a:r>
            <a:r>
              <a:rPr lang="en-US" altLang="zh-TW" dirty="0" err="1"/>
              <a:t>fail，而不是每次都靠人一個一個看</a:t>
            </a:r>
            <a:r>
              <a:rPr lang="en-US" altLang="zh-TW" dirty="0"/>
              <a:t>。
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5299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611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2478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922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傳統做法是，測試跑完之後，人工去看結果，再判斷 pass 或 fail。
這樣的問題很明顯：很花時間、測試一多就看不完、很難擴展。
所以這門課想做的事情，是把這一段交給 LLM。
也就是：寫測試、執行測試，然後讓 LLM 去看 evidence，幫我們做判斷。
但問題在這裡：LLM 到底準不準？會不會亂猜？這就是我們要研究的核心。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研究循環的前半段從輸入資料開始。我們先給定 htmls、user requirements、test requirements、既有測試腳本等文件，並設定一個初始的 test oracle 模型 Q。接著第一步是根據 Q 去問 LLM：能不能提出新的測試需求，或針對某一測項補強 requirement item。第二步是根據這些需求與介面，請 LLM 展開成測試文件，包括 test requirements、test plan、GUI coverage 的計算方式，以及 Selenium 或 Playwright 的 Python 測試腳本。
[Sources]
- User-provided content in this conversation.
- User-uploaded deck: announce-Project1.pptx
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8403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研究循環的前半段從輸入資料開始。我們先給定 htmls、user requirements、test requirements、既有測試腳本等文件，並設定一個初始的 test oracle 模型 Q。接著第一步是根據 Q 去問 LLM：能不能提出新的測試需求，或針對某一測項補強 requirement item。第二步是根據這些需求與介面，請 LLM 展開成測試文件，包括 test requirements、test plan、GUI coverage 的計算方式，以及 Selenium 或 Playwright 的 Python 測試腳本。
[Sources]
- User-provided content in this conversation.
- User-uploaded deck: announce-Project1.pptx
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接下來進入循環後半段。我們執行上述測試方案，收集測試報告，並評估 coverage、錯誤偵測率，以及 test requirements 的達成程度。每次執行完，都把 evidence 與報告再交給 LLM，請它做判讀。如果有新的發現，就把本輪結果、原因分析與補強腳本更新回 Q，然後再回到前面的需求生成與腳本生成，形成持續迭代的研究流程。
[Sources]
- User-provided content in this conversation.
- User-uploaded deck: announce-Project1.pptx
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 err="1"/>
              <a:t>在講流程之前，先解釋兩個核心概念</a:t>
            </a:r>
            <a:r>
              <a:rPr lang="en-US" altLang="zh-TW" dirty="0"/>
              <a:t>。
</a:t>
            </a:r>
            <a:r>
              <a:rPr lang="en-US" altLang="zh-TW" dirty="0" err="1"/>
              <a:t>Evidence（證據）是測試執行後收集的資料，包括截圖、log、網路請求、錯誤訊息。這些是判斷的依據</a:t>
            </a:r>
            <a:r>
              <a:rPr lang="en-US" altLang="zh-TW" dirty="0"/>
              <a:t>。
</a:t>
            </a:r>
            <a:r>
              <a:rPr lang="en-US" altLang="zh-TW" dirty="0" err="1"/>
              <a:t>Oracle（預言機）是看這些</a:t>
            </a:r>
            <a:r>
              <a:rPr lang="en-US" altLang="zh-TW" dirty="0"/>
              <a:t> </a:t>
            </a:r>
            <a:r>
              <a:rPr lang="en-US" altLang="zh-TW" dirty="0" err="1"/>
              <a:t>evidence，判斷測試</a:t>
            </a:r>
            <a:r>
              <a:rPr lang="en-US" altLang="zh-TW" dirty="0"/>
              <a:t> pass </a:t>
            </a:r>
            <a:r>
              <a:rPr lang="en-US" altLang="zh-TW" dirty="0" err="1"/>
              <a:t>還是</a:t>
            </a:r>
            <a:r>
              <a:rPr lang="en-US" altLang="zh-TW" dirty="0"/>
              <a:t> fail </a:t>
            </a:r>
            <a:r>
              <a:rPr lang="en-US" altLang="zh-TW" dirty="0" err="1"/>
              <a:t>的機制。可以是人工判斷，也可以是</a:t>
            </a:r>
            <a:r>
              <a:rPr lang="en-US" altLang="zh-TW" dirty="0"/>
              <a:t> LLM </a:t>
            </a:r>
            <a:r>
              <a:rPr lang="en-US" altLang="zh-TW" dirty="0" err="1"/>
              <a:t>判斷</a:t>
            </a:r>
            <a:r>
              <a:rPr lang="en-US" altLang="zh-TW" dirty="0"/>
              <a:t>。
</a:t>
            </a:r>
            <a:r>
              <a:rPr lang="en-US" altLang="zh-TW" dirty="0" err="1"/>
              <a:t>我們這學期要研究的核心問題就是：LLM</a:t>
            </a:r>
            <a:r>
              <a:rPr lang="en-US" altLang="zh-TW" dirty="0"/>
              <a:t> </a:t>
            </a:r>
            <a:r>
              <a:rPr lang="en-US" altLang="zh-TW" dirty="0" err="1"/>
              <a:t>能不能當一個好的</a:t>
            </a:r>
            <a:r>
              <a:rPr lang="en-US" altLang="zh-TW" dirty="0"/>
              <a:t> Oracle？
</a:t>
            </a:r>
            <a:r>
              <a:rPr lang="en-US" altLang="zh-TW" dirty="0" err="1"/>
              <a:t>可以這樣想：Evidence</a:t>
            </a:r>
            <a:r>
              <a:rPr lang="en-US" altLang="zh-TW" dirty="0"/>
              <a:t> </a:t>
            </a:r>
            <a:r>
              <a:rPr lang="en-US" altLang="zh-TW" dirty="0" err="1"/>
              <a:t>是犯罪現場的證據，Oracle</a:t>
            </a:r>
            <a:r>
              <a:rPr lang="en-US" altLang="zh-TW" dirty="0"/>
              <a:t> </a:t>
            </a:r>
            <a:r>
              <a:rPr lang="en-US" altLang="zh-TW" dirty="0" err="1"/>
              <a:t>是法官；我們研究的是</a:t>
            </a:r>
            <a:r>
              <a:rPr lang="en-US" altLang="zh-TW" dirty="0"/>
              <a:t> LLM </a:t>
            </a:r>
            <a:r>
              <a:rPr lang="en-US" altLang="zh-TW" dirty="0" err="1"/>
              <a:t>能不能當一個好法官</a:t>
            </a:r>
            <a:r>
              <a:rPr lang="en-US" altLang="zh-TW" dirty="0"/>
              <a:t>。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 err="1"/>
              <a:t>整個</a:t>
            </a:r>
            <a:r>
              <a:rPr lang="en-US" altLang="zh-TW" dirty="0"/>
              <a:t> Project 1 </a:t>
            </a:r>
            <a:r>
              <a:rPr lang="en-US" altLang="zh-TW" dirty="0" err="1"/>
              <a:t>的流程是這樣</a:t>
            </a:r>
            <a:r>
              <a:rPr lang="en-US" altLang="zh-TW" dirty="0"/>
              <a:t>：
1. </a:t>
            </a:r>
            <a:r>
              <a:rPr lang="en-US" altLang="zh-TW" dirty="0" err="1"/>
              <a:t>先定義需求：要測什麼</a:t>
            </a:r>
            <a:r>
              <a:rPr lang="en-US" altLang="zh-TW" dirty="0"/>
              <a:t>。
2. 寫 Playwright </a:t>
            </a:r>
            <a:r>
              <a:rPr lang="en-US" altLang="zh-TW" dirty="0" err="1"/>
              <a:t>測試腳本</a:t>
            </a:r>
            <a:r>
              <a:rPr lang="en-US" altLang="zh-TW" dirty="0"/>
              <a:t>。
3. </a:t>
            </a:r>
            <a:r>
              <a:rPr lang="en-US" altLang="zh-TW" dirty="0" err="1"/>
              <a:t>執行測試，收集</a:t>
            </a:r>
            <a:r>
              <a:rPr lang="en-US" altLang="zh-TW" dirty="0"/>
              <a:t> Evidence。
4. 用 Oracle </a:t>
            </a:r>
            <a:r>
              <a:rPr lang="en-US" altLang="zh-TW" dirty="0" err="1"/>
              <a:t>判斷結果：你們手動看</a:t>
            </a:r>
            <a:r>
              <a:rPr lang="en-US" altLang="zh-TW" dirty="0"/>
              <a:t> </a:t>
            </a:r>
            <a:r>
              <a:rPr lang="en-US" altLang="zh-TW" dirty="0" err="1"/>
              <a:t>evidence，或讓</a:t>
            </a:r>
            <a:r>
              <a:rPr lang="en-US" altLang="zh-TW" dirty="0"/>
              <a:t> LLM 看 evidence </a:t>
            </a:r>
            <a:r>
              <a:rPr lang="en-US" altLang="zh-TW" dirty="0" err="1"/>
              <a:t>自動判斷</a:t>
            </a:r>
            <a:r>
              <a:rPr lang="en-US" altLang="zh-TW" dirty="0"/>
              <a:t>。
5. </a:t>
            </a:r>
            <a:r>
              <a:rPr lang="en-US" altLang="zh-TW" dirty="0" err="1"/>
              <a:t>比較兩者差異：看</a:t>
            </a:r>
            <a:r>
              <a:rPr lang="en-US" altLang="zh-TW" dirty="0"/>
              <a:t> LLM Oracle </a:t>
            </a:r>
            <a:r>
              <a:rPr lang="en-US" altLang="zh-TW" dirty="0" err="1"/>
              <a:t>判斷得準不準</a:t>
            </a:r>
            <a:r>
              <a:rPr lang="en-US" altLang="zh-TW" dirty="0"/>
              <a:t>。
</a:t>
            </a:r>
            <a:r>
              <a:rPr lang="en-US" altLang="zh-TW" dirty="0" err="1"/>
              <a:t>重點是</a:t>
            </a:r>
            <a:r>
              <a:rPr lang="en-US" altLang="zh-TW" dirty="0"/>
              <a:t> Evidence </a:t>
            </a:r>
            <a:r>
              <a:rPr lang="en-US" altLang="zh-TW" dirty="0" err="1"/>
              <a:t>是證據，Oracle</a:t>
            </a:r>
            <a:r>
              <a:rPr lang="en-US" altLang="zh-TW" dirty="0"/>
              <a:t> </a:t>
            </a:r>
            <a:r>
              <a:rPr lang="en-US" altLang="zh-TW" dirty="0" err="1"/>
              <a:t>是判斷機制，LLM</a:t>
            </a:r>
            <a:r>
              <a:rPr lang="en-US" altLang="zh-TW" dirty="0"/>
              <a:t> </a:t>
            </a:r>
            <a:r>
              <a:rPr lang="en-US" altLang="zh-TW" dirty="0" err="1"/>
              <a:t>不是幫你寫作業，而是被研究的對象</a:t>
            </a:r>
            <a:r>
              <a:rPr lang="en-US" altLang="zh-TW" dirty="0"/>
              <a:t>。
</a:t>
            </a:r>
            <a:r>
              <a:rPr lang="en-US" altLang="zh-TW" dirty="0" err="1"/>
              <a:t>這份作業不是單純寫測試，也不是單純呼叫模型，而是把</a:t>
            </a:r>
            <a:r>
              <a:rPr lang="en-US" altLang="zh-TW" dirty="0"/>
              <a:t> </a:t>
            </a:r>
            <a:r>
              <a:rPr lang="en-US" altLang="zh-TW" dirty="0" err="1"/>
              <a:t>requirement、test、evidence、oracle</a:t>
            </a:r>
            <a:r>
              <a:rPr lang="en-US" altLang="zh-TW" dirty="0"/>
              <a:t> 和 metrics </a:t>
            </a:r>
            <a:r>
              <a:rPr lang="en-US" altLang="zh-TW" dirty="0" err="1"/>
              <a:t>串成一條完整流程</a:t>
            </a:r>
            <a:r>
              <a:rPr lang="en-US" altLang="zh-TW" dirty="0"/>
              <a:t>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 err="1"/>
              <a:t>你們這次要做的事情可以濃縮成四件事</a:t>
            </a:r>
            <a:r>
              <a:rPr lang="en-US" altLang="zh-TW" dirty="0"/>
              <a:t>：
1. 把 baseline </a:t>
            </a:r>
            <a:r>
              <a:rPr lang="en-US" altLang="zh-TW" dirty="0" err="1"/>
              <a:t>跑起來</a:t>
            </a:r>
            <a:r>
              <a:rPr lang="en-US" altLang="zh-TW" dirty="0"/>
              <a:t>。
2. </a:t>
            </a:r>
            <a:r>
              <a:rPr lang="en-US" altLang="zh-TW" dirty="0" err="1"/>
              <a:t>擴展到</a:t>
            </a:r>
            <a:r>
              <a:rPr lang="en-US" altLang="zh-TW" dirty="0"/>
              <a:t> 30-50 </a:t>
            </a:r>
            <a:r>
              <a:rPr lang="en-US" altLang="zh-TW" dirty="0" err="1"/>
              <a:t>個需求</a:t>
            </a:r>
            <a:r>
              <a:rPr lang="en-US" altLang="zh-TW" dirty="0"/>
              <a:t>。
3. </a:t>
            </a:r>
            <a:r>
              <a:rPr lang="en-US" altLang="zh-TW" dirty="0" err="1"/>
              <a:t>完成所有</a:t>
            </a:r>
            <a:r>
              <a:rPr lang="en-US" altLang="zh-TW" dirty="0"/>
              <a:t> TODO。
4. </a:t>
            </a:r>
            <a:r>
              <a:rPr lang="en-US" altLang="zh-TW" dirty="0" err="1"/>
              <a:t>產生所有輸出檔案</a:t>
            </a:r>
            <a:r>
              <a:rPr lang="en-US" altLang="zh-TW" dirty="0"/>
              <a:t>。
</a:t>
            </a:r>
            <a:r>
              <a:rPr lang="en-US" altLang="zh-TW" dirty="0" err="1"/>
              <a:t>重點是不是從零開始。助教已經先幫你們做好</a:t>
            </a:r>
            <a:r>
              <a:rPr lang="en-US" altLang="zh-TW" dirty="0"/>
              <a:t> 15 </a:t>
            </a:r>
            <a:r>
              <a:rPr lang="en-US" altLang="zh-TW" dirty="0" err="1"/>
              <a:t>個需求的</a:t>
            </a:r>
            <a:r>
              <a:rPr lang="en-US" altLang="zh-TW" dirty="0"/>
              <a:t> </a:t>
            </a:r>
            <a:r>
              <a:rPr lang="en-US" altLang="zh-TW" dirty="0" err="1"/>
              <a:t>baseline，還有一部分測試和腳本骨架。你們的工作是擴展和補完，不是整份重寫</a:t>
            </a:r>
            <a:r>
              <a:rPr lang="en-US" altLang="zh-TW"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README </a:t>
            </a:r>
            <a:r>
              <a:rPr lang="en-US" altLang="zh-TW" dirty="0" err="1"/>
              <a:t>告訴你從哪裡開始，docs</a:t>
            </a:r>
            <a:r>
              <a:rPr lang="en-US" altLang="zh-TW" dirty="0"/>
              <a:t>/ </a:t>
            </a:r>
            <a:r>
              <a:rPr lang="en-US" altLang="zh-TW" dirty="0" err="1"/>
              <a:t>裡面有</a:t>
            </a:r>
            <a:r>
              <a:rPr lang="en-US" altLang="zh-TW" dirty="0"/>
              <a:t> </a:t>
            </a:r>
            <a:r>
              <a:rPr lang="en-US" altLang="zh-TW" dirty="0" err="1"/>
              <a:t>quickstart</a:t>
            </a:r>
            <a:r>
              <a:rPr lang="en-US" altLang="zh-TW" dirty="0"/>
              <a:t> 和 TODO </a:t>
            </a:r>
            <a:r>
              <a:rPr lang="en-US" altLang="zh-TW" dirty="0" err="1"/>
              <a:t>清單，starter-kit</a:t>
            </a:r>
            <a:r>
              <a:rPr lang="en-US" altLang="zh-TW" dirty="0"/>
              <a:t>/project1/ </a:t>
            </a:r>
            <a:r>
              <a:rPr lang="en-US" altLang="zh-TW" dirty="0" err="1"/>
              <a:t>是你真正要動手的地方</a:t>
            </a:r>
            <a:r>
              <a:rPr lang="en-US" altLang="zh-TW" dirty="0"/>
              <a:t>。
</a:t>
            </a:r>
            <a:r>
              <a:rPr lang="en-US" altLang="zh-TW" dirty="0" err="1"/>
              <a:t>你們實際上就是在這個框架上做三件事</a:t>
            </a:r>
            <a:r>
              <a:rPr lang="en-US" altLang="zh-TW" dirty="0"/>
              <a:t>：
- 加 15–35 </a:t>
            </a:r>
            <a:r>
              <a:rPr lang="en-US" altLang="zh-TW" dirty="0" err="1"/>
              <a:t>個需求（從</a:t>
            </a:r>
            <a:r>
              <a:rPr lang="en-US" altLang="zh-TW" dirty="0"/>
              <a:t> 15 </a:t>
            </a:r>
            <a:r>
              <a:rPr lang="en-US" altLang="zh-TW" dirty="0" err="1"/>
              <a:t>擴展到</a:t>
            </a:r>
            <a:r>
              <a:rPr lang="en-US" altLang="zh-TW" dirty="0"/>
              <a:t> 30–50）
- </a:t>
            </a:r>
            <a:r>
              <a:rPr lang="en-US" altLang="zh-TW" dirty="0" err="1"/>
              <a:t>補測試（每個需求至少一個測試</a:t>
            </a:r>
            <a:r>
              <a:rPr lang="en-US" altLang="zh-TW" dirty="0"/>
              <a:t>）
- </a:t>
            </a:r>
            <a:r>
              <a:rPr lang="en-US" altLang="zh-TW" dirty="0" err="1"/>
              <a:t>完成</a:t>
            </a:r>
            <a:r>
              <a:rPr lang="en-US" altLang="zh-TW" dirty="0"/>
              <a:t> TODO
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 err="1"/>
              <a:t>要交的東西可以分成幾大類</a:t>
            </a:r>
            <a:r>
              <a:rPr lang="en-US" altLang="zh-TW" dirty="0"/>
              <a:t>：
1. 需求和測試：30-50 </a:t>
            </a:r>
            <a:r>
              <a:rPr lang="en-US" altLang="zh-TW" dirty="0" err="1"/>
              <a:t>個需求，每個需求都要有測試和</a:t>
            </a:r>
            <a:r>
              <a:rPr lang="en-US" altLang="zh-TW" dirty="0"/>
              <a:t> evidence。
2. Oracle </a:t>
            </a:r>
            <a:r>
              <a:rPr lang="en-US" altLang="zh-TW" dirty="0" err="1"/>
              <a:t>輸出：Manual</a:t>
            </a:r>
            <a:r>
              <a:rPr lang="en-US" altLang="zh-TW" dirty="0"/>
              <a:t> Oracle 和 LLM Oracle </a:t>
            </a:r>
            <a:r>
              <a:rPr lang="en-US" altLang="zh-TW" dirty="0" err="1"/>
              <a:t>的判斷結果</a:t>
            </a:r>
            <a:r>
              <a:rPr lang="en-US" altLang="zh-TW" dirty="0"/>
              <a:t>。
3. </a:t>
            </a:r>
            <a:r>
              <a:rPr lang="en-US" altLang="zh-TW" dirty="0" err="1"/>
              <a:t>Metrics：Cohen's</a:t>
            </a:r>
            <a:r>
              <a:rPr lang="en-US" altLang="zh-TW" dirty="0"/>
              <a:t> </a:t>
            </a:r>
            <a:r>
              <a:rPr lang="en-US" altLang="zh-TW" dirty="0" err="1"/>
              <a:t>kappa、confusion</a:t>
            </a:r>
            <a:r>
              <a:rPr lang="en-US" altLang="zh-TW" dirty="0"/>
              <a:t> matrix。
4. Prompt </a:t>
            </a:r>
            <a:r>
              <a:rPr lang="en-US" altLang="zh-TW" dirty="0" err="1"/>
              <a:t>experiment：至少</a:t>
            </a:r>
            <a:r>
              <a:rPr lang="en-US" altLang="zh-TW" dirty="0"/>
              <a:t> 2 個 prompt </a:t>
            </a:r>
            <a:r>
              <a:rPr lang="en-US" altLang="zh-TW" dirty="0" err="1"/>
              <a:t>變體的比較</a:t>
            </a:r>
            <a:r>
              <a:rPr lang="en-US" altLang="zh-TW" dirty="0"/>
              <a:t>。
5. 報告：proposal.md 和 report.md。
</a:t>
            </a:r>
            <a:r>
              <a:rPr lang="en-US" altLang="zh-TW" dirty="0" err="1"/>
              <a:t>詳細的</a:t>
            </a:r>
            <a:r>
              <a:rPr lang="en-US" altLang="zh-TW" dirty="0"/>
              <a:t> 13 項 deliverables </a:t>
            </a:r>
            <a:r>
              <a:rPr lang="en-US" altLang="zh-TW" dirty="0" err="1"/>
              <a:t>清單在</a:t>
            </a:r>
            <a:r>
              <a:rPr lang="en-US" altLang="zh-TW" dirty="0"/>
              <a:t> spec </a:t>
            </a:r>
            <a:r>
              <a:rPr lang="en-US" altLang="zh-TW" dirty="0" err="1"/>
              <a:t>裡面，這裡不一一列舉</a:t>
            </a:r>
            <a:r>
              <a:rPr lang="en-US" altLang="zh-TW" dirty="0"/>
              <a:t>。
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 err="1"/>
              <a:t>時間上最重要的是</a:t>
            </a:r>
            <a:r>
              <a:rPr lang="en-US" altLang="zh-TW" dirty="0"/>
              <a:t> Project 1 </a:t>
            </a:r>
            <a:r>
              <a:rPr lang="en-US" altLang="zh-TW" dirty="0" err="1"/>
              <a:t>的截止時間，也就是</a:t>
            </a:r>
            <a:r>
              <a:rPr lang="en-US" altLang="zh-TW" dirty="0"/>
              <a:t> Week 6，2026 年 4 月 3 </a:t>
            </a:r>
            <a:r>
              <a:rPr lang="en-US" altLang="zh-TW" dirty="0" err="1"/>
              <a:t>日晚上</a:t>
            </a:r>
            <a:r>
              <a:rPr lang="en-US" altLang="zh-TW" dirty="0"/>
              <a:t> 11:59。
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 err="1"/>
              <a:t>這份文件是整個</a:t>
            </a:r>
            <a:r>
              <a:rPr lang="en-US" altLang="zh-TW" dirty="0"/>
              <a:t> Project 1 </a:t>
            </a:r>
            <a:r>
              <a:rPr lang="en-US" altLang="zh-TW" dirty="0" err="1"/>
              <a:t>的規格書</a:t>
            </a:r>
            <a:r>
              <a:rPr lang="en-US" altLang="zh-TW" dirty="0"/>
              <a:t>。
它告訴你：為什麼要做這個作業、要交什麼、怎麼評分、B0/B1/B2 </a:t>
            </a:r>
            <a:r>
              <a:rPr lang="en-US" altLang="zh-TW" dirty="0" err="1"/>
              <a:t>是什麼、什麼是</a:t>
            </a:r>
            <a:r>
              <a:rPr lang="en-US" altLang="zh-TW" dirty="0"/>
              <a:t> Cohen's </a:t>
            </a:r>
            <a:r>
              <a:rPr lang="en-US" altLang="zh-TW" dirty="0" err="1"/>
              <a:t>kappa、什麼是</a:t>
            </a:r>
            <a:r>
              <a:rPr lang="en-US" altLang="zh-TW" dirty="0"/>
              <a:t> confusion </a:t>
            </a:r>
            <a:r>
              <a:rPr lang="en-US" altLang="zh-TW" dirty="0" err="1"/>
              <a:t>matrix、什麼是</a:t>
            </a:r>
            <a:r>
              <a:rPr lang="en-US" altLang="zh-TW" dirty="0"/>
              <a:t> prompt experiment。
</a:t>
            </a:r>
            <a:r>
              <a:rPr lang="en-US" altLang="zh-TW" dirty="0" err="1"/>
              <a:t>如果要做螢幕錄影示範，可以快速捲到</a:t>
            </a:r>
            <a:r>
              <a:rPr lang="en-US" altLang="zh-TW" dirty="0"/>
              <a:t> </a:t>
            </a:r>
            <a:r>
              <a:rPr lang="en-US" altLang="zh-TW" dirty="0" err="1"/>
              <a:t>Objective、Required</a:t>
            </a:r>
            <a:r>
              <a:rPr lang="en-US" altLang="zh-TW" dirty="0"/>
              <a:t> </a:t>
            </a:r>
            <a:r>
              <a:rPr lang="en-US" altLang="zh-TW" dirty="0" err="1"/>
              <a:t>Deliverables、Baseline</a:t>
            </a:r>
            <a:r>
              <a:rPr lang="en-US" altLang="zh-TW" dirty="0"/>
              <a:t> </a:t>
            </a:r>
            <a:r>
              <a:rPr lang="en-US" altLang="zh-TW" dirty="0" err="1"/>
              <a:t>Definitions、Evaluation</a:t>
            </a:r>
            <a:r>
              <a:rPr lang="en-US" altLang="zh-TW" dirty="0"/>
              <a:t> Criteria </a:t>
            </a:r>
            <a:r>
              <a:rPr lang="en-US" altLang="zh-TW" dirty="0" err="1"/>
              <a:t>這幾段</a:t>
            </a:r>
            <a:r>
              <a:rPr lang="en-US" altLang="zh-TW"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 err="1"/>
              <a:t>這一頁的核心訊息很簡單：能跑，最重要</a:t>
            </a:r>
            <a:r>
              <a:rPr lang="en-US" altLang="zh-TW" dirty="0"/>
              <a:t>。
</a:t>
            </a:r>
            <a:r>
              <a:rPr lang="en-US" altLang="zh-TW" dirty="0" err="1"/>
              <a:t>如果你的專案不能執行，後面就沒有什麼好談的</a:t>
            </a:r>
            <a:r>
              <a:rPr lang="en-US" altLang="zh-TW" dirty="0"/>
              <a:t>。
</a:t>
            </a:r>
            <a:r>
              <a:rPr lang="en-US" altLang="zh-TW" dirty="0" err="1"/>
              <a:t>所以評分順序可以直接記成：能跑，大於完整，大於漂亮</a:t>
            </a:r>
            <a:r>
              <a:rPr lang="en-US" altLang="zh-TW" dirty="0"/>
              <a:t>。
</a:t>
            </a:r>
            <a:r>
              <a:rPr lang="en-US" altLang="zh-TW" dirty="0" err="1"/>
              <a:t>也就是說，先確保</a:t>
            </a:r>
            <a:r>
              <a:rPr lang="en-US" altLang="zh-TW" dirty="0"/>
              <a:t> baseline </a:t>
            </a:r>
            <a:r>
              <a:rPr lang="en-US" altLang="zh-TW" dirty="0" err="1"/>
              <a:t>和輸出檔都能正常產生，再去追求更好的</a:t>
            </a:r>
            <a:r>
              <a:rPr lang="en-US" altLang="zh-TW" dirty="0"/>
              <a:t> requirement </a:t>
            </a:r>
            <a:r>
              <a:rPr lang="en-US" altLang="zh-TW" dirty="0" err="1"/>
              <a:t>品質和測試品質</a:t>
            </a:r>
            <a:r>
              <a:rPr lang="en-US" altLang="zh-TW" dirty="0"/>
              <a:t>。
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err="1"/>
              <a:t>這份文件是你的工作清單</a:t>
            </a:r>
            <a:r>
              <a:rPr lang="en-US" altLang="zh-TW" dirty="0"/>
              <a:t>。
</a:t>
            </a:r>
            <a:r>
              <a:rPr lang="en-US" altLang="zh-TW" dirty="0" err="1"/>
              <a:t>它告訴你：所有</a:t>
            </a:r>
            <a:r>
              <a:rPr lang="en-US" altLang="zh-TW" dirty="0"/>
              <a:t> TODO </a:t>
            </a:r>
            <a:r>
              <a:rPr lang="en-US" altLang="zh-TW" dirty="0" err="1"/>
              <a:t>在哪裡、每個</a:t>
            </a:r>
            <a:r>
              <a:rPr lang="en-US" altLang="zh-TW" dirty="0"/>
              <a:t> TODO </a:t>
            </a:r>
            <a:r>
              <a:rPr lang="en-US" altLang="zh-TW" dirty="0" err="1"/>
              <a:t>要做什麼、要寫幾個測試、要補幾個</a:t>
            </a:r>
            <a:r>
              <a:rPr lang="en-US" altLang="zh-TW" dirty="0"/>
              <a:t> </a:t>
            </a:r>
            <a:r>
              <a:rPr lang="en-US" altLang="zh-TW" dirty="0" err="1"/>
              <a:t>verdict、要做幾個</a:t>
            </a:r>
            <a:r>
              <a:rPr lang="en-US" altLang="zh-TW" dirty="0"/>
              <a:t> prompt variant。
</a:t>
            </a:r>
            <a:r>
              <a:rPr lang="en-US" altLang="zh-TW" dirty="0" err="1"/>
              <a:t>這份文件不是教你怎麼寫程式，而是告訴你要補哪些空格</a:t>
            </a:r>
            <a:r>
              <a:rPr lang="en-US" altLang="zh-TW" dirty="0"/>
              <a:t>。
</a:t>
            </a:r>
            <a:r>
              <a:rPr lang="en-US" altLang="zh-TW" dirty="0" err="1"/>
              <a:t>如果你想知道怎麼跑，請看</a:t>
            </a:r>
            <a:r>
              <a:rPr lang="en-US" altLang="zh-TW" dirty="0"/>
              <a:t> project-1-quickstart.md。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 err="1"/>
              <a:t>如果你不知道從哪裡開始，先看這三份文件就夠了</a:t>
            </a:r>
            <a:r>
              <a:rPr lang="en-US" altLang="zh-TW" dirty="0"/>
              <a:t>。
</a:t>
            </a:r>
            <a:r>
              <a:rPr lang="en-US" altLang="zh-TW" dirty="0" err="1"/>
              <a:t>第一份是</a:t>
            </a:r>
            <a:r>
              <a:rPr lang="en-US" altLang="zh-TW" dirty="0"/>
              <a:t> </a:t>
            </a:r>
            <a:r>
              <a:rPr lang="en-US" altLang="zh-TW" dirty="0" err="1"/>
              <a:t>spec，告訴你為什麼做這個作業、怎麼評分</a:t>
            </a:r>
            <a:r>
              <a:rPr lang="en-US" altLang="zh-TW" dirty="0"/>
              <a:t>。
</a:t>
            </a:r>
            <a:r>
              <a:rPr lang="en-US" altLang="zh-TW" dirty="0" err="1"/>
              <a:t>第二份是</a:t>
            </a:r>
            <a:r>
              <a:rPr lang="en-US" altLang="zh-TW" dirty="0"/>
              <a:t> TODO </a:t>
            </a:r>
            <a:r>
              <a:rPr lang="en-US" altLang="zh-TW" dirty="0" err="1"/>
              <a:t>清單，告訴你要補哪些程式碼</a:t>
            </a:r>
            <a:r>
              <a:rPr lang="en-US" altLang="zh-TW" dirty="0"/>
              <a:t>。
</a:t>
            </a:r>
            <a:r>
              <a:rPr lang="en-US" altLang="zh-TW" dirty="0" err="1"/>
              <a:t>第三份是操作順序，告訴你指令怎麼跑</a:t>
            </a:r>
            <a:r>
              <a:rPr lang="en-US" altLang="zh-TW" dirty="0"/>
              <a:t>。
</a:t>
            </a:r>
            <a:r>
              <a:rPr lang="en-US" altLang="zh-TW" dirty="0" err="1"/>
              <a:t>很多問題其實不是不會寫程式，而是沒有先照文件走</a:t>
            </a:r>
            <a:r>
              <a:rPr lang="en-US" altLang="zh-TW"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68F8E670-7DDC-4CC2-82B7-4DCE09B021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86039" cy="1292772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FE310A26-4EB4-4C70-9B3B-C2327693BD1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611292" y="65784"/>
            <a:ext cx="1498557" cy="144403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01719" y="6099933"/>
            <a:ext cx="856881" cy="483747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2800">
                <a:solidFill>
                  <a:srgbClr val="666666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r"/>
            <a:fld id="{F7021451-1387-4CA6-816F-3879F97B5CBC}" type="slidenum">
              <a:rPr lang="en-US" smtClean="0"/>
              <a:pPr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8024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>
            <a:extLst>
              <a:ext uri="{FF2B5EF4-FFF2-40B4-BE49-F238E27FC236}">
                <a16:creationId xmlns:a16="http://schemas.microsoft.com/office/drawing/2014/main" id="{394F1547-25FC-433A-BF5B-9276A3EAE62E}"/>
              </a:ext>
            </a:extLst>
          </p:cNvPr>
          <p:cNvSpPr/>
          <p:nvPr/>
        </p:nvSpPr>
        <p:spPr>
          <a:xfrm>
            <a:off x="0" y="1874519"/>
            <a:ext cx="12192000" cy="3328101"/>
          </a:xfrm>
          <a:prstGeom prst="rect">
            <a:avLst/>
          </a:prstGeom>
          <a:solidFill>
            <a:srgbClr val="FF9900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zh-TW" altLang="en-US" sz="6000" dirty="0"/>
              <a:t>  </a:t>
            </a:r>
            <a:r>
              <a:rPr lang="en-US" altLang="zh-TW" sz="6000" dirty="0"/>
              <a:t>Software Testing &amp; Security Checking</a:t>
            </a:r>
            <a:r>
              <a:rPr lang="zh-TW" altLang="en-US" sz="6000" dirty="0"/>
              <a:t> </a:t>
            </a:r>
            <a:endParaRPr lang="en-US" altLang="zh-TW" sz="6000" dirty="0"/>
          </a:p>
          <a:p>
            <a:pPr algn="ctr"/>
            <a:r>
              <a:rPr sz="6000" dirty="0"/>
              <a:t>Project </a:t>
            </a:r>
            <a:r>
              <a:rPr lang="en-US" altLang="zh-TW" sz="6000" dirty="0"/>
              <a:t>1</a:t>
            </a:r>
            <a:endParaRPr sz="6000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EFCDF8C6-9879-4801-85D8-F1E14EC39C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4000" y="0"/>
            <a:ext cx="1788000" cy="1862500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3BC93FF8-0FAE-4BFF-B171-D7CD852724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13776" y="12019"/>
            <a:ext cx="3414583" cy="1862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744" y="10972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Overview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228600" y="438912"/>
            <a:ext cx="11503152" cy="0"/>
          </a:xfrm>
          <a:prstGeom prst="line">
            <a:avLst/>
          </a:prstGeom>
          <a:noFill/>
          <a:ln w="15240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8" name="Text 4"/>
          <p:cNvSpPr/>
          <p:nvPr/>
        </p:nvSpPr>
        <p:spPr>
          <a:xfrm>
            <a:off x="10543033" y="6167628"/>
            <a:ext cx="10099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</a:rPr>
              <a:t>2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868680" y="1261872"/>
            <a:ext cx="10161720" cy="2679264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5240">
            <a:solidFill>
              <a:srgbClr val="D9D9D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68680" y="1700784"/>
            <a:ext cx="101617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Can LLMs replace human judgment</a:t>
            </a:r>
            <a:endParaRPr lang="en-US" sz="4800" dirty="0"/>
          </a:p>
          <a:p>
            <a:pPr marL="0" indent="0">
              <a:buNone/>
            </a:pPr>
            <a:r>
              <a:rPr lang="en-US" sz="48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 test results?</a:t>
            </a:r>
            <a:endParaRPr lang="en-US" sz="4800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4C9DA610-F2D7-48DC-813E-1CBB871BA233}"/>
              </a:ext>
            </a:extLst>
          </p:cNvPr>
          <p:cNvSpPr txBox="1"/>
          <p:nvPr/>
        </p:nvSpPr>
        <p:spPr>
          <a:xfrm>
            <a:off x="1847088" y="4471285"/>
            <a:ext cx="78690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Let the model automatically judge PASS / FAIL from test execution results, instead of having humans inspect them one by one every time.</a:t>
            </a:r>
          </a:p>
        </p:txBody>
      </p:sp>
      <p:sp>
        <p:nvSpPr>
          <p:cNvPr id="21" name="Text 0">
            <a:extLst>
              <a:ext uri="{FF2B5EF4-FFF2-40B4-BE49-F238E27FC236}">
                <a16:creationId xmlns:a16="http://schemas.microsoft.com/office/drawing/2014/main" id="{39039C25-0D14-4AEF-9CB0-D467C69D664D}"/>
              </a:ext>
            </a:extLst>
          </p:cNvPr>
          <p:cNvSpPr/>
          <p:nvPr/>
        </p:nvSpPr>
        <p:spPr>
          <a:xfrm>
            <a:off x="1395271" y="402337"/>
            <a:ext cx="8772634" cy="859535"/>
          </a:xfrm>
          <a:prstGeom prst="rect">
            <a:avLst/>
          </a:prstGeom>
          <a:solidFill>
            <a:srgbClr val="FF9900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sz="4400" dirty="0"/>
              <a:t>This Semester's Core Question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744" y="10972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Overview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10543033" y="6167628"/>
            <a:ext cx="10099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</a:rPr>
              <a:t>2</a:t>
            </a:r>
            <a:endParaRPr lang="en-US" sz="2000" dirty="0"/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C461B991-1344-4130-AFB6-08C9AFE94AF0}"/>
              </a:ext>
            </a:extLst>
          </p:cNvPr>
          <p:cNvSpPr/>
          <p:nvPr/>
        </p:nvSpPr>
        <p:spPr>
          <a:xfrm>
            <a:off x="1478070" y="438912"/>
            <a:ext cx="9018741" cy="512066"/>
          </a:xfrm>
          <a:prstGeom prst="rect">
            <a:avLst/>
          </a:prstGeom>
          <a:solidFill>
            <a:srgbClr val="FF9900"/>
          </a:solidFill>
          <a:ln/>
        </p:spPr>
        <p:txBody>
          <a:bodyPr wrap="square" lIns="0" tIns="0" rIns="0" bIns="0" rtlCol="0" anchor="ctr"/>
          <a:lstStyle/>
          <a:p>
            <a:r>
              <a:rPr sz="3200" dirty="0"/>
              <a:t>How Projects 1-4 Connect</a:t>
            </a:r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3A7EDA60-7892-4FCB-8440-9009C5B729F0}"/>
              </a:ext>
            </a:extLst>
          </p:cNvPr>
          <p:cNvSpPr/>
          <p:nvPr/>
        </p:nvSpPr>
        <p:spPr>
          <a:xfrm>
            <a:off x="1652453" y="1109037"/>
            <a:ext cx="988727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400" dirty="0"/>
              <a:t>Project 1 (Week 6)</a:t>
            </a:r>
            <a:endParaRPr lang="en-US" sz="2400" dirty="0"/>
          </a:p>
          <a:p>
            <a:r>
              <a:rPr lang="en-US" altLang="zh-TW" sz="2400" dirty="0"/>
              <a:t>Build the foundation | All teams start from the same baseline </a:t>
            </a:r>
          </a:p>
          <a:p>
            <a:r>
              <a:rPr lang="en-US" altLang="zh-TW" sz="2400" dirty="0"/>
              <a:t>| test oracle (simple crash) | use case definition in test requirement proposal</a:t>
            </a: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FE462A17-360C-46DD-AC5C-388D59C079F5}"/>
              </a:ext>
            </a:extLst>
          </p:cNvPr>
          <p:cNvSpPr/>
          <p:nvPr/>
        </p:nvSpPr>
        <p:spPr>
          <a:xfrm>
            <a:off x="1652452" y="2389196"/>
            <a:ext cx="9887271" cy="1097281"/>
          </a:xfrm>
          <a:prstGeom prst="rect">
            <a:avLst/>
          </a:prstGeom>
          <a:solidFill>
            <a:srgbClr val="FF9900"/>
          </a:solidFill>
          <a:ln/>
        </p:spPr>
        <p:txBody>
          <a:bodyPr wrap="square" lIns="0" tIns="0" rIns="0" bIns="0" rtlCol="0" anchor="ctr"/>
          <a:lstStyle/>
          <a:p>
            <a:r>
              <a:rPr sz="2400" dirty="0"/>
              <a:t>Project 2 (Week 8)</a:t>
            </a:r>
            <a:endParaRPr lang="en-US" sz="2400" dirty="0"/>
          </a:p>
          <a:p>
            <a:r>
              <a:rPr lang="en-US" altLang="zh-TW" sz="2400" dirty="0"/>
              <a:t>Propose improvements | Teams begin to diverge| Test oracle (page errors) </a:t>
            </a:r>
          </a:p>
          <a:p>
            <a:r>
              <a:rPr lang="en-US" altLang="zh-TW" sz="2400" dirty="0"/>
              <a:t>| Test requirement refinement (with LLM)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794A570-4043-42D8-B55E-CC0A7F441785}"/>
              </a:ext>
            </a:extLst>
          </p:cNvPr>
          <p:cNvSpPr/>
          <p:nvPr/>
        </p:nvSpPr>
        <p:spPr>
          <a:xfrm>
            <a:off x="1635035" y="3721607"/>
            <a:ext cx="10085827" cy="1097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400" dirty="0"/>
              <a:t>Project 3 (Week 10)</a:t>
            </a:r>
            <a:endParaRPr lang="en-US" sz="2400" dirty="0"/>
          </a:p>
          <a:p>
            <a:r>
              <a:rPr lang="en-US" altLang="zh-TW" sz="2400" dirty="0"/>
              <a:t>Cross-target validation  | Test oracle (action errors) </a:t>
            </a:r>
          </a:p>
          <a:p>
            <a:r>
              <a:rPr lang="en-US" altLang="zh-TW" sz="2400" dirty="0"/>
              <a:t>| Test requirement refinement (with LLM) | Test script generation (with LLM)</a:t>
            </a:r>
          </a:p>
        </p:txBody>
      </p: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C6F1C17E-ED90-482F-AFF0-AD8CB641756F}"/>
              </a:ext>
            </a:extLst>
          </p:cNvPr>
          <p:cNvGrpSpPr/>
          <p:nvPr/>
        </p:nvGrpSpPr>
        <p:grpSpPr>
          <a:xfrm>
            <a:off x="967958" y="1109037"/>
            <a:ext cx="310896" cy="4828032"/>
            <a:chOff x="2587752" y="1115568"/>
            <a:chExt cx="310896" cy="4828032"/>
          </a:xfrm>
        </p:grpSpPr>
        <p:sp>
          <p:nvSpPr>
            <p:cNvPr id="16" name="Shape 1">
              <a:extLst>
                <a:ext uri="{FF2B5EF4-FFF2-40B4-BE49-F238E27FC236}">
                  <a16:creationId xmlns:a16="http://schemas.microsoft.com/office/drawing/2014/main" id="{F2A7BA2B-031E-42CA-9728-6B81024EDBD9}"/>
                </a:ext>
              </a:extLst>
            </p:cNvPr>
            <p:cNvSpPr/>
            <p:nvPr/>
          </p:nvSpPr>
          <p:spPr>
            <a:xfrm>
              <a:off x="2743200" y="1417320"/>
              <a:ext cx="0" cy="4526280"/>
            </a:xfrm>
            <a:prstGeom prst="line">
              <a:avLst/>
            </a:prstGeom>
            <a:noFill/>
            <a:ln w="15240">
              <a:solidFill>
                <a:srgbClr val="111111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Shape 2">
              <a:extLst>
                <a:ext uri="{FF2B5EF4-FFF2-40B4-BE49-F238E27FC236}">
                  <a16:creationId xmlns:a16="http://schemas.microsoft.com/office/drawing/2014/main" id="{F94CCACA-0CEE-4F4B-873C-3792A5B4D907}"/>
                </a:ext>
              </a:extLst>
            </p:cNvPr>
            <p:cNvSpPr/>
            <p:nvPr/>
          </p:nvSpPr>
          <p:spPr>
            <a:xfrm>
              <a:off x="2587752" y="1115568"/>
              <a:ext cx="310896" cy="31089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111111"/>
              </a:solidFill>
              <a:prstDash val="solid"/>
            </a:ln>
          </p:spPr>
          <p:txBody>
            <a:bodyPr/>
            <a:lstStyle/>
            <a:p>
              <a:endParaRPr sz="2400"/>
            </a:p>
          </p:txBody>
        </p:sp>
        <p:sp>
          <p:nvSpPr>
            <p:cNvPr id="18" name="Shape 6">
              <a:extLst>
                <a:ext uri="{FF2B5EF4-FFF2-40B4-BE49-F238E27FC236}">
                  <a16:creationId xmlns:a16="http://schemas.microsoft.com/office/drawing/2014/main" id="{3A6DAB74-AD67-470F-851B-EB0E75BC8F62}"/>
                </a:ext>
              </a:extLst>
            </p:cNvPr>
            <p:cNvSpPr/>
            <p:nvPr/>
          </p:nvSpPr>
          <p:spPr>
            <a:xfrm>
              <a:off x="2587752" y="2331720"/>
              <a:ext cx="310896" cy="31089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111111"/>
              </a:solidFill>
              <a:prstDash val="solid"/>
            </a:ln>
          </p:spPr>
          <p:txBody>
            <a:bodyPr/>
            <a:lstStyle/>
            <a:p>
              <a:endParaRPr sz="2400"/>
            </a:p>
          </p:txBody>
        </p:sp>
        <p:sp>
          <p:nvSpPr>
            <p:cNvPr id="19" name="Shape 10">
              <a:extLst>
                <a:ext uri="{FF2B5EF4-FFF2-40B4-BE49-F238E27FC236}">
                  <a16:creationId xmlns:a16="http://schemas.microsoft.com/office/drawing/2014/main" id="{9FFFE07B-98F9-4FB3-AD70-0EA8337F9119}"/>
                </a:ext>
              </a:extLst>
            </p:cNvPr>
            <p:cNvSpPr/>
            <p:nvPr/>
          </p:nvSpPr>
          <p:spPr>
            <a:xfrm>
              <a:off x="2587752" y="3547872"/>
              <a:ext cx="310896" cy="31089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111111"/>
              </a:solidFill>
              <a:prstDash val="solid"/>
            </a:ln>
          </p:spPr>
          <p:txBody>
            <a:bodyPr/>
            <a:lstStyle/>
            <a:p>
              <a:endParaRPr sz="2400"/>
            </a:p>
          </p:txBody>
        </p:sp>
        <p:sp>
          <p:nvSpPr>
            <p:cNvPr id="20" name="Shape 14">
              <a:extLst>
                <a:ext uri="{FF2B5EF4-FFF2-40B4-BE49-F238E27FC236}">
                  <a16:creationId xmlns:a16="http://schemas.microsoft.com/office/drawing/2014/main" id="{F2FCA9C9-1395-4389-9D33-006637035333}"/>
                </a:ext>
              </a:extLst>
            </p:cNvPr>
            <p:cNvSpPr/>
            <p:nvPr/>
          </p:nvSpPr>
          <p:spPr>
            <a:xfrm>
              <a:off x="2587752" y="4764024"/>
              <a:ext cx="310896" cy="31089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111111"/>
              </a:solidFill>
              <a:prstDash val="solid"/>
            </a:ln>
          </p:spPr>
          <p:txBody>
            <a:bodyPr/>
            <a:lstStyle/>
            <a:p>
              <a:endParaRPr sz="2400"/>
            </a:p>
          </p:txBody>
        </p:sp>
      </p:grpSp>
      <p:sp>
        <p:nvSpPr>
          <p:cNvPr id="22" name="Text 16">
            <a:extLst>
              <a:ext uri="{FF2B5EF4-FFF2-40B4-BE49-F238E27FC236}">
                <a16:creationId xmlns:a16="http://schemas.microsoft.com/office/drawing/2014/main" id="{F912880D-1843-4279-B7C3-4E6A9520D374}"/>
              </a:ext>
            </a:extLst>
          </p:cNvPr>
          <p:cNvSpPr/>
          <p:nvPr/>
        </p:nvSpPr>
        <p:spPr>
          <a:xfrm>
            <a:off x="1635035" y="5172890"/>
            <a:ext cx="10006147" cy="1097281"/>
          </a:xfrm>
          <a:prstGeom prst="rect">
            <a:avLst/>
          </a:prstGeom>
          <a:solidFill>
            <a:srgbClr val="FF9900"/>
          </a:solidFill>
          <a:ln/>
        </p:spPr>
        <p:txBody>
          <a:bodyPr wrap="square" lIns="0" tIns="0" rIns="0" bIns="0" rtlCol="0" anchor="ctr"/>
          <a:lstStyle/>
          <a:p>
            <a:r>
              <a:rPr sz="2400" dirty="0"/>
              <a:t>Project 4 (Week 17)</a:t>
            </a:r>
            <a:endParaRPr lang="en-US" sz="2400" dirty="0"/>
          </a:p>
          <a:p>
            <a:r>
              <a:rPr lang="en-US" altLang="zh-TW" sz="2400" dirty="0"/>
              <a:t>Full paper | Integrate all results and conclusions </a:t>
            </a:r>
          </a:p>
          <a:p>
            <a:r>
              <a:rPr lang="en-US" altLang="zh-TW" sz="2400" dirty="0"/>
              <a:t>| Test requirement refinement (with LLM)  | Test oracle (use cases &gt; 2 actions) </a:t>
            </a:r>
          </a:p>
        </p:txBody>
      </p:sp>
    </p:spTree>
    <p:extLst>
      <p:ext uri="{BB962C8B-B14F-4D97-AF65-F5344CB8AC3E}">
        <p14:creationId xmlns:p14="http://schemas.microsoft.com/office/powerpoint/2010/main" val="3098656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744" y="10972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Overview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707136" y="1106424"/>
            <a:ext cx="10875264" cy="9290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5400" dirty="0"/>
          </a:p>
        </p:txBody>
      </p:sp>
      <p:sp>
        <p:nvSpPr>
          <p:cNvPr id="8" name="Text 4"/>
          <p:cNvSpPr/>
          <p:nvPr/>
        </p:nvSpPr>
        <p:spPr>
          <a:xfrm>
            <a:off x="11356848" y="6428231"/>
            <a:ext cx="374904" cy="21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886968" y="1656000"/>
            <a:ext cx="10564848" cy="4175570"/>
          </a:xfrm>
          <a:prstGeom prst="roundRect">
            <a:avLst>
              <a:gd name="adj" fmla="val 2222"/>
            </a:avLst>
          </a:prstGeom>
          <a:solidFill>
            <a:srgbClr val="FCF7F1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86968" y="1735668"/>
            <a:ext cx="10006632" cy="5813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計畫一</a:t>
            </a:r>
            <a:r>
              <a:rPr lang="en-US" sz="32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：</a:t>
            </a:r>
            <a:r>
              <a:rPr lang="zh-TW" altLang="en-US" sz="32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測試需求 </a:t>
            </a:r>
            <a:r>
              <a:rPr lang="en-US" altLang="zh-TW" sz="32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</a:t>
            </a:r>
            <a:r>
              <a:rPr lang="en-US" sz="32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Test Requirement) </a:t>
            </a:r>
            <a:r>
              <a:rPr lang="zh-TW" altLang="en-US" sz="32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的指定與生成</a:t>
            </a:r>
            <a:endParaRPr lang="en-US" sz="3200" dirty="0"/>
          </a:p>
        </p:txBody>
      </p:sp>
      <p:sp>
        <p:nvSpPr>
          <p:cNvPr id="12" name="Text 8"/>
          <p:cNvSpPr/>
          <p:nvPr/>
        </p:nvSpPr>
        <p:spPr>
          <a:xfrm>
            <a:off x="886968" y="2314405"/>
            <a:ext cx="5636712" cy="323308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從 htmls、user requirements、既有文件出發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讓 LLM 提出測試需求與測項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把 use case / requirement item 明確化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為後續 test plan 與 coverage 奠定基礎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1389888" y="6151607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Requirement generation  →  Script generation  →  Oracle automation</a:t>
            </a:r>
            <a:endParaRPr lang="en-US" sz="2000" dirty="0"/>
          </a:p>
        </p:txBody>
      </p:sp>
      <p:sp>
        <p:nvSpPr>
          <p:cNvPr id="20" name="Text 0">
            <a:extLst>
              <a:ext uri="{FF2B5EF4-FFF2-40B4-BE49-F238E27FC236}">
                <a16:creationId xmlns:a16="http://schemas.microsoft.com/office/drawing/2014/main" id="{411CC034-EE9D-4319-859A-839A732F57A9}"/>
              </a:ext>
            </a:extLst>
          </p:cNvPr>
          <p:cNvSpPr/>
          <p:nvPr/>
        </p:nvSpPr>
        <p:spPr>
          <a:xfrm>
            <a:off x="1389888" y="438911"/>
            <a:ext cx="9222912" cy="869881"/>
          </a:xfrm>
          <a:prstGeom prst="rect">
            <a:avLst/>
          </a:prstGeom>
          <a:solidFill>
            <a:srgbClr val="FF99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4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研究規劃總覽：</a:t>
            </a:r>
            <a:r>
              <a:rPr lang="en-US" altLang="zh-TW" sz="4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TW" altLang="en-US" sz="4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個重要計畫</a:t>
            </a:r>
            <a:r>
              <a:rPr lang="en-US" altLang="zh-TW" sz="4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(1)</a:t>
            </a:r>
            <a:endParaRPr lang="zh-TW" altLang="en-US" sz="4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DDBDF27-D163-4AD4-A548-9DC0D342F9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968" y="3684193"/>
            <a:ext cx="9448824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現行痛點</a:t>
            </a: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測試目標模糊、過度仰賴人工經驗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缺乏系統化、可追溯的需求規格</a:t>
            </a:r>
            <a:endParaRPr kumimoji="0" lang="en-US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具體作法與產出</a:t>
            </a: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建立標準化的 Requirement 指定機制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TW" altLang="zh-TW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產出：</a:t>
            </a: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結構化的「測試需求清單」，作為後續 LLM 介入與評估的 Ground Truth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0220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707136" y="1106424"/>
            <a:ext cx="10875264" cy="9290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5400" dirty="0"/>
          </a:p>
        </p:txBody>
      </p:sp>
      <p:sp>
        <p:nvSpPr>
          <p:cNvPr id="8" name="Text 4"/>
          <p:cNvSpPr/>
          <p:nvPr/>
        </p:nvSpPr>
        <p:spPr>
          <a:xfrm>
            <a:off x="11356848" y="6428231"/>
            <a:ext cx="374904" cy="21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TW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566928" y="1740652"/>
            <a:ext cx="10204272" cy="4537748"/>
          </a:xfrm>
          <a:prstGeom prst="roundRect">
            <a:avLst>
              <a:gd name="adj" fmla="val 2222"/>
            </a:avLst>
          </a:prstGeom>
          <a:solidFill>
            <a:srgbClr val="F7F7F7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66928" y="1740651"/>
            <a:ext cx="11313072" cy="7267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計畫二：test</a:t>
            </a:r>
            <a:r>
              <a:rPr lang="en-US" sz="32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requirement/oracle</a:t>
            </a:r>
            <a:r>
              <a:rPr lang="zh-TW" altLang="en-US" sz="32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的</a:t>
            </a:r>
            <a:r>
              <a:rPr lang="en-US" sz="32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LLM</a:t>
            </a:r>
            <a:r>
              <a:rPr lang="zh-TW" altLang="en-US" sz="32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改進與生成目標</a:t>
            </a:r>
            <a:endParaRPr lang="en-US" sz="3200" dirty="0"/>
          </a:p>
        </p:txBody>
      </p:sp>
      <p:sp>
        <p:nvSpPr>
          <p:cNvPr id="15" name="Text 11"/>
          <p:cNvSpPr/>
          <p:nvPr/>
        </p:nvSpPr>
        <p:spPr>
          <a:xfrm>
            <a:off x="640080" y="2332806"/>
            <a:ext cx="10131120" cy="385919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依 test requirement 與介面產生測試方案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產出 Selenium / Playwright / Python scripts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一併設計 test plan 與 coverage 計算方法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</a:t>
            </a:r>
            <a:r>
              <a:rPr lang="en-US" sz="2000" dirty="0" err="1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形成可執行、可重跑的自動化測試資產</a:t>
            </a:r>
            <a:endParaRPr lang="en-US" sz="2000" dirty="0">
              <a:solidFill>
                <a:srgbClr val="222222"/>
              </a:solidFill>
              <a:latin typeface="Noto Sans CJK TC" pitchFamily="34" charset="0"/>
              <a:ea typeface="Noto Sans CJK TC" pitchFamily="34" charset="-122"/>
              <a:cs typeface="Noto Sans CJK TC" pitchFamily="34" charset="-120"/>
            </a:endParaRPr>
          </a:p>
          <a:p>
            <a:pPr marL="0" indent="0">
              <a:buNone/>
            </a:pPr>
            <a:endParaRPr lang="en-US" sz="2000" dirty="0">
              <a:solidFill>
                <a:srgbClr val="222222"/>
              </a:solidFill>
              <a:latin typeface="Noto Sans CJK TC" pitchFamily="34" charset="0"/>
              <a:ea typeface="Noto Sans CJK TC" pitchFamily="34" charset="-122"/>
              <a:cs typeface="Noto Sans CJK TC" pitchFamily="34" charset="-120"/>
            </a:endParaRPr>
          </a:p>
          <a:p>
            <a:pPr marL="0" indent="0">
              <a:buNone/>
            </a:pPr>
            <a:r>
              <a:rPr lang="zh-TW" alt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核心目標：引入 </a:t>
            </a:r>
            <a:r>
              <a:rPr lang="en-US" altLang="zh-TW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LLM </a:t>
            </a:r>
            <a:r>
              <a:rPr lang="zh-TW" alt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解決「測得夠不夠深」與「標準是什麼」</a:t>
            </a:r>
            <a:r>
              <a:rPr lang="en-US" altLang="zh-TW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LLM </a:t>
            </a:r>
            <a:r>
              <a:rPr lang="zh-TW" alt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的雙重任務需求改進 </a:t>
            </a:r>
            <a:r>
              <a:rPr lang="en-US" altLang="zh-TW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(Refinement)</a:t>
            </a:r>
            <a:r>
              <a:rPr lang="zh-TW" alt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： 掃描初始 </a:t>
            </a:r>
            <a:r>
              <a:rPr lang="en-US" altLang="zh-TW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Requirement</a:t>
            </a:r>
            <a:r>
              <a:rPr lang="zh-TW" alt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，自動擴充邊界條件 </a:t>
            </a:r>
            <a:r>
              <a:rPr lang="en-US" altLang="zh-TW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(Edge Cases) </a:t>
            </a:r>
            <a:r>
              <a:rPr lang="zh-TW" alt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與異常情境，補足人為盲點。</a:t>
            </a:r>
            <a:endParaRPr lang="en-US" altLang="zh-TW" sz="2000" dirty="0">
              <a:solidFill>
                <a:srgbClr val="222222"/>
              </a:solidFill>
              <a:latin typeface="Noto Sans CJK TC" pitchFamily="34" charset="0"/>
              <a:ea typeface="Noto Sans CJK TC" pitchFamily="34" charset="-122"/>
              <a:cs typeface="Noto Sans CJK TC" pitchFamily="34" charset="-120"/>
            </a:endParaRPr>
          </a:p>
          <a:p>
            <a:pPr marL="0" indent="0">
              <a:buNone/>
            </a:pPr>
            <a:r>
              <a:rPr lang="en-US" altLang="zh-TW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Oracle </a:t>
            </a:r>
            <a:r>
              <a:rPr lang="zh-TW" alt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生成 </a:t>
            </a:r>
            <a:r>
              <a:rPr lang="en-US" altLang="zh-TW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(Generation)</a:t>
            </a:r>
            <a:r>
              <a:rPr lang="zh-TW" alt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： 針對每一個測試需求，精準推導出對應的「預期結果 </a:t>
            </a:r>
            <a:r>
              <a:rPr lang="en-US" altLang="zh-TW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(Test Oracle)</a:t>
            </a:r>
            <a:r>
              <a:rPr lang="zh-TW" alt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」。關鍵價值</a:t>
            </a:r>
            <a:r>
              <a:rPr lang="en-US" altLang="zh-TW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Test Oracle </a:t>
            </a:r>
            <a:r>
              <a:rPr lang="zh-TW" alt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是判斷測試成功與否的「唯一法官」，有了它，自動化才具備真正的驗證能力。</a:t>
            </a:r>
            <a:endParaRPr lang="en-US" sz="2000" dirty="0">
              <a:solidFill>
                <a:srgbClr val="222222"/>
              </a:solidFill>
              <a:latin typeface="Noto Sans CJK TC" pitchFamily="34" charset="0"/>
              <a:ea typeface="Noto Sans CJK TC" pitchFamily="34" charset="-122"/>
              <a:cs typeface="Noto Sans CJK TC" pitchFamily="34" charset="-120"/>
            </a:endParaRP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20" name="Text 0">
            <a:extLst>
              <a:ext uri="{FF2B5EF4-FFF2-40B4-BE49-F238E27FC236}">
                <a16:creationId xmlns:a16="http://schemas.microsoft.com/office/drawing/2014/main" id="{411CC034-EE9D-4319-859A-839A732F57A9}"/>
              </a:ext>
            </a:extLst>
          </p:cNvPr>
          <p:cNvSpPr/>
          <p:nvPr/>
        </p:nvSpPr>
        <p:spPr>
          <a:xfrm>
            <a:off x="1327758" y="438911"/>
            <a:ext cx="9285041" cy="869881"/>
          </a:xfrm>
          <a:prstGeom prst="rect">
            <a:avLst/>
          </a:prstGeom>
          <a:solidFill>
            <a:srgbClr val="FF99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4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研究規劃總覽：</a:t>
            </a:r>
            <a:r>
              <a:rPr lang="en-US" altLang="zh-TW" sz="4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TW" altLang="en-US" sz="4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個重要計畫</a:t>
            </a:r>
            <a:r>
              <a:rPr lang="en-US" altLang="zh-TW" sz="4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(2)</a:t>
            </a:r>
            <a:endParaRPr lang="zh-TW" altLang="en-US" sz="4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744" y="10972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Overview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707136" y="1106424"/>
            <a:ext cx="10875264" cy="9290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5400" dirty="0"/>
          </a:p>
        </p:txBody>
      </p:sp>
      <p:sp>
        <p:nvSpPr>
          <p:cNvPr id="8" name="Text 4"/>
          <p:cNvSpPr/>
          <p:nvPr/>
        </p:nvSpPr>
        <p:spPr>
          <a:xfrm>
            <a:off x="11356848" y="6428231"/>
            <a:ext cx="374904" cy="21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TW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640080" y="1571830"/>
            <a:ext cx="10664952" cy="4317770"/>
          </a:xfrm>
          <a:prstGeom prst="roundRect">
            <a:avLst>
              <a:gd name="adj" fmla="val 2222"/>
            </a:avLst>
          </a:prstGeom>
          <a:solidFill>
            <a:srgbClr val="F9F5E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40080" y="1663269"/>
            <a:ext cx="10716768" cy="42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計畫三</a:t>
            </a:r>
            <a:r>
              <a:rPr lang="en-US" sz="32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：</a:t>
            </a:r>
            <a:r>
              <a:rPr lang="zh-TW" altLang="en-US" sz="32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從規格到程式碼：自動化腳本 </a:t>
            </a:r>
            <a:r>
              <a:rPr lang="en-US" altLang="zh-TW" sz="32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</a:t>
            </a:r>
            <a:r>
              <a:rPr lang="en-US" sz="32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Test Script) </a:t>
            </a:r>
            <a:r>
              <a:rPr lang="zh-TW" altLang="en-US" sz="32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生成</a:t>
            </a:r>
            <a:endParaRPr lang="en-US" sz="3200" dirty="0"/>
          </a:p>
        </p:txBody>
      </p:sp>
      <p:sp>
        <p:nvSpPr>
          <p:cNvPr id="18" name="Text 14"/>
          <p:cNvSpPr/>
          <p:nvPr/>
        </p:nvSpPr>
        <p:spPr>
          <a:xfrm>
            <a:off x="640080" y="2071329"/>
            <a:ext cx="10597896" cy="3072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1389888" y="6151607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Requirement generation  →  Script generation  →  Oracle automation</a:t>
            </a:r>
            <a:endParaRPr lang="en-US" sz="2000" dirty="0"/>
          </a:p>
        </p:txBody>
      </p:sp>
      <p:sp>
        <p:nvSpPr>
          <p:cNvPr id="20" name="Text 0">
            <a:extLst>
              <a:ext uri="{FF2B5EF4-FFF2-40B4-BE49-F238E27FC236}">
                <a16:creationId xmlns:a16="http://schemas.microsoft.com/office/drawing/2014/main" id="{411CC034-EE9D-4319-859A-839A732F57A9}"/>
              </a:ext>
            </a:extLst>
          </p:cNvPr>
          <p:cNvSpPr/>
          <p:nvPr/>
        </p:nvSpPr>
        <p:spPr>
          <a:xfrm>
            <a:off x="1389888" y="438911"/>
            <a:ext cx="9222912" cy="869881"/>
          </a:xfrm>
          <a:prstGeom prst="rect">
            <a:avLst/>
          </a:prstGeom>
          <a:solidFill>
            <a:srgbClr val="FF99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4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研究規劃總覽：</a:t>
            </a:r>
            <a:r>
              <a:rPr lang="en-US" altLang="zh-TW" sz="4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TW" altLang="en-US" sz="4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個重要計畫</a:t>
            </a:r>
            <a:r>
              <a:rPr lang="en-US" altLang="zh-TW" sz="4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(3)</a:t>
            </a:r>
            <a:endParaRPr lang="zh-TW" altLang="en-US" sz="4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556DE64-1354-4851-926A-5FD4B5A9CC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" y="2227916"/>
            <a:ext cx="1051992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核心目標：將理論與規格「具象化」為可執行的程式碼</a:t>
            </a: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嚴謹的生成邏輯 (The Logic Chain)</a:t>
            </a: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因為有了計畫一的「範圍 (Requirement)」。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加上了計畫二的「驗證標準 (Oracle)」。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TW" altLang="zh-TW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結果：</a:t>
            </a: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LLM 現在具備了完美的 Context，可以精準生成腳本。</a:t>
            </a:r>
            <a:endParaRPr kumimoji="0" lang="en-US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具體作法與產出</a:t>
            </a: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將 Requirement 轉化為測試步驟 (Steps)。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將 Oracle 直接寫入程式碼的斷言 (Assertions) 中。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TW" altLang="zh-TW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產出：</a:t>
            </a: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高度可用、不需大量人工修改的自動化測試腳本。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25666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744" y="10972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Overview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707136" y="1106424"/>
            <a:ext cx="10875264" cy="9290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5400" dirty="0"/>
          </a:p>
        </p:txBody>
      </p:sp>
      <p:sp>
        <p:nvSpPr>
          <p:cNvPr id="8" name="Text 4"/>
          <p:cNvSpPr/>
          <p:nvPr/>
        </p:nvSpPr>
        <p:spPr>
          <a:xfrm>
            <a:off x="11356848" y="6428231"/>
            <a:ext cx="374904" cy="21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TW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6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640080" y="1571830"/>
            <a:ext cx="10664952" cy="4317770"/>
          </a:xfrm>
          <a:prstGeom prst="roundRect">
            <a:avLst>
              <a:gd name="adj" fmla="val 2222"/>
            </a:avLst>
          </a:prstGeom>
          <a:solidFill>
            <a:srgbClr val="F9F5E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40080" y="1663269"/>
            <a:ext cx="10716768" cy="42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計畫</a:t>
            </a:r>
            <a:r>
              <a:rPr lang="zh-TW" altLang="en-US" sz="32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</a:t>
            </a:r>
            <a:r>
              <a:rPr lang="en-US" sz="32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：</a:t>
            </a:r>
            <a:r>
              <a:rPr lang="en-US" altLang="zh-TW" sz="32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Performance </a:t>
            </a:r>
            <a:r>
              <a:rPr lang="zh-TW" altLang="en-US" sz="32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調優與系統打包</a:t>
            </a:r>
            <a:endParaRPr lang="en-US" sz="3200" dirty="0"/>
          </a:p>
        </p:txBody>
      </p:sp>
      <p:sp>
        <p:nvSpPr>
          <p:cNvPr id="18" name="Text 14"/>
          <p:cNvSpPr/>
          <p:nvPr/>
        </p:nvSpPr>
        <p:spPr>
          <a:xfrm>
            <a:off x="640080" y="2071329"/>
            <a:ext cx="10597896" cy="3072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1389888" y="6151607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Requirement generation  →  Script generation  →  Oracle automation</a:t>
            </a:r>
            <a:endParaRPr lang="en-US" sz="2000" dirty="0"/>
          </a:p>
        </p:txBody>
      </p:sp>
      <p:sp>
        <p:nvSpPr>
          <p:cNvPr id="20" name="Text 0">
            <a:extLst>
              <a:ext uri="{FF2B5EF4-FFF2-40B4-BE49-F238E27FC236}">
                <a16:creationId xmlns:a16="http://schemas.microsoft.com/office/drawing/2014/main" id="{411CC034-EE9D-4319-859A-839A732F57A9}"/>
              </a:ext>
            </a:extLst>
          </p:cNvPr>
          <p:cNvSpPr/>
          <p:nvPr/>
        </p:nvSpPr>
        <p:spPr>
          <a:xfrm>
            <a:off x="1389888" y="438911"/>
            <a:ext cx="9222912" cy="869881"/>
          </a:xfrm>
          <a:prstGeom prst="rect">
            <a:avLst/>
          </a:prstGeom>
          <a:solidFill>
            <a:srgbClr val="FF99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4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研究規劃總覽：</a:t>
            </a:r>
            <a:r>
              <a:rPr lang="en-US" altLang="zh-TW" sz="4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TW" altLang="en-US" sz="4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個重要計畫</a:t>
            </a:r>
            <a:r>
              <a:rPr lang="en-US" altLang="zh-TW" sz="4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(4)</a:t>
            </a:r>
            <a:endParaRPr lang="zh-TW" altLang="en-US" sz="4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556DE64-1354-4851-926A-5FD4B5A9CC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" y="2239635"/>
            <a:ext cx="10519920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TW" altLang="en-US" dirty="0"/>
              <a:t>核心目標：從「能動的腳本」進化為「好用的產品」</a:t>
            </a:r>
            <a:endParaRPr lang="en-US" altLang="zh-TW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zh-TW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Performance </a:t>
            </a:r>
            <a:r>
              <a:rPr kumimoji="0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調整： 針對生成的測試腳本與整體管線進行執行效率調優（例如降低 </a:t>
            </a:r>
            <a:r>
              <a:rPr kumimoji="0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overhead</a:t>
            </a:r>
            <a:r>
              <a:rPr kumimoji="0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、平行化處理）。</a:t>
            </a:r>
            <a:endParaRPr kumimoji="0" lang="en-US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系統打包 </a:t>
            </a:r>
            <a:r>
              <a:rPr kumimoji="0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(Packaging)</a:t>
            </a:r>
            <a:r>
              <a:rPr kumimoji="0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 將這套「需求 </a:t>
            </a:r>
            <a:r>
              <a:rPr kumimoji="0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Oracle </a:t>
            </a:r>
            <a:r>
              <a:rPr kumimoji="0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腳本」的邏輯鍊條封裝成獨立、可重複使用的工具鏈或框架。</a:t>
            </a:r>
            <a:endParaRPr kumimoji="0" lang="en-US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zh-TW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zh-TW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2956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9848" y="452940"/>
            <a:ext cx="9972720" cy="667512"/>
          </a:xfrm>
          <a:prstGeom prst="rect">
            <a:avLst/>
          </a:prstGeom>
          <a:solidFill>
            <a:srgbClr val="FF9900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sz="4800" dirty="0"/>
              <a:t>Traditional Approach vs Our Approach</a:t>
            </a:r>
          </a:p>
        </p:txBody>
      </p:sp>
      <p:sp>
        <p:nvSpPr>
          <p:cNvPr id="3" name="Shape 1"/>
          <p:cNvSpPr/>
          <p:nvPr/>
        </p:nvSpPr>
        <p:spPr>
          <a:xfrm>
            <a:off x="868680" y="1143000"/>
            <a:ext cx="10424160" cy="2057400"/>
          </a:xfrm>
          <a:prstGeom prst="rect">
            <a:avLst/>
          </a:prstGeom>
          <a:solidFill>
            <a:srgbClr val="FFFFFF"/>
          </a:solidFill>
          <a:ln w="11430">
            <a:solidFill>
              <a:srgbClr val="CFCFCF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4" name="Text 2"/>
          <p:cNvSpPr/>
          <p:nvPr/>
        </p:nvSpPr>
        <p:spPr>
          <a:xfrm>
            <a:off x="1069848" y="1307591"/>
            <a:ext cx="10021824" cy="545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800" dirty="0"/>
              <a:t>Traditional Approach</a:t>
            </a:r>
          </a:p>
        </p:txBody>
      </p:sp>
      <p:sp>
        <p:nvSpPr>
          <p:cNvPr id="5" name="Text 3"/>
          <p:cNvSpPr/>
          <p:nvPr/>
        </p:nvSpPr>
        <p:spPr>
          <a:xfrm>
            <a:off x="1069848" y="1655064"/>
            <a:ext cx="100218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800" dirty="0"/>
              <a:t>Write tests  -&gt;  Run  -&gt;  Human review  -&gt;  Decide</a:t>
            </a:r>
          </a:p>
        </p:txBody>
      </p:sp>
      <p:sp>
        <p:nvSpPr>
          <p:cNvPr id="6" name="Text 4"/>
          <p:cNvSpPr/>
          <p:nvPr/>
        </p:nvSpPr>
        <p:spPr>
          <a:xfrm>
            <a:off x="2586446" y="2618652"/>
            <a:ext cx="8706394" cy="545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800" i="1" dirty="0">
                <a:solidFill>
                  <a:schemeClr val="accent2">
                    <a:lumMod val="75000"/>
                  </a:schemeClr>
                </a:solidFill>
              </a:rPr>
              <a:t>Slow | Not scalable</a:t>
            </a:r>
            <a:r>
              <a:rPr lang="en-US" sz="2800" i="1" dirty="0">
                <a:solidFill>
                  <a:schemeClr val="accent2">
                    <a:lumMod val="75000"/>
                  </a:schemeClr>
                </a:solidFill>
              </a:rPr>
              <a:t> | Inconsistent | high-maintenance cost</a:t>
            </a:r>
            <a:endParaRPr sz="2800" i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868680" y="3657600"/>
            <a:ext cx="10424160" cy="2057400"/>
          </a:xfrm>
          <a:prstGeom prst="rect">
            <a:avLst/>
          </a:prstGeom>
          <a:solidFill>
            <a:srgbClr val="FFFFFF"/>
          </a:solidFill>
          <a:ln w="11430">
            <a:solidFill>
              <a:srgbClr val="CFCFC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069848" y="3822191"/>
            <a:ext cx="10308600" cy="621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800" dirty="0"/>
              <a:t>Our Approach</a:t>
            </a:r>
          </a:p>
        </p:txBody>
      </p:sp>
      <p:sp>
        <p:nvSpPr>
          <p:cNvPr id="9" name="Text 7"/>
          <p:cNvSpPr/>
          <p:nvPr/>
        </p:nvSpPr>
        <p:spPr>
          <a:xfrm>
            <a:off x="1069848" y="4169664"/>
            <a:ext cx="100218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800" dirty="0"/>
              <a:t>Write tests  -&gt;  Run  -&gt;  LLM review  -&gt;  Auto-judge</a:t>
            </a:r>
          </a:p>
        </p:txBody>
      </p:sp>
      <p:sp>
        <p:nvSpPr>
          <p:cNvPr id="10" name="Text 8"/>
          <p:cNvSpPr/>
          <p:nvPr/>
        </p:nvSpPr>
        <p:spPr>
          <a:xfrm>
            <a:off x="6621517" y="5028569"/>
            <a:ext cx="5207876" cy="732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800" dirty="0"/>
              <a:t>Faster | Scalable | But accurate?</a:t>
            </a:r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74EF475C-2E40-48D3-A1E2-8DDEC61906C2}"/>
              </a:ext>
            </a:extLst>
          </p:cNvPr>
          <p:cNvSpPr/>
          <p:nvPr/>
        </p:nvSpPr>
        <p:spPr>
          <a:xfrm>
            <a:off x="11378448" y="6428231"/>
            <a:ext cx="374904" cy="21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TW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7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744" y="10972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Overview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228600" y="347472"/>
            <a:ext cx="11503152" cy="0"/>
          </a:xfrm>
          <a:prstGeom prst="line">
            <a:avLst/>
          </a:prstGeom>
          <a:noFill/>
          <a:ln w="15240">
            <a:solidFill>
              <a:srgbClr val="BDBDB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438912"/>
            <a:ext cx="10241280" cy="66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傳統方式的主要缺點</a:t>
            </a:r>
            <a:endParaRPr lang="en-US" sz="6000" dirty="0"/>
          </a:p>
        </p:txBody>
      </p:sp>
      <p:sp>
        <p:nvSpPr>
          <p:cNvPr id="9" name="Shape 5"/>
          <p:cNvSpPr/>
          <p:nvPr/>
        </p:nvSpPr>
        <p:spPr>
          <a:xfrm>
            <a:off x="841248" y="1325879"/>
            <a:ext cx="3781152" cy="4981321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969264" y="1417320"/>
            <a:ext cx="3584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Traditional flow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969264" y="1728216"/>
            <a:ext cx="3584448" cy="3118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文件 / 需求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↓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人工整理測試需求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↓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人工寫 test scripts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↓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執行測試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↓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人工看報告再判斷</a:t>
            </a:r>
            <a:endParaRPr lang="en-US" sz="2400" dirty="0"/>
          </a:p>
        </p:txBody>
      </p:sp>
      <p:sp>
        <p:nvSpPr>
          <p:cNvPr id="12" name="Shape 8"/>
          <p:cNvSpPr/>
          <p:nvPr/>
        </p:nvSpPr>
        <p:spPr>
          <a:xfrm>
            <a:off x="4956048" y="1325880"/>
            <a:ext cx="6382512" cy="3611880"/>
          </a:xfrm>
          <a:prstGeom prst="roundRect">
            <a:avLst>
              <a:gd name="adj" fmla="val 2025"/>
            </a:avLst>
          </a:prstGeom>
          <a:solidFill>
            <a:srgbClr val="F6F6F6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084064" y="141732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Why this becomes a bottleneck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5084064" y="1728216"/>
            <a:ext cx="6126480" cy="3118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測試需求整理與測項指定高度仰賴人工經驗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測試腳本撰寫、維護與 coverage 計算成本高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測試一多就難以擴展，速度慢且重工多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人工判讀結果容易不一致，也不易標準化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對 failure、UX 問題與 security issue 的後續追查不成系統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很難快速迭代下一輪測試與知識移轉</a:t>
            </a:r>
            <a:endParaRPr lang="en-US" sz="2400" dirty="0"/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46AE732A-6A96-42FB-852B-4486B2260150}"/>
              </a:ext>
            </a:extLst>
          </p:cNvPr>
          <p:cNvSpPr/>
          <p:nvPr/>
        </p:nvSpPr>
        <p:spPr>
          <a:xfrm>
            <a:off x="11364048" y="6428231"/>
            <a:ext cx="374904" cy="21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TW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8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" y="7315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7A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Overview</a:t>
            </a:r>
            <a:endParaRPr lang="en-US" sz="700" dirty="0"/>
          </a:p>
        </p:txBody>
      </p:sp>
      <p:sp>
        <p:nvSpPr>
          <p:cNvPr id="3" name="Shape 1"/>
          <p:cNvSpPr/>
          <p:nvPr/>
        </p:nvSpPr>
        <p:spPr>
          <a:xfrm>
            <a:off x="91440" y="292608"/>
            <a:ext cx="11932920" cy="0"/>
          </a:xfrm>
          <a:prstGeom prst="line">
            <a:avLst/>
          </a:prstGeom>
          <a:noFill/>
          <a:ln w="12700">
            <a:solidFill>
              <a:srgbClr val="D8D8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384047"/>
            <a:ext cx="10306368" cy="5897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研究循環流程（0）-（</a:t>
            </a:r>
            <a:r>
              <a:rPr lang="en-US" altLang="zh-TW" sz="4800" b="1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r>
              <a:rPr lang="en-US" sz="4800" b="1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）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256032" y="731520"/>
            <a:ext cx="1005840" cy="0"/>
          </a:xfrm>
          <a:prstGeom prst="line">
            <a:avLst/>
          </a:prstGeom>
          <a:noFill/>
          <a:ln w="12700">
            <a:solidFill>
              <a:srgbClr val="C969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585448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TW" sz="2000" dirty="0">
                <a:solidFill>
                  <a:srgbClr val="5555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9</a:t>
            </a:r>
            <a:endParaRPr lang="en-US" sz="2000" dirty="0"/>
          </a:p>
        </p:txBody>
      </p:sp>
      <p:pic>
        <p:nvPicPr>
          <p:cNvPr id="30" name="圖片 29">
            <a:extLst>
              <a:ext uri="{FF2B5EF4-FFF2-40B4-BE49-F238E27FC236}">
                <a16:creationId xmlns:a16="http://schemas.microsoft.com/office/drawing/2014/main" id="{4EEE84CB-C22F-4B5B-9AE2-CE447EC4D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419" y="987276"/>
            <a:ext cx="4781997" cy="5706132"/>
          </a:xfrm>
          <a:prstGeom prst="rect">
            <a:avLst/>
          </a:prstGeom>
        </p:spPr>
      </p:pic>
      <p:sp>
        <p:nvSpPr>
          <p:cNvPr id="31" name="Shape 5">
            <a:extLst>
              <a:ext uri="{FF2B5EF4-FFF2-40B4-BE49-F238E27FC236}">
                <a16:creationId xmlns:a16="http://schemas.microsoft.com/office/drawing/2014/main" id="{0EE5F4AB-530D-450F-8FB2-61D73FEBA7AE}"/>
              </a:ext>
            </a:extLst>
          </p:cNvPr>
          <p:cNvSpPr/>
          <p:nvPr/>
        </p:nvSpPr>
        <p:spPr>
          <a:xfrm>
            <a:off x="6398207" y="1272168"/>
            <a:ext cx="4781997" cy="5431536"/>
          </a:xfrm>
          <a:prstGeom prst="roundRect">
            <a:avLst>
              <a:gd name="adj" fmla="val 2025"/>
            </a:avLst>
          </a:prstGeom>
          <a:solidFill>
            <a:srgbClr val="FBF8F3"/>
          </a:solidFill>
          <a:ln w="12700">
            <a:solidFill>
              <a:srgbClr val="E6DED4"/>
            </a:solidFill>
            <a:prstDash val="solid"/>
          </a:ln>
        </p:spPr>
      </p:sp>
      <p:sp>
        <p:nvSpPr>
          <p:cNvPr id="32" name="Text 6">
            <a:extLst>
              <a:ext uri="{FF2B5EF4-FFF2-40B4-BE49-F238E27FC236}">
                <a16:creationId xmlns:a16="http://schemas.microsoft.com/office/drawing/2014/main" id="{05F0E519-4030-41A5-AAF0-41FF62D20550}"/>
              </a:ext>
            </a:extLst>
          </p:cNvPr>
          <p:cNvSpPr/>
          <p:nvPr/>
        </p:nvSpPr>
        <p:spPr>
          <a:xfrm>
            <a:off x="6608520" y="155563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69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</a:t>
            </a:r>
            <a:endParaRPr lang="en-US" sz="1600" dirty="0"/>
          </a:p>
        </p:txBody>
      </p:sp>
      <p:sp>
        <p:nvSpPr>
          <p:cNvPr id="33" name="Text 7">
            <a:extLst>
              <a:ext uri="{FF2B5EF4-FFF2-40B4-BE49-F238E27FC236}">
                <a16:creationId xmlns:a16="http://schemas.microsoft.com/office/drawing/2014/main" id="{AE0F8F45-E3A8-4751-AABD-44368A003594}"/>
              </a:ext>
            </a:extLst>
          </p:cNvPr>
          <p:cNvSpPr/>
          <p:nvPr/>
        </p:nvSpPr>
        <p:spPr>
          <a:xfrm>
            <a:off x="7020000" y="1528200"/>
            <a:ext cx="23682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輸入資料與初始 Q</a:t>
            </a:r>
            <a:endParaRPr lang="en-US" sz="1800" dirty="0"/>
          </a:p>
        </p:txBody>
      </p:sp>
      <p:sp>
        <p:nvSpPr>
          <p:cNvPr id="34" name="Text 8">
            <a:extLst>
              <a:ext uri="{FF2B5EF4-FFF2-40B4-BE49-F238E27FC236}">
                <a16:creationId xmlns:a16="http://schemas.microsoft.com/office/drawing/2014/main" id="{A0F4A464-0CEF-4867-8E78-84C01DBAAF49}"/>
              </a:ext>
            </a:extLst>
          </p:cNvPr>
          <p:cNvSpPr/>
          <p:nvPr/>
        </p:nvSpPr>
        <p:spPr>
          <a:xfrm>
            <a:off x="6571944" y="1957968"/>
            <a:ext cx="4386456" cy="21579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給定 htmls、user requirements、test requirements、既有測試腳本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建立初始 test oracle 模型 Q = {} 或某個初值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把現有文件先整理成 LLM 可以引用的上下文</a:t>
            </a:r>
            <a:endParaRPr lang="en-US" sz="1700" dirty="0"/>
          </a:p>
        </p:txBody>
      </p:sp>
      <p:sp>
        <p:nvSpPr>
          <p:cNvPr id="35" name="Text 9">
            <a:extLst>
              <a:ext uri="{FF2B5EF4-FFF2-40B4-BE49-F238E27FC236}">
                <a16:creationId xmlns:a16="http://schemas.microsoft.com/office/drawing/2014/main" id="{8C4CCCD1-CC10-4E34-A3DD-B1802FB2929C}"/>
              </a:ext>
            </a:extLst>
          </p:cNvPr>
          <p:cNvSpPr/>
          <p:nvPr/>
        </p:nvSpPr>
        <p:spPr>
          <a:xfrm>
            <a:off x="6590232" y="3777624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69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600" dirty="0"/>
          </a:p>
        </p:txBody>
      </p:sp>
      <p:sp>
        <p:nvSpPr>
          <p:cNvPr id="36" name="Text 10">
            <a:extLst>
              <a:ext uri="{FF2B5EF4-FFF2-40B4-BE49-F238E27FC236}">
                <a16:creationId xmlns:a16="http://schemas.microsoft.com/office/drawing/2014/main" id="{860C43CE-C852-4D85-9983-76462DE84206}"/>
              </a:ext>
            </a:extLst>
          </p:cNvPr>
          <p:cNvSpPr/>
          <p:nvPr/>
        </p:nvSpPr>
        <p:spPr>
          <a:xfrm>
            <a:off x="7019999" y="3782196"/>
            <a:ext cx="4177581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根據 Q 詢問 LLM：可否產生測試需求？</a:t>
            </a:r>
            <a:endParaRPr lang="en-US" sz="1800" dirty="0"/>
          </a:p>
        </p:txBody>
      </p:sp>
      <p:sp>
        <p:nvSpPr>
          <p:cNvPr id="37" name="Text 11">
            <a:extLst>
              <a:ext uri="{FF2B5EF4-FFF2-40B4-BE49-F238E27FC236}">
                <a16:creationId xmlns:a16="http://schemas.microsoft.com/office/drawing/2014/main" id="{B8E20D53-8302-4F5C-ADE4-91CBDC2D8BA5}"/>
              </a:ext>
            </a:extLst>
          </p:cNvPr>
          <p:cNvSpPr/>
          <p:nvPr/>
        </p:nvSpPr>
        <p:spPr>
          <a:xfrm>
            <a:off x="6651192" y="4719456"/>
            <a:ext cx="4307208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可針對單一測項補出 requirement item</a:t>
            </a:r>
            <a:endParaRPr lang="en-US" sz="1650" dirty="0"/>
          </a:p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也可重整 use case、輸入條件與預期結果</a:t>
            </a:r>
            <a:endParaRPr lang="en-US" sz="1650" dirty="0"/>
          </a:p>
        </p:txBody>
      </p:sp>
      <p:cxnSp>
        <p:nvCxnSpPr>
          <p:cNvPr id="42" name="直線單箭頭接點 41">
            <a:extLst>
              <a:ext uri="{FF2B5EF4-FFF2-40B4-BE49-F238E27FC236}">
                <a16:creationId xmlns:a16="http://schemas.microsoft.com/office/drawing/2014/main" id="{51B79DFC-FDE2-4EAA-91A9-A46F5183A30E}"/>
              </a:ext>
            </a:extLst>
          </p:cNvPr>
          <p:cNvCxnSpPr/>
          <p:nvPr/>
        </p:nvCxnSpPr>
        <p:spPr>
          <a:xfrm>
            <a:off x="5457600" y="1137600"/>
            <a:ext cx="1193592" cy="54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單箭頭接點 43">
            <a:extLst>
              <a:ext uri="{FF2B5EF4-FFF2-40B4-BE49-F238E27FC236}">
                <a16:creationId xmlns:a16="http://schemas.microsoft.com/office/drawing/2014/main" id="{4A91179D-A221-4A90-8C8E-719B00C63933}"/>
              </a:ext>
            </a:extLst>
          </p:cNvPr>
          <p:cNvCxnSpPr/>
          <p:nvPr/>
        </p:nvCxnSpPr>
        <p:spPr>
          <a:xfrm>
            <a:off x="5508000" y="2527200"/>
            <a:ext cx="1143192" cy="1396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矩形 44">
            <a:extLst>
              <a:ext uri="{FF2B5EF4-FFF2-40B4-BE49-F238E27FC236}">
                <a16:creationId xmlns:a16="http://schemas.microsoft.com/office/drawing/2014/main" id="{8E7C5786-5588-4479-8768-927BF8307848}"/>
              </a:ext>
            </a:extLst>
          </p:cNvPr>
          <p:cNvSpPr/>
          <p:nvPr/>
        </p:nvSpPr>
        <p:spPr>
          <a:xfrm>
            <a:off x="4442400" y="973832"/>
            <a:ext cx="1404000" cy="4085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BC23ACC5-0265-4920-8738-FE16A2EE04AB}"/>
              </a:ext>
            </a:extLst>
          </p:cNvPr>
          <p:cNvSpPr/>
          <p:nvPr/>
        </p:nvSpPr>
        <p:spPr>
          <a:xfrm>
            <a:off x="4219739" y="2042548"/>
            <a:ext cx="1730414" cy="11038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25056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" y="7315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7A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Overview</a:t>
            </a:r>
            <a:endParaRPr lang="en-US" sz="700" dirty="0"/>
          </a:p>
        </p:txBody>
      </p:sp>
      <p:sp>
        <p:nvSpPr>
          <p:cNvPr id="3" name="Shape 1"/>
          <p:cNvSpPr/>
          <p:nvPr/>
        </p:nvSpPr>
        <p:spPr>
          <a:xfrm>
            <a:off x="91440" y="292608"/>
            <a:ext cx="11932920" cy="0"/>
          </a:xfrm>
          <a:prstGeom prst="line">
            <a:avLst/>
          </a:prstGeom>
          <a:noFill/>
          <a:ln w="12700">
            <a:solidFill>
              <a:srgbClr val="D8D8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384047"/>
            <a:ext cx="10306368" cy="5897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研究循環流程（0）-（2）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256032" y="731520"/>
            <a:ext cx="1005840" cy="0"/>
          </a:xfrm>
          <a:prstGeom prst="line">
            <a:avLst/>
          </a:prstGeom>
          <a:noFill/>
          <a:ln w="12700">
            <a:solidFill>
              <a:srgbClr val="C969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585448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TW" sz="2000" dirty="0">
                <a:solidFill>
                  <a:srgbClr val="5555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86495" y="1935099"/>
            <a:ext cx="7726680" cy="4206240"/>
          </a:xfrm>
          <a:prstGeom prst="roundRect">
            <a:avLst>
              <a:gd name="adj" fmla="val 1739"/>
            </a:avLst>
          </a:prstGeom>
          <a:solidFill>
            <a:srgbClr val="FBF8F3"/>
          </a:solidFill>
          <a:ln w="12700">
            <a:solidFill>
              <a:srgbClr val="E6DE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0087" y="1379331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69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02423" y="1351899"/>
            <a:ext cx="5685696" cy="390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根據測試需求與待測物介面，產生測試方案與文件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6391" y="1937115"/>
            <a:ext cx="1572768" cy="26517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7E0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6119" y="2101707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69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(2a)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C969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測試 requirements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56119" y="2942955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列出測項、範圍與判準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2456903" y="1937115"/>
            <a:ext cx="1572768" cy="26517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7E0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6631" y="2101707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69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(2b)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C969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相應 test plan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566631" y="2942955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 requirement 轉成可執行計畫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4267415" y="1937115"/>
            <a:ext cx="1572768" cy="26517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7E0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77143" y="2101707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69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(2c)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C969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GUI coverage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C969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計算方法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377143" y="2942955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一併寫出 coverage 計算 script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6077927" y="1937115"/>
            <a:ext cx="1572768" cy="26517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7E0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87655" y="2101707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69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(2d)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C969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Selenium / Playwright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C969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與 Python 測試腳本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187655" y="2942955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生成可執行、可重跑的 scripts</a:t>
            </a:r>
            <a:endParaRPr lang="en-US" sz="1450" dirty="0"/>
          </a:p>
        </p:txBody>
      </p:sp>
      <p:pic>
        <p:nvPicPr>
          <p:cNvPr id="29" name="圖片 28">
            <a:extLst>
              <a:ext uri="{FF2B5EF4-FFF2-40B4-BE49-F238E27FC236}">
                <a16:creationId xmlns:a16="http://schemas.microsoft.com/office/drawing/2014/main" id="{B75F1FC6-9964-4CF9-AFD5-90C0972606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4312" y="1166216"/>
            <a:ext cx="4101861" cy="4894558"/>
          </a:xfrm>
          <a:prstGeom prst="rect">
            <a:avLst/>
          </a:prstGeom>
        </p:spPr>
      </p:pic>
      <p:sp>
        <p:nvSpPr>
          <p:cNvPr id="30" name="矩形 29">
            <a:extLst>
              <a:ext uri="{FF2B5EF4-FFF2-40B4-BE49-F238E27FC236}">
                <a16:creationId xmlns:a16="http://schemas.microsoft.com/office/drawing/2014/main" id="{A1E3C9B3-90FA-4C0F-B69C-C774F61A452B}"/>
              </a:ext>
            </a:extLst>
          </p:cNvPr>
          <p:cNvSpPr/>
          <p:nvPr/>
        </p:nvSpPr>
        <p:spPr>
          <a:xfrm>
            <a:off x="8831986" y="2689947"/>
            <a:ext cx="1730414" cy="11038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DC0B6920-0E73-4142-AF7D-E367C8246EFF}"/>
              </a:ext>
            </a:extLst>
          </p:cNvPr>
          <p:cNvCxnSpPr>
            <a:cxnSpLocks/>
          </p:cNvCxnSpPr>
          <p:nvPr/>
        </p:nvCxnSpPr>
        <p:spPr>
          <a:xfrm flipH="1" flipV="1">
            <a:off x="5968199" y="1547307"/>
            <a:ext cx="2863788" cy="13956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" y="7315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7A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Overview</a:t>
            </a:r>
            <a:endParaRPr lang="en-US" sz="700" dirty="0"/>
          </a:p>
        </p:txBody>
      </p:sp>
      <p:sp>
        <p:nvSpPr>
          <p:cNvPr id="3" name="Shape 1"/>
          <p:cNvSpPr/>
          <p:nvPr/>
        </p:nvSpPr>
        <p:spPr>
          <a:xfrm>
            <a:off x="91440" y="292608"/>
            <a:ext cx="11932920" cy="0"/>
          </a:xfrm>
          <a:prstGeom prst="line">
            <a:avLst/>
          </a:prstGeom>
          <a:noFill/>
          <a:ln w="12700">
            <a:solidFill>
              <a:srgbClr val="D8D8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1" y="384047"/>
            <a:ext cx="11050143" cy="690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研究循環流程（3）-（4）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256032" y="731520"/>
            <a:ext cx="1005840" cy="0"/>
          </a:xfrm>
          <a:prstGeom prst="line">
            <a:avLst/>
          </a:prstGeom>
          <a:noFill/>
          <a:ln w="12700">
            <a:solidFill>
              <a:srgbClr val="C969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669803" y="6550641"/>
            <a:ext cx="457200" cy="1746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TW" sz="2000" dirty="0">
                <a:solidFill>
                  <a:srgbClr val="5555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" y="1051559"/>
            <a:ext cx="3822192" cy="5422393"/>
          </a:xfrm>
          <a:prstGeom prst="roundRect">
            <a:avLst>
              <a:gd name="adj" fmla="val 1914"/>
            </a:avLst>
          </a:prstGeom>
          <a:solidFill>
            <a:srgbClr val="FBF8F3"/>
          </a:solidFill>
          <a:ln w="12700">
            <a:solidFill>
              <a:srgbClr val="E6DE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126187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69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32688" y="124358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執行測試方案，收集報告並評估效率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1737360"/>
            <a:ext cx="3200400" cy="412943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觀察 coverage、錯誤偵測率、test requirements 的達成度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每次執行完畢，都把 evidence 與報告再交給 LLM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請 LLM 先給出整體結論：failure／success／poor／ugly／vulnerable／penetrated／inconclusive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315968" y="1051560"/>
            <a:ext cx="3822192" cy="5371186"/>
          </a:xfrm>
          <a:prstGeom prst="roundRect">
            <a:avLst>
              <a:gd name="adj" fmla="val 1914"/>
            </a:avLst>
          </a:prstGeom>
          <a:solidFill>
            <a:srgbClr val="FBF8F3"/>
          </a:solidFill>
          <a:ln w="12700">
            <a:solidFill>
              <a:srgbClr val="E6DE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97096" y="1043115"/>
            <a:ext cx="4524451" cy="448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（3）這一輪測試的主要問題是什麼？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412910" y="1536192"/>
            <a:ext cx="3163824" cy="4297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如果是 failure：要問功能失常內容、可能原因、修正建議、後續 regression scripts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如果是 poor／ugly：要問 UX 問題、可能原因、改善方式、再測腳本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如果是 vulnerable／penetrated：要問弱點／攻擊類別、證據、修補建議與相關腳本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56032" y="4905583"/>
            <a:ext cx="7229260" cy="1833545"/>
          </a:xfrm>
          <a:prstGeom prst="roundRect">
            <a:avLst>
              <a:gd name="adj" fmla="val 2094"/>
            </a:avLst>
          </a:prstGeom>
          <a:solidFill>
            <a:srgbClr val="FBF8F3"/>
          </a:solidFill>
          <a:ln w="12700">
            <a:solidFill>
              <a:srgbClr val="E6DE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3644" y="5045964"/>
            <a:ext cx="436162" cy="142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69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12003" y="4912445"/>
            <a:ext cx="3054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更新 Q，回到步驟（1）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65602" y="5459732"/>
            <a:ext cx="6645953" cy="711703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把本輪結論、原因分析與補強腳本納入 Q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再回到需求生成與腳本生成，形成持續迭代的研究流程</a:t>
            </a:r>
            <a:endParaRPr lang="en-US" sz="2000" dirty="0"/>
          </a:p>
        </p:txBody>
      </p:sp>
      <p:pic>
        <p:nvPicPr>
          <p:cNvPr id="19" name="圖片 18">
            <a:extLst>
              <a:ext uri="{FF2B5EF4-FFF2-40B4-BE49-F238E27FC236}">
                <a16:creationId xmlns:a16="http://schemas.microsoft.com/office/drawing/2014/main" id="{4B654F77-1E52-4CF0-9025-F165FE632D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5292" y="1478365"/>
            <a:ext cx="4641711" cy="5091379"/>
          </a:xfrm>
          <a:prstGeom prst="rect">
            <a:avLst/>
          </a:prstGeom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2CFFEA79-F960-48D9-B9B1-4C1BF91316E3}"/>
              </a:ext>
            </a:extLst>
          </p:cNvPr>
          <p:cNvSpPr/>
          <p:nvPr/>
        </p:nvSpPr>
        <p:spPr>
          <a:xfrm>
            <a:off x="7485292" y="4912899"/>
            <a:ext cx="4706707" cy="13123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0376691-F28B-4042-8FF3-49D653251C75}"/>
              </a:ext>
            </a:extLst>
          </p:cNvPr>
          <p:cNvSpPr/>
          <p:nvPr/>
        </p:nvSpPr>
        <p:spPr>
          <a:xfrm>
            <a:off x="9021211" y="6273317"/>
            <a:ext cx="1944778" cy="60748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C75986EE-ACC3-4682-AB2D-230BACEC7B16}"/>
              </a:ext>
            </a:extLst>
          </p:cNvPr>
          <p:cNvCxnSpPr>
            <a:cxnSpLocks/>
          </p:cNvCxnSpPr>
          <p:nvPr/>
        </p:nvCxnSpPr>
        <p:spPr>
          <a:xfrm flipH="1" flipV="1">
            <a:off x="7540156" y="1519302"/>
            <a:ext cx="441794" cy="33935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36844385-2CA9-496C-A82F-345F32810F75}"/>
              </a:ext>
            </a:extLst>
          </p:cNvPr>
          <p:cNvCxnSpPr>
            <a:cxnSpLocks/>
          </p:cNvCxnSpPr>
          <p:nvPr/>
        </p:nvCxnSpPr>
        <p:spPr>
          <a:xfrm flipH="1" flipV="1">
            <a:off x="5495925" y="6115536"/>
            <a:ext cx="3508129" cy="6367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744" y="10972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Overview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228600" y="347472"/>
            <a:ext cx="11503152" cy="0"/>
          </a:xfrm>
          <a:prstGeom prst="line">
            <a:avLst/>
          </a:prstGeom>
          <a:noFill/>
          <a:ln w="15240">
            <a:solidFill>
              <a:srgbClr val="BDBDB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43891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LLM 判讀結果與後續動作</a:t>
            </a:r>
            <a:endParaRPr lang="en-US" sz="4800" dirty="0"/>
          </a:p>
        </p:txBody>
      </p:sp>
      <p:sp>
        <p:nvSpPr>
          <p:cNvPr id="6" name="Shape 3"/>
          <p:cNvSpPr/>
          <p:nvPr/>
        </p:nvSpPr>
        <p:spPr>
          <a:xfrm>
            <a:off x="658368" y="914400"/>
            <a:ext cx="2377440" cy="54864"/>
          </a:xfrm>
          <a:prstGeom prst="rect">
            <a:avLst/>
          </a:prstGeom>
          <a:solidFill>
            <a:srgbClr val="C96A1B"/>
          </a:solidFill>
          <a:ln w="12700">
            <a:solidFill>
              <a:srgbClr val="C96A1B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41248" y="1234439"/>
            <a:ext cx="3657600" cy="4843631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969264" y="1325880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功能與品質面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969264" y="1636776"/>
            <a:ext cx="3401568" cy="3895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failure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描述功能失常、推理原因、給修正建議、產生 regression scripts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poor / ugly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描述使用者經驗不佳的型態、推理原因、提出改進方式、再產生追測腳本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success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計算 GUI coverage，並選擇下一輪腳本、預估 coverage 增量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4681728" y="1234440"/>
            <a:ext cx="3657600" cy="4843630"/>
          </a:xfrm>
          <a:prstGeom prst="roundRect">
            <a:avLst>
              <a:gd name="adj" fmla="val 2000"/>
            </a:avLst>
          </a:prstGeom>
          <a:solidFill>
            <a:srgbClr val="F9F5E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809744" y="1325880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安全面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4809744" y="1636776"/>
            <a:ext cx="3401568" cy="3895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vulnerable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提供弱點類別、相關資料（如 CVE）、存在證據、修補建議；可產生攻擊腳本草案，但先不自動攻擊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penetrated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提供攻擊類別、滲透成功證據、修補建議，並蒐集更多相關證據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8522208" y="1234439"/>
            <a:ext cx="2834640" cy="4843629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650224" y="1325880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判讀不明確時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8650224" y="1636776"/>
            <a:ext cx="2578608" cy="3895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inconclusive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繼續生成測試腳本，協助判斷特定 requirement item 是否真正達成。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重點不是一次判完，而是讓 oracle 成為會持續追問、持續補測的機制。</a:t>
            </a:r>
            <a:endParaRPr lang="en-US" sz="2000" dirty="0"/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61849E2F-32DA-4D66-B207-7EE46BED7897}"/>
              </a:ext>
            </a:extLst>
          </p:cNvPr>
          <p:cNvSpPr/>
          <p:nvPr/>
        </p:nvSpPr>
        <p:spPr>
          <a:xfrm>
            <a:off x="11433047" y="6428231"/>
            <a:ext cx="463677" cy="21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TW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12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744" y="10972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Overview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228600" y="347472"/>
            <a:ext cx="11503152" cy="0"/>
          </a:xfrm>
          <a:prstGeom prst="line">
            <a:avLst/>
          </a:prstGeom>
          <a:noFill/>
          <a:ln w="15240">
            <a:solidFill>
              <a:srgbClr val="BDBDB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43891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Core Concepts: Evidence and Oracle</a:t>
            </a:r>
            <a:endParaRPr lang="en-US" sz="4400" dirty="0"/>
          </a:p>
        </p:txBody>
      </p:sp>
      <p:sp>
        <p:nvSpPr>
          <p:cNvPr id="6" name="Shape 3"/>
          <p:cNvSpPr/>
          <p:nvPr/>
        </p:nvSpPr>
        <p:spPr>
          <a:xfrm>
            <a:off x="658368" y="914400"/>
            <a:ext cx="2377440" cy="54864"/>
          </a:xfrm>
          <a:prstGeom prst="rect">
            <a:avLst/>
          </a:prstGeom>
          <a:solidFill>
            <a:srgbClr val="C96A1B"/>
          </a:solidFill>
          <a:ln w="12700">
            <a:solidFill>
              <a:srgbClr val="C96A1B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932688" y="1325880"/>
            <a:ext cx="3653712" cy="3678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060704" y="1417320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Evidence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1060704" y="1728216"/>
            <a:ext cx="3310128" cy="2432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Data collected after test execution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screenshots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logs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network requests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error messages</a:t>
            </a:r>
            <a:endParaRPr lang="en-US" sz="2400" dirty="0"/>
          </a:p>
        </p:txBody>
      </p:sp>
      <p:sp>
        <p:nvSpPr>
          <p:cNvPr id="12" name="Shape 8"/>
          <p:cNvSpPr/>
          <p:nvPr/>
        </p:nvSpPr>
        <p:spPr>
          <a:xfrm>
            <a:off x="4809744" y="1325880"/>
            <a:ext cx="301752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937760" y="1417320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Oracle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4937760" y="1728216"/>
            <a:ext cx="2761488" cy="2432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Mechanism that judges based on evidence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PASS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FAIL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INCONCLUSIVE</a:t>
            </a:r>
            <a:endParaRPr lang="en-US" sz="2400" dirty="0"/>
          </a:p>
        </p:txBody>
      </p:sp>
      <p:sp>
        <p:nvSpPr>
          <p:cNvPr id="15" name="Shape 11"/>
          <p:cNvSpPr/>
          <p:nvPr/>
        </p:nvSpPr>
        <p:spPr>
          <a:xfrm>
            <a:off x="8138160" y="1325880"/>
            <a:ext cx="3465576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266176" y="1417319"/>
            <a:ext cx="3465576" cy="38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Possible richer outcomes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8266176" y="1920457"/>
            <a:ext cx="2898648" cy="2432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UGLY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POOR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VULNERABLE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PENETRATED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EDE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SLOW</a:t>
            </a:r>
            <a:endParaRPr lang="en-US" sz="2400" dirty="0"/>
          </a:p>
        </p:txBody>
      </p:sp>
      <p:sp>
        <p:nvSpPr>
          <p:cNvPr id="18" name="Text 14"/>
          <p:cNvSpPr/>
          <p:nvPr/>
        </p:nvSpPr>
        <p:spPr>
          <a:xfrm>
            <a:off x="1628775" y="5120640"/>
            <a:ext cx="947362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Research question: Can an LLM serve as a good Oracle?  Evidence is the proof; Oracle is the judge.</a:t>
            </a:r>
            <a:endParaRPr lang="en-US" sz="2400" dirty="0"/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9304E3A9-94DE-4D47-A0BF-C177466D1C85}"/>
              </a:ext>
            </a:extLst>
          </p:cNvPr>
          <p:cNvSpPr/>
          <p:nvPr/>
        </p:nvSpPr>
        <p:spPr>
          <a:xfrm>
            <a:off x="11356847" y="6428231"/>
            <a:ext cx="539877" cy="277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r>
              <a:rPr lang="en-US" altLang="zh-TW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744" y="10972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Overview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228600" y="347472"/>
            <a:ext cx="11503152" cy="0"/>
          </a:xfrm>
          <a:prstGeom prst="line">
            <a:avLst/>
          </a:prstGeom>
          <a:noFill/>
          <a:ln w="15240">
            <a:solidFill>
              <a:srgbClr val="BDBDB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43891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Overall Workflow</a:t>
            </a:r>
            <a:endParaRPr lang="en-US" sz="4800" dirty="0"/>
          </a:p>
        </p:txBody>
      </p:sp>
      <p:sp>
        <p:nvSpPr>
          <p:cNvPr id="6" name="Shape 3"/>
          <p:cNvSpPr/>
          <p:nvPr/>
        </p:nvSpPr>
        <p:spPr>
          <a:xfrm>
            <a:off x="658368" y="914400"/>
            <a:ext cx="2377440" cy="54864"/>
          </a:xfrm>
          <a:prstGeom prst="rect">
            <a:avLst/>
          </a:prstGeom>
          <a:solidFill>
            <a:srgbClr val="C96A1B"/>
          </a:solidFill>
          <a:ln w="12700">
            <a:solidFill>
              <a:srgbClr val="C96A1B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13232" y="1325880"/>
            <a:ext cx="52120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822960" y="1435608"/>
            <a:ext cx="493776" cy="402336"/>
          </a:xfrm>
          <a:prstGeom prst="roundRect">
            <a:avLst>
              <a:gd name="adj" fmla="val 22727"/>
            </a:avLst>
          </a:prstGeom>
          <a:solidFill>
            <a:srgbClr val="C96A1B"/>
          </a:solidFill>
          <a:ln w="12700">
            <a:solidFill>
              <a:srgbClr val="C96A1B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22960" y="1453896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1426464" y="1417320"/>
            <a:ext cx="4370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Define requirements (YAML)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1426464" y="1709928"/>
            <a:ext cx="437083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Decide what to test.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713232" y="2267712"/>
            <a:ext cx="52120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2960" y="2377440"/>
            <a:ext cx="493776" cy="402336"/>
          </a:xfrm>
          <a:prstGeom prst="roundRect">
            <a:avLst>
              <a:gd name="adj" fmla="val 22727"/>
            </a:avLst>
          </a:prstGeom>
          <a:solidFill>
            <a:srgbClr val="C96A1B"/>
          </a:solidFill>
          <a:ln w="12700">
            <a:solidFill>
              <a:srgbClr val="C96A1B">
                <a:alpha val="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22960" y="2395728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1426464" y="2359152"/>
            <a:ext cx="4370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Write test scripts (Playwright)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1426464" y="2651760"/>
            <a:ext cx="437083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At least one test per requirement.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713232" y="3209544"/>
            <a:ext cx="52120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22960" y="3319272"/>
            <a:ext cx="493776" cy="402336"/>
          </a:xfrm>
          <a:prstGeom prst="roundRect">
            <a:avLst>
              <a:gd name="adj" fmla="val 22727"/>
            </a:avLst>
          </a:prstGeom>
          <a:solidFill>
            <a:srgbClr val="C96A1B"/>
          </a:solidFill>
          <a:ln w="12700">
            <a:solidFill>
              <a:srgbClr val="C96A1B">
                <a:alpha val="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22960" y="3337560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18"/>
          <p:cNvSpPr/>
          <p:nvPr/>
        </p:nvSpPr>
        <p:spPr>
          <a:xfrm>
            <a:off x="1426464" y="3300984"/>
            <a:ext cx="4370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Run tests and collect evidence</a:t>
            </a:r>
            <a:endParaRPr lang="en-US" sz="2000" dirty="0"/>
          </a:p>
        </p:txBody>
      </p:sp>
      <p:sp>
        <p:nvSpPr>
          <p:cNvPr id="23" name="Text 19"/>
          <p:cNvSpPr/>
          <p:nvPr/>
        </p:nvSpPr>
        <p:spPr>
          <a:xfrm>
            <a:off x="1426464" y="3593592"/>
            <a:ext cx="437083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Screenshots, logs, network requests.</a:t>
            </a:r>
            <a:endParaRPr lang="en-US" sz="2000" dirty="0"/>
          </a:p>
        </p:txBody>
      </p:sp>
      <p:sp>
        <p:nvSpPr>
          <p:cNvPr id="24" name="Shape 20"/>
          <p:cNvSpPr/>
          <p:nvPr/>
        </p:nvSpPr>
        <p:spPr>
          <a:xfrm>
            <a:off x="713232" y="4151376"/>
            <a:ext cx="52120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822960" y="4261104"/>
            <a:ext cx="493776" cy="402336"/>
          </a:xfrm>
          <a:prstGeom prst="roundRect">
            <a:avLst>
              <a:gd name="adj" fmla="val 22727"/>
            </a:avLst>
          </a:prstGeom>
          <a:solidFill>
            <a:srgbClr val="C96A1B"/>
          </a:solidFill>
          <a:ln w="12700">
            <a:solidFill>
              <a:srgbClr val="C96A1B">
                <a:alpha val="0"/>
              </a:srgbClr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822960" y="4279392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3"/>
          <p:cNvSpPr/>
          <p:nvPr/>
        </p:nvSpPr>
        <p:spPr>
          <a:xfrm>
            <a:off x="1426464" y="4242816"/>
            <a:ext cx="4370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Oracle makes a judgment</a:t>
            </a:r>
            <a:endParaRPr lang="en-US" sz="2000" dirty="0"/>
          </a:p>
        </p:txBody>
      </p:sp>
      <p:sp>
        <p:nvSpPr>
          <p:cNvPr id="28" name="Text 24"/>
          <p:cNvSpPr/>
          <p:nvPr/>
        </p:nvSpPr>
        <p:spPr>
          <a:xfrm>
            <a:off x="1426464" y="4535424"/>
            <a:ext cx="437083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Manual Oracle / LLM Oracle.</a:t>
            </a:r>
            <a:endParaRPr lang="en-US" sz="2000" dirty="0"/>
          </a:p>
        </p:txBody>
      </p:sp>
      <p:sp>
        <p:nvSpPr>
          <p:cNvPr id="29" name="Shape 25"/>
          <p:cNvSpPr/>
          <p:nvPr/>
        </p:nvSpPr>
        <p:spPr>
          <a:xfrm>
            <a:off x="713232" y="5093208"/>
            <a:ext cx="52120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822960" y="5202936"/>
            <a:ext cx="493776" cy="402336"/>
          </a:xfrm>
          <a:prstGeom prst="roundRect">
            <a:avLst>
              <a:gd name="adj" fmla="val 22727"/>
            </a:avLst>
          </a:prstGeom>
          <a:solidFill>
            <a:srgbClr val="C96A1B"/>
          </a:solidFill>
          <a:ln w="12700">
            <a:solidFill>
              <a:srgbClr val="C96A1B">
                <a:alpha val="0"/>
              </a:srgbClr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822960" y="5221224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Text 28"/>
          <p:cNvSpPr/>
          <p:nvPr/>
        </p:nvSpPr>
        <p:spPr>
          <a:xfrm>
            <a:off x="1426464" y="5184648"/>
            <a:ext cx="4370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Compare the two</a:t>
            </a:r>
            <a:endParaRPr lang="en-US" sz="2000" dirty="0"/>
          </a:p>
        </p:txBody>
      </p:sp>
      <p:sp>
        <p:nvSpPr>
          <p:cNvPr id="33" name="Text 29"/>
          <p:cNvSpPr/>
          <p:nvPr/>
        </p:nvSpPr>
        <p:spPr>
          <a:xfrm>
            <a:off x="1426464" y="5477256"/>
            <a:ext cx="437083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Agreement, accuracy, error analysis.</a:t>
            </a:r>
            <a:endParaRPr lang="en-US" sz="2000" dirty="0"/>
          </a:p>
        </p:txBody>
      </p:sp>
      <p:sp>
        <p:nvSpPr>
          <p:cNvPr id="34" name="Shape 30"/>
          <p:cNvSpPr/>
          <p:nvPr/>
        </p:nvSpPr>
        <p:spPr>
          <a:xfrm>
            <a:off x="6309360" y="1325880"/>
            <a:ext cx="4754880" cy="4572000"/>
          </a:xfrm>
          <a:prstGeom prst="roundRect">
            <a:avLst>
              <a:gd name="adj" fmla="val 1600"/>
            </a:avLst>
          </a:prstGeom>
          <a:solidFill>
            <a:srgbClr val="FCF7F1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6437376" y="1417320"/>
            <a:ext cx="4498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Why this matters</a:t>
            </a:r>
            <a:endParaRPr lang="en-US" sz="2000" dirty="0"/>
          </a:p>
        </p:txBody>
      </p:sp>
      <p:sp>
        <p:nvSpPr>
          <p:cNvPr id="36" name="Text 32"/>
          <p:cNvSpPr/>
          <p:nvPr/>
        </p:nvSpPr>
        <p:spPr>
          <a:xfrm>
            <a:off x="6437376" y="1728216"/>
            <a:ext cx="4498848" cy="4078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This assignment is not just about writing tests.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It is about connecting requirements, tests, evidence, oracles, and metrics into one complete workflow.</a:t>
            </a:r>
            <a:endParaRPr lang="en-US" sz="2000" dirty="0"/>
          </a:p>
        </p:txBody>
      </p:sp>
      <p:sp>
        <p:nvSpPr>
          <p:cNvPr id="37" name="Text 4">
            <a:extLst>
              <a:ext uri="{FF2B5EF4-FFF2-40B4-BE49-F238E27FC236}">
                <a16:creationId xmlns:a16="http://schemas.microsoft.com/office/drawing/2014/main" id="{84A6E2A6-1217-4E29-9792-34C35683F2F7}"/>
              </a:ext>
            </a:extLst>
          </p:cNvPr>
          <p:cNvSpPr/>
          <p:nvPr/>
        </p:nvSpPr>
        <p:spPr>
          <a:xfrm>
            <a:off x="11356848" y="6428231"/>
            <a:ext cx="374904" cy="21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TW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15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744" y="10972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Overview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228600" y="347472"/>
            <a:ext cx="11503152" cy="0"/>
          </a:xfrm>
          <a:prstGeom prst="line">
            <a:avLst/>
          </a:prstGeom>
          <a:noFill/>
          <a:ln w="15240">
            <a:solidFill>
              <a:srgbClr val="BDBDB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43891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What You Need to Do</a:t>
            </a:r>
            <a:endParaRPr lang="en-US" sz="4800" dirty="0"/>
          </a:p>
        </p:txBody>
      </p:sp>
      <p:sp>
        <p:nvSpPr>
          <p:cNvPr id="6" name="Shape 3"/>
          <p:cNvSpPr/>
          <p:nvPr/>
        </p:nvSpPr>
        <p:spPr>
          <a:xfrm>
            <a:off x="658368" y="914400"/>
            <a:ext cx="2377440" cy="54864"/>
          </a:xfrm>
          <a:prstGeom prst="rect">
            <a:avLst/>
          </a:prstGeom>
          <a:solidFill>
            <a:srgbClr val="C96A1B"/>
          </a:solidFill>
          <a:ln w="12700">
            <a:solidFill>
              <a:srgbClr val="C96A1B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68680" y="1097280"/>
            <a:ext cx="10469880" cy="85953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996696" y="1133856"/>
            <a:ext cx="10213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 Get the baseline running</a:t>
            </a:r>
            <a:endParaRPr lang="en-US" sz="2800" dirty="0"/>
          </a:p>
        </p:txBody>
      </p:sp>
      <p:sp>
        <p:nvSpPr>
          <p:cNvPr id="11" name="Text 7"/>
          <p:cNvSpPr/>
          <p:nvPr/>
        </p:nvSpPr>
        <p:spPr>
          <a:xfrm>
            <a:off x="996696" y="1572767"/>
            <a:ext cx="10213848" cy="29260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First verify the environment works.</a:t>
            </a:r>
            <a:endParaRPr lang="en-US" sz="2800" dirty="0"/>
          </a:p>
        </p:txBody>
      </p:sp>
      <p:sp>
        <p:nvSpPr>
          <p:cNvPr id="12" name="Shape 8"/>
          <p:cNvSpPr/>
          <p:nvPr/>
        </p:nvSpPr>
        <p:spPr>
          <a:xfrm>
            <a:off x="868680" y="2084832"/>
            <a:ext cx="10469880" cy="73152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996696" y="2176272"/>
            <a:ext cx="10213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 Expand to 30-50 requirements</a:t>
            </a:r>
            <a:endParaRPr lang="en-US" sz="2800" dirty="0"/>
          </a:p>
        </p:txBody>
      </p:sp>
      <p:sp>
        <p:nvSpPr>
          <p:cNvPr id="14" name="Text 10"/>
          <p:cNvSpPr/>
          <p:nvPr/>
        </p:nvSpPr>
        <p:spPr>
          <a:xfrm>
            <a:off x="996696" y="2487168"/>
            <a:ext cx="1021384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At least 30 requirements in total.</a:t>
            </a:r>
            <a:endParaRPr lang="en-US" sz="2800" dirty="0"/>
          </a:p>
        </p:txBody>
      </p:sp>
      <p:sp>
        <p:nvSpPr>
          <p:cNvPr id="15" name="Shape 11"/>
          <p:cNvSpPr/>
          <p:nvPr/>
        </p:nvSpPr>
        <p:spPr>
          <a:xfrm>
            <a:off x="868680" y="2871216"/>
            <a:ext cx="10469880" cy="7863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96696" y="2962656"/>
            <a:ext cx="10213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 Complete all TODOs</a:t>
            </a:r>
            <a:endParaRPr lang="en-US" sz="2800" dirty="0"/>
          </a:p>
        </p:txBody>
      </p:sp>
      <p:sp>
        <p:nvSpPr>
          <p:cNvPr id="17" name="Text 13"/>
          <p:cNvSpPr/>
          <p:nvPr/>
        </p:nvSpPr>
        <p:spPr>
          <a:xfrm>
            <a:off x="996696" y="3273552"/>
            <a:ext cx="1021384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6 Python scripts + tests.</a:t>
            </a:r>
            <a:endParaRPr lang="en-US" sz="2800" dirty="0"/>
          </a:p>
        </p:txBody>
      </p:sp>
      <p:sp>
        <p:nvSpPr>
          <p:cNvPr id="18" name="Shape 14"/>
          <p:cNvSpPr/>
          <p:nvPr/>
        </p:nvSpPr>
        <p:spPr>
          <a:xfrm>
            <a:off x="861060" y="3749040"/>
            <a:ext cx="10469880" cy="12192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996696" y="3877056"/>
            <a:ext cx="10213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 Generate all output files</a:t>
            </a:r>
            <a:endParaRPr lang="en-US" sz="2800" dirty="0"/>
          </a:p>
        </p:txBody>
      </p:sp>
      <p:sp>
        <p:nvSpPr>
          <p:cNvPr id="20" name="Text 16"/>
          <p:cNvSpPr/>
          <p:nvPr/>
        </p:nvSpPr>
        <p:spPr>
          <a:xfrm>
            <a:off x="996696" y="4279392"/>
            <a:ext cx="10213848" cy="816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Everything under results/ should be produced.</a:t>
            </a:r>
            <a:endParaRPr lang="en-US" sz="2800" dirty="0"/>
          </a:p>
        </p:txBody>
      </p:sp>
      <p:sp>
        <p:nvSpPr>
          <p:cNvPr id="21" name="Text 17"/>
          <p:cNvSpPr/>
          <p:nvPr/>
        </p:nvSpPr>
        <p:spPr>
          <a:xfrm>
            <a:off x="2734416" y="5162592"/>
            <a:ext cx="8072784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Not starting from scratch: the TAs already provide a 15-requirement baseline, partial tests, and script skeletons. Your job is to extend and complete them.</a:t>
            </a:r>
            <a:endParaRPr lang="en-US" sz="2800" dirty="0"/>
          </a:p>
        </p:txBody>
      </p:sp>
      <p:sp>
        <p:nvSpPr>
          <p:cNvPr id="23" name="Text 4">
            <a:extLst>
              <a:ext uri="{FF2B5EF4-FFF2-40B4-BE49-F238E27FC236}">
                <a16:creationId xmlns:a16="http://schemas.microsoft.com/office/drawing/2014/main" id="{F91D58CA-4830-4214-BC81-ABCBB0540F2F}"/>
              </a:ext>
            </a:extLst>
          </p:cNvPr>
          <p:cNvSpPr/>
          <p:nvPr/>
        </p:nvSpPr>
        <p:spPr>
          <a:xfrm>
            <a:off x="11342448" y="6428231"/>
            <a:ext cx="374904" cy="21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r>
              <a:rPr lang="en-US" altLang="zh-TW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6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744" y="10972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Overview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228600" y="347472"/>
            <a:ext cx="11503152" cy="0"/>
          </a:xfrm>
          <a:prstGeom prst="line">
            <a:avLst/>
          </a:prstGeom>
          <a:noFill/>
          <a:ln w="15240">
            <a:solidFill>
              <a:srgbClr val="BDBDB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43891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Files You Will Actually Work With</a:t>
            </a:r>
            <a:endParaRPr lang="en-US" sz="4800" dirty="0"/>
          </a:p>
        </p:txBody>
      </p:sp>
      <p:sp>
        <p:nvSpPr>
          <p:cNvPr id="6" name="Shape 3"/>
          <p:cNvSpPr/>
          <p:nvPr/>
        </p:nvSpPr>
        <p:spPr>
          <a:xfrm>
            <a:off x="658368" y="914400"/>
            <a:ext cx="2377440" cy="54864"/>
          </a:xfrm>
          <a:prstGeom prst="rect">
            <a:avLst/>
          </a:prstGeom>
          <a:solidFill>
            <a:srgbClr val="C96A1B"/>
          </a:solidFill>
          <a:ln w="12700">
            <a:solidFill>
              <a:srgbClr val="C96A1B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96112" y="1325880"/>
            <a:ext cx="3383280" cy="416052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024128" y="1417320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student-release/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1024128" y="1728216"/>
            <a:ext cx="3127248" cy="3666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README.md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docs/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├── project-1-quickstart.md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└── student-todo.md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starter-kit/project1/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├── config/requirements.yaml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├── tests/juiceshop.security.spec.js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├── scripts/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└── results/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4480560" y="1325880"/>
            <a:ext cx="3154680" cy="416052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608576" y="1417320"/>
            <a:ext cx="2898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What each area means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4608576" y="1728216"/>
            <a:ext cx="2898648" cy="3666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README.md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Tells you where to start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docs/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Quickstart and TODO list live here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starter-kit/project1/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Where the real work happens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7845552" y="1325880"/>
            <a:ext cx="3520440" cy="4160520"/>
          </a:xfrm>
          <a:prstGeom prst="roundRect">
            <a:avLst>
              <a:gd name="adj" fmla="val 2078"/>
            </a:avLst>
          </a:prstGeom>
          <a:solidFill>
            <a:srgbClr val="FCF7F1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973568" y="1417320"/>
            <a:ext cx="3264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What you really do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7973568" y="1728216"/>
            <a:ext cx="3264408" cy="3666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Add 15-35 more requirements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Add tests so each requirement has coverage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Finish the TODOs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Generate the required output files</a:t>
            </a:r>
            <a:endParaRPr lang="en-US" sz="2000" dirty="0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0748C275-F3BD-46B9-90D5-EFDEBF65F887}"/>
              </a:ext>
            </a:extLst>
          </p:cNvPr>
          <p:cNvSpPr/>
          <p:nvPr/>
        </p:nvSpPr>
        <p:spPr>
          <a:xfrm>
            <a:off x="11356848" y="6428231"/>
            <a:ext cx="374904" cy="21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r>
              <a:rPr lang="en-US" altLang="zh-TW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7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744" y="10972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Overview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228600" y="347472"/>
            <a:ext cx="11503152" cy="0"/>
          </a:xfrm>
          <a:prstGeom prst="line">
            <a:avLst/>
          </a:prstGeom>
          <a:noFill/>
          <a:ln w="15240">
            <a:solidFill>
              <a:srgbClr val="BDBDB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43891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What to Submit</a:t>
            </a:r>
            <a:endParaRPr lang="en-US" sz="4800" dirty="0"/>
          </a:p>
        </p:txBody>
      </p:sp>
      <p:sp>
        <p:nvSpPr>
          <p:cNvPr id="6" name="Shape 3"/>
          <p:cNvSpPr/>
          <p:nvPr/>
        </p:nvSpPr>
        <p:spPr>
          <a:xfrm>
            <a:off x="658368" y="914400"/>
            <a:ext cx="2377440" cy="54864"/>
          </a:xfrm>
          <a:prstGeom prst="rect">
            <a:avLst/>
          </a:prstGeom>
          <a:solidFill>
            <a:srgbClr val="C96A1B"/>
          </a:solidFill>
          <a:ln w="12700">
            <a:solidFill>
              <a:srgbClr val="C96A1B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68680" y="1325880"/>
            <a:ext cx="3657600" cy="42519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996696" y="1417320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Requirements &amp; tests</a:t>
            </a:r>
            <a:endParaRPr lang="en-US" sz="2800" dirty="0"/>
          </a:p>
        </p:txBody>
      </p:sp>
      <p:sp>
        <p:nvSpPr>
          <p:cNvPr id="11" name="Text 7"/>
          <p:cNvSpPr/>
          <p:nvPr/>
        </p:nvSpPr>
        <p:spPr>
          <a:xfrm>
            <a:off x="996696" y="1728216"/>
            <a:ext cx="3401568" cy="3758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 30-50 requirements (YAML + JSON)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 Tests and evidence for each requirement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 Requirements, tests, and evidence should appear as one complete set</a:t>
            </a:r>
            <a:endParaRPr lang="en-US" sz="2800" dirty="0"/>
          </a:p>
        </p:txBody>
      </p:sp>
      <p:sp>
        <p:nvSpPr>
          <p:cNvPr id="12" name="Shape 8"/>
          <p:cNvSpPr/>
          <p:nvPr/>
        </p:nvSpPr>
        <p:spPr>
          <a:xfrm>
            <a:off x="4709160" y="1325880"/>
            <a:ext cx="3063240" cy="425196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837176" y="1417320"/>
            <a:ext cx="2807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Oracle outputs</a:t>
            </a:r>
            <a:endParaRPr lang="en-US" sz="2800" dirty="0"/>
          </a:p>
        </p:txBody>
      </p:sp>
      <p:sp>
        <p:nvSpPr>
          <p:cNvPr id="14" name="Text 10"/>
          <p:cNvSpPr/>
          <p:nvPr/>
        </p:nvSpPr>
        <p:spPr>
          <a:xfrm>
            <a:off x="4837176" y="1728216"/>
            <a:ext cx="2807208" cy="4251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 Manual Oracle (B0 / B1 + cross-validation)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 LLM Oracle (B0 / B1 / B2)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 Keep both human judgments and LLM judgments</a:t>
            </a:r>
            <a:endParaRPr lang="en-US" sz="2800" dirty="0"/>
          </a:p>
        </p:txBody>
      </p:sp>
      <p:sp>
        <p:nvSpPr>
          <p:cNvPr id="15" name="Shape 11"/>
          <p:cNvSpPr/>
          <p:nvPr/>
        </p:nvSpPr>
        <p:spPr>
          <a:xfrm>
            <a:off x="7973568" y="1325880"/>
            <a:ext cx="3364992" cy="4251960"/>
          </a:xfrm>
          <a:prstGeom prst="roundRect">
            <a:avLst>
              <a:gd name="adj" fmla="val 2174"/>
            </a:avLst>
          </a:prstGeom>
          <a:solidFill>
            <a:srgbClr val="FCF7F1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101584" y="14173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Analysis &amp; report</a:t>
            </a:r>
            <a:endParaRPr lang="en-US" sz="2800" dirty="0"/>
          </a:p>
        </p:txBody>
      </p:sp>
      <p:sp>
        <p:nvSpPr>
          <p:cNvPr id="17" name="Text 13"/>
          <p:cNvSpPr/>
          <p:nvPr/>
        </p:nvSpPr>
        <p:spPr>
          <a:xfrm>
            <a:off x="8101584" y="1728216"/>
            <a:ext cx="3108960" cy="3758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 Metrics: Cohen's kappa, confusion matrix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 Prompt experiment (at least 2 variants)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 proposal.md + report.md</a:t>
            </a:r>
            <a:endParaRPr lang="en-US" sz="2800" dirty="0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2D9AA09A-7339-45F0-A237-5F036320CCAA}"/>
              </a:ext>
            </a:extLst>
          </p:cNvPr>
          <p:cNvSpPr/>
          <p:nvPr/>
        </p:nvSpPr>
        <p:spPr>
          <a:xfrm>
            <a:off x="11364048" y="6428231"/>
            <a:ext cx="374904" cy="21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r>
              <a:rPr lang="en-US" altLang="zh-TW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8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744" y="10972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Overview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228600" y="347472"/>
            <a:ext cx="11503152" cy="0"/>
          </a:xfrm>
          <a:prstGeom prst="line">
            <a:avLst/>
          </a:prstGeom>
          <a:noFill/>
          <a:ln w="15240">
            <a:solidFill>
              <a:srgbClr val="BDBDB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43891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Timeline</a:t>
            </a:r>
            <a:endParaRPr lang="en-US" sz="4800" dirty="0"/>
          </a:p>
        </p:txBody>
      </p:sp>
      <p:sp>
        <p:nvSpPr>
          <p:cNvPr id="6" name="Shape 3"/>
          <p:cNvSpPr/>
          <p:nvPr/>
        </p:nvSpPr>
        <p:spPr>
          <a:xfrm>
            <a:off x="658368" y="914400"/>
            <a:ext cx="2377440" cy="54864"/>
          </a:xfrm>
          <a:prstGeom prst="rect">
            <a:avLst/>
          </a:prstGeom>
          <a:solidFill>
            <a:srgbClr val="C96A1B"/>
          </a:solidFill>
          <a:ln w="12700">
            <a:solidFill>
              <a:srgbClr val="C96A1B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097280" y="3337560"/>
            <a:ext cx="9784080" cy="0"/>
          </a:xfrm>
          <a:prstGeom prst="line">
            <a:avLst/>
          </a:prstGeom>
          <a:noFill/>
          <a:ln w="19050">
            <a:solidFill>
              <a:srgbClr val="9E9E9E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755648" y="326440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6A1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184760" y="2285139"/>
            <a:ext cx="1702440" cy="8044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Week 6</a:t>
            </a:r>
            <a:endParaRPr lang="en-US" sz="2800" dirty="0"/>
          </a:p>
        </p:txBody>
      </p:sp>
      <p:sp>
        <p:nvSpPr>
          <p:cNvPr id="12" name="Text 8"/>
          <p:cNvSpPr/>
          <p:nvPr/>
        </p:nvSpPr>
        <p:spPr>
          <a:xfrm>
            <a:off x="1005840" y="3657599"/>
            <a:ext cx="2029968" cy="9418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8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due</a:t>
            </a:r>
            <a:endParaRPr lang="en-US" sz="2800" dirty="0"/>
          </a:p>
        </p:txBody>
      </p:sp>
      <p:sp>
        <p:nvSpPr>
          <p:cNvPr id="14" name="Shape 10"/>
          <p:cNvSpPr/>
          <p:nvPr/>
        </p:nvSpPr>
        <p:spPr>
          <a:xfrm>
            <a:off x="4041648" y="326440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6A1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794760" y="2331720"/>
            <a:ext cx="1482840" cy="685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Week 8</a:t>
            </a:r>
            <a:endParaRPr lang="en-US" sz="2800" dirty="0"/>
          </a:p>
        </p:txBody>
      </p:sp>
      <p:sp>
        <p:nvSpPr>
          <p:cNvPr id="16" name="Text 12"/>
          <p:cNvSpPr/>
          <p:nvPr/>
        </p:nvSpPr>
        <p:spPr>
          <a:xfrm>
            <a:off x="3217104" y="3822694"/>
            <a:ext cx="1941696" cy="8046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8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2 Proposal</a:t>
            </a:r>
            <a:endParaRPr lang="en-US" sz="2800" dirty="0"/>
          </a:p>
        </p:txBody>
      </p:sp>
      <p:sp>
        <p:nvSpPr>
          <p:cNvPr id="17" name="Shape 13"/>
          <p:cNvSpPr/>
          <p:nvPr/>
        </p:nvSpPr>
        <p:spPr>
          <a:xfrm>
            <a:off x="6327648" y="326440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6A1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080760" y="2331719"/>
            <a:ext cx="1482840" cy="749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Week 10</a:t>
            </a:r>
            <a:endParaRPr lang="en-US" sz="2800" dirty="0"/>
          </a:p>
        </p:txBody>
      </p:sp>
      <p:sp>
        <p:nvSpPr>
          <p:cNvPr id="19" name="Text 15"/>
          <p:cNvSpPr/>
          <p:nvPr/>
        </p:nvSpPr>
        <p:spPr>
          <a:xfrm>
            <a:off x="5258520" y="3708394"/>
            <a:ext cx="2284560" cy="103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8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3 Cross-target</a:t>
            </a:r>
            <a:endParaRPr lang="en-US" sz="2800" dirty="0"/>
          </a:p>
        </p:txBody>
      </p:sp>
      <p:sp>
        <p:nvSpPr>
          <p:cNvPr id="20" name="Shape 16"/>
          <p:cNvSpPr/>
          <p:nvPr/>
        </p:nvSpPr>
        <p:spPr>
          <a:xfrm>
            <a:off x="8887968" y="326440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6A1B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641080" y="2331719"/>
            <a:ext cx="1942920" cy="6858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Week 17</a:t>
            </a:r>
            <a:endParaRPr lang="en-US" sz="2800" dirty="0"/>
          </a:p>
        </p:txBody>
      </p:sp>
      <p:sp>
        <p:nvSpPr>
          <p:cNvPr id="22" name="Text 18"/>
          <p:cNvSpPr/>
          <p:nvPr/>
        </p:nvSpPr>
        <p:spPr>
          <a:xfrm>
            <a:off x="7507224" y="3702707"/>
            <a:ext cx="2761488" cy="13175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8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4 Final Paper &amp; Presentation</a:t>
            </a:r>
            <a:endParaRPr lang="en-US" sz="2800" dirty="0"/>
          </a:p>
        </p:txBody>
      </p:sp>
      <p:sp>
        <p:nvSpPr>
          <p:cNvPr id="23" name="Text 19"/>
          <p:cNvSpPr/>
          <p:nvPr/>
        </p:nvSpPr>
        <p:spPr>
          <a:xfrm>
            <a:off x="1097280" y="5166359"/>
            <a:ext cx="10469880" cy="1133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Most important date: Project 1 is due on 2026/04/03 at 23:59.</a:t>
            </a:r>
            <a:endParaRPr lang="en-US" sz="2800" dirty="0"/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DB7ED406-1AB9-449E-AE14-08445A03EF09}"/>
              </a:ext>
            </a:extLst>
          </p:cNvPr>
          <p:cNvSpPr/>
          <p:nvPr/>
        </p:nvSpPr>
        <p:spPr>
          <a:xfrm>
            <a:off x="11356848" y="6428231"/>
            <a:ext cx="374904" cy="21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r>
              <a:rPr lang="en-US" altLang="zh-TW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9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744" y="10972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Overview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228600" y="347472"/>
            <a:ext cx="11503152" cy="0"/>
          </a:xfrm>
          <a:prstGeom prst="line">
            <a:avLst/>
          </a:prstGeom>
          <a:noFill/>
          <a:ln w="15240">
            <a:solidFill>
              <a:srgbClr val="BDBDB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43891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Completion Criteria</a:t>
            </a:r>
            <a:endParaRPr lang="en-US" sz="4800" dirty="0"/>
          </a:p>
        </p:txBody>
      </p:sp>
      <p:sp>
        <p:nvSpPr>
          <p:cNvPr id="6" name="Shape 3"/>
          <p:cNvSpPr/>
          <p:nvPr/>
        </p:nvSpPr>
        <p:spPr>
          <a:xfrm>
            <a:off x="658368" y="914400"/>
            <a:ext cx="2377440" cy="54864"/>
          </a:xfrm>
          <a:prstGeom prst="rect">
            <a:avLst/>
          </a:prstGeom>
          <a:solidFill>
            <a:srgbClr val="C96A1B"/>
          </a:solidFill>
          <a:ln w="12700">
            <a:solidFill>
              <a:srgbClr val="C96A1B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914400" y="1325880"/>
            <a:ext cx="1024128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042416" y="1417320"/>
            <a:ext cx="9985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 baseline runs successfully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1042416" y="1728216"/>
            <a:ext cx="998524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12" name="Shape 8"/>
          <p:cNvSpPr/>
          <p:nvPr/>
        </p:nvSpPr>
        <p:spPr>
          <a:xfrm>
            <a:off x="914400" y="2139696"/>
            <a:ext cx="10241280" cy="76809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042416" y="2231136"/>
            <a:ext cx="9985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 at least 30 requirements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1042416" y="2542032"/>
            <a:ext cx="998524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Recommended: go straight to 30-50.</a:t>
            </a:r>
            <a:endParaRPr lang="en-US" sz="2400" dirty="0"/>
          </a:p>
        </p:txBody>
      </p:sp>
      <p:sp>
        <p:nvSpPr>
          <p:cNvPr id="15" name="Shape 11"/>
          <p:cNvSpPr/>
          <p:nvPr/>
        </p:nvSpPr>
        <p:spPr>
          <a:xfrm>
            <a:off x="914400" y="2953512"/>
            <a:ext cx="1024128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042416" y="3044952"/>
            <a:ext cx="9985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 tests completed and evidence generated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1042416" y="3355848"/>
            <a:ext cx="998524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18" name="Shape 14"/>
          <p:cNvSpPr/>
          <p:nvPr/>
        </p:nvSpPr>
        <p:spPr>
          <a:xfrm>
            <a:off x="914400" y="3767328"/>
            <a:ext cx="1024128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1042416" y="3858768"/>
            <a:ext cx="9985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 oracle output files exist</a:t>
            </a:r>
            <a:endParaRPr lang="en-US" sz="2400" dirty="0"/>
          </a:p>
        </p:txBody>
      </p:sp>
      <p:sp>
        <p:nvSpPr>
          <p:cNvPr id="20" name="Text 16"/>
          <p:cNvSpPr/>
          <p:nvPr/>
        </p:nvSpPr>
        <p:spPr>
          <a:xfrm>
            <a:off x="1042416" y="4169664"/>
            <a:ext cx="998524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21" name="Shape 17"/>
          <p:cNvSpPr/>
          <p:nvPr/>
        </p:nvSpPr>
        <p:spPr>
          <a:xfrm>
            <a:off x="914400" y="4581144"/>
            <a:ext cx="1024128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1042416" y="4672584"/>
            <a:ext cx="9985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 metrics / agreement / confusion matrix exist</a:t>
            </a:r>
            <a:endParaRPr lang="en-US" sz="2400" dirty="0"/>
          </a:p>
        </p:txBody>
      </p:sp>
      <p:sp>
        <p:nvSpPr>
          <p:cNvPr id="23" name="Text 19"/>
          <p:cNvSpPr/>
          <p:nvPr/>
        </p:nvSpPr>
        <p:spPr>
          <a:xfrm>
            <a:off x="1042416" y="4983480"/>
            <a:ext cx="998524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24" name="Text 20"/>
          <p:cNvSpPr/>
          <p:nvPr/>
        </p:nvSpPr>
        <p:spPr>
          <a:xfrm>
            <a:off x="3040608" y="5424119"/>
            <a:ext cx="7289712" cy="886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Practical rule of thumb: the baseline runs, the TODOs are completed, and the required output files exist.</a:t>
            </a:r>
            <a:endParaRPr lang="en-US" sz="2400" dirty="0"/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B407A770-C404-460E-8AB1-DCDFCDD15E85}"/>
              </a:ext>
            </a:extLst>
          </p:cNvPr>
          <p:cNvSpPr/>
          <p:nvPr/>
        </p:nvSpPr>
        <p:spPr>
          <a:xfrm>
            <a:off x="11356848" y="6428231"/>
            <a:ext cx="374904" cy="21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TW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</a:rPr>
              <a:t>20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744" y="10972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Overview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228600" y="347472"/>
            <a:ext cx="11503152" cy="0"/>
          </a:xfrm>
          <a:prstGeom prst="line">
            <a:avLst/>
          </a:prstGeom>
          <a:noFill/>
          <a:ln w="15240">
            <a:solidFill>
              <a:srgbClr val="BDBDB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43891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Grading Criteria (5%)</a:t>
            </a:r>
            <a:endParaRPr lang="en-US" sz="4800" dirty="0"/>
          </a:p>
        </p:txBody>
      </p:sp>
      <p:sp>
        <p:nvSpPr>
          <p:cNvPr id="6" name="Shape 3"/>
          <p:cNvSpPr/>
          <p:nvPr/>
        </p:nvSpPr>
        <p:spPr>
          <a:xfrm>
            <a:off x="658368" y="914400"/>
            <a:ext cx="2377440" cy="54864"/>
          </a:xfrm>
          <a:prstGeom prst="rect">
            <a:avLst/>
          </a:prstGeom>
          <a:solidFill>
            <a:srgbClr val="C96A1B"/>
          </a:solidFill>
          <a:ln w="12700">
            <a:solidFill>
              <a:srgbClr val="C96A1B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96112" y="1417320"/>
            <a:ext cx="14173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024128" y="1508760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40%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1024128" y="1819656"/>
            <a:ext cx="1161288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12" name="Shape 8"/>
          <p:cNvSpPr/>
          <p:nvPr/>
        </p:nvSpPr>
        <p:spPr>
          <a:xfrm>
            <a:off x="2423160" y="1417320"/>
            <a:ext cx="89154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551176" y="1508760"/>
            <a:ext cx="8659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Runnable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2551176" y="1819656"/>
            <a:ext cx="8659368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npm run test:python all pass | all results/*.json generated</a:t>
            </a:r>
            <a:endParaRPr lang="en-US" sz="2400" dirty="0"/>
          </a:p>
        </p:txBody>
      </p:sp>
      <p:sp>
        <p:nvSpPr>
          <p:cNvPr id="15" name="Shape 11"/>
          <p:cNvSpPr/>
          <p:nvPr/>
        </p:nvSpPr>
        <p:spPr>
          <a:xfrm>
            <a:off x="896112" y="2578608"/>
            <a:ext cx="14173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024128" y="2670048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35%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1024128" y="2980944"/>
            <a:ext cx="1161288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18" name="Shape 14"/>
          <p:cNvSpPr/>
          <p:nvPr/>
        </p:nvSpPr>
        <p:spPr>
          <a:xfrm>
            <a:off x="2423160" y="2578608"/>
            <a:ext cx="89154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551176" y="2670048"/>
            <a:ext cx="8659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TODO completion</a:t>
            </a:r>
            <a:endParaRPr lang="en-US" sz="2400" dirty="0"/>
          </a:p>
        </p:txBody>
      </p:sp>
      <p:sp>
        <p:nvSpPr>
          <p:cNvPr id="20" name="Text 16"/>
          <p:cNvSpPr/>
          <p:nvPr/>
        </p:nvSpPr>
        <p:spPr>
          <a:xfrm>
            <a:off x="2551176" y="2980944"/>
            <a:ext cx="8659368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All TODOs in 6 Python scripts | test scripts completed (30-50)</a:t>
            </a:r>
            <a:endParaRPr lang="en-US" sz="2400" dirty="0"/>
          </a:p>
        </p:txBody>
      </p:sp>
      <p:sp>
        <p:nvSpPr>
          <p:cNvPr id="21" name="Shape 17"/>
          <p:cNvSpPr/>
          <p:nvPr/>
        </p:nvSpPr>
        <p:spPr>
          <a:xfrm>
            <a:off x="896112" y="3739896"/>
            <a:ext cx="14173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1024128" y="3831336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25%</a:t>
            </a:r>
            <a:endParaRPr lang="en-US" sz="2400" dirty="0"/>
          </a:p>
        </p:txBody>
      </p:sp>
      <p:sp>
        <p:nvSpPr>
          <p:cNvPr id="23" name="Text 19"/>
          <p:cNvSpPr/>
          <p:nvPr/>
        </p:nvSpPr>
        <p:spPr>
          <a:xfrm>
            <a:off x="1024128" y="4142232"/>
            <a:ext cx="1161288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24" name="Shape 20"/>
          <p:cNvSpPr/>
          <p:nvPr/>
        </p:nvSpPr>
        <p:spPr>
          <a:xfrm>
            <a:off x="2423160" y="3739896"/>
            <a:ext cx="8915400" cy="113450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2551176" y="3831336"/>
            <a:ext cx="8659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Requirement / test quality</a:t>
            </a:r>
            <a:endParaRPr lang="en-US" sz="2400" dirty="0"/>
          </a:p>
        </p:txBody>
      </p:sp>
      <p:sp>
        <p:nvSpPr>
          <p:cNvPr id="26" name="Text 22"/>
          <p:cNvSpPr/>
          <p:nvPr/>
        </p:nvSpPr>
        <p:spPr>
          <a:xfrm>
            <a:off x="2551176" y="4142232"/>
            <a:ext cx="8659368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30-50 correctly formatted requirements | Tests + evidence for each one</a:t>
            </a:r>
            <a:endParaRPr lang="en-US" sz="2400" dirty="0"/>
          </a:p>
        </p:txBody>
      </p:sp>
      <p:sp>
        <p:nvSpPr>
          <p:cNvPr id="27" name="Text 23"/>
          <p:cNvSpPr/>
          <p:nvPr/>
        </p:nvSpPr>
        <p:spPr>
          <a:xfrm>
            <a:off x="3632688" y="512064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Priority: runnable &gt; complete &gt; polished</a:t>
            </a:r>
            <a:endParaRPr lang="en-US" sz="2400" dirty="0"/>
          </a:p>
        </p:txBody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6C2B9712-7D5D-43BD-B87F-D70660A9BA9E}"/>
              </a:ext>
            </a:extLst>
          </p:cNvPr>
          <p:cNvSpPr/>
          <p:nvPr/>
        </p:nvSpPr>
        <p:spPr>
          <a:xfrm>
            <a:off x="11356848" y="6428231"/>
            <a:ext cx="374904" cy="21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TW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</a:rPr>
              <a:t>21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744" y="10972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Overview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228600" y="347472"/>
            <a:ext cx="11503152" cy="0"/>
          </a:xfrm>
          <a:prstGeom prst="line">
            <a:avLst/>
          </a:prstGeom>
          <a:noFill/>
          <a:ln w="15240">
            <a:solidFill>
              <a:srgbClr val="BDBDB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43891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Which Files to Read First</a:t>
            </a:r>
            <a:endParaRPr lang="en-US" sz="4800" dirty="0"/>
          </a:p>
        </p:txBody>
      </p:sp>
      <p:sp>
        <p:nvSpPr>
          <p:cNvPr id="6" name="Shape 3"/>
          <p:cNvSpPr/>
          <p:nvPr/>
        </p:nvSpPr>
        <p:spPr>
          <a:xfrm>
            <a:off x="658368" y="914400"/>
            <a:ext cx="2377440" cy="54864"/>
          </a:xfrm>
          <a:prstGeom prst="rect">
            <a:avLst/>
          </a:prstGeom>
          <a:solidFill>
            <a:srgbClr val="C96A1B"/>
          </a:solidFill>
          <a:ln w="12700">
            <a:solidFill>
              <a:srgbClr val="C96A1B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68680" y="1325880"/>
            <a:ext cx="3713902" cy="416052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996696" y="141732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1. docs/project-1-spec.md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996696" y="1728216"/>
            <a:ext cx="3429000" cy="3666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Why we do this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How it is graded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Deliverables and baseline definitions</a:t>
            </a:r>
            <a:endParaRPr lang="en-US" sz="2400" dirty="0"/>
          </a:p>
        </p:txBody>
      </p:sp>
      <p:sp>
        <p:nvSpPr>
          <p:cNvPr id="12" name="Shape 8"/>
          <p:cNvSpPr/>
          <p:nvPr/>
        </p:nvSpPr>
        <p:spPr>
          <a:xfrm>
            <a:off x="4425696" y="1325880"/>
            <a:ext cx="3713902" cy="416052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53712" y="141732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2. docs/student-todo.md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4553712" y="1728216"/>
            <a:ext cx="3429000" cy="3666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Where every TODO is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What each TODO asks for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Which tests and verdicts to add</a:t>
            </a:r>
            <a:endParaRPr lang="en-US" sz="2400" dirty="0"/>
          </a:p>
        </p:txBody>
      </p:sp>
      <p:sp>
        <p:nvSpPr>
          <p:cNvPr id="15" name="Shape 11"/>
          <p:cNvSpPr/>
          <p:nvPr/>
        </p:nvSpPr>
        <p:spPr>
          <a:xfrm>
            <a:off x="7982712" y="1325880"/>
            <a:ext cx="4329288" cy="416052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110728" y="1417319"/>
            <a:ext cx="4143672" cy="38402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3. docs/project-1-quickstart.md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8110728" y="1728216"/>
            <a:ext cx="3429000" cy="3666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Execution order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Common commands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What to run first and next</a:t>
            </a:r>
            <a:endParaRPr lang="en-US" sz="2400" dirty="0"/>
          </a:p>
        </p:txBody>
      </p:sp>
      <p:sp>
        <p:nvSpPr>
          <p:cNvPr id="18" name="Text 14"/>
          <p:cNvSpPr/>
          <p:nvPr/>
        </p:nvSpPr>
        <p:spPr>
          <a:xfrm>
            <a:off x="1135773" y="5740416"/>
            <a:ext cx="10535400" cy="497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If you do not know where to start, read these three files before touching the code.</a:t>
            </a:r>
            <a:endParaRPr lang="en-US" sz="2400" dirty="0"/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0E922515-07ED-4D08-A283-37F1A8B440BE}"/>
              </a:ext>
            </a:extLst>
          </p:cNvPr>
          <p:cNvSpPr/>
          <p:nvPr/>
        </p:nvSpPr>
        <p:spPr>
          <a:xfrm>
            <a:off x="11356848" y="6428231"/>
            <a:ext cx="374904" cy="21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TW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22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744" y="10972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Overview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228600" y="347472"/>
            <a:ext cx="11503152" cy="0"/>
          </a:xfrm>
          <a:prstGeom prst="line">
            <a:avLst/>
          </a:prstGeom>
          <a:noFill/>
          <a:ln w="15240">
            <a:solidFill>
              <a:srgbClr val="BDBDB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43891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project-1-spec.md vs student-todo.md</a:t>
            </a:r>
            <a:endParaRPr lang="en-US" sz="4800" dirty="0"/>
          </a:p>
        </p:txBody>
      </p:sp>
      <p:sp>
        <p:nvSpPr>
          <p:cNvPr id="6" name="Shape 3"/>
          <p:cNvSpPr/>
          <p:nvPr/>
        </p:nvSpPr>
        <p:spPr>
          <a:xfrm>
            <a:off x="658368" y="914400"/>
            <a:ext cx="2377440" cy="54864"/>
          </a:xfrm>
          <a:prstGeom prst="rect">
            <a:avLst/>
          </a:prstGeom>
          <a:solidFill>
            <a:srgbClr val="C96A1B"/>
          </a:solidFill>
          <a:ln w="12700">
            <a:solidFill>
              <a:srgbClr val="C96A1B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914400" y="1463040"/>
            <a:ext cx="4800600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042416" y="1554480"/>
            <a:ext cx="4544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project-1-spec.md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1042416" y="1865376"/>
            <a:ext cx="4544568" cy="3575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Why we do it / How it is graded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research objective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deliverables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grading criteria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baselines and metrics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Worth skimming: Objective, Required Deliverables, Baseline Definitions, Evaluation Criteria</a:t>
            </a:r>
            <a:endParaRPr lang="en-US" sz="2400" dirty="0"/>
          </a:p>
        </p:txBody>
      </p:sp>
      <p:sp>
        <p:nvSpPr>
          <p:cNvPr id="12" name="Shape 8"/>
          <p:cNvSpPr/>
          <p:nvPr/>
        </p:nvSpPr>
        <p:spPr>
          <a:xfrm>
            <a:off x="6446520" y="1463040"/>
            <a:ext cx="4800600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574536" y="1554480"/>
            <a:ext cx="4544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student-todo.md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6574536" y="1865376"/>
            <a:ext cx="4544568" cy="3575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What to do / Where to do it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TODO list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work items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tests and verdicts to add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prompt variants to run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This is your task list.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1695450" y="5623561"/>
            <a:ext cx="9111750" cy="9509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Suggested order: 1. Read the spec to understand the goal  →  2. Read the TODO list and start working  →  3. Use quickstart to run the commands</a:t>
            </a:r>
            <a:endParaRPr lang="en-US" sz="2400" dirty="0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6EA4F816-4EF8-42DB-BC98-0943F8D68215}"/>
              </a:ext>
            </a:extLst>
          </p:cNvPr>
          <p:cNvSpPr/>
          <p:nvPr/>
        </p:nvSpPr>
        <p:spPr>
          <a:xfrm>
            <a:off x="11364048" y="6428231"/>
            <a:ext cx="374904" cy="21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TW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23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T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T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</TotalTime>
  <Words>2706</Words>
  <Application>Microsoft Office PowerPoint</Application>
  <PresentationFormat>寬螢幕</PresentationFormat>
  <Paragraphs>388</Paragraphs>
  <Slides>23</Slides>
  <Notes>23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23</vt:i4>
      </vt:variant>
    </vt:vector>
  </HeadingPairs>
  <TitlesOfParts>
    <vt:vector size="28" baseType="lpstr">
      <vt:lpstr>Noto Sans CJK TC</vt:lpstr>
      <vt:lpstr>微軟正黑體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Testing &amp; Security Checking - Project 1</dc:title>
  <dc:subject>Project 1 deck revision</dc:subject>
  <dc:creator>OpenAI</dc:creator>
  <cp:lastModifiedBy>user</cp:lastModifiedBy>
  <cp:revision>29</cp:revision>
  <dcterms:created xsi:type="dcterms:W3CDTF">2026-03-25T08:44:36Z</dcterms:created>
  <dcterms:modified xsi:type="dcterms:W3CDTF">2026-03-25T19:23:40Z</dcterms:modified>
</cp:coreProperties>
</file>