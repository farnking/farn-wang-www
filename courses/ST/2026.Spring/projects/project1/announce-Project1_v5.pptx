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5"/>
  </p:notesMasterIdLst>
  <p:sldIdLst>
    <p:sldId id="285" r:id="rId2"/>
    <p:sldId id="308" r:id="rId3"/>
    <p:sldId id="284" r:id="rId4"/>
    <p:sldId id="317" r:id="rId5"/>
    <p:sldId id="313" r:id="rId6"/>
    <p:sldId id="314" r:id="rId7"/>
    <p:sldId id="315" r:id="rId8"/>
    <p:sldId id="274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529" autoAdjust="0"/>
  </p:normalViewPr>
  <p:slideViewPr>
    <p:cSldViewPr snapToGrid="0" snapToObjects="1">
      <p:cViewPr varScale="1">
        <p:scale>
          <a:sx n="54" d="100"/>
          <a:sy n="54" d="100"/>
        </p:scale>
        <p:origin x="1124" y="48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36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這學期我們要研究一個問題：LLM</a:t>
            </a:r>
            <a:r>
              <a:rPr lang="en-US" altLang="zh-TW" dirty="0"/>
              <a:t> </a:t>
            </a:r>
            <a:r>
              <a:rPr lang="en-US" altLang="zh-TW" dirty="0" err="1"/>
              <a:t>能不能取代人工判斷測試結果</a:t>
            </a:r>
            <a:r>
              <a:rPr lang="en-US" altLang="zh-TW" dirty="0"/>
              <a:t>？
</a:t>
            </a:r>
            <a:r>
              <a:rPr lang="en-US" altLang="zh-TW" dirty="0" err="1"/>
              <a:t>也就是說，當一個測試跑完之後，LLM</a:t>
            </a:r>
            <a:r>
              <a:rPr lang="en-US" altLang="zh-TW" dirty="0"/>
              <a:t> </a:t>
            </a:r>
            <a:r>
              <a:rPr lang="en-US" altLang="zh-TW" dirty="0" err="1"/>
              <a:t>能不能根據執行結果，自動判斷它是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</a:t>
            </a:r>
            <a:r>
              <a:rPr lang="en-US" altLang="zh-TW" dirty="0" err="1"/>
              <a:t>fail，而不是每次都靠人一個一個看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29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1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47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2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傳統做法是，測試跑完之後，人工去看結果，再判斷 pass 或 fail。
這樣的問題很明顯：很花時間、測試一多就看不完、很難擴展。
所以這門課想做的事情，是把這一段交給 LLM。
也就是：寫測試、執行測試，然後讓 LLM 去看 evidence，幫我們做判斷。
但問題在這裡：LLM 到底準不準？會不會亂猜？這就是我們要研究的核心。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403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研究循環的前半段從輸入資料開始。我們先給定 htmls、user requirements、test requirements、既有測試腳本等文件，並設定一個初始的 test oracle 模型 Q。接著第一步是根據 Q 去問 LLM：能不能提出新的測試需求，或針對某一測項補強 requirement item。第二步是根據這些需求與介面，請 LLM 展開成測試文件，包括 test requirements、test plan、GUI coverage 的計算方式，以及 Selenium 或 Playwright 的 Python 測試腳本。
[Sources]
- User-provided content in this conversation.
- User-uploaded deck: announce-Project1.pptx
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接下來進入循環後半段。我們執行上述測試方案，收集測試報告，並評估 coverage、錯誤偵測率，以及 test requirements 的達成程度。每次執行完，都把 evidence 與報告再交給 LLM，請它做判讀。如果有新的發現，就把本輪結果、原因分析與補強腳本更新回 Q，然後再回到前面的需求生成與腳本生成，形成持續迭代的研究流程。
[Sources]
- User-provided content in this conversation.
- User-uploaded deck: announce-Project1.pptx
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在講流程之前，先解釋兩個核心概念</a:t>
            </a:r>
            <a:r>
              <a:rPr lang="en-US" altLang="zh-TW" dirty="0"/>
              <a:t>。
</a:t>
            </a:r>
            <a:r>
              <a:rPr lang="en-US" altLang="zh-TW" dirty="0" err="1"/>
              <a:t>Evidence（證據）是測試執行後收集的資料，包括截圖、log、網路請求、錯誤訊息。這些是判斷的依據</a:t>
            </a:r>
            <a:r>
              <a:rPr lang="en-US" altLang="zh-TW" dirty="0"/>
              <a:t>。
</a:t>
            </a:r>
            <a:r>
              <a:rPr lang="en-US" altLang="zh-TW" dirty="0" err="1"/>
              <a:t>Oracle（預言機）是看這些</a:t>
            </a:r>
            <a:r>
              <a:rPr lang="en-US" altLang="zh-TW" dirty="0"/>
              <a:t> </a:t>
            </a:r>
            <a:r>
              <a:rPr lang="en-US" altLang="zh-TW" dirty="0" err="1"/>
              <a:t>evidence，判斷測試</a:t>
            </a:r>
            <a:r>
              <a:rPr lang="en-US" altLang="zh-TW" dirty="0"/>
              <a:t> pass </a:t>
            </a:r>
            <a:r>
              <a:rPr lang="en-US" altLang="zh-TW" dirty="0" err="1"/>
              <a:t>還是</a:t>
            </a:r>
            <a:r>
              <a:rPr lang="en-US" altLang="zh-TW" dirty="0"/>
              <a:t> fail </a:t>
            </a:r>
            <a:r>
              <a:rPr lang="en-US" altLang="zh-TW" dirty="0" err="1"/>
              <a:t>的機制。可以是人工判斷，也可以是</a:t>
            </a:r>
            <a:r>
              <a:rPr lang="en-US" altLang="zh-TW" dirty="0"/>
              <a:t> LLM </a:t>
            </a:r>
            <a:r>
              <a:rPr lang="en-US" altLang="zh-TW" dirty="0" err="1"/>
              <a:t>判斷</a:t>
            </a:r>
            <a:r>
              <a:rPr lang="en-US" altLang="zh-TW" dirty="0"/>
              <a:t>。
</a:t>
            </a:r>
            <a:r>
              <a:rPr lang="en-US" altLang="zh-TW" dirty="0" err="1"/>
              <a:t>我們這學期要研究的核心問題就是：LLM</a:t>
            </a:r>
            <a:r>
              <a:rPr lang="en-US" altLang="zh-TW" dirty="0"/>
              <a:t> </a:t>
            </a:r>
            <a:r>
              <a:rPr lang="en-US" altLang="zh-TW" dirty="0" err="1"/>
              <a:t>能不能當一個好的</a:t>
            </a:r>
            <a:r>
              <a:rPr lang="en-US" altLang="zh-TW" dirty="0"/>
              <a:t> Oracle？
</a:t>
            </a:r>
            <a:r>
              <a:rPr lang="en-US" altLang="zh-TW" dirty="0" err="1"/>
              <a:t>可以這樣想：Evidence</a:t>
            </a:r>
            <a:r>
              <a:rPr lang="en-US" altLang="zh-TW" dirty="0"/>
              <a:t> </a:t>
            </a:r>
            <a:r>
              <a:rPr lang="en-US" altLang="zh-TW" dirty="0" err="1"/>
              <a:t>是犯罪現場的證據，Oracle</a:t>
            </a:r>
            <a:r>
              <a:rPr lang="en-US" altLang="zh-TW" dirty="0"/>
              <a:t> </a:t>
            </a:r>
            <a:r>
              <a:rPr lang="en-US" altLang="zh-TW" dirty="0" err="1"/>
              <a:t>是法官；我們研究的是</a:t>
            </a:r>
            <a:r>
              <a:rPr lang="en-US" altLang="zh-TW" dirty="0"/>
              <a:t> LLM </a:t>
            </a:r>
            <a:r>
              <a:rPr lang="en-US" altLang="zh-TW" dirty="0" err="1"/>
              <a:t>能不能當一個好法官</a:t>
            </a:r>
            <a:r>
              <a:rPr lang="en-US" altLang="zh-TW" dirty="0"/>
              <a:t>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整個</a:t>
            </a:r>
            <a:r>
              <a:rPr lang="en-US" altLang="zh-TW" dirty="0"/>
              <a:t> Project 1 </a:t>
            </a:r>
            <a:r>
              <a:rPr lang="en-US" altLang="zh-TW" dirty="0" err="1"/>
              <a:t>的流程是這樣</a:t>
            </a:r>
            <a:r>
              <a:rPr lang="en-US" altLang="zh-TW" dirty="0"/>
              <a:t>：
1. </a:t>
            </a:r>
            <a:r>
              <a:rPr lang="en-US" altLang="zh-TW" dirty="0" err="1"/>
              <a:t>先定義需求：要測什麼</a:t>
            </a:r>
            <a:r>
              <a:rPr lang="en-US" altLang="zh-TW" dirty="0"/>
              <a:t>。
2. 寫 Playwright </a:t>
            </a:r>
            <a:r>
              <a:rPr lang="en-US" altLang="zh-TW" dirty="0" err="1"/>
              <a:t>測試腳本</a:t>
            </a:r>
            <a:r>
              <a:rPr lang="en-US" altLang="zh-TW" dirty="0"/>
              <a:t>。
3. </a:t>
            </a:r>
            <a:r>
              <a:rPr lang="en-US" altLang="zh-TW" dirty="0" err="1"/>
              <a:t>執行測試，收集</a:t>
            </a:r>
            <a:r>
              <a:rPr lang="en-US" altLang="zh-TW" dirty="0"/>
              <a:t> Evidence。
4. 用 Oracle </a:t>
            </a:r>
            <a:r>
              <a:rPr lang="en-US" altLang="zh-TW" dirty="0" err="1"/>
              <a:t>判斷結果：你們手動看</a:t>
            </a:r>
            <a:r>
              <a:rPr lang="en-US" altLang="zh-TW" dirty="0"/>
              <a:t> </a:t>
            </a:r>
            <a:r>
              <a:rPr lang="en-US" altLang="zh-TW" dirty="0" err="1"/>
              <a:t>evidence，或讓</a:t>
            </a:r>
            <a:r>
              <a:rPr lang="en-US" altLang="zh-TW" dirty="0"/>
              <a:t> LLM 看 evidence </a:t>
            </a:r>
            <a:r>
              <a:rPr lang="en-US" altLang="zh-TW" dirty="0" err="1"/>
              <a:t>自動判斷</a:t>
            </a:r>
            <a:r>
              <a:rPr lang="en-US" altLang="zh-TW" dirty="0"/>
              <a:t>。
5. </a:t>
            </a:r>
            <a:r>
              <a:rPr lang="en-US" altLang="zh-TW" dirty="0" err="1"/>
              <a:t>比較兩者差異：看</a:t>
            </a:r>
            <a:r>
              <a:rPr lang="en-US" altLang="zh-TW" dirty="0"/>
              <a:t> LLM Oracle </a:t>
            </a:r>
            <a:r>
              <a:rPr lang="en-US" altLang="zh-TW" dirty="0" err="1"/>
              <a:t>判斷得準不準</a:t>
            </a:r>
            <a:r>
              <a:rPr lang="en-US" altLang="zh-TW" dirty="0"/>
              <a:t>。
</a:t>
            </a:r>
            <a:r>
              <a:rPr lang="en-US" altLang="zh-TW" dirty="0" err="1"/>
              <a:t>重點是</a:t>
            </a:r>
            <a:r>
              <a:rPr lang="en-US" altLang="zh-TW" dirty="0"/>
              <a:t> Evidence </a:t>
            </a:r>
            <a:r>
              <a:rPr lang="en-US" altLang="zh-TW" dirty="0" err="1"/>
              <a:t>是證據，Oracle</a:t>
            </a:r>
            <a:r>
              <a:rPr lang="en-US" altLang="zh-TW" dirty="0"/>
              <a:t> </a:t>
            </a:r>
            <a:r>
              <a:rPr lang="en-US" altLang="zh-TW" dirty="0" err="1"/>
              <a:t>是判斷機制，LLM</a:t>
            </a:r>
            <a:r>
              <a:rPr lang="en-US" altLang="zh-TW" dirty="0"/>
              <a:t> </a:t>
            </a:r>
            <a:r>
              <a:rPr lang="en-US" altLang="zh-TW" dirty="0" err="1"/>
              <a:t>不是幫你寫作業，而是被研究的對象</a:t>
            </a:r>
            <a:r>
              <a:rPr lang="en-US" altLang="zh-TW" dirty="0"/>
              <a:t>。
</a:t>
            </a:r>
            <a:r>
              <a:rPr lang="en-US" altLang="zh-TW" dirty="0" err="1"/>
              <a:t>這份作業不是單純寫測試，也不是單純呼叫模型，而是把</a:t>
            </a:r>
            <a:r>
              <a:rPr lang="en-US" altLang="zh-TW" dirty="0"/>
              <a:t> </a:t>
            </a:r>
            <a:r>
              <a:rPr lang="en-US" altLang="zh-TW" dirty="0" err="1"/>
              <a:t>requirement、test、evidence、oracle</a:t>
            </a:r>
            <a:r>
              <a:rPr lang="en-US" altLang="zh-TW" dirty="0"/>
              <a:t> 和 metrics </a:t>
            </a:r>
            <a:r>
              <a:rPr lang="en-US" altLang="zh-TW" dirty="0" err="1"/>
              <a:t>串成一條完整流程</a:t>
            </a:r>
            <a:r>
              <a:rPr lang="en-US" altLang="zh-TW" dirty="0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你們這次要做的事情可以濃縮成四件事</a:t>
            </a:r>
            <a:r>
              <a:rPr lang="en-US" altLang="zh-TW" dirty="0"/>
              <a:t>：
1. 把 baseline </a:t>
            </a:r>
            <a:r>
              <a:rPr lang="en-US" altLang="zh-TW" dirty="0" err="1"/>
              <a:t>跑起來</a:t>
            </a:r>
            <a:r>
              <a:rPr lang="en-US" altLang="zh-TW" dirty="0"/>
              <a:t>。
2. </a:t>
            </a:r>
            <a:r>
              <a:rPr lang="en-US" altLang="zh-TW" dirty="0" err="1"/>
              <a:t>擴展到</a:t>
            </a:r>
            <a:r>
              <a:rPr lang="en-US" altLang="zh-TW" dirty="0"/>
              <a:t> 30-50 </a:t>
            </a:r>
            <a:r>
              <a:rPr lang="en-US" altLang="zh-TW" dirty="0" err="1"/>
              <a:t>個需求</a:t>
            </a:r>
            <a:r>
              <a:rPr lang="en-US" altLang="zh-TW" dirty="0"/>
              <a:t>。
3. </a:t>
            </a:r>
            <a:r>
              <a:rPr lang="en-US" altLang="zh-TW" dirty="0" err="1"/>
              <a:t>完成所有</a:t>
            </a:r>
            <a:r>
              <a:rPr lang="en-US" altLang="zh-TW" dirty="0"/>
              <a:t> TODO。
4. </a:t>
            </a:r>
            <a:r>
              <a:rPr lang="en-US" altLang="zh-TW" dirty="0" err="1"/>
              <a:t>產生所有輸出檔案</a:t>
            </a:r>
            <a:r>
              <a:rPr lang="en-US" altLang="zh-TW" dirty="0"/>
              <a:t>。
</a:t>
            </a:r>
            <a:r>
              <a:rPr lang="en-US" altLang="zh-TW" dirty="0" err="1"/>
              <a:t>重點是不是從零開始。助教已經先幫你們做好</a:t>
            </a:r>
            <a:r>
              <a:rPr lang="en-US" altLang="zh-TW" dirty="0"/>
              <a:t> 15 </a:t>
            </a:r>
            <a:r>
              <a:rPr lang="en-US" altLang="zh-TW" dirty="0" err="1"/>
              <a:t>個需求的</a:t>
            </a:r>
            <a:r>
              <a:rPr lang="en-US" altLang="zh-TW" dirty="0"/>
              <a:t> </a:t>
            </a:r>
            <a:r>
              <a:rPr lang="en-US" altLang="zh-TW" dirty="0" err="1"/>
              <a:t>baseline，還有一部分測試和腳本骨架。你們的工作是擴展和補完，不是整份重寫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README </a:t>
            </a:r>
            <a:r>
              <a:rPr lang="en-US" altLang="zh-TW" dirty="0" err="1"/>
              <a:t>告訴你從哪裡開始，docs</a:t>
            </a:r>
            <a:r>
              <a:rPr lang="en-US" altLang="zh-TW" dirty="0"/>
              <a:t>/ </a:t>
            </a:r>
            <a:r>
              <a:rPr lang="en-US" altLang="zh-TW" dirty="0" err="1"/>
              <a:t>裡面有</a:t>
            </a:r>
            <a:r>
              <a:rPr lang="en-US" altLang="zh-TW" dirty="0"/>
              <a:t> </a:t>
            </a:r>
            <a:r>
              <a:rPr lang="en-US" altLang="zh-TW" dirty="0" err="1"/>
              <a:t>quickstart</a:t>
            </a:r>
            <a:r>
              <a:rPr lang="en-US" altLang="zh-TW" dirty="0"/>
              <a:t> 和 TODO </a:t>
            </a:r>
            <a:r>
              <a:rPr lang="en-US" altLang="zh-TW" dirty="0" err="1"/>
              <a:t>清單，starter-kit</a:t>
            </a:r>
            <a:r>
              <a:rPr lang="en-US" altLang="zh-TW" dirty="0"/>
              <a:t>/project1/ </a:t>
            </a:r>
            <a:r>
              <a:rPr lang="en-US" altLang="zh-TW" dirty="0" err="1"/>
              <a:t>是你真正要動手的地方</a:t>
            </a:r>
            <a:r>
              <a:rPr lang="en-US" altLang="zh-TW" dirty="0"/>
              <a:t>。
</a:t>
            </a:r>
            <a:r>
              <a:rPr lang="en-US" altLang="zh-TW" dirty="0" err="1"/>
              <a:t>你們實際上就是在這個框架上做三件事</a:t>
            </a:r>
            <a:r>
              <a:rPr lang="en-US" altLang="zh-TW" dirty="0"/>
              <a:t>：
- 加 15–35 </a:t>
            </a:r>
            <a:r>
              <a:rPr lang="en-US" altLang="zh-TW" dirty="0" err="1"/>
              <a:t>個需求（從</a:t>
            </a:r>
            <a:r>
              <a:rPr lang="en-US" altLang="zh-TW" dirty="0"/>
              <a:t> 15 </a:t>
            </a:r>
            <a:r>
              <a:rPr lang="en-US" altLang="zh-TW" dirty="0" err="1"/>
              <a:t>擴展到</a:t>
            </a:r>
            <a:r>
              <a:rPr lang="en-US" altLang="zh-TW" dirty="0"/>
              <a:t> 30–50）
- </a:t>
            </a:r>
            <a:r>
              <a:rPr lang="en-US" altLang="zh-TW" dirty="0" err="1"/>
              <a:t>補測試（每個需求至少一個測試</a:t>
            </a:r>
            <a:r>
              <a:rPr lang="en-US" altLang="zh-TW" dirty="0"/>
              <a:t>）
- </a:t>
            </a:r>
            <a:r>
              <a:rPr lang="en-US" altLang="zh-TW" dirty="0" err="1"/>
              <a:t>完成</a:t>
            </a:r>
            <a:r>
              <a:rPr lang="en-US" altLang="zh-TW" dirty="0"/>
              <a:t> TODO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要交的東西可以分成幾大類</a:t>
            </a:r>
            <a:r>
              <a:rPr lang="en-US" altLang="zh-TW" dirty="0"/>
              <a:t>：
1. 需求和測試：30-50 </a:t>
            </a:r>
            <a:r>
              <a:rPr lang="en-US" altLang="zh-TW" dirty="0" err="1"/>
              <a:t>個需求，每個需求都要有測試和</a:t>
            </a:r>
            <a:r>
              <a:rPr lang="en-US" altLang="zh-TW" dirty="0"/>
              <a:t> evidence。
2. Oracle </a:t>
            </a:r>
            <a:r>
              <a:rPr lang="en-US" altLang="zh-TW" dirty="0" err="1"/>
              <a:t>輸出：Manual</a:t>
            </a:r>
            <a:r>
              <a:rPr lang="en-US" altLang="zh-TW" dirty="0"/>
              <a:t> Oracle 和 LLM Oracle </a:t>
            </a:r>
            <a:r>
              <a:rPr lang="en-US" altLang="zh-TW" dirty="0" err="1"/>
              <a:t>的判斷結果</a:t>
            </a:r>
            <a:r>
              <a:rPr lang="en-US" altLang="zh-TW" dirty="0"/>
              <a:t>。
3. </a:t>
            </a:r>
            <a:r>
              <a:rPr lang="en-US" altLang="zh-TW" dirty="0" err="1"/>
              <a:t>Metrics：Cohen's</a:t>
            </a:r>
            <a:r>
              <a:rPr lang="en-US" altLang="zh-TW" dirty="0"/>
              <a:t> </a:t>
            </a:r>
            <a:r>
              <a:rPr lang="en-US" altLang="zh-TW" dirty="0" err="1"/>
              <a:t>kappa、confusion</a:t>
            </a:r>
            <a:r>
              <a:rPr lang="en-US" altLang="zh-TW" dirty="0"/>
              <a:t> matrix。
4. Prompt </a:t>
            </a:r>
            <a:r>
              <a:rPr lang="en-US" altLang="zh-TW" dirty="0" err="1"/>
              <a:t>experiment：至少</a:t>
            </a:r>
            <a:r>
              <a:rPr lang="en-US" altLang="zh-TW" dirty="0"/>
              <a:t> 2 個 prompt </a:t>
            </a:r>
            <a:r>
              <a:rPr lang="en-US" altLang="zh-TW" dirty="0" err="1"/>
              <a:t>變體的比較</a:t>
            </a:r>
            <a:r>
              <a:rPr lang="en-US" altLang="zh-TW" dirty="0"/>
              <a:t>。
5. 報告：proposal.md 和 report.md。
</a:t>
            </a:r>
            <a:r>
              <a:rPr lang="en-US" altLang="zh-TW" dirty="0" err="1"/>
              <a:t>詳細的</a:t>
            </a:r>
            <a:r>
              <a:rPr lang="en-US" altLang="zh-TW" dirty="0"/>
              <a:t> 13 項 deliverables </a:t>
            </a:r>
            <a:r>
              <a:rPr lang="en-US" altLang="zh-TW" dirty="0" err="1"/>
              <a:t>清單在</a:t>
            </a:r>
            <a:r>
              <a:rPr lang="en-US" altLang="zh-TW" dirty="0"/>
              <a:t> spec </a:t>
            </a:r>
            <a:r>
              <a:rPr lang="en-US" altLang="zh-TW" dirty="0" err="1"/>
              <a:t>裡面，這裡不一一列舉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時間上最重要的是</a:t>
            </a:r>
            <a:r>
              <a:rPr lang="en-US" altLang="zh-TW" dirty="0"/>
              <a:t> Project 1 </a:t>
            </a:r>
            <a:r>
              <a:rPr lang="en-US" altLang="zh-TW" dirty="0" err="1"/>
              <a:t>的截止時間，也就是</a:t>
            </a:r>
            <a:r>
              <a:rPr lang="en-US" altLang="zh-TW" dirty="0"/>
              <a:t> Week 6，2026 年 4 月 3 </a:t>
            </a:r>
            <a:r>
              <a:rPr lang="en-US" altLang="zh-TW" dirty="0" err="1"/>
              <a:t>日晚上</a:t>
            </a:r>
            <a:r>
              <a:rPr lang="en-US" altLang="zh-TW" dirty="0"/>
              <a:t> 11:59。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這份文件是整個</a:t>
            </a:r>
            <a:r>
              <a:rPr lang="en-US" altLang="zh-TW" dirty="0"/>
              <a:t> Project 1 </a:t>
            </a:r>
            <a:r>
              <a:rPr lang="en-US" altLang="zh-TW" dirty="0" err="1"/>
              <a:t>的規格書</a:t>
            </a:r>
            <a:r>
              <a:rPr lang="en-US" altLang="zh-TW" dirty="0"/>
              <a:t>。
它告訴你：為什麼要做這個作業、要交什麼、怎麼評分、B0/B1/B2 </a:t>
            </a:r>
            <a:r>
              <a:rPr lang="en-US" altLang="zh-TW" dirty="0" err="1"/>
              <a:t>是什麼、什麼是</a:t>
            </a:r>
            <a:r>
              <a:rPr lang="en-US" altLang="zh-TW" dirty="0"/>
              <a:t> Cohen's </a:t>
            </a:r>
            <a:r>
              <a:rPr lang="en-US" altLang="zh-TW" dirty="0" err="1"/>
              <a:t>kappa、什麼是</a:t>
            </a:r>
            <a:r>
              <a:rPr lang="en-US" altLang="zh-TW" dirty="0"/>
              <a:t> confusion </a:t>
            </a:r>
            <a:r>
              <a:rPr lang="en-US" altLang="zh-TW" dirty="0" err="1"/>
              <a:t>matrix、什麼是</a:t>
            </a:r>
            <a:r>
              <a:rPr lang="en-US" altLang="zh-TW" dirty="0"/>
              <a:t> prompt experiment。
</a:t>
            </a:r>
            <a:r>
              <a:rPr lang="en-US" altLang="zh-TW" dirty="0" err="1"/>
              <a:t>如果要做螢幕錄影示範，可以快速捲到</a:t>
            </a:r>
            <a:r>
              <a:rPr lang="en-US" altLang="zh-TW" dirty="0"/>
              <a:t> </a:t>
            </a:r>
            <a:r>
              <a:rPr lang="en-US" altLang="zh-TW" dirty="0" err="1"/>
              <a:t>Objective、Required</a:t>
            </a:r>
            <a:r>
              <a:rPr lang="en-US" altLang="zh-TW" dirty="0"/>
              <a:t> </a:t>
            </a:r>
            <a:r>
              <a:rPr lang="en-US" altLang="zh-TW" dirty="0" err="1"/>
              <a:t>Deliverables、Baseline</a:t>
            </a:r>
            <a:r>
              <a:rPr lang="en-US" altLang="zh-TW" dirty="0"/>
              <a:t> </a:t>
            </a:r>
            <a:r>
              <a:rPr lang="en-US" altLang="zh-TW" dirty="0" err="1"/>
              <a:t>Definitions、Evaluation</a:t>
            </a:r>
            <a:r>
              <a:rPr lang="en-US" altLang="zh-TW" dirty="0"/>
              <a:t> Criteria </a:t>
            </a:r>
            <a:r>
              <a:rPr lang="en-US" altLang="zh-TW" dirty="0" err="1"/>
              <a:t>這幾段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這一頁的核心訊息很簡單：能跑，最重要</a:t>
            </a:r>
            <a:r>
              <a:rPr lang="en-US" altLang="zh-TW" dirty="0"/>
              <a:t>。
</a:t>
            </a:r>
            <a:r>
              <a:rPr lang="en-US" altLang="zh-TW" dirty="0" err="1"/>
              <a:t>如果你的專案不能執行，後面就沒有什麼好談的</a:t>
            </a:r>
            <a:r>
              <a:rPr lang="en-US" altLang="zh-TW" dirty="0"/>
              <a:t>。
</a:t>
            </a:r>
            <a:r>
              <a:rPr lang="en-US" altLang="zh-TW" dirty="0" err="1"/>
              <a:t>所以評分順序可以直接記成：能跑，大於完整，大於漂亮</a:t>
            </a:r>
            <a:r>
              <a:rPr lang="en-US" altLang="zh-TW" dirty="0"/>
              <a:t>。
</a:t>
            </a:r>
            <a:r>
              <a:rPr lang="en-US" altLang="zh-TW" dirty="0" err="1"/>
              <a:t>也就是說，先確保</a:t>
            </a:r>
            <a:r>
              <a:rPr lang="en-US" altLang="zh-TW" dirty="0"/>
              <a:t> baseline </a:t>
            </a:r>
            <a:r>
              <a:rPr lang="en-US" altLang="zh-TW" dirty="0" err="1"/>
              <a:t>和輸出檔都能正常產生，再去追求更好的</a:t>
            </a:r>
            <a:r>
              <a:rPr lang="en-US" altLang="zh-TW" dirty="0"/>
              <a:t> requirement </a:t>
            </a:r>
            <a:r>
              <a:rPr lang="en-US" altLang="zh-TW" dirty="0" err="1"/>
              <a:t>品質和測試品質</a:t>
            </a:r>
            <a:r>
              <a:rPr lang="en-US" altLang="zh-TW" dirty="0"/>
              <a:t>。
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這份文件是你的工作清單</a:t>
            </a:r>
            <a:r>
              <a:rPr lang="en-US" altLang="zh-TW" dirty="0"/>
              <a:t>。
</a:t>
            </a:r>
            <a:r>
              <a:rPr lang="en-US" altLang="zh-TW" dirty="0" err="1"/>
              <a:t>它告訴你：所有</a:t>
            </a:r>
            <a:r>
              <a:rPr lang="en-US" altLang="zh-TW" dirty="0"/>
              <a:t> TODO </a:t>
            </a:r>
            <a:r>
              <a:rPr lang="en-US" altLang="zh-TW" dirty="0" err="1"/>
              <a:t>在哪裡、每個</a:t>
            </a:r>
            <a:r>
              <a:rPr lang="en-US" altLang="zh-TW" dirty="0"/>
              <a:t> TODO </a:t>
            </a:r>
            <a:r>
              <a:rPr lang="en-US" altLang="zh-TW" dirty="0" err="1"/>
              <a:t>要做什麼、要寫幾個測試、要補幾個</a:t>
            </a:r>
            <a:r>
              <a:rPr lang="en-US" altLang="zh-TW" dirty="0"/>
              <a:t> </a:t>
            </a:r>
            <a:r>
              <a:rPr lang="en-US" altLang="zh-TW" dirty="0" err="1"/>
              <a:t>verdict、要做幾個</a:t>
            </a:r>
            <a:r>
              <a:rPr lang="en-US" altLang="zh-TW" dirty="0"/>
              <a:t> prompt variant。
</a:t>
            </a:r>
            <a:r>
              <a:rPr lang="en-US" altLang="zh-TW" dirty="0" err="1"/>
              <a:t>這份文件不是教你怎麼寫程式，而是告訴你要補哪些空格</a:t>
            </a:r>
            <a:r>
              <a:rPr lang="en-US" altLang="zh-TW" dirty="0"/>
              <a:t>。
</a:t>
            </a:r>
            <a:r>
              <a:rPr lang="en-US" altLang="zh-TW" dirty="0" err="1"/>
              <a:t>如果你想知道怎麼跑，請看</a:t>
            </a:r>
            <a:r>
              <a:rPr lang="en-US" altLang="zh-TW" dirty="0"/>
              <a:t> project-1-quickstart.md。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err="1"/>
              <a:t>如果你不知道從哪裡開始，先看這三份文件就夠了</a:t>
            </a:r>
            <a:r>
              <a:rPr lang="en-US" altLang="zh-TW" dirty="0"/>
              <a:t>。
</a:t>
            </a:r>
            <a:r>
              <a:rPr lang="en-US" altLang="zh-TW" dirty="0" err="1"/>
              <a:t>第一份是</a:t>
            </a:r>
            <a:r>
              <a:rPr lang="en-US" altLang="zh-TW" dirty="0"/>
              <a:t> </a:t>
            </a:r>
            <a:r>
              <a:rPr lang="en-US" altLang="zh-TW" dirty="0" err="1"/>
              <a:t>spec，告訴你為什麼做這個作業、怎麼評分</a:t>
            </a:r>
            <a:r>
              <a:rPr lang="en-US" altLang="zh-TW" dirty="0"/>
              <a:t>。
</a:t>
            </a:r>
            <a:r>
              <a:rPr lang="en-US" altLang="zh-TW" dirty="0" err="1"/>
              <a:t>第二份是</a:t>
            </a:r>
            <a:r>
              <a:rPr lang="en-US" altLang="zh-TW" dirty="0"/>
              <a:t> TODO </a:t>
            </a:r>
            <a:r>
              <a:rPr lang="en-US" altLang="zh-TW" dirty="0" err="1"/>
              <a:t>清單，告訴你要補哪些程式碼</a:t>
            </a:r>
            <a:r>
              <a:rPr lang="en-US" altLang="zh-TW" dirty="0"/>
              <a:t>。
</a:t>
            </a:r>
            <a:r>
              <a:rPr lang="en-US" altLang="zh-TW" dirty="0" err="1"/>
              <a:t>第三份是操作順序，告訴你指令怎麼跑</a:t>
            </a:r>
            <a:r>
              <a:rPr lang="en-US" altLang="zh-TW" dirty="0"/>
              <a:t>。
</a:t>
            </a:r>
            <a:r>
              <a:rPr lang="en-US" altLang="zh-TW" dirty="0" err="1"/>
              <a:t>很多問題其實不是不會寫程式，而是沒有先照文件走</a:t>
            </a:r>
            <a:r>
              <a:rPr lang="en-US" altLang="zh-TW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8F8E670-7DDC-4CC2-82B7-4DCE09B021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6039" cy="1292772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E310A26-4EB4-4C70-9B3B-C2327693BD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11292" y="65784"/>
            <a:ext cx="1498557" cy="1444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Bar"/>
          <p:cNvSpPr/>
          <p:nvPr userDrawn="1"/>
        </p:nvSpPr>
        <p:spPr>
          <a:xfrm>
            <a:off x="1295400" y="365760"/>
            <a:ext cx="9601200" cy="762000"/>
          </a:xfrm>
          <a:prstGeom prst="rect">
            <a:avLst/>
          </a:prstGeom>
          <a:solidFill>
            <a:srgbClr val="F5C49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01719" y="6099933"/>
            <a:ext cx="856881" cy="48374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2800">
                <a:solidFill>
                  <a:srgbClr val="666666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0" name="Logo Lef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86039" cy="1292772"/>
          </a:xfrm>
          <a:prstGeom prst="rect">
            <a:avLst/>
          </a:prstGeom>
        </p:spPr>
      </p:pic>
      <p:pic>
        <p:nvPicPr>
          <p:cNvPr id="31" name="Logo Right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11292" y="65784"/>
            <a:ext cx="1498557" cy="144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2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394F1547-25FC-433A-BF5B-9276A3EAE62E}"/>
              </a:ext>
            </a:extLst>
          </p:cNvPr>
          <p:cNvSpPr/>
          <p:nvPr/>
        </p:nvSpPr>
        <p:spPr>
          <a:xfrm>
            <a:off x="0" y="1874519"/>
            <a:ext cx="12192000" cy="332810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6000" dirty="0"/>
              <a:t>  </a:t>
            </a:r>
            <a:r>
              <a:rPr lang="en-US" altLang="zh-TW" sz="6000" dirty="0"/>
              <a:t>Software Testing &amp; Security Checking</a:t>
            </a:r>
            <a:r>
              <a:rPr lang="zh-TW" altLang="en-US" sz="6000" dirty="0"/>
              <a:t> </a:t>
            </a:r>
            <a:endParaRPr lang="en-US" altLang="zh-TW" sz="6000" dirty="0"/>
          </a:p>
          <a:p>
            <a:pPr algn="ctr"/>
            <a:r>
              <a:rPr sz="6000" dirty="0"/>
              <a:t>Project </a:t>
            </a:r>
            <a:r>
              <a:rPr lang="en-US" altLang="zh-TW" sz="6000" dirty="0"/>
              <a:t>1</a:t>
            </a:r>
            <a:endParaRPr sz="60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CDF8C6-9879-4801-85D8-F1E14EC39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000" y="0"/>
            <a:ext cx="1788000" cy="18625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BC93FF8-0FAE-4BFF-B171-D7CD85272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3776" y="12019"/>
            <a:ext cx="3414583" cy="18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4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11503152" cy="0"/>
          </a:xfrm>
          <a:prstGeom prst="line">
            <a:avLst/>
          </a:prstGeom>
          <a:noFill/>
          <a:ln w="1524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868680" y="1261872"/>
            <a:ext cx="9928049" cy="2679264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24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868680" y="1700784"/>
            <a:ext cx="10161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Can LLMs replace human judgment</a:t>
            </a:r>
            <a:endParaRPr 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sz="48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 test results?</a:t>
            </a:r>
            <a:endParaRPr 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C9DA610-F2D7-48DC-813E-1CBB871BA233}"/>
              </a:ext>
            </a:extLst>
          </p:cNvPr>
          <p:cNvSpPr txBox="1"/>
          <p:nvPr/>
        </p:nvSpPr>
        <p:spPr>
          <a:xfrm>
            <a:off x="1504344" y="4380048"/>
            <a:ext cx="9183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Let the model automatically judge PASS / FAIL from test execution results, instead of having humans inspect them one by one every time.</a:t>
            </a: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39039C25-0D14-4AEF-9CB0-D467C69D664D}"/>
              </a:ext>
            </a:extLst>
          </p:cNvPr>
          <p:cNvSpPr/>
          <p:nvPr/>
        </p:nvSpPr>
        <p:spPr>
          <a:xfrm>
            <a:off x="1395271" y="402337"/>
            <a:ext cx="8772634" cy="859535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本學期核心問題</a:t>
            </a:r>
          </a:p>
        </p:txBody>
      </p:sp>
    </p:spTree>
    <p:extLst>
      <p:ext uri="{BB962C8B-B14F-4D97-AF65-F5344CB8AC3E}">
        <p14:creationId xmlns:p14="http://schemas.microsoft.com/office/powerpoint/2010/main" val="3241279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543033" y="6167628"/>
            <a:ext cx="1009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</a:t>
            </a:r>
            <a:endParaRPr lang="en-US" sz="20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C461B991-1344-4130-AFB6-08C9AFE94AF0}"/>
              </a:ext>
            </a:extLst>
          </p:cNvPr>
          <p:cNvSpPr/>
          <p:nvPr/>
        </p:nvSpPr>
        <p:spPr>
          <a:xfrm>
            <a:off x="1478070" y="438912"/>
            <a:ext cx="9018741" cy="512066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3200" dirty="0"/>
              <a:t>How Projects 1-4 Connect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A7EDA60-7892-4FCB-8440-9009C5B729F0}"/>
              </a:ext>
            </a:extLst>
          </p:cNvPr>
          <p:cNvSpPr/>
          <p:nvPr/>
        </p:nvSpPr>
        <p:spPr>
          <a:xfrm>
            <a:off x="1652453" y="1109037"/>
            <a:ext cx="98872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1 (Week 6)</a:t>
            </a:r>
            <a:endParaRPr lang="en-US" sz="2400" dirty="0"/>
          </a:p>
          <a:p>
            <a:r>
              <a:rPr lang="en-US" altLang="zh-TW" sz="2400" dirty="0"/>
              <a:t>Build the foundation | All teams start from the same baseline </a:t>
            </a:r>
          </a:p>
          <a:p>
            <a:r>
              <a:rPr lang="en-US" altLang="zh-TW" sz="2400" dirty="0"/>
              <a:t>| test oracle (simple crash) | use case definition in test requirement proposal</a:t>
            </a: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E462A17-360C-46DD-AC5C-388D59C079F5}"/>
              </a:ext>
            </a:extLst>
          </p:cNvPr>
          <p:cNvSpPr/>
          <p:nvPr/>
        </p:nvSpPr>
        <p:spPr>
          <a:xfrm>
            <a:off x="1652452" y="2389196"/>
            <a:ext cx="9887271" cy="10972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2 (Week 8)</a:t>
            </a:r>
            <a:endParaRPr lang="en-US" sz="2400" dirty="0"/>
          </a:p>
          <a:p>
            <a:r>
              <a:rPr lang="en-US" altLang="zh-TW" sz="2400" dirty="0"/>
              <a:t>Propose improvements | Teams begin to diverge| Test oracle (page errors) </a:t>
            </a:r>
          </a:p>
          <a:p>
            <a:r>
              <a:rPr lang="en-US" altLang="zh-TW" sz="2400" dirty="0"/>
              <a:t>| Test requirement refinement (with LLM)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94A570-4043-42D8-B55E-CC0A7F441785}"/>
              </a:ext>
            </a:extLst>
          </p:cNvPr>
          <p:cNvSpPr/>
          <p:nvPr/>
        </p:nvSpPr>
        <p:spPr>
          <a:xfrm>
            <a:off x="1635035" y="3721607"/>
            <a:ext cx="10085827" cy="109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3 (Week 10)</a:t>
            </a:r>
            <a:endParaRPr lang="en-US" sz="2400" dirty="0"/>
          </a:p>
          <a:p>
            <a:r>
              <a:rPr lang="en-US" altLang="zh-TW" sz="2400" dirty="0"/>
              <a:t>Cross-target validation  | Test oracle (action errors) </a:t>
            </a:r>
          </a:p>
          <a:p>
            <a:r>
              <a:rPr lang="en-US" altLang="zh-TW" sz="2400" dirty="0"/>
              <a:t>| Test requirement refinement (with LLM) | Test script generation (with LLM)</a:t>
            </a: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C6F1C17E-ED90-482F-AFF0-AD8CB641756F}"/>
              </a:ext>
            </a:extLst>
          </p:cNvPr>
          <p:cNvGrpSpPr/>
          <p:nvPr/>
        </p:nvGrpSpPr>
        <p:grpSpPr>
          <a:xfrm>
            <a:off x="967958" y="1109037"/>
            <a:ext cx="310896" cy="4828032"/>
            <a:chOff x="2587752" y="1115568"/>
            <a:chExt cx="310896" cy="4828032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F2A7BA2B-031E-42CA-9728-6B81024EDBD9}"/>
                </a:ext>
              </a:extLst>
            </p:cNvPr>
            <p:cNvSpPr/>
            <p:nvPr/>
          </p:nvSpPr>
          <p:spPr>
            <a:xfrm>
              <a:off x="2743200" y="1417320"/>
              <a:ext cx="0" cy="4526280"/>
            </a:xfrm>
            <a:prstGeom prst="line">
              <a:avLst/>
            </a:prstGeom>
            <a:noFill/>
            <a:ln w="1524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F94CCACA-0CEE-4F4B-873C-3792A5B4D907}"/>
                </a:ext>
              </a:extLst>
            </p:cNvPr>
            <p:cNvSpPr/>
            <p:nvPr/>
          </p:nvSpPr>
          <p:spPr>
            <a:xfrm>
              <a:off x="2587752" y="11155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3A6DAB74-AD67-470F-851B-EB0E75BC8F62}"/>
                </a:ext>
              </a:extLst>
            </p:cNvPr>
            <p:cNvSpPr/>
            <p:nvPr/>
          </p:nvSpPr>
          <p:spPr>
            <a:xfrm>
              <a:off x="2587752" y="2331720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9FFFE07B-98F9-4FB3-AD70-0EA8337F9119}"/>
                </a:ext>
              </a:extLst>
            </p:cNvPr>
            <p:cNvSpPr/>
            <p:nvPr/>
          </p:nvSpPr>
          <p:spPr>
            <a:xfrm>
              <a:off x="2587752" y="354787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F2FCA9C9-1395-4389-9D33-006637035333}"/>
                </a:ext>
              </a:extLst>
            </p:cNvPr>
            <p:cNvSpPr/>
            <p:nvPr/>
          </p:nvSpPr>
          <p:spPr>
            <a:xfrm>
              <a:off x="2587752" y="4764024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sz="2400"/>
            </a:p>
          </p:txBody>
        </p:sp>
      </p:grpSp>
      <p:sp>
        <p:nvSpPr>
          <p:cNvPr id="22" name="Text 16">
            <a:extLst>
              <a:ext uri="{FF2B5EF4-FFF2-40B4-BE49-F238E27FC236}">
                <a16:creationId xmlns:a16="http://schemas.microsoft.com/office/drawing/2014/main" id="{F912880D-1843-4279-B7C3-4E6A9520D374}"/>
              </a:ext>
            </a:extLst>
          </p:cNvPr>
          <p:cNvSpPr/>
          <p:nvPr/>
        </p:nvSpPr>
        <p:spPr>
          <a:xfrm>
            <a:off x="1635035" y="5172890"/>
            <a:ext cx="10006147" cy="10972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r>
              <a:rPr sz="2400" dirty="0"/>
              <a:t>Project 4 (Week 17)</a:t>
            </a:r>
            <a:endParaRPr lang="en-US" sz="2400" dirty="0"/>
          </a:p>
          <a:p>
            <a:r>
              <a:rPr lang="en-US" altLang="zh-TW" sz="2400" dirty="0"/>
              <a:t>Full paper | Integrate all results and conclusions </a:t>
            </a:r>
          </a:p>
          <a:p>
            <a:r>
              <a:rPr lang="en-US" altLang="zh-TW" sz="2400" dirty="0"/>
              <a:t>| Test requirement refinement (with LLM)  | Test oracle (use cases &gt; 2 actions) </a:t>
            </a:r>
          </a:p>
        </p:txBody>
      </p:sp>
    </p:spTree>
    <p:extLst>
      <p:ext uri="{BB962C8B-B14F-4D97-AF65-F5344CB8AC3E}">
        <p14:creationId xmlns:p14="http://schemas.microsoft.com/office/powerpoint/2010/main" val="309865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886968" y="1656000"/>
            <a:ext cx="10564848" cy="4175570"/>
          </a:xfrm>
          <a:prstGeom prst="roundRect">
            <a:avLst>
              <a:gd name="adj" fmla="val 2222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886968" y="1735668"/>
            <a:ext cx="10006632" cy="581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計畫一：列出的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 requirements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進行簡單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errors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的判斷</a:t>
            </a:r>
          </a:p>
        </p:txBody>
      </p:sp>
      <p:sp>
        <p:nvSpPr>
          <p:cNvPr id="12" name="Text 8"/>
          <p:cNvSpPr/>
          <p:nvPr/>
        </p:nvSpPr>
        <p:spPr>
          <a:xfrm>
            <a:off x="886968" y="2314405"/>
            <a:ext cx="10564848" cy="32330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•階段目標： 建立基礎，讓所有團隊從相同的基準線 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(Baseline) 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出發 。</a:t>
            </a:r>
          </a:p>
          <a:p>
            <a:pPr marL="0" indent="0">
              <a:buNone/>
            </a:pP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•需求生成： 從 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HTML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、使用者需求 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(User requirements) 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或既有文件出發，列出並明確化測試需求 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(Test requirements) 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0" indent="0">
              <a:buNone/>
            </a:pP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驗證重點： 針對學生初步列出的測試需求，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 Oracle 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要能進行最基本的簡單錯誤判斷（例如：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Simple crash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 。</a:t>
            </a:r>
          </a:p>
          <a:p>
            <a:pPr marL="0" indent="0">
              <a:buNone/>
            </a:pP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•預期產出： 結構化的測試需求清單，為後續的 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 plan 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Coverage </a:t>
            </a:r>
            <a:r>
              <a:rPr lang="zh-TW" altLang="en-US" sz="24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計算奠定基礎 。</a:t>
            </a:r>
          </a:p>
          <a:p>
            <a:pPr marL="0" indent="0">
              <a:buNone/>
            </a:pPr>
            <a:endParaRPr lang="zh-TW" altLang="en-US" sz="1800" dirty="0">
              <a:solidFill>
                <a:srgbClr val="22222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821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566928" y="1740652"/>
            <a:ext cx="10789920" cy="4537748"/>
          </a:xfrm>
          <a:prstGeom prst="roundRect">
            <a:avLst>
              <a:gd name="adj" fmla="val 2222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/>
          <p:cNvSpPr/>
          <p:nvPr/>
        </p:nvSpPr>
        <p:spPr>
          <a:xfrm>
            <a:off x="566928" y="1740651"/>
            <a:ext cx="11313072" cy="7267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計畫二：判斷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refine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 requirements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的頁面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errors</a:t>
            </a:r>
            <a:endParaRPr lang="zh-TW" altLang="en-US" sz="2400" dirty="0">
              <a:solidFill>
                <a:srgbClr val="C96A1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07136" y="2467366"/>
            <a:ext cx="10548052" cy="309040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需求改進 (Requirement Refinement)：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讓 LLM 掃描初始的測試需求，自動擴充邊界條件 (Edge Cases) 與異常情境，補足人為盲點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頁面層級的 Oracle 生成：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針對每一個被 refine 後的測試需求，精準推導出對應的「預期結果 (Test Oracle)」 。此階段的 Oracle 必須能明確判斷單一頁面上發生的錯誤 (Page errors)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測試方案自動化：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依據優化後的 test requirement 與介面產生測試方案，包含產出可執行的腳本 (如 Selenium / Playwright / Python scripts)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評估指標建立：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一併設計 test plan 與 coverage 計算方法，形成可持續重跑的自動化測試資產 。</a:t>
            </a: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27758" y="438911"/>
            <a:ext cx="9285041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1449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" y="1571830"/>
            <a:ext cx="10664952" cy="431777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640080" y="1663269"/>
            <a:ext cx="10716768" cy="42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計畫三：判斷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refine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 requirements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action errors</a:t>
            </a:r>
            <a:endParaRPr lang="zh-TW" altLang="en-US" sz="2400" dirty="0">
              <a:solidFill>
                <a:srgbClr val="C96A1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40080" y="2071329"/>
            <a:ext cx="10597896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(3)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56DE64-1354-4851-926A-5FD4B5A9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274083"/>
            <a:ext cx="1051992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階段目標：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進行跨目標驗證 (Cross-target validation)，並從規格邁向自動化腳本生成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驗證重點：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針對經由 LLM 優化 (Refine) 後的測試需求，Test Oracle 必須能精準判斷動作錯誤 (Action errors)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驗證軌跡：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鎖定「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頁面 → action → 頁面 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」的單次狀態轉換，確保每一次互動後的狀態變化正確 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具體作法：</a:t>
            </a:r>
            <a:r>
              <a:rPr kumimoji="0" lang="zh-TW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將 Oracle 的判斷邏輯直接寫入程式碼的斷言 (Assertions) 中，生成高度可用的自動化測試腳本 。</a:t>
            </a:r>
          </a:p>
        </p:txBody>
      </p:sp>
    </p:spTree>
    <p:extLst>
      <p:ext uri="{BB962C8B-B14F-4D97-AF65-F5344CB8AC3E}">
        <p14:creationId xmlns:p14="http://schemas.microsoft.com/office/powerpoint/2010/main" val="1093027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4" y="1097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Project 1 Overview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07136" y="1106424"/>
            <a:ext cx="10875264" cy="92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" y="1571830"/>
            <a:ext cx="10664952" cy="4317770"/>
          </a:xfrm>
          <a:prstGeom prst="roundRect">
            <a:avLst>
              <a:gd name="adj" fmla="val 2222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640080" y="1663269"/>
            <a:ext cx="10716768" cy="42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計畫四：判斷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refine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test requirements </a:t>
            </a:r>
            <a:r>
              <a:rPr lang="zh-TW" altLang="en-US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2400" dirty="0">
                <a:solidFill>
                  <a:srgbClr val="C96A1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trace errors</a:t>
            </a:r>
            <a:endParaRPr lang="zh-TW" altLang="en-US" sz="2400" dirty="0">
              <a:solidFill>
                <a:srgbClr val="C96A1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40080" y="2071329"/>
            <a:ext cx="10597896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389888" y="6151607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A1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Requirement generation  →  Script generation  →  Oracle automation</a:t>
            </a:r>
            <a:endParaRPr lang="en-US" sz="2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411CC034-EE9D-4319-859A-839A732F57A9}"/>
              </a:ext>
            </a:extLst>
          </p:cNvPr>
          <p:cNvSpPr/>
          <p:nvPr/>
        </p:nvSpPr>
        <p:spPr>
          <a:xfrm>
            <a:off x="1389888" y="438911"/>
            <a:ext cx="9222912" cy="869881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研究規劃總覽：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個重要計畫</a:t>
            </a:r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(4)</a:t>
            </a:r>
            <a:endParaRPr lang="zh-TW" altLang="en-US" sz="4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56DE64-1354-4851-926A-5FD4B5A9C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2378135"/>
            <a:ext cx="105199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>
              <a:buNone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期末整合所有成果與結論 </a:t>
            </a: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r>
              <a:rPr 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驗證重點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針對優化後的測試需求，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 Oracle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進階至能處理複雜的使用案例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 cases &gt; 2 actions) 。</a:t>
            </a:r>
          </a:p>
          <a:p>
            <a:pPr marL="0" indent="0" algn="l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驗證軌跡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具備判斷長軌跡錯誤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Trace errors)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的能力，能驗證「頁面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 ─&gt; 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action 1 ─&gt;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頁面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─&gt; ... ─&gt;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頁面 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n」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的連續狀態轉換（且 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 &gt;= 2） </a:t>
            </a:r>
          </a:p>
          <a:p>
            <a:pPr marL="0" indent="0" algn="l">
              <a:buNone/>
            </a:pP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系統化產出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進行整體效能調優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Performance tuning)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與系統打包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Packaging)，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將需求到腳本的邏輯鍊封裝成可重複使用的工具鏈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l">
              <a:buNone/>
            </a:pPr>
            <a:endParaRPr 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88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68680" y="1243285"/>
            <a:ext cx="9786904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69848" y="1307591"/>
            <a:ext cx="10021824" cy="545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Traditional Approach</a:t>
            </a:r>
          </a:p>
        </p:txBody>
      </p:sp>
      <p:sp>
        <p:nvSpPr>
          <p:cNvPr id="5" name="Text 3"/>
          <p:cNvSpPr/>
          <p:nvPr/>
        </p:nvSpPr>
        <p:spPr>
          <a:xfrm>
            <a:off x="1069848" y="16550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Write tests  -&gt;  Run  -&gt;  Human review  -&gt;  Decide</a:t>
            </a:r>
          </a:p>
        </p:txBody>
      </p:sp>
      <p:sp>
        <p:nvSpPr>
          <p:cNvPr id="6" name="Text 4"/>
          <p:cNvSpPr/>
          <p:nvPr/>
        </p:nvSpPr>
        <p:spPr>
          <a:xfrm>
            <a:off x="1086342" y="2687684"/>
            <a:ext cx="9569242" cy="54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i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Slow | Not scalable</a:t>
            </a:r>
            <a:r>
              <a:rPr lang="en-US" sz="2800" i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| Inconsistent | high-maintenance cost</a:t>
            </a:r>
            <a:endParaRPr sz="2800" i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9786904" cy="2057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FCFCF"/>
            </a:solidFill>
            <a:prstDash val="solid"/>
          </a:ln>
        </p:spPr>
        <p:txBody>
          <a:bodyPr/>
          <a:lstStyle/>
          <a:p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69848" y="3822191"/>
            <a:ext cx="10308600" cy="621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Our Approach</a:t>
            </a:r>
          </a:p>
        </p:txBody>
      </p:sp>
      <p:sp>
        <p:nvSpPr>
          <p:cNvPr id="9" name="Text 7"/>
          <p:cNvSpPr/>
          <p:nvPr/>
        </p:nvSpPr>
        <p:spPr>
          <a:xfrm>
            <a:off x="1069848" y="4169664"/>
            <a:ext cx="10021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Write tests  -&gt;  Run  -&gt;  LLM review  -&gt;  Auto-judge</a:t>
            </a:r>
          </a:p>
        </p:txBody>
      </p:sp>
      <p:sp>
        <p:nvSpPr>
          <p:cNvPr id="10" name="Text 8"/>
          <p:cNvSpPr/>
          <p:nvPr/>
        </p:nvSpPr>
        <p:spPr>
          <a:xfrm>
            <a:off x="5067701" y="5014491"/>
            <a:ext cx="5207876" cy="732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Faster | Scalable | But accurate?</a:t>
            </a: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4EF475C-2E40-48D3-A1E2-8DDEC61906C2}"/>
              </a:ext>
            </a:extLst>
          </p:cNvPr>
          <p:cNvSpPr/>
          <p:nvPr/>
        </p:nvSpPr>
        <p:spPr>
          <a:xfrm>
            <a:off x="11378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FD3481-2E59-402F-A9F7-09FD23FBC2F3}"/>
              </a:ext>
            </a:extLst>
          </p:cNvPr>
          <p:cNvSpPr txBox="1"/>
          <p:nvPr/>
        </p:nvSpPr>
        <p:spPr>
          <a:xfrm>
            <a:off x="1069848" y="371404"/>
            <a:ext cx="9786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Traditional Approach vs Our Approach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傳統方式的主要缺點</a:t>
            </a:r>
          </a:p>
        </p:txBody>
      </p:sp>
      <p:sp>
        <p:nvSpPr>
          <p:cNvPr id="9" name="Shape 5"/>
          <p:cNvSpPr/>
          <p:nvPr/>
        </p:nvSpPr>
        <p:spPr>
          <a:xfrm>
            <a:off x="841248" y="1325879"/>
            <a:ext cx="3781152" cy="4981321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969264" y="141732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Traditional flow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69264" y="1728216"/>
            <a:ext cx="3584448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文件 / 需求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↓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人工整理測試需求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↓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人工寫 test scripts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↓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執行測試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↓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人工看報告再判斷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956048" y="1325880"/>
            <a:ext cx="6030199" cy="3611880"/>
          </a:xfrm>
          <a:prstGeom prst="roundRect">
            <a:avLst>
              <a:gd name="adj" fmla="val 2025"/>
            </a:avLst>
          </a:prstGeom>
          <a:solidFill>
            <a:srgbClr val="F6F6F6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5084064" y="1417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Why this becomes a bottleneck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84064" y="1728216"/>
            <a:ext cx="6126480" cy="3118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測試需求整理與測項指定高度仰賴人工經驗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測試腳本撰寫、維護與 coverage 計算成本高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測試一多就難以擴展，速度慢且重工多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人工判讀結果容易不一致，也不易標準化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對 failure、UX 問題與 security issue 的後續追查不成系統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很難快速迭代下一輪測試與知識移轉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6AE732A-6A96-42FB-852B-4486B2260150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815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研究循環流程（0）-（1）</a:t>
            </a:r>
          </a:p>
        </p:txBody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4EEE84CB-C22F-4B5B-9AE2-CE447EC4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9" y="1206500"/>
            <a:ext cx="4781997" cy="5706132"/>
          </a:xfrm>
          <a:prstGeom prst="rect">
            <a:avLst/>
          </a:prstGeom>
        </p:spPr>
      </p:pic>
      <p:sp>
        <p:nvSpPr>
          <p:cNvPr id="31" name="Shape 5">
            <a:extLst>
              <a:ext uri="{FF2B5EF4-FFF2-40B4-BE49-F238E27FC236}">
                <a16:creationId xmlns:a16="http://schemas.microsoft.com/office/drawing/2014/main" id="{0EE5F4AB-530D-450F-8FB2-61D73FEBA7AE}"/>
              </a:ext>
            </a:extLst>
          </p:cNvPr>
          <p:cNvSpPr/>
          <p:nvPr/>
        </p:nvSpPr>
        <p:spPr>
          <a:xfrm>
            <a:off x="6398207" y="1272168"/>
            <a:ext cx="4781997" cy="5431536"/>
          </a:xfrm>
          <a:prstGeom prst="roundRect">
            <a:avLst>
              <a:gd name="adj" fmla="val 2025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05F0E519-4030-41A5-AAF0-41FF62D20550}"/>
              </a:ext>
            </a:extLst>
          </p:cNvPr>
          <p:cNvSpPr/>
          <p:nvPr/>
        </p:nvSpPr>
        <p:spPr>
          <a:xfrm>
            <a:off x="6608520" y="15556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0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AE0F8F45-E3A8-4751-AABD-44368A003594}"/>
              </a:ext>
            </a:extLst>
          </p:cNvPr>
          <p:cNvSpPr/>
          <p:nvPr/>
        </p:nvSpPr>
        <p:spPr>
          <a:xfrm>
            <a:off x="7020000" y="1528200"/>
            <a:ext cx="2368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輸入資料與初始 Q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0F4A464-0CEF-4867-8E78-84C01DBAAF49}"/>
              </a:ext>
            </a:extLst>
          </p:cNvPr>
          <p:cNvSpPr/>
          <p:nvPr/>
        </p:nvSpPr>
        <p:spPr>
          <a:xfrm>
            <a:off x="6571944" y="1957968"/>
            <a:ext cx="4386456" cy="21579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給定 htmls、user requirements、test requirements、既有測試腳本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建立初始 test oracle 模型 Q = {} 或某個初值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把現有文件先整理成 LLM 可以引用的上下文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C4CCCD1-CC10-4E34-A3DD-B1802FB2929C}"/>
              </a:ext>
            </a:extLst>
          </p:cNvPr>
          <p:cNvSpPr/>
          <p:nvPr/>
        </p:nvSpPr>
        <p:spPr>
          <a:xfrm>
            <a:off x="6651192" y="39787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1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860C43CE-C852-4D85-9983-76462DE84206}"/>
              </a:ext>
            </a:extLst>
          </p:cNvPr>
          <p:cNvSpPr/>
          <p:nvPr/>
        </p:nvSpPr>
        <p:spPr>
          <a:xfrm>
            <a:off x="7019999" y="3782196"/>
            <a:ext cx="4177581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根據 Q 詢問 LLM：可否產生測試需求？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8E20D53-8302-4F5C-ADE4-91CBDC2D8BA5}"/>
              </a:ext>
            </a:extLst>
          </p:cNvPr>
          <p:cNvSpPr/>
          <p:nvPr/>
        </p:nvSpPr>
        <p:spPr>
          <a:xfrm>
            <a:off x="6651192" y="4719456"/>
            <a:ext cx="4307208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可針對單一測項補出 requirement item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也可重整 use case、輸入條件與預期結果</a:t>
            </a:r>
            <a:endParaRPr lang="en-US" sz="2000" dirty="0">
              <a:latin typeface="微軟正黑體"/>
              <a:ea typeface="微軟正黑體"/>
            </a:endParaRPr>
          </a:p>
        </p:txBody>
      </p: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51B79DFC-FDE2-4EAA-91A9-A46F5183A30E}"/>
              </a:ext>
            </a:extLst>
          </p:cNvPr>
          <p:cNvCxnSpPr/>
          <p:nvPr/>
        </p:nvCxnSpPr>
        <p:spPr>
          <a:xfrm>
            <a:off x="5457600" y="1206500"/>
            <a:ext cx="1193592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4A91179D-A221-4A90-8C8E-719B00C63933}"/>
              </a:ext>
            </a:extLst>
          </p:cNvPr>
          <p:cNvCxnSpPr/>
          <p:nvPr/>
        </p:nvCxnSpPr>
        <p:spPr>
          <a:xfrm>
            <a:off x="5508000" y="2527200"/>
            <a:ext cx="1143192" cy="139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8E7C5786-5588-4479-8768-927BF8307848}"/>
              </a:ext>
            </a:extLst>
          </p:cNvPr>
          <p:cNvSpPr/>
          <p:nvPr/>
        </p:nvSpPr>
        <p:spPr>
          <a:xfrm>
            <a:off x="4442400" y="1206500"/>
            <a:ext cx="1404000" cy="4085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C23ACC5-0265-4920-8738-FE16A2EE04AB}"/>
              </a:ext>
            </a:extLst>
          </p:cNvPr>
          <p:cNvSpPr/>
          <p:nvPr/>
        </p:nvSpPr>
        <p:spPr>
          <a:xfrm>
            <a:off x="4219739" y="2042548"/>
            <a:ext cx="1730414" cy="1103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925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研究循環流程（0）-（2）</a:t>
            </a:r>
          </a:p>
        </p:txBody>
      </p:sp>
      <p:sp>
        <p:nvSpPr>
          <p:cNvPr id="6" name="Text 4"/>
          <p:cNvSpPr/>
          <p:nvPr/>
        </p:nvSpPr>
        <p:spPr>
          <a:xfrm>
            <a:off x="11585448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0087" y="1379331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2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2423" y="1351899"/>
            <a:ext cx="5685696" cy="390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根據測試需求與待測物介面，產生測試方案與文件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6663" y="2713807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18" name="Text 16"/>
          <p:cNvSpPr/>
          <p:nvPr/>
        </p:nvSpPr>
        <p:spPr>
          <a:xfrm>
            <a:off x="431094" y="2865680"/>
            <a:ext cx="18105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(2a)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測試 requirements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391" y="3719647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列出測項、範圍與判準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347175" y="2713807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21" name="Text 19"/>
          <p:cNvSpPr/>
          <p:nvPr/>
        </p:nvSpPr>
        <p:spPr>
          <a:xfrm>
            <a:off x="2380696" y="2841173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(2b)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相應 test plan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56903" y="3719647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把 requirement 轉成可執行計畫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157687" y="2713807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24" name="Text 22"/>
          <p:cNvSpPr/>
          <p:nvPr/>
        </p:nvSpPr>
        <p:spPr>
          <a:xfrm>
            <a:off x="4025513" y="2865624"/>
            <a:ext cx="1828585" cy="71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(2c)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GUI coverage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計算方法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67415" y="3719647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一併寫出 coverage 計算 script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01853" y="2713807"/>
            <a:ext cx="1572768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0D8"/>
            </a:solidFill>
            <a:prstDash val="solid"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27" name="Text 25"/>
          <p:cNvSpPr/>
          <p:nvPr/>
        </p:nvSpPr>
        <p:spPr>
          <a:xfrm>
            <a:off x="5638441" y="2871571"/>
            <a:ext cx="2299591" cy="828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(2d)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Selenium / Playwright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與 Python 測試腳本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11581" y="3990553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生成可執行、可重跑的 scripts</a:t>
            </a:r>
            <a:endParaRPr lang="en-US" sz="2000" dirty="0">
              <a:latin typeface="微軟正黑體"/>
              <a:ea typeface="微軟正黑體"/>
            </a:endParaRP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B75F1FC6-9964-4CF9-AFD5-90C09726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2354" y="1653651"/>
            <a:ext cx="4101861" cy="4894558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A1E3C9B3-90FA-4C0F-B69C-C774F61A452B}"/>
              </a:ext>
            </a:extLst>
          </p:cNvPr>
          <p:cNvSpPr/>
          <p:nvPr/>
        </p:nvSpPr>
        <p:spPr>
          <a:xfrm>
            <a:off x="8939632" y="3148174"/>
            <a:ext cx="1730414" cy="1103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DC0B6920-0E73-4142-AF7D-E367C8246EFF}"/>
              </a:ext>
            </a:extLst>
          </p:cNvPr>
          <p:cNvCxnSpPr>
            <a:cxnSpLocks/>
          </p:cNvCxnSpPr>
          <p:nvPr/>
        </p:nvCxnSpPr>
        <p:spPr>
          <a:xfrm flipH="1" flipV="1">
            <a:off x="5968199" y="1547307"/>
            <a:ext cx="2863788" cy="139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484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研究循環流程（3）-（4）</a:t>
            </a:r>
          </a:p>
        </p:txBody>
      </p:sp>
      <p:sp>
        <p:nvSpPr>
          <p:cNvPr id="6" name="Text 4"/>
          <p:cNvSpPr/>
          <p:nvPr/>
        </p:nvSpPr>
        <p:spPr>
          <a:xfrm>
            <a:off x="11669803" y="6550641"/>
            <a:ext cx="457200" cy="17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55555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206500"/>
            <a:ext cx="3822192" cy="5422393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12064" y="1261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3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2688" y="1243583"/>
            <a:ext cx="3227070" cy="458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執行測試方案，收集報告並評估效率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675886" cy="412943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觀察 coverage、錯誤偵測率、test requirements 的達成度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每次執行完畢，都把 evidence 與報告再交給 LLM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請 LLM 先給出整體結論：failure／success／poor／ugly／vulnerable／penetrated／inconclusive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75748" y="1191566"/>
            <a:ext cx="3822192" cy="5371186"/>
          </a:xfrm>
          <a:prstGeom prst="roundRect">
            <a:avLst>
              <a:gd name="adj" fmla="val 191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142232" y="1098811"/>
            <a:ext cx="4524451" cy="44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（3）這一輪測試的主要問題是什麼？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12910" y="1536192"/>
            <a:ext cx="3144337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如果是 failure：要問功能失常內容、可能原因、修正建議、後續 regression scripts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如果是 poor／ugly：要問 UX 問題、可能原因、改善方式、再測腳本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如果是 vulnerable／penetrated：要問弱點／攻擊類別、證據、修補建議與相關腳本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4905583"/>
            <a:ext cx="7165251" cy="1833545"/>
          </a:xfrm>
          <a:prstGeom prst="roundRect">
            <a:avLst>
              <a:gd name="adj" fmla="val 2094"/>
            </a:avLst>
          </a:prstGeom>
          <a:solidFill>
            <a:srgbClr val="FBF8F3"/>
          </a:solidFill>
          <a:ln w="12700">
            <a:solidFill>
              <a:srgbClr val="E6DE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83644" y="5045964"/>
            <a:ext cx="436162" cy="14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691A"/>
                </a:solidFill>
                <a:latin typeface="微軟正黑體"/>
                <a:ea typeface="微軟正黑體"/>
                <a:cs typeface="Noto Sans CJK TC" pitchFamily="34" charset="-120"/>
              </a:rPr>
              <a:t>4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2003" y="4912445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更新 Q，回到步驟（1）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5602" y="5459732"/>
            <a:ext cx="6645953" cy="711703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把本輪結論、原因分析與補強腳本納入 Q</a:t>
            </a:r>
            <a:endParaRPr lang="en-US" sz="2000" dirty="0">
              <a:latin typeface="微軟正黑體"/>
              <a:ea typeface="微軟正黑體"/>
            </a:endParaRP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微軟正黑體"/>
                <a:ea typeface="微軟正黑體"/>
                <a:cs typeface="Noto Sans CJK TC" pitchFamily="34" charset="-120"/>
              </a:rPr>
              <a:t>再回到需求生成與腳本生成，形成持續迭代的研究流程</a:t>
            </a:r>
            <a:endParaRPr lang="en-US" sz="2000" dirty="0">
              <a:latin typeface="微軟正黑體"/>
              <a:ea typeface="微軟正黑體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4B654F77-1E52-4CF0-9025-F165FE632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92" y="1478365"/>
            <a:ext cx="4641711" cy="5091379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2CFFEA79-F960-48D9-B9B1-4C1BF91316E3}"/>
              </a:ext>
            </a:extLst>
          </p:cNvPr>
          <p:cNvSpPr/>
          <p:nvPr/>
        </p:nvSpPr>
        <p:spPr>
          <a:xfrm>
            <a:off x="7485292" y="4912899"/>
            <a:ext cx="4706707" cy="1312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376691-F28B-4042-8FF3-49D653251C75}"/>
              </a:ext>
            </a:extLst>
          </p:cNvPr>
          <p:cNvSpPr/>
          <p:nvPr/>
        </p:nvSpPr>
        <p:spPr>
          <a:xfrm>
            <a:off x="9021211" y="6273317"/>
            <a:ext cx="1944778" cy="607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75986EE-ACC3-4682-AB2D-230BACEC7B16}"/>
              </a:ext>
            </a:extLst>
          </p:cNvPr>
          <p:cNvCxnSpPr>
            <a:cxnSpLocks/>
          </p:cNvCxnSpPr>
          <p:nvPr/>
        </p:nvCxnSpPr>
        <p:spPr>
          <a:xfrm flipH="1" flipV="1">
            <a:off x="7540156" y="1519302"/>
            <a:ext cx="441794" cy="3393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36844385-2CA9-496C-A82F-345F32810F75}"/>
              </a:ext>
            </a:extLst>
          </p:cNvPr>
          <p:cNvCxnSpPr>
            <a:cxnSpLocks/>
          </p:cNvCxnSpPr>
          <p:nvPr/>
        </p:nvCxnSpPr>
        <p:spPr>
          <a:xfrm flipH="1" flipV="1">
            <a:off x="5495925" y="6115536"/>
            <a:ext cx="3508129" cy="636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71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LLM 判讀結果與後續動作</a:t>
            </a:r>
          </a:p>
        </p:txBody>
      </p:sp>
      <p:sp>
        <p:nvSpPr>
          <p:cNvPr id="9" name="Shape 5"/>
          <p:cNvSpPr/>
          <p:nvPr/>
        </p:nvSpPr>
        <p:spPr>
          <a:xfrm>
            <a:off x="841248" y="1234439"/>
            <a:ext cx="3657600" cy="484363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96926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功能與品質面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6926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failure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→ 描述功能失常、推理原因、給修正建議、產生 regression scripts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poor / ugly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→ 描述使用者經驗不佳的型態、推理原因、提出改進方式、再產生追測腳本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success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→ 計算 GUI coverage，並選擇下一輪腳本、預估 coverage 增量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681728" y="1234440"/>
            <a:ext cx="3657600" cy="4843630"/>
          </a:xfrm>
          <a:prstGeom prst="roundRect">
            <a:avLst>
              <a:gd name="adj" fmla="val 2000"/>
            </a:avLst>
          </a:prstGeom>
          <a:solidFill>
            <a:srgbClr val="F9F5E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4809744" y="13258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安全面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09744" y="1636776"/>
            <a:ext cx="3401568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vulnerable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→ 提供弱點類別、相關資料（如 CVE）、存在證據、修補建議；可產生攻擊腳本草案，但先不自動攻擊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penetrated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→ 提供攻擊類別、滲透成功證據、修補建議，並蒐集更多相關證據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522208" y="1234439"/>
            <a:ext cx="2423698" cy="4843629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8650224" y="132588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判讀不明確時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650224" y="1636776"/>
            <a:ext cx="2017776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inconclusive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→ 繼續生成測試腳本，協助判斷特定 requirement item 是否真正達成。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重點不是一次判完，而是讓 oracle 成為會持續追問、持續補測的機制。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849E2F-32DA-4D66-B207-7EE46BED7897}"/>
              </a:ext>
            </a:extLst>
          </p:cNvPr>
          <p:cNvSpPr/>
          <p:nvPr/>
        </p:nvSpPr>
        <p:spPr>
          <a:xfrm>
            <a:off x="11433047" y="6428231"/>
            <a:ext cx="463677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3349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核心概念：證據與判定機制</a:t>
            </a:r>
          </a:p>
        </p:txBody>
      </p:sp>
      <p:sp>
        <p:nvSpPr>
          <p:cNvPr id="9" name="Shape 5"/>
          <p:cNvSpPr/>
          <p:nvPr/>
        </p:nvSpPr>
        <p:spPr>
          <a:xfrm>
            <a:off x="932688" y="1325880"/>
            <a:ext cx="3653712" cy="3678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1060704" y="141732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Evidence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60704" y="1728216"/>
            <a:ext cx="331012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Data collected after test execution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screenshots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logs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network requests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error messages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809744" y="1325880"/>
            <a:ext cx="3017520" cy="3678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4937760" y="141732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Oracle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937760" y="1728216"/>
            <a:ext cx="276148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Mechanism that judges based on evidence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PASS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FAIL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INCONCLUSIVE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1325879"/>
            <a:ext cx="3465576" cy="3678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8266176" y="1417319"/>
            <a:ext cx="3465576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Possible richer outcomes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266176" y="1920457"/>
            <a:ext cx="2898648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UGLY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POOR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VULNERABLE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PENETRATED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EDE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SLOW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46506" y="5170715"/>
            <a:ext cx="10698988" cy="93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Research question: Can an LLM serve as a good Oracle?  Evidence is the proof; Oracle is the judge.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304E3A9-94DE-4D47-A0BF-C177466D1C85}"/>
              </a:ext>
            </a:extLst>
          </p:cNvPr>
          <p:cNvSpPr/>
          <p:nvPr/>
        </p:nvSpPr>
        <p:spPr>
          <a:xfrm>
            <a:off x="11356847" y="6428231"/>
            <a:ext cx="539877" cy="277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8259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整體工作流程</a:t>
            </a:r>
          </a:p>
        </p:txBody>
      </p:sp>
      <p:sp>
        <p:nvSpPr>
          <p:cNvPr id="9" name="Shape 5"/>
          <p:cNvSpPr/>
          <p:nvPr/>
        </p:nvSpPr>
        <p:spPr>
          <a:xfrm>
            <a:off x="713232" y="1325880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6"/>
          <p:cNvSpPr/>
          <p:nvPr/>
        </p:nvSpPr>
        <p:spPr>
          <a:xfrm>
            <a:off x="822960" y="1435608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822960" y="14538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/>
                <a:ea typeface="微軟正黑體"/>
                <a:cs typeface="Noto Sans CJK TC" pitchFamily="34" charset="-120"/>
              </a:rPr>
              <a:t>1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426464" y="1417320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Define requirements (YAML)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426464" y="1709928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Decide what to test.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13232" y="2267712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1"/>
          <p:cNvSpPr/>
          <p:nvPr/>
        </p:nvSpPr>
        <p:spPr>
          <a:xfrm>
            <a:off x="822960" y="2377440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822960" y="239572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/>
                <a:ea typeface="微軟正黑體"/>
                <a:cs typeface="Noto Sans CJK TC" pitchFamily="34" charset="-120"/>
              </a:rPr>
              <a:t>2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426464" y="2359152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Write test scripts (Playwright)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426464" y="2651760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At least one test per requirement.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13232" y="3209544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6"/>
          <p:cNvSpPr/>
          <p:nvPr/>
        </p:nvSpPr>
        <p:spPr>
          <a:xfrm>
            <a:off x="822960" y="3319272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/>
          <p:nvPr/>
        </p:nvSpPr>
        <p:spPr>
          <a:xfrm>
            <a:off x="822960" y="333756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/>
                <a:ea typeface="微軟正黑體"/>
                <a:cs typeface="Noto Sans CJK TC" pitchFamily="34" charset="-120"/>
              </a:rPr>
              <a:t>3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426464" y="3300984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Run tests and collect evidence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426464" y="3593592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Screenshots, logs, network requests.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713232" y="4151376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1"/>
          <p:cNvSpPr/>
          <p:nvPr/>
        </p:nvSpPr>
        <p:spPr>
          <a:xfrm>
            <a:off x="822960" y="4261104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2"/>
          <p:cNvSpPr/>
          <p:nvPr/>
        </p:nvSpPr>
        <p:spPr>
          <a:xfrm>
            <a:off x="822960" y="4279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/>
                <a:ea typeface="微軟正黑體"/>
                <a:cs typeface="Noto Sans CJK TC" pitchFamily="34" charset="-120"/>
              </a:rPr>
              <a:t>4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426464" y="424281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Oracle makes a judgment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1426464" y="4535424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Manual Oracle / LLM Oracle.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713232" y="5093208"/>
            <a:ext cx="52120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6"/>
          <p:cNvSpPr/>
          <p:nvPr/>
        </p:nvSpPr>
        <p:spPr>
          <a:xfrm>
            <a:off x="822960" y="5202936"/>
            <a:ext cx="493776" cy="402336"/>
          </a:xfrm>
          <a:prstGeom prst="roundRect">
            <a:avLst>
              <a:gd name="adj" fmla="val 22727"/>
            </a:avLst>
          </a:prstGeom>
          <a:solidFill>
            <a:srgbClr val="C96A1B"/>
          </a:solidFill>
          <a:ln w="12700">
            <a:solidFill>
              <a:srgbClr val="C96A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7"/>
          <p:cNvSpPr/>
          <p:nvPr/>
        </p:nvSpPr>
        <p:spPr>
          <a:xfrm>
            <a:off x="822960" y="522122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/>
                <a:ea typeface="微軟正黑體"/>
                <a:cs typeface="Noto Sans CJK TC" pitchFamily="34" charset="-120"/>
              </a:rPr>
              <a:t>5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1426464" y="518464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Compare the two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1426464" y="5477256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Agreement, accuracy, error analysis.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6309360" y="132588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1"/>
          <p:cNvSpPr/>
          <p:nvPr/>
        </p:nvSpPr>
        <p:spPr>
          <a:xfrm>
            <a:off x="6437376" y="1417320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Why this matters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6437376" y="1728216"/>
            <a:ext cx="4498848" cy="4078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This assignment is not just about writing tests.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It is about connecting requirements, tests, evidence, oracles, and metrics into one complete workflow.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4A6E2A6-1217-4E29-9792-34C35683F2F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06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你需要做的事情</a:t>
            </a:r>
          </a:p>
        </p:txBody>
      </p:sp>
      <p:sp>
        <p:nvSpPr>
          <p:cNvPr id="9" name="Shape 5"/>
          <p:cNvSpPr/>
          <p:nvPr/>
        </p:nvSpPr>
        <p:spPr>
          <a:xfrm>
            <a:off x="868680" y="1206500"/>
            <a:ext cx="10469880" cy="85953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996696" y="1206500"/>
            <a:ext cx="10213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Get the baseline running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6696" y="1572767"/>
            <a:ext cx="10213848" cy="2926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First verify the environment works.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68680" y="2084832"/>
            <a:ext cx="10469880" cy="7315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996696" y="2176272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Expand to 30-50 requirements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96696" y="2487168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At least 30 requirements in total.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68680" y="2871216"/>
            <a:ext cx="10469880" cy="7863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996696" y="29626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Complete all TODOs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996696" y="3273552"/>
            <a:ext cx="102138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6 Python scripts + tests.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61060" y="3749040"/>
            <a:ext cx="10469880" cy="1219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996696" y="3877056"/>
            <a:ext cx="10213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Generate all output files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96696" y="4279392"/>
            <a:ext cx="10213848" cy="816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Everything under results/ should be produced.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237129" y="5162592"/>
            <a:ext cx="9570071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Not starting from scratch: the TAs already provide a 15-requirement baseline, partial tests, and script skeletons. Your job is to extend and complete them.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91D58CA-4830-4214-BC81-ABCBB0540F2F}"/>
              </a:ext>
            </a:extLst>
          </p:cNvPr>
          <p:cNvSpPr/>
          <p:nvPr/>
        </p:nvSpPr>
        <p:spPr>
          <a:xfrm>
            <a:off x="113424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1173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你會實際操作的檔案</a:t>
            </a:r>
          </a:p>
        </p:txBody>
      </p:sp>
      <p:sp>
        <p:nvSpPr>
          <p:cNvPr id="9" name="Shape 5"/>
          <p:cNvSpPr/>
          <p:nvPr/>
        </p:nvSpPr>
        <p:spPr>
          <a:xfrm>
            <a:off x="896112" y="132588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1024128" y="1417320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student-release/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24128" y="1728216"/>
            <a:ext cx="31272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README.md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docs/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├── project-1-quickstart.md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└── student-todo.md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starter-kit/project1/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├── config/requirements.yaml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├── tests/juiceshop.security.spec.js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├── scripts/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└── results/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480560" y="132588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4608576" y="1417320"/>
            <a:ext cx="2898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What each area means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608576" y="1728216"/>
            <a:ext cx="289864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README.md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Tells you where to start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docs/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Quickstart and TODO list live here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starter-kit/project1/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Where the real work happens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845552" y="1325880"/>
            <a:ext cx="3154680" cy="4160520"/>
          </a:xfrm>
          <a:prstGeom prst="roundRect">
            <a:avLst>
              <a:gd name="adj" fmla="val 2078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7973568" y="141732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What you really do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973568" y="1728216"/>
            <a:ext cx="3264408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Add 15-35 more requirements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Add tests so each requirement has coverage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Finish the TODOs</a:t>
            </a:r>
            <a:endParaRPr lang="en-US" sz="20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Generate the required output files</a:t>
            </a:r>
            <a:endParaRPr lang="en-US" sz="2000" dirty="0">
              <a:latin typeface="微軟正黑體"/>
              <a:ea typeface="微軟正黑體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0748C275-F3BD-46B9-90D5-EFDEBF65F887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104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需要繳交的內容</a:t>
            </a:r>
          </a:p>
        </p:txBody>
      </p:sp>
      <p:sp>
        <p:nvSpPr>
          <p:cNvPr id="9" name="Shape 5"/>
          <p:cNvSpPr/>
          <p:nvPr/>
        </p:nvSpPr>
        <p:spPr>
          <a:xfrm>
            <a:off x="868680" y="1325879"/>
            <a:ext cx="3657600" cy="488666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935915" y="1417319"/>
            <a:ext cx="3840480" cy="5024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Requirements &amp; tests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6696" y="1919731"/>
            <a:ext cx="3401568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30-50 requirements (YAML + JSON)</a:t>
            </a:r>
            <a:endParaRPr lang="en-US" sz="28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Tests and evidence for each requirement</a:t>
            </a:r>
            <a:endParaRPr lang="en-US" sz="28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Requirements, tests, and evidence should appear as one complete set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709160" y="1325880"/>
            <a:ext cx="3063240" cy="4654296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4837176" y="1417320"/>
            <a:ext cx="2807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Oracle outputs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37176" y="1728215"/>
            <a:ext cx="2828546" cy="44434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Manual Oracle (B0 / B1 + cross-validation)</a:t>
            </a:r>
            <a:endParaRPr lang="en-US" sz="28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LLM Oracle (B0 / B1 / B2)</a:t>
            </a:r>
            <a:endParaRPr lang="en-US" sz="28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Keep both human judgments and LLM judgments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73568" y="1325880"/>
            <a:ext cx="3063240" cy="4654296"/>
          </a:xfrm>
          <a:prstGeom prst="roundRect">
            <a:avLst>
              <a:gd name="adj" fmla="val 2174"/>
            </a:avLst>
          </a:prstGeom>
          <a:solidFill>
            <a:srgbClr val="FCF7F1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8101584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Analysis &amp; report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01584" y="1728216"/>
            <a:ext cx="3108960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Metrics: Cohen's kappa, confusion matrix</a:t>
            </a:r>
            <a:endParaRPr lang="en-US" sz="28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Prompt experiment (at least 2 variants)</a:t>
            </a:r>
            <a:endParaRPr lang="en-US" sz="28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proposal.md + report.md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D9AA09A-7339-45F0-A237-5F036320CCAA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9605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時程規劃</a:t>
            </a:r>
          </a:p>
        </p:txBody>
      </p:sp>
      <p:sp>
        <p:nvSpPr>
          <p:cNvPr id="9" name="Shape 5"/>
          <p:cNvSpPr/>
          <p:nvPr/>
        </p:nvSpPr>
        <p:spPr>
          <a:xfrm>
            <a:off x="1097280" y="3337560"/>
            <a:ext cx="9784080" cy="0"/>
          </a:xfrm>
          <a:prstGeom prst="line">
            <a:avLst/>
          </a:prstGeom>
          <a:noFill/>
          <a:ln w="1905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6"/>
          <p:cNvSpPr/>
          <p:nvPr/>
        </p:nvSpPr>
        <p:spPr>
          <a:xfrm>
            <a:off x="1755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1184760" y="2285139"/>
            <a:ext cx="1702440" cy="804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Week 6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005840" y="3657599"/>
            <a:ext cx="2029968" cy="94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Project 1 due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041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1"/>
          <p:cNvSpPr/>
          <p:nvPr/>
        </p:nvSpPr>
        <p:spPr>
          <a:xfrm>
            <a:off x="3794760" y="2331720"/>
            <a:ext cx="1482840" cy="6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Week 8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217104" y="3822694"/>
            <a:ext cx="1941696" cy="8046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Project 2 Proposal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32764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6080760" y="2331719"/>
            <a:ext cx="1482840" cy="74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Week 10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258520" y="3708394"/>
            <a:ext cx="2284560" cy="103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Project 3 Cross-target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887968" y="32644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/>
          <p:nvPr/>
        </p:nvSpPr>
        <p:spPr>
          <a:xfrm>
            <a:off x="8641080" y="2331719"/>
            <a:ext cx="1942920" cy="685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Week 17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784838" y="3584453"/>
            <a:ext cx="3655404" cy="1317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Project 4 Final Paper &amp; Presentation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097280" y="5166359"/>
            <a:ext cx="10469880" cy="113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66666"/>
                </a:solidFill>
                <a:latin typeface="微軟正黑體"/>
                <a:ea typeface="微軟正黑體"/>
                <a:cs typeface="Noto Sans CJK TC" pitchFamily="34" charset="-120"/>
              </a:rPr>
              <a:t>Most important date: Project 1 is due on 2026/04/03 at 23:59.</a:t>
            </a:r>
            <a:endParaRPr lang="en-US" sz="2800" dirty="0">
              <a:latin typeface="微軟正黑體"/>
              <a:ea typeface="微軟正黑體"/>
            </a:endParaRP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DB7ED406-1AB9-449E-AE14-08445A03EF09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766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計畫一完成標準</a:t>
            </a:r>
          </a:p>
        </p:txBody>
      </p:sp>
      <p:sp>
        <p:nvSpPr>
          <p:cNvPr id="9" name="Shape 5"/>
          <p:cNvSpPr/>
          <p:nvPr/>
        </p:nvSpPr>
        <p:spPr>
          <a:xfrm>
            <a:off x="914400" y="1325880"/>
            <a:ext cx="9985248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1042416" y="1417320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baseline runs successfully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42416" y="1728216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914400" y="2139696"/>
            <a:ext cx="10241280" cy="76809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1042416" y="2231136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at least 30 requirements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042416" y="2542032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Recommended: go straight to 30-50.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14400" y="2953512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1042416" y="3044952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tests completed and evidence generated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42416" y="3355848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14400" y="3767328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1042416" y="3858768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oracle output files exist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042416" y="4169664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914400" y="4581144"/>
            <a:ext cx="102412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1042416" y="4672584"/>
            <a:ext cx="9985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✓ metrics / agreement / confusion matrix exist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042416" y="4983480"/>
            <a:ext cx="99852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040608" y="5424119"/>
            <a:ext cx="7289712" cy="88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Practical rule of thumb: the baseline runs, the TODOs are completed, and the required output files exist.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B407A770-C404-460E-8AB1-DCDFCDD15E85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3265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評分標準（5%）</a:t>
            </a:r>
          </a:p>
        </p:txBody>
      </p:sp>
      <p:sp>
        <p:nvSpPr>
          <p:cNvPr id="9" name="Shape 5"/>
          <p:cNvSpPr/>
          <p:nvPr/>
        </p:nvSpPr>
        <p:spPr>
          <a:xfrm>
            <a:off x="896112" y="141732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1024128" y="150876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40%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24128" y="1819656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2423160" y="1417320"/>
            <a:ext cx="8455511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2551176" y="1508760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Runnable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551176" y="1819656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npm run test:python all pass | all results/*.json generated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96112" y="257860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1024128" y="2670048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35%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24128" y="2980944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2423160" y="2578608"/>
            <a:ext cx="8915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5"/>
          <p:cNvSpPr/>
          <p:nvPr/>
        </p:nvSpPr>
        <p:spPr>
          <a:xfrm>
            <a:off x="2551176" y="2670048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TODO completion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2551176" y="2980944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All TODOs in 6 Python scripts | test scripts completed (30-50)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96112" y="3739896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1024128" y="3831336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25%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024128" y="4142232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24" name="Shape 20"/>
          <p:cNvSpPr/>
          <p:nvPr/>
        </p:nvSpPr>
        <p:spPr>
          <a:xfrm>
            <a:off x="2423160" y="3739896"/>
            <a:ext cx="8915400" cy="113450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/>
          <p:nvPr/>
        </p:nvSpPr>
        <p:spPr>
          <a:xfrm>
            <a:off x="2551176" y="3831336"/>
            <a:ext cx="8659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Requirement / test quality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2551176" y="4142232"/>
            <a:ext cx="86593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30-50 correctly formatted requirements | Tests + evidence for each one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3632687" y="5120639"/>
            <a:ext cx="6721547" cy="554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666666"/>
                </a:solidFill>
                <a:latin typeface="微軟正黑體"/>
                <a:ea typeface="微軟正黑體"/>
                <a:cs typeface="Noto Sans CJK TC" pitchFamily="34" charset="-120"/>
              </a:rPr>
              <a:t>Priority: runnable &gt; complete &gt; polished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6C2B9712-7D5D-43BD-B87F-D70660A9BA9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</a:rPr>
              <a:t>21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8883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32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建議先閱讀的檔案</a:t>
            </a:r>
          </a:p>
        </p:txBody>
      </p:sp>
      <p:sp>
        <p:nvSpPr>
          <p:cNvPr id="9" name="Shape 5"/>
          <p:cNvSpPr/>
          <p:nvPr/>
        </p:nvSpPr>
        <p:spPr>
          <a:xfrm>
            <a:off x="868680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996696" y="14173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1. docs/project-1-spec.md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25566" y="2315046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Why we do this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How it is graded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Deliverables and baseline definitions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425696" y="1325880"/>
            <a:ext cx="3713902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4553712" y="1417320"/>
            <a:ext cx="3429000" cy="384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2. docs/student-todo.md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68147" y="2290572"/>
            <a:ext cx="3429000" cy="366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Where every TODO is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What each TODO asks for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Which tests and verdicts to add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982712" y="1325880"/>
            <a:ext cx="2909406" cy="41605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8110728" y="1417319"/>
            <a:ext cx="4143672" cy="384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3. docs/project-1-quickstart.md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157527" y="2284117"/>
            <a:ext cx="2734591" cy="31565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Execution order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Common commands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What to run first and next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135773" y="5740416"/>
            <a:ext cx="10535400" cy="497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If you do not know where to start, read these three files before touching the code.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E922515-07ED-4D08-A283-37F1A8B440BE}"/>
              </a:ext>
            </a:extLst>
          </p:cNvPr>
          <p:cNvSpPr/>
          <p:nvPr/>
        </p:nvSpPr>
        <p:spPr>
          <a:xfrm>
            <a:off x="113568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6558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1524000" y="381000"/>
            <a:ext cx="914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TW" altLang="en-US" sz="2800" dirty="0">
                <a:solidFill>
                  <a:srgbClr val="2222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project-1-spec.md vs student-todo.md</a:t>
            </a:r>
          </a:p>
        </p:txBody>
      </p:sp>
      <p:sp>
        <p:nvSpPr>
          <p:cNvPr id="9" name="Shape 5"/>
          <p:cNvSpPr/>
          <p:nvPr/>
        </p:nvSpPr>
        <p:spPr>
          <a:xfrm>
            <a:off x="91440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/>
          <p:cNvSpPr/>
          <p:nvPr/>
        </p:nvSpPr>
        <p:spPr>
          <a:xfrm>
            <a:off x="104241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project-1-spec.md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04241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Why we do it / How it is graded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research objective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deliverables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grading criteria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baselines and metrics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Worth skimming: Objective, Required Deliverables, Baseline Definitions, Evaluation Criteria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446520" y="146304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9"/>
          <p:cNvSpPr/>
          <p:nvPr/>
        </p:nvSpPr>
        <p:spPr>
          <a:xfrm>
            <a:off x="6574536" y="1554480"/>
            <a:ext cx="4544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96A1B"/>
                </a:solidFill>
                <a:latin typeface="微軟正黑體"/>
                <a:ea typeface="微軟正黑體"/>
                <a:cs typeface="Noto Sans CJK TC" pitchFamily="34" charset="-120"/>
              </a:rPr>
              <a:t>student-todo.md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74536" y="1865376"/>
            <a:ext cx="4544568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What to do / Where to do it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TODO list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work items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tests and verdicts to add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• prompt variants to run</a:t>
            </a: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endParaRPr lang="en-US" sz="2400" dirty="0">
              <a:latin typeface="微軟正黑體"/>
              <a:ea typeface="微軟正黑體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This is your task list.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914400" y="5623561"/>
            <a:ext cx="10690412" cy="9509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22222"/>
                </a:solidFill>
                <a:latin typeface="微軟正黑體"/>
                <a:ea typeface="微軟正黑體"/>
                <a:cs typeface="Noto Sans CJK TC" pitchFamily="34" charset="-120"/>
              </a:rPr>
              <a:t>Suggested order: 1. Read the spec to understand the goal  →  2. Read the TODO list and start working  →  3. Use quickstart to run the commands</a:t>
            </a:r>
            <a:endParaRPr lang="en-US" sz="2400" dirty="0">
              <a:latin typeface="微軟正黑體"/>
              <a:ea typeface="微軟正黑體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EA4F816-4EF8-42DB-BC98-0943F8D68215}"/>
              </a:ext>
            </a:extLst>
          </p:cNvPr>
          <p:cNvSpPr/>
          <p:nvPr/>
        </p:nvSpPr>
        <p:spPr>
          <a:xfrm>
            <a:off x="11364048" y="6428231"/>
            <a:ext cx="374904" cy="210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2000" dirty="0">
                <a:solidFill>
                  <a:srgbClr val="77777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17147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489191507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6EA4E7-86F7-4444-87EB-FFD7EABFB292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2767</Words>
  <Application>Microsoft Office PowerPoint</Application>
  <PresentationFormat>寬螢幕</PresentationFormat>
  <Paragraphs>351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Noto Sans CJK TC</vt:lpstr>
      <vt:lpstr>微軟正黑體</vt:lpstr>
      <vt:lpstr>Arial</vt:lpstr>
      <vt:lpstr>Calibri</vt:lpstr>
      <vt:lpstr>Office Theme [1774489191507]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&amp; Security Checking - Project 1</dc:title>
  <dc:subject>Project 1 deck revision</dc:subject>
  <dc:creator>OpenAI</dc:creator>
  <cp:lastModifiedBy>Farn Wang</cp:lastModifiedBy>
  <cp:revision>40</cp:revision>
  <dcterms:created xsi:type="dcterms:W3CDTF">2026-03-25T08:44:36Z</dcterms:created>
  <dcterms:modified xsi:type="dcterms:W3CDTF">2026-03-27T04:21:49Z</dcterms:modified>
</cp:coreProperties>
</file>