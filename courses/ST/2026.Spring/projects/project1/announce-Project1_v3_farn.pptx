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4" r:id="rId5"/>
    <p:sldId id="259" r:id="rId6"/>
    <p:sldId id="277" r:id="rId7"/>
    <p:sldId id="278" r:id="rId8"/>
    <p:sldId id="262" r:id="rId9"/>
    <p:sldId id="275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529" autoAdjust="0"/>
  </p:normalViewPr>
  <p:slideViewPr>
    <p:cSldViewPr snapToGrid="0" snapToObjects="1">
      <p:cViewPr varScale="1">
        <p:scale>
          <a:sx n="51" d="100"/>
          <a:sy n="51" d="100"/>
        </p:scale>
        <p:origin x="1164" y="36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368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這學期我們要研究一個問題：LLM</a:t>
            </a:r>
            <a:r>
              <a:rPr lang="en-US" altLang="zh-TW" dirty="0"/>
              <a:t> </a:t>
            </a:r>
            <a:r>
              <a:rPr lang="en-US" altLang="zh-TW" dirty="0" err="1"/>
              <a:t>能不能取代人工判斷測試結果</a:t>
            </a:r>
            <a:r>
              <a:rPr lang="en-US" altLang="zh-TW" dirty="0"/>
              <a:t>？
</a:t>
            </a:r>
            <a:r>
              <a:rPr lang="en-US" altLang="zh-TW" dirty="0" err="1"/>
              <a:t>也就是說，當一個測試跑完之後，LLM</a:t>
            </a:r>
            <a:r>
              <a:rPr lang="en-US" altLang="zh-TW" dirty="0"/>
              <a:t> </a:t>
            </a:r>
            <a:r>
              <a:rPr lang="en-US" altLang="zh-TW" dirty="0" err="1"/>
              <a:t>能不能根據執行結果，自動判斷它是</a:t>
            </a:r>
            <a:r>
              <a:rPr lang="en-US" altLang="zh-TW" dirty="0"/>
              <a:t> pass </a:t>
            </a:r>
            <a:r>
              <a:rPr lang="en-US" altLang="zh-TW" dirty="0" err="1"/>
              <a:t>還是</a:t>
            </a:r>
            <a:r>
              <a:rPr lang="en-US" altLang="zh-TW" dirty="0"/>
              <a:t> </a:t>
            </a:r>
            <a:r>
              <a:rPr lang="en-US" altLang="zh-TW" dirty="0" err="1"/>
              <a:t>fail，而不是每次都靠人一個一個看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傳統做法是，測試跑完之後，人工去看結果，再判斷 pass 或 fail。
這樣的問題很明顯：很花時間、測試一多就看不完、很難擴展。
所以這門課想做的事情，是把這一段交給 LLM。
也就是：寫測試、執行測試，然後讓 LLM 去看 evidence，幫我們做判斷。
但問題在這裡：LLM 到底準不準？會不會亂猜？這就是我們要研究的核心。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研究循環的前半段從輸入資料開始。我們先給定 htmls、user requirements、test requirements、既有測試腳本等文件，並設定一個初始的 test oracle 模型 Q。接著第一步是根據 Q 去問 LLM：能不能提出新的測試需求，或針對某一測項補強 requirement item。第二步是根據這些需求與介面，請 LLM 展開成測試文件，包括 test requirements、test plan、GUI coverage 的計算方式，以及 Selenium 或 Playwright 的 Python 測試腳本。
[Sources]
- User-provided content in this conversation.
- User-uploaded deck: announce-Project1.pptx
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接下來進入循環後半段。我們執行上述測試方案，收集測試報告，並評估 coverage、錯誤偵測率，以及 test requirements 的達成程度。每次執行完，都把 evidence 與報告再交給 LLM，請它做判讀。如果有新的發現，就把本輪結果、原因分析與補強腳本更新回 Q，然後再回到前面的需求生成與腳本生成，形成持續迭代的研究流程。
[Sources]
- User-provided content in this conversation.
- User-uploaded deck: announce-Project1.pptx
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這學期總共有 4 個 Project。
Project 1 是基礎，所有組先做同一件事，把 baseline 和基本流程建立起來。
到 Project 2 之後，各組才會開始做不同的改進方法。
Project 3 會做跨 target 驗證，測試你們的方法有沒有泛化能力。
Project 4 才是整合成完整論文。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01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在講流程之前，先解釋兩個核心概念</a:t>
            </a:r>
            <a:r>
              <a:rPr lang="en-US" altLang="zh-TW" dirty="0"/>
              <a:t>。
</a:t>
            </a:r>
            <a:r>
              <a:rPr lang="en-US" altLang="zh-TW" dirty="0" err="1"/>
              <a:t>Evidence（證據）是測試執行後收集的資料，包括截圖、log、網路請求、錯誤訊息。這些是判斷的依據</a:t>
            </a:r>
            <a:r>
              <a:rPr lang="en-US" altLang="zh-TW" dirty="0"/>
              <a:t>。
</a:t>
            </a:r>
            <a:r>
              <a:rPr lang="en-US" altLang="zh-TW" dirty="0" err="1"/>
              <a:t>Oracle（預言機）是看這些</a:t>
            </a:r>
            <a:r>
              <a:rPr lang="en-US" altLang="zh-TW" dirty="0"/>
              <a:t> </a:t>
            </a:r>
            <a:r>
              <a:rPr lang="en-US" altLang="zh-TW" dirty="0" err="1"/>
              <a:t>evidence，判斷測試</a:t>
            </a:r>
            <a:r>
              <a:rPr lang="en-US" altLang="zh-TW" dirty="0"/>
              <a:t> pass </a:t>
            </a:r>
            <a:r>
              <a:rPr lang="en-US" altLang="zh-TW" dirty="0" err="1"/>
              <a:t>還是</a:t>
            </a:r>
            <a:r>
              <a:rPr lang="en-US" altLang="zh-TW" dirty="0"/>
              <a:t> fail </a:t>
            </a:r>
            <a:r>
              <a:rPr lang="en-US" altLang="zh-TW" dirty="0" err="1"/>
              <a:t>的機制。可以是人工判斷，也可以是</a:t>
            </a:r>
            <a:r>
              <a:rPr lang="en-US" altLang="zh-TW" dirty="0"/>
              <a:t> LLM </a:t>
            </a:r>
            <a:r>
              <a:rPr lang="en-US" altLang="zh-TW" dirty="0" err="1"/>
              <a:t>判斷</a:t>
            </a:r>
            <a:r>
              <a:rPr lang="en-US" altLang="zh-TW" dirty="0"/>
              <a:t>。
</a:t>
            </a:r>
            <a:r>
              <a:rPr lang="en-US" altLang="zh-TW" dirty="0" err="1"/>
              <a:t>我們這學期要研究的核心問題就是：LLM</a:t>
            </a:r>
            <a:r>
              <a:rPr lang="en-US" altLang="zh-TW" dirty="0"/>
              <a:t> </a:t>
            </a:r>
            <a:r>
              <a:rPr lang="en-US" altLang="zh-TW" dirty="0" err="1"/>
              <a:t>能不能當一個好的</a:t>
            </a:r>
            <a:r>
              <a:rPr lang="en-US" altLang="zh-TW" dirty="0"/>
              <a:t> Oracle？
</a:t>
            </a:r>
            <a:r>
              <a:rPr lang="en-US" altLang="zh-TW" dirty="0" err="1"/>
              <a:t>可以這樣想：Evidence</a:t>
            </a:r>
            <a:r>
              <a:rPr lang="en-US" altLang="zh-TW" dirty="0"/>
              <a:t> </a:t>
            </a:r>
            <a:r>
              <a:rPr lang="en-US" altLang="zh-TW" dirty="0" err="1"/>
              <a:t>是犯罪現場的證據，Oracle</a:t>
            </a:r>
            <a:r>
              <a:rPr lang="en-US" altLang="zh-TW" dirty="0"/>
              <a:t> </a:t>
            </a:r>
            <a:r>
              <a:rPr lang="en-US" altLang="zh-TW" dirty="0" err="1"/>
              <a:t>是法官；我們研究的是</a:t>
            </a:r>
            <a:r>
              <a:rPr lang="en-US" altLang="zh-TW" dirty="0"/>
              <a:t> LLM </a:t>
            </a:r>
            <a:r>
              <a:rPr lang="en-US" altLang="zh-TW" dirty="0" err="1"/>
              <a:t>能不能當一個好法官</a:t>
            </a:r>
            <a:r>
              <a:rPr lang="en-US" altLang="zh-TW" dirty="0"/>
              <a:t>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整個</a:t>
            </a:r>
            <a:r>
              <a:rPr lang="en-US" altLang="zh-TW" dirty="0"/>
              <a:t> Project 1 </a:t>
            </a:r>
            <a:r>
              <a:rPr lang="en-US" altLang="zh-TW" dirty="0" err="1"/>
              <a:t>的流程是這樣</a:t>
            </a:r>
            <a:r>
              <a:rPr lang="en-US" altLang="zh-TW" dirty="0"/>
              <a:t>：
1. </a:t>
            </a:r>
            <a:r>
              <a:rPr lang="en-US" altLang="zh-TW" dirty="0" err="1"/>
              <a:t>先定義需求：要測什麼</a:t>
            </a:r>
            <a:r>
              <a:rPr lang="en-US" altLang="zh-TW" dirty="0"/>
              <a:t>。
2. 寫 Playwright </a:t>
            </a:r>
            <a:r>
              <a:rPr lang="en-US" altLang="zh-TW" dirty="0" err="1"/>
              <a:t>測試腳本</a:t>
            </a:r>
            <a:r>
              <a:rPr lang="en-US" altLang="zh-TW" dirty="0"/>
              <a:t>。
3. </a:t>
            </a:r>
            <a:r>
              <a:rPr lang="en-US" altLang="zh-TW" dirty="0" err="1"/>
              <a:t>執行測試，收集</a:t>
            </a:r>
            <a:r>
              <a:rPr lang="en-US" altLang="zh-TW" dirty="0"/>
              <a:t> Evidence。
4. 用 Oracle </a:t>
            </a:r>
            <a:r>
              <a:rPr lang="en-US" altLang="zh-TW" dirty="0" err="1"/>
              <a:t>判斷結果：你們手動看</a:t>
            </a:r>
            <a:r>
              <a:rPr lang="en-US" altLang="zh-TW" dirty="0"/>
              <a:t> </a:t>
            </a:r>
            <a:r>
              <a:rPr lang="en-US" altLang="zh-TW" dirty="0" err="1"/>
              <a:t>evidence，或讓</a:t>
            </a:r>
            <a:r>
              <a:rPr lang="en-US" altLang="zh-TW" dirty="0"/>
              <a:t> LLM 看 evidence </a:t>
            </a:r>
            <a:r>
              <a:rPr lang="en-US" altLang="zh-TW" dirty="0" err="1"/>
              <a:t>自動判斷</a:t>
            </a:r>
            <a:r>
              <a:rPr lang="en-US" altLang="zh-TW" dirty="0"/>
              <a:t>。
5. </a:t>
            </a:r>
            <a:r>
              <a:rPr lang="en-US" altLang="zh-TW" dirty="0" err="1"/>
              <a:t>比較兩者差異：看</a:t>
            </a:r>
            <a:r>
              <a:rPr lang="en-US" altLang="zh-TW" dirty="0"/>
              <a:t> LLM Oracle </a:t>
            </a:r>
            <a:r>
              <a:rPr lang="en-US" altLang="zh-TW" dirty="0" err="1"/>
              <a:t>判斷得準不準</a:t>
            </a:r>
            <a:r>
              <a:rPr lang="en-US" altLang="zh-TW" dirty="0"/>
              <a:t>。
</a:t>
            </a:r>
            <a:r>
              <a:rPr lang="en-US" altLang="zh-TW" dirty="0" err="1"/>
              <a:t>重點是</a:t>
            </a:r>
            <a:r>
              <a:rPr lang="en-US" altLang="zh-TW" dirty="0"/>
              <a:t> Evidence </a:t>
            </a:r>
            <a:r>
              <a:rPr lang="en-US" altLang="zh-TW" dirty="0" err="1"/>
              <a:t>是證據，Oracle</a:t>
            </a:r>
            <a:r>
              <a:rPr lang="en-US" altLang="zh-TW" dirty="0"/>
              <a:t> </a:t>
            </a:r>
            <a:r>
              <a:rPr lang="en-US" altLang="zh-TW" dirty="0" err="1"/>
              <a:t>是判斷機制，LLM</a:t>
            </a:r>
            <a:r>
              <a:rPr lang="en-US" altLang="zh-TW" dirty="0"/>
              <a:t> </a:t>
            </a:r>
            <a:r>
              <a:rPr lang="en-US" altLang="zh-TW" dirty="0" err="1"/>
              <a:t>不是幫你寫作業，而是被研究的對象</a:t>
            </a:r>
            <a:r>
              <a:rPr lang="en-US" altLang="zh-TW" dirty="0"/>
              <a:t>。
</a:t>
            </a:r>
            <a:r>
              <a:rPr lang="en-US" altLang="zh-TW" dirty="0" err="1"/>
              <a:t>這份作業不是單純寫測試，也不是單純呼叫模型，而是把</a:t>
            </a:r>
            <a:r>
              <a:rPr lang="en-US" altLang="zh-TW" dirty="0"/>
              <a:t> </a:t>
            </a:r>
            <a:r>
              <a:rPr lang="en-US" altLang="zh-TW" dirty="0" err="1"/>
              <a:t>requirement、test、evidence、oracle</a:t>
            </a:r>
            <a:r>
              <a:rPr lang="en-US" altLang="zh-TW" dirty="0"/>
              <a:t> 和 metrics </a:t>
            </a:r>
            <a:r>
              <a:rPr lang="en-US" altLang="zh-TW" dirty="0" err="1"/>
              <a:t>串成一條完整流程</a:t>
            </a:r>
            <a:r>
              <a:rPr lang="en-US" altLang="zh-TW" dirty="0"/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你們這次要做的事情可以濃縮成四件事</a:t>
            </a:r>
            <a:r>
              <a:rPr lang="en-US" altLang="zh-TW" dirty="0"/>
              <a:t>：
1. 把 baseline </a:t>
            </a:r>
            <a:r>
              <a:rPr lang="en-US" altLang="zh-TW" dirty="0" err="1"/>
              <a:t>跑起來</a:t>
            </a:r>
            <a:r>
              <a:rPr lang="en-US" altLang="zh-TW" dirty="0"/>
              <a:t>。
2. </a:t>
            </a:r>
            <a:r>
              <a:rPr lang="en-US" altLang="zh-TW" dirty="0" err="1"/>
              <a:t>擴展到</a:t>
            </a:r>
            <a:r>
              <a:rPr lang="en-US" altLang="zh-TW" dirty="0"/>
              <a:t> 30-50 </a:t>
            </a:r>
            <a:r>
              <a:rPr lang="en-US" altLang="zh-TW" dirty="0" err="1"/>
              <a:t>個需求</a:t>
            </a:r>
            <a:r>
              <a:rPr lang="en-US" altLang="zh-TW" dirty="0"/>
              <a:t>。
3. </a:t>
            </a:r>
            <a:r>
              <a:rPr lang="en-US" altLang="zh-TW" dirty="0" err="1"/>
              <a:t>完成所有</a:t>
            </a:r>
            <a:r>
              <a:rPr lang="en-US" altLang="zh-TW" dirty="0"/>
              <a:t> TODO。
4. </a:t>
            </a:r>
            <a:r>
              <a:rPr lang="en-US" altLang="zh-TW" dirty="0" err="1"/>
              <a:t>產生所有輸出檔案</a:t>
            </a:r>
            <a:r>
              <a:rPr lang="en-US" altLang="zh-TW" dirty="0"/>
              <a:t>。
</a:t>
            </a:r>
            <a:r>
              <a:rPr lang="en-US" altLang="zh-TW" dirty="0" err="1"/>
              <a:t>重點是不是從零開始。助教已經先幫你們做好</a:t>
            </a:r>
            <a:r>
              <a:rPr lang="en-US" altLang="zh-TW" dirty="0"/>
              <a:t> 15 </a:t>
            </a:r>
            <a:r>
              <a:rPr lang="en-US" altLang="zh-TW" dirty="0" err="1"/>
              <a:t>個需求的</a:t>
            </a:r>
            <a:r>
              <a:rPr lang="en-US" altLang="zh-TW" dirty="0"/>
              <a:t> </a:t>
            </a:r>
            <a:r>
              <a:rPr lang="en-US" altLang="zh-TW" dirty="0" err="1"/>
              <a:t>baseline，還有一部分測試和腳本骨架。你們的工作是擴展和補完，不是整份重寫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README </a:t>
            </a:r>
            <a:r>
              <a:rPr lang="en-US" altLang="zh-TW" dirty="0" err="1"/>
              <a:t>告訴你從哪裡開始，docs</a:t>
            </a:r>
            <a:r>
              <a:rPr lang="en-US" altLang="zh-TW" dirty="0"/>
              <a:t>/ </a:t>
            </a:r>
            <a:r>
              <a:rPr lang="en-US" altLang="zh-TW" dirty="0" err="1"/>
              <a:t>裡面有</a:t>
            </a:r>
            <a:r>
              <a:rPr lang="en-US" altLang="zh-TW" dirty="0"/>
              <a:t> </a:t>
            </a:r>
            <a:r>
              <a:rPr lang="en-US" altLang="zh-TW" dirty="0" err="1"/>
              <a:t>quickstart</a:t>
            </a:r>
            <a:r>
              <a:rPr lang="en-US" altLang="zh-TW" dirty="0"/>
              <a:t> 和 TODO </a:t>
            </a:r>
            <a:r>
              <a:rPr lang="en-US" altLang="zh-TW" dirty="0" err="1"/>
              <a:t>清單，starter-kit</a:t>
            </a:r>
            <a:r>
              <a:rPr lang="en-US" altLang="zh-TW" dirty="0"/>
              <a:t>/project1/ </a:t>
            </a:r>
            <a:r>
              <a:rPr lang="en-US" altLang="zh-TW" dirty="0" err="1"/>
              <a:t>是你真正要動手的地方</a:t>
            </a:r>
            <a:r>
              <a:rPr lang="en-US" altLang="zh-TW" dirty="0"/>
              <a:t>。
</a:t>
            </a:r>
            <a:r>
              <a:rPr lang="en-US" altLang="zh-TW" dirty="0" err="1"/>
              <a:t>你們實際上就是在這個框架上做三件事</a:t>
            </a:r>
            <a:r>
              <a:rPr lang="en-US" altLang="zh-TW" dirty="0"/>
              <a:t>：
- 加 15–35 </a:t>
            </a:r>
            <a:r>
              <a:rPr lang="en-US" altLang="zh-TW" dirty="0" err="1"/>
              <a:t>個需求（從</a:t>
            </a:r>
            <a:r>
              <a:rPr lang="en-US" altLang="zh-TW" dirty="0"/>
              <a:t> 15 </a:t>
            </a:r>
            <a:r>
              <a:rPr lang="en-US" altLang="zh-TW" dirty="0" err="1"/>
              <a:t>擴展到</a:t>
            </a:r>
            <a:r>
              <a:rPr lang="en-US" altLang="zh-TW" dirty="0"/>
              <a:t> 30–50）
- </a:t>
            </a:r>
            <a:r>
              <a:rPr lang="en-US" altLang="zh-TW" dirty="0" err="1"/>
              <a:t>補測試（每個需求至少一個測試</a:t>
            </a:r>
            <a:r>
              <a:rPr lang="en-US" altLang="zh-TW" dirty="0"/>
              <a:t>）
- </a:t>
            </a:r>
            <a:r>
              <a:rPr lang="en-US" altLang="zh-TW" dirty="0" err="1"/>
              <a:t>完成</a:t>
            </a:r>
            <a:r>
              <a:rPr lang="en-US" altLang="zh-TW" dirty="0"/>
              <a:t> TODO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要交的東西可以分成幾大類</a:t>
            </a:r>
            <a:r>
              <a:rPr lang="en-US" altLang="zh-TW" dirty="0"/>
              <a:t>：
1. 需求和測試：30-50 </a:t>
            </a:r>
            <a:r>
              <a:rPr lang="en-US" altLang="zh-TW" dirty="0" err="1"/>
              <a:t>個需求，每個需求都要有測試和</a:t>
            </a:r>
            <a:r>
              <a:rPr lang="en-US" altLang="zh-TW" dirty="0"/>
              <a:t> evidence。
2. Oracle </a:t>
            </a:r>
            <a:r>
              <a:rPr lang="en-US" altLang="zh-TW" dirty="0" err="1"/>
              <a:t>輸出：Manual</a:t>
            </a:r>
            <a:r>
              <a:rPr lang="en-US" altLang="zh-TW" dirty="0"/>
              <a:t> Oracle 和 LLM Oracle </a:t>
            </a:r>
            <a:r>
              <a:rPr lang="en-US" altLang="zh-TW" dirty="0" err="1"/>
              <a:t>的判斷結果</a:t>
            </a:r>
            <a:r>
              <a:rPr lang="en-US" altLang="zh-TW" dirty="0"/>
              <a:t>。
3. </a:t>
            </a:r>
            <a:r>
              <a:rPr lang="en-US" altLang="zh-TW" dirty="0" err="1"/>
              <a:t>Metrics：Cohen's</a:t>
            </a:r>
            <a:r>
              <a:rPr lang="en-US" altLang="zh-TW" dirty="0"/>
              <a:t> </a:t>
            </a:r>
            <a:r>
              <a:rPr lang="en-US" altLang="zh-TW" dirty="0" err="1"/>
              <a:t>kappa、confusion</a:t>
            </a:r>
            <a:r>
              <a:rPr lang="en-US" altLang="zh-TW" dirty="0"/>
              <a:t> matrix。
4. Prompt </a:t>
            </a:r>
            <a:r>
              <a:rPr lang="en-US" altLang="zh-TW" dirty="0" err="1"/>
              <a:t>experiment：至少</a:t>
            </a:r>
            <a:r>
              <a:rPr lang="en-US" altLang="zh-TW" dirty="0"/>
              <a:t> 2 個 prompt </a:t>
            </a:r>
            <a:r>
              <a:rPr lang="en-US" altLang="zh-TW" dirty="0" err="1"/>
              <a:t>變體的比較</a:t>
            </a:r>
            <a:r>
              <a:rPr lang="en-US" altLang="zh-TW" dirty="0"/>
              <a:t>。
5. 報告：proposal.md 和 report.md。
</a:t>
            </a:r>
            <a:r>
              <a:rPr lang="en-US" altLang="zh-TW" dirty="0" err="1"/>
              <a:t>詳細的</a:t>
            </a:r>
            <a:r>
              <a:rPr lang="en-US" altLang="zh-TW" dirty="0"/>
              <a:t> 13 項 deliverables </a:t>
            </a:r>
            <a:r>
              <a:rPr lang="en-US" altLang="zh-TW" dirty="0" err="1"/>
              <a:t>清單在</a:t>
            </a:r>
            <a:r>
              <a:rPr lang="en-US" altLang="zh-TW" dirty="0"/>
              <a:t> spec </a:t>
            </a:r>
            <a:r>
              <a:rPr lang="en-US" altLang="zh-TW" dirty="0" err="1"/>
              <a:t>裡面，這裡不一一列舉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時間上最重要的是</a:t>
            </a:r>
            <a:r>
              <a:rPr lang="en-US" altLang="zh-TW" dirty="0"/>
              <a:t> Project 1 </a:t>
            </a:r>
            <a:r>
              <a:rPr lang="en-US" altLang="zh-TW" dirty="0" err="1"/>
              <a:t>的截止時間，也就是</a:t>
            </a:r>
            <a:r>
              <a:rPr lang="en-US" altLang="zh-TW" dirty="0"/>
              <a:t> Week 6，2026 年 4 月 3 </a:t>
            </a:r>
            <a:r>
              <a:rPr lang="en-US" altLang="zh-TW" dirty="0" err="1"/>
              <a:t>日晚上</a:t>
            </a:r>
            <a:r>
              <a:rPr lang="en-US" altLang="zh-TW" dirty="0"/>
              <a:t> 11:59。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這份文件是整個</a:t>
            </a:r>
            <a:r>
              <a:rPr lang="en-US" altLang="zh-TW" dirty="0"/>
              <a:t> Project 1 </a:t>
            </a:r>
            <a:r>
              <a:rPr lang="en-US" altLang="zh-TW" dirty="0" err="1"/>
              <a:t>的規格書</a:t>
            </a:r>
            <a:r>
              <a:rPr lang="en-US" altLang="zh-TW" dirty="0"/>
              <a:t>。
它告訴你：為什麼要做這個作業、要交什麼、怎麼評分、B0/B1/B2 </a:t>
            </a:r>
            <a:r>
              <a:rPr lang="en-US" altLang="zh-TW" dirty="0" err="1"/>
              <a:t>是什麼、什麼是</a:t>
            </a:r>
            <a:r>
              <a:rPr lang="en-US" altLang="zh-TW" dirty="0"/>
              <a:t> Cohen's </a:t>
            </a:r>
            <a:r>
              <a:rPr lang="en-US" altLang="zh-TW" dirty="0" err="1"/>
              <a:t>kappa、什麼是</a:t>
            </a:r>
            <a:r>
              <a:rPr lang="en-US" altLang="zh-TW" dirty="0"/>
              <a:t> confusion </a:t>
            </a:r>
            <a:r>
              <a:rPr lang="en-US" altLang="zh-TW" dirty="0" err="1"/>
              <a:t>matrix、什麼是</a:t>
            </a:r>
            <a:r>
              <a:rPr lang="en-US" altLang="zh-TW" dirty="0"/>
              <a:t> prompt experiment。
</a:t>
            </a:r>
            <a:r>
              <a:rPr lang="en-US" altLang="zh-TW" dirty="0" err="1"/>
              <a:t>如果要做螢幕錄影示範，可以快速捲到</a:t>
            </a:r>
            <a:r>
              <a:rPr lang="en-US" altLang="zh-TW" dirty="0"/>
              <a:t> </a:t>
            </a:r>
            <a:r>
              <a:rPr lang="en-US" altLang="zh-TW" dirty="0" err="1"/>
              <a:t>Objective、Required</a:t>
            </a:r>
            <a:r>
              <a:rPr lang="en-US" altLang="zh-TW" dirty="0"/>
              <a:t> </a:t>
            </a:r>
            <a:r>
              <a:rPr lang="en-US" altLang="zh-TW" dirty="0" err="1"/>
              <a:t>Deliverables、Baseline</a:t>
            </a:r>
            <a:r>
              <a:rPr lang="en-US" altLang="zh-TW" dirty="0"/>
              <a:t> </a:t>
            </a:r>
            <a:r>
              <a:rPr lang="en-US" altLang="zh-TW" dirty="0" err="1"/>
              <a:t>Definitions、Evaluation</a:t>
            </a:r>
            <a:r>
              <a:rPr lang="en-US" altLang="zh-TW" dirty="0"/>
              <a:t> Criteria </a:t>
            </a:r>
            <a:r>
              <a:rPr lang="en-US" altLang="zh-TW" dirty="0" err="1"/>
              <a:t>這幾段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這一頁的核心訊息很簡單：能跑，最重要</a:t>
            </a:r>
            <a:r>
              <a:rPr lang="en-US" altLang="zh-TW" dirty="0"/>
              <a:t>。
</a:t>
            </a:r>
            <a:r>
              <a:rPr lang="en-US" altLang="zh-TW" dirty="0" err="1"/>
              <a:t>如果你的專案不能執行，後面就沒有什麼好談的</a:t>
            </a:r>
            <a:r>
              <a:rPr lang="en-US" altLang="zh-TW" dirty="0"/>
              <a:t>。
</a:t>
            </a:r>
            <a:r>
              <a:rPr lang="en-US" altLang="zh-TW" dirty="0" err="1"/>
              <a:t>所以評分順序可以直接記成：能跑，大於完整，大於漂亮</a:t>
            </a:r>
            <a:r>
              <a:rPr lang="en-US" altLang="zh-TW" dirty="0"/>
              <a:t>。
</a:t>
            </a:r>
            <a:r>
              <a:rPr lang="en-US" altLang="zh-TW" dirty="0" err="1"/>
              <a:t>也就是說，先確保</a:t>
            </a:r>
            <a:r>
              <a:rPr lang="en-US" altLang="zh-TW" dirty="0"/>
              <a:t> baseline </a:t>
            </a:r>
            <a:r>
              <a:rPr lang="en-US" altLang="zh-TW" dirty="0" err="1"/>
              <a:t>和輸出檔都能正常產生，再去追求更好的</a:t>
            </a:r>
            <a:r>
              <a:rPr lang="en-US" altLang="zh-TW" dirty="0"/>
              <a:t> requirement </a:t>
            </a:r>
            <a:r>
              <a:rPr lang="en-US" altLang="zh-TW" dirty="0" err="1"/>
              <a:t>品質和測試品質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這份文件是你的工作清單</a:t>
            </a:r>
            <a:r>
              <a:rPr lang="en-US" altLang="zh-TW" dirty="0"/>
              <a:t>。
</a:t>
            </a:r>
            <a:r>
              <a:rPr lang="en-US" altLang="zh-TW" dirty="0" err="1"/>
              <a:t>它告訴你：所有</a:t>
            </a:r>
            <a:r>
              <a:rPr lang="en-US" altLang="zh-TW" dirty="0"/>
              <a:t> TODO </a:t>
            </a:r>
            <a:r>
              <a:rPr lang="en-US" altLang="zh-TW" dirty="0" err="1"/>
              <a:t>在哪裡、每個</a:t>
            </a:r>
            <a:r>
              <a:rPr lang="en-US" altLang="zh-TW" dirty="0"/>
              <a:t> TODO </a:t>
            </a:r>
            <a:r>
              <a:rPr lang="en-US" altLang="zh-TW" dirty="0" err="1"/>
              <a:t>要做什麼、要寫幾個測試、要補幾個</a:t>
            </a:r>
            <a:r>
              <a:rPr lang="en-US" altLang="zh-TW" dirty="0"/>
              <a:t> </a:t>
            </a:r>
            <a:r>
              <a:rPr lang="en-US" altLang="zh-TW" dirty="0" err="1"/>
              <a:t>verdict、要做幾個</a:t>
            </a:r>
            <a:r>
              <a:rPr lang="en-US" altLang="zh-TW" dirty="0"/>
              <a:t> prompt variant。
</a:t>
            </a:r>
            <a:r>
              <a:rPr lang="en-US" altLang="zh-TW" dirty="0" err="1"/>
              <a:t>這份文件不是教你怎麼寫程式，而是告訴你要補哪些空格</a:t>
            </a:r>
            <a:r>
              <a:rPr lang="en-US" altLang="zh-TW" dirty="0"/>
              <a:t>。
</a:t>
            </a:r>
            <a:r>
              <a:rPr lang="en-US" altLang="zh-TW" dirty="0" err="1"/>
              <a:t>如果你想知道怎麼跑，請看</a:t>
            </a:r>
            <a:r>
              <a:rPr lang="en-US" altLang="zh-TW" dirty="0"/>
              <a:t> project-1-quickstart.md。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如果你不知道從哪裡開始，先看這三份文件就夠了</a:t>
            </a:r>
            <a:r>
              <a:rPr lang="en-US" altLang="zh-TW" dirty="0"/>
              <a:t>。
</a:t>
            </a:r>
            <a:r>
              <a:rPr lang="en-US" altLang="zh-TW" dirty="0" err="1"/>
              <a:t>第一份是</a:t>
            </a:r>
            <a:r>
              <a:rPr lang="en-US" altLang="zh-TW" dirty="0"/>
              <a:t> </a:t>
            </a:r>
            <a:r>
              <a:rPr lang="en-US" altLang="zh-TW" dirty="0" err="1"/>
              <a:t>spec，告訴你為什麼做這個作業、怎麼評分</a:t>
            </a:r>
            <a:r>
              <a:rPr lang="en-US" altLang="zh-TW" dirty="0"/>
              <a:t>。
</a:t>
            </a:r>
            <a:r>
              <a:rPr lang="en-US" altLang="zh-TW" dirty="0" err="1"/>
              <a:t>第二份是</a:t>
            </a:r>
            <a:r>
              <a:rPr lang="en-US" altLang="zh-TW" dirty="0"/>
              <a:t> TODO </a:t>
            </a:r>
            <a:r>
              <a:rPr lang="en-US" altLang="zh-TW" dirty="0" err="1"/>
              <a:t>清單，告訴你要補哪些程式碼</a:t>
            </a:r>
            <a:r>
              <a:rPr lang="en-US" altLang="zh-TW" dirty="0"/>
              <a:t>。
</a:t>
            </a:r>
            <a:r>
              <a:rPr lang="en-US" altLang="zh-TW" dirty="0" err="1"/>
              <a:t>第三份是操作順序，告訴你指令怎麼跑</a:t>
            </a:r>
            <a:r>
              <a:rPr lang="en-US" altLang="zh-TW" dirty="0"/>
              <a:t>。
</a:t>
            </a:r>
            <a:r>
              <a:rPr lang="en-US" altLang="zh-TW" dirty="0" err="1"/>
              <a:t>很多問題其實不是不會寫程式，而是沒有先照文件走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1719" y="6099933"/>
            <a:ext cx="856881" cy="4837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800">
                <a:solidFill>
                  <a:srgbClr val="666666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2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7239F8D-3AC7-4DBB-98B7-1BFACF7253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11292" y="65784"/>
            <a:ext cx="1498557" cy="144403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3858977-7835-4F8F-83D3-F4418C74F95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151" y="65784"/>
            <a:ext cx="1286039" cy="129277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394F1547-25FC-433A-BF5B-9276A3EAE62E}"/>
              </a:ext>
            </a:extLst>
          </p:cNvPr>
          <p:cNvSpPr/>
          <p:nvPr/>
        </p:nvSpPr>
        <p:spPr>
          <a:xfrm>
            <a:off x="0" y="1874519"/>
            <a:ext cx="12192000" cy="3328101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6000" dirty="0"/>
              <a:t>  </a:t>
            </a:r>
            <a:r>
              <a:rPr lang="en-US" altLang="zh-TW" sz="6000" dirty="0"/>
              <a:t>Software Testing &amp; Security Checking</a:t>
            </a:r>
            <a:r>
              <a:rPr lang="zh-TW" altLang="en-US" sz="6000" dirty="0"/>
              <a:t> </a:t>
            </a:r>
            <a:endParaRPr lang="en-US" altLang="zh-TW" sz="6000" dirty="0"/>
          </a:p>
          <a:p>
            <a:pPr algn="ctr"/>
            <a:r>
              <a:rPr sz="6000" dirty="0"/>
              <a:t>Project </a:t>
            </a:r>
            <a:r>
              <a:rPr lang="en-US" altLang="zh-TW" sz="6000" dirty="0"/>
              <a:t>1</a:t>
            </a:r>
            <a:endParaRPr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43891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本學期核心問題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543033" y="6167628"/>
            <a:ext cx="1009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</a:rPr>
              <a:t>2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868680" y="1261872"/>
            <a:ext cx="64008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78992" y="1700784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Can LLMs replace human judgment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 test results?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1078992" y="26974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我們想研究：測試執行完之後，LLM 能不能根據 evidence 自動判斷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PASS / FAIL / INCONCLUSIVE，而不需要每次都由人工逐一閱讀結果。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7543800" y="1261872"/>
            <a:ext cx="3794760" cy="1078992"/>
          </a:xfrm>
          <a:prstGeom prst="roundRect">
            <a:avLst>
              <a:gd name="adj" fmla="val 6780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71816" y="1353312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研究焦點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671816" y="1664208"/>
            <a:ext cx="35387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在這裡不是單純寫作業工具，而是被研究的 test oracle。</a:t>
            </a:r>
            <a:endParaRPr lang="en-US" sz="1420" dirty="0"/>
          </a:p>
        </p:txBody>
      </p:sp>
      <p:sp>
        <p:nvSpPr>
          <p:cNvPr id="15" name="Shape 11"/>
          <p:cNvSpPr/>
          <p:nvPr/>
        </p:nvSpPr>
        <p:spPr>
          <a:xfrm>
            <a:off x="7543800" y="2505456"/>
            <a:ext cx="3794760" cy="1078992"/>
          </a:xfrm>
          <a:prstGeom prst="roundRect">
            <a:avLst>
              <a:gd name="adj" fmla="val 6780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71816" y="2596896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判斷依據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671816" y="2907792"/>
            <a:ext cx="35387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輸入包含 screenshots、logs、network requests、error messages 等 evidence。</a:t>
            </a:r>
            <a:endParaRPr lang="en-US" sz="1420" dirty="0"/>
          </a:p>
        </p:txBody>
      </p:sp>
      <p:sp>
        <p:nvSpPr>
          <p:cNvPr id="18" name="Shape 14"/>
          <p:cNvSpPr/>
          <p:nvPr/>
        </p:nvSpPr>
        <p:spPr>
          <a:xfrm>
            <a:off x="7543800" y="3749040"/>
            <a:ext cx="3794760" cy="1078992"/>
          </a:xfrm>
          <a:prstGeom prst="roundRect">
            <a:avLst>
              <a:gd name="adj" fmla="val 6780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671816" y="3840480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核心挑戰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7671816" y="4151376"/>
            <a:ext cx="35387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速度與可擴展性可能提升，但判斷是否準確、穩定、可解釋，才是研究重點。</a:t>
            </a:r>
            <a:endParaRPr lang="en-US" sz="142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C9DA610-F2D7-48DC-813E-1CBB871BA233}"/>
              </a:ext>
            </a:extLst>
          </p:cNvPr>
          <p:cNvSpPr txBox="1"/>
          <p:nvPr/>
        </p:nvSpPr>
        <p:spPr>
          <a:xfrm>
            <a:off x="2674032" y="5136479"/>
            <a:ext cx="78690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Let the model automatically judge PASS / FAIL from test execution results, instead of having humans inspect them one by one every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研究規劃總覽：三個重要計畫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41248" y="117043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本學期要把 LLM 放進測試流程前段，從需求生成一路串到腳本與 oracle。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841248" y="1591056"/>
            <a:ext cx="3456432" cy="3291840"/>
          </a:xfrm>
          <a:prstGeom prst="roundRect">
            <a:avLst>
              <a:gd name="adj" fmla="val 2222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69264" y="168249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計畫一：Test Requirement 指定與生成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63168" y="2237328"/>
            <a:ext cx="3200400" cy="3182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從 htmls、user requirements、既有文件出發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讓 LLM 提出測試需求與測項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把 use case / requirement item 明確化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為後續 test plan 與 coverage 奠定基礎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370832" y="1591056"/>
            <a:ext cx="3456432" cy="329184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98848" y="1682496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計畫二：Test Script 的 LLM 生成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98848" y="2083824"/>
            <a:ext cx="3200400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依 test requirement 與介面產生測試方案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產出 Selenium / Playwright / Python scripts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一併設計 test plan 與 coverage 計算方法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形成可執行、可重跑的自動化測試資產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7900416" y="1591056"/>
            <a:ext cx="3456432" cy="3291840"/>
          </a:xfrm>
          <a:prstGeom prst="roundRect">
            <a:avLst>
              <a:gd name="adj" fmla="val 2222"/>
            </a:avLst>
          </a:prstGeom>
          <a:solidFill>
            <a:srgbClr val="F9F5E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028432" y="1682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計畫三：Test Oracle 自動化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8028432" y="1993392"/>
            <a:ext cx="3200400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執行腳本後收集 evidence 與報告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讓 LLM 自動判讀 success / failure / poor / vulnerable 等結論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說明原因、提出修正建議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再生成下一輪追測腳本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847088" y="5246352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 generation  →  Script generation  →  Oracle automation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149840" cy="667512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sz="2800" dirty="0"/>
              <a:t>Traditional Approach vs Our Approach</a:t>
            </a:r>
          </a:p>
        </p:txBody>
      </p:sp>
      <p:sp>
        <p:nvSpPr>
          <p:cNvPr id="3" name="Shape 1"/>
          <p:cNvSpPr/>
          <p:nvPr/>
        </p:nvSpPr>
        <p:spPr>
          <a:xfrm>
            <a:off x="868680" y="1143000"/>
            <a:ext cx="10424160" cy="2057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CFC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1069848" y="1307592"/>
            <a:ext cx="1002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Traditional Approach</a:t>
            </a:r>
          </a:p>
        </p:txBody>
      </p:sp>
      <p:sp>
        <p:nvSpPr>
          <p:cNvPr id="5" name="Text 3"/>
          <p:cNvSpPr/>
          <p:nvPr/>
        </p:nvSpPr>
        <p:spPr>
          <a:xfrm>
            <a:off x="1069848" y="1655064"/>
            <a:ext cx="10021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Write tests  -&gt;  Run  -&gt;  Human review  -&gt;  Decide</a:t>
            </a:r>
          </a:p>
        </p:txBody>
      </p:sp>
      <p:sp>
        <p:nvSpPr>
          <p:cNvPr id="6" name="Text 4"/>
          <p:cNvSpPr/>
          <p:nvPr/>
        </p:nvSpPr>
        <p:spPr>
          <a:xfrm>
            <a:off x="2586446" y="2618652"/>
            <a:ext cx="8706394" cy="54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i="1" dirty="0">
                <a:solidFill>
                  <a:schemeClr val="accent2">
                    <a:lumMod val="75000"/>
                  </a:schemeClr>
                </a:solidFill>
              </a:rPr>
              <a:t>Slow | Not scalable</a:t>
            </a:r>
            <a:r>
              <a:rPr lang="en-US" sz="2800" i="1" dirty="0">
                <a:solidFill>
                  <a:schemeClr val="accent2">
                    <a:lumMod val="75000"/>
                  </a:schemeClr>
                </a:solidFill>
              </a:rPr>
              <a:t> | Inconsistent | high-maintenance cost</a:t>
            </a:r>
            <a:endParaRPr sz="28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10424160" cy="2057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69848" y="3822192"/>
            <a:ext cx="1002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Our Approach</a:t>
            </a:r>
          </a:p>
        </p:txBody>
      </p:sp>
      <p:sp>
        <p:nvSpPr>
          <p:cNvPr id="9" name="Text 7"/>
          <p:cNvSpPr/>
          <p:nvPr/>
        </p:nvSpPr>
        <p:spPr>
          <a:xfrm>
            <a:off x="1069848" y="4169664"/>
            <a:ext cx="10021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Write tests  -&gt;  Run  -&gt;  LLM review  -&gt;  Auto-judge</a:t>
            </a:r>
          </a:p>
        </p:txBody>
      </p:sp>
      <p:sp>
        <p:nvSpPr>
          <p:cNvPr id="10" name="Text 8"/>
          <p:cNvSpPr/>
          <p:nvPr/>
        </p:nvSpPr>
        <p:spPr>
          <a:xfrm>
            <a:off x="6621517" y="5028569"/>
            <a:ext cx="5207876" cy="732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Faster | Scalable | But accurate?</a:t>
            </a: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74EF475C-2E40-48D3-A1E2-8DDEC61906C2}"/>
              </a:ext>
            </a:extLst>
          </p:cNvPr>
          <p:cNvSpPr/>
          <p:nvPr/>
        </p:nvSpPr>
        <p:spPr>
          <a:xfrm>
            <a:off x="113784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傳統方式的主要缺點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41248" y="1325879"/>
            <a:ext cx="3840480" cy="3864685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9264" y="141732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Traditional flow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69264" y="1728216"/>
            <a:ext cx="3584448" cy="3118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文件 / 需求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人工整理測試需求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人工寫 test scripts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執行測試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人工看報告再判斷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956048" y="1325880"/>
            <a:ext cx="6382512" cy="3611880"/>
          </a:xfrm>
          <a:prstGeom prst="roundRect">
            <a:avLst>
              <a:gd name="adj" fmla="val 2025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84064" y="14173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this becomes a bottleneck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84064" y="1728216"/>
            <a:ext cx="6126480" cy="3118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測試需求整理與測項指定高度仰賴人工經驗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測試腳本撰寫、維護與 coverage 計算成本高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測試一多就難以擴展，速度慢且重工多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人工判讀結果容易不一致，也不易標準化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對 failure、UX 問題與 security issue 的後續追查不成系統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很難快速迭代下一輪測試與知識移轉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6AE732A-6A96-42FB-852B-4486B2260150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73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A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91440" y="292608"/>
            <a:ext cx="119329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840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研究循環流程（0）-（2）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1005840" cy="0"/>
          </a:xfrm>
          <a:prstGeom prst="line">
            <a:avLst/>
          </a:prstGeom>
          <a:noFill/>
          <a:ln w="12700">
            <a:solidFill>
              <a:srgbClr val="C969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8544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55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2608" y="987552"/>
            <a:ext cx="3611880" cy="5431536"/>
          </a:xfrm>
          <a:prstGeom prst="roundRect">
            <a:avLst>
              <a:gd name="adj" fmla="val 2025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710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243584"/>
            <a:ext cx="2368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輸入資料與初始 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" y="1673352"/>
            <a:ext cx="3465576" cy="21579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給定 htmls、user requirements、test requirements、既有測試腳本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建立初始 test oracle 模型 Q = {} 或某個初值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把現有文件先整理成 LLM 可以引用的上下文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" y="349300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497580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根據 Q 詢問 LLM：可否產生測試需求？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5592" y="4434840"/>
            <a:ext cx="2907792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可針對單一測項補出 requirement item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也可重整 use case、輸入條件與預期結果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096512" y="1051560"/>
            <a:ext cx="7726680" cy="4206240"/>
          </a:xfrm>
          <a:prstGeom prst="roundRect">
            <a:avLst>
              <a:gd name="adj" fmla="val 1739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2710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18304" y="12435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根據測試需求與待測物介面，產生測試方案與文件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462272" y="18288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99339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(2a)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 requirements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2834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列出測項、範圍與判準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72784" y="18288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199339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(2b)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相應 test plan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82512" y="2834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requirement 轉成可執行計畫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83296" y="18288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3024" y="199339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(2c)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GUI coverage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計算方法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93024" y="2834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一併寫出 coverage 計算 script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893808" y="18288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03536" y="199339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(2d)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Selenium / Playwright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 Python 測試腳本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03536" y="2834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生成可執行、可重跑的 scripts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73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A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91440" y="292608"/>
            <a:ext cx="119329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840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研究循環流程（3）-（4）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1005840" cy="0"/>
          </a:xfrm>
          <a:prstGeom prst="line">
            <a:avLst/>
          </a:prstGeom>
          <a:noFill/>
          <a:ln w="12700">
            <a:solidFill>
              <a:srgbClr val="C969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8544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55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3822192" cy="4297680"/>
          </a:xfrm>
          <a:prstGeom prst="roundRect">
            <a:avLst>
              <a:gd name="adj" fmla="val 191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618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12435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執行測試方案，收集報告並評估效率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200400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觀察 coverage、錯誤偵測率、test requirements 的達成度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每次執行完畢，都把 evidence 與報告再交給 LLM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 LLM 先給出整體結論：failure／success／poor／ugly／vulnerable／penetrated／inconclusive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15968" y="1051560"/>
            <a:ext cx="3822192" cy="4297680"/>
          </a:xfrm>
          <a:prstGeom prst="roundRect">
            <a:avLst>
              <a:gd name="adj" fmla="val 191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（3a）這一輪測試的主要問題是什麼？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35424" y="1719072"/>
            <a:ext cx="3163824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如果是 failure：要問功能失常內容、可能原因、修正建議、後續 regression scripts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如果是 poor／ugly：要問 UX 問題、可能原因、改善方式、再測腳本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如果是 vulnerable／penetrated：要問弱點／攻擊類別、證據、修補建議與相關腳本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02752" y="1051560"/>
            <a:ext cx="3493008" cy="4297680"/>
          </a:xfrm>
          <a:prstGeom prst="roundRect">
            <a:avLst>
              <a:gd name="adj" fmla="val 209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2618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906256" y="12435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更新 Q，回到步驟（1）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58784" y="1755648"/>
            <a:ext cx="274320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把本輪結論、原因分析與補強腳本納入 Q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再回到需求生成與腳本生成，形成持續迭代的研究流程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938680" y="550468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Run → Collect evidence → LLM judges → Update Q → Next round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判讀結果與後續動作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41248" y="1234439"/>
            <a:ext cx="3657600" cy="484363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9264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功能與品質面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69264" y="1636776"/>
            <a:ext cx="340156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failure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描述功能失常、推理原因、給修正建議、產生 regression scripts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poor / ugly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描述使用者經驗不佳的型態、推理原因、提出改進方式、再產生追測腳本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success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計算 GUI coverage，並選擇下一輪腳本、預估 coverage 增量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681728" y="1234440"/>
            <a:ext cx="3657600" cy="4843630"/>
          </a:xfrm>
          <a:prstGeom prst="roundRect">
            <a:avLst>
              <a:gd name="adj" fmla="val 2000"/>
            </a:avLst>
          </a:prstGeom>
          <a:solidFill>
            <a:srgbClr val="F9F5E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09744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安全面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809744" y="1636776"/>
            <a:ext cx="340156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vulnerable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提供弱點類別、相關資料（如 CVE）、存在證據、修補建議；可產生攻擊腳本草案，但先不自動攻擊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penetrated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提供攻擊類別、滲透成功證據、修補建議，並蒐集更多相關證據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8522208" y="1234439"/>
            <a:ext cx="2834640" cy="4843629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650224" y="132588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判讀不明確時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8650224" y="1636776"/>
            <a:ext cx="257860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inconclusive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繼續生成測試腳本，協助判斷特定 requirement item 是否真正達成。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重點不是一次判完，而是讓 oracle 成為會持續追問、持續補測的機制。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2780880" y="6270091"/>
            <a:ext cx="844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因此 test oracle 不只是判 PASS / FAIL，而是驅動後續分析、修補與再測試。</a:t>
            </a:r>
            <a:endParaRPr lang="en-US" sz="20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1849E2F-32DA-4D66-B207-7EE46BED7897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78070" y="438912"/>
            <a:ext cx="9018741" cy="51206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r>
              <a:rPr sz="3200" dirty="0"/>
              <a:t>How Projects 1-4 Connect</a:t>
            </a:r>
          </a:p>
        </p:txBody>
      </p:sp>
      <p:sp>
        <p:nvSpPr>
          <p:cNvPr id="6" name="Text 4"/>
          <p:cNvSpPr/>
          <p:nvPr/>
        </p:nvSpPr>
        <p:spPr>
          <a:xfrm>
            <a:off x="1652453" y="1109037"/>
            <a:ext cx="98872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1 (Week 6)</a:t>
            </a:r>
            <a:endParaRPr lang="en-US" sz="2400" dirty="0"/>
          </a:p>
          <a:p>
            <a:r>
              <a:rPr lang="en-US" altLang="zh-TW" sz="2400" dirty="0"/>
              <a:t>Build the foundation | All teams start from the same baseline </a:t>
            </a:r>
          </a:p>
          <a:p>
            <a:r>
              <a:rPr lang="en-US" altLang="zh-TW" sz="2400" dirty="0"/>
              <a:t>| test oracle (simple crash) | use case definition in test requirement proposal</a:t>
            </a:r>
          </a:p>
        </p:txBody>
      </p:sp>
      <p:sp>
        <p:nvSpPr>
          <p:cNvPr id="10" name="Text 8"/>
          <p:cNvSpPr/>
          <p:nvPr/>
        </p:nvSpPr>
        <p:spPr>
          <a:xfrm>
            <a:off x="1652452" y="2389196"/>
            <a:ext cx="9887271" cy="1097281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2 (Week 8)</a:t>
            </a:r>
            <a:endParaRPr lang="en-US" sz="2400" dirty="0"/>
          </a:p>
          <a:p>
            <a:r>
              <a:rPr lang="en-US" altLang="zh-TW" sz="2400" dirty="0"/>
              <a:t>Propose improvements | Teams begin to diverge| Test oracle (page errors) </a:t>
            </a:r>
          </a:p>
          <a:p>
            <a:r>
              <a:rPr lang="en-US" altLang="zh-TW" sz="2400" dirty="0"/>
              <a:t>| Test requirement refinement (with LLM)</a:t>
            </a:r>
          </a:p>
        </p:txBody>
      </p:sp>
      <p:sp>
        <p:nvSpPr>
          <p:cNvPr id="14" name="Text 12"/>
          <p:cNvSpPr/>
          <p:nvPr/>
        </p:nvSpPr>
        <p:spPr>
          <a:xfrm>
            <a:off x="1635035" y="3721607"/>
            <a:ext cx="10085827" cy="109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3 (Week 10)</a:t>
            </a:r>
            <a:endParaRPr lang="en-US" sz="2400" dirty="0"/>
          </a:p>
          <a:p>
            <a:r>
              <a:rPr lang="en-US" altLang="zh-TW" sz="2400" dirty="0"/>
              <a:t>Cross-target validation  | Test oracle (action errors) </a:t>
            </a:r>
          </a:p>
          <a:p>
            <a:r>
              <a:rPr lang="en-US" altLang="zh-TW" sz="2400" dirty="0"/>
              <a:t>| Test requirement refinement (with LLM) | Test script generation (with LLM)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4809856C-8EFF-487D-988D-144731EC0735}"/>
              </a:ext>
            </a:extLst>
          </p:cNvPr>
          <p:cNvGrpSpPr/>
          <p:nvPr/>
        </p:nvGrpSpPr>
        <p:grpSpPr>
          <a:xfrm>
            <a:off x="967958" y="1109037"/>
            <a:ext cx="310896" cy="4828032"/>
            <a:chOff x="2587752" y="1115568"/>
            <a:chExt cx="310896" cy="4828032"/>
          </a:xfrm>
        </p:grpSpPr>
        <p:sp>
          <p:nvSpPr>
            <p:cNvPr id="3" name="Shape 1"/>
            <p:cNvSpPr/>
            <p:nvPr/>
          </p:nvSpPr>
          <p:spPr>
            <a:xfrm>
              <a:off x="2743200" y="1417320"/>
              <a:ext cx="0" cy="4526280"/>
            </a:xfrm>
            <a:prstGeom prst="line">
              <a:avLst/>
            </a:prstGeom>
            <a:noFill/>
            <a:ln w="1524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hape 2"/>
            <p:cNvSpPr/>
            <p:nvPr/>
          </p:nvSpPr>
          <p:spPr>
            <a:xfrm>
              <a:off x="2587752" y="1115568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8" name="Shape 6"/>
            <p:cNvSpPr/>
            <p:nvPr/>
          </p:nvSpPr>
          <p:spPr>
            <a:xfrm>
              <a:off x="2587752" y="2331720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2" name="Shape 10"/>
            <p:cNvSpPr/>
            <p:nvPr/>
          </p:nvSpPr>
          <p:spPr>
            <a:xfrm>
              <a:off x="2587752" y="3547872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6" name="Shape 14"/>
            <p:cNvSpPr/>
            <p:nvPr/>
          </p:nvSpPr>
          <p:spPr>
            <a:xfrm>
              <a:off x="2587752" y="4764024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</p:grpSp>
      <p:sp>
        <p:nvSpPr>
          <p:cNvPr id="18" name="Text 16"/>
          <p:cNvSpPr/>
          <p:nvPr/>
        </p:nvSpPr>
        <p:spPr>
          <a:xfrm>
            <a:off x="1635035" y="5172890"/>
            <a:ext cx="10006147" cy="1097281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4 (Week 17)</a:t>
            </a:r>
            <a:endParaRPr lang="en-US" sz="2400" dirty="0"/>
          </a:p>
          <a:p>
            <a:r>
              <a:rPr lang="en-US" altLang="zh-TW" sz="2400" dirty="0"/>
              <a:t>Full paper | Integrate all results and conclusions </a:t>
            </a:r>
          </a:p>
          <a:p>
            <a:r>
              <a:rPr lang="en-US" altLang="zh-TW" sz="2400" dirty="0"/>
              <a:t>| Test requirement refinement (with LLM)  | </a:t>
            </a:r>
            <a:r>
              <a:rPr lang="en-US" altLang="zh-TW" sz="2400"/>
              <a:t>Test oracle </a:t>
            </a:r>
            <a:r>
              <a:rPr lang="en-US" altLang="zh-TW" sz="2400" dirty="0"/>
              <a:t>(</a:t>
            </a:r>
            <a:r>
              <a:rPr lang="en-US" altLang="zh-TW" sz="2400"/>
              <a:t>use cases </a:t>
            </a:r>
            <a:r>
              <a:rPr lang="en-US" altLang="zh-TW" sz="2400" dirty="0"/>
              <a:t>&gt; </a:t>
            </a:r>
            <a:r>
              <a:rPr lang="en-US" altLang="zh-TW" sz="2400"/>
              <a:t>2 actions) </a:t>
            </a:r>
            <a:endParaRPr lang="en-US" altLang="zh-TW" sz="24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ECD10D8-BA42-4E15-9CC9-2CB244477DD8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1653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Core Concepts: Evidence and Oracle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32688" y="132588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60704" y="141732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Evidence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60704" y="1728216"/>
            <a:ext cx="331012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 collected after test execution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screenshots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logs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network requests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error messages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809744" y="1325880"/>
            <a:ext cx="3017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37760" y="141732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937760" y="1728216"/>
            <a:ext cx="276148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Mechanism that judges based on evidence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PASS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FAIL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INCONCLUSIVE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8138160" y="1325880"/>
            <a:ext cx="346557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66176" y="1417319"/>
            <a:ext cx="3465576" cy="38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Possible richer outcomes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266176" y="1920457"/>
            <a:ext cx="289864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UGLY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POOR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VULNERABLE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PENETRATED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EDE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SLOW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2882520" y="5120640"/>
            <a:ext cx="821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Research question: Can an LLM serve as a good Oracle?  Evidence is the proof; Oracle is the judge.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9304E3A9-94DE-4D47-A0BF-C177466D1C85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Overall Workflow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13232" y="1325880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1435608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145389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426464" y="1417320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Define requirements (YAML)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426464" y="1709928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Decide what to test.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713232" y="2267712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2377440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239572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426464" y="2359152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Write test scripts (Playwright)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426464" y="2651760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 least one test per requirement.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713232" y="3209544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" y="3319272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" y="333756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1426464" y="3300984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Run tests and collect evidence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426464" y="3593592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Screenshots, logs, network requests.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713232" y="4151376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22960" y="4261104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22960" y="4279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1426464" y="4242816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 makes a judgment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1426464" y="4535424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Manual Oracle / LLM Oracle.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713232" y="5093208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2960" y="5202936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2960" y="522122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1426464" y="5184648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Compare the two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1426464" y="5477256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Agreement, accuracy, error analysis.</a:t>
            </a:r>
            <a:endParaRPr lang="en-US" sz="2000" dirty="0"/>
          </a:p>
        </p:txBody>
      </p:sp>
      <p:sp>
        <p:nvSpPr>
          <p:cNvPr id="34" name="Shape 30"/>
          <p:cNvSpPr/>
          <p:nvPr/>
        </p:nvSpPr>
        <p:spPr>
          <a:xfrm>
            <a:off x="6309360" y="1325880"/>
            <a:ext cx="4754880" cy="4572000"/>
          </a:xfrm>
          <a:prstGeom prst="roundRect">
            <a:avLst>
              <a:gd name="adj" fmla="val 1600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37376" y="1417320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6437376" y="1728216"/>
            <a:ext cx="4498848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This assignment is not just about writing tests.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It is about connecting requirements, tests, evidence, oracles, and metrics into one complete workflow.</a:t>
            </a:r>
            <a:endParaRPr lang="en-US" sz="20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84A6E2A6-1217-4E29-9792-34C35683F2F7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You Need to Do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1097280"/>
            <a:ext cx="10469880" cy="85953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96696" y="1133856"/>
            <a:ext cx="10213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Get the baseline running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996696" y="1572767"/>
            <a:ext cx="10213848" cy="2926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First verify the environment works.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868680" y="2084832"/>
            <a:ext cx="10469880" cy="7315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96696" y="2176272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Expand to 30-50 requirements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996696" y="2487168"/>
            <a:ext cx="102138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 least 30 requirements in total.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868680" y="2871216"/>
            <a:ext cx="10469880" cy="7863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96696" y="2962656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Complete all TODOs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996696" y="3273552"/>
            <a:ext cx="102138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 Python scripts + tests.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861060" y="3749040"/>
            <a:ext cx="10469880" cy="12192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96696" y="3877056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Generate all output files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996696" y="4279392"/>
            <a:ext cx="10213848" cy="816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Everything under results/ should be produced.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2734416" y="5162592"/>
            <a:ext cx="807278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Not starting from scratch: the TAs already provide a 15-requirement baseline, partial tests, and script skeletons. Your job is to extend and complete them.</a:t>
            </a:r>
            <a:endParaRPr lang="en-US" sz="28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F91D58CA-4830-4214-BC81-ABCBB0540F2F}"/>
              </a:ext>
            </a:extLst>
          </p:cNvPr>
          <p:cNvSpPr/>
          <p:nvPr/>
        </p:nvSpPr>
        <p:spPr>
          <a:xfrm>
            <a:off x="113424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Files You Will Actually Work With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96112" y="132588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24128" y="141732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student-release/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024128" y="1728216"/>
            <a:ext cx="312724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README.md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docs/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project-1-quickstart.md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└── student-todo.md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starter-kit/project1/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config/requirements.yaml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tests/juiceshop.security.spec.js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scripts/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└── results/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480560" y="1325880"/>
            <a:ext cx="3154680" cy="41605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08576" y="1417320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each area means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08576" y="1728216"/>
            <a:ext cx="289864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README.md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Tells you where to start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docs/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Quickstart and TODO list live here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starter-kit/project1/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Where the real work happens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7845552" y="132588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973568" y="141732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you really do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973568" y="1728216"/>
            <a:ext cx="326440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Add 15-35 more requirements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Add tests so each requirement has coverage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Finish the TODOs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Generate the required output files</a:t>
            </a:r>
            <a:endParaRPr lang="en-US" sz="20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0748C275-F3BD-46B9-90D5-EFDEBF65F887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to Submit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1325880"/>
            <a:ext cx="3657600" cy="4251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96696" y="14173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Requirements &amp; tests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996696" y="1728216"/>
            <a:ext cx="3401568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30-50 requirements (YAML + JSON)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Tests and evidence for each requirement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Requirements, tests, and evidence should appear as one complete set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4709160" y="1325880"/>
            <a:ext cx="3063240" cy="42519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37176" y="1417320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 outputs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4837176" y="1728216"/>
            <a:ext cx="2807208" cy="4251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Manual Oracle (B0 / B1 + cross-validation)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LLM Oracle (B0 / B1 / B2)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Keep both human judgments and LLM judgments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7973568" y="1325880"/>
            <a:ext cx="3364992" cy="4251960"/>
          </a:xfrm>
          <a:prstGeom prst="roundRect">
            <a:avLst>
              <a:gd name="adj" fmla="val 2174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01584" y="1417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Analysis &amp; report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8101584" y="1728216"/>
            <a:ext cx="3108960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Metrics: Cohen's kappa, confusion matrix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Prompt experiment (at least 2 variants)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proposal.md + report.md</a:t>
            </a:r>
            <a:endParaRPr lang="en-US" sz="28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D9AA09A-7339-45F0-A237-5F036320CCAA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Timeline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7280" y="3337560"/>
            <a:ext cx="9784080" cy="0"/>
          </a:xfrm>
          <a:prstGeom prst="line">
            <a:avLst/>
          </a:prstGeom>
          <a:noFill/>
          <a:ln w="19050">
            <a:solidFill>
              <a:srgbClr val="9E9E9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755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84760" y="2285139"/>
            <a:ext cx="1702440" cy="804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6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1005840" y="3657599"/>
            <a:ext cx="2029968" cy="94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due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4041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94760" y="2331720"/>
            <a:ext cx="1482840" cy="685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8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3217104" y="3822694"/>
            <a:ext cx="1941696" cy="8046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2 Proposal</a:t>
            </a:r>
            <a:endParaRPr lang="en-US" sz="2800" dirty="0"/>
          </a:p>
        </p:txBody>
      </p:sp>
      <p:sp>
        <p:nvSpPr>
          <p:cNvPr id="17" name="Shape 13"/>
          <p:cNvSpPr/>
          <p:nvPr/>
        </p:nvSpPr>
        <p:spPr>
          <a:xfrm>
            <a:off x="6327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80760" y="2331719"/>
            <a:ext cx="1482840" cy="749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10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5258520" y="3708394"/>
            <a:ext cx="2284560" cy="103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3 Cross-target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888796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41080" y="2331719"/>
            <a:ext cx="1942920" cy="685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17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7507224" y="3702707"/>
            <a:ext cx="2761488" cy="131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4 Final Paper &amp; Presentation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1097280" y="5166359"/>
            <a:ext cx="10469880" cy="1133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Most important date: Project 1 is due on 2026/04/03 at 23:59.</a:t>
            </a:r>
            <a:endParaRPr lang="en-US" sz="28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DB7ED406-1AB9-449E-AE14-08445A03EF09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Completion Criteria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" y="1325880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42416" y="1417320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baseline runs successfully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42416" y="1728216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914400" y="2139696"/>
            <a:ext cx="10241280" cy="76809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42416" y="2231136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at least 30 requirements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042416" y="2542032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Recommended: go straight to 30-50.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914400" y="2953512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42416" y="3044952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tests completed and evidence generated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042416" y="3355848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914400" y="3767328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42416" y="3858768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oracle output files exist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1042416" y="4169664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914400" y="4581144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42416" y="4672584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metrics / agreement / confusion matrix exist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1042416" y="4983480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3040608" y="5424119"/>
            <a:ext cx="7289712" cy="88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Practical rule of thumb: the baseline runs, the TODOs are completed, and the required output files exist.</a:t>
            </a:r>
            <a:endParaRPr lang="en-US" sz="24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B407A770-C404-460E-8AB1-DCDFCDD15E85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Grading Criteria (5%)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96112" y="141732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24128" y="150876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40%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24128" y="1819656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2423160" y="1417320"/>
            <a:ext cx="8915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51176" y="1508760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Runnable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2551176" y="1819656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npm run test:python all pass | all results/*.json generated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896112" y="2578608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24128" y="267004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35%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024128" y="2980944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2423160" y="2578608"/>
            <a:ext cx="8915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51176" y="2670048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TODO completion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2551176" y="2980944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All TODOs in 6 Python scripts | test scripts completed (30-50)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896112" y="3739896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24128" y="3831336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25%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1024128" y="4142232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2423160" y="3739896"/>
            <a:ext cx="8915400" cy="113450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551176" y="3831336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 / test quality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2551176" y="4142232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30-50 correctly formatted requirements | Tests + evidence for each one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3632688" y="51206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Priority: runnable &gt; complete &gt; polished</a:t>
            </a:r>
            <a:endParaRPr lang="en-US" sz="24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6C2B9712-7D5D-43BD-B87F-D70660A9BA9E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Which Files to Read First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1325880"/>
            <a:ext cx="3713902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96696" y="1417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docs/project-1-spec.md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96696" y="172821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we do this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it is graded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Deliverables and baseline definitions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425696" y="1325880"/>
            <a:ext cx="3713902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53712" y="1417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docs/student-todo.md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553712" y="172821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Where every TODO is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each TODO asks for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Which tests and verdicts to add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7982712" y="1325880"/>
            <a:ext cx="4329288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10728" y="1417319"/>
            <a:ext cx="4143672" cy="3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docs/project-1-quickstart.md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110728" y="172821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Execution order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Common commands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to run first and next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2887200" y="5705857"/>
            <a:ext cx="7876800" cy="497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If you do not know where to start, read these three files before touching the code.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0E922515-07ED-4D08-A283-37F1A8B440BE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project-1-spec.md vs student-todo.md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" y="1463040"/>
            <a:ext cx="48006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42416" y="155448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project-1-spec.md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42416" y="1865376"/>
            <a:ext cx="4544568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we do it / How it is graded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research objective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deliverables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grading criteria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baselines and metrics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Worth skimming: Objective, Required Deliverables, Baseline Definitions, Evaluation Criteria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6446520" y="1463040"/>
            <a:ext cx="48006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74536" y="155448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student-todo.md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574536" y="1865376"/>
            <a:ext cx="4544568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to do / Where to do it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TODO list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work items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tests and verdicts to add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prompt variants to run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This is your task list.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2743200" y="5623561"/>
            <a:ext cx="8064000" cy="9509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Suggested order: 1. Read the spec to understand the goal  →  2. Read the TODO list and start working  →  3. Use quickstart to run the commands</a:t>
            </a:r>
            <a:endParaRPr lang="en-US" sz="24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EA4F816-4EF8-42DB-BC98-0943F8D68215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2300</Words>
  <Application>Microsoft Office PowerPoint</Application>
  <PresentationFormat>寬螢幕</PresentationFormat>
  <Paragraphs>354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3" baseType="lpstr">
      <vt:lpstr>Noto Sans CJK TC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&amp; Security Checking - Project 1</dc:title>
  <dc:subject>Project 1 deck revision</dc:subject>
  <dc:creator>OpenAI</dc:creator>
  <cp:lastModifiedBy>user</cp:lastModifiedBy>
  <cp:revision>17</cp:revision>
  <dcterms:created xsi:type="dcterms:W3CDTF">2026-03-25T08:44:36Z</dcterms:created>
  <dcterms:modified xsi:type="dcterms:W3CDTF">2026-03-25T18:59:03Z</dcterms:modified>
</cp:coreProperties>
</file>