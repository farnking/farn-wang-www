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selenium.dev/selenium-ide/docs/en/introduction/command-line-runner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2c01e1110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2c01e1110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2c01e11107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2c01e11107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rgbClr val="303233"/>
              </a:buClr>
              <a:buSzPts val="1000"/>
              <a:buFont typeface="Lato"/>
              <a:buChar char="●"/>
            </a:pPr>
            <a:r>
              <a:rPr lang="zh-TW" sz="1000">
                <a:solidFill>
                  <a:srgbClr val="303233"/>
                </a:solidFill>
                <a:latin typeface="Lato"/>
                <a:ea typeface="Lato"/>
                <a:cs typeface="Lato"/>
                <a:sym typeface="Lato"/>
              </a:rPr>
              <a:t>網絡就緒：快速使用，適用於任何網站。可快速編寫可靠的端對端測試。</a:t>
            </a:r>
            <a:endParaRPr sz="1000">
              <a:solidFill>
                <a:srgbClr val="3032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03233"/>
              </a:buClr>
              <a:buSzPts val="1000"/>
              <a:buFont typeface="Lato"/>
              <a:buChar char="●"/>
            </a:pPr>
            <a:r>
              <a:rPr lang="zh-TW" sz="1000">
                <a:solidFill>
                  <a:srgbClr val="303233"/>
                </a:solidFill>
                <a:latin typeface="Lato"/>
                <a:ea typeface="Lato"/>
                <a:cs typeface="Lato"/>
                <a:sym typeface="Lato"/>
              </a:rPr>
              <a:t>簡易除錯：多功能的 IDE，可以輕鬆進行測試除錯，設置斷點和暫停異常。</a:t>
            </a:r>
            <a:endParaRPr sz="1000">
              <a:solidFill>
                <a:srgbClr val="303233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03233"/>
              </a:buClr>
              <a:buSzPts val="1000"/>
              <a:buFont typeface="Lato"/>
              <a:buChar char="●"/>
            </a:pPr>
            <a:r>
              <a:rPr lang="zh-TW" sz="1000">
                <a:solidFill>
                  <a:srgbClr val="303233"/>
                </a:solidFill>
                <a:latin typeface="Lato"/>
                <a:ea typeface="Lato"/>
                <a:cs typeface="Lato"/>
                <a:sym typeface="Lato"/>
              </a:rPr>
              <a:t>跨瀏覽器執行：使用 </a:t>
            </a:r>
            <a:r>
              <a:rPr lang="zh-TW" sz="1000">
                <a:solidFill>
                  <a:srgbClr val="00A0E9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Command-line Runner</a:t>
            </a:r>
            <a:r>
              <a:rPr lang="zh-TW" sz="1000">
                <a:solidFill>
                  <a:srgbClr val="303233"/>
                </a:solidFill>
                <a:latin typeface="Lato"/>
                <a:ea typeface="Lato"/>
                <a:cs typeface="Lato"/>
                <a:sym typeface="Lato"/>
              </a:rPr>
              <a:t> 在任何瀏覽器/OS上進行測試。</a:t>
            </a:r>
            <a:endParaRPr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2c01e11107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2c01e11107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2c01e11107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2c01e11107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c01e11107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c01e11107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2ca2eab2f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2ca2eab2f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2c01e11107_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2c01e11107_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c01e11107_4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c01e11107_4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2c01e11107_4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2c01e11107_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2ca2eab2f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2ca2eab2f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2c01e11107_4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2c01e11107_4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2c01e11107_4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2c01e11107_4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c01e11107_4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2c01e11107_4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2c01e11107_4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2c01e11107_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2ca2eab2f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2ca2eab2f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2ca2eab2f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2ca2eab2f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2c01e11107_4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2c01e11107_4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11921094@ntu.edu.tw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hrome.google.com/webstore/detail/selenium-ide/mooikfkahbdckldjjndioackbalphokd" TargetMode="External"/><Relationship Id="rId4" Type="http://schemas.openxmlformats.org/officeDocument/2006/relationships/hyperlink" Target="https://chrome.google.com/webstore/detail/selenium-ide/mooikfkahbdckldjjndioackbalphokd" TargetMode="External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oogle.com/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oogle.com/" TargetMode="External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oogle.com/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oogle.com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spreadsheets/d/13_GNUfqFi0Wk2N2mh-_DcKhDZwMYpm6iAKFxQoCV_gk/edit?usp=sharin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Project 2 -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Web Testing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Selenium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367800" y="3899425"/>
            <a:ext cx="3452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TA:劉宗翰</a:t>
            </a:r>
            <a:endParaRPr sz="1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Email:</a:t>
            </a:r>
            <a:r>
              <a:rPr lang="zh-TW" sz="1100" u="sng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r11921094@ntu.edu.tw</a:t>
            </a:r>
            <a:endParaRPr sz="1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Software Testing and Security Checking</a:t>
            </a:r>
            <a:endParaRPr sz="1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Department of EE, National Taiwan University</a:t>
            </a:r>
            <a:endParaRPr sz="1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Selenium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5511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A suite of tools for automating web browsers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First launched at 2002/04/30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Written in Java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A cross platform software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Support programming languages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TW" sz="1500"/>
              <a:t>C#, Javascript, Java, Python, Ruby</a:t>
            </a:r>
            <a:endParaRPr sz="15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3026" y="2146163"/>
            <a:ext cx="2035127" cy="212652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Selenium IDE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5253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A browser extension that records and plays back a user’s actions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Web ready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Easy debugging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Cross-browser execution</a:t>
            </a:r>
            <a:endParaRPr sz="1500"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6600" y="2175275"/>
            <a:ext cx="2001550" cy="206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Selenium WebDriver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9450" y="2078875"/>
            <a:ext cx="5430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Designed as a simple and more </a:t>
            </a:r>
            <a:r>
              <a:rPr lang="zh-TW" sz="1500"/>
              <a:t>concise programming interface</a:t>
            </a:r>
            <a:endParaRPr sz="1500"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025" y="2106525"/>
            <a:ext cx="2094125" cy="220580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Selenium Grid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729450" y="2078875"/>
            <a:ext cx="5489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Provide an easy way to run tests in parallel on multiple machines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Allow testing on different browser versions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Enable cross platform testing</a:t>
            </a:r>
            <a:endParaRPr sz="1500"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9225" y="2109263"/>
            <a:ext cx="2088925" cy="22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Installation (Selenium IDE)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Install </a:t>
            </a:r>
            <a:r>
              <a:rPr lang="zh-TW" sz="1500" u="sng">
                <a:solidFill>
                  <a:schemeClr val="hlink"/>
                </a:solidFill>
                <a:hlinkClick r:id="rId3"/>
              </a:rPr>
              <a:t>Selenium IDE extension</a:t>
            </a:r>
            <a:r>
              <a:rPr lang="zh-TW" sz="1500"/>
              <a:t> on </a:t>
            </a:r>
            <a:r>
              <a:rPr lang="zh-TW" sz="1500"/>
              <a:t>Chrome/FireFox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use Chrome here</a:t>
            </a:r>
            <a:endParaRPr sz="13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TW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https://chrome.google.com/webstore/detail/selenium-ide/mooikfkahbdckldjjndioackbalphokd</a:t>
            </a:r>
            <a:endParaRPr sz="1500"/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9188" y="3097313"/>
            <a:ext cx="522922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Start with Selenium IDE</a:t>
            </a:r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Create a new project / Open an old project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Add a new test to project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For a single test in a project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zh-TW" sz="1500"/>
              <a:t>Recording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zh-TW" sz="1500"/>
              <a:t>Insert and Delete commands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zh-TW" sz="1500"/>
              <a:t>Playback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zh-TW" sz="1500"/>
              <a:t>Export to programming language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Save the project into .side file</a:t>
            </a:r>
            <a:endParaRPr sz="1500"/>
          </a:p>
        </p:txBody>
      </p:sp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729450" y="1318650"/>
            <a:ext cx="4651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Record a Test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729450" y="2078875"/>
            <a:ext cx="4651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Record your actions and save as a list of commands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e.g.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open </a:t>
            </a:r>
            <a:r>
              <a:rPr lang="zh-TW" sz="13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https://www.google.com/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type ‘facebook’ in search bar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press enter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click ‘Facebook’ page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close the page</a:t>
            </a:r>
            <a:endParaRPr sz="1300"/>
          </a:p>
        </p:txBody>
      </p:sp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5875" y="363250"/>
            <a:ext cx="3489126" cy="44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/>
          <p:nvPr/>
        </p:nvSpPr>
        <p:spPr>
          <a:xfrm>
            <a:off x="6218725" y="1960975"/>
            <a:ext cx="1592575" cy="222250"/>
          </a:xfrm>
          <a:prstGeom prst="flowChart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729450" y="1318650"/>
            <a:ext cx="4651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Record a Test</a:t>
            </a:r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729450" y="2078875"/>
            <a:ext cx="4651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Record your actions and save as a list of commands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e.g.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open </a:t>
            </a:r>
            <a:r>
              <a:rPr lang="zh-TW" sz="13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https://www.google.com/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type ‘facebook’ in search bar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press enter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click ‘Facebook’ page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close the page</a:t>
            </a:r>
            <a:endParaRPr sz="1300"/>
          </a:p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6550" y="324150"/>
            <a:ext cx="3917450" cy="449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/>
          <p:nvPr/>
        </p:nvSpPr>
        <p:spPr>
          <a:xfrm>
            <a:off x="7433825" y="2845750"/>
            <a:ext cx="931925" cy="222250"/>
          </a:xfrm>
          <a:prstGeom prst="flowChart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729450" y="1318650"/>
            <a:ext cx="4651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Record a Test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729450" y="2078875"/>
            <a:ext cx="4651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Record your actions and save as a list of commands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e.g.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open </a:t>
            </a:r>
            <a:r>
              <a:rPr lang="zh-TW" sz="1300" u="sng">
                <a:solidFill>
                  <a:schemeClr val="hlink"/>
                </a:solidFill>
                <a:hlinkClick r:id="rId3"/>
              </a:rPr>
              <a:t>https://www.google.com/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type ‘facebook’ in search bar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press enter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click ‘Facebook’ page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close the page</a:t>
            </a:r>
            <a:endParaRPr sz="1300"/>
          </a:p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5800" y="789025"/>
            <a:ext cx="3457950" cy="356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5529225" y="4432275"/>
            <a:ext cx="265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❏"/>
            </a:pPr>
            <a:r>
              <a:rPr lang="zh-TW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Right click on the page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729450" y="1318650"/>
            <a:ext cx="4651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Record a Test</a:t>
            </a:r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729450" y="2078875"/>
            <a:ext cx="4651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Record your actions and save as a list of commands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e.g.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open </a:t>
            </a:r>
            <a:r>
              <a:rPr lang="zh-TW" sz="1300" u="sng">
                <a:solidFill>
                  <a:schemeClr val="hlink"/>
                </a:solidFill>
                <a:hlinkClick r:id="rId3"/>
              </a:rPr>
              <a:t>https://www.google.com/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type ‘facebook’ in search bar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press enter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click ‘Facebook’ page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close the page</a:t>
            </a:r>
            <a:endParaRPr sz="1300"/>
          </a:p>
        </p:txBody>
      </p:sp>
      <p:sp>
        <p:nvSpPr>
          <p:cNvPr id="169" name="Google Shape;169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525" y="2457800"/>
            <a:ext cx="5012075" cy="22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18700" y="2480800"/>
            <a:ext cx="195900" cy="1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/>
          <p:nvPr/>
        </p:nvSpPr>
        <p:spPr>
          <a:xfrm>
            <a:off x="8770419" y="2428088"/>
            <a:ext cx="292475" cy="287325"/>
          </a:xfrm>
          <a:prstGeom prst="flowChart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729450" y="1318650"/>
            <a:ext cx="4651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Run a Test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729450" y="2078875"/>
            <a:ext cx="3247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Run</a:t>
            </a:r>
            <a:r>
              <a:rPr lang="zh-TW" sz="1500"/>
              <a:t> the recorded actions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Selenium IDE provides result of running with logs</a:t>
            </a:r>
            <a:endParaRPr sz="1300"/>
          </a:p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0" name="Google Shape;18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9800" y="313613"/>
            <a:ext cx="4651799" cy="451626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/>
          <p:nvPr/>
        </p:nvSpPr>
        <p:spPr>
          <a:xfrm>
            <a:off x="5334050" y="675100"/>
            <a:ext cx="177075" cy="222250"/>
          </a:xfrm>
          <a:prstGeom prst="flowChart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729450" y="1318650"/>
            <a:ext cx="4651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Save a Test to Project</a:t>
            </a:r>
            <a:endParaRPr/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729450" y="2078875"/>
            <a:ext cx="3247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Save the recorded actions to .side file</a:t>
            </a:r>
            <a:endParaRPr sz="1300"/>
          </a:p>
        </p:txBody>
      </p:sp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850" y="1318654"/>
            <a:ext cx="4359450" cy="356914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/>
          <p:nvPr/>
        </p:nvSpPr>
        <p:spPr>
          <a:xfrm>
            <a:off x="8106250" y="1522325"/>
            <a:ext cx="283100" cy="222250"/>
          </a:xfrm>
          <a:prstGeom prst="flowChart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729450" y="1318650"/>
            <a:ext cx="4651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Export</a:t>
            </a:r>
            <a:r>
              <a:rPr lang="zh-TW"/>
              <a:t> a Test</a:t>
            </a:r>
            <a:endParaRPr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729450" y="2078875"/>
            <a:ext cx="3247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Export the recorded actions into programming language</a:t>
            </a:r>
            <a:endParaRPr sz="1300"/>
          </a:p>
        </p:txBody>
      </p:sp>
      <p:sp>
        <p:nvSpPr>
          <p:cNvPr id="197" name="Google Shape;197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98" name="Google Shape;19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4525" y="593925"/>
            <a:ext cx="4277425" cy="44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6"/>
          <p:cNvSpPr/>
          <p:nvPr/>
        </p:nvSpPr>
        <p:spPr>
          <a:xfrm>
            <a:off x="5086200" y="2302300"/>
            <a:ext cx="548700" cy="222250"/>
          </a:xfrm>
          <a:prstGeom prst="flowChart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729450" y="1318650"/>
            <a:ext cx="4651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Export a Test</a:t>
            </a:r>
            <a:endParaRPr/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729450" y="2078875"/>
            <a:ext cx="3247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Export the recorded actions into programming language</a:t>
            </a:r>
            <a:endParaRPr sz="1300"/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725" y="740550"/>
            <a:ext cx="3857925" cy="426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Requirement &amp; Evaluation of Project2</a:t>
            </a:r>
            <a:endParaRPr/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500"/>
              <a:t>Find one website with multiple language choices</a:t>
            </a:r>
            <a:endParaRPr sz="1500"/>
          </a:p>
          <a:p>
            <a:pPr indent="-3032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382"/>
              <a:t>Register the website different from other students</a:t>
            </a:r>
            <a:endParaRPr sz="1382"/>
          </a:p>
          <a:p>
            <a:pPr indent="-30321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382" u="sng">
                <a:solidFill>
                  <a:schemeClr val="hlink"/>
                </a:solidFill>
                <a:hlinkClick r:id="rId3"/>
              </a:rPr>
              <a:t>https://docs.google.com/spreadsheets/d/13_GNUfqFi0Wk2N2mh-_DcKhDZwMYpm6iAKFxQoCV_gk/edit?usp=sharing</a:t>
            </a:r>
            <a:endParaRPr sz="1382"/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500"/>
              <a:t>(10%) Use assertions to test whether the contents change appropriately according to language selection</a:t>
            </a:r>
            <a:endParaRPr sz="1500"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400"/>
              <a:t>(9%) The navigation bar</a:t>
            </a:r>
            <a:endParaRPr sz="1400"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1400"/>
              <a:t>(1%) Webpage title</a:t>
            </a:r>
            <a:endParaRPr sz="1400"/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500"/>
              <a:t>(5%) Pick two other pages in the same website and test if language selection is properly remembered</a:t>
            </a:r>
            <a:endParaRPr sz="1500"/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500"/>
              <a:t>Total 10% + 5% = 15%</a:t>
            </a:r>
            <a:endParaRPr sz="1500"/>
          </a:p>
        </p:txBody>
      </p:sp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Requirement &amp; Evaluation of Project2 (cont.)</a:t>
            </a:r>
            <a:endParaRPr/>
          </a:p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Write a report specifies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the webpage you choose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test script you design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testing result</a:t>
            </a:r>
            <a:endParaRPr sz="1300"/>
          </a:p>
        </p:txBody>
      </p:sp>
      <p:sp>
        <p:nvSpPr>
          <p:cNvPr id="221" name="Google Shape;221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Submission</a:t>
            </a:r>
            <a:endParaRPr/>
          </a:p>
        </p:txBody>
      </p:sp>
      <p:sp>
        <p:nvSpPr>
          <p:cNvPr id="227" name="Google Shape;227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Hand in </a:t>
            </a:r>
            <a:r>
              <a:rPr lang="zh-TW" sz="1500"/>
              <a:t>the following files to NTU COOL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your testing script (.side)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report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zh-TW" sz="1500">
                <a:solidFill>
                  <a:srgbClr val="FF0000"/>
                </a:solidFill>
              </a:rPr>
              <a:t>Deadline: 2023/5/3 23:59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