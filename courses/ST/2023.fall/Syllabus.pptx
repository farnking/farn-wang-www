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65" r:id="rId1"/>
  </p:sldMasterIdLst>
  <p:notesMasterIdLst>
    <p:notesMasterId r:id="rId36"/>
  </p:notesMasterIdLst>
  <p:handoutMasterIdLst>
    <p:handoutMasterId r:id="rId37"/>
  </p:handoutMasterIdLst>
  <p:sldIdLst>
    <p:sldId id="336" r:id="rId2"/>
    <p:sldId id="511" r:id="rId3"/>
    <p:sldId id="471" r:id="rId4"/>
    <p:sldId id="683" r:id="rId5"/>
    <p:sldId id="577" r:id="rId6"/>
    <p:sldId id="745" r:id="rId7"/>
    <p:sldId id="682" r:id="rId8"/>
    <p:sldId id="685" r:id="rId9"/>
    <p:sldId id="684" r:id="rId10"/>
    <p:sldId id="686" r:id="rId11"/>
    <p:sldId id="825" r:id="rId12"/>
    <p:sldId id="831" r:id="rId13"/>
    <p:sldId id="578" r:id="rId14"/>
    <p:sldId id="579" r:id="rId15"/>
    <p:sldId id="691" r:id="rId16"/>
    <p:sldId id="465" r:id="rId17"/>
    <p:sldId id="472" r:id="rId18"/>
    <p:sldId id="524" r:id="rId19"/>
    <p:sldId id="575" r:id="rId20"/>
    <p:sldId id="687" r:id="rId21"/>
    <p:sldId id="344" r:id="rId22"/>
    <p:sldId id="572" r:id="rId23"/>
    <p:sldId id="527" r:id="rId24"/>
    <p:sldId id="507" r:id="rId25"/>
    <p:sldId id="508" r:id="rId26"/>
    <p:sldId id="509" r:id="rId27"/>
    <p:sldId id="510" r:id="rId28"/>
    <p:sldId id="514" r:id="rId29"/>
    <p:sldId id="516" r:id="rId30"/>
    <p:sldId id="694" r:id="rId31"/>
    <p:sldId id="695" r:id="rId32"/>
    <p:sldId id="533" r:id="rId33"/>
    <p:sldId id="513" r:id="rId34"/>
    <p:sldId id="512" r:id="rId35"/>
  </p:sldIdLst>
  <p:sldSz cx="9144000" cy="6858000" type="screen4x3"/>
  <p:notesSz cx="7315200" cy="96012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0">
          <p15:clr>
            <a:srgbClr val="A4A3A4"/>
          </p15:clr>
        </p15:guide>
        <p15:guide id="2" pos="2773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rn Wang" initials="FW" lastIdx="8" clrIdx="0">
    <p:extLst>
      <p:ext uri="{19B8F6BF-5375-455C-9EA6-DF929625EA0E}">
        <p15:presenceInfo xmlns:p15="http://schemas.microsoft.com/office/powerpoint/2012/main" userId="b810c10f22f9909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  <a:srgbClr val="001E5A"/>
    <a:srgbClr val="00FF00"/>
    <a:srgbClr val="0000CC"/>
    <a:srgbClr val="00145A"/>
    <a:srgbClr val="5F5F5F"/>
    <a:srgbClr val="000050"/>
    <a:srgbClr val="000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331" autoAdjust="0"/>
  </p:normalViewPr>
  <p:slideViewPr>
    <p:cSldViewPr snapToGrid="0">
      <p:cViewPr varScale="1">
        <p:scale>
          <a:sx n="56" d="100"/>
          <a:sy n="56" d="100"/>
        </p:scale>
        <p:origin x="1530" y="78"/>
      </p:cViewPr>
      <p:guideLst>
        <p:guide orient="horz" pos="2280"/>
        <p:guide pos="277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8-31T09:46:35.242" idx="8">
    <p:pos x="10" y="10"/>
    <p:text>強調Pains</p:text>
    <p:extLst>
      <p:ext uri="{C676402C-5697-4E1C-873F-D02D1690AC5C}">
        <p15:threadingInfo xmlns:p15="http://schemas.microsoft.com/office/powerpoint/2012/main" timeZoneBias="-4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E370844-D1F2-4528-8D60-CB104FEA91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1327212-FB83-4062-BDF2-B8FE863CCBF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75C491B-F85F-4E4E-BB04-39DAE207E27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/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D948304-55E0-40BF-9F11-B851D005CA7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/>
            </a:lvl1pPr>
          </a:lstStyle>
          <a:p>
            <a:pPr>
              <a:defRPr/>
            </a:pPr>
            <a:fld id="{CD99912A-0628-4823-B136-D40CC8FD1F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D8A4522-0744-414F-940C-8F40FF333C2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7427713-DC27-4E42-9F64-8674210A82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t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F897707-D18B-4AAA-8675-495597139F1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zh-TW" altLang="zh-TW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476509A6-258F-4163-88FF-DF596595DE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135" tIns="0" rIns="20135" bIns="0" numCol="1" anchor="b" anchorCtr="0" compatLnSpc="1">
            <a:prstTxWarp prst="textNoShape">
              <a:avLst/>
            </a:prstTxWarp>
          </a:bodyPr>
          <a:lstStyle>
            <a:lvl1pPr algn="r" defTabSz="966788">
              <a:defRPr sz="1100" b="0" i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CA50831-9127-4B10-9B2F-C5798AB68D4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BE8E8D27-A7BE-49B8-A8D0-9041F379B0A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7319" tIns="48661" rIns="97319" bIns="486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45BE0C0-809B-46D8-9613-8EC0B11D680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20725"/>
            <a:ext cx="4794250" cy="35956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6" name="Rectangle 8">
            <a:extLst>
              <a:ext uri="{FF2B5EF4-FFF2-40B4-BE49-F238E27FC236}">
                <a16:creationId xmlns:a16="http://schemas.microsoft.com/office/drawing/2014/main" id="{76BCECE3-F92E-4201-8E78-2AC1B2960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888" y="9144000"/>
            <a:ext cx="731837" cy="26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288" tIns="46983" rIns="92288" bIns="46983">
            <a:spAutoFit/>
          </a:bodyPr>
          <a:lstStyle>
            <a:lvl1pPr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17575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17575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defRPr/>
            </a:pPr>
            <a:r>
              <a:rPr lang="en-US" altLang="zh-TW" sz="1400" b="0">
                <a:solidFill>
                  <a:schemeClr val="tx1"/>
                </a:solidFill>
              </a:rPr>
              <a:t>Page </a:t>
            </a:r>
            <a:fld id="{05CFF13C-2E90-46CA-BC8A-7D2958CBF6B7}" type="slidenum">
              <a:rPr lang="en-US" altLang="zh-TW" sz="1400" b="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defRPr/>
              </a:pPr>
              <a:t>‹#›</a:t>
            </a:fld>
            <a:endParaRPr lang="en-US" altLang="zh-TW" sz="1400" b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A0775B91-AD1F-44C8-B7A6-194B9115BA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8A334D0D-0B4B-4A1A-B9BF-B34D73B3B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A4674DE2-8D01-411A-BC09-BC9F01551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D6ACB12E-7FF2-40E8-9945-BA387A061325}" type="slidenum">
              <a:rPr lang="en-US" altLang="zh-TW" sz="1100" b="0" smtClean="0">
                <a:solidFill>
                  <a:schemeClr val="tx1"/>
                </a:solidFill>
              </a:rPr>
              <a:pPr/>
              <a:t>1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5661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3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顏色太多，不要一行一種顏色，</a:t>
            </a:r>
            <a:r>
              <a:rPr lang="en-US" altLang="zh-TW" dirty="0"/>
              <a:t>highlight</a:t>
            </a:r>
            <a:r>
              <a:rPr lang="zh-TW" altLang="en-US" dirty="0"/>
              <a:t>才用不同顏色。</a:t>
            </a:r>
            <a:endParaRPr lang="en-US" altLang="zh-TW" dirty="0"/>
          </a:p>
          <a:p>
            <a:r>
              <a:rPr lang="zh-TW" altLang="en-US" dirty="0"/>
              <a:t>把上一版的四個測試步驟講出來，</a:t>
            </a:r>
            <a:endParaRPr lang="en-US" altLang="zh-TW" dirty="0"/>
          </a:p>
          <a:p>
            <a:r>
              <a:rPr lang="zh-TW" altLang="en-US" dirty="0"/>
              <a:t>跨計劃在手工部分，可能不要使用這個詞，就是人工變成自動化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[DW]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投影片內容格式可以稍爲優化一下，讓它看起來不會令人感覺眼花撩亂。</a:t>
            </a:r>
            <a:endParaRPr lang="en-US" altLang="zh-TW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dirty="0"/>
              <a:t>針對分列項目，做了小幅度文字修飾如下：</a:t>
            </a:r>
            <a:endParaRPr lang="en-US" altLang="zh-TW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1200" b="1" strike="noStrike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測試人力嚴重不足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（這是整個結論，可以不列如分項）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佔開發預算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30-50%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，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尚不考慮程式撰寫階段測試成本。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這一項感覺是量化總結，可以列在最後一項，做爲結論）</a:t>
            </a:r>
            <a:endParaRPr lang="en-US" altLang="zh-TW" sz="12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大量仰賴人力製作／維護測試腳本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一個熟練測試人員一天只能寫一個腳本（這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·</a:t>
            </a:r>
            <a:r>
              <a:rPr lang="zh-TW" altLang="en-US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是上面那一項的源由之一，不比分列，口述就好）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缺乏功能與使用者經驗測試工具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程式撰寫階段基本沒有自動化測試工具可用。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許多外包或上傳的測試服務存在疑慮</a:t>
            </a:r>
            <a:r>
              <a:rPr lang="en-US" altLang="zh-TW" sz="12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kumimoji="0" lang="en-US" altLang="zh-TW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</a:t>
            </a:r>
            <a:r>
              <a:rPr kumimoji="0" lang="zh-TW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外洩疑慮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zh-TW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總結：如果能夠在功能測試部份，針對痛點提出有效解決方案，不止提升產品總體品質，還可大幅降低整體開發時間與成本，客戶將願意為此買單！</a:t>
            </a:r>
            <a:endParaRPr lang="en-US" altLang="zh-TW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/>
              <a:t>[/DW]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altLang="zh-TW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dirty="0"/>
              <a:t>《DW》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zh-TW" altLang="en-US" sz="1200" b="1" dirty="0">
                <a:solidFill>
                  <a:srgbClr val="CCFF3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建議將 </a:t>
            </a:r>
            <a:r>
              <a:rPr kumimoji="1" lang="en-US" altLang="zh-TW" sz="1200" b="1" dirty="0">
                <a:solidFill>
                  <a:srgbClr val="CCFF3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p2 and p3 </a:t>
            </a:r>
            <a:r>
              <a:rPr kumimoji="1" lang="zh-TW" altLang="en-US" sz="1200" b="1" dirty="0">
                <a:solidFill>
                  <a:srgbClr val="CCFF3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的次序對調，感覺這樣敘述的邏輯比較順。你說呢？</a:t>
            </a:r>
            <a:endParaRPr kumimoji="1" lang="en-US" altLang="zh-TW" sz="1200" b="1" dirty="0">
              <a:solidFill>
                <a:srgbClr val="CCFF33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zh-TW" sz="1200" b="1" dirty="0">
                <a:solidFill>
                  <a:srgbClr val="CCFF3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《/DW》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637A7-543F-4115-80DD-424302F8308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7372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《DW》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 err="1"/>
              <a:t>因爲只有一個客戶素描的個案</a:t>
            </a:r>
            <a:r>
              <a:rPr lang="zh-TW" altLang="en-US" dirty="0"/>
              <a:t>，建議將前面的數字 </a:t>
            </a:r>
            <a:r>
              <a:rPr lang="en-US" altLang="zh-TW" dirty="0"/>
              <a:t>1</a:t>
            </a:r>
            <a:r>
              <a:rPr lang="zh-TW" altLang="en-US" dirty="0"/>
              <a:t> 拿掉</a:t>
            </a:r>
            <a:endParaRPr lang="en-US" altLang="zh-TW" dirty="0"/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我不太能夠理解 ‘</a:t>
            </a:r>
            <a:r>
              <a:rPr lang="en-US" altLang="zh-TW" dirty="0"/>
              <a:t>Customer Job’ </a:t>
            </a:r>
            <a:r>
              <a:rPr lang="zh-TW" altLang="en-US" dirty="0"/>
              <a:t>那邊所列的那幾個項目的意義。請你稍稍解釋一下，那裡要表述的重點是什麼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637A7-543F-4115-80DD-424302F8308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1728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《DW》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 err="1"/>
              <a:t>因爲只有一個客戶素描的個案</a:t>
            </a:r>
            <a:r>
              <a:rPr lang="zh-TW" altLang="en-US" dirty="0"/>
              <a:t>，建議將前面的數字 </a:t>
            </a:r>
            <a:r>
              <a:rPr lang="en-US" altLang="zh-TW" dirty="0"/>
              <a:t>1</a:t>
            </a:r>
            <a:r>
              <a:rPr lang="zh-TW" altLang="en-US" dirty="0"/>
              <a:t> 拿掉</a:t>
            </a:r>
            <a:endParaRPr lang="en-US" altLang="zh-TW" dirty="0"/>
          </a:p>
          <a:p>
            <a:pPr marL="228600" indent="-228600">
              <a:buFont typeface="+mj-lt"/>
              <a:buAutoNum type="arabicPeriod"/>
            </a:pPr>
            <a:r>
              <a:rPr lang="zh-TW" altLang="en-US" dirty="0"/>
              <a:t>我不太能夠理解 ‘</a:t>
            </a:r>
            <a:r>
              <a:rPr lang="en-US" altLang="zh-TW" dirty="0"/>
              <a:t>Customer Job’ </a:t>
            </a:r>
            <a:r>
              <a:rPr lang="zh-TW" altLang="en-US" dirty="0"/>
              <a:t>那邊所列的那幾個項目的意義。請你稍稍解釋一下，那裡要表述的重點是什麼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637A7-543F-4115-80DD-424302F8308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20202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8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BB153425-8468-4505-B2B4-985D19F2C509}" type="slidenum">
              <a:rPr lang="zh-TW" altLang="en-US" smtClean="0"/>
              <a:pPr>
                <a:spcBef>
                  <a:spcPct val="0"/>
                </a:spcBef>
              </a:pPr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2885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24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862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25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1564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26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735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27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9138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28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558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29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552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30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1191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31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705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33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0883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>
            <a:extLst>
              <a:ext uri="{FF2B5EF4-FFF2-40B4-BE49-F238E27FC236}">
                <a16:creationId xmlns:a16="http://schemas.microsoft.com/office/drawing/2014/main" id="{A3AB6259-4C7C-491D-B6B5-A1756347B88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備忘稿版面配置區 2">
            <a:extLst>
              <a:ext uri="{FF2B5EF4-FFF2-40B4-BE49-F238E27FC236}">
                <a16:creationId xmlns:a16="http://schemas.microsoft.com/office/drawing/2014/main" id="{49457DCA-A484-4D0E-A37F-0D82A7878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8196" name="投影片編號版面配置區 3">
            <a:extLst>
              <a:ext uri="{FF2B5EF4-FFF2-40B4-BE49-F238E27FC236}">
                <a16:creationId xmlns:a16="http://schemas.microsoft.com/office/drawing/2014/main" id="{E54CE747-C755-4216-8519-EBDB3478A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anose="02020603050405020304" pitchFamily="18" charset="0"/>
              </a:defRPr>
            </a:lvl9pPr>
          </a:lstStyle>
          <a:p>
            <a:fld id="{0EDB43DC-CD23-45E8-B4A8-E0D116AC4417}" type="slidenum">
              <a:rPr lang="en-US" altLang="zh-TW" sz="1100" b="0" smtClean="0">
                <a:solidFill>
                  <a:schemeClr val="tx1"/>
                </a:solidFill>
              </a:rPr>
              <a:pPr/>
              <a:t>34</a:t>
            </a:fld>
            <a:endParaRPr lang="en-US" altLang="zh-TW" sz="11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836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23512A-C98C-4A4B-ABD1-959A9FC71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F25623-F671-4CF7-98D3-E5650ADF1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9907F5-8CA1-4290-8BF2-0EFA8DD94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ECEE8C-443F-4F98-8200-1A20A3AD3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3E5AC6-BE8A-4EB2-A26D-A15DBC4F8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4387155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972180-86BE-4D05-A918-BB563E5C5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82DE18-75EA-4E77-9769-CC7564B54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F41274-CD07-4F93-B327-A90EFC808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6874632-824A-42AD-930E-4F6B80298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880BDC-35AB-44D9-AE7A-4595218B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4555468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5A969E-E4A3-4E93-9C6B-09C56931E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A8DCEBB-704A-49F1-9CFE-7ADDE0095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5769AA-7413-4F23-AD82-A58147EBB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0232342-6126-4931-A32E-55CA0FEEC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837527-5E64-47DA-8601-99EE98671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50925632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96F35B-F96B-4864-9475-AB49516EB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19B4D2-0C3F-4DBB-A8BC-0064372113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C718853-6D8E-409E-AAFF-D1BDCFFE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C5223C0-6ACD-41E5-9958-125CDDC6A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A67934-8157-4603-8346-1151C831A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685F9FB-9027-4CB4-B6E5-092DE27E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86554187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68967-F9D4-4535-9B12-74967A92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61B981-51DB-4F4D-916A-553676E35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34D411E-312C-4242-8BCF-B3EC23404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486FF8F-1E86-44F7-8A94-A1F7F07BAC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8DC3BC5-B4F7-40D8-882D-25D181FE52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3365C0-4736-4A93-8395-B1D2F5615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9E2FD7C-70A3-4336-BAF2-DEAAE86F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D6ECFE2-9C86-495B-9DF4-397BCBFBE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0676085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D0DE38-CEE2-448B-BBC1-FFE8B96DD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C7E0319-B63B-40AD-8FE8-C28014D84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A37CA3C-5AFE-4B3E-8025-6FC4A65B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968EF8B-1E76-4F14-AF98-0AD1A8166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198923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1F67C3D-9AAA-4012-895E-9E1A897FE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65A284C-3E86-4F60-AE18-11CE8C6E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AF3165-DC61-4B89-8493-6B394031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13049003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382D61-7B00-4CE8-A0C1-ACBB4B1C4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6482E9-3FC8-4EA3-ADA9-92CB7A652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ACB4A33-31E8-49F9-8555-EC2242BE4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74D361E-87B2-422B-9443-CDF3546FB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C3F5CA0-A75F-4A42-9F65-01AFB1BBA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A30802-E468-4BC3-8A56-A09AA5BE0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90373971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AF5B04-E852-4649-8BBB-2C608FE59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3EE4B81-EEF6-48D5-9367-C9A72601E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033EC58-38EE-41B5-937B-D595CF727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84D9403-8A88-4E72-9F6F-D500E1BFB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79EAF8-0158-4ED1-B575-DEAA4792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8A3BF0-7FF6-495C-B4BC-ECB6F2EB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2059905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886EA0-6D0A-4F52-A0F5-AF162E2A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8AE09D-5067-4DE8-883E-A944148B1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9B2866-4697-4E70-8E2A-15563B4EC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7E69D2-32B2-4130-B2CF-0B879EF58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AE8E365-0814-4A54-933A-0F9636BF8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9230422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1B5909-D929-420D-A808-D602B7323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7754491-7367-49F4-A015-3428A508E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EF7048-EF40-487D-BBD9-07909196A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E4C0DC-ABF5-446C-849C-75455B688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EC9620-431B-4D40-A393-5AC55AF8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9902735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7C69191-32F8-41AD-A03E-1DFC12F61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7505798-BC9D-4317-9E15-2A79EC7CD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F001CD-1AE2-401F-B161-B5AFB7A2F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1ED707-B6F9-40F9-8AE1-CBFD3D1FF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2693FD-F400-4F1B-BA40-65FE0AC87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76F3A5-FC33-4E62-B254-52CBFF36A0DD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4169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6" r:id="rId1"/>
    <p:sldLayoutId id="2147484467" r:id="rId2"/>
    <p:sldLayoutId id="2147484468" r:id="rId3"/>
    <p:sldLayoutId id="2147484469" r:id="rId4"/>
    <p:sldLayoutId id="2147484470" r:id="rId5"/>
    <p:sldLayoutId id="2147484471" r:id="rId6"/>
    <p:sldLayoutId id="2147484472" r:id="rId7"/>
    <p:sldLayoutId id="2147484473" r:id="rId8"/>
    <p:sldLayoutId id="2147484474" r:id="rId9"/>
    <p:sldLayoutId id="2147484475" r:id="rId10"/>
    <p:sldLayoutId id="2147484476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arn@ntu.edu.t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farn@ntu.edu.tw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://cc.ee.ntu.edu.tw/~farn/courses/ST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comments" Target="../comments/commen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jpe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erformancelab.com.br/home" TargetMode="External"/><Relationship Id="rId3" Type="http://schemas.openxmlformats.org/officeDocument/2006/relationships/hyperlink" Target="https://www.v-cubed.net/" TargetMode="External"/><Relationship Id="rId7" Type="http://schemas.openxmlformats.org/officeDocument/2006/relationships/hyperlink" Target="https://www.parasoft.com/" TargetMode="External"/><Relationship Id="rId2" Type="http://schemas.openxmlformats.org/officeDocument/2006/relationships/hyperlink" Target="https://www.qualitylogic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eotys.com/" TargetMode="External"/><Relationship Id="rId11" Type="http://schemas.openxmlformats.org/officeDocument/2006/relationships/hyperlink" Target="https://tenon.io/" TargetMode="External"/><Relationship Id="rId5" Type="http://schemas.openxmlformats.org/officeDocument/2006/relationships/hyperlink" Target="http://www.itautomation.com/" TargetMode="External"/><Relationship Id="rId10" Type="http://schemas.openxmlformats.org/officeDocument/2006/relationships/hyperlink" Target="https://www.symbio.com/" TargetMode="External"/><Relationship Id="rId4" Type="http://schemas.openxmlformats.org/officeDocument/2006/relationships/hyperlink" Target="http://www.valuestreamengineers.com/" TargetMode="External"/><Relationship Id="rId9" Type="http://schemas.openxmlformats.org/officeDocument/2006/relationships/hyperlink" Target="https://www.scnsoft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waretesting.cioreview.com/cxoinsight/the-cost-of-software-testing-nid-27746-cid-112.html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934A73DA-1E6B-477E-9F30-09885ACEA53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533400"/>
            <a:ext cx="9144000" cy="2870200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lang="en-US" altLang="zh-TW" b="1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Software Testing &amp; Security Checking</a:t>
            </a:r>
            <a:br>
              <a:rPr lang="en-US" altLang="zh-TW" b="1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</a:br>
            <a:r>
              <a:rPr lang="en-US" altLang="zh-TW" sz="3600" b="1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Fall</a:t>
            </a:r>
            <a:r>
              <a:rPr lang="en-US" altLang="zh-TW" sz="36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2023, EE 5191</a:t>
            </a:r>
            <a:br>
              <a:rPr lang="en-US" altLang="zh-TW" sz="4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</a:br>
            <a:br>
              <a:rPr lang="en-US" altLang="zh-TW" sz="4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</a:br>
            <a:r>
              <a:rPr lang="en-US" altLang="zh-TW" sz="4000" dirty="0"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Syllabus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68FFC3-A138-4177-885A-695A10CAB41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56383"/>
            <a:ext cx="6400800" cy="209515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zh-TW" altLang="en-US" sz="2800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王凡 </a:t>
            </a:r>
            <a:r>
              <a:rPr lang="zh-TW" altLang="en-US" sz="2800" dirty="0">
                <a:ea typeface="新細明體" panose="02020500000000000000" pitchFamily="18" charset="-120"/>
              </a:rPr>
              <a:t>（</a:t>
            </a:r>
            <a:r>
              <a:rPr lang="en-US" altLang="zh-TW" sz="2800" dirty="0" err="1">
                <a:ea typeface="新細明體" panose="02020500000000000000" pitchFamily="18" charset="-120"/>
              </a:rPr>
              <a:t>Farn</a:t>
            </a:r>
            <a:r>
              <a:rPr lang="en-US" altLang="zh-TW" sz="2800" dirty="0">
                <a:ea typeface="新細明體" panose="02020500000000000000" pitchFamily="18" charset="-120"/>
              </a:rPr>
              <a:t> Wang</a:t>
            </a:r>
            <a:r>
              <a:rPr lang="zh-TW" altLang="en-US" sz="2800" dirty="0">
                <a:ea typeface="新細明體" panose="02020500000000000000" pitchFamily="18" charset="-120"/>
              </a:rPr>
              <a:t>）</a:t>
            </a:r>
            <a:endParaRPr lang="en-US" altLang="zh-TW" sz="2800" dirty="0">
              <a:ea typeface="新細明體" panose="02020500000000000000" pitchFamily="18" charset="-120"/>
            </a:endParaRPr>
          </a:p>
          <a:p>
            <a:r>
              <a:rPr lang="en-US" altLang="zh-TW" b="0" dirty="0">
                <a:solidFill>
                  <a:schemeClr val="tx2"/>
                </a:solidFill>
                <a:ea typeface="新細明體" panose="02020500000000000000" pitchFamily="18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farn@ntu.edu.tw</a:t>
            </a:r>
            <a:endParaRPr lang="en-US" altLang="zh-TW" b="0" dirty="0">
              <a:solidFill>
                <a:schemeClr val="tx2"/>
              </a:solidFill>
              <a:ea typeface="新細明體" panose="02020500000000000000" pitchFamily="18" charset="-120"/>
            </a:endParaRPr>
          </a:p>
          <a:p>
            <a:r>
              <a:rPr lang="hsb-DE" altLang="zh-TW" b="0" dirty="0">
                <a:solidFill>
                  <a:schemeClr val="tx2"/>
                </a:solidFill>
                <a:ea typeface="新細明體" panose="02020500000000000000" pitchFamily="18" charset="-120"/>
              </a:rPr>
              <a:t>h</a:t>
            </a:r>
            <a:r>
              <a:rPr lang="en-US" altLang="zh-TW" b="0" dirty="0">
                <a:solidFill>
                  <a:schemeClr val="tx2"/>
                </a:solidFill>
                <a:ea typeface="新細明體" panose="02020500000000000000" pitchFamily="18" charset="-120"/>
              </a:rPr>
              <a:t>ttp://cc.ee.ntu.edu.tw/ST</a:t>
            </a:r>
          </a:p>
          <a:p>
            <a:endParaRPr lang="en-US" altLang="zh-TW" b="0" dirty="0">
              <a:latin typeface="華康儷楷書(P)" panose="03000500000000000000" pitchFamily="66" charset="-120"/>
              <a:ea typeface="華康儷楷書(P)" panose="03000500000000000000" pitchFamily="66" charset="-120"/>
              <a:cs typeface="華康儷楷書(P)" panose="03000500000000000000" pitchFamily="66" charset="-120"/>
            </a:endParaRPr>
          </a:p>
          <a:p>
            <a:r>
              <a:rPr lang="zh-TW" altLang="en-US" b="0" dirty="0">
                <a:latin typeface="華康儷楷書(P)" panose="03000500000000000000" pitchFamily="66" charset="-120"/>
                <a:ea typeface="華康儷楷書(P)" panose="03000500000000000000" pitchFamily="66" charset="-120"/>
                <a:cs typeface="華康儷楷書(P)" panose="03000500000000000000" pitchFamily="66" charset="-120"/>
              </a:rPr>
              <a:t>國立臺灣大學 電機工程學系</a:t>
            </a:r>
            <a:endParaRPr lang="en-US" altLang="zh-TW" b="0" dirty="0">
              <a:latin typeface="華康儷楷書(P)" panose="03000500000000000000" pitchFamily="66" charset="-120"/>
              <a:ea typeface="華康儷楷書(P)" panose="03000500000000000000" pitchFamily="66" charset="-120"/>
              <a:cs typeface="華康儷楷書(P)" panose="03000500000000000000" pitchFamily="66" charset="-120"/>
            </a:endParaRPr>
          </a:p>
        </p:txBody>
      </p:sp>
    </p:spTree>
  </p:cSld>
  <p:clrMapOvr>
    <a:masterClrMapping/>
  </p:clrMapOvr>
  <p:transition spd="med" advTm="6643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1434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Textbook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654" y="1366560"/>
            <a:ext cx="8126691" cy="10866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3200" b="0" dirty="0">
                <a:ea typeface="新細明體" panose="02020500000000000000" pitchFamily="18" charset="-120"/>
              </a:rPr>
              <a:t>Introduction to Software Testing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</a:t>
            </a:fld>
            <a:endParaRPr lang="en-US" altLang="zh-TW" sz="900" b="0" dirty="0"/>
          </a:p>
        </p:txBody>
      </p:sp>
      <p:pic>
        <p:nvPicPr>
          <p:cNvPr id="196610" name="Picture 2" descr="https://cs.gmu.edu/~offutt/softwaretest/SecondEditionCover.jpg">
            <a:extLst>
              <a:ext uri="{FF2B5EF4-FFF2-40B4-BE49-F238E27FC236}">
                <a16:creationId xmlns:a16="http://schemas.microsoft.com/office/drawing/2014/main" id="{1EDE5AF5-4B43-443C-8415-D961C98DC7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43" y="1937061"/>
            <a:ext cx="2802718" cy="4032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9EAD921-61C2-4FF4-8C01-3BBE00B1B006}"/>
              </a:ext>
            </a:extLst>
          </p:cNvPr>
          <p:cNvSpPr txBox="1">
            <a:spLocks/>
          </p:cNvSpPr>
          <p:nvPr/>
        </p:nvSpPr>
        <p:spPr bwMode="auto">
          <a:xfrm>
            <a:off x="3440550" y="2500587"/>
            <a:ext cx="5347196" cy="2674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Monotype Sorts"/>
              <a:buNone/>
            </a:pPr>
            <a:r>
              <a:rPr lang="en-US" altLang="zh-TW" sz="2800" b="0" i="1" kern="0" dirty="0">
                <a:solidFill>
                  <a:schemeClr val="accent1"/>
                </a:solidFill>
                <a:ea typeface="新細明體" panose="02020500000000000000" pitchFamily="18" charset="-120"/>
              </a:rPr>
              <a:t>Paul Ammann and Jeff Offutt</a:t>
            </a:r>
          </a:p>
          <a:p>
            <a:pPr marL="0" indent="0">
              <a:buFont typeface="Monotype Sorts"/>
              <a:buNone/>
            </a:pPr>
            <a:endParaRPr lang="en-US" altLang="zh-TW" sz="2800" b="0" kern="0" dirty="0">
              <a:solidFill>
                <a:schemeClr val="accent1"/>
              </a:solidFill>
              <a:ea typeface="新細明體" panose="02020500000000000000" pitchFamily="18" charset="-120"/>
            </a:endParaRPr>
          </a:p>
          <a:p>
            <a:pPr marL="0" indent="0">
              <a:buFont typeface="Monotype Sorts"/>
              <a:buNone/>
            </a:pPr>
            <a:r>
              <a:rPr lang="en-US" altLang="zh-TW" b="0" kern="0" dirty="0">
                <a:solidFill>
                  <a:schemeClr val="accent1"/>
                </a:solidFill>
                <a:ea typeface="新細明體" panose="02020500000000000000" pitchFamily="18" charset="-120"/>
              </a:rPr>
              <a:t>related materials in </a:t>
            </a:r>
          </a:p>
          <a:p>
            <a:pPr marL="0" indent="0">
              <a:buFont typeface="Monotype Sorts"/>
              <a:buNone/>
            </a:pPr>
            <a:r>
              <a:rPr lang="en-US" altLang="zh-TW" b="0" kern="0" dirty="0">
                <a:solidFill>
                  <a:schemeClr val="accent1"/>
                </a:solidFill>
                <a:ea typeface="新細明體" panose="02020500000000000000" pitchFamily="18" charset="-120"/>
              </a:rPr>
              <a:t>http://cs.gmu.edu/~offutt/softwaretest/</a:t>
            </a:r>
          </a:p>
        </p:txBody>
      </p:sp>
    </p:spTree>
    <p:extLst>
      <p:ext uri="{BB962C8B-B14F-4D97-AF65-F5344CB8AC3E}">
        <p14:creationId xmlns:p14="http://schemas.microsoft.com/office/powerpoint/2010/main" val="1568211718"/>
      </p:ext>
    </p:extLst>
  </p:cSld>
  <p:clrMapOvr>
    <a:masterClrMapping/>
  </p:clrMapOvr>
  <p:transition spd="med" advTm="106705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05694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Class</a:t>
            </a:r>
            <a:r>
              <a:rPr lang="zh-TW" altLang="en-US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 </a:t>
            </a:r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Information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15440"/>
            <a:ext cx="8323580" cy="4761547"/>
          </a:xfrm>
        </p:spPr>
        <p:txBody>
          <a:bodyPr>
            <a:normAutofit/>
          </a:bodyPr>
          <a:lstStyle/>
          <a:p>
            <a:r>
              <a:rPr lang="zh-TW" altLang="en-US" sz="2800" b="0" dirty="0">
                <a:solidFill>
                  <a:schemeClr val="tx2"/>
                </a:solidFill>
                <a:ea typeface="新細明體" panose="02020500000000000000" pitchFamily="18" charset="-120"/>
              </a:rPr>
              <a:t>課號：</a:t>
            </a:r>
            <a:r>
              <a:rPr lang="en-US" altLang="zh-TW" sz="2800" b="0" dirty="0">
                <a:solidFill>
                  <a:schemeClr val="tx2"/>
                </a:solidFill>
                <a:ea typeface="新細明體" panose="02020500000000000000" pitchFamily="18" charset="-120"/>
              </a:rPr>
              <a:t>EE</a:t>
            </a:r>
            <a:r>
              <a:rPr lang="zh-TW" altLang="en-US" sz="2800" b="0" dirty="0">
                <a:solidFill>
                  <a:schemeClr val="tx2"/>
                </a:solidFill>
                <a:ea typeface="新細明體" panose="02020500000000000000" pitchFamily="18" charset="-120"/>
              </a:rPr>
              <a:t> </a:t>
            </a:r>
            <a:r>
              <a:rPr lang="en-US" altLang="zh-TW" sz="2800" dirty="0">
                <a:solidFill>
                  <a:schemeClr val="tx2"/>
                </a:solidFill>
              </a:rPr>
              <a:t>5191		Credits: 3</a:t>
            </a:r>
            <a:endParaRPr lang="en-US" altLang="zh-TW" sz="2800" b="0" dirty="0">
              <a:solidFill>
                <a:schemeClr val="tx2"/>
              </a:solidFill>
              <a:ea typeface="新細明體" panose="02020500000000000000" pitchFamily="18" charset="-120"/>
            </a:endParaRPr>
          </a:p>
          <a:p>
            <a:pPr marL="342900" lvl="1" indent="0">
              <a:buNone/>
            </a:pPr>
            <a:r>
              <a:rPr lang="en-US" altLang="zh-TW" sz="2400" dirty="0">
                <a:ea typeface="新細明體" panose="02020500000000000000" pitchFamily="18" charset="-120"/>
              </a:rPr>
              <a:t>Fall</a:t>
            </a:r>
            <a:r>
              <a:rPr lang="en-US" altLang="zh-TW" sz="2400" b="0" dirty="0">
                <a:ea typeface="新細明體" panose="02020500000000000000" pitchFamily="18" charset="-120"/>
              </a:rPr>
              <a:t> 2023, Wednesday, 9:10am-12:00noon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Classroom: BL 112              </a:t>
            </a:r>
          </a:p>
          <a:p>
            <a:r>
              <a:rPr lang="zh-TW" altLang="en-US" sz="2800" b="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王 凡 教授</a:t>
            </a:r>
            <a:endParaRPr lang="en-US" altLang="zh-TW" sz="2800" b="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1" indent="0">
              <a:buNone/>
            </a:pPr>
            <a:r>
              <a:rPr lang="zh-TW" altLang="en-US" sz="2400" b="0" dirty="0">
                <a:ea typeface="新細明體" panose="02020500000000000000" pitchFamily="18" charset="-120"/>
              </a:rPr>
              <a:t>博理館</a:t>
            </a:r>
            <a:r>
              <a:rPr lang="en-US" altLang="zh-TW" sz="2400" b="0" dirty="0">
                <a:ea typeface="新細明體" panose="02020500000000000000" pitchFamily="18" charset="-120"/>
              </a:rPr>
              <a:t>616</a:t>
            </a:r>
            <a:r>
              <a:rPr lang="zh-TW" altLang="en-US" sz="2400" b="0" dirty="0">
                <a:ea typeface="新細明體" panose="02020500000000000000" pitchFamily="18" charset="-120"/>
              </a:rPr>
              <a:t>，</a:t>
            </a:r>
            <a:r>
              <a:rPr lang="en-US" altLang="zh-TW" sz="2400" b="0" dirty="0">
                <a:ea typeface="新細明體" panose="02020500000000000000" pitchFamily="18" charset="-120"/>
              </a:rPr>
              <a:t>02-33663602</a:t>
            </a:r>
          </a:p>
          <a:p>
            <a:pPr marL="342900" lvl="1" indent="0">
              <a:buNone/>
            </a:pPr>
            <a:r>
              <a:rPr lang="en-US" altLang="zh-TW" b="0" dirty="0">
                <a:ea typeface="新細明體" panose="02020500000000000000" pitchFamily="18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farn@ntu.edu.tw</a:t>
            </a:r>
            <a:endParaRPr lang="en-US" altLang="zh-TW" b="0" dirty="0">
              <a:ea typeface="新細明體" panose="02020500000000000000" pitchFamily="18" charset="-120"/>
            </a:endParaRPr>
          </a:p>
          <a:p>
            <a:pPr marL="342900" lvl="1" indent="0">
              <a:buNone/>
            </a:pPr>
            <a:r>
              <a:rPr lang="en-US" altLang="zh-TW" b="0" dirty="0">
                <a:ea typeface="新細明體" panose="02020500000000000000" pitchFamily="18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http://cc.ee.ntu.edu.tw/~farn/courses/ST</a:t>
            </a:r>
            <a:endParaRPr lang="en-US" altLang="zh-TW" b="0" dirty="0">
              <a:ea typeface="新細明體" panose="02020500000000000000" pitchFamily="18" charset="-120"/>
            </a:endParaRPr>
          </a:p>
          <a:p>
            <a:r>
              <a:rPr lang="zh-TW" altLang="en-US" sz="2800" b="0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助教：黃浩然</a:t>
            </a:r>
            <a:endParaRPr lang="en-US" altLang="zh-TW" sz="2800" b="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lvl="1" indent="0">
              <a:buNone/>
            </a:pPr>
            <a:r>
              <a:rPr lang="zh-TW" altLang="en-US" sz="2400" b="0" dirty="0">
                <a:ea typeface="新細明體" panose="02020500000000000000" pitchFamily="18" charset="-120"/>
              </a:rPr>
              <a:t>博理館</a:t>
            </a:r>
            <a:r>
              <a:rPr lang="en-US" altLang="zh-TW" sz="2400" b="0" dirty="0">
                <a:ea typeface="新細明體" panose="02020500000000000000" pitchFamily="18" charset="-120"/>
              </a:rPr>
              <a:t>618  </a:t>
            </a:r>
          </a:p>
          <a:p>
            <a:pPr marL="342900" lvl="1" indent="0">
              <a:buNone/>
            </a:pPr>
            <a:r>
              <a:rPr lang="en-US" altLang="zh-TW" sz="2400" dirty="0"/>
              <a:t>r11921104@ntu.edu.tw</a:t>
            </a:r>
            <a:endParaRPr lang="en-US" altLang="zh-TW" sz="2400" b="0" dirty="0">
              <a:ea typeface="新細明體" panose="02020500000000000000" pitchFamily="18" charset="-120"/>
            </a:endParaRPr>
          </a:p>
          <a:p>
            <a:pPr marL="342900" lvl="1" indent="0">
              <a:buNone/>
            </a:pPr>
            <a:r>
              <a:rPr lang="en-US" altLang="zh-TW" sz="2400" b="0" dirty="0">
                <a:ea typeface="新細明體" panose="02020500000000000000" pitchFamily="18" charset="-120"/>
              </a:rPr>
              <a:t>Office hour: Wednesday 12:00noon -13:00pm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0DA960-A70A-42C6-99B1-78814E79D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</a:t>
            </a:fld>
            <a:endParaRPr lang="en-US" altLang="zh-TW" sz="900" b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108B8E8-B47D-47B7-90EB-6F6A4D73C9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581" y="2570722"/>
            <a:ext cx="1956930" cy="2916458"/>
          </a:xfrm>
          <a:prstGeom prst="rect">
            <a:avLst/>
          </a:prstGeom>
        </p:spPr>
      </p:pic>
    </p:spTree>
  </p:cSld>
  <p:clrMapOvr>
    <a:masterClrMapping/>
  </p:clrMapOvr>
  <p:transition spd="med" advTm="150162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BBE1AF76-7611-40D0-BE20-D02133C7CEDD}"/>
              </a:ext>
            </a:extLst>
          </p:cNvPr>
          <p:cNvSpPr txBox="1">
            <a:spLocks/>
          </p:cNvSpPr>
          <p:nvPr/>
        </p:nvSpPr>
        <p:spPr>
          <a:xfrm>
            <a:off x="4246880" y="1338360"/>
            <a:ext cx="4724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測試成本居高不下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30-35%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研發成本：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具圖形介面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APP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35-50%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：如果還有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server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持續高漲中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DAD641DD-1CC9-4791-BCFE-4F69FF63B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50" y="1338360"/>
            <a:ext cx="3668510" cy="323694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BA4DA3D5-9B1D-46E7-9F13-8C945E2FFF5C}"/>
              </a:ext>
            </a:extLst>
          </p:cNvPr>
          <p:cNvSpPr/>
          <p:nvPr/>
        </p:nvSpPr>
        <p:spPr>
          <a:xfrm>
            <a:off x="1478845" y="408671"/>
            <a:ext cx="5994009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D423AE3-983A-40F2-80D3-DAE70F24B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4735548"/>
            <a:ext cx="7886700" cy="179733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2800" b="0">
                <a:ea typeface="新細明體" panose="02020500000000000000" pitchFamily="18" charset="-120"/>
              </a:rPr>
              <a:t>Software </a:t>
            </a:r>
            <a:r>
              <a:rPr lang="en-US" altLang="zh-TW" sz="2800">
                <a:ea typeface="新細明體" panose="02020500000000000000" pitchFamily="18" charset="-120"/>
              </a:rPr>
              <a:t>QA &amp; </a:t>
            </a:r>
            <a:r>
              <a:rPr lang="en-US" altLang="zh-TW" sz="2800" b="0">
                <a:ea typeface="新細明體" panose="02020500000000000000" pitchFamily="18" charset="-120"/>
              </a:rPr>
              <a:t>security is a highly visible and fast-growing sector of software testing.  </a:t>
            </a:r>
          </a:p>
          <a:p>
            <a:r>
              <a:rPr lang="en-US" altLang="zh-TW" sz="2800" b="0">
                <a:ea typeface="新細明體" panose="02020500000000000000" pitchFamily="18" charset="-120"/>
              </a:rPr>
              <a:t>Taiwan's high-tech companies do not think that they should spend money in software testing. 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>
                <a:ea typeface="新細明體" panose="02020500000000000000" pitchFamily="18" charset="-120"/>
              </a:rPr>
              <a:t>Taiwan's industrial strength in OEM and ODM</a:t>
            </a:r>
            <a:endParaRPr lang="en-US" altLang="zh-TW" sz="2400" b="0" dirty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1329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8783" y="429777"/>
            <a:ext cx="6346433" cy="1059731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產業分析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6754" y="1363579"/>
            <a:ext cx="8140046" cy="3827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軟體品管預算膨脹迅速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目前一般軟體開發計畫，</a:t>
            </a:r>
            <a:r>
              <a:rPr lang="en-US" altLang="zh-TW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30</a:t>
            </a:r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％以上成本與時間都花在測試與品管。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若能降低</a:t>
            </a:r>
            <a:r>
              <a:rPr lang="en-US" altLang="zh-TW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％軟體品管成本，就可提昇公司</a:t>
            </a:r>
            <a:r>
              <a:rPr lang="en-US" altLang="zh-TW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％獲利。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軟體品管技術交流不易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空有天下優良軟體工程師，卻只能進行手工測試。</a:t>
            </a: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目前一般透過網路廣告，測試需求顧客與軟體測試服務公司個別接洽！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14325" indent="-4572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底層結構（</a:t>
            </a:r>
            <a:r>
              <a:rPr lang="en-US" altLang="zh-TW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infrastructure</a:t>
            </a:r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）把持在少數測試工具公司！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AD00D-13EE-48FB-91E7-EB5EE0A1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09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39F9CE3-CDCD-95A0-6D51-49171F44BF7F}"/>
              </a:ext>
            </a:extLst>
          </p:cNvPr>
          <p:cNvSpPr/>
          <p:nvPr/>
        </p:nvSpPr>
        <p:spPr>
          <a:xfrm>
            <a:off x="499292" y="2401561"/>
            <a:ext cx="2784377" cy="87251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400" b="1" dirty="0">
                <a:solidFill>
                  <a:srgbClr val="00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SA/SD</a:t>
            </a:r>
            <a:r>
              <a:rPr lang="zh-TW" altLang="en-US" sz="2400" b="1" dirty="0">
                <a:solidFill>
                  <a:srgbClr val="00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400" b="1" dirty="0">
                <a:solidFill>
                  <a:srgbClr val="00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33</a:t>
            </a:r>
            <a:r>
              <a:rPr lang="zh-TW" altLang="en-US" sz="2400" b="1" dirty="0">
                <a:solidFill>
                  <a:srgbClr val="00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％）</a:t>
            </a:r>
            <a:endParaRPr lang="en-US" altLang="zh-TW" sz="2400" b="1" dirty="0">
              <a:solidFill>
                <a:srgbClr val="000066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2400" b="1" dirty="0">
                <a:solidFill>
                  <a:srgbClr val="00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系統分析</a:t>
            </a:r>
            <a:r>
              <a:rPr lang="en-US" altLang="zh-TW" sz="2400" b="1" dirty="0">
                <a:solidFill>
                  <a:srgbClr val="00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b="1" dirty="0">
                <a:solidFill>
                  <a:srgbClr val="00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系統設計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8C547E3-E564-43F2-8C84-2D7300030C62}"/>
              </a:ext>
            </a:extLst>
          </p:cNvPr>
          <p:cNvSpPr/>
          <p:nvPr/>
        </p:nvSpPr>
        <p:spPr>
          <a:xfrm>
            <a:off x="2244752" y="3692840"/>
            <a:ext cx="4320473" cy="693577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700" b="1" dirty="0">
                <a:solidFill>
                  <a:srgbClr val="00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程式撰寫（</a:t>
            </a:r>
            <a:r>
              <a:rPr lang="en-US" altLang="zh-TW" sz="2700" b="1" dirty="0">
                <a:solidFill>
                  <a:srgbClr val="00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50</a:t>
            </a:r>
            <a:r>
              <a:rPr lang="zh-TW" altLang="en-US" sz="2700" b="1" dirty="0">
                <a:solidFill>
                  <a:srgbClr val="00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％）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2DA8FD5-9C81-4766-815F-F66E4AF96EDD}"/>
              </a:ext>
            </a:extLst>
          </p:cNvPr>
          <p:cNvSpPr/>
          <p:nvPr/>
        </p:nvSpPr>
        <p:spPr>
          <a:xfrm>
            <a:off x="5384519" y="4768994"/>
            <a:ext cx="2857664" cy="69357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測試</a:t>
            </a:r>
            <a:r>
              <a:rPr lang="zh-TW" altLang="en-US" sz="27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</a:t>
            </a:r>
            <a:r>
              <a:rPr lang="en-US" altLang="zh-TW" sz="27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33</a:t>
            </a:r>
            <a:r>
              <a:rPr lang="zh-TW" altLang="en-US" sz="27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％）</a:t>
            </a:r>
            <a:endParaRPr lang="en-US" altLang="zh-TW" sz="27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9" name="投影片編號版面配置區 1">
            <a:extLst>
              <a:ext uri="{FF2B5EF4-FFF2-40B4-BE49-F238E27FC236}">
                <a16:creationId xmlns:a16="http://schemas.microsoft.com/office/drawing/2014/main" id="{65C29496-7C20-49EE-8865-D969B5359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42183" y="5624513"/>
            <a:ext cx="789089" cy="273844"/>
          </a:xfrm>
        </p:spPr>
        <p:txBody>
          <a:bodyPr/>
          <a:lstStyle/>
          <a:p>
            <a:fld id="{B5B69884-6F60-4FCC-B55C-F4944A0C9765}" type="slidenum">
              <a:rPr lang="zh-TW" altLang="en-US" sz="2100" b="1">
                <a:solidFill>
                  <a:schemeClr val="bg1">
                    <a:lumMod val="85000"/>
                  </a:schemeClr>
                </a:solidFill>
              </a:rPr>
              <a:pPr/>
              <a:t>6</a:t>
            </a:fld>
            <a:endParaRPr lang="zh-TW" altLang="en-US" sz="2100" b="1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110" name="直線接點 109">
            <a:extLst>
              <a:ext uri="{FF2B5EF4-FFF2-40B4-BE49-F238E27FC236}">
                <a16:creationId xmlns:a16="http://schemas.microsoft.com/office/drawing/2014/main" id="{9F8826A7-2D20-41AD-8DA3-46D407C5558C}"/>
              </a:ext>
            </a:extLst>
          </p:cNvPr>
          <p:cNvCxnSpPr/>
          <p:nvPr/>
        </p:nvCxnSpPr>
        <p:spPr>
          <a:xfrm>
            <a:off x="499292" y="2345225"/>
            <a:ext cx="0" cy="3474441"/>
          </a:xfrm>
          <a:prstGeom prst="line">
            <a:avLst/>
          </a:prstGeom>
          <a:ln w="152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接點 110">
            <a:extLst>
              <a:ext uri="{FF2B5EF4-FFF2-40B4-BE49-F238E27FC236}">
                <a16:creationId xmlns:a16="http://schemas.microsoft.com/office/drawing/2014/main" id="{11A6F027-8138-4F9D-97AF-7DE6CAC06003}"/>
              </a:ext>
            </a:extLst>
          </p:cNvPr>
          <p:cNvCxnSpPr/>
          <p:nvPr/>
        </p:nvCxnSpPr>
        <p:spPr>
          <a:xfrm>
            <a:off x="8242183" y="2302407"/>
            <a:ext cx="0" cy="3474441"/>
          </a:xfrm>
          <a:prstGeom prst="line">
            <a:avLst/>
          </a:prstGeom>
          <a:ln w="152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>
            <a:extLst>
              <a:ext uri="{FF2B5EF4-FFF2-40B4-BE49-F238E27FC236}">
                <a16:creationId xmlns:a16="http://schemas.microsoft.com/office/drawing/2014/main" id="{F74ED6A9-C30A-4265-9C59-F757D74D8F1A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283669" y="2837819"/>
            <a:ext cx="4958514" cy="0"/>
          </a:xfrm>
          <a:prstGeom prst="straightConnector1">
            <a:avLst/>
          </a:prstGeom>
          <a:ln w="1016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>
            <a:extLst>
              <a:ext uri="{FF2B5EF4-FFF2-40B4-BE49-F238E27FC236}">
                <a16:creationId xmlns:a16="http://schemas.microsoft.com/office/drawing/2014/main" id="{902FAEB9-18B5-4312-B5D4-0AF268307A4C}"/>
              </a:ext>
            </a:extLst>
          </p:cNvPr>
          <p:cNvCxnSpPr>
            <a:cxnSpLocks/>
          </p:cNvCxnSpPr>
          <p:nvPr/>
        </p:nvCxnSpPr>
        <p:spPr>
          <a:xfrm>
            <a:off x="499292" y="4039628"/>
            <a:ext cx="1745460" cy="0"/>
          </a:xfrm>
          <a:prstGeom prst="straightConnector1">
            <a:avLst/>
          </a:prstGeom>
          <a:ln w="1016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119">
            <a:extLst>
              <a:ext uri="{FF2B5EF4-FFF2-40B4-BE49-F238E27FC236}">
                <a16:creationId xmlns:a16="http://schemas.microsoft.com/office/drawing/2014/main" id="{ADA0CFA1-6387-4F5A-A732-6668A27FC20E}"/>
              </a:ext>
            </a:extLst>
          </p:cNvPr>
          <p:cNvCxnSpPr>
            <a:cxnSpLocks/>
            <a:stCxn id="53" idx="3"/>
          </p:cNvCxnSpPr>
          <p:nvPr/>
        </p:nvCxnSpPr>
        <p:spPr>
          <a:xfrm>
            <a:off x="6565225" y="4039628"/>
            <a:ext cx="1676958" cy="0"/>
          </a:xfrm>
          <a:prstGeom prst="straightConnector1">
            <a:avLst/>
          </a:prstGeom>
          <a:ln w="1016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122">
            <a:extLst>
              <a:ext uri="{FF2B5EF4-FFF2-40B4-BE49-F238E27FC236}">
                <a16:creationId xmlns:a16="http://schemas.microsoft.com/office/drawing/2014/main" id="{0B3D899E-0745-4BA9-882C-522AE2EDACE4}"/>
              </a:ext>
            </a:extLst>
          </p:cNvPr>
          <p:cNvCxnSpPr>
            <a:cxnSpLocks/>
            <a:endCxn id="54" idx="1"/>
          </p:cNvCxnSpPr>
          <p:nvPr/>
        </p:nvCxnSpPr>
        <p:spPr>
          <a:xfrm>
            <a:off x="499293" y="5115781"/>
            <a:ext cx="4885226" cy="2"/>
          </a:xfrm>
          <a:prstGeom prst="straightConnector1">
            <a:avLst/>
          </a:prstGeom>
          <a:ln w="1016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爆炸: 八角 2">
            <a:extLst>
              <a:ext uri="{FF2B5EF4-FFF2-40B4-BE49-F238E27FC236}">
                <a16:creationId xmlns:a16="http://schemas.microsoft.com/office/drawing/2014/main" id="{A38856E3-C29B-47B7-A5ED-14F5DEC805CC}"/>
              </a:ext>
            </a:extLst>
          </p:cNvPr>
          <p:cNvSpPr/>
          <p:nvPr/>
        </p:nvSpPr>
        <p:spPr>
          <a:xfrm>
            <a:off x="5860333" y="1498302"/>
            <a:ext cx="2949957" cy="1222805"/>
          </a:xfrm>
          <a:prstGeom prst="irregularSeal1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晚一天交件</a:t>
            </a:r>
            <a:endParaRPr lang="en-US" altLang="zh-TW" b="1" dirty="0">
              <a:solidFill>
                <a:schemeClr val="tx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罰</a:t>
            </a:r>
            <a:r>
              <a:rPr lang="en-US" altLang="zh-TW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0.1</a:t>
            </a:r>
            <a:r>
              <a:rPr lang="zh-TW" altLang="en-US" b="1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C0002-C951-1AFC-966E-C986E7C0C766}"/>
              </a:ext>
            </a:extLst>
          </p:cNvPr>
          <p:cNvSpPr txBox="1"/>
          <p:nvPr/>
        </p:nvSpPr>
        <p:spPr>
          <a:xfrm>
            <a:off x="262659" y="1678681"/>
            <a:ext cx="537079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TW" altLang="en-US" sz="2100" b="1" u="sng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痛點 </a:t>
            </a:r>
            <a:r>
              <a:rPr kumimoji="1" lang="en-US" altLang="zh-TW" sz="2100" b="1" u="sng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kumimoji="1" lang="zh-TW" altLang="en-US" sz="2100" b="1" u="sng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2100" b="1" u="sng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kumimoji="1" lang="zh-TW" altLang="en-US" sz="2100" b="1" u="sng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產品交件延誤，所造成的營收損失</a:t>
            </a:r>
            <a:endParaRPr lang="en-US" sz="2100" u="sng" dirty="0">
              <a:solidFill>
                <a:schemeClr val="bg1"/>
              </a:solidFill>
            </a:endParaRPr>
          </a:p>
        </p:txBody>
      </p:sp>
      <p:sp>
        <p:nvSpPr>
          <p:cNvPr id="6" name="矩形 6">
            <a:extLst>
              <a:ext uri="{FF2B5EF4-FFF2-40B4-BE49-F238E27FC236}">
                <a16:creationId xmlns:a16="http://schemas.microsoft.com/office/drawing/2014/main" id="{B860B581-E4DF-5655-A419-E8C68036C372}"/>
              </a:ext>
            </a:extLst>
          </p:cNvPr>
          <p:cNvSpPr/>
          <p:nvPr/>
        </p:nvSpPr>
        <p:spPr>
          <a:xfrm>
            <a:off x="164647" y="1088635"/>
            <a:ext cx="881470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900"/>
              </a:spcBef>
              <a:spcAft>
                <a:spcPct val="0"/>
              </a:spcAft>
              <a:defRPr/>
            </a:pP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產品差異化訴求 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軟體開發業者的核心痛點</a:t>
            </a:r>
            <a:endParaRPr kumimoji="1" lang="zh-TW" altLang="en-US" sz="2100" b="1" dirty="0">
              <a:highlight>
                <a:srgbClr val="FF00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標題 1">
            <a:extLst>
              <a:ext uri="{FF2B5EF4-FFF2-40B4-BE49-F238E27FC236}">
                <a16:creationId xmlns:a16="http://schemas.microsoft.com/office/drawing/2014/main" id="{720ECB62-DC47-4FFA-B5DB-C4FFB901AF9D}"/>
              </a:ext>
            </a:extLst>
          </p:cNvPr>
          <p:cNvSpPr txBox="1">
            <a:spLocks/>
          </p:cNvSpPr>
          <p:nvPr/>
        </p:nvSpPr>
        <p:spPr>
          <a:xfrm>
            <a:off x="1398783" y="429778"/>
            <a:ext cx="6346433" cy="6859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產業分析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7367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BBE1AF76-7611-40D0-BE20-D02133C7CEDD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60080" cy="5241927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現有軟體開發模型測試佔開發預算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30-50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</a:p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尚不考慮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implementation/design/coding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階段之測試成本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F84B5086-D804-450D-9FB9-9B7C9DF627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155584"/>
            <a:ext cx="4572000" cy="4006859"/>
          </a:xfrm>
          <a:prstGeom prst="rect">
            <a:avLst/>
          </a:prstGeom>
        </p:spPr>
      </p:pic>
      <p:pic>
        <p:nvPicPr>
          <p:cNvPr id="55" name="圖片 54">
            <a:extLst>
              <a:ext uri="{FF2B5EF4-FFF2-40B4-BE49-F238E27FC236}">
                <a16:creationId xmlns:a16="http://schemas.microsoft.com/office/drawing/2014/main" id="{77466E3D-3F92-49F0-BFE2-86671C019D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" y="2262669"/>
            <a:ext cx="4687173" cy="40346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854AB49-389B-46DF-B836-A7BB8C7878D2}"/>
              </a:ext>
            </a:extLst>
          </p:cNvPr>
          <p:cNvSpPr/>
          <p:nvPr/>
        </p:nvSpPr>
        <p:spPr>
          <a:xfrm>
            <a:off x="640080" y="408671"/>
            <a:ext cx="7831386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Software Process Models</a:t>
            </a:r>
            <a:endParaRPr kumimoji="1" lang="zh-TW" altLang="en-US" sz="44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858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字版面配置區 2">
            <a:extLst>
              <a:ext uri="{FF2B5EF4-FFF2-40B4-BE49-F238E27FC236}">
                <a16:creationId xmlns:a16="http://schemas.microsoft.com/office/drawing/2014/main" id="{C3EDB2AD-F371-4A58-92F0-E14A6AC357E7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60080" cy="54339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現有軟體開發模型測試佔開發預算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30-50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尚不考慮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implementation/design/coding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階段之測試成本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5" name="圖片 44">
            <a:extLst>
              <a:ext uri="{FF2B5EF4-FFF2-40B4-BE49-F238E27FC236}">
                <a16:creationId xmlns:a16="http://schemas.microsoft.com/office/drawing/2014/main" id="{1F1CAE03-12C2-40BA-8B88-64306CBBA1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054" y="2035717"/>
            <a:ext cx="6746452" cy="2363076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FAC212A5-5CDC-4C17-A658-08687D437A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2" y="3962718"/>
            <a:ext cx="8775698" cy="267860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7E2077E5-08AB-4509-AD29-88BC42D7D4AF}"/>
              </a:ext>
            </a:extLst>
          </p:cNvPr>
          <p:cNvSpPr/>
          <p:nvPr/>
        </p:nvSpPr>
        <p:spPr>
          <a:xfrm>
            <a:off x="640080" y="408671"/>
            <a:ext cx="7831386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Software Process Models</a:t>
            </a:r>
            <a:endParaRPr kumimoji="1" lang="zh-TW" altLang="en-US" sz="44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006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版面配置區 2">
            <a:extLst>
              <a:ext uri="{FF2B5EF4-FFF2-40B4-BE49-F238E27FC236}">
                <a16:creationId xmlns:a16="http://schemas.microsoft.com/office/drawing/2014/main" id="{D8FA6331-2785-46E4-80A7-4357D714D1E7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60080" cy="54339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現有軟體開發模型測試佔開發預算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30-50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尚不考慮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implementation/design/coding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階段之測試成本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pic>
        <p:nvPicPr>
          <p:cNvPr id="41" name="圖片 40">
            <a:extLst>
              <a:ext uri="{FF2B5EF4-FFF2-40B4-BE49-F238E27FC236}">
                <a16:creationId xmlns:a16="http://schemas.microsoft.com/office/drawing/2014/main" id="{49C9D773-69D5-41B2-BAD3-501CB50E3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2035319"/>
            <a:ext cx="3531049" cy="4605988"/>
          </a:xfrm>
          <a:prstGeom prst="rect">
            <a:avLst/>
          </a:prstGeom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D4FD266D-F4BF-41F3-9973-E83806F6CB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8249" y="2108916"/>
            <a:ext cx="4806585" cy="459788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B259D80B-6C62-4FC6-B1C9-23A273AB74F9}"/>
              </a:ext>
            </a:extLst>
          </p:cNvPr>
          <p:cNvSpPr/>
          <p:nvPr/>
        </p:nvSpPr>
        <p:spPr>
          <a:xfrm>
            <a:off x="656307" y="437961"/>
            <a:ext cx="7831386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Software Process Models</a:t>
            </a:r>
            <a:endParaRPr kumimoji="1" lang="zh-TW" altLang="en-US" sz="44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82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版面配置區 2">
            <a:extLst>
              <a:ext uri="{FF2B5EF4-FFF2-40B4-BE49-F238E27FC236}">
                <a16:creationId xmlns:a16="http://schemas.microsoft.com/office/drawing/2014/main" id="{D8FA6331-2785-46E4-80A7-4357D714D1E7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60080" cy="5433925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現有軟體開發模型測試佔開發預算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30-50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%</a:t>
            </a:r>
          </a:p>
          <a:p>
            <a:pPr marL="0" lvl="0" indent="0" fontAlgn="auto">
              <a:spcAft>
                <a:spcPts val="0"/>
              </a:spcAft>
              <a:buNone/>
              <a:defRPr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尚不考慮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implementation/design/coding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階段之測試成本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72DCC9-AD30-40F3-84BC-911A3D895BEE}"/>
              </a:ext>
            </a:extLst>
          </p:cNvPr>
          <p:cNvSpPr/>
          <p:nvPr/>
        </p:nvSpPr>
        <p:spPr>
          <a:xfrm>
            <a:off x="640080" y="408671"/>
            <a:ext cx="7831386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Software Process Models</a:t>
            </a:r>
            <a:endParaRPr kumimoji="1" lang="zh-TW" altLang="en-US" sz="44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47" name="圖片 46">
            <a:extLst>
              <a:ext uri="{FF2B5EF4-FFF2-40B4-BE49-F238E27FC236}">
                <a16:creationId xmlns:a16="http://schemas.microsoft.com/office/drawing/2014/main" id="{4A570471-E2A8-4182-AAAB-CC49552652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89" y="2128754"/>
            <a:ext cx="8910725" cy="4664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05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A3BCC31-EA97-4307-0950-6144BD38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9884-6F60-4FCC-B55C-F4944A0C9765}" type="slidenum">
              <a:rPr lang="zh-TW" altLang="en-US" smtClean="0"/>
              <a:pPr/>
              <a:t>11</a:t>
            </a:fld>
            <a:endParaRPr lang="zh-TW" altLang="en-US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D01335AA-0DCC-4F9E-8627-FC5FE8DA0C4E}"/>
              </a:ext>
            </a:extLst>
          </p:cNvPr>
          <p:cNvSpPr txBox="1"/>
          <p:nvPr/>
        </p:nvSpPr>
        <p:spPr>
          <a:xfrm>
            <a:off x="281845" y="1683961"/>
            <a:ext cx="82459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defRPr/>
            </a:pPr>
            <a:r>
              <a:rPr lang="zh-TW" altLang="en-US" sz="2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顧客素描（</a:t>
            </a:r>
            <a:r>
              <a:rPr lang="en-US" altLang="zh-TW" sz="2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XXXX</a:t>
            </a:r>
            <a:r>
              <a:rPr lang="zh-TW" altLang="en-US" sz="2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科技股份有限公司）</a:t>
            </a:r>
            <a:endParaRPr lang="en-US" altLang="zh-TW" sz="2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9B016F2-9FC3-437A-AA91-8BC3A0ABA8ED}"/>
              </a:ext>
            </a:extLst>
          </p:cNvPr>
          <p:cNvSpPr txBox="1"/>
          <p:nvPr/>
        </p:nvSpPr>
        <p:spPr>
          <a:xfrm>
            <a:off x="6135500" y="2794848"/>
            <a:ext cx="2726656" cy="230832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30+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與電信公司作聯合資訊服務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或自行經營資訊服務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無專門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QA/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測試人力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專案可能有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2/3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名測試人力，也負責程式</a:t>
            </a:r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09CEB36F-6D8F-4750-87F7-349D43742201}"/>
              </a:ext>
            </a:extLst>
          </p:cNvPr>
          <p:cNvSpPr txBox="1"/>
          <p:nvPr/>
        </p:nvSpPr>
        <p:spPr>
          <a:xfrm>
            <a:off x="712449" y="4137493"/>
            <a:ext cx="2726656" cy="147732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全人力，沒自動化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人力不穩定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不足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測試需求變更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客戶測試不過恐慌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遲交每日罰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1/1000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2E09F7DE-0AEC-47B4-963A-30CFD188083D}"/>
              </a:ext>
            </a:extLst>
          </p:cNvPr>
          <p:cNvSpPr txBox="1"/>
          <p:nvPr/>
        </p:nvSpPr>
        <p:spPr>
          <a:xfrm>
            <a:off x="1087023" y="2425971"/>
            <a:ext cx="272665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準時通過客戶驗收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提昇產品形象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6">
            <a:extLst>
              <a:ext uri="{FF2B5EF4-FFF2-40B4-BE49-F238E27FC236}">
                <a16:creationId xmlns:a16="http://schemas.microsoft.com/office/drawing/2014/main" id="{ED1C18C4-8DED-9F9A-7153-1702985C7B8B}"/>
              </a:ext>
            </a:extLst>
          </p:cNvPr>
          <p:cNvSpPr/>
          <p:nvPr/>
        </p:nvSpPr>
        <p:spPr>
          <a:xfrm>
            <a:off x="216568" y="1023152"/>
            <a:ext cx="881470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900"/>
              </a:spcBef>
              <a:spcAft>
                <a:spcPct val="0"/>
              </a:spcAft>
              <a:defRPr/>
            </a:pP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產品差異化訴求 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客戶素描 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kumimoji="1" lang="zh-TW" altLang="en-US" sz="2100" b="1" dirty="0">
              <a:highlight>
                <a:srgbClr val="FF00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F6F1ADA-E2C8-424B-9D10-475623568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730" y="1978353"/>
            <a:ext cx="3911990" cy="3744184"/>
          </a:xfrm>
          <a:prstGeom prst="rect">
            <a:avLst/>
          </a:prstGeom>
          <a:noFill/>
        </p:spPr>
      </p:pic>
      <p:sp>
        <p:nvSpPr>
          <p:cNvPr id="10" name="標題 1">
            <a:extLst>
              <a:ext uri="{FF2B5EF4-FFF2-40B4-BE49-F238E27FC236}">
                <a16:creationId xmlns:a16="http://schemas.microsoft.com/office/drawing/2014/main" id="{D0AE5A44-44F7-4FF0-AAA3-EA33556902AE}"/>
              </a:ext>
            </a:extLst>
          </p:cNvPr>
          <p:cNvSpPr txBox="1">
            <a:spLocks/>
          </p:cNvSpPr>
          <p:nvPr/>
        </p:nvSpPr>
        <p:spPr>
          <a:xfrm>
            <a:off x="1398783" y="429778"/>
            <a:ext cx="6346433" cy="6859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產業分析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07273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A3BCC31-EA97-4307-0950-6144BD38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69884-6F60-4FCC-B55C-F4944A0C9765}" type="slidenum">
              <a:rPr lang="zh-TW" altLang="en-US" smtClean="0"/>
              <a:pPr/>
              <a:t>12</a:t>
            </a:fld>
            <a:endParaRPr lang="zh-TW" altLang="en-US" dirty="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D01335AA-0DCC-4F9E-8627-FC5FE8DA0C4E}"/>
              </a:ext>
            </a:extLst>
          </p:cNvPr>
          <p:cNvSpPr txBox="1"/>
          <p:nvPr/>
        </p:nvSpPr>
        <p:spPr>
          <a:xfrm>
            <a:off x="281845" y="1683961"/>
            <a:ext cx="82459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50"/>
              </a:spcBef>
              <a:defRPr/>
            </a:pPr>
            <a:r>
              <a:rPr lang="zh-TW" altLang="en-US" sz="2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顧客素描（飛象資訊股份有限公司）</a:t>
            </a:r>
            <a:endParaRPr lang="en-US" altLang="zh-TW" sz="2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 6">
            <a:extLst>
              <a:ext uri="{FF2B5EF4-FFF2-40B4-BE49-F238E27FC236}">
                <a16:creationId xmlns:a16="http://schemas.microsoft.com/office/drawing/2014/main" id="{10073BEC-D233-0178-D74B-82890232D8ED}"/>
              </a:ext>
            </a:extLst>
          </p:cNvPr>
          <p:cNvSpPr/>
          <p:nvPr/>
        </p:nvSpPr>
        <p:spPr>
          <a:xfrm>
            <a:off x="216568" y="1023152"/>
            <a:ext cx="881470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900"/>
              </a:spcBef>
              <a:spcAft>
                <a:spcPct val="0"/>
              </a:spcAft>
              <a:defRPr/>
            </a:pP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產品差異化訴求 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客戶素描 </a:t>
            </a:r>
            <a:r>
              <a:rPr lang="en-US" altLang="zh-TW" sz="3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kumimoji="1" lang="zh-TW" altLang="en-US" sz="2100" b="1" dirty="0">
              <a:highlight>
                <a:srgbClr val="FF0000"/>
              </a:highlight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96EEA8B-4849-48B6-84C4-DC146682A842}"/>
              </a:ext>
            </a:extLst>
          </p:cNvPr>
          <p:cNvSpPr txBox="1"/>
          <p:nvPr/>
        </p:nvSpPr>
        <p:spPr>
          <a:xfrm>
            <a:off x="6200775" y="2680831"/>
            <a:ext cx="2726656" cy="147732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12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資訊整合服務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資安掃瞄服務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一個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QA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支援三個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PM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0EE17A0-D88D-4F34-BC98-3E862D993064}"/>
              </a:ext>
            </a:extLst>
          </p:cNvPr>
          <p:cNvSpPr txBox="1"/>
          <p:nvPr/>
        </p:nvSpPr>
        <p:spPr>
          <a:xfrm>
            <a:off x="485676" y="3753192"/>
            <a:ext cx="4278796" cy="203132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自動化工具效果不佳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Selenium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投資回饋低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人力不穩定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不足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自動掃瞄工具授權昂貴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測試需求變更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客戶測試不過恐慌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遲交每日罰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1/1000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，最高達</a:t>
            </a:r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20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％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2EC6B09-94D7-4547-8FF5-4CC23EAF158D}"/>
              </a:ext>
            </a:extLst>
          </p:cNvPr>
          <p:cNvSpPr txBox="1"/>
          <p:nvPr/>
        </p:nvSpPr>
        <p:spPr>
          <a:xfrm>
            <a:off x="1152299" y="2311954"/>
            <a:ext cx="2726656" cy="92333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準時通過客戶驗收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降低測試工具費用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降低人力成本</a:t>
            </a:r>
            <a:endParaRPr lang="en-US" altLang="zh-TW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標題 1">
            <a:extLst>
              <a:ext uri="{FF2B5EF4-FFF2-40B4-BE49-F238E27FC236}">
                <a16:creationId xmlns:a16="http://schemas.microsoft.com/office/drawing/2014/main" id="{F2EB2DD2-0C64-4866-A421-D104A83611D7}"/>
              </a:ext>
            </a:extLst>
          </p:cNvPr>
          <p:cNvSpPr txBox="1">
            <a:spLocks/>
          </p:cNvSpPr>
          <p:nvPr/>
        </p:nvSpPr>
        <p:spPr>
          <a:xfrm>
            <a:off x="1398783" y="429778"/>
            <a:ext cx="6346433" cy="6859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產業分析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F6F1ADA-E2C8-424B-9D10-4756235686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730" y="1978353"/>
            <a:ext cx="3911990" cy="37441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878260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63E853-85D7-4027-8538-8596136A08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</a:t>
            </a:r>
            <a:r>
              <a:rPr kumimoji="1" lang="zh-TW" altLang="en-US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8FF60-C04A-4FE2-AAC3-79761DF7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sz="3200" i="1" dirty="0"/>
              <a:t>Functional Testing</a:t>
            </a:r>
          </a:p>
          <a:p>
            <a:r>
              <a:rPr lang="en-US" altLang="zh-TW" sz="2700" dirty="0"/>
              <a:t>Unit testing</a:t>
            </a:r>
          </a:p>
          <a:p>
            <a:r>
              <a:rPr lang="en-US" altLang="zh-TW" sz="2700" dirty="0"/>
              <a:t>Integration testing</a:t>
            </a:r>
          </a:p>
          <a:p>
            <a:r>
              <a:rPr lang="en-US" altLang="zh-TW" sz="2700" dirty="0"/>
              <a:t>End-to-end testing</a:t>
            </a:r>
          </a:p>
          <a:p>
            <a:r>
              <a:rPr lang="en-US" altLang="zh-TW" sz="2700" dirty="0"/>
              <a:t>Smoke testing</a:t>
            </a:r>
          </a:p>
          <a:p>
            <a:r>
              <a:rPr lang="en-US" altLang="zh-TW" sz="2700" dirty="0"/>
              <a:t>Sanity testing</a:t>
            </a:r>
          </a:p>
          <a:p>
            <a:r>
              <a:rPr lang="en-US" altLang="zh-TW" sz="2700" dirty="0"/>
              <a:t>Regression testing</a:t>
            </a:r>
          </a:p>
          <a:p>
            <a:r>
              <a:rPr lang="en-US" altLang="zh-TW" sz="2700" dirty="0"/>
              <a:t>Acceptance testing</a:t>
            </a:r>
          </a:p>
          <a:p>
            <a:r>
              <a:rPr lang="en-US" altLang="zh-TW" sz="2700" dirty="0"/>
              <a:t>Interface testing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DB98CA-00D9-4EE0-8DB7-B5F70E6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Software Testing  &amp; Security Checking, Syllabus</a:t>
            </a:r>
            <a:endParaRPr lang="en-US" altLang="zh-TW" u="sng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DE488F-1ADB-431F-87EC-D78A8C6E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9B4D84-F833-4C76-A630-A678D2B4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8DAA4F-BB26-4595-AE00-9EC242E06411}" type="slidenum">
              <a:rPr lang="en-US" altLang="zh-TW" smtClean="0"/>
              <a:pPr>
                <a:defRPr/>
              </a:pPr>
              <a:t>13</a:t>
            </a:fld>
            <a:endParaRPr lang="en-US" altLang="zh-TW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9B9C515-F289-4AD6-9389-C775D210CF0F}"/>
              </a:ext>
            </a:extLst>
          </p:cNvPr>
          <p:cNvSpPr txBox="1">
            <a:spLocks/>
          </p:cNvSpPr>
          <p:nvPr/>
        </p:nvSpPr>
        <p:spPr bwMode="auto">
          <a:xfrm>
            <a:off x="4785019" y="2326639"/>
            <a:ext cx="3963054" cy="4550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TW" sz="2800" b="0" kern="0" dirty="0"/>
              <a:t>White box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sz="2800" b="0" kern="0" dirty="0"/>
              <a:t>Black box testing</a:t>
            </a:r>
          </a:p>
        </p:txBody>
      </p:sp>
    </p:spTree>
    <p:extLst>
      <p:ext uri="{BB962C8B-B14F-4D97-AF65-F5344CB8AC3E}">
        <p14:creationId xmlns:p14="http://schemas.microsoft.com/office/powerpoint/2010/main" val="1031498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63E853-85D7-4027-8538-8596136A086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</a:t>
            </a:r>
            <a:r>
              <a:rPr kumimoji="1" lang="zh-TW" altLang="en-US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solidFill>
                  <a:schemeClr val="tx1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solidFill>
                <a:schemeClr val="tx1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F8FF60-C04A-4FE2-AAC3-79761DF7D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7783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TW" sz="2800" i="1" dirty="0"/>
              <a:t>Non-functional Testing</a:t>
            </a:r>
          </a:p>
          <a:p>
            <a:r>
              <a:rPr lang="en-US" altLang="zh-TW" sz="2700" dirty="0"/>
              <a:t>Performance testing</a:t>
            </a:r>
          </a:p>
          <a:p>
            <a:r>
              <a:rPr lang="en-US" altLang="zh-TW" sz="2700" dirty="0"/>
              <a:t>Security testing</a:t>
            </a:r>
          </a:p>
          <a:p>
            <a:r>
              <a:rPr lang="en-US" altLang="zh-TW" sz="2700" dirty="0"/>
              <a:t>Load testing</a:t>
            </a:r>
          </a:p>
          <a:p>
            <a:r>
              <a:rPr lang="en-US" altLang="zh-TW" sz="2700" dirty="0"/>
              <a:t>Failover testing</a:t>
            </a:r>
          </a:p>
          <a:p>
            <a:r>
              <a:rPr lang="en-US" altLang="zh-TW" sz="2700" dirty="0"/>
              <a:t>Compatibility testing</a:t>
            </a:r>
          </a:p>
          <a:p>
            <a:r>
              <a:rPr lang="en-US" altLang="zh-TW" sz="2700" dirty="0"/>
              <a:t>Usability testing</a:t>
            </a:r>
          </a:p>
          <a:p>
            <a:r>
              <a:rPr lang="en-US" altLang="zh-TW" sz="2700" dirty="0"/>
              <a:t>Scalability testing</a:t>
            </a:r>
          </a:p>
          <a:p>
            <a:r>
              <a:rPr lang="en-US" altLang="zh-TW" sz="2700" dirty="0"/>
              <a:t>Volume testing</a:t>
            </a:r>
          </a:p>
          <a:p>
            <a:r>
              <a:rPr lang="en-US" altLang="zh-TW" sz="2700" dirty="0"/>
              <a:t>Stress testing</a:t>
            </a:r>
          </a:p>
          <a:p>
            <a:r>
              <a:rPr lang="en-US" altLang="zh-TW" sz="2700" dirty="0"/>
              <a:t>Accessibility testing</a:t>
            </a:r>
          </a:p>
          <a:p>
            <a:r>
              <a:rPr lang="en-US" altLang="zh-TW" sz="2700" dirty="0"/>
              <a:t>Alpha testing</a:t>
            </a:r>
          </a:p>
          <a:p>
            <a:r>
              <a:rPr lang="en-US" altLang="zh-TW" sz="2700" dirty="0"/>
              <a:t>Beta testing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DB98CA-00D9-4EE0-8DB7-B5F70E63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Software Testing  &amp; Security Checking, Syllabus</a:t>
            </a:r>
            <a:endParaRPr lang="en-US" altLang="zh-TW" u="sng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DE488F-1ADB-431F-87EC-D78A8C6E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9B4D84-F833-4C76-A630-A678D2B42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8DAA4F-BB26-4595-AE00-9EC242E06411}" type="slidenum">
              <a:rPr lang="en-US" altLang="zh-TW" smtClean="0"/>
              <a:pPr>
                <a:defRPr/>
              </a:pPr>
              <a:t>14</a:t>
            </a:fld>
            <a:endParaRPr lang="en-US" altLang="zh-TW"/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9BE9F2F-13E9-4B4E-A320-EEE5EAA49015}"/>
              </a:ext>
            </a:extLst>
          </p:cNvPr>
          <p:cNvSpPr txBox="1">
            <a:spLocks/>
          </p:cNvSpPr>
          <p:nvPr/>
        </p:nvSpPr>
        <p:spPr bwMode="auto">
          <a:xfrm>
            <a:off x="4382814" y="2131574"/>
            <a:ext cx="4475436" cy="5546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chemeClr val="tx1"/>
                </a:solidFill>
                <a:latin typeface="+mn-lt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+mn-lt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itchFamily="2" charset="2"/>
              <a:buChar char="Ø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Maintainability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Compliance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Efficiency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Reliability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Endurance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Disaster recovery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Localization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Internationalization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TW" b="0" kern="0" dirty="0"/>
              <a:t>Ad-hoc testing</a:t>
            </a:r>
          </a:p>
          <a:p>
            <a:pPr>
              <a:buFont typeface="Wingdings" panose="05000000000000000000" pitchFamily="2" charset="2"/>
              <a:buChar char="l"/>
            </a:pPr>
            <a:endParaRPr lang="en-US" altLang="zh-TW" b="0" kern="0" dirty="0"/>
          </a:p>
        </p:txBody>
      </p:sp>
    </p:spTree>
    <p:extLst>
      <p:ext uri="{BB962C8B-B14F-4D97-AF65-F5344CB8AC3E}">
        <p14:creationId xmlns:p14="http://schemas.microsoft.com/office/powerpoint/2010/main" val="573961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BBE1AF76-7611-40D0-BE20-D02133C7CEDD}"/>
              </a:ext>
            </a:extLst>
          </p:cNvPr>
          <p:cNvSpPr txBox="1">
            <a:spLocks/>
          </p:cNvSpPr>
          <p:nvPr/>
        </p:nvSpPr>
        <p:spPr>
          <a:xfrm>
            <a:off x="457200" y="1207402"/>
            <a:ext cx="8229600" cy="17880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現有自動化解決方案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幾乎都著重在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Test Execution 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rPr>
              <a:t>Environment Setup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TW" sz="2400" b="1" dirty="0">
              <a:solidFill>
                <a:prstClr val="black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72DCC9-AD30-40F3-84BC-911A3D895BEE}"/>
              </a:ext>
            </a:extLst>
          </p:cNvPr>
          <p:cNvSpPr/>
          <p:nvPr/>
        </p:nvSpPr>
        <p:spPr>
          <a:xfrm>
            <a:off x="1049336" y="359281"/>
            <a:ext cx="7045327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pPr marL="0" lvl="1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solidFill>
                  <a:prstClr val="black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Steps in a Testing Project</a:t>
            </a:r>
            <a:endParaRPr kumimoji="1" lang="zh-TW" altLang="en-US" sz="4400" b="1" dirty="0">
              <a:solidFill>
                <a:prstClr val="black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CB8CA7E-0B0E-4105-8F26-73286137C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787" y="1276827"/>
            <a:ext cx="4750750" cy="4608938"/>
          </a:xfrm>
          <a:prstGeom prst="rect">
            <a:avLst/>
          </a:prstGeom>
        </p:spPr>
      </p:pic>
      <p:pic>
        <p:nvPicPr>
          <p:cNvPr id="14" name="Picture 2" descr="iT 邦幫忙::一起幫忙解決難題，拯救IT 人的一天">
            <a:extLst>
              <a:ext uri="{FF2B5EF4-FFF2-40B4-BE49-F238E27FC236}">
                <a16:creationId xmlns:a16="http://schemas.microsoft.com/office/drawing/2014/main" id="{2351DC10-759E-403D-AF43-12C719871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43" y="3648072"/>
            <a:ext cx="2154996" cy="8208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群組 14">
            <a:extLst>
              <a:ext uri="{FF2B5EF4-FFF2-40B4-BE49-F238E27FC236}">
                <a16:creationId xmlns:a16="http://schemas.microsoft.com/office/drawing/2014/main" id="{BBD8DCB1-3726-490C-A134-37194EFC7EA4}"/>
              </a:ext>
            </a:extLst>
          </p:cNvPr>
          <p:cNvGrpSpPr/>
          <p:nvPr/>
        </p:nvGrpSpPr>
        <p:grpSpPr>
          <a:xfrm>
            <a:off x="1720840" y="4628665"/>
            <a:ext cx="1834677" cy="909706"/>
            <a:chOff x="1848587" y="3303262"/>
            <a:chExt cx="1834677" cy="909706"/>
          </a:xfrm>
        </p:grpSpPr>
        <p:pic>
          <p:nvPicPr>
            <p:cNvPr id="16" name="Picture 2" descr="About SideeX - HackMD">
              <a:extLst>
                <a:ext uri="{FF2B5EF4-FFF2-40B4-BE49-F238E27FC236}">
                  <a16:creationId xmlns:a16="http://schemas.microsoft.com/office/drawing/2014/main" id="{C71B99E6-9728-4A58-841E-2C402F17CC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8587" y="3303262"/>
              <a:ext cx="909706" cy="909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D48E2A12-7F9E-425A-A89F-70811BB5DE38}"/>
                </a:ext>
              </a:extLst>
            </p:cNvPr>
            <p:cNvSpPr txBox="1"/>
            <p:nvPr/>
          </p:nvSpPr>
          <p:spPr>
            <a:xfrm>
              <a:off x="2443807" y="3723242"/>
              <a:ext cx="1239457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TW" sz="2400" dirty="0" err="1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SiteeX</a:t>
              </a:r>
              <a:endParaRPr lang="zh-TW" alt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098" name="Picture 2" descr="AWS Marketplace: Tricentis Tosca Reviews">
            <a:extLst>
              <a:ext uri="{FF2B5EF4-FFF2-40B4-BE49-F238E27FC236}">
                <a16:creationId xmlns:a16="http://schemas.microsoft.com/office/drawing/2014/main" id="{AB7A1275-8F58-46CF-8807-6F0F6302E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5363" y="6025285"/>
            <a:ext cx="1800307" cy="51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FEBC2F8C-C24F-4F38-A79A-22B6DC6BA0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61" y="2972304"/>
            <a:ext cx="1701901" cy="646896"/>
          </a:xfrm>
          <a:prstGeom prst="rect">
            <a:avLst/>
          </a:prstGeom>
        </p:spPr>
      </p:pic>
      <p:pic>
        <p:nvPicPr>
          <p:cNvPr id="20" name="Picture 2" descr="XAMARIN : The Next level of Cross-Platform Mobile App Development. - Wildnet">
            <a:extLst>
              <a:ext uri="{FF2B5EF4-FFF2-40B4-BE49-F238E27FC236}">
                <a16:creationId xmlns:a16="http://schemas.microsoft.com/office/drawing/2014/main" id="{DC7A0B66-8208-449F-9C1A-64F667A1F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5618" y="3686868"/>
            <a:ext cx="1668842" cy="82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1FE23C27-A8CA-434E-80E4-5010E0CF550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470" y="2820625"/>
            <a:ext cx="770077" cy="962756"/>
          </a:xfrm>
          <a:prstGeom prst="rect">
            <a:avLst/>
          </a:prstGeom>
        </p:spPr>
      </p:pic>
      <p:pic>
        <p:nvPicPr>
          <p:cNvPr id="23" name="Picture 6" descr="Testing Asynchronous Code In Swift | by Christopher Webb | Journey Of One  Thousand Apps | Medium">
            <a:extLst>
              <a:ext uri="{FF2B5EF4-FFF2-40B4-BE49-F238E27FC236}">
                <a16:creationId xmlns:a16="http://schemas.microsoft.com/office/drawing/2014/main" id="{7B629CFB-5D6A-4E7C-AE42-33CD57E66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439" y="4469155"/>
            <a:ext cx="1126132" cy="1334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145E1395-392E-4387-B0E3-E4221905E1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308" y="5879630"/>
            <a:ext cx="2382042" cy="961421"/>
          </a:xfrm>
          <a:prstGeom prst="rect">
            <a:avLst/>
          </a:prstGeom>
        </p:spPr>
      </p:pic>
      <p:pic>
        <p:nvPicPr>
          <p:cNvPr id="25" name="Picture 10" descr="Learn MonkeyTalk - Best MonkeyTalk Tutorials and Courses | Devglan">
            <a:extLst>
              <a:ext uri="{FF2B5EF4-FFF2-40B4-BE49-F238E27FC236}">
                <a16:creationId xmlns:a16="http://schemas.microsoft.com/office/drawing/2014/main" id="{4759457E-53B8-4B26-90A6-B7442E5DC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403" y="5926927"/>
            <a:ext cx="859690" cy="96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0F430EA6-9214-4E2B-A635-FCEFE21951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98" y="5933794"/>
            <a:ext cx="2025696" cy="71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88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1A9F066-C601-44D4-A06F-87130A55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F27663-6370-4310-AD55-5D9131769224}"/>
              </a:ext>
            </a:extLst>
          </p:cNvPr>
          <p:cNvSpPr/>
          <p:nvPr/>
        </p:nvSpPr>
        <p:spPr>
          <a:xfrm>
            <a:off x="1188936" y="503670"/>
            <a:ext cx="6800673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of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9" name="Picture 2" descr="https://ml.globenewswire.com/Resource/Download/94046781-7c1e-4476-88c7-6e7db328be3b">
            <a:extLst>
              <a:ext uri="{FF2B5EF4-FFF2-40B4-BE49-F238E27FC236}">
                <a16:creationId xmlns:a16="http://schemas.microsoft.com/office/drawing/2014/main" id="{678CCF46-420B-41D8-ADC5-E50B9E395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34" y="1518250"/>
            <a:ext cx="8747186" cy="4836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16D70671-D848-4A1A-96C8-5473C76F76E8}"/>
              </a:ext>
            </a:extLst>
          </p:cNvPr>
          <p:cNvSpPr txBox="1"/>
          <p:nvPr/>
        </p:nvSpPr>
        <p:spPr>
          <a:xfrm>
            <a:off x="2281403" y="2228671"/>
            <a:ext cx="4176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預估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2030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年全球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E2E SW Testing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市場規模約為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US$19B</a:t>
            </a:r>
          </a:p>
          <a:p>
            <a:pPr marL="216000" indent="-216000">
              <a:buFont typeface="Arial" panose="020B0604020202020204" pitchFamily="34" charset="0"/>
              <a:buChar char="•"/>
            </a:pP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若能取得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2.5%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市佔率，營收規模可達到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US$475M</a:t>
            </a:r>
          </a:p>
        </p:txBody>
      </p:sp>
    </p:spTree>
    <p:extLst>
      <p:ext uri="{BB962C8B-B14F-4D97-AF65-F5344CB8AC3E}">
        <p14:creationId xmlns:p14="http://schemas.microsoft.com/office/powerpoint/2010/main" val="1285434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7901" y="1743515"/>
            <a:ext cx="8041064" cy="398819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000" dirty="0"/>
              <a:t>年營收</a:t>
            </a:r>
            <a:r>
              <a:rPr lang="en-US" altLang="zh-TW" sz="2000" dirty="0"/>
              <a:t>					</a:t>
            </a:r>
            <a:r>
              <a:rPr lang="zh-TW" altLang="en-US" sz="2000" dirty="0"/>
              <a:t>            </a:t>
            </a:r>
            <a:r>
              <a:rPr lang="en-US" altLang="zh-TW" sz="2000" dirty="0"/>
              <a:t>M</a:t>
            </a:r>
            <a:r>
              <a:rPr lang="zh-TW" altLang="en-US" sz="2000" dirty="0"/>
              <a:t>：</a:t>
            </a:r>
            <a:r>
              <a:rPr lang="en-US" altLang="zh-TW" sz="2000" dirty="0"/>
              <a:t>1</a:t>
            </a:r>
            <a:r>
              <a:rPr lang="zh-TW" altLang="en-US" sz="2000" dirty="0"/>
              <a:t> 百萬美元</a:t>
            </a:r>
            <a:r>
              <a:rPr lang="en-US" altLang="zh-TW" sz="2000" dirty="0"/>
              <a:t>Revenue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QualityLogic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https://www.qualitylogic.com/</a:t>
            </a:r>
            <a:r>
              <a:rPr lang="en-US" altLang="zh-TW" sz="2000" dirty="0"/>
              <a:t> (9.7M)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V-Cubed Solutions, </a:t>
            </a:r>
            <a:r>
              <a:rPr lang="en-US" altLang="zh-TW" sz="20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https://www.v-cubed.net/</a:t>
            </a:r>
            <a:r>
              <a:rPr lang="en-US" altLang="zh-TW" sz="2000" dirty="0"/>
              <a:t> (27M)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Value Stream Engineering, </a:t>
            </a:r>
            <a:r>
              <a:rPr lang="en-US" altLang="zh-TW" sz="20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http://www.valuestreamengineers.com/</a:t>
            </a:r>
            <a:r>
              <a:rPr lang="en-US" altLang="zh-TW" sz="2000" dirty="0"/>
              <a:t> (3.8M)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IT Automation LLC, </a:t>
            </a:r>
            <a:r>
              <a:rPr lang="en-US" altLang="zh-TW" sz="2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http://www.itautomation.com/</a:t>
            </a:r>
            <a:r>
              <a:rPr lang="en-US" altLang="zh-TW" sz="2000" dirty="0"/>
              <a:t> (8.8M)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NeoTys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https://www.neotys.com/</a:t>
            </a:r>
            <a:r>
              <a:rPr lang="en-US" altLang="zh-TW" sz="2000" dirty="0"/>
              <a:t> (8.8M)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Parasoft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https://www.parasoft.com/</a:t>
            </a:r>
            <a:r>
              <a:rPr lang="en-US" altLang="zh-TW" sz="2000" dirty="0"/>
              <a:t> (55M)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Performancelab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https://www.performancelab.com.br/home</a:t>
            </a:r>
            <a:r>
              <a:rPr lang="en-US" altLang="zh-TW" sz="2000" dirty="0"/>
              <a:t> (25.3M)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ScienceSoft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https://www.scnsoft.com/</a:t>
            </a:r>
            <a:r>
              <a:rPr lang="en-US" altLang="zh-TW" sz="2000" dirty="0"/>
              <a:t> (22M)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 err="1"/>
              <a:t>Symbio</a:t>
            </a:r>
            <a:r>
              <a:rPr lang="en-US" altLang="zh-TW" sz="2000" dirty="0"/>
              <a:t>, </a:t>
            </a:r>
            <a:r>
              <a:rPr lang="en-US" altLang="zh-TW" sz="2000" dirty="0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https://www.symbio.com/</a:t>
            </a:r>
            <a:r>
              <a:rPr lang="en-US" altLang="zh-TW" sz="2000" dirty="0"/>
              <a:t> (150M)</a:t>
            </a:r>
          </a:p>
          <a:p>
            <a:pPr marL="142875">
              <a:buFont typeface="Wingdings" panose="05000000000000000000" pitchFamily="2" charset="2"/>
              <a:buChar char="l"/>
            </a:pPr>
            <a:r>
              <a:rPr lang="en-US" altLang="zh-TW" sz="2000" dirty="0"/>
              <a:t>tenio.io, </a:t>
            </a:r>
            <a:r>
              <a:rPr lang="en-US" altLang="zh-TW" sz="2000" dirty="0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https://tenon.io/</a:t>
            </a:r>
            <a:r>
              <a:rPr lang="en-US" altLang="zh-TW" sz="2000" dirty="0"/>
              <a:t> </a:t>
            </a:r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  <a:p>
            <a:pPr marL="0" indent="0">
              <a:buNone/>
            </a:pPr>
            <a:endParaRPr lang="en-US" altLang="zh-TW" sz="2000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C8A6BD6-C456-4DBD-BECF-227382FBD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C4B89D0-9922-41D3-85D3-D36E1C6CFC15}"/>
              </a:ext>
            </a:extLst>
          </p:cNvPr>
          <p:cNvSpPr txBox="1"/>
          <p:nvPr/>
        </p:nvSpPr>
        <p:spPr>
          <a:xfrm rot="20446638">
            <a:off x="2259481" y="2722700"/>
            <a:ext cx="4880823" cy="1615827"/>
          </a:xfrm>
          <a:prstGeom prst="rect">
            <a:avLst/>
          </a:prstGeom>
          <a:solidFill>
            <a:srgbClr val="FFFF00">
              <a:alpha val="54902"/>
            </a:srgbClr>
          </a:solidFill>
          <a:ln w="38100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4950" dirty="0">
                <a:solidFill>
                  <a:srgbClr val="FF0000"/>
                </a:solidFill>
                <a:sym typeface="Symbol" panose="05050102010706020507" pitchFamily="18" charset="2"/>
              </a:rPr>
              <a:t></a:t>
            </a:r>
            <a:r>
              <a:rPr lang="en-US" altLang="zh-TW" sz="4950" dirty="0">
                <a:solidFill>
                  <a:srgbClr val="FF0000"/>
                </a:solidFill>
              </a:rPr>
              <a:t>310.4 Millions</a:t>
            </a:r>
          </a:p>
          <a:p>
            <a:r>
              <a:rPr lang="en-US" altLang="zh-TW" sz="4950" dirty="0">
                <a:solidFill>
                  <a:srgbClr val="FF0000"/>
                </a:solidFill>
              </a:rPr>
              <a:t>Avg.</a:t>
            </a:r>
            <a:r>
              <a:rPr lang="zh-TW" altLang="en-US" sz="4950" dirty="0">
                <a:solidFill>
                  <a:srgbClr val="FF0000"/>
                </a:solidFill>
              </a:rPr>
              <a:t> </a:t>
            </a:r>
            <a:r>
              <a:rPr lang="en-US" altLang="zh-TW" sz="4950" dirty="0">
                <a:solidFill>
                  <a:srgbClr val="FF0000"/>
                </a:solidFill>
              </a:rPr>
              <a:t>34.5Millions</a:t>
            </a:r>
            <a:endParaRPr lang="zh-TW" altLang="en-US" sz="4950" dirty="0">
              <a:solidFill>
                <a:srgbClr val="FF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21001DC-D2A3-4289-8391-2FD8E8E52A8A}"/>
              </a:ext>
            </a:extLst>
          </p:cNvPr>
          <p:cNvSpPr/>
          <p:nvPr/>
        </p:nvSpPr>
        <p:spPr>
          <a:xfrm>
            <a:off x="1356360" y="497777"/>
            <a:ext cx="6431280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of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103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DC272-B6D1-4BF7-B67C-1FC7D86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270054"/>
            <a:ext cx="8966200" cy="1162506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br>
              <a:rPr lang="hsb-DE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sb-DE" altLang="zh-TW" sz="2800" i="1" dirty="0">
                <a:latin typeface="Arial" panose="020B0604020202020204" pitchFamily="34" charset="0"/>
                <a:cs typeface="Arial" panose="020B0604020202020204" pitchFamily="34" charset="0"/>
              </a:rPr>
              <a:t>from the Boss‘ perspective</a:t>
            </a:r>
            <a:endParaRPr lang="zh-TW" alt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8970C0-5514-40C7-B2E2-69DF89002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442" y="1753420"/>
            <a:ext cx="7999364" cy="2524116"/>
          </a:xfrm>
        </p:spPr>
        <p:txBody>
          <a:bodyPr/>
          <a:lstStyle/>
          <a:p>
            <a:pPr marL="0" indent="0">
              <a:buNone/>
            </a:pPr>
            <a:r>
              <a:rPr lang="en-US" altLang="zh-TW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upon a time in a QA meeting when MS hired 10000 testers, </a:t>
            </a:r>
          </a:p>
          <a:p>
            <a:pPr marL="0" indent="0">
              <a:buNone/>
            </a:pPr>
            <a:endParaRPr lang="en-US" altLang="zh-TW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8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“I</a:t>
            </a:r>
            <a:r>
              <a:rPr lang="zh-TW" altLang="en-US" sz="28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i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 I pay a lot of testers, but I really have no idea what they do.“</a:t>
            </a:r>
          </a:p>
          <a:p>
            <a:pPr marL="0" indent="0">
              <a:buNone/>
            </a:pPr>
            <a:endParaRPr lang="en-US" altLang="zh-TW" sz="2800" dirty="0"/>
          </a:p>
          <a:p>
            <a:endParaRPr lang="zh-TW" altLang="en-US" sz="2800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0BD52C-FF1E-48D1-A1D5-36EB5741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904A0D-51E7-4C23-A96A-BC9F2F12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026" name="Picture 2" descr="「Bill Gates」的圖片搜尋結果">
            <a:extLst>
              <a:ext uri="{FF2B5EF4-FFF2-40B4-BE49-F238E27FC236}">
                <a16:creationId xmlns:a16="http://schemas.microsoft.com/office/drawing/2014/main" id="{C9E88FC8-0B60-4B5A-BDD8-FAF9F63E0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358" y="3574318"/>
            <a:ext cx="3068200" cy="208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27CDC00-4974-41B2-A6EE-B0A40E427E3E}"/>
              </a:ext>
            </a:extLst>
          </p:cNvPr>
          <p:cNvSpPr txBox="1">
            <a:spLocks/>
          </p:cNvSpPr>
          <p:nvPr/>
        </p:nvSpPr>
        <p:spPr>
          <a:xfrm>
            <a:off x="288187" y="5661145"/>
            <a:ext cx="8516447" cy="408842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4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https://softwaretesting.cioreview.com/cxoinsight/the-cost-of-software-testing-nid-27746-cid-112.html</a:t>
            </a:r>
            <a:endParaRPr lang="en-US" altLang="zh-TW" sz="14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altLang="zh-TW" sz="1400" dirty="0">
              <a:solidFill>
                <a:schemeClr val="tx2"/>
              </a:solidFill>
            </a:endParaRPr>
          </a:p>
          <a:p>
            <a:endParaRPr lang="zh-TW" altLang="en-US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2117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8DC272-B6D1-4BF7-B67C-1FC7D8698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" y="291466"/>
            <a:ext cx="8966200" cy="915987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br>
              <a:rPr lang="hsb-DE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sb-DE" altLang="zh-TW" sz="3100" i="1" dirty="0">
                <a:latin typeface="Arial" panose="020B0604020202020204" pitchFamily="34" charset="0"/>
                <a:cs typeface="Arial" panose="020B0604020202020204" pitchFamily="34" charset="0"/>
              </a:rPr>
              <a:t>from Taiwana Boss‘ perspective</a:t>
            </a:r>
            <a:endParaRPr lang="zh-TW" altLang="en-US" sz="31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8970C0-5514-40C7-B2E2-69DF89002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0217" y="2052485"/>
            <a:ext cx="6346433" cy="2409963"/>
          </a:xfrm>
        </p:spPr>
        <p:txBody>
          <a:bodyPr/>
          <a:lstStyle/>
          <a:p>
            <a:pPr marL="0" indent="0">
              <a:buNone/>
            </a:pPr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0BD52C-FF1E-48D1-A1D5-36EB5741D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904A0D-51E7-4C23-A96A-BC9F2F12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B82DD0C-09F9-4128-A3E2-CA20FEC54C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202" y="1294808"/>
            <a:ext cx="5137608" cy="5030201"/>
          </a:xfrm>
          <a:prstGeom prst="rect">
            <a:avLst/>
          </a:prstGeom>
        </p:spPr>
      </p:pic>
      <p:sp>
        <p:nvSpPr>
          <p:cNvPr id="9" name="語音泡泡: 矩形 8">
            <a:extLst>
              <a:ext uri="{FF2B5EF4-FFF2-40B4-BE49-F238E27FC236}">
                <a16:creationId xmlns:a16="http://schemas.microsoft.com/office/drawing/2014/main" id="{D1EC007B-0BAF-4396-88F9-BE73115C6D81}"/>
              </a:ext>
            </a:extLst>
          </p:cNvPr>
          <p:cNvSpPr/>
          <p:nvPr/>
        </p:nvSpPr>
        <p:spPr>
          <a:xfrm>
            <a:off x="2249260" y="1615921"/>
            <a:ext cx="4575746" cy="1485498"/>
          </a:xfrm>
          <a:prstGeom prst="wedgeRectCallout">
            <a:avLst>
              <a:gd name="adj1" fmla="val -18294"/>
              <a:gd name="adj2" fmla="val 49639"/>
            </a:avLst>
          </a:prstGeom>
          <a:solidFill>
            <a:srgbClr val="8EB383"/>
          </a:solidFill>
          <a:ln>
            <a:solidFill>
              <a:srgbClr val="8EB38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sb-DE" altLang="zh-TW" sz="3200" dirty="0">
                <a:solidFill>
                  <a:schemeClr val="tx1"/>
                </a:solidFill>
              </a:rPr>
              <a:t>If our product does not crash before clients, all your testing is wasted. </a:t>
            </a:r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288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DCED221D-7AB1-4036-8FEE-2528063A9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659" y="1166822"/>
            <a:ext cx="8312141" cy="483661"/>
          </a:xfrm>
          <a:solidFill>
            <a:schemeClr val="tx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625" b="1" i="1" dirty="0">
                <a:solidFill>
                  <a:schemeClr val="tx2"/>
                </a:solidFill>
              </a:rPr>
              <a:t>Q #35) How many test cases have you automated per day?</a:t>
            </a:r>
            <a:endParaRPr lang="en-US" altLang="zh-TW" dirty="0">
              <a:solidFill>
                <a:schemeClr val="tx2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89FB1B-EEB8-468F-9806-5BB1370DD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B69884-6F60-4FCC-B55C-F4944A0C976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72DCC9-AD30-40F3-84BC-911A3D895BEE}"/>
              </a:ext>
            </a:extLst>
          </p:cNvPr>
          <p:cNvSpPr/>
          <p:nvPr/>
        </p:nvSpPr>
        <p:spPr>
          <a:xfrm>
            <a:off x="1478845" y="408671"/>
            <a:ext cx="5994009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368F2FBF-8578-42EF-87D2-76CD4943B21A}"/>
              </a:ext>
            </a:extLst>
          </p:cNvPr>
          <p:cNvSpPr txBox="1">
            <a:spLocks/>
          </p:cNvSpPr>
          <p:nvPr/>
        </p:nvSpPr>
        <p:spPr>
          <a:xfrm>
            <a:off x="374659" y="5579521"/>
            <a:ext cx="8312141" cy="818998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600" b="1" u="sng" dirty="0">
                <a:solidFill>
                  <a:schemeClr val="accent1"/>
                </a:solidFill>
              </a:rPr>
              <a:t>39 TOP Automation Testing Interview Questions And Answers </a:t>
            </a:r>
            <a:endParaRPr lang="en-US" altLang="zh-TW" sz="1600" u="sng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altLang="zh-TW" sz="1600" dirty="0">
                <a:solidFill>
                  <a:schemeClr val="accent1"/>
                </a:solidFill>
              </a:rPr>
              <a:t>https://www.softwaretestinghelp.com/test-automation-interview-questions/</a:t>
            </a:r>
          </a:p>
          <a:p>
            <a:endParaRPr lang="zh-TW" altLang="en-US" sz="1600" dirty="0">
              <a:solidFill>
                <a:schemeClr val="accent1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20A663A-3434-403B-87C3-17BDEED59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704" y="1754717"/>
            <a:ext cx="3459808" cy="3352433"/>
          </a:xfrm>
          <a:prstGeom prst="rect">
            <a:avLst/>
          </a:prstGeom>
        </p:spPr>
      </p:pic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2773DFC9-E80C-4370-BFC5-908FD51DF335}"/>
              </a:ext>
            </a:extLst>
          </p:cNvPr>
          <p:cNvSpPr txBox="1">
            <a:spLocks/>
          </p:cNvSpPr>
          <p:nvPr/>
        </p:nvSpPr>
        <p:spPr>
          <a:xfrm>
            <a:off x="374659" y="1733444"/>
            <a:ext cx="5144035" cy="37631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0000" indent="-342900">
              <a:buFont typeface="Arial" panose="020B0604020202020204" pitchFamily="34" charset="0"/>
              <a:buNone/>
            </a:pPr>
            <a:r>
              <a:rPr lang="en-US" altLang="zh-TW" dirty="0">
                <a:solidFill>
                  <a:schemeClr val="tx2"/>
                </a:solidFill>
              </a:rPr>
              <a:t>Answer: Well, the number depends on the complexity of the test cases. When the complexity was limited, I was able to automate </a:t>
            </a:r>
            <a:r>
              <a:rPr lang="en-US" altLang="zh-TW" b="1" dirty="0">
                <a:solidFill>
                  <a:schemeClr val="tx2"/>
                </a:solidFill>
              </a:rPr>
              <a:t>5 to 6 test cases per day</a:t>
            </a:r>
            <a:r>
              <a:rPr lang="en-US" altLang="zh-TW" dirty="0">
                <a:solidFill>
                  <a:schemeClr val="tx2"/>
                </a:solidFill>
              </a:rPr>
              <a:t>. </a:t>
            </a:r>
          </a:p>
          <a:p>
            <a:pPr marL="270000" indent="-342900">
              <a:buFont typeface="Arial" panose="020B0604020202020204" pitchFamily="34" charset="0"/>
              <a:buNone/>
            </a:pPr>
            <a:r>
              <a:rPr lang="en-US" altLang="zh-TW" dirty="0">
                <a:solidFill>
                  <a:schemeClr val="tx2"/>
                </a:solidFill>
              </a:rPr>
              <a:t>     Sometimes, I was able to automate </a:t>
            </a:r>
            <a:r>
              <a:rPr lang="en-US" altLang="zh-TW" b="1" dirty="0">
                <a:solidFill>
                  <a:schemeClr val="tx2"/>
                </a:solidFill>
              </a:rPr>
              <a:t>only one test case for complex scenarios</a:t>
            </a:r>
            <a:r>
              <a:rPr lang="en-US" altLang="zh-TW" dirty="0">
                <a:solidFill>
                  <a:schemeClr val="tx2"/>
                </a:solidFill>
              </a:rPr>
              <a:t>.</a:t>
            </a:r>
          </a:p>
          <a:p>
            <a:pPr marL="270000" indent="-342900">
              <a:buFont typeface="Arial" panose="020B0604020202020204" pitchFamily="34" charset="0"/>
              <a:buNone/>
            </a:pPr>
            <a:r>
              <a:rPr lang="en-US" altLang="zh-TW" dirty="0">
                <a:solidFill>
                  <a:schemeClr val="tx2"/>
                </a:solidFill>
              </a:rPr>
              <a:t>      I have also broken down my test cases into different components like, take input, do the calculation, verify the output etc. </a:t>
            </a:r>
          </a:p>
          <a:p>
            <a:pPr marL="270000" indent="-342900">
              <a:buFont typeface="Arial" panose="020B0604020202020204" pitchFamily="34" charset="0"/>
              <a:buNone/>
            </a:pPr>
            <a:r>
              <a:rPr lang="en-US" altLang="zh-TW" dirty="0">
                <a:solidFill>
                  <a:schemeClr val="tx2"/>
                </a:solidFill>
              </a:rPr>
              <a:t>	in case of </a:t>
            </a:r>
            <a:r>
              <a:rPr lang="en-US" altLang="zh-TW" b="1" dirty="0">
                <a:solidFill>
                  <a:schemeClr val="tx2"/>
                </a:solidFill>
              </a:rPr>
              <a:t>very complex scenarios and have taken 2 or more days</a:t>
            </a:r>
            <a:r>
              <a:rPr lang="en-US" altLang="zh-TW" dirty="0">
                <a:solidFill>
                  <a:schemeClr val="tx2"/>
                </a:solidFill>
              </a:rPr>
              <a:t>.</a:t>
            </a:r>
            <a:endParaRPr lang="zh-TW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3827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89280" y="1089398"/>
            <a:ext cx="7731760" cy="1917183"/>
          </a:xfrm>
        </p:spPr>
        <p:txBody>
          <a:bodyPr rtlCol="0">
            <a:noAutofit/>
          </a:bodyPr>
          <a:lstStyle/>
          <a:p>
            <a:pPr>
              <a:defRPr/>
            </a:pPr>
            <a:r>
              <a:rPr lang="en-US" altLang="zh-TW" sz="2400" i="1" dirty="0"/>
              <a:t>Basically record/replay and test management.</a:t>
            </a:r>
          </a:p>
          <a:p>
            <a:pPr>
              <a:defRPr/>
            </a:pPr>
            <a:r>
              <a:rPr lang="en-US" altLang="zh-TW" sz="2400" i="1" dirty="0"/>
              <a:t>Test scripts are not reusable across projects.</a:t>
            </a:r>
          </a:p>
          <a:p>
            <a:pPr>
              <a:defRPr/>
            </a:pPr>
            <a:r>
              <a:rPr lang="en-US" altLang="zh-TW" sz="2400" i="1" dirty="0"/>
              <a:t>Need human to design tests</a:t>
            </a:r>
          </a:p>
          <a:p>
            <a:pPr>
              <a:defRPr/>
            </a:pPr>
            <a:r>
              <a:rPr lang="en-US" altLang="zh-TW" sz="2400" i="1" dirty="0"/>
              <a:t>Need human to recognize screens</a:t>
            </a:r>
          </a:p>
          <a:p>
            <a:pPr>
              <a:defRPr/>
            </a:pPr>
            <a:r>
              <a:rPr lang="en-US" altLang="zh-TW" sz="2400" i="1" dirty="0"/>
              <a:t>Need human to understand traces. </a:t>
            </a:r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859D247-F831-47A2-9085-440BECBA4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5124" name="投影片編號版面配置區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557213" indent="-214313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8572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2001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15430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18859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2288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25717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2914650" indent="-17145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fld id="{0D9988B7-FC32-4FFC-9AAC-35FDBAF58787}" type="slidenum">
              <a:rPr lang="zh-TW" altLang="en-US" sz="900">
                <a:solidFill>
                  <a:srgbClr val="898989"/>
                </a:solidFill>
              </a:rPr>
              <a:pPr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t>21</a:t>
            </a:fld>
            <a:endParaRPr lang="zh-TW" altLang="en-US" sz="900">
              <a:solidFill>
                <a:srgbClr val="898989"/>
              </a:solidFill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80" y="3294303"/>
            <a:ext cx="3251200" cy="290960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078" y="3212887"/>
            <a:ext cx="1728243" cy="3072432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380" y="3138708"/>
            <a:ext cx="1862224" cy="331062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ED46145-9484-421A-A310-ED7262D1AF5C}"/>
              </a:ext>
            </a:extLst>
          </p:cNvPr>
          <p:cNvSpPr/>
          <p:nvPr/>
        </p:nvSpPr>
        <p:spPr>
          <a:xfrm>
            <a:off x="1092200" y="375725"/>
            <a:ext cx="6725920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lvl="1" algn="ctr" fontAlgn="base">
              <a:spcBef>
                <a:spcPts val="1200"/>
              </a:spcBef>
              <a:spcAft>
                <a:spcPct val="0"/>
              </a:spcAft>
            </a:pP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Status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of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the</a:t>
            </a:r>
            <a:r>
              <a:rPr kumimoji="1" lang="zh-TW" altLang="en-US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kumimoji="1" lang="en-US" altLang="zh-TW" sz="4400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industry</a:t>
            </a:r>
            <a:endParaRPr kumimoji="1" lang="zh-TW" altLang="en-US" sz="4400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5365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56362" y="379622"/>
            <a:ext cx="6346433" cy="1059731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zh-TW" altLang="en-US" sz="49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產業分析</a:t>
            </a:r>
            <a:br>
              <a:rPr lang="en-US" altLang="zh-TW" b="1" dirty="0"/>
            </a:br>
            <a:r>
              <a:rPr lang="en-US" altLang="zh-TW" sz="2700" dirty="0"/>
              <a:t>solutions </a:t>
            </a:r>
            <a:r>
              <a:rPr lang="en-US" altLang="zh-TW" sz="2700" dirty="0" err="1"/>
              <a:t>nowaday</a:t>
            </a:r>
            <a:endParaRPr lang="zh-TW" altLang="en-US" sz="27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6497" y="1609463"/>
            <a:ext cx="8286161" cy="3827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測試外包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適合大型軟體公司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只能做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system 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testin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或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user acceptance testing</a:t>
            </a: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IP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外洩風險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Feedback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緩慢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l"/>
            </a:pP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軟體測試自動化工具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只幫你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record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replay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Monkey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testing (low intelligence)</a:t>
            </a: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Test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investment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low reusability</a:t>
            </a:r>
          </a:p>
          <a:p>
            <a:pPr marL="542925" lvl="1" indent="-342900">
              <a:buFont typeface="Wingdings" panose="05000000000000000000" pitchFamily="2" charset="2"/>
              <a:buChar char="n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許多未經整合的測試準備工作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AD00D-13EE-48FB-91E7-EB5EE0A1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語音泡泡: 矩形 5">
            <a:extLst>
              <a:ext uri="{FF2B5EF4-FFF2-40B4-BE49-F238E27FC236}">
                <a16:creationId xmlns:a16="http://schemas.microsoft.com/office/drawing/2014/main" id="{49EA1480-4358-44A5-846F-A3B8982D8C33}"/>
              </a:ext>
            </a:extLst>
          </p:cNvPr>
          <p:cNvSpPr/>
          <p:nvPr/>
        </p:nvSpPr>
        <p:spPr>
          <a:xfrm>
            <a:off x="5311110" y="3120785"/>
            <a:ext cx="3446393" cy="1427479"/>
          </a:xfrm>
          <a:prstGeom prst="wedgeRectCallout">
            <a:avLst>
              <a:gd name="adj1" fmla="val -90827"/>
              <a:gd name="adj2" fmla="val 26560"/>
            </a:avLst>
          </a:prstGeom>
          <a:solidFill>
            <a:srgbClr val="00FFFF"/>
          </a:solidFill>
          <a:ln w="76200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100" dirty="0">
                <a:solidFill>
                  <a:srgbClr val="0000FF"/>
                </a:solidFill>
              </a:rPr>
              <a:t>★☆</a:t>
            </a:r>
            <a:r>
              <a:rPr lang="zh-TW" altLang="en-US" sz="2100" dirty="0">
                <a:solidFill>
                  <a:srgbClr val="FF0000"/>
                </a:solidFill>
              </a:rPr>
              <a:t>巨大市場機會</a:t>
            </a:r>
            <a:r>
              <a:rPr lang="zh-TW" altLang="en-US" sz="2100" dirty="0">
                <a:solidFill>
                  <a:srgbClr val="0000FF"/>
                </a:solidFill>
              </a:rPr>
              <a:t>★☆</a:t>
            </a:r>
            <a:endParaRPr lang="en-US" altLang="zh-TW" sz="2100" dirty="0">
              <a:solidFill>
                <a:srgbClr val="0000FF"/>
              </a:solidFill>
            </a:endParaRPr>
          </a:p>
          <a:p>
            <a:pPr algn="ctr"/>
            <a:r>
              <a:rPr lang="en-US" altLang="zh-TW" sz="2100" dirty="0">
                <a:solidFill>
                  <a:srgbClr val="FF0000"/>
                </a:solidFill>
              </a:rPr>
              <a:t>App</a:t>
            </a:r>
            <a:r>
              <a:rPr lang="zh-TW" altLang="en-US" sz="2100" dirty="0">
                <a:solidFill>
                  <a:srgbClr val="FF0000"/>
                </a:solidFill>
              </a:rPr>
              <a:t>智慧型測試工具</a:t>
            </a:r>
          </a:p>
        </p:txBody>
      </p:sp>
    </p:spTree>
    <p:extLst>
      <p:ext uri="{BB962C8B-B14F-4D97-AF65-F5344CB8AC3E}">
        <p14:creationId xmlns:p14="http://schemas.microsoft.com/office/powerpoint/2010/main" val="2859408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98783" y="429777"/>
            <a:ext cx="6346433" cy="1059731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zh-TW" altLang="en-US" sz="4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產業分析</a:t>
            </a:r>
            <a:endParaRPr lang="zh-TW" altLang="en-US" sz="4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46754" y="1363579"/>
            <a:ext cx="8078772" cy="3827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應用測試難以自動化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00025" indent="-3429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目前測試自動化成果重複使用性都非常低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00025" indent="-3429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對一個顧客所製作的成果，幾乎都沒辦法用在另一個顧客。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542925" lvl="1" indent="-3429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軟體流程差異性、軟體文件差異性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00025" indent="-342900"/>
            <a:r>
              <a:rPr lang="zh-TW" altLang="en-US" sz="27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學界的軟體測試成果基本上沒有在工業界應用可能性。</a:t>
            </a:r>
            <a:endParaRPr lang="en-US" altLang="zh-TW" sz="27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800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79AD00D-13EE-48FB-91E7-EB5EE0A1D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 dirty="0"/>
              <a:t>台大電機 王凡 教授 </a:t>
            </a:r>
            <a:r>
              <a:rPr lang="en-US" altLang="zh-TW" dirty="0"/>
              <a:t>2020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861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Goal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520" y="1513840"/>
            <a:ext cx="8158480" cy="4863147"/>
          </a:xfrm>
        </p:spPr>
        <p:txBody>
          <a:bodyPr/>
          <a:lstStyle/>
          <a:p>
            <a:r>
              <a:rPr lang="en-US" altLang="zh-TW" sz="2800" b="0" dirty="0">
                <a:ea typeface="新細明體" panose="02020500000000000000" pitchFamily="18" charset="-120"/>
              </a:rPr>
              <a:t>Theory in software testing.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Advanced testing and security-checking tools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Capability of deploying software testing technology to various companies.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Basic concepts and skills in security checking.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10D86D32-AE63-4ACB-8E82-0FD275F9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24</a:t>
            </a:fld>
            <a:endParaRPr lang="en-US" altLang="zh-TW" sz="900" b="0"/>
          </a:p>
        </p:txBody>
      </p:sp>
    </p:spTree>
    <p:extLst>
      <p:ext uri="{BB962C8B-B14F-4D97-AF65-F5344CB8AC3E}">
        <p14:creationId xmlns:p14="http://schemas.microsoft.com/office/powerpoint/2010/main" val="451820092"/>
      </p:ext>
    </p:extLst>
  </p:cSld>
  <p:clrMapOvr>
    <a:masterClrMapping/>
  </p:clrMapOvr>
  <p:transition spd="med" advTm="11699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Lecture Plan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544320"/>
            <a:ext cx="8027670" cy="4832667"/>
          </a:xfrm>
        </p:spPr>
        <p:txBody>
          <a:bodyPr/>
          <a:lstStyle/>
          <a:p>
            <a:r>
              <a:rPr lang="en-US" altLang="zh-TW" sz="2800" b="0" dirty="0">
                <a:ea typeface="新細明體" panose="02020500000000000000" pitchFamily="18" charset="-120"/>
              </a:rPr>
              <a:t>The first module: foundations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The second module: Testing criteria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 dirty="0">
                <a:ea typeface="新細明體" panose="02020500000000000000" pitchFamily="18" charset="-120"/>
              </a:rPr>
              <a:t>Graph testing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 dirty="0">
                <a:ea typeface="新細明體" panose="02020500000000000000" pitchFamily="18" charset="-120"/>
              </a:rPr>
              <a:t>Logic testing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 dirty="0">
                <a:ea typeface="新細明體" panose="02020500000000000000" pitchFamily="18" charset="-120"/>
              </a:rPr>
              <a:t>Input space testing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400" b="0" dirty="0">
                <a:ea typeface="新細明體" panose="02020500000000000000" pitchFamily="18" charset="-120"/>
              </a:rPr>
              <a:t>Syntax testing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Third module: practical consideration. </a:t>
            </a:r>
          </a:p>
          <a:p>
            <a:r>
              <a:rPr lang="en-US" altLang="zh-TW" sz="2800" b="0" dirty="0" err="1">
                <a:ea typeface="新細明體" panose="02020500000000000000" pitchFamily="18" charset="-120"/>
              </a:rPr>
              <a:t>Criterias</a:t>
            </a:r>
            <a:r>
              <a:rPr lang="en-US" altLang="zh-TW" sz="2800" b="0" dirty="0">
                <a:ea typeface="新細明體" panose="02020500000000000000" pitchFamily="18" charset="-120"/>
              </a:rPr>
              <a:t> for new app types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Security checking overview. 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25</a:t>
            </a:fld>
            <a:endParaRPr lang="en-US" altLang="zh-TW" sz="900" b="0"/>
          </a:p>
        </p:txBody>
      </p:sp>
    </p:spTree>
    <p:extLst>
      <p:ext uri="{BB962C8B-B14F-4D97-AF65-F5344CB8AC3E}">
        <p14:creationId xmlns:p14="http://schemas.microsoft.com/office/powerpoint/2010/main" val="3592912791"/>
      </p:ext>
    </p:extLst>
  </p:cSld>
  <p:clrMapOvr>
    <a:masterClrMapping/>
  </p:clrMapOvr>
  <p:transition spd="med" advTm="168273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1365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Pre-requisites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595120"/>
            <a:ext cx="8007350" cy="4781867"/>
          </a:xfrm>
        </p:spPr>
        <p:txBody>
          <a:bodyPr/>
          <a:lstStyle/>
          <a:p>
            <a:r>
              <a:rPr lang="en-US" altLang="zh-TW" sz="2800" b="0" dirty="0">
                <a:ea typeface="新細明體" panose="02020500000000000000" pitchFamily="18" charset="-120"/>
              </a:rPr>
              <a:t>Basic Computer Concepts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C/C++, Java programming 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Python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Data-Structures</a:t>
            </a: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Algorithms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Farn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26</a:t>
            </a:fld>
            <a:endParaRPr lang="en-US" altLang="zh-TW" sz="900" b="0"/>
          </a:p>
        </p:txBody>
      </p:sp>
    </p:spTree>
    <p:extLst>
      <p:ext uri="{BB962C8B-B14F-4D97-AF65-F5344CB8AC3E}">
        <p14:creationId xmlns:p14="http://schemas.microsoft.com/office/powerpoint/2010/main" val="2691107570"/>
      </p:ext>
    </p:extLst>
  </p:cSld>
  <p:clrMapOvr>
    <a:masterClrMapping/>
  </p:clrMapOvr>
  <p:transition spd="med" advTm="157772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28394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767" y="1493520"/>
            <a:ext cx="8173040" cy="4883467"/>
          </a:xfrm>
        </p:spPr>
        <p:txBody>
          <a:bodyPr>
            <a:normAutofit/>
          </a:bodyPr>
          <a:lstStyle/>
          <a:p>
            <a:r>
              <a:rPr lang="en-US" altLang="zh-TW" sz="2800" b="0" dirty="0">
                <a:ea typeface="新細明體" panose="02020500000000000000" pitchFamily="18" charset="-120"/>
              </a:rPr>
              <a:t>Final exam (40%) , </a:t>
            </a:r>
            <a:r>
              <a:rPr lang="en-US" altLang="zh-TW" sz="2800" dirty="0">
                <a:ea typeface="新細明體" panose="02020500000000000000" pitchFamily="18" charset="-120"/>
              </a:rPr>
              <a:t>Dec.</a:t>
            </a:r>
            <a:r>
              <a:rPr lang="en-US" altLang="zh-TW" sz="2800" b="0" dirty="0">
                <a:ea typeface="新細明體" panose="02020500000000000000" pitchFamily="18" charset="-120"/>
              </a:rPr>
              <a:t> 20, 2023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b="0" dirty="0">
                <a:ea typeface="新細明體" panose="02020500000000000000" pitchFamily="18" charset="-120"/>
              </a:rPr>
              <a:t>20% of final exam scores w</a:t>
            </a:r>
            <a:r>
              <a:rPr lang="en-US" altLang="zh-TW" sz="2500" dirty="0">
                <a:ea typeface="新細明體" panose="02020500000000000000" pitchFamily="18" charset="-120"/>
              </a:rPr>
              <a:t>ill be for questions on selected midterm reports. </a:t>
            </a:r>
            <a:endParaRPr lang="en-US" altLang="zh-TW" sz="2500" b="0" dirty="0">
              <a:ea typeface="新細明體" panose="02020500000000000000" pitchFamily="18" charset="-120"/>
            </a:endParaRPr>
          </a:p>
          <a:p>
            <a:r>
              <a:rPr lang="en-US" altLang="zh-TW" sz="2800" b="0" dirty="0">
                <a:ea typeface="新細明體" panose="02020500000000000000" pitchFamily="18" charset="-120"/>
              </a:rPr>
              <a:t>Mid-term report (10%), deadline on </a:t>
            </a:r>
            <a:r>
              <a:rPr lang="en-US" altLang="zh-TW" sz="2800" dirty="0">
                <a:ea typeface="新細明體" panose="02020500000000000000" pitchFamily="18" charset="-120"/>
              </a:rPr>
              <a:t>Nov.</a:t>
            </a:r>
            <a:r>
              <a:rPr lang="en-US" altLang="zh-TW" sz="2800" b="0" dirty="0">
                <a:ea typeface="新細明體" panose="02020500000000000000" pitchFamily="18" charset="-120"/>
              </a:rPr>
              <a:t> 1, 2023.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dirty="0"/>
              <a:t>Deadline for midterm presentation registration: Sept. 20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dirty="0"/>
              <a:t>Confirmation of registration: Sept. 27</a:t>
            </a:r>
            <a:endParaRPr lang="en-US" altLang="zh-TW" sz="2500" b="0" dirty="0">
              <a:ea typeface="新細明體" panose="02020500000000000000" pitchFamily="18" charset="-120"/>
            </a:endParaRPr>
          </a:p>
          <a:p>
            <a:r>
              <a:rPr lang="en-US" altLang="zh-TW" sz="2800" dirty="0">
                <a:ea typeface="新細明體" panose="02020500000000000000" pitchFamily="18" charset="-120"/>
              </a:rPr>
              <a:t>3</a:t>
            </a:r>
            <a:r>
              <a:rPr lang="en-US" altLang="zh-TW" sz="2800" b="0" dirty="0">
                <a:ea typeface="新細明體" panose="02020500000000000000" pitchFamily="18" charset="-120"/>
              </a:rPr>
              <a:t> projects (50%)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dirty="0" err="1">
                <a:ea typeface="新細明體" panose="02020500000000000000" pitchFamily="18" charset="-120"/>
              </a:rPr>
              <a:t>CppUnit</a:t>
            </a:r>
            <a:r>
              <a:rPr lang="en-US" altLang="zh-TW" sz="2500" dirty="0">
                <a:ea typeface="新細明體" panose="02020500000000000000" pitchFamily="18" charset="-120"/>
              </a:rPr>
              <a:t> and GOV for unit testing (15%), due by Oct. 18, 2023.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b="0" dirty="0">
                <a:ea typeface="新細明體" panose="02020500000000000000" pitchFamily="18" charset="-120"/>
              </a:rPr>
              <a:t>Selenium for web-testing (15%), due by </a:t>
            </a:r>
            <a:r>
              <a:rPr lang="en-US" altLang="zh-TW" sz="2500" dirty="0">
                <a:ea typeface="新細明體" panose="02020500000000000000" pitchFamily="18" charset="-120"/>
              </a:rPr>
              <a:t>Nov. 22</a:t>
            </a:r>
            <a:r>
              <a:rPr lang="en-US" altLang="zh-TW" sz="2500" b="0" dirty="0">
                <a:ea typeface="新細明體" panose="02020500000000000000" pitchFamily="18" charset="-120"/>
              </a:rPr>
              <a:t>, 2023. 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500" dirty="0">
                <a:ea typeface="新細明體" panose="02020500000000000000" pitchFamily="18" charset="-120"/>
              </a:rPr>
              <a:t>App/Web/Security Testing (20%), due by Dec. 27, 2023. </a:t>
            </a:r>
          </a:p>
          <a:p>
            <a:pPr lvl="2">
              <a:buFont typeface="Wingdings" panose="05000000000000000000" pitchFamily="2" charset="2"/>
              <a:buChar char="u"/>
            </a:pPr>
            <a:r>
              <a:rPr lang="en-US" altLang="zh-TW" sz="2200" b="0" dirty="0">
                <a:ea typeface="新細明體" panose="02020500000000000000" pitchFamily="18" charset="-120"/>
              </a:rPr>
              <a:t>Experiment with AI </a:t>
            </a:r>
          </a:p>
          <a:p>
            <a:pPr lvl="1">
              <a:buFont typeface="Wingdings" panose="05000000000000000000" pitchFamily="2" charset="2"/>
              <a:buChar char="n"/>
            </a:pPr>
            <a:endParaRPr lang="en-US" altLang="zh-TW" sz="2500" b="0" dirty="0">
              <a:ea typeface="新細明體" panose="02020500000000000000" pitchFamily="18" charset="-120"/>
            </a:endParaRPr>
          </a:p>
          <a:p>
            <a:endParaRPr lang="en-US" altLang="zh-TW" sz="2800" b="0" dirty="0">
              <a:ea typeface="新細明體" panose="02020500000000000000" pitchFamily="18" charset="-120"/>
            </a:endParaRP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27</a:t>
            </a:fld>
            <a:endParaRPr lang="en-US" altLang="zh-TW" sz="900" b="0" dirty="0"/>
          </a:p>
        </p:txBody>
      </p:sp>
    </p:spTree>
    <p:extLst>
      <p:ext uri="{BB962C8B-B14F-4D97-AF65-F5344CB8AC3E}">
        <p14:creationId xmlns:p14="http://schemas.microsoft.com/office/powerpoint/2010/main" val="700656095"/>
      </p:ext>
    </p:extLst>
  </p:cSld>
  <p:clrMapOvr>
    <a:masterClrMapping/>
  </p:clrMapOvr>
  <p:transition spd="med" advTm="225749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128394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Evaluation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93520"/>
            <a:ext cx="7886700" cy="48834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hsb-DE" altLang="zh-TW" sz="2800" b="0" dirty="0">
                <a:ea typeface="新細明體" panose="02020500000000000000" pitchFamily="18" charset="-120"/>
              </a:rPr>
              <a:t>Midterm presentation (10%) </a:t>
            </a:r>
          </a:p>
          <a:p>
            <a:r>
              <a:rPr lang="en-US" altLang="zh-TW" sz="3100" b="0" dirty="0">
                <a:ea typeface="新細明體" panose="02020500000000000000" pitchFamily="18" charset="-120"/>
              </a:rPr>
              <a:t>a main paper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b="0" dirty="0">
                <a:ea typeface="新細明體" panose="02020500000000000000" pitchFamily="18" charset="-120"/>
              </a:rPr>
              <a:t>must be a regular paper published in </a:t>
            </a:r>
            <a:r>
              <a:rPr lang="en-US" altLang="zh-TW" sz="2700" dirty="0"/>
              <a:t>ACM/IEEE ICSE 2022-23, ACM FSE 2022-23, IEEE ASE 2022-23, ACM ISSTA 2022-23, ACM PLDI 2022-23, IEEE S&amp;P 2022-23, ACM CCS 2022-2023, or USENIX Security 2022-2023.   </a:t>
            </a:r>
            <a:endParaRPr lang="en-US" altLang="zh-TW" sz="2700" b="0" dirty="0">
              <a:ea typeface="新細明體" panose="02020500000000000000" pitchFamily="18" charset="-120"/>
            </a:endParaRP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i="1" dirty="0">
                <a:solidFill>
                  <a:schemeClr val="accent1"/>
                </a:solidFill>
                <a:ea typeface="新細明體" panose="02020500000000000000" pitchFamily="18" charset="-120"/>
              </a:rPr>
              <a:t>No tool paper, no short paper, no affiliated workshop paper.</a:t>
            </a:r>
            <a:endParaRPr lang="en-US" altLang="zh-TW" sz="2700" b="0" i="1" dirty="0">
              <a:solidFill>
                <a:schemeClr val="accent1"/>
              </a:solidFill>
              <a:ea typeface="新細明體" panose="02020500000000000000" pitchFamily="18" charset="-120"/>
            </a:endParaRPr>
          </a:p>
          <a:p>
            <a:r>
              <a:rPr lang="en-US" altLang="zh-TW" sz="3100" b="0" dirty="0">
                <a:ea typeface="新細明體" panose="02020500000000000000" pitchFamily="18" charset="-120"/>
              </a:rPr>
              <a:t>2 comparison papers related to the main paper.</a:t>
            </a:r>
          </a:p>
          <a:p>
            <a:r>
              <a:rPr lang="en-US" altLang="zh-TW" sz="3100" b="0" dirty="0">
                <a:ea typeface="新細明體" panose="02020500000000000000" pitchFamily="18" charset="-120"/>
              </a:rPr>
              <a:t>Comparing the three papers that you selected in the above. </a:t>
            </a:r>
          </a:p>
          <a:p>
            <a:r>
              <a:rPr lang="en-US" altLang="zh-TW" sz="3100" dirty="0">
                <a:ea typeface="新細明體" panose="02020500000000000000" pitchFamily="18" charset="-120"/>
              </a:rPr>
              <a:t>Submission including your PPT file and MP4 Video for 10mins.</a:t>
            </a:r>
            <a:endParaRPr lang="en-US" altLang="zh-TW" sz="3100" b="0" dirty="0">
              <a:ea typeface="新細明體" panose="02020500000000000000" pitchFamily="18" charset="-120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TW" sz="2800" b="0" dirty="0">
              <a:ea typeface="新細明體" panose="02020500000000000000" pitchFamily="18" charset="-120"/>
            </a:endParaRP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28</a:t>
            </a:fld>
            <a:endParaRPr lang="en-US" altLang="zh-TW" sz="900" b="0" dirty="0"/>
          </a:p>
        </p:txBody>
      </p:sp>
    </p:spTree>
    <p:extLst>
      <p:ext uri="{BB962C8B-B14F-4D97-AF65-F5344CB8AC3E}">
        <p14:creationId xmlns:p14="http://schemas.microsoft.com/office/powerpoint/2010/main" val="3769813048"/>
      </p:ext>
    </p:extLst>
  </p:cSld>
  <p:clrMapOvr>
    <a:masterClrMapping/>
  </p:clrMapOvr>
  <p:transition spd="med" advTm="225749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Evaluation</a:t>
            </a:r>
            <a:b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</a:br>
            <a:r>
              <a:rPr lang="en-US" altLang="zh-TW" sz="3600" i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project 1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78000"/>
            <a:ext cx="8239760" cy="45989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2700" b="0" dirty="0">
                <a:ea typeface="新細明體" panose="02020500000000000000" pitchFamily="18" charset="-120"/>
              </a:rPr>
              <a:t>White-box unit testing with CPP and GOV.  (15%)</a:t>
            </a:r>
          </a:p>
          <a:p>
            <a:r>
              <a:rPr lang="en-US" altLang="zh-TW" sz="3000" b="0" dirty="0">
                <a:ea typeface="新細明體" panose="02020500000000000000" pitchFamily="18" charset="-120"/>
              </a:rPr>
              <a:t>Software under test (SUT) is a </a:t>
            </a:r>
            <a:r>
              <a:rPr lang="en-US" altLang="zh-TW" sz="3000" b="0" dirty="0" err="1">
                <a:ea typeface="新細明體" panose="02020500000000000000" pitchFamily="18" charset="-120"/>
              </a:rPr>
              <a:t>github</a:t>
            </a:r>
            <a:r>
              <a:rPr lang="en-US" altLang="zh-TW" sz="3000" b="0" dirty="0">
                <a:ea typeface="新細明體" panose="02020500000000000000" pitchFamily="18" charset="-120"/>
              </a:rPr>
              <a:t> open-source </a:t>
            </a:r>
            <a:r>
              <a:rPr lang="en-US" altLang="zh-TW" sz="3000" b="0" dirty="0" err="1">
                <a:ea typeface="新細明體" panose="02020500000000000000" pitchFamily="18" charset="-120"/>
              </a:rPr>
              <a:t>cpp</a:t>
            </a:r>
            <a:r>
              <a:rPr lang="en-US" altLang="zh-TW" sz="3000" b="0" dirty="0">
                <a:ea typeface="新細明體" panose="02020500000000000000" pitchFamily="18" charset="-120"/>
              </a:rPr>
              <a:t> module.</a:t>
            </a:r>
          </a:p>
          <a:p>
            <a:r>
              <a:rPr lang="en-US" altLang="zh-TW" sz="3000" b="0" dirty="0">
                <a:ea typeface="新細明體" panose="02020500000000000000" pitchFamily="18" charset="-120"/>
              </a:rPr>
              <a:t>Must write assertions to evaluate the pass or fail of the test scripts. 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Submission: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dirty="0">
                <a:ea typeface="新細明體" panose="02020500000000000000" pitchFamily="18" charset="-120"/>
              </a:rPr>
              <a:t> </a:t>
            </a:r>
            <a:r>
              <a:rPr lang="en-US" altLang="zh-TW" sz="2700" dirty="0" err="1">
                <a:ea typeface="新細明體" panose="02020500000000000000" pitchFamily="18" charset="-120"/>
              </a:rPr>
              <a:t>CPPUnit</a:t>
            </a:r>
            <a:r>
              <a:rPr lang="en-US" altLang="zh-TW" sz="2700" dirty="0">
                <a:ea typeface="新細明體" panose="02020500000000000000" pitchFamily="18" charset="-120"/>
              </a:rPr>
              <a:t> test modules, test reports, and SUT source code.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3000" b="0" dirty="0">
                <a:ea typeface="新細明體" panose="02020500000000000000" pitchFamily="18" charset="-120"/>
              </a:rPr>
              <a:t> PPT explains the SUT, your test requirements, your test plan, and your test result with coverage analysis. 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Your score is </a:t>
            </a:r>
          </a:p>
          <a:p>
            <a:pPr marL="0" indent="0">
              <a:buNone/>
            </a:pPr>
            <a:r>
              <a:rPr lang="en-US" altLang="zh-TW" sz="3000" dirty="0">
                <a:ea typeface="新細明體" panose="02020500000000000000" pitchFamily="18" charset="-120"/>
              </a:rPr>
              <a:t>(</a:t>
            </a:r>
            <a:r>
              <a:rPr lang="en-US" altLang="zh-TW" sz="2700" dirty="0">
                <a:ea typeface="新細明體" panose="02020500000000000000" pitchFamily="18" charset="-120"/>
              </a:rPr>
              <a:t>line coverage) </a:t>
            </a:r>
            <a:r>
              <a:rPr lang="en-US" altLang="zh-TW" sz="2700" dirty="0">
                <a:ea typeface="新細明體" panose="02020500000000000000" pitchFamily="18" charset="-120"/>
                <a:sym typeface="Symbol" panose="05050102010706020507" pitchFamily="18" charset="2"/>
              </a:rPr>
              <a:t></a:t>
            </a:r>
            <a:r>
              <a:rPr lang="en-US" altLang="zh-TW" sz="2700" dirty="0">
                <a:ea typeface="新細明體" panose="02020500000000000000" pitchFamily="18" charset="-120"/>
              </a:rPr>
              <a:t> log(#lines+#classes) + 10*(bugs detected)</a:t>
            </a:r>
            <a:endParaRPr lang="en-US" altLang="zh-TW" sz="2700" b="0" dirty="0">
              <a:ea typeface="新細明體" panose="02020500000000000000" pitchFamily="18" charset="-120"/>
            </a:endParaRPr>
          </a:p>
          <a:p>
            <a:pPr marL="0" indent="0">
              <a:buNone/>
            </a:pPr>
            <a:endParaRPr lang="en-US" altLang="zh-TW" sz="2700" b="0" dirty="0">
              <a:ea typeface="新細明體" panose="02020500000000000000" pitchFamily="18" charset="-120"/>
            </a:endParaRP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29</a:t>
            </a:fld>
            <a:endParaRPr lang="en-US" altLang="zh-TW" sz="900" b="0" dirty="0"/>
          </a:p>
        </p:txBody>
      </p:sp>
    </p:spTree>
    <p:extLst>
      <p:ext uri="{BB962C8B-B14F-4D97-AF65-F5344CB8AC3E}">
        <p14:creationId xmlns:p14="http://schemas.microsoft.com/office/powerpoint/2010/main" val="1218957318"/>
      </p:ext>
    </p:extLst>
  </p:cSld>
  <p:clrMapOvr>
    <a:masterClrMapping/>
  </p:clrMapOvr>
  <p:transition spd="med" advTm="225749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Evaluation</a:t>
            </a:r>
            <a:b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</a:br>
            <a:r>
              <a:rPr lang="en-US" altLang="zh-TW" sz="3600" i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project 2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78000"/>
            <a:ext cx="8239760" cy="45989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TW" sz="2700" b="0" dirty="0">
                <a:ea typeface="新細明體" panose="02020500000000000000" pitchFamily="18" charset="-120"/>
              </a:rPr>
              <a:t>Web testing with Selenium. (15%)</a:t>
            </a:r>
          </a:p>
          <a:p>
            <a:r>
              <a:rPr lang="en-US" altLang="zh-TW" sz="3000" b="0" dirty="0">
                <a:ea typeface="新細明體" panose="02020500000000000000" pitchFamily="18" charset="-120"/>
              </a:rPr>
              <a:t>Software under test (SUT) is an open-source web program from </a:t>
            </a:r>
            <a:r>
              <a:rPr lang="en-US" altLang="zh-TW" sz="3000" b="0" dirty="0" err="1">
                <a:ea typeface="新細明體" panose="02020500000000000000" pitchFamily="18" charset="-120"/>
              </a:rPr>
              <a:t>github</a:t>
            </a:r>
            <a:r>
              <a:rPr lang="en-US" altLang="zh-TW" sz="3000" b="0" dirty="0">
                <a:ea typeface="新細明體" panose="02020500000000000000" pitchFamily="18" charset="-120"/>
              </a:rPr>
              <a:t>.</a:t>
            </a:r>
          </a:p>
          <a:p>
            <a:r>
              <a:rPr lang="en-US" altLang="zh-TW" sz="3000" b="0" dirty="0">
                <a:ea typeface="新細明體" panose="02020500000000000000" pitchFamily="18" charset="-120"/>
              </a:rPr>
              <a:t>Must write assertions to evaluate the pass or fail of the test scripts. 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Submission: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dirty="0">
                <a:ea typeface="新細明體" panose="02020500000000000000" pitchFamily="18" charset="-120"/>
              </a:rPr>
              <a:t> Selenium test scripts, test reports with coverage analysis of the test items.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3000" b="0" dirty="0">
                <a:ea typeface="新細明體" panose="02020500000000000000" pitchFamily="18" charset="-120"/>
              </a:rPr>
              <a:t> PPT explains the SUT, your test requirements, your test plan, and your test result. 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Your score is </a:t>
            </a:r>
          </a:p>
          <a:p>
            <a:pPr marL="0" indent="0">
              <a:buNone/>
            </a:pPr>
            <a:r>
              <a:rPr lang="en-US" altLang="zh-TW" sz="3000" dirty="0">
                <a:ea typeface="新細明體" panose="02020500000000000000" pitchFamily="18" charset="-120"/>
              </a:rPr>
              <a:t>(</a:t>
            </a:r>
            <a:r>
              <a:rPr lang="en-US" altLang="zh-TW" sz="2700" dirty="0">
                <a:ea typeface="新細明體" panose="02020500000000000000" pitchFamily="18" charset="-120"/>
              </a:rPr>
              <a:t>coverage of the test items) </a:t>
            </a:r>
            <a:r>
              <a:rPr lang="en-US" altLang="zh-TW" sz="2700" dirty="0">
                <a:ea typeface="新細明體" panose="02020500000000000000" pitchFamily="18" charset="-120"/>
                <a:sym typeface="Symbol" panose="05050102010706020507" pitchFamily="18" charset="2"/>
              </a:rPr>
              <a:t></a:t>
            </a:r>
            <a:r>
              <a:rPr lang="en-US" altLang="zh-TW" sz="2700" dirty="0">
                <a:ea typeface="新細明體" panose="02020500000000000000" pitchFamily="18" charset="-120"/>
              </a:rPr>
              <a:t> log(#</a:t>
            </a:r>
            <a:r>
              <a:rPr lang="en-US" altLang="zh-TW" sz="2700" dirty="0" err="1">
                <a:ea typeface="新細明體" panose="02020500000000000000" pitchFamily="18" charset="-120"/>
              </a:rPr>
              <a:t>actionables+html</a:t>
            </a:r>
            <a:r>
              <a:rPr lang="en-US" altLang="zh-TW" sz="2700" dirty="0">
                <a:ea typeface="新細明體" panose="02020500000000000000" pitchFamily="18" charset="-120"/>
              </a:rPr>
              <a:t> sizes) </a:t>
            </a:r>
          </a:p>
          <a:p>
            <a:pPr marL="0" indent="0">
              <a:buNone/>
            </a:pPr>
            <a:r>
              <a:rPr lang="en-US" altLang="zh-TW" sz="2700" dirty="0">
                <a:ea typeface="新細明體" panose="02020500000000000000" pitchFamily="18" charset="-120"/>
              </a:rPr>
              <a:t>+ 10*(bugs detected)</a:t>
            </a:r>
            <a:endParaRPr lang="en-US" altLang="zh-TW" sz="2700" b="0" dirty="0">
              <a:ea typeface="新細明體" panose="02020500000000000000" pitchFamily="18" charset="-120"/>
            </a:endParaRPr>
          </a:p>
          <a:p>
            <a:pPr marL="0" indent="0">
              <a:buNone/>
            </a:pPr>
            <a:endParaRPr lang="en-US" altLang="zh-TW" sz="2700" b="0" dirty="0">
              <a:ea typeface="新細明體" panose="02020500000000000000" pitchFamily="18" charset="-120"/>
            </a:endParaRP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30</a:t>
            </a:fld>
            <a:endParaRPr lang="en-US" altLang="zh-TW" sz="900" b="0" dirty="0"/>
          </a:p>
        </p:txBody>
      </p:sp>
    </p:spTree>
    <p:extLst>
      <p:ext uri="{BB962C8B-B14F-4D97-AF65-F5344CB8AC3E}">
        <p14:creationId xmlns:p14="http://schemas.microsoft.com/office/powerpoint/2010/main" val="1211403065"/>
      </p:ext>
    </p:extLst>
  </p:cSld>
  <p:clrMapOvr>
    <a:masterClrMapping/>
  </p:clrMapOvr>
  <p:transition spd="med" advTm="225749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Evaluation</a:t>
            </a:r>
            <a:b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</a:br>
            <a:r>
              <a:rPr lang="en-US" altLang="zh-TW" sz="3600" i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project 3</a:t>
            </a:r>
          </a:p>
        </p:txBody>
      </p:sp>
      <p:sp>
        <p:nvSpPr>
          <p:cNvPr id="7171" name="Content Placeholder 2">
            <a:extLst>
              <a:ext uri="{FF2B5EF4-FFF2-40B4-BE49-F238E27FC236}">
                <a16:creationId xmlns:a16="http://schemas.microsoft.com/office/drawing/2014/main" id="{110C11D8-C5E1-4DBE-A073-8C345FC9E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778000"/>
            <a:ext cx="8239760" cy="45989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TW" sz="2700" dirty="0">
                <a:ea typeface="新細明體" panose="02020500000000000000" pitchFamily="18" charset="-120"/>
              </a:rPr>
              <a:t>App/w</a:t>
            </a:r>
            <a:r>
              <a:rPr lang="en-US" altLang="zh-TW" sz="2700" b="0" dirty="0">
                <a:ea typeface="新細明體" panose="02020500000000000000" pitchFamily="18" charset="-120"/>
              </a:rPr>
              <a:t>eb/security testing on an AI test automation platform. (20%)</a:t>
            </a:r>
          </a:p>
          <a:p>
            <a:r>
              <a:rPr lang="en-US" altLang="zh-TW" sz="3000" b="0" dirty="0">
                <a:ea typeface="新細明體" panose="02020500000000000000" pitchFamily="18" charset="-120"/>
              </a:rPr>
              <a:t>Software under test (SUT) </a:t>
            </a:r>
            <a:r>
              <a:rPr lang="en-US" altLang="zh-TW" sz="3000" dirty="0">
                <a:ea typeface="新細明體" panose="02020500000000000000" pitchFamily="18" charset="-120"/>
              </a:rPr>
              <a:t>could be a mobile APP or a web program. 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b="0" dirty="0">
                <a:ea typeface="新細明體" panose="02020500000000000000" pitchFamily="18" charset="-120"/>
              </a:rPr>
              <a:t>The test items will be announced. 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W</a:t>
            </a:r>
            <a:r>
              <a:rPr lang="en-US" altLang="zh-TW" sz="3000" b="0" dirty="0">
                <a:ea typeface="新細明體" panose="02020500000000000000" pitchFamily="18" charset="-120"/>
              </a:rPr>
              <a:t>riting a python </a:t>
            </a:r>
            <a:r>
              <a:rPr lang="en-US" altLang="zh-TW" sz="3000" dirty="0">
                <a:ea typeface="新細明體" panose="02020500000000000000" pitchFamily="18" charset="-120"/>
              </a:rPr>
              <a:t>program as a test robot that generates test reports. </a:t>
            </a:r>
            <a:r>
              <a:rPr lang="en-US" altLang="zh-TW" sz="3000" b="0" dirty="0">
                <a:ea typeface="新細明體" panose="02020500000000000000" pitchFamily="18" charset="-120"/>
              </a:rPr>
              <a:t> 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Submission: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dirty="0">
                <a:ea typeface="新細明體" panose="02020500000000000000" pitchFamily="18" charset="-120"/>
              </a:rPr>
              <a:t> A test robot that can be used by other classmates.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zh-TW" sz="2700" dirty="0">
                <a:ea typeface="新細明體" panose="02020500000000000000" pitchFamily="18" charset="-120"/>
              </a:rPr>
              <a:t> Online documents of your test robot. </a:t>
            </a:r>
          </a:p>
          <a:p>
            <a:r>
              <a:rPr lang="en-US" altLang="zh-TW" sz="3000" dirty="0">
                <a:ea typeface="新細明體" panose="02020500000000000000" pitchFamily="18" charset="-120"/>
              </a:rPr>
              <a:t>Your score is based on the rating and reviews of peer classmates.  </a:t>
            </a:r>
          </a:p>
          <a:p>
            <a:pPr marL="0" indent="0">
              <a:buNone/>
            </a:pPr>
            <a:endParaRPr lang="en-US" altLang="zh-TW" sz="2700" b="0" dirty="0">
              <a:ea typeface="新細明體" panose="02020500000000000000" pitchFamily="18" charset="-120"/>
            </a:endParaRP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31</a:t>
            </a:fld>
            <a:endParaRPr lang="en-US" altLang="zh-TW" sz="900" b="0" dirty="0"/>
          </a:p>
        </p:txBody>
      </p:sp>
    </p:spTree>
    <p:extLst>
      <p:ext uri="{BB962C8B-B14F-4D97-AF65-F5344CB8AC3E}">
        <p14:creationId xmlns:p14="http://schemas.microsoft.com/office/powerpoint/2010/main" val="1844291077"/>
      </p:ext>
    </p:extLst>
  </p:cSld>
  <p:clrMapOvr>
    <a:masterClrMapping/>
  </p:clrMapOvr>
  <p:transition spd="med" advTm="225749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DD14D6-8E57-4C84-9C81-34F3CA5E7A8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hsb-DE" altLang="zh-TW" sz="4400" b="1" dirty="0">
                <a:latin typeface="Arial" panose="020B0604020202020204" pitchFamily="34" charset="0"/>
                <a:cs typeface="Arial" panose="020B0604020202020204" pitchFamily="34" charset="0"/>
              </a:rPr>
              <a:t>Videos</a:t>
            </a:r>
            <a:endParaRPr lang="zh-TW" alt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8F14786-8795-4CD8-8B74-BD382E8CA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Department of Electrical Engineering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9F7336F-E612-4AAD-806F-79A631647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" y="1849596"/>
            <a:ext cx="7768590" cy="4369832"/>
          </a:xfrm>
          <a:prstGeom prst="rect">
            <a:avLst/>
          </a:prstGeom>
        </p:spPr>
      </p:pic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1E12B84F-8DA2-42D7-8D66-6039AD356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5173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28836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Course Schedule (1/2)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33</a:t>
            </a:fld>
            <a:endParaRPr lang="en-US" altLang="zh-TW" sz="900" b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0C0254-093E-4F83-8F06-CDDA94901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50247" y="0"/>
            <a:ext cx="1686187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A449877-A0E5-4CC4-B7AB-8FF1BB530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692606"/>
              </p:ext>
            </p:extLst>
          </p:nvPr>
        </p:nvGraphicFramePr>
        <p:xfrm>
          <a:off x="455444" y="1431926"/>
          <a:ext cx="8050491" cy="4628624"/>
        </p:xfrm>
        <a:graphic>
          <a:graphicData uri="http://schemas.openxmlformats.org/drawingml/2006/table">
            <a:tbl>
              <a:tblPr/>
              <a:tblGrid>
                <a:gridCol w="596064">
                  <a:extLst>
                    <a:ext uri="{9D8B030D-6E8A-4147-A177-3AD203B41FA5}">
                      <a16:colId xmlns:a16="http://schemas.microsoft.com/office/drawing/2014/main" val="267000603"/>
                    </a:ext>
                  </a:extLst>
                </a:gridCol>
                <a:gridCol w="1019354">
                  <a:extLst>
                    <a:ext uri="{9D8B030D-6E8A-4147-A177-3AD203B41FA5}">
                      <a16:colId xmlns:a16="http://schemas.microsoft.com/office/drawing/2014/main" val="530036836"/>
                    </a:ext>
                  </a:extLst>
                </a:gridCol>
                <a:gridCol w="6435073">
                  <a:extLst>
                    <a:ext uri="{9D8B030D-6E8A-4147-A177-3AD203B41FA5}">
                      <a16:colId xmlns:a16="http://schemas.microsoft.com/office/drawing/2014/main" val="1415872203"/>
                    </a:ext>
                  </a:extLst>
                </a:gridCol>
              </a:tblGrid>
              <a:tr h="2019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1. 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9/6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fr-FR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Syllabus, </a:t>
                      </a: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fr-FR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Chapter 1: introduction</a:t>
                      </a: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970910"/>
                  </a:ext>
                </a:extLst>
              </a:tr>
              <a:tr h="11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2. 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9/13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hsb-DE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1: introduction</a:t>
                      </a:r>
                      <a:endParaRPr lang="hsb-DE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44974065"/>
                  </a:ext>
                </a:extLst>
              </a:tr>
              <a:tr h="3713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3. 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9/20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Chapter 2: Graph-based Testing </a:t>
                      </a: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Deadline for midterm presentation registration</a:t>
                      </a: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c) Project 1 announcement: unit testing </a:t>
                      </a: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8544526"/>
                  </a:ext>
                </a:extLst>
              </a:tr>
              <a:tr h="457004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4. 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9/27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Chapter 2: Graph-based Testing </a:t>
                      </a:r>
                    </a:p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Confirmation of midterm presentation registration</a:t>
                      </a: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4323566"/>
                  </a:ext>
                </a:extLst>
              </a:tr>
              <a:tr h="11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5.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10/4</a:t>
                      </a:r>
                      <a:endParaRPr lang="hsb-DE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612648" indent="-612648" algn="l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sb-DE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2: Graph-based Testing</a:t>
                      </a:r>
                      <a:endParaRPr lang="hsb-DE" altLang="zh-TW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9943661"/>
                  </a:ext>
                </a:extLst>
              </a:tr>
              <a:tr h="11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6. 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10/11</a:t>
                      </a:r>
                      <a:endParaRPr lang="hsb-DE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hsb-DE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3: Logic-based Testing</a:t>
                      </a:r>
                      <a:endParaRPr lang="hsb-DE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4972194"/>
                  </a:ext>
                </a:extLst>
              </a:tr>
              <a:tr h="20199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7.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10/18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a) Chapter 3: Logic-based Testing 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b) Project 1 deadline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en-US" altLang="zh-TW" sz="2000" b="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c) Project 2 announcement: web-testing</a:t>
                      </a: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9924517"/>
                  </a:ext>
                </a:extLst>
              </a:tr>
              <a:tr h="115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8.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10/25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Chapter 3: Logic-based Testing</a:t>
                      </a: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0210956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EC1D9459-23A9-4A4F-A8ED-1B342739D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71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6168282"/>
      </p:ext>
    </p:extLst>
  </p:cSld>
  <p:clrMapOvr>
    <a:masterClrMapping/>
  </p:clrMapOvr>
  <p:transition spd="med" advTm="35199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9AD5D5E4-DB8A-41D9-9C6C-E773D83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873716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Course Schedule (</a:t>
            </a:r>
            <a:r>
              <a:rPr lang="hsb-DE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2</a:t>
            </a:r>
            <a:r>
              <a:rPr lang="en-US" altLang="zh-TW" sz="4400" b="1" dirty="0">
                <a:latin typeface="Arial" panose="020B0604020202020204" pitchFamily="34" charset="0"/>
                <a:ea typeface="華康儷楷書(P)" panose="03000500000000000000" pitchFamily="66" charset="-120"/>
                <a:cs typeface="Arial" panose="020B0604020202020204" pitchFamily="34" charset="0"/>
              </a:rPr>
              <a:t>/2)</a:t>
            </a:r>
          </a:p>
        </p:txBody>
      </p:sp>
      <p:sp>
        <p:nvSpPr>
          <p:cNvPr id="7172" name="Date Placeholder 3">
            <a:extLst>
              <a:ext uri="{FF2B5EF4-FFF2-40B4-BE49-F238E27FC236}">
                <a16:creationId xmlns:a16="http://schemas.microsoft.com/office/drawing/2014/main" id="{BB23DC14-6B84-4B01-A16A-EAE6D550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en-US" altLang="zh-TW" sz="900" b="0"/>
              <a:t>Software Testing  &amp; Security Checking, Syllabus</a:t>
            </a:r>
            <a:endParaRPr lang="en-US" altLang="zh-TW" sz="900" b="0" u="sng" dirty="0"/>
          </a:p>
        </p:txBody>
      </p:sp>
      <p:sp>
        <p:nvSpPr>
          <p:cNvPr id="2" name="頁尾版面配置區 1">
            <a:extLst>
              <a:ext uri="{FF2B5EF4-FFF2-40B4-BE49-F238E27FC236}">
                <a16:creationId xmlns:a16="http://schemas.microsoft.com/office/drawing/2014/main" id="{F84B940F-2E92-4476-90E4-76140687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Farn</a:t>
            </a:r>
            <a:r>
              <a:rPr lang="en-US" dirty="0"/>
              <a:t> Wang, NTUEE</a:t>
            </a:r>
          </a:p>
        </p:txBody>
      </p:sp>
      <p:sp>
        <p:nvSpPr>
          <p:cNvPr id="7174" name="Slide Number Placeholder 5">
            <a:extLst>
              <a:ext uri="{FF2B5EF4-FFF2-40B4-BE49-F238E27FC236}">
                <a16:creationId xmlns:a16="http://schemas.microsoft.com/office/drawing/2014/main" id="{474DC5B2-BA96-4DF7-AE88-F5B44997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30000"/>
              </a:spcBef>
              <a:buSzPct val="75000"/>
              <a:buFont typeface="Monotype Sorts"/>
              <a:buChar char="n"/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ct val="30000"/>
              </a:spcBef>
              <a:buSzPct val="100000"/>
              <a:buChar char="•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ct val="30000"/>
              </a:spcBef>
              <a:buSzPct val="100000"/>
              <a:buChar char="–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ct val="30000"/>
              </a:spcBef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Font typeface="Wingdings" panose="05000000000000000000" pitchFamily="2" charset="2"/>
              <a:buChar char="Ø"/>
              <a:defRPr sz="20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fld id="{7A4783C8-AB69-4E36-99CC-DEF4B4D51B04}" type="slidenum">
              <a:rPr lang="en-US" altLang="zh-TW" sz="900" b="0" smtClean="0"/>
              <a:pPr>
                <a:lnSpc>
                  <a:spcPct val="100000"/>
                </a:lnSpc>
                <a:spcBef>
                  <a:spcPct val="0"/>
                </a:spcBef>
                <a:buSzTx/>
                <a:buFontTx/>
                <a:buNone/>
              </a:pPr>
              <a:t>34</a:t>
            </a:fld>
            <a:endParaRPr lang="en-US" altLang="zh-TW" sz="900" b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0C0254-093E-4F83-8F06-CDDA94901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50247" y="0"/>
            <a:ext cx="16861874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2914709-2E67-407C-9E47-8CD4DCBB6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937342"/>
              </p:ext>
            </p:extLst>
          </p:nvPr>
        </p:nvGraphicFramePr>
        <p:xfrm>
          <a:off x="692870" y="1453157"/>
          <a:ext cx="7758260" cy="4403331"/>
        </p:xfrm>
        <a:graphic>
          <a:graphicData uri="http://schemas.openxmlformats.org/drawingml/2006/table">
            <a:tbl>
              <a:tblPr/>
              <a:tblGrid>
                <a:gridCol w="574426">
                  <a:extLst>
                    <a:ext uri="{9D8B030D-6E8A-4147-A177-3AD203B41FA5}">
                      <a16:colId xmlns:a16="http://schemas.microsoft.com/office/drawing/2014/main" val="3407845760"/>
                    </a:ext>
                  </a:extLst>
                </a:gridCol>
                <a:gridCol w="982353">
                  <a:extLst>
                    <a:ext uri="{9D8B030D-6E8A-4147-A177-3AD203B41FA5}">
                      <a16:colId xmlns:a16="http://schemas.microsoft.com/office/drawing/2014/main" val="2398072364"/>
                    </a:ext>
                  </a:extLst>
                </a:gridCol>
                <a:gridCol w="6201481">
                  <a:extLst>
                    <a:ext uri="{9D8B030D-6E8A-4147-A177-3AD203B41FA5}">
                      <a16:colId xmlns:a16="http://schemas.microsoft.com/office/drawing/2014/main" val="26338110"/>
                    </a:ext>
                  </a:extLst>
                </a:gridCol>
              </a:tblGrid>
              <a:tr h="327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9.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11/1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a) Deadline of midterm presentation submission </a:t>
                      </a:r>
                    </a:p>
                    <a:p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b) Chapter 3: Logic-based Testing</a:t>
                      </a: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0375838"/>
                  </a:ext>
                </a:extLst>
              </a:tr>
              <a:tr h="3273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10.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hsb-DE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11/8</a:t>
                      </a:r>
                      <a:endParaRPr lang="hsb-DE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4: Input-Space Partition Testing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790809"/>
                  </a:ext>
                </a:extLst>
              </a:tr>
              <a:tr h="58730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11.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11/15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zh-TW" altLang="en-US" sz="2000" b="1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校慶停課</a:t>
                      </a:r>
                      <a:endParaRPr lang="en-US" sz="2000" b="1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767274"/>
                  </a:ext>
                </a:extLst>
              </a:tr>
              <a:tr h="180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12.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11/22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a) Chapter 5: Mutation Testing </a:t>
                      </a:r>
                    </a:p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b) Project 2 deadline</a:t>
                      </a:r>
                    </a:p>
                    <a:p>
                      <a:r>
                        <a:rPr lang="en-US" altLang="zh-TW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c) Project 3 announcement: app/web RWD testing</a:t>
                      </a: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2258471"/>
                  </a:ext>
                </a:extLst>
              </a:tr>
              <a:tr h="180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13.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</a:pPr>
                      <a:r>
                        <a:rPr lang="en-US" altLang="zh-TW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11/29</a:t>
                      </a:r>
                      <a:endParaRPr lang="zh-TW" altLang="en-US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12648" indent="-612648" algn="l" rtl="0" eaLnBrk="1" fontAlgn="base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hsb-DE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Chapter 5: Mutation Testing</a:t>
                      </a:r>
                      <a:endParaRPr lang="hsb-DE" altLang="zh-TW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624025"/>
                  </a:ext>
                </a:extLst>
              </a:tr>
              <a:tr h="45177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14.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12/6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Symbolic Model-Checking</a:t>
                      </a: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8604799"/>
                  </a:ext>
                </a:extLst>
              </a:tr>
              <a:tr h="18071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15.</a:t>
                      </a:r>
                      <a:endParaRPr lang="zh-TW" altLang="en-US" sz="200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12/13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hsb-DE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Security Checking</a:t>
                      </a:r>
                      <a:endParaRPr lang="hsb-DE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976281"/>
                  </a:ext>
                </a:extLst>
              </a:tr>
              <a:tr h="1749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16.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12/20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hsb-DE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Final exam</a:t>
                      </a:r>
                      <a:endParaRPr lang="hsb-DE" sz="20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2875019"/>
                  </a:ext>
                </a:extLst>
              </a:tr>
              <a:tr h="17498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17.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12/27</a:t>
                      </a: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0"/>
                        </a:spcBef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3 deadline and demonstration!</a:t>
                      </a:r>
                      <a:endParaRPr lang="hsb-DE" sz="20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178" marR="45178" marT="22589" marB="22589" anchor="ctr">
                    <a:lnL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1705151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2618466D-CDB0-413A-AD47-2345A207F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9913" y="715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1351198"/>
      </p:ext>
    </p:extLst>
  </p:cSld>
  <p:clrMapOvr>
    <a:masterClrMapping/>
  </p:clrMapOvr>
  <p:transition spd="med" advTm="18430"/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6656</TotalTime>
  <Pages>49</Pages>
  <Words>2667</Words>
  <Application>Microsoft Office PowerPoint</Application>
  <PresentationFormat>如螢幕大小 (4:3)</PresentationFormat>
  <Paragraphs>449</Paragraphs>
  <Slides>34</Slides>
  <Notes>17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45" baseType="lpstr">
      <vt:lpstr>Monotype Sorts</vt:lpstr>
      <vt:lpstr>華康儷楷書(P)</vt:lpstr>
      <vt:lpstr>微軟正黑體</vt:lpstr>
      <vt:lpstr>新細明體</vt:lpstr>
      <vt:lpstr>Arial</vt:lpstr>
      <vt:lpstr>Calibri</vt:lpstr>
      <vt:lpstr>Calibri Light</vt:lpstr>
      <vt:lpstr>Symbol</vt:lpstr>
      <vt:lpstr>Times New Roman</vt:lpstr>
      <vt:lpstr>Wingdings</vt:lpstr>
      <vt:lpstr>Office 佈景主題</vt:lpstr>
      <vt:lpstr>Software Testing &amp; Security Checking Fall 2023, EE 5191  Syllabus</vt:lpstr>
      <vt:lpstr>Textbook</vt:lpstr>
      <vt:lpstr>Class Information</vt:lpstr>
      <vt:lpstr>PowerPoint 簡報</vt:lpstr>
      <vt:lpstr>產業分析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Status in the Industry</vt:lpstr>
      <vt:lpstr>Status in the Industry</vt:lpstr>
      <vt:lpstr>PowerPoint 簡報</vt:lpstr>
      <vt:lpstr>PowerPoint 簡報</vt:lpstr>
      <vt:lpstr>PowerPoint 簡報</vt:lpstr>
      <vt:lpstr>Background from the Boss‘ perspective</vt:lpstr>
      <vt:lpstr>Background from Taiwana Boss‘ perspective</vt:lpstr>
      <vt:lpstr>PowerPoint 簡報</vt:lpstr>
      <vt:lpstr>PowerPoint 簡報</vt:lpstr>
      <vt:lpstr>產業分析 solutions nowaday</vt:lpstr>
      <vt:lpstr>產業分析</vt:lpstr>
      <vt:lpstr>Goal</vt:lpstr>
      <vt:lpstr>Lecture Plan</vt:lpstr>
      <vt:lpstr>Pre-requisites</vt:lpstr>
      <vt:lpstr>Evaluation</vt:lpstr>
      <vt:lpstr>Evaluation</vt:lpstr>
      <vt:lpstr>Evaluation project 1</vt:lpstr>
      <vt:lpstr>Evaluation project 2</vt:lpstr>
      <vt:lpstr>Evaluation project 3</vt:lpstr>
      <vt:lpstr>Videos</vt:lpstr>
      <vt:lpstr>Course Schedule (1/2)</vt:lpstr>
      <vt:lpstr>Course Schedule (2/2)</vt:lpstr>
    </vt:vector>
  </TitlesOfParts>
  <Company>George Mason Unviersity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 637: Here! Test this!</dc:title>
  <dc:subject/>
  <dc:creator>Jeff Offutt</dc:creator>
  <cp:keywords/>
  <dc:description/>
  <cp:lastModifiedBy>Farn</cp:lastModifiedBy>
  <cp:revision>350</cp:revision>
  <cp:lastPrinted>1996-04-04T10:27:56Z</cp:lastPrinted>
  <dcterms:created xsi:type="dcterms:W3CDTF">1996-06-15T03:21:08Z</dcterms:created>
  <dcterms:modified xsi:type="dcterms:W3CDTF">2023-09-05T13:24:26Z</dcterms:modified>
</cp:coreProperties>
</file>