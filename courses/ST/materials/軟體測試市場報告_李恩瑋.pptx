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53" y="7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TW" altLang="en-US" dirty="0"/>
              <a:t>平均工資比較</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barChart>
        <c:barDir val="col"/>
        <c:grouping val="clustered"/>
        <c:varyColors val="0"/>
        <c:ser>
          <c:idx val="0"/>
          <c:order val="0"/>
          <c:tx>
            <c:strRef>
              <c:f>工作表1!$B$1</c:f>
              <c:strCache>
                <c:ptCount val="1"/>
                <c:pt idx="0">
                  <c:v>測試工程師</c:v>
                </c:pt>
              </c:strCache>
            </c:strRef>
          </c:tx>
          <c:spPr>
            <a:solidFill>
              <a:schemeClr val="accent1"/>
            </a:solidFill>
            <a:ln>
              <a:noFill/>
            </a:ln>
            <a:effectLst/>
          </c:spPr>
          <c:invertIfNegative val="0"/>
          <c:cat>
            <c:strRef>
              <c:f>工作表1!$A$2</c:f>
              <c:strCache>
                <c:ptCount val="1"/>
                <c:pt idx="0">
                  <c:v>平均工資比較</c:v>
                </c:pt>
              </c:strCache>
            </c:strRef>
          </c:cat>
          <c:val>
            <c:numRef>
              <c:f>工作表1!$B$2</c:f>
              <c:numCache>
                <c:formatCode>General</c:formatCode>
                <c:ptCount val="1"/>
                <c:pt idx="0">
                  <c:v>71297</c:v>
                </c:pt>
              </c:numCache>
            </c:numRef>
          </c:val>
          <c:extLst>
            <c:ext xmlns:c16="http://schemas.microsoft.com/office/drawing/2014/chart" uri="{C3380CC4-5D6E-409C-BE32-E72D297353CC}">
              <c16:uniqueId val="{00000000-4182-4FFE-9310-106C1BFCDFF6}"/>
            </c:ext>
          </c:extLst>
        </c:ser>
        <c:ser>
          <c:idx val="1"/>
          <c:order val="1"/>
          <c:tx>
            <c:strRef>
              <c:f>工作表1!$C$1</c:f>
              <c:strCache>
                <c:ptCount val="1"/>
                <c:pt idx="0">
                  <c:v>勞工平均工資</c:v>
                </c:pt>
              </c:strCache>
            </c:strRef>
          </c:tx>
          <c:spPr>
            <a:solidFill>
              <a:schemeClr val="accent2"/>
            </a:solidFill>
            <a:ln>
              <a:noFill/>
            </a:ln>
            <a:effectLst/>
          </c:spPr>
          <c:invertIfNegative val="0"/>
          <c:cat>
            <c:strRef>
              <c:f>工作表1!$A$2</c:f>
              <c:strCache>
                <c:ptCount val="1"/>
                <c:pt idx="0">
                  <c:v>平均工資比較</c:v>
                </c:pt>
              </c:strCache>
            </c:strRef>
          </c:cat>
          <c:val>
            <c:numRef>
              <c:f>工作表1!$C$2</c:f>
              <c:numCache>
                <c:formatCode>General</c:formatCode>
                <c:ptCount val="1"/>
                <c:pt idx="0">
                  <c:v>43460</c:v>
                </c:pt>
              </c:numCache>
            </c:numRef>
          </c:val>
          <c:extLst>
            <c:ext xmlns:c16="http://schemas.microsoft.com/office/drawing/2014/chart" uri="{C3380CC4-5D6E-409C-BE32-E72D297353CC}">
              <c16:uniqueId val="{00000001-4182-4FFE-9310-106C1BFCDFF6}"/>
            </c:ext>
          </c:extLst>
        </c:ser>
        <c:dLbls>
          <c:showLegendKey val="0"/>
          <c:showVal val="0"/>
          <c:showCatName val="0"/>
          <c:showSerName val="0"/>
          <c:showPercent val="0"/>
          <c:showBubbleSize val="0"/>
        </c:dLbls>
        <c:gapWidth val="219"/>
        <c:overlap val="-27"/>
        <c:axId val="613014912"/>
        <c:axId val="607403200"/>
      </c:barChart>
      <c:catAx>
        <c:axId val="613014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07403200"/>
        <c:crosses val="autoZero"/>
        <c:auto val="1"/>
        <c:lblAlgn val="ctr"/>
        <c:lblOffset val="100"/>
        <c:noMultiLvlLbl val="0"/>
      </c:catAx>
      <c:valAx>
        <c:axId val="607403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613014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D33AA0-6CB0-4191-9095-45C0E73F37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FEE67290-ABEF-4233-BB39-30F4BE619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469BBC1-FC60-4FA2-B9BA-CBA60950F1CD}"/>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5" name="頁尾版面配置區 4">
            <a:extLst>
              <a:ext uri="{FF2B5EF4-FFF2-40B4-BE49-F238E27FC236}">
                <a16:creationId xmlns:a16="http://schemas.microsoft.com/office/drawing/2014/main" id="{75B85BF2-9380-45CF-9520-466E61D08BB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5CFFAD4-1B16-4EB3-82DF-418B83300233}"/>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966081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103412-0972-46A5-A1D9-2CFE1555CA6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9B317F-5379-43F6-BA56-E1ECA8395A6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AC11E8-91EE-47F8-B596-D859E8832AC7}"/>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5" name="頁尾版面配置區 4">
            <a:extLst>
              <a:ext uri="{FF2B5EF4-FFF2-40B4-BE49-F238E27FC236}">
                <a16:creationId xmlns:a16="http://schemas.microsoft.com/office/drawing/2014/main" id="{777D732A-757B-4FB2-8AD2-27C612730F3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E8A341F-E3D6-47AB-830F-5F95D8F0385E}"/>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3216915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13D4C-2811-4C87-8A84-4B9354FCBB9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4A506AEF-8C04-4D82-A27E-750D5EA1B5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F0E5285-AC84-4024-9187-56C33E4297CB}"/>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5" name="頁尾版面配置區 4">
            <a:extLst>
              <a:ext uri="{FF2B5EF4-FFF2-40B4-BE49-F238E27FC236}">
                <a16:creationId xmlns:a16="http://schemas.microsoft.com/office/drawing/2014/main" id="{877DF59E-D42C-43F4-815F-4B75FC674CA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33E705D-E403-4890-9C66-B35578C6B9C1}"/>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1371469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0C23C0-2C06-4A68-BFEC-26B63063043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6E11EB3-4366-4480-AECD-BC5FA52601E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020C036-43A0-4AAA-BB5A-114C083E0D3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509010D-577D-447B-90E5-11D453DFFBC9}"/>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6" name="頁尾版面配置區 5">
            <a:extLst>
              <a:ext uri="{FF2B5EF4-FFF2-40B4-BE49-F238E27FC236}">
                <a16:creationId xmlns:a16="http://schemas.microsoft.com/office/drawing/2014/main" id="{C502A668-E602-4213-9FD7-87CF7E17921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A8AD331-1C10-46A4-A6DC-C7C13285A88F}"/>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2883355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26FCB8-97C1-4547-BC9F-F07929B659E7}"/>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01C40B4-BEB5-47E0-BEE4-4F29738BD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EAB3192-CF99-4434-911E-B49F80D0895E}"/>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6564B29-F03B-4A48-88C7-7117E4AEB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D7C8A928-F4E6-41E7-86F3-447E78E42210}"/>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9C67E81-A761-48A9-8270-0C44F1899226}"/>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8" name="頁尾版面配置區 7">
            <a:extLst>
              <a:ext uri="{FF2B5EF4-FFF2-40B4-BE49-F238E27FC236}">
                <a16:creationId xmlns:a16="http://schemas.microsoft.com/office/drawing/2014/main" id="{1741A6E1-53E6-4D6E-A674-F0657945905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958426-71BF-4E52-BCD0-2547AA4D4480}"/>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1374521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2AB6EA-9AC5-4383-BC3B-9BDE6513028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08F6932-DE41-47FE-AB93-94F41F2E6B50}"/>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4" name="頁尾版面配置區 3">
            <a:extLst>
              <a:ext uri="{FF2B5EF4-FFF2-40B4-BE49-F238E27FC236}">
                <a16:creationId xmlns:a16="http://schemas.microsoft.com/office/drawing/2014/main" id="{E295E8E3-E68A-4607-8EE3-28D36053763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8801B8B-F086-4F78-B9BA-75211CC60EC8}"/>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3803629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4C6A7E4-4C9A-4646-963E-366B9A2C4A4A}"/>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3" name="頁尾版面配置區 2">
            <a:extLst>
              <a:ext uri="{FF2B5EF4-FFF2-40B4-BE49-F238E27FC236}">
                <a16:creationId xmlns:a16="http://schemas.microsoft.com/office/drawing/2014/main" id="{A88B7335-C9E1-48AA-AAEF-88DBA56C841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81CE104-E7D2-4701-9004-BAF3E4761A14}"/>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855599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D990D8-8DA9-4209-8A78-7E277A1398E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D51462DF-057D-43B8-A817-54CE439A6F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9A42408-593A-4C86-A842-ACEA843F0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B923845-BB0C-429A-80B7-EC79BD615712}"/>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6" name="頁尾版面配置區 5">
            <a:extLst>
              <a:ext uri="{FF2B5EF4-FFF2-40B4-BE49-F238E27FC236}">
                <a16:creationId xmlns:a16="http://schemas.microsoft.com/office/drawing/2014/main" id="{868D2CBB-2798-4749-A276-06A34D2D5E3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153238F-0C02-4B23-A78F-A53959266A44}"/>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1373496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0312A9-6D77-4AF0-A8B3-D219D1A965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254AB92-59A3-4B8B-9A4F-AAA81AD394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AB9BF1A-D462-4C8F-A4F1-374C669139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17BADB7-4B73-4B9E-832E-831325256F5C}"/>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6" name="頁尾版面配置區 5">
            <a:extLst>
              <a:ext uri="{FF2B5EF4-FFF2-40B4-BE49-F238E27FC236}">
                <a16:creationId xmlns:a16="http://schemas.microsoft.com/office/drawing/2014/main" id="{4367DFE1-FFB1-4435-A5D5-753430B9450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D9F98FE-4EF5-4820-A27E-57ED04E026F7}"/>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20200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5D30ED-DC2F-4769-8293-929A9CA6543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7DC9AEC-F1DB-470F-928C-336F64B79A6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89D246-40A6-43B3-9BC6-E9F15D1C0A40}"/>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5" name="頁尾版面配置區 4">
            <a:extLst>
              <a:ext uri="{FF2B5EF4-FFF2-40B4-BE49-F238E27FC236}">
                <a16:creationId xmlns:a16="http://schemas.microsoft.com/office/drawing/2014/main" id="{DFDAF44E-A37A-4509-9D92-57E76608A5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1060E5D-4D2A-4F48-B9E0-8D906C87F452}"/>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2486044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B33A55-656D-4192-8511-3DD1B03078F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72FAEF7-85EF-46C0-B082-B4992FA7832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0DD16E6-05F0-4568-9BA6-0AA81FA62A07}"/>
              </a:ext>
            </a:extLst>
          </p:cNvPr>
          <p:cNvSpPr>
            <a:spLocks noGrp="1"/>
          </p:cNvSpPr>
          <p:nvPr>
            <p:ph type="dt" sz="half" idx="10"/>
          </p:nvPr>
        </p:nvSpPr>
        <p:spPr/>
        <p:txBody>
          <a:bodyPr/>
          <a:lstStyle/>
          <a:p>
            <a:fld id="{084482E1-F4BE-45CA-9335-705DDED1C5D1}" type="datetimeFigureOut">
              <a:rPr lang="zh-TW" altLang="en-US" smtClean="0"/>
              <a:t>2019/10/5</a:t>
            </a:fld>
            <a:endParaRPr lang="zh-TW" altLang="en-US"/>
          </a:p>
        </p:txBody>
      </p:sp>
      <p:sp>
        <p:nvSpPr>
          <p:cNvPr id="5" name="頁尾版面配置區 4">
            <a:extLst>
              <a:ext uri="{FF2B5EF4-FFF2-40B4-BE49-F238E27FC236}">
                <a16:creationId xmlns:a16="http://schemas.microsoft.com/office/drawing/2014/main" id="{B7970AE6-B2DE-4C76-896A-4719A091CB3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4E0579A-7FAC-42A5-8526-88F8524892B6}"/>
              </a:ext>
            </a:extLst>
          </p:cNvPr>
          <p:cNvSpPr>
            <a:spLocks noGrp="1"/>
          </p:cNvSpPr>
          <p:nvPr>
            <p:ph type="sldNum" sz="quarter" idx="12"/>
          </p:nvPr>
        </p:nvSpPr>
        <p:spPr/>
        <p:txBody>
          <a:body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3359018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8F41B42-7DFE-412A-9F22-3755E9D4A0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1E19E9E-20C8-42C4-9A8F-7BE611212A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486247C-261E-4D57-B2AE-B9739E4173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4482E1-F4BE-45CA-9335-705DDED1C5D1}" type="datetimeFigureOut">
              <a:rPr lang="zh-TW" altLang="en-US" smtClean="0"/>
              <a:t>2019/10/5</a:t>
            </a:fld>
            <a:endParaRPr lang="zh-TW" altLang="en-US"/>
          </a:p>
        </p:txBody>
      </p:sp>
      <p:sp>
        <p:nvSpPr>
          <p:cNvPr id="5" name="頁尾版面配置區 4">
            <a:extLst>
              <a:ext uri="{FF2B5EF4-FFF2-40B4-BE49-F238E27FC236}">
                <a16:creationId xmlns:a16="http://schemas.microsoft.com/office/drawing/2014/main" id="{04805EC7-B40D-4537-A612-ADE5AC7481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1ECBC4-717A-4DD7-BB1E-BBE8F1801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7CAE12-EC3D-49DD-80C4-D4C1A8A8503A}" type="slidenum">
              <a:rPr lang="zh-TW" altLang="en-US" smtClean="0"/>
              <a:t>‹#›</a:t>
            </a:fld>
            <a:endParaRPr lang="zh-TW" altLang="en-US"/>
          </a:p>
        </p:txBody>
      </p:sp>
    </p:spTree>
    <p:extLst>
      <p:ext uri="{BB962C8B-B14F-4D97-AF65-F5344CB8AC3E}">
        <p14:creationId xmlns:p14="http://schemas.microsoft.com/office/powerpoint/2010/main" val="577474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34A78-32FD-4958-89A5-99A35F253EB0}"/>
              </a:ext>
            </a:extLst>
          </p:cNvPr>
          <p:cNvSpPr>
            <a:spLocks noGrp="1"/>
          </p:cNvSpPr>
          <p:nvPr>
            <p:ph type="ctrTitle"/>
          </p:nvPr>
        </p:nvSpPr>
        <p:spPr/>
        <p:txBody>
          <a:bodyPr/>
          <a:lstStyle/>
          <a:p>
            <a:r>
              <a:rPr lang="zh-TW" altLang="en-US" dirty="0"/>
              <a:t>軟體測試產業相關調查</a:t>
            </a:r>
          </a:p>
        </p:txBody>
      </p:sp>
      <p:sp>
        <p:nvSpPr>
          <p:cNvPr id="3" name="副標題 2">
            <a:extLst>
              <a:ext uri="{FF2B5EF4-FFF2-40B4-BE49-F238E27FC236}">
                <a16:creationId xmlns:a16="http://schemas.microsoft.com/office/drawing/2014/main" id="{D8E169D4-F999-46D2-B469-A83995458D31}"/>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286674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779375D-B8DC-4001-85D8-E8FBE33F77AF}"/>
              </a:ext>
            </a:extLst>
          </p:cNvPr>
          <p:cNvSpPr>
            <a:spLocks noGrp="1"/>
          </p:cNvSpPr>
          <p:nvPr>
            <p:ph idx="1"/>
          </p:nvPr>
        </p:nvSpPr>
        <p:spPr>
          <a:xfrm>
            <a:off x="838200" y="125162"/>
            <a:ext cx="10515600" cy="4351338"/>
          </a:xfrm>
        </p:spPr>
        <p:txBody>
          <a:bodyPr/>
          <a:lstStyle/>
          <a:p>
            <a:r>
              <a:rPr lang="zh-TW" altLang="en-US" dirty="0"/>
              <a:t>根據美國獵人頭網站</a:t>
            </a:r>
            <a:r>
              <a:rPr lang="en-US" altLang="zh-TW" dirty="0" err="1"/>
              <a:t>glassdoor</a:t>
            </a:r>
            <a:r>
              <a:rPr lang="zh-TW" altLang="en-US" dirty="0"/>
              <a:t>調查顯示軟體測試工程師平均年薪為</a:t>
            </a:r>
            <a:r>
              <a:rPr lang="en-US" altLang="zh-TW" dirty="0"/>
              <a:t>$71927/</a:t>
            </a:r>
            <a:r>
              <a:rPr lang="en-US" altLang="zh-TW" dirty="0" err="1"/>
              <a:t>yr</a:t>
            </a:r>
            <a:r>
              <a:rPr lang="zh-TW" altLang="en-US" dirty="0"/>
              <a:t>，相較美國勞工局統計平均工資</a:t>
            </a:r>
            <a:r>
              <a:rPr lang="en-US" altLang="zh-TW" dirty="0"/>
              <a:t>$43460/</a:t>
            </a:r>
            <a:r>
              <a:rPr lang="en-US" altLang="zh-TW" dirty="0" err="1"/>
              <a:t>yr</a:t>
            </a:r>
            <a:r>
              <a:rPr lang="zh-TW" altLang="en-US" dirty="0"/>
              <a:t>多出約</a:t>
            </a:r>
            <a:r>
              <a:rPr lang="en-US" altLang="zh-TW" dirty="0"/>
              <a:t>40%</a:t>
            </a:r>
          </a:p>
          <a:p>
            <a:r>
              <a:rPr lang="zh-TW" altLang="en-US" dirty="0"/>
              <a:t>美國獵人頭網站</a:t>
            </a:r>
            <a:r>
              <a:rPr lang="en-US" altLang="zh-TW" dirty="0"/>
              <a:t>2015</a:t>
            </a:r>
            <a:r>
              <a:rPr lang="zh-TW" altLang="en-US" dirty="0"/>
              <a:t>年是出一項調查，排行</a:t>
            </a:r>
            <a:r>
              <a:rPr lang="en-US" altLang="zh-TW" dirty="0"/>
              <a:t>2015</a:t>
            </a:r>
            <a:r>
              <a:rPr lang="zh-TW" altLang="en-US" dirty="0"/>
              <a:t>年全美最好的</a:t>
            </a:r>
            <a:r>
              <a:rPr lang="en-US" altLang="zh-TW" dirty="0"/>
              <a:t>25</a:t>
            </a:r>
            <a:r>
              <a:rPr lang="zh-TW" altLang="en-US" dirty="0"/>
              <a:t>大職缺，評比項目包含員工薪資、開放職缺數、工作機會等，軟體測試工程師排名第五，其中職缺榮登全部</a:t>
            </a:r>
            <a:r>
              <a:rPr lang="en-US" altLang="zh-TW" dirty="0"/>
              <a:t>IT</a:t>
            </a:r>
            <a:r>
              <a:rPr lang="zh-TW" altLang="en-US" dirty="0"/>
              <a:t>排名相關職缺之冠</a:t>
            </a:r>
            <a:endParaRPr lang="en-US" altLang="zh-TW" dirty="0"/>
          </a:p>
          <a:p>
            <a:r>
              <a:rPr lang="zh-TW" altLang="en-US" dirty="0"/>
              <a:t>根據</a:t>
            </a:r>
            <a:r>
              <a:rPr lang="en-US" altLang="zh-TW" dirty="0"/>
              <a:t>104</a:t>
            </a:r>
            <a:r>
              <a:rPr lang="zh-TW" altLang="en-US" dirty="0"/>
              <a:t>人力銀行調查顯示，軟韌體測試工程師在</a:t>
            </a:r>
            <a:r>
              <a:rPr lang="en-US" altLang="zh-TW" dirty="0"/>
              <a:t>2019</a:t>
            </a:r>
            <a:r>
              <a:rPr lang="zh-TW" altLang="en-US" dirty="0"/>
              <a:t>年</a:t>
            </a:r>
            <a:r>
              <a:rPr lang="en-US" altLang="zh-TW" dirty="0"/>
              <a:t>7</a:t>
            </a:r>
            <a:r>
              <a:rPr lang="zh-TW" altLang="en-US" dirty="0"/>
              <a:t>月的求職人數為</a:t>
            </a:r>
            <a:r>
              <a:rPr lang="en-US" altLang="zh-TW" dirty="0"/>
              <a:t>404</a:t>
            </a:r>
            <a:r>
              <a:rPr lang="zh-TW" altLang="en-US" dirty="0"/>
              <a:t>人，但同時期</a:t>
            </a:r>
            <a:r>
              <a:rPr lang="en-US" altLang="zh-TW" dirty="0"/>
              <a:t>1603</a:t>
            </a:r>
            <a:r>
              <a:rPr lang="zh-TW" altLang="en-US" dirty="0"/>
              <a:t>個工作機會，</a:t>
            </a:r>
            <a:r>
              <a:rPr lang="en-US" altLang="zh-TW" dirty="0"/>
              <a:t>10</a:t>
            </a:r>
            <a:r>
              <a:rPr lang="zh-TW" altLang="en-US" dirty="0"/>
              <a:t>個工作機會只徵的到</a:t>
            </a:r>
            <a:r>
              <a:rPr lang="en-US" altLang="zh-TW" dirty="0"/>
              <a:t>3</a:t>
            </a:r>
            <a:r>
              <a:rPr lang="zh-TW" altLang="en-US" dirty="0"/>
              <a:t>個人，顯示出目前市場上的測試人員遠遠不足</a:t>
            </a:r>
            <a:endParaRPr lang="en-US" altLang="zh-TW" dirty="0"/>
          </a:p>
        </p:txBody>
      </p:sp>
      <p:graphicFrame>
        <p:nvGraphicFramePr>
          <p:cNvPr id="4" name="內容版面配置區 10">
            <a:extLst>
              <a:ext uri="{FF2B5EF4-FFF2-40B4-BE49-F238E27FC236}">
                <a16:creationId xmlns:a16="http://schemas.microsoft.com/office/drawing/2014/main" id="{59C6601A-D3AA-4903-BDB4-A096C01E3466}"/>
              </a:ext>
            </a:extLst>
          </p:cNvPr>
          <p:cNvGraphicFramePr>
            <a:graphicFrameLocks/>
          </p:cNvGraphicFramePr>
          <p:nvPr>
            <p:extLst>
              <p:ext uri="{D42A27DB-BD31-4B8C-83A1-F6EECF244321}">
                <p14:modId xmlns:p14="http://schemas.microsoft.com/office/powerpoint/2010/main" val="4184668423"/>
              </p:ext>
            </p:extLst>
          </p:nvPr>
        </p:nvGraphicFramePr>
        <p:xfrm>
          <a:off x="0" y="3429000"/>
          <a:ext cx="4026568" cy="3429000"/>
        </p:xfrm>
        <a:graphic>
          <a:graphicData uri="http://schemas.openxmlformats.org/drawingml/2006/chart">
            <c:chart xmlns:c="http://schemas.openxmlformats.org/drawingml/2006/chart" xmlns:r="http://schemas.openxmlformats.org/officeDocument/2006/relationships" r:id="rId2"/>
          </a:graphicData>
        </a:graphic>
      </p:graphicFrame>
      <p:pic>
        <p:nvPicPr>
          <p:cNvPr id="6" name="圖片 5">
            <a:extLst>
              <a:ext uri="{FF2B5EF4-FFF2-40B4-BE49-F238E27FC236}">
                <a16:creationId xmlns:a16="http://schemas.microsoft.com/office/drawing/2014/main" id="{AA32B52D-15F9-47F9-9901-B4A8C43A5B12}"/>
              </a:ext>
            </a:extLst>
          </p:cNvPr>
          <p:cNvPicPr>
            <a:picLocks noChangeAspect="1"/>
          </p:cNvPicPr>
          <p:nvPr/>
        </p:nvPicPr>
        <p:blipFill>
          <a:blip r:embed="rId3"/>
          <a:stretch>
            <a:fillRect/>
          </a:stretch>
        </p:blipFill>
        <p:spPr>
          <a:xfrm>
            <a:off x="4620127" y="3948135"/>
            <a:ext cx="7390898" cy="2909865"/>
          </a:xfrm>
          <a:prstGeom prst="rect">
            <a:avLst/>
          </a:prstGeom>
        </p:spPr>
      </p:pic>
    </p:spTree>
    <p:extLst>
      <p:ext uri="{BB962C8B-B14F-4D97-AF65-F5344CB8AC3E}">
        <p14:creationId xmlns:p14="http://schemas.microsoft.com/office/powerpoint/2010/main" val="2388056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內容版面配置區 12">
            <a:extLst>
              <a:ext uri="{FF2B5EF4-FFF2-40B4-BE49-F238E27FC236}">
                <a16:creationId xmlns:a16="http://schemas.microsoft.com/office/drawing/2014/main" id="{D19D8748-A21F-4114-8E47-2783A16B24B9}"/>
              </a:ext>
            </a:extLst>
          </p:cNvPr>
          <p:cNvSpPr>
            <a:spLocks noGrp="1"/>
          </p:cNvSpPr>
          <p:nvPr>
            <p:ph idx="1"/>
          </p:nvPr>
        </p:nvSpPr>
        <p:spPr>
          <a:xfrm>
            <a:off x="838200" y="2071437"/>
            <a:ext cx="10515600" cy="2715126"/>
          </a:xfrm>
        </p:spPr>
        <p:txBody>
          <a:bodyPr>
            <a:normAutofit/>
          </a:bodyPr>
          <a:lstStyle/>
          <a:p>
            <a:r>
              <a:rPr lang="zh-TW" altLang="en-US" dirty="0"/>
              <a:t>台灣目前正在起步的軟體新創市場中，軟體測試很多都是由開發公司內部人員自行進行，很可能礙於經費的限制，並未招募專責人員，但由專業的第三方的專業驗證團隊或其產品進行應能帶來下列附加價值</a:t>
            </a:r>
            <a:endParaRPr lang="en-US" altLang="zh-TW" dirty="0"/>
          </a:p>
          <a:p>
            <a:pPr marL="0" indent="0">
              <a:buNone/>
            </a:pPr>
            <a:r>
              <a:rPr lang="zh-TW" altLang="en-US" dirty="0"/>
              <a:t>   </a:t>
            </a:r>
          </a:p>
        </p:txBody>
      </p:sp>
    </p:spTree>
    <p:extLst>
      <p:ext uri="{BB962C8B-B14F-4D97-AF65-F5344CB8AC3E}">
        <p14:creationId xmlns:p14="http://schemas.microsoft.com/office/powerpoint/2010/main" val="2024603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2BB706-EDAD-458E-AD50-E788C0242083}"/>
              </a:ext>
            </a:extLst>
          </p:cNvPr>
          <p:cNvSpPr>
            <a:spLocks noGrp="1"/>
          </p:cNvSpPr>
          <p:nvPr>
            <p:ph type="title"/>
          </p:nvPr>
        </p:nvSpPr>
        <p:spPr>
          <a:xfrm>
            <a:off x="838200" y="140535"/>
            <a:ext cx="6268453" cy="1325563"/>
          </a:xfrm>
        </p:spPr>
        <p:txBody>
          <a:bodyPr/>
          <a:lstStyle/>
          <a:p>
            <a:r>
              <a:rPr lang="en-US" altLang="zh-TW" dirty="0"/>
              <a:t>1.</a:t>
            </a:r>
            <a:r>
              <a:rPr lang="zh-TW" altLang="en-US" dirty="0"/>
              <a:t>測試資產化</a:t>
            </a:r>
          </a:p>
        </p:txBody>
      </p:sp>
      <p:sp>
        <p:nvSpPr>
          <p:cNvPr id="3" name="內容版面配置區 2">
            <a:extLst>
              <a:ext uri="{FF2B5EF4-FFF2-40B4-BE49-F238E27FC236}">
                <a16:creationId xmlns:a16="http://schemas.microsoft.com/office/drawing/2014/main" id="{917F733E-050A-41E4-A7AF-2A31E99AEA4D}"/>
              </a:ext>
            </a:extLst>
          </p:cNvPr>
          <p:cNvSpPr>
            <a:spLocks noGrp="1"/>
          </p:cNvSpPr>
          <p:nvPr>
            <p:ph idx="1"/>
          </p:nvPr>
        </p:nvSpPr>
        <p:spPr>
          <a:xfrm>
            <a:off x="838200" y="1466099"/>
            <a:ext cx="10515600" cy="2432134"/>
          </a:xfrm>
        </p:spPr>
        <p:txBody>
          <a:bodyPr>
            <a:normAutofit/>
          </a:bodyPr>
          <a:lstStyle/>
          <a:p>
            <a:r>
              <a:rPr lang="zh-TW" altLang="en-US" dirty="0"/>
              <a:t>經驗豐富的測試團隊或專業的測試產品能提供幫助了解</a:t>
            </a:r>
            <a:r>
              <a:rPr lang="en-US" altLang="zh-TW" dirty="0"/>
              <a:t>Bug</a:t>
            </a:r>
            <a:r>
              <a:rPr lang="zh-TW" altLang="en-US" dirty="0"/>
              <a:t>的發生傾向，不限於僅僅發生錯誤的當下後去進行修正</a:t>
            </a:r>
            <a:endParaRPr lang="en-US" altLang="zh-TW" dirty="0"/>
          </a:p>
          <a:p>
            <a:r>
              <a:rPr lang="zh-TW" altLang="en-US" dirty="0"/>
              <a:t>防止測試屬人化</a:t>
            </a:r>
            <a:r>
              <a:rPr lang="en-US" altLang="zh-TW" dirty="0"/>
              <a:t>(</a:t>
            </a:r>
            <a:r>
              <a:rPr lang="zh-TW" altLang="en-US" dirty="0"/>
              <a:t>內部測試人員離職後就無法進行</a:t>
            </a:r>
            <a:r>
              <a:rPr lang="en-US" altLang="zh-TW" dirty="0"/>
              <a:t>)</a:t>
            </a:r>
          </a:p>
          <a:p>
            <a:r>
              <a:rPr lang="zh-TW" altLang="en-US" dirty="0"/>
              <a:t>經驗豐富專業的團隊能協助產品開發團隊快速效率管控產品品質，並降低產品開發週期提升產品競爭力</a:t>
            </a:r>
          </a:p>
        </p:txBody>
      </p:sp>
      <p:sp>
        <p:nvSpPr>
          <p:cNvPr id="4" name="標題 1">
            <a:extLst>
              <a:ext uri="{FF2B5EF4-FFF2-40B4-BE49-F238E27FC236}">
                <a16:creationId xmlns:a16="http://schemas.microsoft.com/office/drawing/2014/main" id="{3BB6BD8C-7F20-4410-8D35-3241DC442BBF}"/>
              </a:ext>
            </a:extLst>
          </p:cNvPr>
          <p:cNvSpPr txBox="1">
            <a:spLocks/>
          </p:cNvSpPr>
          <p:nvPr/>
        </p:nvSpPr>
        <p:spPr>
          <a:xfrm>
            <a:off x="838199" y="3880436"/>
            <a:ext cx="626845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2.</a:t>
            </a:r>
            <a:r>
              <a:rPr lang="zh-TW" altLang="en-US" dirty="0"/>
              <a:t>提升</a:t>
            </a:r>
            <a:r>
              <a:rPr lang="en-US" altLang="zh-TW" dirty="0"/>
              <a:t>Bug</a:t>
            </a:r>
            <a:r>
              <a:rPr lang="zh-TW" altLang="en-US" dirty="0"/>
              <a:t>發現率</a:t>
            </a:r>
          </a:p>
        </p:txBody>
      </p:sp>
      <p:sp>
        <p:nvSpPr>
          <p:cNvPr id="5" name="內容版面配置區 2">
            <a:extLst>
              <a:ext uri="{FF2B5EF4-FFF2-40B4-BE49-F238E27FC236}">
                <a16:creationId xmlns:a16="http://schemas.microsoft.com/office/drawing/2014/main" id="{032F8376-B07A-4AAA-8D91-A441D58080AE}"/>
              </a:ext>
            </a:extLst>
          </p:cNvPr>
          <p:cNvSpPr txBox="1">
            <a:spLocks/>
          </p:cNvSpPr>
          <p:nvPr/>
        </p:nvSpPr>
        <p:spPr>
          <a:xfrm>
            <a:off x="838200" y="5205999"/>
            <a:ext cx="10515600" cy="11065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避免自家公司測試會有的盲點客觀測試</a:t>
            </a:r>
            <a:endParaRPr lang="en-US" altLang="zh-TW" dirty="0"/>
          </a:p>
          <a:p>
            <a:r>
              <a:rPr lang="zh-TW" altLang="en-US" dirty="0"/>
              <a:t>提高產品品質</a:t>
            </a:r>
            <a:endParaRPr lang="en-US" altLang="zh-TW" dirty="0"/>
          </a:p>
        </p:txBody>
      </p:sp>
    </p:spTree>
    <p:extLst>
      <p:ext uri="{BB962C8B-B14F-4D97-AF65-F5344CB8AC3E}">
        <p14:creationId xmlns:p14="http://schemas.microsoft.com/office/powerpoint/2010/main" val="269288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E9ABA-4C9F-4D44-857E-A67F98449727}"/>
              </a:ext>
            </a:extLst>
          </p:cNvPr>
          <p:cNvSpPr>
            <a:spLocks noGrp="1"/>
          </p:cNvSpPr>
          <p:nvPr>
            <p:ph type="title"/>
          </p:nvPr>
        </p:nvSpPr>
        <p:spPr/>
        <p:txBody>
          <a:bodyPr/>
          <a:lstStyle/>
          <a:p>
            <a:r>
              <a:rPr lang="en-US" altLang="zh-TW" dirty="0"/>
              <a:t>3.</a:t>
            </a:r>
            <a:r>
              <a:rPr lang="zh-TW" altLang="en-US" dirty="0"/>
              <a:t>降低成本</a:t>
            </a:r>
          </a:p>
        </p:txBody>
      </p:sp>
      <p:sp>
        <p:nvSpPr>
          <p:cNvPr id="3" name="內容版面配置區 2">
            <a:extLst>
              <a:ext uri="{FF2B5EF4-FFF2-40B4-BE49-F238E27FC236}">
                <a16:creationId xmlns:a16="http://schemas.microsoft.com/office/drawing/2014/main" id="{7F4CB0E6-9E0D-4FA5-97BE-8CDA074E0593}"/>
              </a:ext>
            </a:extLst>
          </p:cNvPr>
          <p:cNvSpPr>
            <a:spLocks noGrp="1"/>
          </p:cNvSpPr>
          <p:nvPr>
            <p:ph idx="1"/>
          </p:nvPr>
        </p:nvSpPr>
        <p:spPr>
          <a:xfrm>
            <a:off x="838200" y="1825625"/>
            <a:ext cx="10515600" cy="1603375"/>
          </a:xfrm>
        </p:spPr>
        <p:txBody>
          <a:bodyPr/>
          <a:lstStyle/>
          <a:p>
            <a:r>
              <a:rPr lang="zh-TW" altLang="en-US" dirty="0"/>
              <a:t>減少人力成本支出</a:t>
            </a:r>
            <a:endParaRPr lang="en-US" altLang="zh-TW" dirty="0"/>
          </a:p>
          <a:p>
            <a:r>
              <a:rPr lang="zh-TW" altLang="en-US" dirty="0"/>
              <a:t>減少因</a:t>
            </a:r>
            <a:r>
              <a:rPr lang="en-US" altLang="zh-TW" dirty="0"/>
              <a:t>Bug</a:t>
            </a:r>
            <a:r>
              <a:rPr lang="zh-TW" altLang="en-US" dirty="0"/>
              <a:t>導致回收產品的費用</a:t>
            </a:r>
          </a:p>
        </p:txBody>
      </p:sp>
      <p:sp>
        <p:nvSpPr>
          <p:cNvPr id="4" name="標題 1">
            <a:extLst>
              <a:ext uri="{FF2B5EF4-FFF2-40B4-BE49-F238E27FC236}">
                <a16:creationId xmlns:a16="http://schemas.microsoft.com/office/drawing/2014/main" id="{F4AB298F-B2C1-4552-8D5E-3A9E866B6D2E}"/>
              </a:ext>
            </a:extLst>
          </p:cNvPr>
          <p:cNvSpPr txBox="1">
            <a:spLocks/>
          </p:cNvSpPr>
          <p:nvPr/>
        </p:nvSpPr>
        <p:spPr>
          <a:xfrm>
            <a:off x="838200" y="27662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4.</a:t>
            </a:r>
            <a:r>
              <a:rPr lang="zh-TW" altLang="en-US" dirty="0"/>
              <a:t>提升公司產品形象</a:t>
            </a:r>
          </a:p>
        </p:txBody>
      </p:sp>
      <p:sp>
        <p:nvSpPr>
          <p:cNvPr id="6" name="內容版面配置區 2">
            <a:extLst>
              <a:ext uri="{FF2B5EF4-FFF2-40B4-BE49-F238E27FC236}">
                <a16:creationId xmlns:a16="http://schemas.microsoft.com/office/drawing/2014/main" id="{8F43C0AC-8B8E-4F71-B993-4DC83638E1E3}"/>
              </a:ext>
            </a:extLst>
          </p:cNvPr>
          <p:cNvSpPr txBox="1">
            <a:spLocks/>
          </p:cNvSpPr>
          <p:nvPr/>
        </p:nvSpPr>
        <p:spPr>
          <a:xfrm>
            <a:off x="838200" y="4091781"/>
            <a:ext cx="10515600"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良好專業的產品測試程序減少產品上市後因為產品問題而產生的糾紛，很多時候當新產品上市發現有問題時，往往會讓消費者對該公司的所有產品產生疑慮，大大增加額外的損失</a:t>
            </a:r>
            <a:endParaRPr lang="en-US" altLang="zh-TW" dirty="0"/>
          </a:p>
        </p:txBody>
      </p:sp>
    </p:spTree>
    <p:extLst>
      <p:ext uri="{BB962C8B-B14F-4D97-AF65-F5344CB8AC3E}">
        <p14:creationId xmlns:p14="http://schemas.microsoft.com/office/powerpoint/2010/main" val="136692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6089EB-9298-424D-9577-C6D25EB6DF5B}"/>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FD539E65-EC3E-49B3-ADC1-CB762C49043C}"/>
              </a:ext>
            </a:extLst>
          </p:cNvPr>
          <p:cNvSpPr>
            <a:spLocks noGrp="1"/>
          </p:cNvSpPr>
          <p:nvPr>
            <p:ph idx="1"/>
          </p:nvPr>
        </p:nvSpPr>
        <p:spPr>
          <a:xfrm>
            <a:off x="838200" y="3151188"/>
            <a:ext cx="10515600" cy="500480"/>
          </a:xfrm>
        </p:spPr>
        <p:txBody>
          <a:bodyPr>
            <a:normAutofit/>
          </a:bodyPr>
          <a:lstStyle/>
          <a:p>
            <a:r>
              <a:rPr lang="en-US" altLang="zh-TW" dirty="0"/>
              <a:t>5</a:t>
            </a:r>
            <a:r>
              <a:rPr lang="zh-TW" altLang="en-US" dirty="0"/>
              <a:t>個因應新技術新觀念及產業帶來的未來軟體測試發展的趨勢</a:t>
            </a:r>
          </a:p>
        </p:txBody>
      </p:sp>
    </p:spTree>
    <p:extLst>
      <p:ext uri="{BB962C8B-B14F-4D97-AF65-F5344CB8AC3E}">
        <p14:creationId xmlns:p14="http://schemas.microsoft.com/office/powerpoint/2010/main" val="2770999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CDDB75-7A62-4A23-BDF2-B21E13A0EDBB}"/>
              </a:ext>
            </a:extLst>
          </p:cNvPr>
          <p:cNvSpPr>
            <a:spLocks noGrp="1"/>
          </p:cNvSpPr>
          <p:nvPr>
            <p:ph type="title"/>
          </p:nvPr>
        </p:nvSpPr>
        <p:spPr/>
        <p:txBody>
          <a:bodyPr/>
          <a:lstStyle/>
          <a:p>
            <a:r>
              <a:rPr lang="en-US" altLang="zh-TW" dirty="0"/>
              <a:t>1.Machine learning in testing</a:t>
            </a:r>
            <a:endParaRPr lang="zh-TW" altLang="en-US" dirty="0"/>
          </a:p>
        </p:txBody>
      </p:sp>
      <p:sp>
        <p:nvSpPr>
          <p:cNvPr id="3" name="內容版面配置區 2">
            <a:extLst>
              <a:ext uri="{FF2B5EF4-FFF2-40B4-BE49-F238E27FC236}">
                <a16:creationId xmlns:a16="http://schemas.microsoft.com/office/drawing/2014/main" id="{278642B0-ACC8-4D81-BEEF-49B153829FB4}"/>
              </a:ext>
            </a:extLst>
          </p:cNvPr>
          <p:cNvSpPr>
            <a:spLocks noGrp="1"/>
          </p:cNvSpPr>
          <p:nvPr>
            <p:ph idx="1"/>
          </p:nvPr>
        </p:nvSpPr>
        <p:spPr>
          <a:xfrm>
            <a:off x="838200" y="1825625"/>
            <a:ext cx="11097126" cy="4351338"/>
          </a:xfrm>
        </p:spPr>
        <p:txBody>
          <a:bodyPr>
            <a:normAutofit lnSpcReduction="10000"/>
          </a:bodyPr>
          <a:lstStyle/>
          <a:p>
            <a:r>
              <a:rPr lang="en-US" altLang="zh-TW" dirty="0"/>
              <a:t>Machine learning is bringing about revolutionary changes in workflows and processes. In testing, machine learning can be used for:</a:t>
            </a:r>
          </a:p>
          <a:p>
            <a:pPr marL="0" indent="0">
              <a:buNone/>
            </a:pPr>
            <a:r>
              <a:rPr lang="zh-TW" altLang="en-US" dirty="0"/>
              <a:t>   </a:t>
            </a:r>
            <a:r>
              <a:rPr lang="en-US" altLang="zh-TW" dirty="0"/>
              <a:t>1. Test suite optimization – To identify redundant and unique test cases</a:t>
            </a:r>
          </a:p>
          <a:p>
            <a:pPr marL="0" indent="0">
              <a:buNone/>
            </a:pPr>
            <a:r>
              <a:rPr lang="en-US" altLang="zh-TW" dirty="0"/>
              <a:t>   2. Predictive analytics – To predict the key parameters of software testing </a:t>
            </a:r>
          </a:p>
          <a:p>
            <a:pPr marL="0" indent="0">
              <a:buNone/>
            </a:pPr>
            <a:r>
              <a:rPr lang="en-US" altLang="zh-TW" dirty="0"/>
              <a:t>        processes on the basis of historical data.</a:t>
            </a:r>
          </a:p>
          <a:p>
            <a:pPr marL="0" indent="0">
              <a:buNone/>
            </a:pPr>
            <a:r>
              <a:rPr lang="en-US" altLang="zh-TW" dirty="0"/>
              <a:t>   3. Log analytics – To identify the tests cases which need to be executed</a:t>
            </a:r>
          </a:p>
          <a:p>
            <a:pPr marL="0" indent="0">
              <a:buNone/>
            </a:pPr>
            <a:r>
              <a:rPr lang="en-US" altLang="zh-TW" dirty="0"/>
              <a:t>       automatically </a:t>
            </a:r>
          </a:p>
          <a:p>
            <a:pPr marL="0" indent="0">
              <a:buNone/>
            </a:pPr>
            <a:r>
              <a:rPr lang="en-US" altLang="zh-TW" dirty="0"/>
              <a:t>   4. Defect analytics – To identify high-risk areas of the application for the</a:t>
            </a:r>
          </a:p>
          <a:p>
            <a:pPr marL="0" indent="0">
              <a:buNone/>
            </a:pPr>
            <a:r>
              <a:rPr lang="en-US" altLang="zh-TW" dirty="0"/>
              <a:t>        prioritization of regression test cases.</a:t>
            </a:r>
            <a:endParaRPr lang="zh-TW" altLang="en-US" dirty="0"/>
          </a:p>
        </p:txBody>
      </p:sp>
    </p:spTree>
    <p:extLst>
      <p:ext uri="{BB962C8B-B14F-4D97-AF65-F5344CB8AC3E}">
        <p14:creationId xmlns:p14="http://schemas.microsoft.com/office/powerpoint/2010/main" val="1369735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2CD981-CB2A-4EA9-B833-2253D6C71984}"/>
              </a:ext>
            </a:extLst>
          </p:cNvPr>
          <p:cNvSpPr>
            <a:spLocks noGrp="1"/>
          </p:cNvSpPr>
          <p:nvPr>
            <p:ph type="title"/>
          </p:nvPr>
        </p:nvSpPr>
        <p:spPr/>
        <p:txBody>
          <a:bodyPr/>
          <a:lstStyle/>
          <a:p>
            <a:r>
              <a:rPr lang="en-US" altLang="zh-TW" dirty="0"/>
              <a:t>2. Increasing Adoption of DevOps</a:t>
            </a:r>
            <a:endParaRPr lang="zh-TW" altLang="en-US" dirty="0"/>
          </a:p>
        </p:txBody>
      </p:sp>
      <p:sp>
        <p:nvSpPr>
          <p:cNvPr id="3" name="內容版面配置區 2">
            <a:extLst>
              <a:ext uri="{FF2B5EF4-FFF2-40B4-BE49-F238E27FC236}">
                <a16:creationId xmlns:a16="http://schemas.microsoft.com/office/drawing/2014/main" id="{FCC00C45-0647-4A5A-985A-E9115A3CC6E5}"/>
              </a:ext>
            </a:extLst>
          </p:cNvPr>
          <p:cNvSpPr>
            <a:spLocks noGrp="1"/>
          </p:cNvSpPr>
          <p:nvPr>
            <p:ph idx="1"/>
          </p:nvPr>
        </p:nvSpPr>
        <p:spPr/>
        <p:txBody>
          <a:bodyPr/>
          <a:lstStyle/>
          <a:p>
            <a:r>
              <a:rPr lang="en-US" altLang="zh-TW" dirty="0"/>
              <a:t>In DevOps, the testing begins at the beginning of the development cycle. </a:t>
            </a:r>
          </a:p>
          <a:p>
            <a:r>
              <a:rPr lang="en-US" altLang="zh-TW" dirty="0"/>
              <a:t>This allows testers to perform Continuous Testing and Continuous Monitoring to validate that the developers have built the right application</a:t>
            </a:r>
          </a:p>
          <a:p>
            <a:r>
              <a:rPr lang="en-US" altLang="zh-TW" dirty="0"/>
              <a:t>The testing team aligns the test design, test automation, and test case development with DevOps to not only verify the code changes but ensure that the changes don’t break the product.</a:t>
            </a:r>
            <a:endParaRPr lang="zh-TW" altLang="en-US" dirty="0"/>
          </a:p>
        </p:txBody>
      </p:sp>
    </p:spTree>
    <p:extLst>
      <p:ext uri="{BB962C8B-B14F-4D97-AF65-F5344CB8AC3E}">
        <p14:creationId xmlns:p14="http://schemas.microsoft.com/office/powerpoint/2010/main" val="3096339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70B6F5-6581-48E2-A4E6-DA6F2249F2D4}"/>
              </a:ext>
            </a:extLst>
          </p:cNvPr>
          <p:cNvSpPr>
            <a:spLocks noGrp="1"/>
          </p:cNvSpPr>
          <p:nvPr>
            <p:ph type="title"/>
          </p:nvPr>
        </p:nvSpPr>
        <p:spPr/>
        <p:txBody>
          <a:bodyPr/>
          <a:lstStyle/>
          <a:p>
            <a:r>
              <a:rPr lang="en-US" altLang="zh-TW" dirty="0"/>
              <a:t>3. IOT</a:t>
            </a:r>
            <a:r>
              <a:rPr lang="zh-TW" altLang="en-US" dirty="0"/>
              <a:t> </a:t>
            </a:r>
            <a:r>
              <a:rPr lang="en-US" altLang="zh-TW" dirty="0"/>
              <a:t>Testing</a:t>
            </a:r>
            <a:endParaRPr lang="zh-TW" altLang="en-US" dirty="0"/>
          </a:p>
        </p:txBody>
      </p:sp>
      <p:sp>
        <p:nvSpPr>
          <p:cNvPr id="3" name="內容版面配置區 2">
            <a:extLst>
              <a:ext uri="{FF2B5EF4-FFF2-40B4-BE49-F238E27FC236}">
                <a16:creationId xmlns:a16="http://schemas.microsoft.com/office/drawing/2014/main" id="{F3BC8C1D-B587-4C4F-A0C3-F8FAB9DA1C77}"/>
              </a:ext>
            </a:extLst>
          </p:cNvPr>
          <p:cNvSpPr>
            <a:spLocks noGrp="1"/>
          </p:cNvSpPr>
          <p:nvPr>
            <p:ph idx="1"/>
          </p:nvPr>
        </p:nvSpPr>
        <p:spPr>
          <a:xfrm>
            <a:off x="838200" y="1443790"/>
            <a:ext cx="10515600" cy="5414210"/>
          </a:xfrm>
        </p:spPr>
        <p:txBody>
          <a:bodyPr>
            <a:normAutofit/>
          </a:bodyPr>
          <a:lstStyle/>
          <a:p>
            <a:r>
              <a:rPr lang="en-US" altLang="zh-TW" dirty="0"/>
              <a:t>There are more connected devices than ever before as IoT (Internet of Things) technology is gaining traction. IoT testing is conducted to test IoT technology based devices. The various types of testing for IoT systems are as follows:</a:t>
            </a:r>
          </a:p>
          <a:p>
            <a:pPr marL="0" indent="0">
              <a:buNone/>
            </a:pPr>
            <a:r>
              <a:rPr lang="zh-TW" altLang="en-US" dirty="0"/>
              <a:t>   </a:t>
            </a:r>
            <a:r>
              <a:rPr lang="en-US" altLang="zh-TW" dirty="0"/>
              <a:t>1. Usability Testing – To test the usability of an IoT system</a:t>
            </a:r>
          </a:p>
          <a:p>
            <a:pPr marL="0" indent="0">
              <a:buNone/>
            </a:pPr>
            <a:r>
              <a:rPr lang="zh-TW" altLang="en-US" dirty="0"/>
              <a:t>   </a:t>
            </a:r>
            <a:r>
              <a:rPr lang="en-US" altLang="zh-TW" dirty="0"/>
              <a:t>2. Compatibility Testing – To check the compatibility of devices in IoT </a:t>
            </a:r>
            <a:r>
              <a:rPr lang="zh-TW" altLang="en-US" dirty="0"/>
              <a:t> </a:t>
            </a:r>
            <a:endParaRPr lang="en-US" altLang="zh-TW" dirty="0"/>
          </a:p>
          <a:p>
            <a:pPr marL="0" indent="0">
              <a:buNone/>
            </a:pPr>
            <a:r>
              <a:rPr lang="zh-TW" altLang="en-US" dirty="0"/>
              <a:t>        </a:t>
            </a:r>
            <a:r>
              <a:rPr lang="en-US" altLang="zh-TW" dirty="0"/>
              <a:t>system</a:t>
            </a:r>
          </a:p>
          <a:p>
            <a:pPr marL="0" indent="0">
              <a:buNone/>
            </a:pPr>
            <a:r>
              <a:rPr lang="en-US" altLang="zh-TW" dirty="0"/>
              <a:t>   3. Reliability &amp; Scalability Testing – Simulation of sensors utilizing</a:t>
            </a:r>
          </a:p>
          <a:p>
            <a:pPr marL="0" indent="0">
              <a:buNone/>
            </a:pPr>
            <a:r>
              <a:rPr lang="en-US" altLang="zh-TW" dirty="0"/>
              <a:t>       virtualization</a:t>
            </a:r>
          </a:p>
          <a:p>
            <a:pPr marL="0" indent="0">
              <a:buNone/>
            </a:pPr>
            <a:r>
              <a:rPr lang="en-US" altLang="zh-TW" dirty="0"/>
              <a:t>   4. Performance Testing –  To test the performance of the connected</a:t>
            </a:r>
          </a:p>
          <a:p>
            <a:pPr marL="0" indent="0">
              <a:buNone/>
            </a:pPr>
            <a:r>
              <a:rPr lang="en-US" altLang="zh-TW" dirty="0"/>
              <a:t>        devices in an IoT network</a:t>
            </a:r>
            <a:endParaRPr lang="zh-TW" altLang="en-US" dirty="0"/>
          </a:p>
        </p:txBody>
      </p:sp>
    </p:spTree>
    <p:extLst>
      <p:ext uri="{BB962C8B-B14F-4D97-AF65-F5344CB8AC3E}">
        <p14:creationId xmlns:p14="http://schemas.microsoft.com/office/powerpoint/2010/main" val="2837977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D0C920-B3CC-42FD-98DD-BAF6B9A4F691}"/>
              </a:ext>
            </a:extLst>
          </p:cNvPr>
          <p:cNvSpPr>
            <a:spLocks noGrp="1"/>
          </p:cNvSpPr>
          <p:nvPr>
            <p:ph type="title"/>
          </p:nvPr>
        </p:nvSpPr>
        <p:spPr/>
        <p:txBody>
          <a:bodyPr/>
          <a:lstStyle/>
          <a:p>
            <a:r>
              <a:rPr lang="en-US" altLang="zh-TW" dirty="0"/>
              <a:t>4.Test Automation</a:t>
            </a:r>
            <a:endParaRPr lang="zh-TW" altLang="en-US" dirty="0"/>
          </a:p>
        </p:txBody>
      </p:sp>
      <p:sp>
        <p:nvSpPr>
          <p:cNvPr id="3" name="內容版面配置區 2">
            <a:extLst>
              <a:ext uri="{FF2B5EF4-FFF2-40B4-BE49-F238E27FC236}">
                <a16:creationId xmlns:a16="http://schemas.microsoft.com/office/drawing/2014/main" id="{375043AF-EE2D-46F2-94C8-602712351B94}"/>
              </a:ext>
            </a:extLst>
          </p:cNvPr>
          <p:cNvSpPr>
            <a:spLocks noGrp="1"/>
          </p:cNvSpPr>
          <p:nvPr>
            <p:ph idx="1"/>
          </p:nvPr>
        </p:nvSpPr>
        <p:spPr/>
        <p:txBody>
          <a:bodyPr/>
          <a:lstStyle/>
          <a:p>
            <a:r>
              <a:rPr lang="en-US" altLang="zh-TW" dirty="0"/>
              <a:t>The test automation helps the testing team to focus their time and efforts on creating test cases rather than managing testing needs.</a:t>
            </a:r>
          </a:p>
          <a:p>
            <a:r>
              <a:rPr lang="en-US" altLang="zh-TW" dirty="0"/>
              <a:t>Test automation helps to ensure high- quality software is delivered.</a:t>
            </a:r>
          </a:p>
          <a:p>
            <a:r>
              <a:rPr lang="en-US" altLang="zh-TW" dirty="0"/>
              <a:t>Automation tools are used for both functional and non-functional testing.</a:t>
            </a:r>
          </a:p>
          <a:p>
            <a:endParaRPr lang="zh-TW" altLang="en-US" dirty="0"/>
          </a:p>
        </p:txBody>
      </p:sp>
    </p:spTree>
    <p:extLst>
      <p:ext uri="{BB962C8B-B14F-4D97-AF65-F5344CB8AC3E}">
        <p14:creationId xmlns:p14="http://schemas.microsoft.com/office/powerpoint/2010/main" val="1264277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5F3C80-4A16-4D57-BC29-53C6EE364B47}"/>
              </a:ext>
            </a:extLst>
          </p:cNvPr>
          <p:cNvSpPr>
            <a:spLocks noGrp="1"/>
          </p:cNvSpPr>
          <p:nvPr>
            <p:ph type="title"/>
          </p:nvPr>
        </p:nvSpPr>
        <p:spPr/>
        <p:txBody>
          <a:bodyPr/>
          <a:lstStyle/>
          <a:p>
            <a:r>
              <a:rPr lang="en-US" altLang="zh-TW" dirty="0"/>
              <a:t>5. Shortening Delivery Cycle</a:t>
            </a:r>
            <a:endParaRPr lang="zh-TW" altLang="en-US" dirty="0"/>
          </a:p>
        </p:txBody>
      </p:sp>
      <p:sp>
        <p:nvSpPr>
          <p:cNvPr id="3" name="內容版面配置區 2">
            <a:extLst>
              <a:ext uri="{FF2B5EF4-FFF2-40B4-BE49-F238E27FC236}">
                <a16:creationId xmlns:a16="http://schemas.microsoft.com/office/drawing/2014/main" id="{343AEB0F-7BC9-42C2-9417-FE5C13BF325B}"/>
              </a:ext>
            </a:extLst>
          </p:cNvPr>
          <p:cNvSpPr>
            <a:spLocks noGrp="1"/>
          </p:cNvSpPr>
          <p:nvPr>
            <p:ph idx="1"/>
          </p:nvPr>
        </p:nvSpPr>
        <p:spPr/>
        <p:txBody>
          <a:bodyPr/>
          <a:lstStyle/>
          <a:p>
            <a:r>
              <a:rPr lang="en-US" altLang="zh-TW" dirty="0"/>
              <a:t>Rapid changes in technologies, platforms, and devices are putting pressure on software development teams to deliver the finished products faster and more frequently.</a:t>
            </a:r>
          </a:p>
          <a:p>
            <a:r>
              <a:rPr lang="en-US" altLang="zh-TW" dirty="0"/>
              <a:t> Testing needs to be integrated with development to facilitate delivery. </a:t>
            </a:r>
          </a:p>
          <a:p>
            <a:r>
              <a:rPr lang="en-US" altLang="zh-TW" b="1" dirty="0"/>
              <a:t>Software organizations are ready to invest more in improving their development and delivery processes by employing the right set of tools. </a:t>
            </a:r>
            <a:r>
              <a:rPr lang="en-US" altLang="zh-TW" dirty="0"/>
              <a:t>The need for test management tools will increase to match up with shortening delivery cycles.</a:t>
            </a:r>
            <a:endParaRPr lang="zh-TW" altLang="en-US" dirty="0"/>
          </a:p>
        </p:txBody>
      </p:sp>
    </p:spTree>
    <p:extLst>
      <p:ext uri="{BB962C8B-B14F-4D97-AF65-F5344CB8AC3E}">
        <p14:creationId xmlns:p14="http://schemas.microsoft.com/office/powerpoint/2010/main" val="171506995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1508</TotalTime>
  <Words>800</Words>
  <Application>Microsoft Office PowerPoint</Application>
  <PresentationFormat>寬螢幕</PresentationFormat>
  <Paragraphs>50</Paragraphs>
  <Slides>11</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11</vt:i4>
      </vt:variant>
    </vt:vector>
  </HeadingPairs>
  <TitlesOfParts>
    <vt:vector size="15" baseType="lpstr">
      <vt:lpstr>Arial</vt:lpstr>
      <vt:lpstr>Calibri</vt:lpstr>
      <vt:lpstr>Calibri Light</vt:lpstr>
      <vt:lpstr>Office 佈景主題</vt:lpstr>
      <vt:lpstr>軟體測試產業相關調查</vt:lpstr>
      <vt:lpstr>PowerPoint 簡報</vt:lpstr>
      <vt:lpstr>PowerPoint 簡報</vt:lpstr>
      <vt:lpstr>1.測試資產化</vt:lpstr>
      <vt:lpstr>3.降低成本</vt:lpstr>
      <vt:lpstr>PowerPoint 簡報</vt:lpstr>
      <vt:lpstr>1.Machine learning in testing</vt:lpstr>
      <vt:lpstr>2. Increasing Adoption of DevOps</vt:lpstr>
      <vt:lpstr>3. IOT Testing</vt:lpstr>
      <vt:lpstr>4.Test Automation</vt:lpstr>
      <vt:lpstr>5. Shortening Delivery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李恩瑋</dc:creator>
  <cp:lastModifiedBy>李恩瑋</cp:lastModifiedBy>
  <cp:revision>49</cp:revision>
  <dcterms:created xsi:type="dcterms:W3CDTF">2019-10-05T13:18:05Z</dcterms:created>
  <dcterms:modified xsi:type="dcterms:W3CDTF">2019-10-06T14:26:34Z</dcterms:modified>
</cp:coreProperties>
</file>