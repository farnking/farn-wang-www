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75" r:id="rId3"/>
    <p:sldId id="267" r:id="rId4"/>
    <p:sldId id="271" r:id="rId5"/>
    <p:sldId id="272" r:id="rId6"/>
    <p:sldId id="273" r:id="rId7"/>
    <p:sldId id="259" r:id="rId8"/>
    <p:sldId id="260" r:id="rId9"/>
    <p:sldId id="277" r:id="rId10"/>
    <p:sldId id="278" r:id="rId11"/>
    <p:sldId id="257" r:id="rId12"/>
    <p:sldId id="291" r:id="rId13"/>
    <p:sldId id="258" r:id="rId14"/>
    <p:sldId id="279" r:id="rId15"/>
    <p:sldId id="280" r:id="rId16"/>
    <p:sldId id="281" r:id="rId17"/>
    <p:sldId id="282" r:id="rId18"/>
    <p:sldId id="287" r:id="rId19"/>
    <p:sldId id="264" r:id="rId20"/>
    <p:sldId id="286" r:id="rId21"/>
    <p:sldId id="283" r:id="rId22"/>
    <p:sldId id="288" r:id="rId23"/>
    <p:sldId id="265" r:id="rId24"/>
    <p:sldId id="284" r:id="rId25"/>
    <p:sldId id="285" r:id="rId26"/>
    <p:sldId id="274" r:id="rId27"/>
    <p:sldId id="290" r:id="rId28"/>
    <p:sldId id="292" r:id="rId29"/>
    <p:sldId id="276" r:id="rId30"/>
    <p:sldId id="306" r:id="rId31"/>
    <p:sldId id="305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-96" y="-9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22CA-4D6E-EE4A-9DEC-D7897CFFEF58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4300E-66CB-0249-85D5-A2EA013491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0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F4300E-66CB-0249-85D5-A2EA013491A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3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24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2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0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2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9F3C-6B56-A849-A892-97D8FB85A5CA}" type="datetimeFigureOut">
              <a:rPr lang="en-US" smtClean="0"/>
              <a:t>14/03/2016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7F59C-0198-6248-A16D-3E79F38C3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wasp.org/index.php/Top_10_2013-Top_10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wasp.org/index.php/Top_10_2013-Top_10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wasp.org/index.php/OWASP_Vulnerable_Web_Applications_Directory_Project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avensecurity.com/resources/web-security-dojo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wasp.org/index.php/OWASP_Zed_Attack_Proxy_Project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qlmap.org/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owasp.org/index.php/Category:OWASP_WebScarab_Project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ali.org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ectools.org/tag/web-scanners/" TargetMode="External"/><Relationship Id="rId3" Type="http://schemas.openxmlformats.org/officeDocument/2006/relationships/hyperlink" Target="http://www.toolswatch.org/2016/02/2015-top-security-tools-as-voted-by-toolswatch-org-read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Web Application Security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Chris Edwards</a:t>
            </a:r>
          </a:p>
          <a:p>
            <a:r>
              <a:rPr lang="en-US" dirty="0" smtClean="0"/>
              <a:t>Quintin Cutts</a:t>
            </a:r>
          </a:p>
          <a:p>
            <a:r>
              <a:rPr lang="en-US" dirty="0" smtClean="0"/>
              <a:t>Steve McIntosh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47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579" y="1706880"/>
            <a:ext cx="8941821" cy="30378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579" y="5049521"/>
            <a:ext cx="205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http://xkcd.com/327/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83755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r="543"/>
          <a:stretch>
            <a:fillRect/>
          </a:stretch>
        </p:blipFill>
        <p:spPr bwMode="auto">
          <a:xfrm>
            <a:off x="614438" y="1176868"/>
            <a:ext cx="8057848" cy="44315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6172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90744" y="1229657"/>
            <a:ext cx="7029880" cy="39389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999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75657" y="942752"/>
            <a:ext cx="6624736" cy="50627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450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96218" y="870181"/>
            <a:ext cx="6183612" cy="50627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44286" y="319314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380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Injection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</a:p>
          <a:p>
            <a:endParaRPr lang="en-US" dirty="0" smtClean="0"/>
          </a:p>
          <a:p>
            <a:r>
              <a:rPr lang="en-US" dirty="0" smtClean="0"/>
              <a:t>Look up customer details, one at a time, via customer ID.</a:t>
            </a:r>
          </a:p>
        </p:txBody>
      </p:sp>
    </p:spTree>
    <p:extLst>
      <p:ext uri="{BB962C8B-B14F-4D97-AF65-F5344CB8AC3E}">
        <p14:creationId xmlns:p14="http://schemas.microsoft.com/office/powerpoint/2010/main" val="37787823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0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4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2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mysqli</a:t>
            </a:r>
            <a:r>
              <a:rPr lang="en-US" dirty="0" smtClean="0"/>
              <a:t>= new </a:t>
            </a:r>
            <a:r>
              <a:rPr lang="en-US" dirty="0" err="1" smtClean="0"/>
              <a:t>mysqli</a:t>
            </a:r>
            <a:r>
              <a:rPr lang="en-US" dirty="0" smtClean="0"/>
              <a:t>($host,$</a:t>
            </a:r>
            <a:r>
              <a:rPr lang="en-US" dirty="0" err="1" smtClean="0"/>
              <a:t>dbuser</a:t>
            </a:r>
            <a:r>
              <a:rPr lang="en-US" dirty="0" smtClean="0"/>
              <a:t>,$</a:t>
            </a:r>
            <a:r>
              <a:rPr lang="en-US" dirty="0" err="1" smtClean="0"/>
              <a:t>dbpass</a:t>
            </a:r>
            <a:r>
              <a:rPr lang="en-US" dirty="0" smtClean="0"/>
              <a:t>,													  $</a:t>
            </a:r>
            <a:r>
              <a:rPr lang="en-US" dirty="0" err="1" smtClean="0"/>
              <a:t>dbname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(dynamic)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$id";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$result = $</a:t>
            </a:r>
            <a:r>
              <a:rPr lang="en-US" dirty="0" err="1" smtClean="0"/>
              <a:t>mysqli</a:t>
            </a:r>
            <a:r>
              <a:rPr lang="en-US" dirty="0" smtClean="0"/>
              <a:t>-&gt;query($query);</a:t>
            </a:r>
          </a:p>
        </p:txBody>
      </p:sp>
    </p:spTree>
    <p:extLst>
      <p:ext uri="{BB962C8B-B14F-4D97-AF65-F5344CB8AC3E}">
        <p14:creationId xmlns:p14="http://schemas.microsoft.com/office/powerpoint/2010/main" val="3927546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274848;</a:t>
            </a:r>
          </a:p>
        </p:txBody>
      </p:sp>
    </p:spTree>
    <p:extLst>
      <p:ext uri="{BB962C8B-B14F-4D97-AF65-F5344CB8AC3E}">
        <p14:creationId xmlns:p14="http://schemas.microsoft.com/office/powerpoint/2010/main" val="18053678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4080"/>
            <a:ext cx="8229600" cy="52320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dirty="0"/>
              <a:t>274848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274848  OR  1 = 1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$query = "SELECT * FROM </a:t>
            </a:r>
            <a:r>
              <a:rPr lang="en-US" sz="2400" dirty="0" err="1" smtClean="0"/>
              <a:t>cust</a:t>
            </a:r>
            <a:r>
              <a:rPr lang="en-US" sz="2400" dirty="0" smtClean="0"/>
              <a:t> WHERE id =  $id ";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$query = "SELECT * FROM </a:t>
            </a:r>
            <a:r>
              <a:rPr lang="en-US" sz="2400" dirty="0" err="1" smtClean="0"/>
              <a:t>cust</a:t>
            </a:r>
            <a:r>
              <a:rPr lang="en-US" sz="2400" dirty="0" smtClean="0"/>
              <a:t> WHERE id = 274848 OR 1 = 1";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</p:txBody>
      </p:sp>
      <p:sp>
        <p:nvSpPr>
          <p:cNvPr id="2" name="Rectangle 1"/>
          <p:cNvSpPr/>
          <p:nvPr/>
        </p:nvSpPr>
        <p:spPr>
          <a:xfrm>
            <a:off x="386080" y="2418080"/>
            <a:ext cx="3322320" cy="76200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  <a:ln w="190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902960" y="3454400"/>
            <a:ext cx="528320" cy="568960"/>
          </a:xfrm>
          <a:prstGeom prst="rect">
            <a:avLst/>
          </a:prstGeom>
          <a:solidFill>
            <a:schemeClr val="accent5">
              <a:lumMod val="75000"/>
              <a:alpha val="0"/>
            </a:schemeClr>
          </a:solidFill>
          <a:ln w="19050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56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900"/>
            <a:ext cx="9144000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4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0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48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78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1667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6" y="800100"/>
            <a:ext cx="7869623" cy="523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6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fix the code…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Sanitise untrusted inputs</a:t>
            </a:r>
          </a:p>
          <a:p>
            <a:endParaRPr lang="en-US" dirty="0"/>
          </a:p>
          <a:p>
            <a:r>
              <a:rPr lang="en-US" dirty="0" smtClean="0"/>
              <a:t>Prepared Statements (with </a:t>
            </a:r>
            <a:r>
              <a:rPr lang="en-US" b="1" dirty="0" err="1" smtClean="0"/>
              <a:t>Parameterised</a:t>
            </a:r>
            <a:r>
              <a:rPr lang="en-US" b="1" dirty="0" smtClean="0"/>
              <a:t> Queries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53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(dynamic - </a:t>
            </a:r>
            <a:r>
              <a:rPr lang="en-US" i="1" dirty="0" smtClean="0"/>
              <a:t>vulnerable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$id";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$result = $</a:t>
            </a:r>
            <a:r>
              <a:rPr lang="en-US" dirty="0" err="1" smtClean="0"/>
              <a:t>mysqli</a:t>
            </a:r>
            <a:r>
              <a:rPr lang="en-US" dirty="0" smtClean="0"/>
              <a:t>-&gt;query($query);</a:t>
            </a:r>
          </a:p>
        </p:txBody>
      </p:sp>
    </p:spTree>
    <p:extLst>
      <p:ext uri="{BB962C8B-B14F-4D97-AF65-F5344CB8AC3E}">
        <p14:creationId xmlns:p14="http://schemas.microsoft.com/office/powerpoint/2010/main" val="495699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H</a:t>
            </a:r>
            <a:r>
              <a:rPr lang="en-US" dirty="0" smtClean="0"/>
              <a:t>ow to do it right…</a:t>
            </a:r>
          </a:p>
        </p:txBody>
      </p:sp>
    </p:spTree>
    <p:extLst>
      <p:ext uri="{BB962C8B-B14F-4D97-AF65-F5344CB8AC3E}">
        <p14:creationId xmlns:p14="http://schemas.microsoft.com/office/powerpoint/2010/main" val="1287346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2857"/>
            <a:ext cx="8229600" cy="57633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$id= $_POST{'id'};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SQL query (prepared)</a:t>
            </a:r>
          </a:p>
          <a:p>
            <a:pPr marL="0" indent="0">
              <a:buNone/>
            </a:pPr>
            <a:r>
              <a:rPr lang="en-US" dirty="0" smtClean="0"/>
              <a:t>$query = "SELECT * FROM </a:t>
            </a:r>
            <a:r>
              <a:rPr lang="en-US" dirty="0" err="1" smtClean="0"/>
              <a:t>cust</a:t>
            </a:r>
            <a:r>
              <a:rPr lang="en-US" dirty="0" smtClean="0"/>
              <a:t> WHERE id = ?";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 = $</a:t>
            </a:r>
            <a:r>
              <a:rPr lang="en-US" dirty="0" err="1" smtClean="0"/>
              <a:t>mysqli</a:t>
            </a:r>
            <a:r>
              <a:rPr lang="en-US" dirty="0" smtClean="0"/>
              <a:t>-&gt;prepare($query);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</a:t>
            </a:r>
            <a:r>
              <a:rPr lang="en-US" dirty="0" err="1" smtClean="0"/>
              <a:t>bind_param</a:t>
            </a:r>
            <a:r>
              <a:rPr lang="en-US" dirty="0" smtClean="0"/>
              <a:t>(“</a:t>
            </a:r>
            <a:r>
              <a:rPr lang="en-US" dirty="0"/>
              <a:t>s</a:t>
            </a:r>
            <a:r>
              <a:rPr lang="en-US" dirty="0" smtClean="0"/>
              <a:t>", $id);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-&gt;execute();</a:t>
            </a:r>
          </a:p>
          <a:p>
            <a:pPr marL="0" indent="0">
              <a:buNone/>
            </a:pPr>
            <a:r>
              <a:rPr lang="en-US" dirty="0" smtClean="0"/>
              <a:t>$</a:t>
            </a:r>
            <a:r>
              <a:rPr lang="en-US" dirty="0" err="1" smtClean="0"/>
              <a:t>stmt</a:t>
            </a:r>
            <a:r>
              <a:rPr lang="en-US" dirty="0" smtClean="0"/>
              <a:t>-&gt;</a:t>
            </a:r>
            <a:r>
              <a:rPr lang="en-US" dirty="0" err="1" smtClean="0"/>
              <a:t>bind_result</a:t>
            </a:r>
            <a:r>
              <a:rPr lang="en-US" dirty="0" smtClean="0"/>
              <a:t>($id, $name, $</a:t>
            </a:r>
            <a:r>
              <a:rPr lang="en-US" dirty="0" err="1" smtClean="0"/>
              <a:t>addr</a:t>
            </a:r>
            <a:r>
              <a:rPr lang="en-US" dirty="0" smtClean="0"/>
              <a:t>, $dob);</a:t>
            </a:r>
          </a:p>
        </p:txBody>
      </p:sp>
    </p:spTree>
    <p:extLst>
      <p:ext uri="{BB962C8B-B14F-4D97-AF65-F5344CB8AC3E}">
        <p14:creationId xmlns:p14="http://schemas.microsoft.com/office/powerpoint/2010/main" val="1334884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8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9900"/>
            <a:ext cx="9143998" cy="591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7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Other Web Application Flaws</a:t>
            </a:r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824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900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/>
              <a:t>Open </a:t>
            </a:r>
            <a:r>
              <a:rPr lang="en-US" sz="3600" dirty="0" smtClean="0"/>
              <a:t>Web Application Security Project</a:t>
            </a:r>
          </a:p>
          <a:p>
            <a:pPr marL="0" indent="0" algn="ctr">
              <a:buNone/>
            </a:pPr>
            <a:r>
              <a:rPr lang="en-US" sz="3600" dirty="0" smtClean="0"/>
              <a:t>(OWASP</a:t>
            </a:r>
            <a:r>
              <a:rPr lang="en-US" sz="3600" dirty="0" smtClean="0"/>
              <a:t>)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OWASP Top </a:t>
            </a:r>
            <a:r>
              <a:rPr lang="en-US" dirty="0" smtClean="0">
                <a:hlinkClick r:id="rId2"/>
              </a:rPr>
              <a:t>Ten</a:t>
            </a: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https://</a:t>
            </a:r>
            <a:r>
              <a:rPr lang="en-US" dirty="0" err="1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www.owasp.org</a:t>
            </a: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index.php</a:t>
            </a:r>
            <a:r>
              <a:rPr lang="en-US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  <a:hlinkClick r:id="rId2"/>
              </a:rPr>
              <a:t>/Top_10_2013-Top_10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08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Our advice - </a:t>
            </a:r>
            <a:r>
              <a:rPr lang="en-US" sz="3600" dirty="0"/>
              <a:t>g</a:t>
            </a:r>
            <a:r>
              <a:rPr lang="en-US" sz="3600" dirty="0" smtClean="0"/>
              <a:t>o through </a:t>
            </a:r>
            <a:r>
              <a:rPr lang="en-US" sz="3600" dirty="0" smtClean="0"/>
              <a:t>th</a:t>
            </a:r>
            <a:r>
              <a:rPr lang="en-US" sz="3600" dirty="0" smtClean="0"/>
              <a:t>e </a:t>
            </a:r>
            <a:r>
              <a:rPr lang="en-US" sz="3600" dirty="0" smtClean="0">
                <a:hlinkClick r:id="rId2"/>
              </a:rPr>
              <a:t>OWASP </a:t>
            </a:r>
            <a:r>
              <a:rPr lang="en-US" sz="3600" dirty="0">
                <a:hlinkClick r:id="rId2"/>
              </a:rPr>
              <a:t>Top </a:t>
            </a:r>
            <a:r>
              <a:rPr lang="en-US" sz="3600" dirty="0" smtClean="0">
                <a:hlinkClick r:id="rId2"/>
              </a:rPr>
              <a:t>Ten</a:t>
            </a:r>
            <a:r>
              <a:rPr lang="en-US" sz="3600" dirty="0" smtClean="0"/>
              <a:t> </a:t>
            </a:r>
            <a:r>
              <a:rPr lang="en-US" sz="3600" dirty="0" smtClean="0"/>
              <a:t>list, and for each common flaw</a:t>
            </a:r>
            <a:r>
              <a:rPr lang="en-US" sz="3600" dirty="0" smtClean="0"/>
              <a:t>:</a:t>
            </a:r>
            <a:endParaRPr lang="en-US" sz="3600" dirty="0" smtClean="0"/>
          </a:p>
          <a:p>
            <a:r>
              <a:rPr lang="en-US" sz="3600" dirty="0" smtClean="0"/>
              <a:t>Check if it may apply to your situation</a:t>
            </a:r>
          </a:p>
          <a:p>
            <a:r>
              <a:rPr lang="en-GB" sz="3600" dirty="0" smtClean="0"/>
              <a:t>Consider whether </a:t>
            </a:r>
            <a:r>
              <a:rPr lang="en-GB" sz="3600" dirty="0"/>
              <a:t>you've taken sufficient steps to address </a:t>
            </a:r>
            <a:r>
              <a:rPr lang="en-GB" sz="3600" dirty="0" smtClean="0"/>
              <a:t>it.</a:t>
            </a:r>
            <a:endParaRPr lang="en-GB" sz="3600" dirty="0"/>
          </a:p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46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6983" y="538479"/>
            <a:ext cx="7796617" cy="5847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657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03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Pen Test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from Steve McIntosh live demo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699024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OWASP Vulnerable Web Applications Directory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OWASP_Vulnerable_Web_Applications_Directory_Project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List of sample vulnerable web </a:t>
            </a:r>
            <a:r>
              <a:rPr lang="en-US" dirty="0" smtClean="0"/>
              <a:t>applications.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On</a:t>
            </a:r>
            <a:r>
              <a:rPr lang="en-US" dirty="0"/>
              <a:t>-Line applications</a:t>
            </a:r>
          </a:p>
          <a:p>
            <a:r>
              <a:rPr lang="en-US" dirty="0" smtClean="0"/>
              <a:t>Off</a:t>
            </a:r>
            <a:r>
              <a:rPr lang="en-US" dirty="0"/>
              <a:t>-Line applications</a:t>
            </a:r>
          </a:p>
          <a:p>
            <a:r>
              <a:rPr lang="en-US" dirty="0" smtClean="0"/>
              <a:t>Virtual </a:t>
            </a:r>
            <a:r>
              <a:rPr lang="en-US" dirty="0"/>
              <a:t>Machines and ISO images</a:t>
            </a:r>
          </a:p>
        </p:txBody>
      </p:sp>
    </p:spTree>
    <p:extLst>
      <p:ext uri="{BB962C8B-B14F-4D97-AF65-F5344CB8AC3E}">
        <p14:creationId xmlns:p14="http://schemas.microsoft.com/office/powerpoint/2010/main" val="12751776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Security </a:t>
            </a:r>
            <a:r>
              <a:rPr lang="en-US" dirty="0" smtClean="0"/>
              <a:t>Dojo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www.mavensecurity.com</a:t>
            </a:r>
            <a:r>
              <a:rPr lang="en-US" dirty="0">
                <a:hlinkClick r:id="rId2"/>
              </a:rPr>
              <a:t>/resources/web-security-dojo/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803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OWASP ZAP (Zed Attack Proxy Project)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OWASP_Zed_Attack_Proxy_Project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Java </a:t>
            </a:r>
            <a:r>
              <a:rPr lang="en-US" dirty="0"/>
              <a:t>application</a:t>
            </a:r>
          </a:p>
          <a:p>
            <a:r>
              <a:rPr lang="en-US" dirty="0" smtClean="0"/>
              <a:t>Automated </a:t>
            </a:r>
            <a:r>
              <a:rPr lang="en-US" dirty="0"/>
              <a:t>scanner</a:t>
            </a:r>
          </a:p>
          <a:p>
            <a:r>
              <a:rPr lang="en-US" dirty="0" smtClean="0"/>
              <a:t>Manual </a:t>
            </a:r>
            <a:r>
              <a:rPr lang="en-US" dirty="0"/>
              <a:t>tools</a:t>
            </a:r>
          </a:p>
          <a:p>
            <a:r>
              <a:rPr lang="en-US" dirty="0" smtClean="0"/>
              <a:t>Extensions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51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http://</a:t>
            </a:r>
            <a:r>
              <a:rPr lang="en-US" dirty="0" err="1">
                <a:hlinkClick r:id="rId2"/>
              </a:rPr>
              <a:t>sqlmap.org</a:t>
            </a:r>
            <a:r>
              <a:rPr lang="en-US" dirty="0">
                <a:hlinkClick r:id="rId2"/>
              </a:rPr>
              <a:t>/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Multiple </a:t>
            </a:r>
            <a:r>
              <a:rPr lang="en-US" dirty="0"/>
              <a:t>DB support</a:t>
            </a:r>
          </a:p>
          <a:p>
            <a:r>
              <a:rPr lang="en-US" dirty="0" smtClean="0"/>
              <a:t>Password </a:t>
            </a:r>
            <a:r>
              <a:rPr lang="en-US" dirty="0"/>
              <a:t>cracking</a:t>
            </a:r>
          </a:p>
          <a:p>
            <a:r>
              <a:rPr lang="en-US" dirty="0" smtClean="0"/>
              <a:t>Download</a:t>
            </a:r>
            <a:r>
              <a:rPr lang="en-US" dirty="0"/>
              <a:t>/upload files</a:t>
            </a:r>
          </a:p>
          <a:p>
            <a:r>
              <a:rPr lang="en-US" dirty="0" smtClean="0"/>
              <a:t>Run </a:t>
            </a:r>
            <a:r>
              <a:rPr lang="en-US" dirty="0"/>
              <a:t>commands DB and OS</a:t>
            </a:r>
          </a:p>
        </p:txBody>
      </p:sp>
    </p:spTree>
    <p:extLst>
      <p:ext uri="{BB962C8B-B14F-4D97-AF65-F5344CB8AC3E}">
        <p14:creationId xmlns:p14="http://schemas.microsoft.com/office/powerpoint/2010/main" val="12012679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WebScarab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www.owasp.org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index.php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Category:OWASP_WebScarab_Project</a:t>
            </a:r>
            <a:endParaRPr lang="en-US" dirty="0"/>
          </a:p>
          <a:p>
            <a:endParaRPr lang="en-US" dirty="0"/>
          </a:p>
          <a:p>
            <a:r>
              <a:rPr lang="en-US" dirty="0"/>
              <a:t> Attack proxy, functionality now included in OWASP ZAP.</a:t>
            </a:r>
          </a:p>
        </p:txBody>
      </p:sp>
    </p:spTree>
    <p:extLst>
      <p:ext uri="{BB962C8B-B14F-4D97-AF65-F5344CB8AC3E}">
        <p14:creationId xmlns:p14="http://schemas.microsoft.com/office/powerpoint/2010/main" val="12018338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err="1" smtClean="0"/>
              <a:t>Do”s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Try </a:t>
            </a:r>
            <a:r>
              <a:rPr lang="en-US" dirty="0"/>
              <a:t>it yourself</a:t>
            </a:r>
          </a:p>
          <a:p>
            <a:r>
              <a:rPr lang="en-US" dirty="0" smtClean="0"/>
              <a:t>Against </a:t>
            </a:r>
            <a:r>
              <a:rPr lang="en-US" dirty="0"/>
              <a:t>your own applications</a:t>
            </a:r>
          </a:p>
          <a:p>
            <a:r>
              <a:rPr lang="en-US" dirty="0" smtClean="0"/>
              <a:t>Against </a:t>
            </a:r>
            <a:r>
              <a:rPr lang="en-US" dirty="0"/>
              <a:t>each other's (with </a:t>
            </a:r>
            <a:r>
              <a:rPr lang="en-US" dirty="0" smtClean="0"/>
              <a:t>permission!)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85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“Don</a:t>
            </a:r>
            <a:r>
              <a:rPr lang="fr-FR" dirty="0" smtClean="0"/>
              <a:t>’</a:t>
            </a:r>
            <a:r>
              <a:rPr lang="en-US" dirty="0" err="1" smtClean="0"/>
              <a:t>t”s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Attack </a:t>
            </a:r>
            <a:r>
              <a:rPr lang="en-US" dirty="0"/>
              <a:t>without permission</a:t>
            </a:r>
          </a:p>
          <a:p>
            <a:r>
              <a:rPr lang="en-US" dirty="0" smtClean="0"/>
              <a:t>Hack </a:t>
            </a:r>
            <a:r>
              <a:rPr lang="en-US" dirty="0"/>
              <a:t>the Internet</a:t>
            </a:r>
          </a:p>
        </p:txBody>
      </p:sp>
    </p:spTree>
    <p:extLst>
      <p:ext uri="{BB962C8B-B14F-4D97-AF65-F5344CB8AC3E}">
        <p14:creationId xmlns:p14="http://schemas.microsoft.com/office/powerpoint/2010/main" val="2892569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useful resources:</a:t>
            </a:r>
          </a:p>
        </p:txBody>
      </p:sp>
    </p:spTree>
    <p:extLst>
      <p:ext uri="{BB962C8B-B14F-4D97-AF65-F5344CB8AC3E}">
        <p14:creationId xmlns:p14="http://schemas.microsoft.com/office/powerpoint/2010/main" val="10998842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Kali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err="1">
                <a:hlinkClick r:id="rId2"/>
              </a:rPr>
              <a:t>www.kali.org</a:t>
            </a:r>
            <a:r>
              <a:rPr lang="en-US" dirty="0">
                <a:hlinkClick r:id="rId2"/>
              </a:rPr>
              <a:t>/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Penetration </a:t>
            </a:r>
            <a:r>
              <a:rPr lang="en-US" dirty="0"/>
              <a:t>testing distribution</a:t>
            </a:r>
          </a:p>
          <a:p>
            <a:r>
              <a:rPr lang="en-US" dirty="0" err="1" smtClean="0"/>
              <a:t>Debian</a:t>
            </a:r>
            <a:r>
              <a:rPr lang="en-US" dirty="0" smtClean="0"/>
              <a:t> </a:t>
            </a:r>
            <a:r>
              <a:rPr lang="en-US" dirty="0"/>
              <a:t>(Ubuntu)</a:t>
            </a:r>
          </a:p>
          <a:p>
            <a:r>
              <a:rPr lang="en-US" dirty="0" smtClean="0"/>
              <a:t>32bit</a:t>
            </a:r>
            <a:r>
              <a:rPr lang="en-US" dirty="0"/>
              <a:t>/64bit/ARM</a:t>
            </a:r>
          </a:p>
          <a:p>
            <a:r>
              <a:rPr lang="en-US" dirty="0" err="1" smtClean="0"/>
              <a:t>Vmware</a:t>
            </a:r>
            <a:r>
              <a:rPr lang="en-US" dirty="0"/>
              <a:t>, </a:t>
            </a:r>
            <a:r>
              <a:rPr lang="en-US" dirty="0" err="1"/>
              <a:t>VirtualBox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19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web </a:t>
            </a:r>
            <a:r>
              <a:rPr lang="en-US" dirty="0"/>
              <a:t>pen test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</a:t>
            </a:r>
            <a:r>
              <a:rPr lang="en-US" dirty="0" err="1">
                <a:hlinkClick r:id="rId2"/>
              </a:rPr>
              <a:t>sectools.org</a:t>
            </a:r>
            <a:r>
              <a:rPr lang="en-US" dirty="0">
                <a:hlinkClick r:id="rId2"/>
              </a:rPr>
              <a:t>/tag/web-scanners/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www.toolswatch.org</a:t>
            </a:r>
            <a:r>
              <a:rPr lang="en-US" dirty="0">
                <a:hlinkClick r:id="rId3"/>
              </a:rPr>
              <a:t>/2016/02/2015-top-security-tools-as-voted-by-toolswatch-org-readers/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551</Words>
  <Application>Microsoft Macintosh PowerPoint</Application>
  <PresentationFormat>On-screen Show (4:3)</PresentationFormat>
  <Paragraphs>138</Paragraphs>
  <Slides>41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Web Application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SQL Injection </vt:lpstr>
      <vt:lpstr> </vt:lpstr>
      <vt:lpstr> </vt:lpstr>
      <vt:lpstr> </vt:lpstr>
      <vt:lpstr>PowerPoint Presentation</vt:lpstr>
      <vt:lpstr>PowerPoint Presentation</vt:lpstr>
      <vt:lpstr>PowerPoint Presentation</vt:lpstr>
      <vt:lpstr> </vt:lpstr>
      <vt:lpstr> </vt:lpstr>
      <vt:lpstr> </vt:lpstr>
      <vt:lpstr> </vt:lpstr>
      <vt:lpstr>PowerPoint Presentation</vt:lpstr>
      <vt:lpstr>PowerPoint Presentation</vt:lpstr>
      <vt:lpstr>How to fix the code…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Pen Test Tools</vt:lpstr>
      <vt:lpstr>OWASP Vulnerable Web Applications Directory Project</vt:lpstr>
      <vt:lpstr>Web Security Dojo</vt:lpstr>
      <vt:lpstr>OWASP ZAP (Zed Attack Proxy Project)</vt:lpstr>
      <vt:lpstr>SQLmap</vt:lpstr>
      <vt:lpstr>WebScarab</vt:lpstr>
      <vt:lpstr>“Do”s</vt:lpstr>
      <vt:lpstr>“Don’t”s</vt:lpstr>
      <vt:lpstr>Other useful resources:</vt:lpstr>
      <vt:lpstr>Kali</vt:lpstr>
      <vt:lpstr>More web pen test tools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Edwards</dc:creator>
  <cp:lastModifiedBy>Chris Edwards</cp:lastModifiedBy>
  <cp:revision>48</cp:revision>
  <cp:lastPrinted>2016-03-08T16:16:21Z</cp:lastPrinted>
  <dcterms:created xsi:type="dcterms:W3CDTF">2016-03-05T13:42:11Z</dcterms:created>
  <dcterms:modified xsi:type="dcterms:W3CDTF">2016-03-14T15:43:49Z</dcterms:modified>
</cp:coreProperties>
</file>