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1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685"/>
    <a:srgbClr val="D8A5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1029" autoAdjust="0"/>
  </p:normalViewPr>
  <p:slideViewPr>
    <p:cSldViewPr snapToGrid="0" snapToObjects="1" showGuides="1">
      <p:cViewPr varScale="1">
        <p:scale>
          <a:sx n="45" d="100"/>
          <a:sy n="45" d="100"/>
        </p:scale>
        <p:origin x="208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1D6F1-3932-405C-9F15-0E08B815B6AC}" type="datetimeFigureOut">
              <a:rPr lang="en-GB" smtClean="0"/>
              <a:t>22/10/2019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828734-98E0-4D4D-9420-4EF7781C3A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754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28734-98E0-4D4D-9420-4EF7781C3A2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4249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28734-98E0-4D4D-9420-4EF7781C3A2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481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 smtClean="0"/>
              <a:t>Question – does anybody have any pen test experience?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28734-98E0-4D4D-9420-4EF7781C3A2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696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Question</a:t>
            </a:r>
            <a:r>
              <a:rPr lang="en-GB" baseline="0" dirty="0" smtClean="0"/>
              <a:t> – what counts as consent to perform a security assessment?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28734-98E0-4D4D-9420-4EF7781C3A2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2834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Question – does</a:t>
            </a:r>
            <a:r>
              <a:rPr lang="en-GB" baseline="0" dirty="0" smtClean="0"/>
              <a:t> everybody understand the concept of an intercepting proxy?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28734-98E0-4D4D-9420-4EF7781C3A2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190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Open ZAP and show</a:t>
            </a:r>
            <a:r>
              <a:rPr lang="en-GB" baseline="0" dirty="0" smtClean="0"/>
              <a:t> this.</a:t>
            </a:r>
          </a:p>
          <a:p>
            <a:r>
              <a:rPr lang="en-GB" baseline="0" dirty="0" smtClean="0"/>
              <a:t>Explain that we will also user Burp (free edition) for some demos, which can be configured in a similar way.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28734-98E0-4D4D-9420-4EF7781C3A2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3654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Open Mantra and show this.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28734-98E0-4D4D-9420-4EF7781C3A2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200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Open Broken Web Apps and show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28734-98E0-4D4D-9420-4EF7781C3A2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1568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smtClean="0"/>
              <a:t>Default Passwords: 		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smtClean="0"/>
              <a:t>Google “default passwords”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smtClean="0"/>
              <a:t>Weak Passwords: 		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err="1" smtClean="0"/>
              <a:t>OrangeHRM</a:t>
            </a:r>
            <a:r>
              <a:rPr lang="en-GB" altLang="en-US" dirty="0" smtClean="0"/>
              <a:t> - login with admin/admin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smtClean="0"/>
              <a:t>User enumeration at</a:t>
            </a:r>
            <a:r>
              <a:rPr lang="en-GB" altLang="en-US" baseline="0" dirty="0" smtClean="0"/>
              <a:t> login</a:t>
            </a:r>
            <a:r>
              <a:rPr lang="en-GB" altLang="en-US" dirty="0" smtClean="0"/>
              <a:t>: 	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err="1" smtClean="0"/>
              <a:t>Getboo</a:t>
            </a:r>
            <a:r>
              <a:rPr lang="en-GB" altLang="en-US" dirty="0" smtClean="0"/>
              <a:t> 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smtClean="0"/>
              <a:t>User enumeration at user registration: 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err="1" smtClean="0"/>
              <a:t>Getboo</a:t>
            </a:r>
            <a:r>
              <a:rPr lang="en-GB" altLang="en-US" dirty="0" smtClean="0"/>
              <a:t> 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smtClean="0"/>
              <a:t>User enumeration at forgotten password: 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smtClean="0"/>
              <a:t>Joomla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smtClean="0"/>
              <a:t>Password hint weakness: 	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err="1" smtClean="0"/>
              <a:t>Getboo</a:t>
            </a:r>
            <a:r>
              <a:rPr lang="en-GB" altLang="en-US" dirty="0" smtClean="0"/>
              <a:t> – create new user / use</a:t>
            </a:r>
            <a:r>
              <a:rPr lang="en-GB" altLang="en-US" baseline="0" dirty="0" smtClean="0"/>
              <a:t> account recovery</a:t>
            </a: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smtClean="0"/>
              <a:t>Brute force password</a:t>
            </a:r>
            <a:r>
              <a:rPr lang="en-GB" altLang="en-US" baseline="0" dirty="0" smtClean="0"/>
              <a:t> guessing</a:t>
            </a:r>
            <a:r>
              <a:rPr lang="en-GB" altLang="en-US" dirty="0" smtClean="0"/>
              <a:t>: 		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err="1" smtClean="0"/>
              <a:t>Wordpress</a:t>
            </a:r>
            <a:r>
              <a:rPr lang="en-GB" altLang="en-US" dirty="0" smtClean="0"/>
              <a:t> –</a:t>
            </a:r>
            <a:r>
              <a:rPr lang="en-GB" altLang="en-US" baseline="0" dirty="0" smtClean="0"/>
              <a:t> introduce ZAP </a:t>
            </a:r>
            <a:r>
              <a:rPr lang="en-GB" altLang="en-US" baseline="0" dirty="0" err="1" smtClean="0"/>
              <a:t>Fuzzer</a:t>
            </a:r>
            <a:r>
              <a:rPr lang="en-GB" altLang="en-US" baseline="0" dirty="0" smtClean="0"/>
              <a:t>. Do a failed login as admin then user ZAP </a:t>
            </a:r>
            <a:r>
              <a:rPr lang="en-GB" altLang="en-US" baseline="0" dirty="0" err="1" smtClean="0"/>
              <a:t>fuzzer</a:t>
            </a: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smtClean="0"/>
              <a:t>Default pages: 		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err="1" smtClean="0"/>
              <a:t>Mutillidae</a:t>
            </a:r>
            <a:r>
              <a:rPr lang="en-GB" altLang="en-US" baseline="0" dirty="0" smtClean="0"/>
              <a:t> </a:t>
            </a:r>
            <a:r>
              <a:rPr lang="en-GB" altLang="en-US" dirty="0" smtClean="0"/>
              <a:t>– </a:t>
            </a:r>
            <a:r>
              <a:rPr lang="en-GB" altLang="en-US" dirty="0" err="1" smtClean="0"/>
              <a:t>phpinfo.php</a:t>
            </a: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smtClean="0"/>
              <a:t>Robots.txt directory leakage: 	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err="1" smtClean="0"/>
              <a:t>Mutillidae</a:t>
            </a:r>
            <a:r>
              <a:rPr lang="en-GB" altLang="en-US" dirty="0" smtClean="0"/>
              <a:t> – robots.txt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smtClean="0"/>
              <a:t>Guessable admin page (note: no authentication needed): 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err="1" smtClean="0"/>
              <a:t>BodgeIt</a:t>
            </a:r>
            <a:r>
              <a:rPr lang="en-GB" altLang="en-US" baseline="0" dirty="0" smtClean="0"/>
              <a:t> Store </a:t>
            </a:r>
            <a:r>
              <a:rPr lang="en-GB" altLang="en-US" dirty="0" smtClean="0"/>
              <a:t>–</a:t>
            </a:r>
            <a:r>
              <a:rPr lang="en-GB" altLang="en-US" baseline="0" dirty="0" smtClean="0"/>
              <a:t> </a:t>
            </a:r>
            <a:r>
              <a:rPr lang="en-GB" altLang="en-US" dirty="0" err="1" smtClean="0"/>
              <a:t>admin.jsp</a:t>
            </a:r>
            <a:endParaRPr lang="en-GB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28734-98E0-4D4D-9420-4EF7781C3A2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1432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  <a:defRPr/>
            </a:pPr>
            <a:r>
              <a:rPr lang="en-GB" altLang="en-US" dirty="0" smtClean="0"/>
              <a:t>Cookie meaning: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  <a:defRPr/>
            </a:pPr>
            <a:r>
              <a:rPr lang="en-GB" altLang="en-US" dirty="0" err="1" smtClean="0"/>
              <a:t>OrangeHRM</a:t>
            </a:r>
            <a:r>
              <a:rPr lang="en-GB" altLang="en-US" dirty="0" smtClean="0"/>
              <a:t> – Introduce ZAP Re-Send. Login</a:t>
            </a:r>
            <a:r>
              <a:rPr lang="en-GB" altLang="en-US" baseline="0" dirty="0" smtClean="0"/>
              <a:t> as admin then use ZAP Re-send to demo how removing the cookie is meaningful</a:t>
            </a: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  <a:defRPr/>
            </a:pPr>
            <a:r>
              <a:rPr lang="en-GB" altLang="en-US" dirty="0" err="1" smtClean="0"/>
              <a:t>Wordpress</a:t>
            </a:r>
            <a:r>
              <a:rPr lang="en-GB" altLang="en-US" dirty="0" smtClean="0"/>
              <a:t> – Introduce Burp Repeater. Login via 2 separate browsers both going through different</a:t>
            </a:r>
            <a:r>
              <a:rPr lang="en-GB" altLang="en-US" baseline="0" dirty="0" smtClean="0"/>
              <a:t> </a:t>
            </a:r>
            <a:r>
              <a:rPr lang="en-GB" altLang="en-US" dirty="0" smtClean="0"/>
              <a:t>proxies (user/user, admin/admin), two cookies are set, substitute cookie values in Repeater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  <a:defRPr/>
            </a:pP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  <a:defRPr/>
            </a:pPr>
            <a:r>
              <a:rPr lang="en-GB" altLang="en-US" dirty="0" smtClean="0"/>
              <a:t>Decoding:			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  <a:defRPr/>
            </a:pPr>
            <a:r>
              <a:rPr lang="en-GB" altLang="en-US" dirty="0" smtClean="0"/>
              <a:t>Joomla – Introduce ZAP Decoder. Show how a cookie response might be captured and decoded using burp decoder and also in ZAP (login with author/author); this won’t decode but principle is there to see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  <a:defRPr/>
            </a:pPr>
            <a:r>
              <a:rPr lang="en-GB" altLang="en-US" dirty="0" smtClean="0"/>
              <a:t>Sample Session token - </a:t>
            </a:r>
            <a:r>
              <a:rPr lang="en-GB" altLang="en-US" dirty="0" smtClean="0">
                <a:solidFill>
                  <a:schemeClr val="accent1"/>
                </a:solidFill>
              </a:rPr>
              <a:t>dXNlcj1ib2I7YXBwPWFkbWluO2RhdGU9MTAvMDkvMTQ – Base64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dirty="0" smtClean="0"/>
              <a:t>Cookie Entropy: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dirty="0" smtClean="0"/>
              <a:t>Web calendar – Introduce</a:t>
            </a:r>
            <a:r>
              <a:rPr lang="en-GB" altLang="en-US" baseline="0" dirty="0" smtClean="0"/>
              <a:t> Burp Sequencer. L</a:t>
            </a:r>
            <a:r>
              <a:rPr lang="en-GB" altLang="en-US" dirty="0" smtClean="0"/>
              <a:t>ogin as user/user, send the login POST request to sequencer and demonstrate an analysis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dirty="0" smtClean="0"/>
              <a:t>Secure Flag:		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dirty="0" err="1" smtClean="0"/>
              <a:t>Mutillidae</a:t>
            </a:r>
            <a:r>
              <a:rPr lang="en-GB" altLang="en-US" dirty="0" smtClean="0"/>
              <a:t> over SSL – clear cookies, show how a cookie is set without the secure flag by capturing a response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dirty="0" smtClean="0"/>
              <a:t>Timeouts:			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dirty="0" smtClean="0"/>
              <a:t>Pick a previously logged in example in Burp and attempt to replay a request (e.g. you should have logged into </a:t>
            </a:r>
            <a:r>
              <a:rPr lang="en-GB" altLang="en-US" dirty="0" err="1" smtClean="0"/>
              <a:t>Wordpress</a:t>
            </a:r>
            <a:r>
              <a:rPr lang="en-GB" altLang="en-US" dirty="0" smtClean="0"/>
              <a:t> a while back)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dirty="0" smtClean="0"/>
              <a:t>Duplicate Logins:		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dirty="0" err="1" smtClean="0"/>
              <a:t>Wordpress</a:t>
            </a:r>
            <a:r>
              <a:rPr lang="en-GB" altLang="en-US" dirty="0" smtClean="0"/>
              <a:t> – show how you can login as user/user from two separate browsers and proxies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dirty="0" smtClean="0"/>
              <a:t>Session Fixation:		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dirty="0" err="1" smtClean="0"/>
              <a:t>OrangeHRM</a:t>
            </a:r>
            <a:r>
              <a:rPr lang="en-GB" altLang="en-US" dirty="0" smtClean="0"/>
              <a:t> – clear cookies, capture PHPSESSID </a:t>
            </a:r>
            <a:r>
              <a:rPr lang="en-GB" altLang="en-US" b="1" dirty="0" smtClean="0"/>
              <a:t>before login</a:t>
            </a:r>
            <a:r>
              <a:rPr lang="en-GB" altLang="en-US" dirty="0" smtClean="0"/>
              <a:t>, change it, show it was accepted, and then login as admin/admin to show that it was also not changed after login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28734-98E0-4D4D-9420-4EF7781C3A2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0589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smtClean="0"/>
              <a:t>Vertical privilege escalation: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err="1" smtClean="0"/>
              <a:t>BodgeIt</a:t>
            </a:r>
            <a:r>
              <a:rPr lang="en-GB" altLang="en-US" dirty="0" smtClean="0"/>
              <a:t> Store – guess </a:t>
            </a:r>
            <a:r>
              <a:rPr lang="en-GB" altLang="en-US" dirty="0" err="1" smtClean="0"/>
              <a:t>admin.jsp</a:t>
            </a: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endParaRPr lang="en-GB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Calibri" pitchFamily="34" charset="0"/>
              <a:buNone/>
              <a:tabLst/>
              <a:defRPr/>
            </a:pPr>
            <a:r>
              <a:rPr lang="en-GB" altLang="en-US" dirty="0" smtClean="0"/>
              <a:t>Vertical privilege escalation: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err="1" smtClean="0"/>
              <a:t>OrangeHRM</a:t>
            </a:r>
            <a:r>
              <a:rPr lang="en-GB" altLang="en-US" dirty="0" smtClean="0"/>
              <a:t> – observe</a:t>
            </a:r>
            <a:r>
              <a:rPr lang="en-GB" altLang="en-US" baseline="0" dirty="0" smtClean="0"/>
              <a:t> admin tab that a normal user won’t see, show how to request it as non-admin user</a:t>
            </a: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endParaRPr lang="en-GB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Calibri" pitchFamily="34" charset="0"/>
              <a:buNone/>
              <a:tabLst/>
              <a:defRPr/>
            </a:pPr>
            <a:r>
              <a:rPr lang="en-GB" altLang="en-US" dirty="0" smtClean="0"/>
              <a:t>Vertical privilege escalation: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err="1" smtClean="0"/>
              <a:t>Mutillidae</a:t>
            </a:r>
            <a:r>
              <a:rPr lang="en-GB" altLang="en-US" dirty="0" smtClean="0"/>
              <a:t> – web server allows access to </a:t>
            </a:r>
            <a:r>
              <a:rPr lang="en-GB" altLang="en-US" dirty="0" err="1" smtClean="0"/>
              <a:t>passwd</a:t>
            </a:r>
            <a:r>
              <a:rPr lang="en-GB" altLang="en-US" dirty="0" smtClean="0"/>
              <a:t> file here http://192.168.126.141/mutillidae/index.php?page=source-viewer.php if you intercept the request and change the file name to /../../etc/</a:t>
            </a:r>
            <a:r>
              <a:rPr lang="en-GB" altLang="en-US" dirty="0" err="1" smtClean="0"/>
              <a:t>passwd</a:t>
            </a: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smtClean="0"/>
              <a:t>Horizontal privilege escalation:	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err="1" smtClean="0"/>
              <a:t>Wordpress</a:t>
            </a:r>
            <a:r>
              <a:rPr lang="en-GB" altLang="en-US" dirty="0" smtClean="0"/>
              <a:t> – attempt if you login as user/user, try to change the password for the admin user (guessing UID=1); doesn’t work but demonstrates how to attack this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endParaRPr lang="en-GB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Calibri" pitchFamily="34" charset="0"/>
              <a:buNone/>
              <a:tabLst/>
              <a:defRPr/>
            </a:pPr>
            <a:r>
              <a:rPr lang="en-GB" altLang="en-US" dirty="0" smtClean="0"/>
              <a:t>Horizontal privilege escalation:	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err="1" smtClean="0"/>
              <a:t>AppSense</a:t>
            </a:r>
            <a:r>
              <a:rPr lang="en-GB" altLang="en-US" dirty="0" smtClean="0"/>
              <a:t> –</a:t>
            </a:r>
            <a:r>
              <a:rPr lang="en-GB" altLang="en-US" baseline="0" dirty="0" smtClean="0"/>
              <a:t> l</a:t>
            </a:r>
            <a:r>
              <a:rPr lang="en-GB" altLang="en-US" dirty="0" smtClean="0"/>
              <a:t>ogin as foo / foo, add friend, observe ID and access that user’s ID.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smtClean="0"/>
              <a:t>Forced Browsing (ZAP):</a:t>
            </a:r>
          </a:p>
          <a:p>
            <a:pPr marL="0" indent="0" eaLnBrk="1" hangingPunct="1">
              <a:spcBef>
                <a:spcPct val="0"/>
              </a:spcBef>
              <a:buFont typeface="Calibri" pitchFamily="34" charset="0"/>
              <a:buNone/>
            </a:pPr>
            <a:r>
              <a:rPr lang="en-GB" altLang="en-US" dirty="0" err="1" smtClean="0"/>
              <a:t>BodgeIt</a:t>
            </a:r>
            <a:r>
              <a:rPr lang="en-GB" altLang="en-US" dirty="0" smtClean="0"/>
              <a:t> Store – Introduce</a:t>
            </a:r>
            <a:r>
              <a:rPr lang="en-GB" altLang="en-US" baseline="0" dirty="0" smtClean="0"/>
              <a:t> </a:t>
            </a:r>
            <a:r>
              <a:rPr lang="en-GB" altLang="en-US" dirty="0" smtClean="0"/>
              <a:t>ZAP</a:t>
            </a:r>
            <a:r>
              <a:rPr lang="en-GB" altLang="en-US" baseline="0" dirty="0" smtClean="0"/>
              <a:t> </a:t>
            </a:r>
            <a:r>
              <a:rPr lang="en-GB" altLang="en-US" dirty="0" smtClean="0"/>
              <a:t>Forced Browsing via Attack -&gt; Forced Browse</a:t>
            </a:r>
            <a:r>
              <a:rPr lang="en-GB" altLang="en-US" baseline="0" dirty="0" smtClean="0"/>
              <a:t> Directory</a:t>
            </a:r>
            <a:endParaRPr lang="en-GB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28734-98E0-4D4D-9420-4EF7781C3A2C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1726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en-GB" altLang="en-US" dirty="0" smtClean="0"/>
              <a:t>User Agent manipulation:	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en-GB" altLang="en-US" dirty="0" err="1" smtClean="0"/>
              <a:t>Mutillidae</a:t>
            </a:r>
            <a:r>
              <a:rPr lang="en-GB" altLang="en-US" dirty="0" smtClean="0"/>
              <a:t> – Introduce user agent manipulation via Burp Match &amp; Replace, and Mantra Tools -&gt; Application Auditing -&gt; User Agents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en-GB" altLang="en-US" dirty="0" smtClean="0"/>
              <a:t>Show how you practice on http://192.168.126.141/mutillidae/index.php?page=user-agent-impersonation.php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en-GB" altLang="en-US" dirty="0" smtClean="0"/>
              <a:t>Mistake to use</a:t>
            </a:r>
            <a:r>
              <a:rPr lang="en-GB" altLang="en-US" baseline="0" dirty="0" smtClean="0"/>
              <a:t> as access control, as client controls this</a:t>
            </a: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Tx/>
              <a:buNone/>
            </a:pP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en-GB" altLang="en-US" dirty="0" smtClean="0"/>
              <a:t>JavaScript Input length Bypass:	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en-GB" altLang="en-US" dirty="0" err="1" smtClean="0"/>
              <a:t>Mutillidae</a:t>
            </a:r>
            <a:r>
              <a:rPr lang="en-GB" altLang="en-US" dirty="0" smtClean="0"/>
              <a:t> – Introduce Burp response modification. JavaScript input length bypass at http://192.168.126.141/mutillidae/index.php?page=login.php, show the input field length limits then show how you can set burp to ‘remove input field length limits’ or simply catch a valid response and edit the values in the proxy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</a:pP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en-GB" altLang="en-US" dirty="0" smtClean="0"/>
              <a:t>Hidden Form Fields:		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en-GB" altLang="en-US" dirty="0" err="1" smtClean="0"/>
              <a:t>BodgeIt</a:t>
            </a:r>
            <a:r>
              <a:rPr lang="en-GB" altLang="en-US" dirty="0" smtClean="0"/>
              <a:t> Store – Hidden form fields: register an account, login then browse to http://192.168.126.141/bodgeit/product.jsp?prodid=26, then set burp to unhide hidden form fields, explain that hidden form fields can be used to affect pricing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</a:pPr>
            <a:endParaRPr lang="en-GB" altLang="en-US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28734-98E0-4D4D-9420-4EF7781C3A2C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765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r>
              <a:rPr lang="en-GB" dirty="0" smtClean="0"/>
              <a:t>SQL injection detection: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r>
              <a:rPr lang="en-GB" dirty="0" err="1" smtClean="0"/>
              <a:t>BodgeIt</a:t>
            </a:r>
            <a:r>
              <a:rPr lang="en-GB" dirty="0" smtClean="0"/>
              <a:t> Store – admin’, then</a:t>
            </a:r>
            <a:r>
              <a:rPr lang="en-GB" baseline="0" dirty="0" smtClean="0"/>
              <a:t> admin’’ - </a:t>
            </a:r>
            <a:r>
              <a:rPr lang="en-GB" dirty="0" smtClean="0"/>
              <a:t>observe how in the login field a single tick causes a system error in the top left, whereas two ticks clear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r>
              <a:rPr lang="en-GB" dirty="0" smtClean="0"/>
              <a:t>	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r>
              <a:rPr lang="en-GB" dirty="0" smtClean="0"/>
              <a:t>Trivial SQL injection: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r>
              <a:rPr lang="en-GB" dirty="0" err="1" smtClean="0"/>
              <a:t>Peruggia</a:t>
            </a:r>
            <a:r>
              <a:rPr lang="en-GB" dirty="0" smtClean="0"/>
              <a:t> - login can be bypassed with user: admin ‘ or 1=1--&lt;space at end&gt; password: anything		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r>
              <a:rPr lang="en-GB" dirty="0" smtClean="0"/>
              <a:t>http://</a:t>
            </a:r>
            <a:r>
              <a:rPr lang="en-GB" altLang="en-US" dirty="0" smtClean="0"/>
              <a:t>192.168.126.141</a:t>
            </a:r>
            <a:r>
              <a:rPr lang="en-GB" dirty="0" smtClean="0"/>
              <a:t>/peruggia/index.php?action=comment&amp;pic_id=2%20union%20all%20select%201,2,3,@@version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en-GB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r>
              <a:rPr lang="en-GB" dirty="0" smtClean="0"/>
              <a:t>SQLMAP: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r>
              <a:rPr lang="en-GB" dirty="0" err="1" smtClean="0"/>
              <a:t>Mutillidae</a:t>
            </a:r>
            <a:r>
              <a:rPr lang="en-GB" dirty="0" smtClean="0"/>
              <a:t> - </a:t>
            </a:r>
            <a:r>
              <a:rPr lang="en-GB" dirty="0" err="1" smtClean="0"/>
              <a:t>sqlmap</a:t>
            </a:r>
            <a:r>
              <a:rPr lang="en-GB" dirty="0" smtClean="0"/>
              <a:t> -u http://192.168.126.141/mutillidae/index.php?page=login.php --data="username=</a:t>
            </a:r>
            <a:r>
              <a:rPr lang="en-GB" dirty="0" err="1" smtClean="0"/>
              <a:t>username&amp;password</a:t>
            </a:r>
            <a:r>
              <a:rPr lang="en-GB" dirty="0" smtClean="0"/>
              <a:t>=</a:t>
            </a:r>
            <a:r>
              <a:rPr lang="en-GB" dirty="0" err="1" smtClean="0"/>
              <a:t>password&amp;login-php-submit-button</a:t>
            </a:r>
            <a:r>
              <a:rPr lang="en-GB" dirty="0" smtClean="0"/>
              <a:t>=Login"  --passwords –flush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r>
              <a:rPr lang="en-GB" dirty="0" smtClean="0"/>
              <a:t>Y – N – Defaults…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28734-98E0-4D4D-9420-4EF7781C3A2C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3581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dirty="0" smtClean="0"/>
              <a:t>Reflected XSS:	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dirty="0" smtClean="0"/>
              <a:t>Simple </a:t>
            </a:r>
            <a:r>
              <a:rPr lang="en-GB" altLang="en-US" dirty="0" err="1" smtClean="0"/>
              <a:t>ASP.Net</a:t>
            </a:r>
            <a:r>
              <a:rPr lang="en-GB" altLang="en-US" dirty="0" smtClean="0"/>
              <a:t> Forms - http://192.168.126.141/mono/simple-reflected-xss.aspx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dirty="0" smtClean="0"/>
              <a:t>Reflected XSS:	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dirty="0" smtClean="0"/>
              <a:t>GTD-PHP - Go to Lists -&gt; Checklists, Check List title is vulnerable at http://owaspbwa/gtd-php/checklistReport.php?checklistId=2&amp;checklistTitle=&lt;script&gt;alert('xss')&lt;/script&gt;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dirty="0" smtClean="0"/>
              <a:t>Stored XSS:	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dirty="0" smtClean="0"/>
              <a:t>DVWA - Go to DVWA and Stored XSS section, login as user/user, add stored XSS to show </a:t>
            </a:r>
            <a:r>
              <a:rPr lang="en-GB" altLang="en-US" dirty="0" err="1" smtClean="0"/>
              <a:t>document.cookie</a:t>
            </a:r>
            <a:r>
              <a:rPr lang="en-GB" altLang="en-US" dirty="0" smtClean="0"/>
              <a:t>, verify, then logout and login as admin/admin for admin session hijack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endParaRPr lang="en-GB" altLang="en-US" dirty="0" smtClean="0"/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dirty="0" smtClean="0"/>
              <a:t>CSRF:		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dirty="0" smtClean="0"/>
              <a:t>Bodge It – login with test@thebodgeitstore.com/password, send to repeater, change request method.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 smtClean="0"/>
              <a:t>Explain that this could be embedded in a blog website, fed via instant messaging or hidden as an image in an HTML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28734-98E0-4D4D-9420-4EF7781C3A2C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5554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28734-98E0-4D4D-9420-4EF7781C3A2C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5790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28734-98E0-4D4D-9420-4EF7781C3A2C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579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2620" y="2279035"/>
            <a:ext cx="6809780" cy="1470025"/>
          </a:xfrm>
        </p:spPr>
        <p:txBody>
          <a:bodyPr/>
          <a:lstStyle>
            <a:lvl1pPr algn="l">
              <a:defRPr>
                <a:solidFill>
                  <a:srgbClr val="D8A519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2620" y="4034810"/>
            <a:ext cx="6123980" cy="1752600"/>
          </a:xfrm>
        </p:spPr>
        <p:txBody>
          <a:bodyPr/>
          <a:lstStyle>
            <a:lvl1pPr marL="0" indent="0" algn="l">
              <a:buNone/>
              <a:defRPr>
                <a:solidFill>
                  <a:srgbClr val="00468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188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46F7C92-B666-BE4A-87BA-E45BF689715D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E9C67AB-B614-C742-93A2-1DCA2D6D2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09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46F7C92-B666-BE4A-87BA-E45BF689715D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1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46F7C92-B666-BE4A-87BA-E45BF689715D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E9C67AB-B614-C742-93A2-1DCA2D6D2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28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46F7C92-B666-BE4A-87BA-E45BF689715D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E9C67AB-B614-C742-93A2-1DCA2D6D2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66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46F7C92-B666-BE4A-87BA-E45BF689715D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E9C67AB-B614-C742-93A2-1DCA2D6D2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97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46F7C92-B666-BE4A-87BA-E45BF689715D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E9C67AB-B614-C742-93A2-1DCA2D6D2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914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46F7C92-B666-BE4A-87BA-E45BF689715D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E9C67AB-B614-C742-93A2-1DCA2D6D2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569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46F7C92-B666-BE4A-87BA-E45BF689715D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E9C67AB-B614-C742-93A2-1DCA2D6D2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29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46F7C92-B666-BE4A-87BA-E45BF689715D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E9C67AB-B614-C742-93A2-1DCA2D6D2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00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46F7C92-B666-BE4A-87BA-E45BF689715D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E9C67AB-B614-C742-93A2-1DCA2D6D2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23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128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179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4685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wasp.org/index.php/OWASP_Mantra_-_Security_Framework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wasp.org/index.php/OWASP_Testing_Guide_v4_Table_of_Contents" TargetMode="External"/><Relationship Id="rId5" Type="http://schemas.openxmlformats.org/officeDocument/2006/relationships/hyperlink" Target="https://www.owasp.org/index.php/OWASP_Broken_Web_Applications_Project" TargetMode="External"/><Relationship Id="rId4" Type="http://schemas.openxmlformats.org/officeDocument/2006/relationships/hyperlink" Target="https://www.owasp.org/index.php/OWASP_Zed_Attack_Proxy_Project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li.org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amanhardikar.com/mindmaps/Practice.html" TargetMode="External"/><Relationship Id="rId4" Type="http://schemas.openxmlformats.org/officeDocument/2006/relationships/hyperlink" Target="http://portswigger.net/burp/downloadfre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Application Penetration Testing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Robin Fewster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Aim of this presentation to introduce basic application penetration testing techniques</a:t>
            </a:r>
            <a:r>
              <a:rPr lang="en-US" altLang="en-US" dirty="0" smtClean="0"/>
              <a:t>.</a:t>
            </a:r>
          </a:p>
          <a:p>
            <a:r>
              <a:rPr lang="en-US" altLang="en-US" dirty="0" smtClean="0"/>
              <a:t>It is not as difficult to get into as you might think – hopefully we will bust some myths.</a:t>
            </a:r>
            <a:endParaRPr lang="en-US" altLang="en-US" dirty="0"/>
          </a:p>
          <a:p>
            <a:r>
              <a:rPr lang="en-US" altLang="en-US" dirty="0"/>
              <a:t>We will </a:t>
            </a:r>
            <a:r>
              <a:rPr lang="en-US" altLang="en-US" dirty="0" smtClean="0"/>
              <a:t>mainly use </a:t>
            </a:r>
            <a:r>
              <a:rPr lang="en-US" altLang="en-US" dirty="0"/>
              <a:t>OWASP projects, which will enable you to setup a safe home training lab</a:t>
            </a:r>
            <a:r>
              <a:rPr lang="en-US" altLang="en-US" dirty="0" smtClean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1956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Expectations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Limited time to cover what is a large topic, so this does not break any new ground.</a:t>
            </a:r>
          </a:p>
          <a:p>
            <a:pPr lvl="1"/>
            <a:r>
              <a:rPr lang="en-US" altLang="en-US" dirty="0"/>
              <a:t>But we can go through interesting examples.</a:t>
            </a:r>
          </a:p>
          <a:p>
            <a:pPr lvl="1"/>
            <a:r>
              <a:rPr lang="en-US" altLang="en-US" dirty="0"/>
              <a:t>And no penetration testing experience is required.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0391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About Me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Former DV security cleared CREST Certified Tester and CHECK Team Leader of 10 years.</a:t>
            </a:r>
          </a:p>
          <a:p>
            <a:r>
              <a:rPr lang="en-US" altLang="en-US" dirty="0"/>
              <a:t>Currently Security Principal at Sage (UK) working on secure software development.</a:t>
            </a:r>
          </a:p>
          <a:p>
            <a:endParaRPr lang="en-GB" dirty="0"/>
          </a:p>
        </p:txBody>
      </p:sp>
      <p:pic>
        <p:nvPicPr>
          <p:cNvPr id="4" name="Picture 4" descr="C:\Users\robin.fewster\Desktop\sage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04"/>
          <a:stretch>
            <a:fillRect/>
          </a:stretch>
        </p:blipFill>
        <p:spPr bwMode="auto">
          <a:xfrm>
            <a:off x="2898396" y="4210050"/>
            <a:ext cx="3112875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5582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Agenda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How to setup up your OWASP tools</a:t>
            </a:r>
          </a:p>
          <a:p>
            <a:r>
              <a:rPr lang="en-US" altLang="en-US" dirty="0"/>
              <a:t>Web App Attack Examples</a:t>
            </a:r>
          </a:p>
          <a:p>
            <a:pPr lvl="1"/>
            <a:r>
              <a:rPr lang="en-US" altLang="en-US" dirty="0"/>
              <a:t>Authentication</a:t>
            </a:r>
          </a:p>
          <a:p>
            <a:pPr lvl="1"/>
            <a:r>
              <a:rPr lang="en-US" altLang="en-US" dirty="0"/>
              <a:t>Session management</a:t>
            </a:r>
          </a:p>
          <a:p>
            <a:pPr lvl="1"/>
            <a:r>
              <a:rPr lang="en-US" altLang="en-US" dirty="0"/>
              <a:t>Access controls</a:t>
            </a:r>
          </a:p>
          <a:p>
            <a:pPr lvl="1"/>
            <a:r>
              <a:rPr lang="en-US" altLang="en-US" dirty="0"/>
              <a:t>Client controls</a:t>
            </a:r>
          </a:p>
          <a:p>
            <a:pPr lvl="1"/>
            <a:r>
              <a:rPr lang="en-US" altLang="en-US" dirty="0"/>
              <a:t>Back-end interpreters</a:t>
            </a:r>
          </a:p>
          <a:p>
            <a:pPr lvl="1"/>
            <a:r>
              <a:rPr lang="en-US" altLang="en-US" dirty="0"/>
              <a:t>Attacking the user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0704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Legality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Computer Misuse Act 1990 </a:t>
            </a:r>
          </a:p>
          <a:p>
            <a:pPr lvl="1"/>
            <a:r>
              <a:rPr lang="en-US" altLang="en-US" dirty="0"/>
              <a:t>Issue of ‘consent’</a:t>
            </a:r>
          </a:p>
          <a:p>
            <a:pPr lvl="1"/>
            <a:r>
              <a:rPr lang="en-US" altLang="en-US" b="1" dirty="0"/>
              <a:t>DON’T </a:t>
            </a:r>
            <a:r>
              <a:rPr lang="en-US" altLang="en-US" dirty="0"/>
              <a:t>target anything for which you do not have explicit written consent</a:t>
            </a:r>
            <a:endParaRPr lang="en-US" altLang="en-US" b="1" dirty="0"/>
          </a:p>
          <a:p>
            <a:pPr lvl="1"/>
            <a:r>
              <a:rPr lang="en-US" altLang="en-US" b="1" dirty="0"/>
              <a:t>DO</a:t>
            </a:r>
            <a:r>
              <a:rPr lang="en-US" altLang="en-US" dirty="0"/>
              <a:t> try this at home </a:t>
            </a:r>
            <a:r>
              <a:rPr lang="en-US" altLang="en-US" b="1" dirty="0"/>
              <a:t>BUT</a:t>
            </a:r>
            <a:r>
              <a:rPr lang="en-US" altLang="en-US" dirty="0"/>
              <a:t> on your own network / virtual machine (e.g. using OWASP projects)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524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Setting Up Your Tools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We will use OWASP projects (of course).</a:t>
            </a:r>
          </a:p>
          <a:p>
            <a:r>
              <a:rPr lang="en-US" altLang="en-US" dirty="0"/>
              <a:t>We need </a:t>
            </a:r>
          </a:p>
          <a:p>
            <a:pPr lvl="1"/>
            <a:r>
              <a:rPr lang="en-US" altLang="en-US" dirty="0"/>
              <a:t>a </a:t>
            </a:r>
            <a:r>
              <a:rPr lang="en-US" altLang="en-US" i="1" dirty="0"/>
              <a:t>browser</a:t>
            </a:r>
            <a:r>
              <a:rPr lang="en-US" altLang="en-US" dirty="0"/>
              <a:t> -&gt; “Mantra”</a:t>
            </a:r>
          </a:p>
          <a:p>
            <a:pPr lvl="1"/>
            <a:r>
              <a:rPr lang="en-US" altLang="en-US" dirty="0"/>
              <a:t>an </a:t>
            </a:r>
            <a:r>
              <a:rPr lang="en-US" altLang="en-US" i="1" dirty="0"/>
              <a:t>intercepting proxy </a:t>
            </a:r>
            <a:r>
              <a:rPr lang="en-US" altLang="en-US" dirty="0"/>
              <a:t>-&gt; “ZAP”,</a:t>
            </a:r>
          </a:p>
          <a:p>
            <a:pPr lvl="1"/>
            <a:r>
              <a:rPr lang="en-US" altLang="en-US" dirty="0"/>
              <a:t>and some </a:t>
            </a:r>
            <a:r>
              <a:rPr lang="en-US" altLang="en-US" i="1" dirty="0"/>
              <a:t>target websites </a:t>
            </a:r>
            <a:r>
              <a:rPr lang="en-US" altLang="en-US" dirty="0"/>
              <a:t>-&gt; “Broken Web Apps”.</a:t>
            </a:r>
          </a:p>
          <a:p>
            <a:r>
              <a:rPr lang="en-US" altLang="en-US" dirty="0"/>
              <a:t>URLs will be supplied at the end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434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Setting Up Your Tools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An intercepting proxy works like below: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Using Mantra and ZAP, we intercept and manipulate traffic in both browser requests and web server responses to forge attacks.</a:t>
            </a:r>
          </a:p>
          <a:p>
            <a:endParaRPr lang="en-GB" dirty="0"/>
          </a:p>
        </p:txBody>
      </p:sp>
      <p:pic>
        <p:nvPicPr>
          <p:cNvPr id="4" name="Picture 4" descr="C:\Users\robin.fewster\Desktop\ZA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5" y="2514600"/>
            <a:ext cx="756602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3939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Configure ZAP</a:t>
            </a:r>
            <a:endParaRPr lang="en-GB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76958" y="1418431"/>
            <a:ext cx="5138738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337458" y="1602581"/>
            <a:ext cx="363538" cy="298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58358" y="2829719"/>
            <a:ext cx="1309688" cy="298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96046" y="4837906"/>
            <a:ext cx="1309687" cy="298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100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Configure Mantra</a:t>
            </a:r>
            <a:endParaRPr lang="en-GB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524000"/>
            <a:ext cx="8839200" cy="508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252913" y="1787525"/>
            <a:ext cx="547687" cy="596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90600" y="2384425"/>
            <a:ext cx="654050" cy="247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71913" y="2781300"/>
            <a:ext cx="928687" cy="2968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81600" y="2746375"/>
            <a:ext cx="3657600" cy="6826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14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Configure Broken Web Applications</a:t>
            </a:r>
            <a:endParaRPr lang="en-GB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89088"/>
            <a:ext cx="7816755" cy="4245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581400" y="3432176"/>
            <a:ext cx="2286000" cy="3413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89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Broken Web Applications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006"/>
          <a:stretch/>
        </p:blipFill>
        <p:spPr bwMode="auto">
          <a:xfrm>
            <a:off x="543680" y="1253864"/>
            <a:ext cx="8269176" cy="540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7024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Authentication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authentication of an application is a critical line of </a:t>
            </a:r>
            <a:r>
              <a:rPr lang="en-US" altLang="en-US" dirty="0" err="1"/>
              <a:t>defence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If authentication fails, the application fails</a:t>
            </a:r>
          </a:p>
          <a:p>
            <a:pPr lvl="1"/>
            <a:r>
              <a:rPr lang="en-US" altLang="en-US" dirty="0"/>
              <a:t>Primary target for attackers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237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Attacks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Default / weak passwords</a:t>
            </a:r>
          </a:p>
          <a:p>
            <a:r>
              <a:rPr lang="en-US" altLang="en-US" dirty="0"/>
              <a:t>User enumeration</a:t>
            </a:r>
          </a:p>
          <a:p>
            <a:r>
              <a:rPr lang="en-US" altLang="en-US" dirty="0"/>
              <a:t>Password hints</a:t>
            </a:r>
          </a:p>
          <a:p>
            <a:r>
              <a:rPr lang="en-US" altLang="en-US" dirty="0"/>
              <a:t>Brute force password guessing</a:t>
            </a:r>
          </a:p>
          <a:p>
            <a:r>
              <a:rPr lang="en-US" altLang="en-US" dirty="0"/>
              <a:t>Default pages</a:t>
            </a:r>
          </a:p>
          <a:p>
            <a:r>
              <a:rPr lang="en-US" altLang="en-US" dirty="0"/>
              <a:t>Robots.txt</a:t>
            </a:r>
          </a:p>
          <a:p>
            <a:r>
              <a:rPr lang="en-US" altLang="en-US" dirty="0"/>
              <a:t>Guessable admin pages (security through obscurity)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7187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Session Management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Session management is fundamental to security as it uniquely identifies users.</a:t>
            </a:r>
          </a:p>
          <a:p>
            <a:pPr lvl="1"/>
            <a:r>
              <a:rPr lang="en-GB" altLang="en-US" dirty="0"/>
              <a:t>Enables assurance of user identity beyond login.</a:t>
            </a:r>
          </a:p>
          <a:p>
            <a:pPr lvl="1"/>
            <a:r>
              <a:rPr lang="en-GB" altLang="en-US" dirty="0"/>
              <a:t>Session management is a prime target for attacks.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4126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Attacks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Cookie meaning</a:t>
            </a:r>
          </a:p>
          <a:p>
            <a:r>
              <a:rPr lang="en-GB" altLang="en-US" dirty="0"/>
              <a:t>Decoding cookie values</a:t>
            </a:r>
          </a:p>
          <a:p>
            <a:r>
              <a:rPr lang="en-GB" altLang="en-US" dirty="0"/>
              <a:t>Cookie pseudo-randomness</a:t>
            </a:r>
          </a:p>
          <a:p>
            <a:r>
              <a:rPr lang="en-GB" altLang="en-US" dirty="0"/>
              <a:t>The ‘secure’ flag</a:t>
            </a:r>
          </a:p>
          <a:p>
            <a:r>
              <a:rPr lang="en-GB" altLang="en-US" dirty="0"/>
              <a:t>Session timeouts</a:t>
            </a:r>
          </a:p>
          <a:p>
            <a:r>
              <a:rPr lang="en-GB" altLang="en-US" dirty="0"/>
              <a:t>Duplicate logins</a:t>
            </a:r>
          </a:p>
          <a:p>
            <a:r>
              <a:rPr lang="en-GB" altLang="en-US" dirty="0"/>
              <a:t>Session fixation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226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Access Controls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Access controls check authorisation to do something.</a:t>
            </a:r>
          </a:p>
          <a:p>
            <a:r>
              <a:rPr lang="en-GB" altLang="en-US" dirty="0"/>
              <a:t>Defective access controls </a:t>
            </a:r>
          </a:p>
          <a:p>
            <a:pPr lvl="1"/>
            <a:r>
              <a:rPr lang="en-GB" altLang="en-US" dirty="0"/>
              <a:t>allow a user to perform an action that should not be allowed.</a:t>
            </a:r>
          </a:p>
          <a:p>
            <a:pPr lvl="1"/>
            <a:r>
              <a:rPr lang="en-GB" altLang="en-US" dirty="0"/>
              <a:t>account for a significant proportion of web application issues.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157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Attacks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Vertical privilege escalation</a:t>
            </a:r>
          </a:p>
          <a:p>
            <a:r>
              <a:rPr lang="en-GB" altLang="en-US" dirty="0"/>
              <a:t>Horizontal privilege escalation</a:t>
            </a:r>
          </a:p>
          <a:p>
            <a:r>
              <a:rPr lang="en-GB" altLang="en-US" dirty="0"/>
              <a:t>Forced browsing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72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Client Controls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Applications pass important data to the client, read it back and then process it on the server.</a:t>
            </a:r>
          </a:p>
          <a:p>
            <a:pPr lvl="1"/>
            <a:r>
              <a:rPr lang="en-GB" altLang="en-US" dirty="0"/>
              <a:t>valuable source of attacks due to the various techniques that can be used to achieve it.</a:t>
            </a:r>
          </a:p>
          <a:p>
            <a:pPr lvl="1"/>
            <a:r>
              <a:rPr lang="en-GB" altLang="en-US" dirty="0"/>
              <a:t>all data sent from the client can be modified; it is outside our control.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7551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Attacks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User Agent manipulation</a:t>
            </a:r>
          </a:p>
          <a:p>
            <a:r>
              <a:rPr lang="en-GB" altLang="en-US" dirty="0"/>
              <a:t>JavaScript controls bypass</a:t>
            </a:r>
          </a:p>
          <a:p>
            <a:r>
              <a:rPr lang="en-GB" altLang="en-US" dirty="0"/>
              <a:t>Hidden form fields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7452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Back-end Interpreters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Web apps can interact with back-end interpreters such as databases or XML parsers.</a:t>
            </a:r>
          </a:p>
          <a:p>
            <a:pPr lvl="1"/>
            <a:r>
              <a:rPr lang="en-GB" altLang="en-US" dirty="0"/>
              <a:t>user input is captured as variables which result in for example an SQL database query. </a:t>
            </a:r>
          </a:p>
          <a:p>
            <a:pPr lvl="1"/>
            <a:r>
              <a:rPr lang="en-GB" altLang="en-US" dirty="0"/>
              <a:t>malicious injected syntax can be used to taint code that “breaks out” of the intended purpose to implement arbitrary commands.</a:t>
            </a:r>
            <a:endParaRPr lang="en-US" alt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01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Attacks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SQL injection detection</a:t>
            </a:r>
          </a:p>
          <a:p>
            <a:r>
              <a:rPr lang="en-GB" altLang="en-US" dirty="0"/>
              <a:t>SQL injection login bypass</a:t>
            </a:r>
          </a:p>
          <a:p>
            <a:r>
              <a:rPr lang="en-GB" altLang="en-US" dirty="0"/>
              <a:t>SQLMAP</a:t>
            </a:r>
            <a:endParaRPr lang="en-US" alt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7062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Attacking the Client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Recent shift in emphasis from server-side flaws to client-side flaws.</a:t>
            </a:r>
          </a:p>
          <a:p>
            <a:pPr lvl="1"/>
            <a:r>
              <a:rPr lang="en-GB" altLang="en-US" dirty="0"/>
              <a:t>server-side flaws are now better understood and less prevalent. </a:t>
            </a:r>
          </a:p>
          <a:p>
            <a:pPr lvl="1"/>
            <a:r>
              <a:rPr lang="en-GB" altLang="en-US" dirty="0"/>
              <a:t>attackers now look to exploit users by means of client-based flaws.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8828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Attacks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Reflected XSS</a:t>
            </a:r>
          </a:p>
          <a:p>
            <a:r>
              <a:rPr lang="en-GB" altLang="en-US" dirty="0"/>
              <a:t>Stored XSS</a:t>
            </a:r>
          </a:p>
          <a:p>
            <a:r>
              <a:rPr lang="en-GB" altLang="en-US" dirty="0"/>
              <a:t>CSRF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449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Links for a Home Test Lab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800" dirty="0"/>
              <a:t>Web Browser - OWASP Mantra</a:t>
            </a:r>
          </a:p>
          <a:p>
            <a:pPr marL="0" indent="0">
              <a:buNone/>
            </a:pPr>
            <a:r>
              <a:rPr lang="en-US" altLang="en-US" sz="1800" dirty="0">
                <a:hlinkClick r:id="rId3"/>
              </a:rPr>
              <a:t>https://www.owasp.org/index.php/OWASP_Mantra_-_Security_Framework</a:t>
            </a:r>
            <a:r>
              <a:rPr lang="en-US" altLang="en-US" sz="1800" dirty="0"/>
              <a:t> 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Intercepting Proxy - OWASP Zed Attack Proxy</a:t>
            </a:r>
          </a:p>
          <a:p>
            <a:pPr marL="0" indent="0">
              <a:buNone/>
            </a:pPr>
            <a:r>
              <a:rPr lang="en-US" altLang="en-US" sz="1800" dirty="0">
                <a:hlinkClick r:id="rId4"/>
              </a:rPr>
              <a:t>https://www.owasp.org/index.php/OWASP_Zed_Attack_Proxy_Project</a:t>
            </a:r>
            <a:r>
              <a:rPr lang="en-US" altLang="en-US" sz="1800" dirty="0"/>
              <a:t> 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Target websites - OWASP Broken Web Applications</a:t>
            </a:r>
          </a:p>
          <a:p>
            <a:pPr marL="0" indent="0">
              <a:buNone/>
            </a:pPr>
            <a:r>
              <a:rPr lang="en-US" altLang="en-US" sz="1800" dirty="0">
                <a:hlinkClick r:id="rId5"/>
              </a:rPr>
              <a:t>https://www.owasp.org/index.php/OWASP_Broken_Web_Applications_Project</a:t>
            </a:r>
            <a:r>
              <a:rPr lang="en-US" altLang="en-US" sz="1800" dirty="0"/>
              <a:t> 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How To - OWASP Testing Guide</a:t>
            </a:r>
          </a:p>
          <a:p>
            <a:pPr marL="0" indent="0">
              <a:buNone/>
            </a:pPr>
            <a:r>
              <a:rPr lang="en-US" altLang="en-US" sz="1800" dirty="0">
                <a:hlinkClick r:id="rId6"/>
              </a:rPr>
              <a:t>https://www.owasp.org/index.php/OWASP_Testing_Guide_v4_Table_of_Contents</a:t>
            </a:r>
            <a:r>
              <a:rPr lang="en-US" altLang="en-US" sz="1800" dirty="0"/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6317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Links for a Home Test Lab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800" dirty="0" smtClean="0"/>
              <a:t>Pen Test Build – Kali (includes SQLMAP)</a:t>
            </a: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>
                <a:hlinkClick r:id="rId3"/>
              </a:rPr>
              <a:t>https://www.kali.org</a:t>
            </a:r>
            <a:r>
              <a:rPr lang="en-US" altLang="en-US" sz="1800" dirty="0" smtClean="0">
                <a:hlinkClick r:id="rId3"/>
              </a:rPr>
              <a:t>/</a:t>
            </a:r>
            <a:r>
              <a:rPr lang="en-US" altLang="en-US" sz="1800" dirty="0" smtClean="0"/>
              <a:t> 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Intercepting Proxy </a:t>
            </a:r>
            <a:r>
              <a:rPr lang="en-US" altLang="en-US" sz="1800" dirty="0" smtClean="0"/>
              <a:t>– </a:t>
            </a:r>
            <a:r>
              <a:rPr lang="en-US" altLang="en-US" sz="1800" dirty="0" err="1" smtClean="0"/>
              <a:t>BurpSuite</a:t>
            </a:r>
            <a:r>
              <a:rPr lang="en-US" altLang="en-US" sz="1800" dirty="0" smtClean="0"/>
              <a:t> Free Edition</a:t>
            </a: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>
                <a:hlinkClick r:id="rId4"/>
              </a:rPr>
              <a:t>http://</a:t>
            </a:r>
            <a:r>
              <a:rPr lang="en-US" altLang="en-US" sz="1800" dirty="0" smtClean="0">
                <a:hlinkClick r:id="rId4"/>
              </a:rPr>
              <a:t>portswigger.net/burp/downloadfree.html</a:t>
            </a:r>
            <a:r>
              <a:rPr lang="en-US" altLang="en-US" sz="1800" dirty="0" smtClean="0"/>
              <a:t> 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 err="1" smtClean="0"/>
              <a:t>Mindmap</a:t>
            </a:r>
            <a:r>
              <a:rPr lang="en-US" altLang="en-US" sz="1800" dirty="0" smtClean="0"/>
              <a:t> for Pen Test Lab Software </a:t>
            </a:r>
          </a:p>
          <a:p>
            <a:pPr marL="0" indent="0">
              <a:buNone/>
            </a:pPr>
            <a:r>
              <a:rPr lang="en-US" altLang="en-US" sz="1800" dirty="0">
                <a:hlinkClick r:id="rId5"/>
              </a:rPr>
              <a:t>http://</a:t>
            </a:r>
            <a:r>
              <a:rPr lang="en-US" altLang="en-US" sz="1800" dirty="0" smtClean="0">
                <a:hlinkClick r:id="rId5"/>
              </a:rPr>
              <a:t>www.amanhardikar.com/mindmaps/Practice.html</a:t>
            </a:r>
            <a:r>
              <a:rPr lang="en-US" altLang="en-US" sz="1800" dirty="0" smtClean="0"/>
              <a:t> </a:t>
            </a:r>
            <a:endParaRPr lang="en-US" altLang="en-US" sz="1800" dirty="0"/>
          </a:p>
          <a:p>
            <a:pPr marL="0" indent="0">
              <a:buNone/>
            </a:pPr>
            <a:endParaRPr lang="en-US" altLang="en-US" sz="18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360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914</Words>
  <Application>Microsoft Office PowerPoint</Application>
  <PresentationFormat>如螢幕大小 (4:3)</PresentationFormat>
  <Paragraphs>245</Paragraphs>
  <Slides>26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Introduction to Application Penetration Testing</vt:lpstr>
      <vt:lpstr>Introduction</vt:lpstr>
      <vt:lpstr>Expectations</vt:lpstr>
      <vt:lpstr>About Me</vt:lpstr>
      <vt:lpstr>Agenda</vt:lpstr>
      <vt:lpstr>Legality</vt:lpstr>
      <vt:lpstr>Setting Up Your Tools</vt:lpstr>
      <vt:lpstr>Setting Up Your Tools</vt:lpstr>
      <vt:lpstr>Configure ZAP</vt:lpstr>
      <vt:lpstr>Configure Mantra</vt:lpstr>
      <vt:lpstr>Configure Broken Web Applications</vt:lpstr>
      <vt:lpstr>Broken Web Applications</vt:lpstr>
      <vt:lpstr>Authentication</vt:lpstr>
      <vt:lpstr>Example Attacks</vt:lpstr>
      <vt:lpstr>Session Management</vt:lpstr>
      <vt:lpstr>Example Attacks</vt:lpstr>
      <vt:lpstr>Access Controls </vt:lpstr>
      <vt:lpstr>Example Attacks</vt:lpstr>
      <vt:lpstr>Client Controls</vt:lpstr>
      <vt:lpstr>Example Attacks</vt:lpstr>
      <vt:lpstr>Back-end Interpreters</vt:lpstr>
      <vt:lpstr>Example Attacks</vt:lpstr>
      <vt:lpstr>Attacking the Client</vt:lpstr>
      <vt:lpstr>Example Attacks</vt:lpstr>
      <vt:lpstr>Links for a Home Test Lab</vt:lpstr>
      <vt:lpstr>Links for a Home Test Lab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Patrick Calder</dc:creator>
  <cp:lastModifiedBy>FARN</cp:lastModifiedBy>
  <cp:revision>120</cp:revision>
  <dcterms:created xsi:type="dcterms:W3CDTF">2013-10-03T18:23:08Z</dcterms:created>
  <dcterms:modified xsi:type="dcterms:W3CDTF">2019-10-22T00:57:41Z</dcterms:modified>
</cp:coreProperties>
</file>