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57" r:id="rId4"/>
    <p:sldId id="268" r:id="rId5"/>
    <p:sldId id="264" r:id="rId6"/>
    <p:sldId id="265" r:id="rId7"/>
    <p:sldId id="266" r:id="rId8"/>
    <p:sldId id="267" r:id="rId9"/>
    <p:sldId id="258" r:id="rId10"/>
    <p:sldId id="259" r:id="rId11"/>
    <p:sldId id="260" r:id="rId12"/>
    <p:sldId id="261" r:id="rId13"/>
    <p:sldId id="262" r:id="rId1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450C646-8CCA-415C-BD79-E65B221B1CC4}"/>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DC53B085-4051-432D-9D29-08AE6A989C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D7A9AD26-B782-487D-920A-7403B053F88D}"/>
              </a:ext>
            </a:extLst>
          </p:cNvPr>
          <p:cNvSpPr>
            <a:spLocks noGrp="1"/>
          </p:cNvSpPr>
          <p:nvPr>
            <p:ph type="dt" sz="half" idx="10"/>
          </p:nvPr>
        </p:nvSpPr>
        <p:spPr/>
        <p:txBody>
          <a:bodyPr/>
          <a:lstStyle/>
          <a:p>
            <a:fld id="{4CB8009A-C549-4485-83EE-3AAD3F24272A}" type="datetimeFigureOut">
              <a:rPr lang="zh-TW" altLang="en-US" smtClean="0"/>
              <a:t>2019/10/11</a:t>
            </a:fld>
            <a:endParaRPr lang="zh-TW" altLang="en-US"/>
          </a:p>
        </p:txBody>
      </p:sp>
      <p:sp>
        <p:nvSpPr>
          <p:cNvPr id="5" name="頁尾版面配置區 4">
            <a:extLst>
              <a:ext uri="{FF2B5EF4-FFF2-40B4-BE49-F238E27FC236}">
                <a16:creationId xmlns:a16="http://schemas.microsoft.com/office/drawing/2014/main" id="{CA14CB38-413D-439B-9BF6-F1C2017A701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E92F538-F5C1-4FEC-9082-B409E5234333}"/>
              </a:ext>
            </a:extLst>
          </p:cNvPr>
          <p:cNvSpPr>
            <a:spLocks noGrp="1"/>
          </p:cNvSpPr>
          <p:nvPr>
            <p:ph type="sldNum" sz="quarter" idx="12"/>
          </p:nvPr>
        </p:nvSpPr>
        <p:spPr/>
        <p:txBody>
          <a:bodyPr/>
          <a:lstStyle/>
          <a:p>
            <a:fld id="{005F05C8-D2CF-4166-8477-2F6D29E9DA80}" type="slidenum">
              <a:rPr lang="zh-TW" altLang="en-US" smtClean="0"/>
              <a:t>‹#›</a:t>
            </a:fld>
            <a:endParaRPr lang="zh-TW" altLang="en-US"/>
          </a:p>
        </p:txBody>
      </p:sp>
    </p:spTree>
    <p:extLst>
      <p:ext uri="{BB962C8B-B14F-4D97-AF65-F5344CB8AC3E}">
        <p14:creationId xmlns:p14="http://schemas.microsoft.com/office/powerpoint/2010/main" val="3164462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B121245-349B-4D56-9523-B94000D419BE}"/>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14743E68-69FE-4E0C-9CAE-E46FCC1317DA}"/>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D2010E8-7761-48E7-9092-2C32996009C3}"/>
              </a:ext>
            </a:extLst>
          </p:cNvPr>
          <p:cNvSpPr>
            <a:spLocks noGrp="1"/>
          </p:cNvSpPr>
          <p:nvPr>
            <p:ph type="dt" sz="half" idx="10"/>
          </p:nvPr>
        </p:nvSpPr>
        <p:spPr/>
        <p:txBody>
          <a:bodyPr/>
          <a:lstStyle/>
          <a:p>
            <a:fld id="{4CB8009A-C549-4485-83EE-3AAD3F24272A}" type="datetimeFigureOut">
              <a:rPr lang="zh-TW" altLang="en-US" smtClean="0"/>
              <a:t>2019/10/11</a:t>
            </a:fld>
            <a:endParaRPr lang="zh-TW" altLang="en-US"/>
          </a:p>
        </p:txBody>
      </p:sp>
      <p:sp>
        <p:nvSpPr>
          <p:cNvPr id="5" name="頁尾版面配置區 4">
            <a:extLst>
              <a:ext uri="{FF2B5EF4-FFF2-40B4-BE49-F238E27FC236}">
                <a16:creationId xmlns:a16="http://schemas.microsoft.com/office/drawing/2014/main" id="{1CEC2582-B034-4C7E-A7AC-F409394A1C3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349A3C7-A512-4157-89B2-DAE6F922307A}"/>
              </a:ext>
            </a:extLst>
          </p:cNvPr>
          <p:cNvSpPr>
            <a:spLocks noGrp="1"/>
          </p:cNvSpPr>
          <p:nvPr>
            <p:ph type="sldNum" sz="quarter" idx="12"/>
          </p:nvPr>
        </p:nvSpPr>
        <p:spPr/>
        <p:txBody>
          <a:bodyPr/>
          <a:lstStyle/>
          <a:p>
            <a:fld id="{005F05C8-D2CF-4166-8477-2F6D29E9DA80}" type="slidenum">
              <a:rPr lang="zh-TW" altLang="en-US" smtClean="0"/>
              <a:t>‹#›</a:t>
            </a:fld>
            <a:endParaRPr lang="zh-TW" altLang="en-US"/>
          </a:p>
        </p:txBody>
      </p:sp>
    </p:spTree>
    <p:extLst>
      <p:ext uri="{BB962C8B-B14F-4D97-AF65-F5344CB8AC3E}">
        <p14:creationId xmlns:p14="http://schemas.microsoft.com/office/powerpoint/2010/main" val="25746782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CDBDDB9-9A53-41D6-9408-F37FCE8407C1}"/>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96904F9F-BF88-4262-886D-6F291FF7C2D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D0BEB828-682B-4BA7-8AEF-6B6F6894026B}"/>
              </a:ext>
            </a:extLst>
          </p:cNvPr>
          <p:cNvSpPr>
            <a:spLocks noGrp="1"/>
          </p:cNvSpPr>
          <p:nvPr>
            <p:ph type="dt" sz="half" idx="10"/>
          </p:nvPr>
        </p:nvSpPr>
        <p:spPr/>
        <p:txBody>
          <a:bodyPr/>
          <a:lstStyle/>
          <a:p>
            <a:fld id="{4CB8009A-C549-4485-83EE-3AAD3F24272A}" type="datetimeFigureOut">
              <a:rPr lang="zh-TW" altLang="en-US" smtClean="0"/>
              <a:t>2019/10/11</a:t>
            </a:fld>
            <a:endParaRPr lang="zh-TW" altLang="en-US"/>
          </a:p>
        </p:txBody>
      </p:sp>
      <p:sp>
        <p:nvSpPr>
          <p:cNvPr id="5" name="頁尾版面配置區 4">
            <a:extLst>
              <a:ext uri="{FF2B5EF4-FFF2-40B4-BE49-F238E27FC236}">
                <a16:creationId xmlns:a16="http://schemas.microsoft.com/office/drawing/2014/main" id="{ACAF9724-EE4D-47C6-BD9A-F5871581AF9C}"/>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5370BDC9-7A53-4729-9DEC-1441B32B46CB}"/>
              </a:ext>
            </a:extLst>
          </p:cNvPr>
          <p:cNvSpPr>
            <a:spLocks noGrp="1"/>
          </p:cNvSpPr>
          <p:nvPr>
            <p:ph type="sldNum" sz="quarter" idx="12"/>
          </p:nvPr>
        </p:nvSpPr>
        <p:spPr/>
        <p:txBody>
          <a:bodyPr/>
          <a:lstStyle/>
          <a:p>
            <a:fld id="{005F05C8-D2CF-4166-8477-2F6D29E9DA80}" type="slidenum">
              <a:rPr lang="zh-TW" altLang="en-US" smtClean="0"/>
              <a:t>‹#›</a:t>
            </a:fld>
            <a:endParaRPr lang="zh-TW" altLang="en-US"/>
          </a:p>
        </p:txBody>
      </p:sp>
    </p:spTree>
    <p:extLst>
      <p:ext uri="{BB962C8B-B14F-4D97-AF65-F5344CB8AC3E}">
        <p14:creationId xmlns:p14="http://schemas.microsoft.com/office/powerpoint/2010/main" val="2223752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8DF2818-CDE8-4D0D-843E-FAA5B23F2959}"/>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90CA42EE-5A29-4F59-9CB6-4CFAE68D876F}"/>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303194F6-6592-4C73-BF2F-D01F5CC2CCB1}"/>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F8FA604C-4BA6-4AA4-9FC8-02E449B0409A}"/>
              </a:ext>
            </a:extLst>
          </p:cNvPr>
          <p:cNvSpPr>
            <a:spLocks noGrp="1"/>
          </p:cNvSpPr>
          <p:nvPr>
            <p:ph type="dt" sz="half" idx="10"/>
          </p:nvPr>
        </p:nvSpPr>
        <p:spPr/>
        <p:txBody>
          <a:bodyPr/>
          <a:lstStyle/>
          <a:p>
            <a:fld id="{4CB8009A-C549-4485-83EE-3AAD3F24272A}" type="datetimeFigureOut">
              <a:rPr lang="zh-TW" altLang="en-US" smtClean="0"/>
              <a:t>2019/10/11</a:t>
            </a:fld>
            <a:endParaRPr lang="zh-TW" altLang="en-US"/>
          </a:p>
        </p:txBody>
      </p:sp>
      <p:sp>
        <p:nvSpPr>
          <p:cNvPr id="6" name="頁尾版面配置區 5">
            <a:extLst>
              <a:ext uri="{FF2B5EF4-FFF2-40B4-BE49-F238E27FC236}">
                <a16:creationId xmlns:a16="http://schemas.microsoft.com/office/drawing/2014/main" id="{372ECDF1-1038-407F-89E9-720C41E2749C}"/>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D202A61C-2D86-43B8-AD8C-11C9D0AC30F0}"/>
              </a:ext>
            </a:extLst>
          </p:cNvPr>
          <p:cNvSpPr>
            <a:spLocks noGrp="1"/>
          </p:cNvSpPr>
          <p:nvPr>
            <p:ph type="sldNum" sz="quarter" idx="12"/>
          </p:nvPr>
        </p:nvSpPr>
        <p:spPr/>
        <p:txBody>
          <a:bodyPr/>
          <a:lstStyle/>
          <a:p>
            <a:fld id="{005F05C8-D2CF-4166-8477-2F6D29E9DA80}" type="slidenum">
              <a:rPr lang="zh-TW" altLang="en-US" smtClean="0"/>
              <a:t>‹#›</a:t>
            </a:fld>
            <a:endParaRPr lang="zh-TW" altLang="en-US"/>
          </a:p>
        </p:txBody>
      </p:sp>
    </p:spTree>
    <p:extLst>
      <p:ext uri="{BB962C8B-B14F-4D97-AF65-F5344CB8AC3E}">
        <p14:creationId xmlns:p14="http://schemas.microsoft.com/office/powerpoint/2010/main" val="11552704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27BB81B-C110-4281-860E-F9F1E644E1AC}"/>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9E89EED1-A82E-492A-A795-493528DD201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5791EA9D-FEEB-4C73-AD10-CE21E3FE17F7}"/>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2B681BFE-56A3-45A1-8540-B3B2F1FAAF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28BE94EE-6C94-4E0E-AD3E-8F9B4461201A}"/>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5F304C06-EF4E-432F-9C96-391E3EB0EB06}"/>
              </a:ext>
            </a:extLst>
          </p:cNvPr>
          <p:cNvSpPr>
            <a:spLocks noGrp="1"/>
          </p:cNvSpPr>
          <p:nvPr>
            <p:ph type="dt" sz="half" idx="10"/>
          </p:nvPr>
        </p:nvSpPr>
        <p:spPr/>
        <p:txBody>
          <a:bodyPr/>
          <a:lstStyle/>
          <a:p>
            <a:fld id="{4CB8009A-C549-4485-83EE-3AAD3F24272A}" type="datetimeFigureOut">
              <a:rPr lang="zh-TW" altLang="en-US" smtClean="0"/>
              <a:t>2019/10/11</a:t>
            </a:fld>
            <a:endParaRPr lang="zh-TW" altLang="en-US"/>
          </a:p>
        </p:txBody>
      </p:sp>
      <p:sp>
        <p:nvSpPr>
          <p:cNvPr id="8" name="頁尾版面配置區 7">
            <a:extLst>
              <a:ext uri="{FF2B5EF4-FFF2-40B4-BE49-F238E27FC236}">
                <a16:creationId xmlns:a16="http://schemas.microsoft.com/office/drawing/2014/main" id="{4D9E4A84-E738-415F-AF2D-EFA249EF6E11}"/>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9D7AE407-9A18-484D-A202-6F31DFED31D5}"/>
              </a:ext>
            </a:extLst>
          </p:cNvPr>
          <p:cNvSpPr>
            <a:spLocks noGrp="1"/>
          </p:cNvSpPr>
          <p:nvPr>
            <p:ph type="sldNum" sz="quarter" idx="12"/>
          </p:nvPr>
        </p:nvSpPr>
        <p:spPr/>
        <p:txBody>
          <a:bodyPr/>
          <a:lstStyle/>
          <a:p>
            <a:fld id="{005F05C8-D2CF-4166-8477-2F6D29E9DA80}" type="slidenum">
              <a:rPr lang="zh-TW" altLang="en-US" smtClean="0"/>
              <a:t>‹#›</a:t>
            </a:fld>
            <a:endParaRPr lang="zh-TW" altLang="en-US"/>
          </a:p>
        </p:txBody>
      </p:sp>
    </p:spTree>
    <p:extLst>
      <p:ext uri="{BB962C8B-B14F-4D97-AF65-F5344CB8AC3E}">
        <p14:creationId xmlns:p14="http://schemas.microsoft.com/office/powerpoint/2010/main" val="9107266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EC929D8-5ABD-4922-842F-78E9F2B17E63}"/>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D3010A6F-0D8E-4A1F-A8DD-CF43BF7A2BD2}"/>
              </a:ext>
            </a:extLst>
          </p:cNvPr>
          <p:cNvSpPr>
            <a:spLocks noGrp="1"/>
          </p:cNvSpPr>
          <p:nvPr>
            <p:ph type="dt" sz="half" idx="10"/>
          </p:nvPr>
        </p:nvSpPr>
        <p:spPr/>
        <p:txBody>
          <a:bodyPr/>
          <a:lstStyle/>
          <a:p>
            <a:fld id="{4CB8009A-C549-4485-83EE-3AAD3F24272A}" type="datetimeFigureOut">
              <a:rPr lang="zh-TW" altLang="en-US" smtClean="0"/>
              <a:t>2019/10/11</a:t>
            </a:fld>
            <a:endParaRPr lang="zh-TW" altLang="en-US"/>
          </a:p>
        </p:txBody>
      </p:sp>
      <p:sp>
        <p:nvSpPr>
          <p:cNvPr id="4" name="頁尾版面配置區 3">
            <a:extLst>
              <a:ext uri="{FF2B5EF4-FFF2-40B4-BE49-F238E27FC236}">
                <a16:creationId xmlns:a16="http://schemas.microsoft.com/office/drawing/2014/main" id="{6A4D0446-8FE7-4258-86FA-0D33C31B23B1}"/>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93940759-35F4-4CD6-AA66-B9CEBF0A518F}"/>
              </a:ext>
            </a:extLst>
          </p:cNvPr>
          <p:cNvSpPr>
            <a:spLocks noGrp="1"/>
          </p:cNvSpPr>
          <p:nvPr>
            <p:ph type="sldNum" sz="quarter" idx="12"/>
          </p:nvPr>
        </p:nvSpPr>
        <p:spPr/>
        <p:txBody>
          <a:bodyPr/>
          <a:lstStyle/>
          <a:p>
            <a:fld id="{005F05C8-D2CF-4166-8477-2F6D29E9DA80}" type="slidenum">
              <a:rPr lang="zh-TW" altLang="en-US" smtClean="0"/>
              <a:t>‹#›</a:t>
            </a:fld>
            <a:endParaRPr lang="zh-TW" altLang="en-US"/>
          </a:p>
        </p:txBody>
      </p:sp>
    </p:spTree>
    <p:extLst>
      <p:ext uri="{BB962C8B-B14F-4D97-AF65-F5344CB8AC3E}">
        <p14:creationId xmlns:p14="http://schemas.microsoft.com/office/powerpoint/2010/main" val="1526432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0E4F0880-F0B3-4DF4-9490-D9877921A5A4}"/>
              </a:ext>
            </a:extLst>
          </p:cNvPr>
          <p:cNvSpPr>
            <a:spLocks noGrp="1"/>
          </p:cNvSpPr>
          <p:nvPr>
            <p:ph type="dt" sz="half" idx="10"/>
          </p:nvPr>
        </p:nvSpPr>
        <p:spPr/>
        <p:txBody>
          <a:bodyPr/>
          <a:lstStyle/>
          <a:p>
            <a:fld id="{4CB8009A-C549-4485-83EE-3AAD3F24272A}" type="datetimeFigureOut">
              <a:rPr lang="zh-TW" altLang="en-US" smtClean="0"/>
              <a:t>2019/10/11</a:t>
            </a:fld>
            <a:endParaRPr lang="zh-TW" altLang="en-US"/>
          </a:p>
        </p:txBody>
      </p:sp>
      <p:sp>
        <p:nvSpPr>
          <p:cNvPr id="3" name="頁尾版面配置區 2">
            <a:extLst>
              <a:ext uri="{FF2B5EF4-FFF2-40B4-BE49-F238E27FC236}">
                <a16:creationId xmlns:a16="http://schemas.microsoft.com/office/drawing/2014/main" id="{F98EFC3D-FC9F-475E-A49F-912DBFC60E0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BCABEEF0-1E13-48D9-9EAA-E4566E71AF18}"/>
              </a:ext>
            </a:extLst>
          </p:cNvPr>
          <p:cNvSpPr>
            <a:spLocks noGrp="1"/>
          </p:cNvSpPr>
          <p:nvPr>
            <p:ph type="sldNum" sz="quarter" idx="12"/>
          </p:nvPr>
        </p:nvSpPr>
        <p:spPr/>
        <p:txBody>
          <a:bodyPr/>
          <a:lstStyle/>
          <a:p>
            <a:fld id="{005F05C8-D2CF-4166-8477-2F6D29E9DA80}" type="slidenum">
              <a:rPr lang="zh-TW" altLang="en-US" smtClean="0"/>
              <a:t>‹#›</a:t>
            </a:fld>
            <a:endParaRPr lang="zh-TW" altLang="en-US"/>
          </a:p>
        </p:txBody>
      </p:sp>
    </p:spTree>
    <p:extLst>
      <p:ext uri="{BB962C8B-B14F-4D97-AF65-F5344CB8AC3E}">
        <p14:creationId xmlns:p14="http://schemas.microsoft.com/office/powerpoint/2010/main" val="29623435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0DD0D41-613E-46E4-A58D-9CB5991BA21A}"/>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40F42323-CF2B-4371-95A0-950ADF8505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D4621D4B-BC4E-4A8A-9C28-0B6CF04F17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8EE56505-1B08-48C9-B215-46B130676043}"/>
              </a:ext>
            </a:extLst>
          </p:cNvPr>
          <p:cNvSpPr>
            <a:spLocks noGrp="1"/>
          </p:cNvSpPr>
          <p:nvPr>
            <p:ph type="dt" sz="half" idx="10"/>
          </p:nvPr>
        </p:nvSpPr>
        <p:spPr/>
        <p:txBody>
          <a:bodyPr/>
          <a:lstStyle/>
          <a:p>
            <a:fld id="{4CB8009A-C549-4485-83EE-3AAD3F24272A}" type="datetimeFigureOut">
              <a:rPr lang="zh-TW" altLang="en-US" smtClean="0"/>
              <a:t>2019/10/11</a:t>
            </a:fld>
            <a:endParaRPr lang="zh-TW" altLang="en-US"/>
          </a:p>
        </p:txBody>
      </p:sp>
      <p:sp>
        <p:nvSpPr>
          <p:cNvPr id="6" name="頁尾版面配置區 5">
            <a:extLst>
              <a:ext uri="{FF2B5EF4-FFF2-40B4-BE49-F238E27FC236}">
                <a16:creationId xmlns:a16="http://schemas.microsoft.com/office/drawing/2014/main" id="{27D764B6-A964-493B-B2FF-B9885F04CE9B}"/>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BD1C89F9-DAE2-49A0-B326-893E1FA571F6}"/>
              </a:ext>
            </a:extLst>
          </p:cNvPr>
          <p:cNvSpPr>
            <a:spLocks noGrp="1"/>
          </p:cNvSpPr>
          <p:nvPr>
            <p:ph type="sldNum" sz="quarter" idx="12"/>
          </p:nvPr>
        </p:nvSpPr>
        <p:spPr/>
        <p:txBody>
          <a:bodyPr/>
          <a:lstStyle/>
          <a:p>
            <a:fld id="{005F05C8-D2CF-4166-8477-2F6D29E9DA80}" type="slidenum">
              <a:rPr lang="zh-TW" altLang="en-US" smtClean="0"/>
              <a:t>‹#›</a:t>
            </a:fld>
            <a:endParaRPr lang="zh-TW" altLang="en-US"/>
          </a:p>
        </p:txBody>
      </p:sp>
    </p:spTree>
    <p:extLst>
      <p:ext uri="{BB962C8B-B14F-4D97-AF65-F5344CB8AC3E}">
        <p14:creationId xmlns:p14="http://schemas.microsoft.com/office/powerpoint/2010/main" val="17283610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1B841F7-D533-4449-9FF5-F9CEAE7F11AF}"/>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3B44163C-D5A5-43BB-BAFB-014629F66C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2554C6F0-1398-4626-92C4-08C15D1787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110C2A84-FC59-4F16-8C2D-E0BA8FD04807}"/>
              </a:ext>
            </a:extLst>
          </p:cNvPr>
          <p:cNvSpPr>
            <a:spLocks noGrp="1"/>
          </p:cNvSpPr>
          <p:nvPr>
            <p:ph type="dt" sz="half" idx="10"/>
          </p:nvPr>
        </p:nvSpPr>
        <p:spPr/>
        <p:txBody>
          <a:bodyPr/>
          <a:lstStyle/>
          <a:p>
            <a:fld id="{4CB8009A-C549-4485-83EE-3AAD3F24272A}" type="datetimeFigureOut">
              <a:rPr lang="zh-TW" altLang="en-US" smtClean="0"/>
              <a:t>2019/10/11</a:t>
            </a:fld>
            <a:endParaRPr lang="zh-TW" altLang="en-US"/>
          </a:p>
        </p:txBody>
      </p:sp>
      <p:sp>
        <p:nvSpPr>
          <p:cNvPr id="6" name="頁尾版面配置區 5">
            <a:extLst>
              <a:ext uri="{FF2B5EF4-FFF2-40B4-BE49-F238E27FC236}">
                <a16:creationId xmlns:a16="http://schemas.microsoft.com/office/drawing/2014/main" id="{FD2CDB24-729F-431A-8185-04A4F27BA896}"/>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9414D5BD-EBC0-426A-8599-B5E0BB857545}"/>
              </a:ext>
            </a:extLst>
          </p:cNvPr>
          <p:cNvSpPr>
            <a:spLocks noGrp="1"/>
          </p:cNvSpPr>
          <p:nvPr>
            <p:ph type="sldNum" sz="quarter" idx="12"/>
          </p:nvPr>
        </p:nvSpPr>
        <p:spPr/>
        <p:txBody>
          <a:bodyPr/>
          <a:lstStyle/>
          <a:p>
            <a:fld id="{005F05C8-D2CF-4166-8477-2F6D29E9DA80}" type="slidenum">
              <a:rPr lang="zh-TW" altLang="en-US" smtClean="0"/>
              <a:t>‹#›</a:t>
            </a:fld>
            <a:endParaRPr lang="zh-TW" altLang="en-US"/>
          </a:p>
        </p:txBody>
      </p:sp>
    </p:spTree>
    <p:extLst>
      <p:ext uri="{BB962C8B-B14F-4D97-AF65-F5344CB8AC3E}">
        <p14:creationId xmlns:p14="http://schemas.microsoft.com/office/powerpoint/2010/main" val="3718700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12B3D01-0655-47CD-A432-F0A7E72E7E7F}"/>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42F1CA43-AC03-4F8C-9D79-63DB329C8930}"/>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073ADE6-940A-4279-B033-D08156AEC409}"/>
              </a:ext>
            </a:extLst>
          </p:cNvPr>
          <p:cNvSpPr>
            <a:spLocks noGrp="1"/>
          </p:cNvSpPr>
          <p:nvPr>
            <p:ph type="dt" sz="half" idx="10"/>
          </p:nvPr>
        </p:nvSpPr>
        <p:spPr/>
        <p:txBody>
          <a:bodyPr/>
          <a:lstStyle/>
          <a:p>
            <a:fld id="{4CB8009A-C549-4485-83EE-3AAD3F24272A}" type="datetimeFigureOut">
              <a:rPr lang="zh-TW" altLang="en-US" smtClean="0"/>
              <a:t>2019/10/11</a:t>
            </a:fld>
            <a:endParaRPr lang="zh-TW" altLang="en-US"/>
          </a:p>
        </p:txBody>
      </p:sp>
      <p:sp>
        <p:nvSpPr>
          <p:cNvPr id="5" name="頁尾版面配置區 4">
            <a:extLst>
              <a:ext uri="{FF2B5EF4-FFF2-40B4-BE49-F238E27FC236}">
                <a16:creationId xmlns:a16="http://schemas.microsoft.com/office/drawing/2014/main" id="{D8AAB357-D25F-4A2A-95A9-69D1AB548529}"/>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CACD0AA-C32B-4773-B63F-5AD48DCCD26B}"/>
              </a:ext>
            </a:extLst>
          </p:cNvPr>
          <p:cNvSpPr>
            <a:spLocks noGrp="1"/>
          </p:cNvSpPr>
          <p:nvPr>
            <p:ph type="sldNum" sz="quarter" idx="12"/>
          </p:nvPr>
        </p:nvSpPr>
        <p:spPr/>
        <p:txBody>
          <a:bodyPr/>
          <a:lstStyle/>
          <a:p>
            <a:fld id="{005F05C8-D2CF-4166-8477-2F6D29E9DA80}" type="slidenum">
              <a:rPr lang="zh-TW" altLang="en-US" smtClean="0"/>
              <a:t>‹#›</a:t>
            </a:fld>
            <a:endParaRPr lang="zh-TW" altLang="en-US"/>
          </a:p>
        </p:txBody>
      </p:sp>
    </p:spTree>
    <p:extLst>
      <p:ext uri="{BB962C8B-B14F-4D97-AF65-F5344CB8AC3E}">
        <p14:creationId xmlns:p14="http://schemas.microsoft.com/office/powerpoint/2010/main" val="20090373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6909E19-1EAC-4460-B67C-63462A11CF8D}"/>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C18DE4AB-D3B1-4774-A298-F7DD086CDEE2}"/>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41804149-434F-4ADE-8474-C9FA59EC6538}"/>
              </a:ext>
            </a:extLst>
          </p:cNvPr>
          <p:cNvSpPr>
            <a:spLocks noGrp="1"/>
          </p:cNvSpPr>
          <p:nvPr>
            <p:ph type="dt" sz="half" idx="10"/>
          </p:nvPr>
        </p:nvSpPr>
        <p:spPr/>
        <p:txBody>
          <a:bodyPr/>
          <a:lstStyle/>
          <a:p>
            <a:fld id="{4CB8009A-C549-4485-83EE-3AAD3F24272A}" type="datetimeFigureOut">
              <a:rPr lang="zh-TW" altLang="en-US" smtClean="0"/>
              <a:t>2019/10/11</a:t>
            </a:fld>
            <a:endParaRPr lang="zh-TW" altLang="en-US"/>
          </a:p>
        </p:txBody>
      </p:sp>
      <p:sp>
        <p:nvSpPr>
          <p:cNvPr id="5" name="頁尾版面配置區 4">
            <a:extLst>
              <a:ext uri="{FF2B5EF4-FFF2-40B4-BE49-F238E27FC236}">
                <a16:creationId xmlns:a16="http://schemas.microsoft.com/office/drawing/2014/main" id="{1BA34D53-DDEB-443D-9CBE-3F5189E5EA5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D90250CA-098A-4B5E-9F40-A096CF4E4B23}"/>
              </a:ext>
            </a:extLst>
          </p:cNvPr>
          <p:cNvSpPr>
            <a:spLocks noGrp="1"/>
          </p:cNvSpPr>
          <p:nvPr>
            <p:ph type="sldNum" sz="quarter" idx="12"/>
          </p:nvPr>
        </p:nvSpPr>
        <p:spPr/>
        <p:txBody>
          <a:bodyPr/>
          <a:lstStyle/>
          <a:p>
            <a:fld id="{005F05C8-D2CF-4166-8477-2F6D29E9DA80}" type="slidenum">
              <a:rPr lang="zh-TW" altLang="en-US" smtClean="0"/>
              <a:t>‹#›</a:t>
            </a:fld>
            <a:endParaRPr lang="zh-TW" altLang="en-US"/>
          </a:p>
        </p:txBody>
      </p:sp>
    </p:spTree>
    <p:extLst>
      <p:ext uri="{BB962C8B-B14F-4D97-AF65-F5344CB8AC3E}">
        <p14:creationId xmlns:p14="http://schemas.microsoft.com/office/powerpoint/2010/main" val="10139666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2BEB4800-F20E-4C43-89C6-0F0513ECA3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05B44335-E6CE-41D3-BB73-10BB79832A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3CA7F12-0163-4EAF-9076-C84BEB4B75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B8009A-C549-4485-83EE-3AAD3F24272A}" type="datetimeFigureOut">
              <a:rPr lang="zh-TW" altLang="en-US" smtClean="0"/>
              <a:t>2019/10/11</a:t>
            </a:fld>
            <a:endParaRPr lang="zh-TW" altLang="en-US"/>
          </a:p>
        </p:txBody>
      </p:sp>
      <p:sp>
        <p:nvSpPr>
          <p:cNvPr id="5" name="頁尾版面配置區 4">
            <a:extLst>
              <a:ext uri="{FF2B5EF4-FFF2-40B4-BE49-F238E27FC236}">
                <a16:creationId xmlns:a16="http://schemas.microsoft.com/office/drawing/2014/main" id="{2B244634-C472-42CC-8ED1-4C98CF78AB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8DB953DC-4CAC-464A-87B9-A637E8363EA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5F05C8-D2CF-4166-8477-2F6D29E9DA80}" type="slidenum">
              <a:rPr lang="zh-TW" altLang="en-US" smtClean="0"/>
              <a:t>‹#›</a:t>
            </a:fld>
            <a:endParaRPr lang="zh-TW" altLang="en-US"/>
          </a:p>
        </p:txBody>
      </p:sp>
    </p:spTree>
    <p:extLst>
      <p:ext uri="{BB962C8B-B14F-4D97-AF65-F5344CB8AC3E}">
        <p14:creationId xmlns:p14="http://schemas.microsoft.com/office/powerpoint/2010/main" val="37567251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technavio.com/report/software-testing-services-market-industry-analysis" TargetMode="External"/><Relationship Id="rId2" Type="http://schemas.openxmlformats.org/officeDocument/2006/relationships/hyperlink" Target="https://www.researchandmarkets.com/reports/4841326/automation-testing-market-by-component-testing" TargetMode="External"/><Relationship Id="rId1" Type="http://schemas.openxmlformats.org/officeDocument/2006/relationships/slideLayout" Target="../slideLayouts/slideLayout2.xml"/><Relationship Id="rId6" Type="http://schemas.openxmlformats.org/officeDocument/2006/relationships/hyperlink" Target="https://medium.com/@briananderson2209/best-automation-testing-tools-for-2018-top-10-reviews-8a4a19f664d2" TargetMode="External"/><Relationship Id="rId5" Type="http://schemas.openxmlformats.org/officeDocument/2006/relationships/hyperlink" Target="https://www.softwaretestinghelp.com/performance-testing-service-providers/" TargetMode="External"/><Relationship Id="rId4" Type="http://schemas.openxmlformats.org/officeDocument/2006/relationships/hyperlink" Target="https://enlyft.com/tech/software-testing-tool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A73B6CB-B27A-4749-8CAE-A56135592FEA}"/>
              </a:ext>
            </a:extLst>
          </p:cNvPr>
          <p:cNvSpPr>
            <a:spLocks noGrp="1"/>
          </p:cNvSpPr>
          <p:nvPr>
            <p:ph type="ctrTitle"/>
          </p:nvPr>
        </p:nvSpPr>
        <p:spPr/>
        <p:txBody>
          <a:bodyPr/>
          <a:lstStyle/>
          <a:p>
            <a:r>
              <a:rPr lang="zh-TW" altLang="en-US" dirty="0"/>
              <a:t>測試市場市場報告</a:t>
            </a:r>
          </a:p>
        </p:txBody>
      </p:sp>
      <p:sp>
        <p:nvSpPr>
          <p:cNvPr id="3" name="副標題 2">
            <a:extLst>
              <a:ext uri="{FF2B5EF4-FFF2-40B4-BE49-F238E27FC236}">
                <a16:creationId xmlns:a16="http://schemas.microsoft.com/office/drawing/2014/main" id="{5AA64EDD-687B-4970-AEA0-E6B72A4827F8}"/>
              </a:ext>
            </a:extLst>
          </p:cNvPr>
          <p:cNvSpPr>
            <a:spLocks noGrp="1"/>
          </p:cNvSpPr>
          <p:nvPr>
            <p:ph type="subTitle" idx="1"/>
          </p:nvPr>
        </p:nvSpPr>
        <p:spPr/>
        <p:txBody>
          <a:bodyPr/>
          <a:lstStyle/>
          <a:p>
            <a:r>
              <a:rPr lang="en-US" altLang="zh-TW" dirty="0"/>
              <a:t>R08921087</a:t>
            </a:r>
            <a:r>
              <a:rPr lang="zh-TW" altLang="en-US" dirty="0"/>
              <a:t>王文樺</a:t>
            </a:r>
          </a:p>
        </p:txBody>
      </p:sp>
    </p:spTree>
    <p:extLst>
      <p:ext uri="{BB962C8B-B14F-4D97-AF65-F5344CB8AC3E}">
        <p14:creationId xmlns:p14="http://schemas.microsoft.com/office/powerpoint/2010/main" val="40086631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94DDC30-BFFC-4B22-90D0-4B0E4BDE3ABF}"/>
              </a:ext>
            </a:extLst>
          </p:cNvPr>
          <p:cNvSpPr>
            <a:spLocks noGrp="1"/>
          </p:cNvSpPr>
          <p:nvPr>
            <p:ph type="title"/>
          </p:nvPr>
        </p:nvSpPr>
        <p:spPr>
          <a:xfrm>
            <a:off x="838200" y="365125"/>
            <a:ext cx="10515600" cy="1460500"/>
          </a:xfrm>
        </p:spPr>
        <p:txBody>
          <a:bodyPr>
            <a:normAutofit fontScale="90000"/>
          </a:bodyPr>
          <a:lstStyle/>
          <a:p>
            <a:br>
              <a:rPr lang="zh-TW" altLang="en-US" dirty="0"/>
            </a:br>
            <a:r>
              <a:rPr lang="en-US" altLang="zh-TW" dirty="0"/>
              <a:t>1. </a:t>
            </a:r>
            <a:r>
              <a:rPr lang="zh-TW" altLang="en-US" dirty="0"/>
              <a:t>一年軟體測試全球總預算？</a:t>
            </a:r>
            <a:br>
              <a:rPr lang="en-US" altLang="zh-TW" dirty="0"/>
            </a:br>
            <a:r>
              <a:rPr lang="zh-TW" altLang="en-US" dirty="0"/>
              <a:t>包含外包、內部的預算</a:t>
            </a:r>
          </a:p>
        </p:txBody>
      </p:sp>
      <p:sp>
        <p:nvSpPr>
          <p:cNvPr id="3" name="內容版面配置區 2">
            <a:extLst>
              <a:ext uri="{FF2B5EF4-FFF2-40B4-BE49-F238E27FC236}">
                <a16:creationId xmlns:a16="http://schemas.microsoft.com/office/drawing/2014/main" id="{6C5E12A3-B90A-4397-8D73-8EA00579D1D7}"/>
              </a:ext>
            </a:extLst>
          </p:cNvPr>
          <p:cNvSpPr>
            <a:spLocks noGrp="1"/>
          </p:cNvSpPr>
          <p:nvPr>
            <p:ph idx="1"/>
          </p:nvPr>
        </p:nvSpPr>
        <p:spPr>
          <a:xfrm>
            <a:off x="838200" y="2073897"/>
            <a:ext cx="10515600" cy="4103066"/>
          </a:xfrm>
        </p:spPr>
        <p:txBody>
          <a:bodyPr/>
          <a:lstStyle/>
          <a:p>
            <a:r>
              <a:rPr lang="en-US" altLang="zh-TW" dirty="0"/>
              <a:t>About</a:t>
            </a:r>
            <a:r>
              <a:rPr lang="zh-TW" altLang="en-US" dirty="0"/>
              <a:t> </a:t>
            </a:r>
            <a:r>
              <a:rPr lang="de-DE" altLang="zh-TW" dirty="0"/>
              <a:t>USD 12.6 billion in 2019</a:t>
            </a:r>
            <a:endParaRPr lang="zh-TW" altLang="en-US" dirty="0"/>
          </a:p>
        </p:txBody>
      </p:sp>
    </p:spTree>
    <p:extLst>
      <p:ext uri="{BB962C8B-B14F-4D97-AF65-F5344CB8AC3E}">
        <p14:creationId xmlns:p14="http://schemas.microsoft.com/office/powerpoint/2010/main" val="19271162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9654596-B0E5-443F-B1EA-527F00EBBA89}"/>
              </a:ext>
            </a:extLst>
          </p:cNvPr>
          <p:cNvSpPr>
            <a:spLocks noGrp="1"/>
          </p:cNvSpPr>
          <p:nvPr>
            <p:ph type="title"/>
          </p:nvPr>
        </p:nvSpPr>
        <p:spPr/>
        <p:txBody>
          <a:bodyPr/>
          <a:lstStyle/>
          <a:p>
            <a:r>
              <a:rPr lang="en-US" altLang="zh-TW" dirty="0"/>
              <a:t>2. </a:t>
            </a:r>
            <a:r>
              <a:rPr lang="zh-TW" altLang="en-US" dirty="0"/>
              <a:t>軟體測試產業成長趨勢與動能？</a:t>
            </a:r>
          </a:p>
        </p:txBody>
      </p:sp>
      <p:sp>
        <p:nvSpPr>
          <p:cNvPr id="3" name="內容版面配置區 2">
            <a:extLst>
              <a:ext uri="{FF2B5EF4-FFF2-40B4-BE49-F238E27FC236}">
                <a16:creationId xmlns:a16="http://schemas.microsoft.com/office/drawing/2014/main" id="{39F10068-A2E8-48F3-84A1-F8D19E014875}"/>
              </a:ext>
            </a:extLst>
          </p:cNvPr>
          <p:cNvSpPr>
            <a:spLocks noGrp="1"/>
          </p:cNvSpPr>
          <p:nvPr>
            <p:ph idx="1"/>
          </p:nvPr>
        </p:nvSpPr>
        <p:spPr/>
        <p:txBody>
          <a:bodyPr/>
          <a:lstStyle/>
          <a:p>
            <a:r>
              <a:rPr lang="en-US" altLang="zh-TW" dirty="0"/>
              <a:t>The global software testing services market size will grow by USD 29.84 billion during 2019-2023. </a:t>
            </a:r>
          </a:p>
          <a:p>
            <a:endParaRPr lang="zh-TW" altLang="en-US" dirty="0"/>
          </a:p>
        </p:txBody>
      </p:sp>
      <p:pic>
        <p:nvPicPr>
          <p:cNvPr id="6" name="圖片 5">
            <a:extLst>
              <a:ext uri="{FF2B5EF4-FFF2-40B4-BE49-F238E27FC236}">
                <a16:creationId xmlns:a16="http://schemas.microsoft.com/office/drawing/2014/main" id="{749EEF33-64C5-44A8-8059-CF4014D54A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0749" y="2760054"/>
            <a:ext cx="7014328" cy="3945560"/>
          </a:xfrm>
          <a:prstGeom prst="rect">
            <a:avLst/>
          </a:prstGeom>
        </p:spPr>
      </p:pic>
    </p:spTree>
    <p:extLst>
      <p:ext uri="{BB962C8B-B14F-4D97-AF65-F5344CB8AC3E}">
        <p14:creationId xmlns:p14="http://schemas.microsoft.com/office/powerpoint/2010/main" val="31003541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CFD5D1C-3CF2-49AC-9CE2-AC8DB32BFECB}"/>
              </a:ext>
            </a:extLst>
          </p:cNvPr>
          <p:cNvSpPr>
            <a:spLocks noGrp="1"/>
          </p:cNvSpPr>
          <p:nvPr>
            <p:ph type="title"/>
          </p:nvPr>
        </p:nvSpPr>
        <p:spPr/>
        <p:txBody>
          <a:bodyPr/>
          <a:lstStyle/>
          <a:p>
            <a:r>
              <a:rPr lang="en-US" altLang="zh-TW" dirty="0"/>
              <a:t>3. </a:t>
            </a:r>
            <a:r>
              <a:rPr lang="zh-TW" altLang="en-US" dirty="0"/>
              <a:t>一年軟體測試工具（含</a:t>
            </a:r>
            <a:r>
              <a:rPr lang="en-US" altLang="zh-TW" dirty="0"/>
              <a:t>web</a:t>
            </a:r>
            <a:r>
              <a:rPr lang="zh-TW" altLang="en-US" dirty="0"/>
              <a:t>、</a:t>
            </a:r>
            <a:r>
              <a:rPr lang="en-US" altLang="zh-TW" dirty="0"/>
              <a:t>android</a:t>
            </a:r>
            <a:r>
              <a:rPr lang="zh-TW" altLang="en-US" dirty="0"/>
              <a:t>、</a:t>
            </a:r>
            <a:r>
              <a:rPr lang="en-US" altLang="zh-TW" dirty="0" err="1"/>
              <a:t>ios</a:t>
            </a:r>
            <a:r>
              <a:rPr lang="zh-TW" altLang="en-US" dirty="0"/>
              <a:t>）市場規模多少？</a:t>
            </a:r>
          </a:p>
        </p:txBody>
      </p:sp>
      <p:pic>
        <p:nvPicPr>
          <p:cNvPr id="4" name="內容版面配置區 3">
            <a:extLst>
              <a:ext uri="{FF2B5EF4-FFF2-40B4-BE49-F238E27FC236}">
                <a16:creationId xmlns:a16="http://schemas.microsoft.com/office/drawing/2014/main" id="{0A187CBD-9DB4-45CB-8290-9DDAEC1486EC}"/>
              </a:ext>
            </a:extLst>
          </p:cNvPr>
          <p:cNvPicPr>
            <a:picLocks noGrp="1" noChangeAspect="1"/>
          </p:cNvPicPr>
          <p:nvPr>
            <p:ph idx="1"/>
          </p:nvPr>
        </p:nvPicPr>
        <p:blipFill>
          <a:blip r:embed="rId2"/>
          <a:stretch>
            <a:fillRect/>
          </a:stretch>
        </p:blipFill>
        <p:spPr>
          <a:xfrm>
            <a:off x="1367380" y="2362852"/>
            <a:ext cx="9457240" cy="3276884"/>
          </a:xfrm>
          <a:prstGeom prst="rect">
            <a:avLst/>
          </a:prstGeom>
        </p:spPr>
      </p:pic>
    </p:spTree>
    <p:extLst>
      <p:ext uri="{BB962C8B-B14F-4D97-AF65-F5344CB8AC3E}">
        <p14:creationId xmlns:p14="http://schemas.microsoft.com/office/powerpoint/2010/main" val="3713474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47F519-6E0A-451D-9190-10EB58D07C26}"/>
              </a:ext>
            </a:extLst>
          </p:cNvPr>
          <p:cNvSpPr>
            <a:spLocks noGrp="1"/>
          </p:cNvSpPr>
          <p:nvPr>
            <p:ph type="title"/>
          </p:nvPr>
        </p:nvSpPr>
        <p:spPr/>
        <p:txBody>
          <a:bodyPr/>
          <a:lstStyle/>
          <a:p>
            <a:r>
              <a:rPr lang="en-US" altLang="zh-TW" dirty="0"/>
              <a:t>4. </a:t>
            </a:r>
            <a:r>
              <a:rPr lang="zh-TW" altLang="en-US" dirty="0"/>
              <a:t>一年各測試服務（</a:t>
            </a:r>
            <a:r>
              <a:rPr lang="en-US" altLang="zh-TW" dirty="0"/>
              <a:t>testing services</a:t>
            </a:r>
            <a:r>
              <a:rPr lang="zh-TW" altLang="en-US" dirty="0"/>
              <a:t>）公司的市場規模？</a:t>
            </a:r>
          </a:p>
        </p:txBody>
      </p:sp>
      <p:sp>
        <p:nvSpPr>
          <p:cNvPr id="3" name="內容版面配置區 2">
            <a:extLst>
              <a:ext uri="{FF2B5EF4-FFF2-40B4-BE49-F238E27FC236}">
                <a16:creationId xmlns:a16="http://schemas.microsoft.com/office/drawing/2014/main" id="{D58DCE9A-57D0-4730-8BBD-02021F86C273}"/>
              </a:ext>
            </a:extLst>
          </p:cNvPr>
          <p:cNvSpPr>
            <a:spLocks noGrp="1"/>
          </p:cNvSpPr>
          <p:nvPr>
            <p:ph idx="1"/>
          </p:nvPr>
        </p:nvSpPr>
        <p:spPr/>
        <p:txBody>
          <a:bodyPr/>
          <a:lstStyle/>
          <a:p>
            <a:r>
              <a:rPr lang="en-US" altLang="zh-TW" dirty="0"/>
              <a:t>#1) </a:t>
            </a:r>
            <a:r>
              <a:rPr lang="en-US" altLang="zh-TW" dirty="0" err="1"/>
              <a:t>ScienceSoft</a:t>
            </a:r>
            <a:endParaRPr lang="en-US" altLang="zh-TW" dirty="0"/>
          </a:p>
          <a:p>
            <a:r>
              <a:rPr lang="en-US" altLang="zh-TW" b="1" dirty="0"/>
              <a:t>Company size</a:t>
            </a:r>
            <a:r>
              <a:rPr lang="en-US" altLang="zh-TW" dirty="0"/>
              <a:t>: 500+ employees</a:t>
            </a:r>
          </a:p>
          <a:p>
            <a:r>
              <a:rPr lang="en-US" altLang="zh-TW" b="1" dirty="0"/>
              <a:t>Company yearly revenue</a:t>
            </a:r>
            <a:r>
              <a:rPr lang="en-US" altLang="zh-TW" dirty="0"/>
              <a:t>: $22M</a:t>
            </a:r>
          </a:p>
          <a:p>
            <a:r>
              <a:rPr lang="en-US" altLang="zh-TW" b="1" dirty="0"/>
              <a:t>Headquarters:</a:t>
            </a:r>
            <a:r>
              <a:rPr lang="en-US" altLang="zh-TW" dirty="0"/>
              <a:t> McKinney, Texas, US</a:t>
            </a:r>
          </a:p>
          <a:p>
            <a:endParaRPr lang="en-US" altLang="zh-TW" dirty="0"/>
          </a:p>
          <a:p>
            <a:r>
              <a:rPr lang="en-US" altLang="zh-TW" dirty="0"/>
              <a:t>#2) Mindful QA</a:t>
            </a:r>
          </a:p>
          <a:p>
            <a:r>
              <a:rPr lang="en-US" altLang="zh-TW" b="1" dirty="0"/>
              <a:t>No. of Employees:</a:t>
            </a:r>
            <a:r>
              <a:rPr lang="en-US" altLang="zh-TW" dirty="0"/>
              <a:t> 50-200</a:t>
            </a:r>
            <a:endParaRPr lang="zh-TW" altLang="en-US" dirty="0"/>
          </a:p>
        </p:txBody>
      </p:sp>
    </p:spTree>
    <p:extLst>
      <p:ext uri="{BB962C8B-B14F-4D97-AF65-F5344CB8AC3E}">
        <p14:creationId xmlns:p14="http://schemas.microsoft.com/office/powerpoint/2010/main" val="36225509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AE5E7918-EEA5-4602-A04E-CBCAD0CAF148}"/>
              </a:ext>
            </a:extLst>
          </p:cNvPr>
          <p:cNvSpPr>
            <a:spLocks noGrp="1"/>
          </p:cNvSpPr>
          <p:nvPr>
            <p:ph idx="1"/>
          </p:nvPr>
        </p:nvSpPr>
        <p:spPr>
          <a:xfrm>
            <a:off x="838200" y="490194"/>
            <a:ext cx="10515600" cy="5686769"/>
          </a:xfrm>
        </p:spPr>
        <p:txBody>
          <a:bodyPr>
            <a:normAutofit lnSpcReduction="10000"/>
          </a:bodyPr>
          <a:lstStyle/>
          <a:p>
            <a:r>
              <a:rPr lang="en-US" altLang="zh-TW" dirty="0"/>
              <a:t>#3) </a:t>
            </a:r>
            <a:r>
              <a:rPr lang="en-US" altLang="zh-TW" dirty="0" err="1"/>
              <a:t>Cybage</a:t>
            </a:r>
            <a:endParaRPr lang="en-US" altLang="zh-TW" dirty="0"/>
          </a:p>
          <a:p>
            <a:r>
              <a:rPr lang="en-US" altLang="zh-TW" b="1" dirty="0"/>
              <a:t>Company size</a:t>
            </a:r>
            <a:r>
              <a:rPr lang="en-US" altLang="zh-TW" dirty="0"/>
              <a:t>: 5700 employees</a:t>
            </a:r>
          </a:p>
          <a:p>
            <a:r>
              <a:rPr lang="en-US" altLang="zh-TW" b="1" dirty="0"/>
              <a:t>Headquarter:</a:t>
            </a:r>
            <a:r>
              <a:rPr lang="en-US" altLang="zh-TW" dirty="0"/>
              <a:t> Pune, India</a:t>
            </a:r>
          </a:p>
          <a:p>
            <a:r>
              <a:rPr lang="en-US" altLang="zh-TW" b="1" dirty="0"/>
              <a:t>Company yearly revenue:</a:t>
            </a:r>
            <a:r>
              <a:rPr lang="en-US" altLang="zh-TW" dirty="0"/>
              <a:t> $4M</a:t>
            </a:r>
          </a:p>
          <a:p>
            <a:r>
              <a:rPr lang="en-US" altLang="zh-TW" dirty="0"/>
              <a:t>#4) Infosys</a:t>
            </a:r>
          </a:p>
          <a:p>
            <a:r>
              <a:rPr lang="en-US" altLang="zh-TW" b="1" dirty="0"/>
              <a:t>Company size</a:t>
            </a:r>
            <a:r>
              <a:rPr lang="en-US" altLang="zh-TW" dirty="0"/>
              <a:t>: 200,364 employees</a:t>
            </a:r>
          </a:p>
          <a:p>
            <a:r>
              <a:rPr lang="en-US" altLang="zh-TW" b="1" dirty="0"/>
              <a:t>Company yearly revenue</a:t>
            </a:r>
            <a:r>
              <a:rPr lang="en-US" altLang="zh-TW" dirty="0"/>
              <a:t>: $10.9 billion in revenue</a:t>
            </a:r>
          </a:p>
          <a:p>
            <a:r>
              <a:rPr lang="en-US" altLang="zh-TW" b="1" dirty="0"/>
              <a:t>Headquarter:</a:t>
            </a:r>
            <a:r>
              <a:rPr lang="en-US" altLang="zh-TW" dirty="0"/>
              <a:t> Bengaluru, India</a:t>
            </a:r>
          </a:p>
          <a:p>
            <a:r>
              <a:rPr lang="en-US" altLang="zh-TW" dirty="0"/>
              <a:t>#5) </a:t>
            </a:r>
            <a:r>
              <a:rPr lang="en-US" altLang="zh-TW" dirty="0" err="1"/>
              <a:t>Microexcel</a:t>
            </a:r>
            <a:endParaRPr lang="en-US" altLang="zh-TW" dirty="0"/>
          </a:p>
          <a:p>
            <a:r>
              <a:rPr lang="en-US" altLang="zh-TW" b="1" dirty="0"/>
              <a:t>Company size</a:t>
            </a:r>
            <a:r>
              <a:rPr lang="en-US" altLang="zh-TW" dirty="0"/>
              <a:t>: 1500 employees</a:t>
            </a:r>
            <a:br>
              <a:rPr lang="en-US" altLang="zh-TW" dirty="0"/>
            </a:br>
            <a:r>
              <a:rPr lang="en-US" altLang="zh-TW" b="1" dirty="0"/>
              <a:t>Headquarter: </a:t>
            </a:r>
            <a:r>
              <a:rPr lang="en-US" altLang="zh-TW" dirty="0"/>
              <a:t>Secaucus, New Jersey 07094, USA</a:t>
            </a:r>
            <a:br>
              <a:rPr lang="en-US" altLang="zh-TW" dirty="0"/>
            </a:br>
            <a:r>
              <a:rPr lang="en-US" altLang="zh-TW" b="1" dirty="0"/>
              <a:t>Company yearly revenue</a:t>
            </a:r>
            <a:r>
              <a:rPr lang="en-US" altLang="zh-TW" dirty="0"/>
              <a:t>: $20M</a:t>
            </a:r>
          </a:p>
          <a:p>
            <a:endParaRPr lang="zh-TW" altLang="en-US" dirty="0"/>
          </a:p>
        </p:txBody>
      </p:sp>
    </p:spTree>
    <p:extLst>
      <p:ext uri="{BB962C8B-B14F-4D97-AF65-F5344CB8AC3E}">
        <p14:creationId xmlns:p14="http://schemas.microsoft.com/office/powerpoint/2010/main" val="4227677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DDF8B644-F060-4498-8A65-C746E4D8975B}"/>
              </a:ext>
            </a:extLst>
          </p:cNvPr>
          <p:cNvSpPr>
            <a:spLocks noGrp="1"/>
          </p:cNvSpPr>
          <p:nvPr>
            <p:ph idx="1"/>
          </p:nvPr>
        </p:nvSpPr>
        <p:spPr>
          <a:xfrm>
            <a:off x="838200" y="386499"/>
            <a:ext cx="10515600" cy="5790464"/>
          </a:xfrm>
        </p:spPr>
        <p:txBody>
          <a:bodyPr/>
          <a:lstStyle/>
          <a:p>
            <a:r>
              <a:rPr lang="en-US" altLang="zh-TW" dirty="0"/>
              <a:t>#6) Tech Mahindra</a:t>
            </a:r>
          </a:p>
          <a:p>
            <a:r>
              <a:rPr lang="en-US" altLang="zh-TW" b="1" dirty="0"/>
              <a:t>Company size</a:t>
            </a:r>
            <a:r>
              <a:rPr lang="en-US" altLang="zh-TW" dirty="0"/>
              <a:t>: 113,550 employees</a:t>
            </a:r>
            <a:br>
              <a:rPr lang="en-US" altLang="zh-TW" dirty="0"/>
            </a:br>
            <a:r>
              <a:rPr lang="en-US" altLang="zh-TW" b="1" dirty="0"/>
              <a:t>Company yearly revenue</a:t>
            </a:r>
            <a:r>
              <a:rPr lang="en-US" altLang="zh-TW" dirty="0"/>
              <a:t>: US$4.77 billion</a:t>
            </a:r>
            <a:br>
              <a:rPr lang="en-US" altLang="zh-TW" dirty="0"/>
            </a:br>
            <a:r>
              <a:rPr lang="en-US" altLang="zh-TW" b="1" dirty="0"/>
              <a:t>Headquarter</a:t>
            </a:r>
            <a:r>
              <a:rPr lang="en-US" altLang="zh-TW" dirty="0"/>
              <a:t>: India</a:t>
            </a:r>
          </a:p>
          <a:p>
            <a:r>
              <a:rPr lang="en-US" altLang="zh-TW" dirty="0"/>
              <a:t>#7) </a:t>
            </a:r>
            <a:r>
              <a:rPr lang="en-US" altLang="zh-TW" dirty="0" err="1"/>
              <a:t>JadeGlobal</a:t>
            </a:r>
            <a:endParaRPr lang="en-US" altLang="zh-TW" dirty="0"/>
          </a:p>
          <a:p>
            <a:r>
              <a:rPr lang="en-US" altLang="zh-TW" b="1" dirty="0"/>
              <a:t>Company size</a:t>
            </a:r>
            <a:r>
              <a:rPr lang="en-US" altLang="zh-TW" dirty="0"/>
              <a:t>: 900+ employees.</a:t>
            </a:r>
            <a:br>
              <a:rPr lang="en-US" altLang="zh-TW" dirty="0"/>
            </a:br>
            <a:r>
              <a:rPr lang="en-US" altLang="zh-TW" b="1" dirty="0"/>
              <a:t>Headquarter</a:t>
            </a:r>
            <a:r>
              <a:rPr lang="en-US" altLang="zh-TW" dirty="0"/>
              <a:t>: San Jose, California</a:t>
            </a:r>
            <a:br>
              <a:rPr lang="en-US" altLang="zh-TW" dirty="0"/>
            </a:br>
            <a:r>
              <a:rPr lang="en-US" altLang="zh-TW" b="1" dirty="0"/>
              <a:t>Company yearly revenue</a:t>
            </a:r>
            <a:r>
              <a:rPr lang="en-US" altLang="zh-TW" dirty="0"/>
              <a:t>: $39.0 M</a:t>
            </a:r>
          </a:p>
          <a:p>
            <a:r>
              <a:rPr lang="en-US" altLang="zh-TW" dirty="0"/>
              <a:t>#8) NTT DATA Services</a:t>
            </a:r>
          </a:p>
          <a:p>
            <a:r>
              <a:rPr lang="en-US" altLang="zh-TW" b="1" dirty="0"/>
              <a:t>Company size</a:t>
            </a:r>
            <a:r>
              <a:rPr lang="en-US" altLang="zh-TW" dirty="0"/>
              <a:t>: 15,228 employees</a:t>
            </a:r>
            <a:br>
              <a:rPr lang="en-US" altLang="zh-TW" dirty="0"/>
            </a:br>
            <a:r>
              <a:rPr lang="en-US" altLang="zh-TW" b="1" dirty="0"/>
              <a:t>Headquarter</a:t>
            </a:r>
            <a:r>
              <a:rPr lang="en-US" altLang="zh-TW" dirty="0"/>
              <a:t>: Tokyo</a:t>
            </a:r>
            <a:br>
              <a:rPr lang="en-US" altLang="zh-TW" dirty="0"/>
            </a:br>
            <a:r>
              <a:rPr lang="en-US" altLang="zh-TW" b="1" dirty="0"/>
              <a:t>Company yearly revenue</a:t>
            </a:r>
            <a:r>
              <a:rPr lang="en-US" altLang="zh-TW" dirty="0"/>
              <a:t>: $14 billion.</a:t>
            </a:r>
            <a:endParaRPr lang="zh-TW" altLang="en-US" dirty="0"/>
          </a:p>
        </p:txBody>
      </p:sp>
    </p:spTree>
    <p:extLst>
      <p:ext uri="{BB962C8B-B14F-4D97-AF65-F5344CB8AC3E}">
        <p14:creationId xmlns:p14="http://schemas.microsoft.com/office/powerpoint/2010/main" val="9845478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0F4AF368-34CF-42B3-B5B9-670ED763A6CF}"/>
              </a:ext>
            </a:extLst>
          </p:cNvPr>
          <p:cNvSpPr>
            <a:spLocks noGrp="1"/>
          </p:cNvSpPr>
          <p:nvPr>
            <p:ph idx="1"/>
          </p:nvPr>
        </p:nvSpPr>
        <p:spPr>
          <a:xfrm>
            <a:off x="838200" y="197963"/>
            <a:ext cx="10515600" cy="6523348"/>
          </a:xfrm>
        </p:spPr>
        <p:txBody>
          <a:bodyPr>
            <a:normAutofit fontScale="92500" lnSpcReduction="10000"/>
          </a:bodyPr>
          <a:lstStyle/>
          <a:p>
            <a:r>
              <a:rPr lang="en-US" altLang="zh-TW" dirty="0"/>
              <a:t>#9) </a:t>
            </a:r>
            <a:r>
              <a:rPr lang="en-US" altLang="zh-TW" dirty="0" err="1"/>
              <a:t>Powertest</a:t>
            </a:r>
            <a:endParaRPr lang="en-US" altLang="zh-TW" dirty="0"/>
          </a:p>
          <a:p>
            <a:r>
              <a:rPr lang="en-US" altLang="zh-TW" b="1" dirty="0"/>
              <a:t>Company size</a:t>
            </a:r>
            <a:r>
              <a:rPr lang="en-US" altLang="zh-TW" dirty="0"/>
              <a:t>: 53 employees</a:t>
            </a:r>
            <a:br>
              <a:rPr lang="en-US" altLang="zh-TW" dirty="0"/>
            </a:br>
            <a:r>
              <a:rPr lang="en-US" altLang="zh-TW" b="1" dirty="0"/>
              <a:t>Headquarter</a:t>
            </a:r>
            <a:r>
              <a:rPr lang="en-US" altLang="zh-TW" dirty="0"/>
              <a:t>: San Francisco</a:t>
            </a:r>
            <a:br>
              <a:rPr lang="en-US" altLang="zh-TW" dirty="0"/>
            </a:br>
            <a:r>
              <a:rPr lang="en-US" altLang="zh-TW" b="1" dirty="0"/>
              <a:t>Company yearly revenue</a:t>
            </a:r>
            <a:r>
              <a:rPr lang="en-US" altLang="zh-TW" dirty="0"/>
              <a:t>: $11.6M</a:t>
            </a:r>
          </a:p>
          <a:p>
            <a:r>
              <a:rPr lang="en-US" altLang="zh-TW" dirty="0"/>
              <a:t>#10) </a:t>
            </a:r>
            <a:r>
              <a:rPr lang="en-US" altLang="zh-TW" dirty="0" err="1"/>
              <a:t>Thinksys</a:t>
            </a:r>
            <a:endParaRPr lang="en-US" altLang="zh-TW" dirty="0"/>
          </a:p>
          <a:p>
            <a:r>
              <a:rPr lang="en-US" altLang="zh-TW" b="1" dirty="0"/>
              <a:t>Company size</a:t>
            </a:r>
            <a:r>
              <a:rPr lang="en-US" altLang="zh-TW" dirty="0"/>
              <a:t>: 150 employees</a:t>
            </a:r>
            <a:br>
              <a:rPr lang="en-US" altLang="zh-TW" dirty="0"/>
            </a:br>
            <a:r>
              <a:rPr lang="en-US" altLang="zh-TW" b="1" dirty="0"/>
              <a:t>Headquarter: </a:t>
            </a:r>
            <a:r>
              <a:rPr lang="en-US" altLang="zh-TW" dirty="0"/>
              <a:t>USA</a:t>
            </a:r>
            <a:br>
              <a:rPr lang="en-US" altLang="zh-TW" dirty="0"/>
            </a:br>
            <a:r>
              <a:rPr lang="en-US" altLang="zh-TW" b="1" dirty="0"/>
              <a:t>Company yearly revenue</a:t>
            </a:r>
            <a:r>
              <a:rPr lang="en-US" altLang="zh-TW" dirty="0"/>
              <a:t>: $3.5 M</a:t>
            </a:r>
          </a:p>
          <a:p>
            <a:r>
              <a:rPr lang="en-US" altLang="zh-TW" dirty="0"/>
              <a:t>#11) </a:t>
            </a:r>
            <a:r>
              <a:rPr lang="en-US" altLang="zh-TW" dirty="0" err="1"/>
              <a:t>ZenQ</a:t>
            </a:r>
            <a:endParaRPr lang="en-US" altLang="zh-TW" dirty="0"/>
          </a:p>
          <a:p>
            <a:r>
              <a:rPr lang="en-US" altLang="zh-TW" b="1" dirty="0"/>
              <a:t>Company size</a:t>
            </a:r>
            <a:r>
              <a:rPr lang="en-US" altLang="zh-TW" dirty="0"/>
              <a:t>: 400 employees</a:t>
            </a:r>
            <a:br>
              <a:rPr lang="en-US" altLang="zh-TW" dirty="0"/>
            </a:br>
            <a:r>
              <a:rPr lang="en-US" altLang="zh-TW" b="1" dirty="0"/>
              <a:t>Headquarter: </a:t>
            </a:r>
            <a:r>
              <a:rPr lang="en-US" altLang="zh-TW" dirty="0"/>
              <a:t>Hyderabad (India)</a:t>
            </a:r>
            <a:br>
              <a:rPr lang="en-US" altLang="zh-TW" dirty="0"/>
            </a:br>
            <a:r>
              <a:rPr lang="en-US" altLang="zh-TW" b="1" dirty="0"/>
              <a:t>Company yearly revenue</a:t>
            </a:r>
            <a:r>
              <a:rPr lang="en-US" altLang="zh-TW" dirty="0"/>
              <a:t>: $2.5</a:t>
            </a:r>
          </a:p>
          <a:p>
            <a:r>
              <a:rPr lang="en-US" altLang="zh-TW" dirty="0"/>
              <a:t>#12) A1QA</a:t>
            </a:r>
          </a:p>
          <a:p>
            <a:r>
              <a:rPr lang="en-US" altLang="zh-TW" b="1" dirty="0"/>
              <a:t>Company size</a:t>
            </a:r>
            <a:r>
              <a:rPr lang="en-US" altLang="zh-TW" dirty="0"/>
              <a:t>: 60</a:t>
            </a:r>
            <a:br>
              <a:rPr lang="en-US" altLang="zh-TW" dirty="0"/>
            </a:br>
            <a:r>
              <a:rPr lang="en-US" altLang="zh-TW" b="1" dirty="0"/>
              <a:t>Headquarter: </a:t>
            </a:r>
            <a:r>
              <a:rPr lang="en-US" altLang="zh-TW" dirty="0"/>
              <a:t>Lakewood, CO</a:t>
            </a:r>
            <a:br>
              <a:rPr lang="en-US" altLang="zh-TW" dirty="0"/>
            </a:br>
            <a:r>
              <a:rPr lang="en-US" altLang="zh-TW" b="1" dirty="0"/>
              <a:t>Company yearly revenue</a:t>
            </a:r>
            <a:r>
              <a:rPr lang="en-US" altLang="zh-TW" dirty="0"/>
              <a:t>: $2M</a:t>
            </a:r>
            <a:endParaRPr lang="zh-TW" altLang="en-US" dirty="0"/>
          </a:p>
        </p:txBody>
      </p:sp>
    </p:spTree>
    <p:extLst>
      <p:ext uri="{BB962C8B-B14F-4D97-AF65-F5344CB8AC3E}">
        <p14:creationId xmlns:p14="http://schemas.microsoft.com/office/powerpoint/2010/main" val="16774568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4033E64-3F72-4997-BA9B-7FF81AA7A973}"/>
              </a:ext>
            </a:extLst>
          </p:cNvPr>
          <p:cNvSpPr>
            <a:spLocks noGrp="1"/>
          </p:cNvSpPr>
          <p:nvPr>
            <p:ph type="title"/>
          </p:nvPr>
        </p:nvSpPr>
        <p:spPr>
          <a:xfrm>
            <a:off x="461914" y="2766218"/>
            <a:ext cx="11099276" cy="1325563"/>
          </a:xfrm>
        </p:spPr>
        <p:txBody>
          <a:bodyPr/>
          <a:lstStyle/>
          <a:p>
            <a:r>
              <a:rPr lang="en-US" altLang="zh-TW" dirty="0"/>
              <a:t>5. </a:t>
            </a:r>
            <a:r>
              <a:rPr lang="zh-TW" altLang="en-US" dirty="0"/>
              <a:t>市場上</a:t>
            </a:r>
            <a:r>
              <a:rPr lang="en-US" altLang="zh-TW" dirty="0"/>
              <a:t>web</a:t>
            </a:r>
            <a:r>
              <a:rPr lang="zh-TW" altLang="en-US" dirty="0"/>
              <a:t>、</a:t>
            </a:r>
            <a:r>
              <a:rPr lang="en-US" altLang="zh-TW" dirty="0"/>
              <a:t>android</a:t>
            </a:r>
            <a:r>
              <a:rPr lang="zh-TW" altLang="en-US" dirty="0"/>
              <a:t>、</a:t>
            </a:r>
            <a:r>
              <a:rPr lang="en-US" altLang="zh-TW" dirty="0" err="1"/>
              <a:t>ios</a:t>
            </a:r>
            <a:r>
              <a:rPr lang="zh-TW" altLang="en-US" dirty="0"/>
              <a:t>測試工具的功能？</a:t>
            </a:r>
          </a:p>
        </p:txBody>
      </p:sp>
    </p:spTree>
    <p:extLst>
      <p:ext uri="{BB962C8B-B14F-4D97-AF65-F5344CB8AC3E}">
        <p14:creationId xmlns:p14="http://schemas.microsoft.com/office/powerpoint/2010/main" val="3899874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6354616-0D83-43B2-B59F-F9BF3206C666}"/>
              </a:ext>
            </a:extLst>
          </p:cNvPr>
          <p:cNvSpPr>
            <a:spLocks noGrp="1"/>
          </p:cNvSpPr>
          <p:nvPr>
            <p:ph type="title"/>
          </p:nvPr>
        </p:nvSpPr>
        <p:spPr/>
        <p:txBody>
          <a:bodyPr/>
          <a:lstStyle/>
          <a:p>
            <a:r>
              <a:rPr lang="en-US" altLang="zh-TW" b="1" dirty="0"/>
              <a:t>1. Selenium</a:t>
            </a:r>
            <a:endParaRPr lang="zh-TW" altLang="en-US" dirty="0"/>
          </a:p>
        </p:txBody>
      </p:sp>
      <p:sp>
        <p:nvSpPr>
          <p:cNvPr id="3" name="內容版面配置區 2">
            <a:extLst>
              <a:ext uri="{FF2B5EF4-FFF2-40B4-BE49-F238E27FC236}">
                <a16:creationId xmlns:a16="http://schemas.microsoft.com/office/drawing/2014/main" id="{5D435B34-7956-479E-B73D-699B55B34479}"/>
              </a:ext>
            </a:extLst>
          </p:cNvPr>
          <p:cNvSpPr>
            <a:spLocks noGrp="1"/>
          </p:cNvSpPr>
          <p:nvPr>
            <p:ph idx="1"/>
          </p:nvPr>
        </p:nvSpPr>
        <p:spPr/>
        <p:txBody>
          <a:bodyPr/>
          <a:lstStyle/>
          <a:p>
            <a:r>
              <a:rPr lang="en-US" altLang="zh-TW" dirty="0"/>
              <a:t>Selenium offers flexibility that is unseen in many other test automation tools and frameworks. </a:t>
            </a:r>
          </a:p>
          <a:p>
            <a:r>
              <a:rPr lang="en-US" altLang="zh-TW" dirty="0"/>
              <a:t>Users can write test scripts in many </a:t>
            </a:r>
            <a:r>
              <a:rPr lang="en-US" altLang="zh-TW" dirty="0" err="1"/>
              <a:t>differents</a:t>
            </a:r>
            <a:r>
              <a:rPr lang="en-US" altLang="zh-TW" dirty="0"/>
              <a:t> languages (such as Java, Groovy, Python, C#, PHP, Ruby, and Perl) that run on multiple system environments (Windows, Mac, Linux) and browsers (Chrome, Firefox, IE, and Headless browsers).</a:t>
            </a:r>
            <a:endParaRPr lang="zh-TW" altLang="en-US" dirty="0"/>
          </a:p>
        </p:txBody>
      </p:sp>
      <p:pic>
        <p:nvPicPr>
          <p:cNvPr id="1026" name="Picture 2">
            <a:extLst>
              <a:ext uri="{FF2B5EF4-FFF2-40B4-BE49-F238E27FC236}">
                <a16:creationId xmlns:a16="http://schemas.microsoft.com/office/drawing/2014/main" id="{472DA76A-C604-4FA0-BFB6-EAEDEE9825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6902" y="548324"/>
            <a:ext cx="6715027" cy="9591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79484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5064CDF-F0CA-4E4B-9E4B-36B46E30BF72}"/>
              </a:ext>
            </a:extLst>
          </p:cNvPr>
          <p:cNvSpPr>
            <a:spLocks noGrp="1"/>
          </p:cNvSpPr>
          <p:nvPr>
            <p:ph type="title"/>
          </p:nvPr>
        </p:nvSpPr>
        <p:spPr/>
        <p:txBody>
          <a:bodyPr/>
          <a:lstStyle/>
          <a:p>
            <a:r>
              <a:rPr lang="en-US" altLang="zh-TW" dirty="0"/>
              <a:t>2.</a:t>
            </a:r>
            <a:r>
              <a:rPr lang="en-US" altLang="zh-TW" b="1" dirty="0"/>
              <a:t>  </a:t>
            </a:r>
            <a:r>
              <a:rPr lang="en-US" altLang="zh-TW" b="1" dirty="0" err="1"/>
              <a:t>Katalon</a:t>
            </a:r>
            <a:r>
              <a:rPr lang="en-US" altLang="zh-TW" b="1" dirty="0"/>
              <a:t> Studio</a:t>
            </a:r>
            <a:endParaRPr lang="zh-TW" altLang="en-US" dirty="0"/>
          </a:p>
        </p:txBody>
      </p:sp>
      <p:sp>
        <p:nvSpPr>
          <p:cNvPr id="3" name="內容版面配置區 2">
            <a:extLst>
              <a:ext uri="{FF2B5EF4-FFF2-40B4-BE49-F238E27FC236}">
                <a16:creationId xmlns:a16="http://schemas.microsoft.com/office/drawing/2014/main" id="{04A68053-814B-4DDB-ADB1-ACA0768E9DA9}"/>
              </a:ext>
            </a:extLst>
          </p:cNvPr>
          <p:cNvSpPr>
            <a:spLocks noGrp="1"/>
          </p:cNvSpPr>
          <p:nvPr>
            <p:ph idx="1"/>
          </p:nvPr>
        </p:nvSpPr>
        <p:spPr/>
        <p:txBody>
          <a:bodyPr/>
          <a:lstStyle/>
          <a:p>
            <a:r>
              <a:rPr lang="en-US" altLang="zh-TW" dirty="0"/>
              <a:t>Leveraging Selenium and Appium engines, </a:t>
            </a:r>
            <a:r>
              <a:rPr lang="en-US" altLang="zh-TW" dirty="0" err="1"/>
              <a:t>Katalon</a:t>
            </a:r>
            <a:r>
              <a:rPr lang="en-US" altLang="zh-TW" dirty="0"/>
              <a:t> Studio provides a uniquely integrated environment for testers who find difficulties in integrating and deploying different frameworks and libraries to use Selenium and Appium, as well as those who are already familiar with these engines.</a:t>
            </a:r>
            <a:endParaRPr lang="zh-TW" altLang="en-US" dirty="0"/>
          </a:p>
        </p:txBody>
      </p:sp>
      <p:pic>
        <p:nvPicPr>
          <p:cNvPr id="2050" name="Picture 2">
            <a:extLst>
              <a:ext uri="{FF2B5EF4-FFF2-40B4-BE49-F238E27FC236}">
                <a16:creationId xmlns:a16="http://schemas.microsoft.com/office/drawing/2014/main" id="{229DA954-9EC3-4252-A1E5-BD740FFC7F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33914" y="525433"/>
            <a:ext cx="7035538" cy="10049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87391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6031510-E568-434A-A969-EB69A7584492}"/>
              </a:ext>
            </a:extLst>
          </p:cNvPr>
          <p:cNvSpPr>
            <a:spLocks noGrp="1"/>
          </p:cNvSpPr>
          <p:nvPr>
            <p:ph type="title"/>
          </p:nvPr>
        </p:nvSpPr>
        <p:spPr/>
        <p:txBody>
          <a:bodyPr/>
          <a:lstStyle/>
          <a:p>
            <a:r>
              <a:rPr lang="en-US" altLang="zh-TW" b="1" dirty="0"/>
              <a:t>3.UFT</a:t>
            </a:r>
          </a:p>
        </p:txBody>
      </p:sp>
      <p:sp>
        <p:nvSpPr>
          <p:cNvPr id="3" name="內容版面配置區 2">
            <a:extLst>
              <a:ext uri="{FF2B5EF4-FFF2-40B4-BE49-F238E27FC236}">
                <a16:creationId xmlns:a16="http://schemas.microsoft.com/office/drawing/2014/main" id="{9BDB978C-5E54-4F64-92B8-C4C67168C70E}"/>
              </a:ext>
            </a:extLst>
          </p:cNvPr>
          <p:cNvSpPr>
            <a:spLocks noGrp="1"/>
          </p:cNvSpPr>
          <p:nvPr>
            <p:ph idx="1"/>
          </p:nvPr>
        </p:nvSpPr>
        <p:spPr/>
        <p:txBody>
          <a:bodyPr/>
          <a:lstStyle/>
          <a:p>
            <a:pPr marL="0" indent="0">
              <a:buNone/>
            </a:pPr>
            <a:r>
              <a:rPr lang="en-US" altLang="zh-TW" dirty="0"/>
              <a:t>Several highlights of the tool that support API testing:</a:t>
            </a:r>
          </a:p>
          <a:p>
            <a:r>
              <a:rPr lang="en-US" altLang="zh-TW" dirty="0"/>
              <a:t>Intuitive user interface for creating, executing, and reporting API tests</a:t>
            </a:r>
          </a:p>
          <a:p>
            <a:r>
              <a:rPr lang="en-US" altLang="zh-TW" dirty="0"/>
              <a:t>Support generating API tests from WADL documents</a:t>
            </a:r>
          </a:p>
          <a:p>
            <a:r>
              <a:rPr lang="en-US" altLang="zh-TW" dirty="0"/>
              <a:t>Tests’ actions, activities, and parameters can be visualized in diagrams</a:t>
            </a:r>
          </a:p>
        </p:txBody>
      </p:sp>
      <p:pic>
        <p:nvPicPr>
          <p:cNvPr id="3074" name="Picture 2">
            <a:extLst>
              <a:ext uri="{FF2B5EF4-FFF2-40B4-BE49-F238E27FC236}">
                <a16:creationId xmlns:a16="http://schemas.microsoft.com/office/drawing/2014/main" id="{E61D4BF9-0493-46BE-86EC-4144153995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47793" y="365125"/>
            <a:ext cx="7497452" cy="1070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30865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F2896EB-5E74-4893-9ABA-679D21D43A40}"/>
              </a:ext>
            </a:extLst>
          </p:cNvPr>
          <p:cNvSpPr>
            <a:spLocks noGrp="1"/>
          </p:cNvSpPr>
          <p:nvPr>
            <p:ph type="title"/>
          </p:nvPr>
        </p:nvSpPr>
        <p:spPr/>
        <p:txBody>
          <a:bodyPr/>
          <a:lstStyle/>
          <a:p>
            <a:r>
              <a:rPr lang="zh-TW" altLang="en-US" dirty="0"/>
              <a:t>參考資料</a:t>
            </a:r>
          </a:p>
        </p:txBody>
      </p:sp>
      <p:sp>
        <p:nvSpPr>
          <p:cNvPr id="3" name="內容版面配置區 2">
            <a:extLst>
              <a:ext uri="{FF2B5EF4-FFF2-40B4-BE49-F238E27FC236}">
                <a16:creationId xmlns:a16="http://schemas.microsoft.com/office/drawing/2014/main" id="{462038EA-030C-4BEB-9713-40986886EB5B}"/>
              </a:ext>
            </a:extLst>
          </p:cNvPr>
          <p:cNvSpPr>
            <a:spLocks noGrp="1"/>
          </p:cNvSpPr>
          <p:nvPr>
            <p:ph idx="1"/>
          </p:nvPr>
        </p:nvSpPr>
        <p:spPr>
          <a:xfrm>
            <a:off x="838200" y="1825624"/>
            <a:ext cx="10515600" cy="4876833"/>
          </a:xfrm>
        </p:spPr>
        <p:txBody>
          <a:bodyPr>
            <a:normAutofit/>
          </a:bodyPr>
          <a:lstStyle/>
          <a:p>
            <a:r>
              <a:rPr lang="en-US" altLang="zh-TW" dirty="0">
                <a:solidFill>
                  <a:schemeClr val="accent1">
                    <a:lumMod val="75000"/>
                  </a:schemeClr>
                </a:solidFill>
                <a:hlinkClick r:id="rId2">
                  <a:extLst>
                    <a:ext uri="{A12FA001-AC4F-418D-AE19-62706E023703}">
                      <ahyp:hlinkClr xmlns:ahyp="http://schemas.microsoft.com/office/drawing/2018/hyperlinkcolor" val="tx"/>
                    </a:ext>
                  </a:extLst>
                </a:hlinkClick>
              </a:rPr>
              <a:t>Q1:https://www.researchandmarkets.com/reports/4841326/automation-testing-market-by-component-testing</a:t>
            </a:r>
            <a:endParaRPr lang="en-US" altLang="zh-TW" dirty="0">
              <a:solidFill>
                <a:schemeClr val="accent1">
                  <a:lumMod val="75000"/>
                </a:schemeClr>
              </a:solidFill>
              <a:hlinkClick r:id="rId3">
                <a:extLst>
                  <a:ext uri="{A12FA001-AC4F-418D-AE19-62706E023703}">
                    <ahyp:hlinkClr xmlns:ahyp="http://schemas.microsoft.com/office/drawing/2018/hyperlinkcolor" val="tx"/>
                  </a:ext>
                </a:extLst>
              </a:hlinkClick>
            </a:endParaRPr>
          </a:p>
          <a:p>
            <a:r>
              <a:rPr lang="en-US" altLang="zh-TW" dirty="0">
                <a:solidFill>
                  <a:schemeClr val="accent1">
                    <a:lumMod val="75000"/>
                  </a:schemeClr>
                </a:solidFill>
                <a:hlinkClick r:id="rId3">
                  <a:extLst>
                    <a:ext uri="{A12FA001-AC4F-418D-AE19-62706E023703}">
                      <ahyp:hlinkClr xmlns:ahyp="http://schemas.microsoft.com/office/drawing/2018/hyperlinkcolor" val="tx"/>
                    </a:ext>
                  </a:extLst>
                </a:hlinkClick>
              </a:rPr>
              <a:t>Q2:https://www.technavio.com/report/software-testing-services-market-industry-analysis</a:t>
            </a:r>
            <a:endParaRPr lang="en-US" altLang="zh-TW" dirty="0">
              <a:solidFill>
                <a:schemeClr val="accent1">
                  <a:lumMod val="75000"/>
                </a:schemeClr>
              </a:solidFill>
            </a:endParaRPr>
          </a:p>
          <a:p>
            <a:r>
              <a:rPr lang="en-US" altLang="zh-TW" dirty="0">
                <a:solidFill>
                  <a:schemeClr val="accent1">
                    <a:lumMod val="75000"/>
                  </a:schemeClr>
                </a:solidFill>
                <a:hlinkClick r:id="rId4">
                  <a:extLst>
                    <a:ext uri="{A12FA001-AC4F-418D-AE19-62706E023703}">
                      <ahyp:hlinkClr xmlns:ahyp="http://schemas.microsoft.com/office/drawing/2018/hyperlinkcolor" val="tx"/>
                    </a:ext>
                  </a:extLst>
                </a:hlinkClick>
              </a:rPr>
              <a:t>Q3:https://enlyft.com/tech/software-testing-tools/</a:t>
            </a:r>
            <a:endParaRPr lang="en-US" altLang="zh-TW" dirty="0">
              <a:solidFill>
                <a:schemeClr val="accent1">
                  <a:lumMod val="75000"/>
                </a:schemeClr>
              </a:solidFill>
            </a:endParaRPr>
          </a:p>
          <a:p>
            <a:r>
              <a:rPr lang="en-US" altLang="zh-TW" dirty="0">
                <a:solidFill>
                  <a:schemeClr val="accent1">
                    <a:lumMod val="75000"/>
                  </a:schemeClr>
                </a:solidFill>
                <a:hlinkClick r:id="rId5">
                  <a:extLst>
                    <a:ext uri="{A12FA001-AC4F-418D-AE19-62706E023703}">
                      <ahyp:hlinkClr xmlns:ahyp="http://schemas.microsoft.com/office/drawing/2018/hyperlinkcolor" val="tx"/>
                    </a:ext>
                  </a:extLst>
                </a:hlinkClick>
              </a:rPr>
              <a:t>Q4:https://www.softwaretestinghelp.com/performance-testing-service-providers/</a:t>
            </a:r>
            <a:endParaRPr lang="en-US" altLang="zh-TW" dirty="0">
              <a:solidFill>
                <a:schemeClr val="accent1">
                  <a:lumMod val="75000"/>
                </a:schemeClr>
              </a:solidFill>
            </a:endParaRPr>
          </a:p>
          <a:p>
            <a:r>
              <a:rPr lang="en-US" altLang="zh-TW" dirty="0">
                <a:solidFill>
                  <a:schemeClr val="accent1">
                    <a:lumMod val="75000"/>
                  </a:schemeClr>
                </a:solidFill>
                <a:hlinkClick r:id="rId6">
                  <a:extLst>
                    <a:ext uri="{A12FA001-AC4F-418D-AE19-62706E023703}">
                      <ahyp:hlinkClr xmlns:ahyp="http://schemas.microsoft.com/office/drawing/2018/hyperlinkcolor" val="tx"/>
                    </a:ext>
                  </a:extLst>
                </a:hlinkClick>
              </a:rPr>
              <a:t>Q5:https://medium.com/@briananderson2209/best-automation-testing-tools-for-2018-top-10-reviews-8a4a19f664d2</a:t>
            </a:r>
            <a:endParaRPr lang="en-US" altLang="zh-TW" dirty="0">
              <a:solidFill>
                <a:schemeClr val="accent1">
                  <a:lumMod val="75000"/>
                </a:schemeClr>
              </a:solidFill>
            </a:endParaRPr>
          </a:p>
          <a:p>
            <a:endParaRPr lang="zh-TW" altLang="en-US" dirty="0">
              <a:solidFill>
                <a:schemeClr val="accent1">
                  <a:lumMod val="75000"/>
                </a:schemeClr>
              </a:solidFill>
            </a:endParaRPr>
          </a:p>
        </p:txBody>
      </p:sp>
    </p:spTree>
    <p:extLst>
      <p:ext uri="{BB962C8B-B14F-4D97-AF65-F5344CB8AC3E}">
        <p14:creationId xmlns:p14="http://schemas.microsoft.com/office/powerpoint/2010/main" val="2097928649"/>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TotalTime>
  <Words>354</Words>
  <Application>Microsoft Office PowerPoint</Application>
  <PresentationFormat>寬螢幕</PresentationFormat>
  <Paragraphs>56</Paragraphs>
  <Slides>13</Slides>
  <Notes>0</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13</vt:i4>
      </vt:variant>
    </vt:vector>
  </HeadingPairs>
  <TitlesOfParts>
    <vt:vector size="17" baseType="lpstr">
      <vt:lpstr>Arial</vt:lpstr>
      <vt:lpstr>Calibri</vt:lpstr>
      <vt:lpstr>Calibri Light</vt:lpstr>
      <vt:lpstr>Office 佈景主題</vt:lpstr>
      <vt:lpstr>測試市場市場報告</vt:lpstr>
      <vt:lpstr> 1. 一年軟體測試全球總預算？ 包含外包、內部的預算</vt:lpstr>
      <vt:lpstr>2. 軟體測試產業成長趨勢與動能？</vt:lpstr>
      <vt:lpstr>3. 一年軟體測試工具（含web、android、ios）市場規模多少？</vt:lpstr>
      <vt:lpstr>4. 一年各測試服務（testing services）公司的市場規模？</vt:lpstr>
      <vt:lpstr>PowerPoint 簡報</vt:lpstr>
      <vt:lpstr>PowerPoint 簡報</vt:lpstr>
      <vt:lpstr>PowerPoint 簡報</vt:lpstr>
      <vt:lpstr>5. 市場上web、android、ios測試工具的功能？</vt:lpstr>
      <vt:lpstr>1. Selenium</vt:lpstr>
      <vt:lpstr>2.  Katalon Studio</vt:lpstr>
      <vt:lpstr>3.UFT</vt:lpstr>
      <vt:lpstr>參考資料</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wang</dc:creator>
  <cp:lastModifiedBy>wang</cp:lastModifiedBy>
  <cp:revision>8</cp:revision>
  <dcterms:created xsi:type="dcterms:W3CDTF">2019-10-11T08:58:48Z</dcterms:created>
  <dcterms:modified xsi:type="dcterms:W3CDTF">2019-10-11T10:48:20Z</dcterms:modified>
</cp:coreProperties>
</file>