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59f328bb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159f328bb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14163754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14163754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416375447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141637544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5e6f338d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15e6f338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e747a169e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e747a169e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e747a169e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0e747a169e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67f2eddd2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67f2eddd2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0e747a169e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0e747a169e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e747a169e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0e747a169e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0e747a169e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0e747a169e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f357b6fc0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f357b6fc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e747a169e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e747a169e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e747a169e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e747a169e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f357b6fc0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f357b6fc0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67f2eddd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67f2eddd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41637544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141637544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41637544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141637544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416375447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1416375447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41637544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141637544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141637544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141637544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11921094@ntu.edu.tw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ppunit.sourceforge.net/doc/cvs/index.html" TargetMode="External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covr.com/en/stable/index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ppunit.sourceforge.net/doc/cvs/group___assertions.html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comp.nus.edu.sg/~cs3201/Tools-Lab/cppuni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1 -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Unit Testing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CppUnit &amp; Gcovr</a:t>
            </a:r>
            <a:endParaRPr/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67800" y="3899425"/>
            <a:ext cx="3452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TA:劉宗翰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Email:</a:t>
            </a:r>
            <a:r>
              <a:rPr lang="zh-TW" sz="11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r11921094@ntu.edu.tw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Software Testing and Security Checking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Department of EE, National Taiwan University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Unit Test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White-box </a:t>
            </a:r>
            <a:r>
              <a:rPr lang="zh-TW" sz="1500"/>
              <a:t>testing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For the quality assurance(QA) of a unit part of a program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A must step before submitting a unit to a big project</a:t>
            </a:r>
            <a:endParaRPr sz="1500"/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CppUnit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>
                <a:highlight>
                  <a:srgbClr val="FFFFFF"/>
                </a:highlight>
              </a:rPr>
              <a:t>The C++ port of the famous JUnit framework for unit testing</a:t>
            </a:r>
            <a:endParaRPr sz="1500"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>
                <a:highlight>
                  <a:srgbClr val="FFFFFF"/>
                </a:highlight>
              </a:rPr>
              <a:t>Started around 2000 by Michael Feathers</a:t>
            </a:r>
            <a:endParaRPr sz="1500"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>
                <a:highlight>
                  <a:srgbClr val="FFFFFF"/>
                </a:highlight>
              </a:rPr>
              <a:t>A </a:t>
            </a:r>
            <a:r>
              <a:rPr lang="zh-TW" sz="1500">
                <a:highlight>
                  <a:srgbClr val="FFFFFF"/>
                </a:highlight>
              </a:rPr>
              <a:t>defacto standard of  C++ unit testing package</a:t>
            </a:r>
            <a:endParaRPr sz="1500"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 u="sng">
                <a:solidFill>
                  <a:schemeClr val="hlink"/>
                </a:solidFill>
                <a:hlinkClick r:id="rId3"/>
              </a:rPr>
              <a:t>https://cppunit.sourceforge.net/doc/cvs/index.html</a:t>
            </a:r>
            <a:endParaRPr sz="1500">
              <a:highlight>
                <a:srgbClr val="FFFFFF"/>
              </a:highlight>
            </a:endParaRPr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300" y="3210875"/>
            <a:ext cx="4196875" cy="19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Gcovr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Generate GCC code coverage </a:t>
            </a:r>
            <a:r>
              <a:rPr lang="zh-TW" sz="1500"/>
              <a:t>reports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Gcovr provides a utility for managing the use of the GNU gcov utility and generating summarized code coverage results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use special compiler options to compile enables gcovr to analyze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https://gcovr.com/en/stable/index.html</a:t>
            </a:r>
            <a:endParaRPr sz="1500"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999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Implementing Test Framework with CppUnit</a:t>
            </a:r>
            <a:endParaRPr/>
          </a:p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7650" y="20263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Design your test cases in </a:t>
            </a:r>
            <a:r>
              <a:rPr b="1" lang="zh-TW" sz="1500">
                <a:solidFill>
                  <a:schemeClr val="accent5"/>
                </a:solidFill>
              </a:rPr>
              <a:t>TestFixture</a:t>
            </a:r>
            <a:endParaRPr b="1" sz="1500">
              <a:solidFill>
                <a:schemeClr val="accent5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zh-TW" sz="1300"/>
              <a:t>test under specific scenario whether it has expected result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Add test cases to your </a:t>
            </a:r>
            <a:r>
              <a:rPr b="1" lang="zh-TW" sz="1500">
                <a:solidFill>
                  <a:schemeClr val="accent5"/>
                </a:solidFill>
              </a:rPr>
              <a:t>TestSuite</a:t>
            </a:r>
            <a:endParaRPr b="1" sz="1500">
              <a:solidFill>
                <a:schemeClr val="accent5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zh-TW" sz="1300"/>
              <a:t>usually combine related test cases into one test suite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Regist </a:t>
            </a:r>
            <a:r>
              <a:rPr b="1" lang="zh-TW" sz="1500">
                <a:solidFill>
                  <a:schemeClr val="accent5"/>
                </a:solidFill>
              </a:rPr>
              <a:t>TestSuite</a:t>
            </a:r>
            <a:r>
              <a:rPr lang="zh-TW" sz="1500"/>
              <a:t> to </a:t>
            </a:r>
            <a:r>
              <a:rPr b="1" lang="zh-TW" sz="1500">
                <a:solidFill>
                  <a:schemeClr val="accent5"/>
                </a:solidFill>
              </a:rPr>
              <a:t>TestFactoryRegistry</a:t>
            </a:r>
            <a:endParaRPr b="1" sz="1500">
              <a:solidFill>
                <a:schemeClr val="accent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Add </a:t>
            </a:r>
            <a:r>
              <a:rPr b="1" lang="zh-TW" sz="1500">
                <a:solidFill>
                  <a:schemeClr val="accent5"/>
                </a:solidFill>
              </a:rPr>
              <a:t>TestSuite </a:t>
            </a:r>
            <a:r>
              <a:rPr lang="zh-TW" sz="1500"/>
              <a:t>from </a:t>
            </a:r>
            <a:r>
              <a:rPr b="1" lang="zh-TW" sz="1500">
                <a:solidFill>
                  <a:schemeClr val="accent5"/>
                </a:solidFill>
              </a:rPr>
              <a:t>TestFactoryRegistry</a:t>
            </a:r>
            <a:r>
              <a:rPr lang="zh-TW" sz="1500"/>
              <a:t> to </a:t>
            </a:r>
            <a:r>
              <a:rPr b="1" lang="zh-TW" sz="1500">
                <a:solidFill>
                  <a:schemeClr val="accent5"/>
                </a:solidFill>
              </a:rPr>
              <a:t>TestRunne</a:t>
            </a:r>
            <a:r>
              <a:rPr b="1" lang="zh-TW" sz="1500">
                <a:solidFill>
                  <a:schemeClr val="accent5"/>
                </a:solidFill>
              </a:rPr>
              <a:t>r</a:t>
            </a:r>
            <a:endParaRPr b="1" sz="1500">
              <a:solidFill>
                <a:schemeClr val="accent5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Invoke </a:t>
            </a:r>
            <a:r>
              <a:rPr b="1" lang="zh-TW" sz="1500">
                <a:solidFill>
                  <a:schemeClr val="accent5"/>
                </a:solidFill>
              </a:rPr>
              <a:t>TestRunner::run() </a:t>
            </a:r>
            <a:r>
              <a:rPr lang="zh-TW" sz="1500"/>
              <a:t>to run the testing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Compile and Run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TestFixture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U</a:t>
            </a:r>
            <a:r>
              <a:rPr lang="zh-TW" sz="1500"/>
              <a:t>sed to provide a common environment for a set of test cases</a:t>
            </a:r>
            <a:endParaRPr sz="1500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2948763"/>
            <a:ext cx="38862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1838" y="2439163"/>
            <a:ext cx="4200525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 Cases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How to write and invoke individual tests using a fixture?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Write the test cases as a method in the fixture class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Create a </a:t>
            </a:r>
            <a:r>
              <a:rPr b="1" lang="zh-TW" sz="1300">
                <a:solidFill>
                  <a:srgbClr val="1C4587"/>
                </a:solidFill>
              </a:rPr>
              <a:t>TestCaller</a:t>
            </a:r>
            <a:r>
              <a:rPr lang="zh-TW" sz="1300"/>
              <a:t> which runs that particular method</a:t>
            </a:r>
            <a:endParaRPr sz="1300"/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2535920" y="2953627"/>
            <a:ext cx="4072145" cy="2189867"/>
            <a:chOff x="5971025" y="1853847"/>
            <a:chExt cx="3113975" cy="1619126"/>
          </a:xfrm>
        </p:grpSpPr>
        <p:pic>
          <p:nvPicPr>
            <p:cNvPr id="135" name="Google Shape;135;p19"/>
            <p:cNvPicPr preferRelativeResize="0"/>
            <p:nvPr/>
          </p:nvPicPr>
          <p:blipFill rotWithShape="1">
            <a:blip r:embed="rId3">
              <a:alphaModFix/>
            </a:blip>
            <a:srcRect b="84932" l="0" r="0" t="0"/>
            <a:stretch/>
          </p:blipFill>
          <p:spPr>
            <a:xfrm>
              <a:off x="5971025" y="1853847"/>
              <a:ext cx="3113975" cy="455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9"/>
            <p:cNvPicPr preferRelativeResize="0"/>
            <p:nvPr/>
          </p:nvPicPr>
          <p:blipFill rotWithShape="1">
            <a:blip r:embed="rId3">
              <a:alphaModFix/>
            </a:blip>
            <a:srcRect b="0" l="0" r="0" t="61560"/>
            <a:stretch/>
          </p:blipFill>
          <p:spPr>
            <a:xfrm>
              <a:off x="5971025" y="2309798"/>
              <a:ext cx="3113975" cy="11631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9"/>
          <p:cNvSpPr txBox="1"/>
          <p:nvPr/>
        </p:nvSpPr>
        <p:spPr>
          <a:xfrm>
            <a:off x="6673925" y="3771500"/>
            <a:ext cx="235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Test functions in </a:t>
            </a:r>
            <a:r>
              <a:rPr b="1" lang="zh-TW" sz="1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TestFixture</a:t>
            </a:r>
            <a:endParaRPr b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 Cases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How to write and invoke individual tests using a fixture?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Write the test cases as a method in the fixture class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Create a </a:t>
            </a:r>
            <a:r>
              <a:rPr b="1" lang="zh-TW" sz="1300">
                <a:solidFill>
                  <a:srgbClr val="1C4587"/>
                </a:solidFill>
              </a:rPr>
              <a:t>TestCaller</a:t>
            </a:r>
            <a:r>
              <a:rPr lang="zh-TW" sz="1300"/>
              <a:t> which runs that particular method</a:t>
            </a:r>
            <a:endParaRPr sz="1300"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863" y="3342100"/>
            <a:ext cx="7161874" cy="76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3259050" y="4339975"/>
            <a:ext cx="262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b="1" lang="zh-TW" sz="1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TestCaller</a:t>
            </a: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in main function 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Assertions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Verification statement as a function call to CppUnit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CppUnit also provides some useful assertions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 u="sng">
                <a:solidFill>
                  <a:schemeClr val="hlink"/>
                </a:solidFill>
                <a:hlinkClick r:id="rId3"/>
              </a:rPr>
              <a:t>https://cppunit.sourceforge.net/doc/cvs/group___assertions.html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4">
            <a:alphaModFix/>
          </a:blip>
          <a:srcRect b="0" l="0" r="0" t="13005"/>
          <a:stretch/>
        </p:blipFill>
        <p:spPr>
          <a:xfrm>
            <a:off x="3798425" y="3054350"/>
            <a:ext cx="4930876" cy="201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TestSuite</a:t>
            </a:r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</a:t>
            </a:r>
            <a:r>
              <a:rPr lang="zh-TW" sz="1500"/>
              <a:t>et up tests so that </a:t>
            </a:r>
            <a:r>
              <a:rPr lang="zh-TW" sz="1500"/>
              <a:t>you can run them all at once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Combine together into one </a:t>
            </a:r>
            <a:r>
              <a:rPr b="1" lang="zh-TW" sz="1500">
                <a:solidFill>
                  <a:schemeClr val="accent5"/>
                </a:solidFill>
              </a:rPr>
              <a:t>TestSuite</a:t>
            </a:r>
            <a:endParaRPr b="1" sz="1500">
              <a:solidFill>
                <a:schemeClr val="accent5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50" y="3242825"/>
            <a:ext cx="4833725" cy="13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325" y="3416288"/>
            <a:ext cx="4000675" cy="103411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1290127" y="4762000"/>
            <a:ext cx="29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 test cases to TestSuite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837463" y="4565000"/>
            <a:ext cx="26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Combine multiple suites into one suite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TestRunner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821675" y="2068750"/>
            <a:ext cx="3371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</a:t>
            </a:r>
            <a:r>
              <a:rPr lang="zh-TW" sz="1500"/>
              <a:t>un suite and collect the results </a:t>
            </a:r>
            <a:endParaRPr sz="1500"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00" y="3235325"/>
            <a:ext cx="6127333" cy="167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23"/>
          <p:cNvGrpSpPr/>
          <p:nvPr/>
        </p:nvGrpSpPr>
        <p:grpSpPr>
          <a:xfrm>
            <a:off x="4369827" y="1084101"/>
            <a:ext cx="4622726" cy="1671095"/>
            <a:chOff x="4825600" y="1175250"/>
            <a:chExt cx="4259400" cy="1343000"/>
          </a:xfrm>
        </p:grpSpPr>
        <p:pic>
          <p:nvPicPr>
            <p:cNvPr id="174" name="Google Shape;174;p23"/>
            <p:cNvPicPr preferRelativeResize="0"/>
            <p:nvPr/>
          </p:nvPicPr>
          <p:blipFill rotWithShape="1">
            <a:blip r:embed="rId4">
              <a:alphaModFix/>
            </a:blip>
            <a:srcRect b="0" l="0" r="3138" t="46357"/>
            <a:stretch/>
          </p:blipFill>
          <p:spPr>
            <a:xfrm>
              <a:off x="4825600" y="1583175"/>
              <a:ext cx="4125799" cy="93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3"/>
            <p:cNvPicPr preferRelativeResize="0"/>
            <p:nvPr/>
          </p:nvPicPr>
          <p:blipFill rotWithShape="1">
            <a:blip r:embed="rId4">
              <a:alphaModFix/>
            </a:blip>
            <a:srcRect b="76598" l="0" r="0" t="0"/>
            <a:stretch/>
          </p:blipFill>
          <p:spPr>
            <a:xfrm>
              <a:off x="4825600" y="1175250"/>
              <a:ext cx="4259400" cy="407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6663800" y="3886225"/>
            <a:ext cx="216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Implement </a:t>
            </a:r>
            <a:r>
              <a:rPr b="1" lang="zh-TW" sz="1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TestSuite </a:t>
            </a: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 the test class 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953488" y="2802813"/>
            <a:ext cx="34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 two suites to </a:t>
            </a:r>
            <a:r>
              <a:rPr b="1" lang="zh-TW" sz="1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TestRunner</a:t>
            </a: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run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Helper Macros</a:t>
            </a:r>
            <a:endParaRPr/>
          </a:p>
        </p:txBody>
      </p:sp>
      <p:pic>
        <p:nvPicPr>
          <p:cNvPr id="184" name="Google Shape;18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413" y="2853175"/>
            <a:ext cx="6183175" cy="1686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24"/>
          <p:cNvGrpSpPr/>
          <p:nvPr/>
        </p:nvGrpSpPr>
        <p:grpSpPr>
          <a:xfrm>
            <a:off x="4885025" y="1318640"/>
            <a:ext cx="3398137" cy="877225"/>
            <a:chOff x="4715675" y="3764090"/>
            <a:chExt cx="3398137" cy="877225"/>
          </a:xfrm>
        </p:grpSpPr>
        <p:pic>
          <p:nvPicPr>
            <p:cNvPr id="186" name="Google Shape;186;p24"/>
            <p:cNvPicPr preferRelativeResize="0"/>
            <p:nvPr/>
          </p:nvPicPr>
          <p:blipFill rotWithShape="1">
            <a:blip r:embed="rId4">
              <a:alphaModFix/>
            </a:blip>
            <a:srcRect b="0" l="-1626" r="0" t="83524"/>
            <a:stretch/>
          </p:blipFill>
          <p:spPr>
            <a:xfrm>
              <a:off x="4715675" y="4394940"/>
              <a:ext cx="3397550" cy="24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4"/>
            <p:cNvPicPr preferRelativeResize="0"/>
            <p:nvPr/>
          </p:nvPicPr>
          <p:blipFill rotWithShape="1">
            <a:blip r:embed="rId4">
              <a:alphaModFix/>
            </a:blip>
            <a:srcRect b="37334" l="0" r="1661" t="36954"/>
            <a:stretch/>
          </p:blipFill>
          <p:spPr>
            <a:xfrm>
              <a:off x="4770538" y="4010472"/>
              <a:ext cx="3287825" cy="38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4"/>
            <p:cNvPicPr preferRelativeResize="0"/>
            <p:nvPr/>
          </p:nvPicPr>
          <p:blipFill rotWithShape="1">
            <a:blip r:embed="rId4">
              <a:alphaModFix/>
            </a:blip>
            <a:srcRect b="83524" l="0" r="0" t="0"/>
            <a:stretch/>
          </p:blipFill>
          <p:spPr>
            <a:xfrm>
              <a:off x="4770538" y="3764090"/>
              <a:ext cx="3343275" cy="2463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729450" y="2078875"/>
            <a:ext cx="4587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Shorten the code</a:t>
            </a:r>
            <a:endParaRPr sz="1500"/>
          </a:p>
        </p:txBody>
      </p:sp>
      <p:sp>
        <p:nvSpPr>
          <p:cNvPr id="191" name="Google Shape;191;p24"/>
          <p:cNvSpPr txBox="1"/>
          <p:nvPr/>
        </p:nvSpPr>
        <p:spPr>
          <a:xfrm>
            <a:off x="2817438" y="4665550"/>
            <a:ext cx="35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Suites implementation in the test class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5116650" y="2232025"/>
            <a:ext cx="293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 test suite implementation equivalent to below </a:t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TestFactoryRegistry</a:t>
            </a:r>
            <a:endParaRPr/>
          </a:p>
        </p:txBody>
      </p:sp>
      <p:sp>
        <p:nvSpPr>
          <p:cNvPr id="198" name="Google Shape;198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Store fixture suite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Register fixture suites at initialization time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Created to solve two pitfalls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forget to add your fixture suite to the test runner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compilation bottleneck caused by the inclusion of all test case headers</a:t>
            </a:r>
            <a:endParaRPr sz="1500"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63" y="1494600"/>
            <a:ext cx="4727325" cy="584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5"/>
          <p:cNvGrpSpPr/>
          <p:nvPr/>
        </p:nvGrpSpPr>
        <p:grpSpPr>
          <a:xfrm>
            <a:off x="909269" y="3403367"/>
            <a:ext cx="5804962" cy="1740072"/>
            <a:chOff x="3764250" y="3402350"/>
            <a:chExt cx="5300851" cy="1677825"/>
          </a:xfrm>
        </p:grpSpPr>
        <p:pic>
          <p:nvPicPr>
            <p:cNvPr id="201" name="Google Shape;201;p25"/>
            <p:cNvPicPr preferRelativeResize="0"/>
            <p:nvPr/>
          </p:nvPicPr>
          <p:blipFill rotWithShape="1">
            <a:blip r:embed="rId4">
              <a:alphaModFix/>
            </a:blip>
            <a:srcRect b="0" l="0" r="0" t="73951"/>
            <a:stretch/>
          </p:blipFill>
          <p:spPr>
            <a:xfrm>
              <a:off x="3764250" y="4436359"/>
              <a:ext cx="5300851" cy="643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5"/>
            <p:cNvPicPr preferRelativeResize="0"/>
            <p:nvPr/>
          </p:nvPicPr>
          <p:blipFill rotWithShape="1">
            <a:blip r:embed="rId4">
              <a:alphaModFix/>
            </a:blip>
            <a:srcRect b="43895" l="0" r="3892" t="47201"/>
            <a:stretch/>
          </p:blipFill>
          <p:spPr>
            <a:xfrm>
              <a:off x="3764250" y="4268822"/>
              <a:ext cx="5094165" cy="220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5"/>
            <p:cNvPicPr preferRelativeResize="0"/>
            <p:nvPr/>
          </p:nvPicPr>
          <p:blipFill rotWithShape="1">
            <a:blip r:embed="rId4">
              <a:alphaModFix/>
            </a:blip>
            <a:srcRect b="64943" l="0" r="0" t="0"/>
            <a:stretch/>
          </p:blipFill>
          <p:spPr>
            <a:xfrm>
              <a:off x="3764250" y="3402350"/>
              <a:ext cx="5300851" cy="8664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6805550" y="3896050"/>
            <a:ext cx="215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Lato"/>
              <a:buChar char="❏"/>
            </a:pPr>
            <a:r>
              <a:rPr lang="zh-TW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Retrieve suite from </a:t>
            </a:r>
            <a:r>
              <a:rPr b="1" lang="zh-TW" sz="1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TestFactoryRegistry</a:t>
            </a:r>
            <a:endParaRPr b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5290738" y="2202450"/>
            <a:ext cx="261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❏"/>
            </a:pPr>
            <a:r>
              <a:rPr lang="zh-TW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Regist test suite in test class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Installation</a:t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Ubuntu 20.04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this tutorial was written and tested on Ubuntu 20.04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For CppUnit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sudo apt-get install libcppunit-dev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For gcovr (line coverage tool)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sudo apt-get install gcovr</a:t>
            </a:r>
            <a:endParaRPr sz="1300"/>
          </a:p>
        </p:txBody>
      </p:sp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Example Project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Refer to </a:t>
            </a:r>
            <a:r>
              <a:rPr lang="zh-TW" sz="1500" u="sng">
                <a:solidFill>
                  <a:schemeClr val="hlink"/>
                </a:solidFill>
                <a:hlinkClick r:id="rId3"/>
              </a:rPr>
              <a:t>NUS: Crash Course in using CppUnit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Program under test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Student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zh-TW" sz="1300"/>
              <a:t>記錄修過的課程(Course)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Course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zh-TW" sz="1300"/>
              <a:t>記錄課程名稱及成績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Test cases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Student的constructor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Student成績的assign和retrieve</a:t>
            </a:r>
            <a:endParaRPr sz="1300"/>
          </a:p>
        </p:txBody>
      </p:sp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Execution Flow</a:t>
            </a:r>
            <a:endParaRPr/>
          </a:p>
        </p:txBody>
      </p:sp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4831175" y="1318650"/>
            <a:ext cx="34932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Regist suites to </a:t>
            </a:r>
            <a:r>
              <a:rPr b="1" lang="zh-TW">
                <a:solidFill>
                  <a:schemeClr val="accent5"/>
                </a:solidFill>
              </a:rPr>
              <a:t>TestFactoryRegistry</a:t>
            </a:r>
            <a:r>
              <a:rPr lang="zh-TW"/>
              <a:t> at initialization time</a:t>
            </a:r>
            <a:endParaRPr/>
          </a:p>
        </p:txBody>
      </p:sp>
      <p:sp>
        <p:nvSpPr>
          <p:cNvPr id="228" name="Google Shape;228;p28"/>
          <p:cNvSpPr/>
          <p:nvPr/>
        </p:nvSpPr>
        <p:spPr>
          <a:xfrm>
            <a:off x="4831175" y="2189925"/>
            <a:ext cx="34932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Retrieve suite from </a:t>
            </a:r>
            <a:r>
              <a:rPr b="1" lang="zh-TW">
                <a:solidFill>
                  <a:schemeClr val="accent5"/>
                </a:solidFill>
              </a:rPr>
              <a:t>TestFactoryRegistry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4831175" y="3061200"/>
            <a:ext cx="34932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Add the suite to </a:t>
            </a:r>
            <a:r>
              <a:rPr b="1" lang="zh-TW">
                <a:solidFill>
                  <a:schemeClr val="accent5"/>
                </a:solidFill>
              </a:rPr>
              <a:t>TestRunner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4831175" y="3932475"/>
            <a:ext cx="34932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accent5"/>
                </a:solidFill>
              </a:rPr>
              <a:t>TestRunner </a:t>
            </a:r>
            <a:r>
              <a:rPr lang="zh-TW"/>
              <a:t>r</a:t>
            </a:r>
            <a:r>
              <a:rPr lang="zh-TW"/>
              <a:t>un the suite and output the result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6466325" y="1879388"/>
            <a:ext cx="222900" cy="28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6466325" y="2750650"/>
            <a:ext cx="222900" cy="28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6466325" y="3621938"/>
            <a:ext cx="222900" cy="28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Compile &amp; </a:t>
            </a:r>
            <a:r>
              <a:rPr lang="zh-TW"/>
              <a:t>Run</a:t>
            </a:r>
            <a:endParaRPr/>
          </a:p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$ g++ </a:t>
            </a:r>
            <a:r>
              <a:rPr lang="zh-TW" sz="1500"/>
              <a:t>--coverage -g -O0 -o </a:t>
            </a:r>
            <a:r>
              <a:rPr lang="zh-TW" sz="1500">
                <a:solidFill>
                  <a:srgbClr val="FF0000"/>
                </a:solidFill>
              </a:rPr>
              <a:t>output_filename</a:t>
            </a:r>
            <a:r>
              <a:rPr lang="zh-TW" sz="1500"/>
              <a:t> </a:t>
            </a:r>
            <a:r>
              <a:rPr lang="zh-TW" sz="1500">
                <a:solidFill>
                  <a:srgbClr val="FF0000"/>
                </a:solidFill>
              </a:rPr>
              <a:t>[cppfiles] </a:t>
            </a:r>
            <a:r>
              <a:rPr lang="zh-TW" sz="1500"/>
              <a:t>-</a:t>
            </a:r>
            <a:r>
              <a:rPr lang="zh-TW" sz="1500"/>
              <a:t>lcppunit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coverage file(.gcno) is generated after compiling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$ ./</a:t>
            </a:r>
            <a:r>
              <a:rPr lang="zh-TW" sz="1500">
                <a:solidFill>
                  <a:srgbClr val="FF0000"/>
                </a:solidFill>
              </a:rPr>
              <a:t>output_filename</a:t>
            </a:r>
            <a:endParaRPr sz="1500">
              <a:solidFill>
                <a:srgbClr val="FF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run the executable file then the  coverage data(.gcda) is generated</a:t>
            </a:r>
            <a:endParaRPr sz="1300"/>
          </a:p>
        </p:txBody>
      </p:sp>
      <p:pic>
        <p:nvPicPr>
          <p:cNvPr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000" y="3350250"/>
            <a:ext cx="5959599" cy="168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Check Line Coverage</a:t>
            </a:r>
            <a:endParaRPr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$ gcovr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analyzing coverage data generated when compiling and running</a:t>
            </a:r>
            <a:endParaRPr sz="1300"/>
          </a:p>
        </p:txBody>
      </p:sp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700" y="2723625"/>
            <a:ext cx="6141201" cy="23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Requirement of Project1</a:t>
            </a:r>
            <a:endParaRPr/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Find an external library and do unit test on it with CppUnit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Write a report </a:t>
            </a:r>
            <a:r>
              <a:rPr lang="zh-TW" sz="1500"/>
              <a:t>specifies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testcases you designed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testing result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external library you found</a:t>
            </a:r>
            <a:endParaRPr sz="1300"/>
          </a:p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Scoring</a:t>
            </a:r>
            <a:endParaRPr/>
          </a:p>
        </p:txBody>
      </p:sp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rawScore(you) = #of bugs-found + line-coverage * log2(# of total lines of your library SUT)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# of bugs-found is at most 3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projectScore(you) = 15 * rawScore(you) / max(rawScore(anyStudents))</a:t>
            </a:r>
            <a:endParaRPr sz="1500"/>
          </a:p>
        </p:txBody>
      </p:sp>
      <p:sp>
        <p:nvSpPr>
          <p:cNvPr id="263" name="Google Shape;263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Submission</a:t>
            </a:r>
            <a:endParaRPr/>
          </a:p>
        </p:txBody>
      </p:sp>
      <p:sp>
        <p:nvSpPr>
          <p:cNvPr id="269" name="Google Shape;269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Hand in the following files to NTU COOL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the external library you found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your testing code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zh-TW" sz="1300"/>
              <a:t>report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zh-TW" sz="1500">
                <a:solidFill>
                  <a:srgbClr val="FF0000"/>
                </a:solidFill>
              </a:rPr>
              <a:t>Deadline: 2023/4/12 23:59</a:t>
            </a:r>
            <a:endParaRPr sz="1500">
              <a:solidFill>
                <a:srgbClr val="FF0000"/>
              </a:solidFill>
            </a:endParaRPr>
          </a:p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