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65" r:id="rId1"/>
  </p:sldMasterIdLst>
  <p:notesMasterIdLst>
    <p:notesMasterId r:id="rId33"/>
  </p:notesMasterIdLst>
  <p:handoutMasterIdLst>
    <p:handoutMasterId r:id="rId34"/>
  </p:handoutMasterIdLst>
  <p:sldIdLst>
    <p:sldId id="336" r:id="rId2"/>
    <p:sldId id="511" r:id="rId3"/>
    <p:sldId id="471" r:id="rId4"/>
    <p:sldId id="683" r:id="rId5"/>
    <p:sldId id="577" r:id="rId6"/>
    <p:sldId id="682" r:id="rId7"/>
    <p:sldId id="685" r:id="rId8"/>
    <p:sldId id="684" r:id="rId9"/>
    <p:sldId id="686" r:id="rId10"/>
    <p:sldId id="578" r:id="rId11"/>
    <p:sldId id="579" r:id="rId12"/>
    <p:sldId id="691" r:id="rId13"/>
    <p:sldId id="465" r:id="rId14"/>
    <p:sldId id="472" r:id="rId15"/>
    <p:sldId id="524" r:id="rId16"/>
    <p:sldId id="575" r:id="rId17"/>
    <p:sldId id="687" r:id="rId18"/>
    <p:sldId id="344" r:id="rId19"/>
    <p:sldId id="572" r:id="rId20"/>
    <p:sldId id="527" r:id="rId21"/>
    <p:sldId id="507" r:id="rId22"/>
    <p:sldId id="508" r:id="rId23"/>
    <p:sldId id="509" r:id="rId24"/>
    <p:sldId id="510" r:id="rId25"/>
    <p:sldId id="514" r:id="rId26"/>
    <p:sldId id="516" r:id="rId27"/>
    <p:sldId id="694" r:id="rId28"/>
    <p:sldId id="695" r:id="rId29"/>
    <p:sldId id="533" r:id="rId30"/>
    <p:sldId id="513" r:id="rId31"/>
    <p:sldId id="512" r:id="rId32"/>
  </p:sldIdLst>
  <p:sldSz cx="9144000" cy="6858000" type="screen4x3"/>
  <p:notesSz cx="7315200" cy="96012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1E5A"/>
    <a:srgbClr val="00FF00"/>
    <a:srgbClr val="0000CC"/>
    <a:srgbClr val="0014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31" autoAdjust="0"/>
  </p:normalViewPr>
  <p:slideViewPr>
    <p:cSldViewPr snapToGrid="0">
      <p:cViewPr varScale="1">
        <p:scale>
          <a:sx n="63" d="100"/>
          <a:sy n="63" d="100"/>
        </p:scale>
        <p:origin x="1332" y="60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370844-D1F2-4528-8D60-CB104FEA9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1327212-FB83-4062-BDF2-B8FE863CCB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5C491B-F85F-4E4E-BB04-39DAE207E2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D948304-55E0-40BF-9F11-B851D005CA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fld id="{CD99912A-0628-4823-B136-D40CC8FD1F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8A4522-0744-414F-940C-8F40FF333C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7427713-DC27-4E42-9F64-8674210A82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897707-D18B-4AAA-8675-495597139F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76509A6-258F-4163-88FF-DF596595DE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CA50831-9127-4B10-9B2F-C5798AB68D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E8E8D27-A7BE-49B8-A8D0-9041F379B0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9" tIns="48661" rIns="97319" bIns="48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45BE0C0-809B-46D8-9613-8EC0B11D680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6" name="Rectangle 8">
            <a:extLst>
              <a:ext uri="{FF2B5EF4-FFF2-40B4-BE49-F238E27FC236}">
                <a16:creationId xmlns:a16="http://schemas.microsoft.com/office/drawing/2014/main" id="{76BCECE3-F92E-4201-8E78-2AC1B296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9144000"/>
            <a:ext cx="731837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8" tIns="46983" rIns="92288" bIns="46983">
            <a:spAutoFit/>
          </a:bodyPr>
          <a:lstStyle>
            <a:lvl1pPr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400" b="0">
                <a:solidFill>
                  <a:schemeClr val="tx1"/>
                </a:solidFill>
              </a:rPr>
              <a:t>Page </a:t>
            </a:r>
            <a:fld id="{05CFF13C-2E90-46CA-BC8A-7D2958CBF6B7}" type="slidenum">
              <a:rPr lang="en-US" altLang="zh-TW" sz="1400" b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0775B91-AD1F-44C8-B7A6-194B9115BA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A334D0D-0B4B-4A1A-B9BF-B34D73B3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4674DE2-8D01-411A-BC09-BC9F0155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6ACB12E-7FF2-40E8-9945-BA387A061325}" type="slidenum">
              <a:rPr lang="en-US" altLang="zh-TW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61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153425-8468-4505-B2B4-985D19F2C509}" type="slidenum">
              <a:rPr lang="zh-TW" altLang="en-US" smtClean="0"/>
              <a:pPr>
                <a:spcBef>
                  <a:spcPct val="0"/>
                </a:spcBef>
              </a:pPr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885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862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56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35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13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5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552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27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119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705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30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88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83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3512A-C98C-4A4B-ABD1-959A9FC71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F25623-F671-4CF7-98D3-E5650ADF1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9907F5-8CA1-4290-8BF2-0EFA8DD9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ECEE8C-443F-4F98-8200-1A20A3AD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3E5AC6-BE8A-4EB2-A26D-A15DBC4F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438715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72180-86BE-4D05-A918-BB563E5C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82DE18-75EA-4E77-9769-CC7564B54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41274-CD07-4F93-B327-A90EFC80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874632-824A-42AD-930E-4F6B8029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880BDC-35AB-44D9-AE7A-4595218B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55546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5A969E-E4A3-4E93-9C6B-09C56931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8DCEBB-704A-49F1-9CFE-7ADDE0095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5769AA-7413-4F23-AD82-A58147EB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232342-6126-4931-A32E-55CA0FEE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837527-5E64-47DA-8601-99EE9867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092563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6F35B-F96B-4864-9475-AB49516E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19B4D2-0C3F-4DBB-A8BC-006437211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718853-6D8E-409E-AAFF-D1BDCFFE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5223C0-6ACD-41E5-9958-125CDD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A67934-8157-4603-8346-1151C831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85F9FB-9027-4CB4-B6E5-092DE27E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655418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68967-F9D4-4535-9B12-74967A9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61B981-51DB-4F4D-916A-553676E3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4D411E-312C-4242-8BCF-B3EC2340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86FF8F-1E86-44F7-8A94-A1F7F07B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DC3BC5-B4F7-40D8-882D-25D181FE5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3365C0-4736-4A93-8395-B1D2F561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9E2FD7C-70A3-4336-BAF2-DEAAE86F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6ECFE2-9C86-495B-9DF4-397BCBFB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676085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0DE38-CEE2-448B-BBC1-FFE8B96D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C7E0319-B63B-40AD-8FE8-C28014D8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A37CA3C-5AFE-4B3E-8025-6FC4A65B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68EF8B-1E76-4F14-AF98-0AD1A81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9892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F67C3D-9AAA-4012-895E-9E1A897F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5A284C-3E86-4F60-AE18-11CE8C6E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AF3165-DC61-4B89-8493-6B394031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304900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82D61-7B00-4CE8-A0C1-ACBB4B1C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6482E9-3FC8-4EA3-ADA9-92CB7A652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CB4A33-31E8-49F9-8555-EC2242BE4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74D361E-87B2-422B-9443-CDF3546F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3F5CA0-A75F-4A42-9F65-01AFB1BB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A30802-E468-4BC3-8A56-A09AA5BE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037397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F5B04-E852-4649-8BBB-2C608FE5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3EE4B81-EEF6-48D5-9367-C9A72601E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33EC58-38EE-41B5-937B-D595CF727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4D9403-8A88-4E72-9F6F-D500E1BF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79EAF8-0158-4ED1-B575-DEAA4792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8A3BF0-7FF6-495C-B4BC-ECB6F2EB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059905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86EA0-6D0A-4F52-A0F5-AF162E2A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8AE09D-5067-4DE8-883E-A944148B1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B2866-4697-4E70-8E2A-15563B4E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7E69D2-32B2-4130-B2CF-0B879EF5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E8E365-0814-4A54-933A-0F9636BF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230422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1B5909-D929-420D-A808-D602B7323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54491-7367-49F4-A015-3428A508E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EF7048-EF40-487D-BBD9-07909196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E4C0DC-ABF5-446C-849C-75455B68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C9620-431B-4D40-A393-5AC55AF8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990273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C69191-32F8-41AD-A03E-1DFC12F6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505798-BC9D-4317-9E15-2A79EC7C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001CD-1AE2-401F-B161-B5AFB7A2F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ED707-B6F9-40F9-8AE1-CBFD3D1FF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2693FD-F400-4F1B-BA40-65FE0AC87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169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mailto:r11921094@ntu.edu.tw" TargetMode="External"/><Relationship Id="rId4" Type="http://schemas.openxmlformats.org/officeDocument/2006/relationships/hyperlink" Target="http://cc.ee.ntu.edu.tw/~farn/courses/S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rformancelab.com.br/home" TargetMode="External"/><Relationship Id="rId3" Type="http://schemas.openxmlformats.org/officeDocument/2006/relationships/hyperlink" Target="https://www.v-cubed.net/" TargetMode="External"/><Relationship Id="rId7" Type="http://schemas.openxmlformats.org/officeDocument/2006/relationships/hyperlink" Target="https://www.parasoft.com/" TargetMode="External"/><Relationship Id="rId2" Type="http://schemas.openxmlformats.org/officeDocument/2006/relationships/hyperlink" Target="https://www.qualitylogic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otys.com/" TargetMode="External"/><Relationship Id="rId11" Type="http://schemas.openxmlformats.org/officeDocument/2006/relationships/hyperlink" Target="https://tenon.io/" TargetMode="External"/><Relationship Id="rId5" Type="http://schemas.openxmlformats.org/officeDocument/2006/relationships/hyperlink" Target="http://www.itautomation.com/" TargetMode="External"/><Relationship Id="rId10" Type="http://schemas.openxmlformats.org/officeDocument/2006/relationships/hyperlink" Target="https://www.symbio.com/" TargetMode="External"/><Relationship Id="rId4" Type="http://schemas.openxmlformats.org/officeDocument/2006/relationships/hyperlink" Target="http://www.valuestreamengineers.com/" TargetMode="External"/><Relationship Id="rId9" Type="http://schemas.openxmlformats.org/officeDocument/2006/relationships/hyperlink" Target="https://www.scnsoft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testing.cioreview.com/cxoinsight/the-cost-of-software-testing-nid-27746-cid-112.html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4A73DA-1E6B-477E-9F30-09885ACEA5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533400"/>
            <a:ext cx="9144000" cy="2870200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Software Testing &amp; Security Checking</a:t>
            </a:r>
            <a:br>
              <a:rPr lang="en-US" altLang="zh-TW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Spring 2023, EE 5191</a:t>
            </a:r>
            <a:b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b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Syllabus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68FFC3-A138-4177-885A-695A10CAB4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56383"/>
            <a:ext cx="6400800" cy="20951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zh-TW" altLang="en-US" sz="280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王凡 </a:t>
            </a:r>
            <a:r>
              <a:rPr lang="zh-TW" altLang="en-US" sz="2800" dirty="0">
                <a:ea typeface="新細明體" panose="02020500000000000000" pitchFamily="18" charset="-120"/>
              </a:rPr>
              <a:t>（</a:t>
            </a:r>
            <a:r>
              <a:rPr lang="en-US" altLang="zh-TW" sz="2800" dirty="0" err="1">
                <a:ea typeface="新細明體" panose="02020500000000000000" pitchFamily="18" charset="-120"/>
              </a:rPr>
              <a:t>Farn</a:t>
            </a:r>
            <a:r>
              <a:rPr lang="en-US" altLang="zh-TW" sz="2800" dirty="0">
                <a:ea typeface="新細明體" panose="02020500000000000000" pitchFamily="18" charset="-120"/>
              </a:rPr>
              <a:t> Wang</a:t>
            </a:r>
            <a:r>
              <a:rPr lang="zh-TW" altLang="en-US" sz="2800" dirty="0">
                <a:ea typeface="新細明體" panose="02020500000000000000" pitchFamily="18" charset="-120"/>
              </a:rPr>
              <a:t>）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r>
              <a:rPr lang="hsb-DE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h</a:t>
            </a:r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ttp://cc.ee.ntu.edu.tw/ST</a:t>
            </a:r>
          </a:p>
          <a:p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  <a:p>
            <a:r>
              <a:rPr lang="zh-TW" altLang="en-US" b="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國立臺灣大學 電機工程學系</a:t>
            </a:r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</p:txBody>
      </p:sp>
    </p:spTree>
  </p:cSld>
  <p:clrMapOvr>
    <a:masterClrMapping/>
  </p:clrMapOvr>
  <p:transition spd="med" advTm="6643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Textbook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54" y="1366560"/>
            <a:ext cx="8126691" cy="10866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3200" b="0" dirty="0">
                <a:ea typeface="新細明體" panose="02020500000000000000" pitchFamily="18" charset="-120"/>
              </a:rPr>
              <a:t>Introduction to Software Testing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zh-TW" sz="900" b="0" dirty="0"/>
          </a:p>
        </p:txBody>
      </p:sp>
      <p:pic>
        <p:nvPicPr>
          <p:cNvPr id="196610" name="Picture 2" descr="https://cs.gmu.edu/~offutt/softwaretest/SecondEditionCover.jpg">
            <a:extLst>
              <a:ext uri="{FF2B5EF4-FFF2-40B4-BE49-F238E27FC236}">
                <a16:creationId xmlns:a16="http://schemas.microsoft.com/office/drawing/2014/main" id="{1EDE5AF5-4B43-443C-8415-D961C98DC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3" y="1937061"/>
            <a:ext cx="2802718" cy="403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EAD921-61C2-4FF4-8C01-3BBE00B1B006}"/>
              </a:ext>
            </a:extLst>
          </p:cNvPr>
          <p:cNvSpPr txBox="1">
            <a:spLocks/>
          </p:cNvSpPr>
          <p:nvPr/>
        </p:nvSpPr>
        <p:spPr bwMode="auto">
          <a:xfrm>
            <a:off x="3440550" y="2500587"/>
            <a:ext cx="5347196" cy="267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Monotype Sorts"/>
              <a:buNone/>
            </a:pPr>
            <a:r>
              <a:rPr lang="en-US" altLang="zh-TW" sz="2800" b="0" i="1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Paul Ammann and Jeff Offutt</a:t>
            </a:r>
          </a:p>
          <a:p>
            <a:pPr marL="0" indent="0">
              <a:buFont typeface="Monotype Sorts"/>
              <a:buNone/>
            </a:pPr>
            <a:endParaRPr lang="en-US" altLang="zh-TW" sz="2800" b="0" kern="0" dirty="0">
              <a:solidFill>
                <a:schemeClr val="accent1"/>
              </a:solidFill>
              <a:ea typeface="新細明體" panose="02020500000000000000" pitchFamily="18" charset="-120"/>
            </a:endParaRP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related materials in </a:t>
            </a: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http://cs.gmu.edu/~offutt/softwaretest/</a:t>
            </a:r>
          </a:p>
        </p:txBody>
      </p:sp>
    </p:spTree>
    <p:extLst>
      <p:ext uri="{BB962C8B-B14F-4D97-AF65-F5344CB8AC3E}">
        <p14:creationId xmlns:p14="http://schemas.microsoft.com/office/powerpoint/2010/main" val="1568211718"/>
      </p:ext>
    </p:extLst>
  </p:cSld>
  <p:clrMapOvr>
    <a:masterClrMapping/>
  </p:clrMapOvr>
  <p:transition spd="med" advTm="1067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Class</a:t>
            </a:r>
            <a:r>
              <a:rPr lang="zh-TW" altLang="en-US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 </a:t>
            </a:r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Information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15440"/>
            <a:ext cx="8323580" cy="4761547"/>
          </a:xfrm>
        </p:spPr>
        <p:txBody>
          <a:bodyPr>
            <a:normAutofit/>
          </a:bodyPr>
          <a:lstStyle/>
          <a:p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課號：</a:t>
            </a:r>
            <a:r>
              <a:rPr lang="en-US" altLang="zh-TW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EE</a:t>
            </a:r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solidFill>
                  <a:schemeClr val="tx2"/>
                </a:solidFill>
              </a:rPr>
              <a:t>5191		Credits: 3</a:t>
            </a:r>
            <a:endParaRPr lang="en-US" altLang="zh-TW" sz="2800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</a:rPr>
              <a:t>Spring 2023, Wednesday, 9:10am-12:00noon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Classroom: BL 112              </a:t>
            </a:r>
          </a:p>
          <a:p>
            <a:r>
              <a:rPr lang="zh-TW" altLang="en-US" sz="2800" b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王 凡 教授</a:t>
            </a:r>
            <a:endParaRPr lang="en-US" altLang="zh-TW" sz="2800" b="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ea typeface="新細明體" panose="02020500000000000000" pitchFamily="18" charset="-120"/>
              </a:rPr>
              <a:t>616</a:t>
            </a:r>
            <a:r>
              <a:rPr lang="zh-TW" altLang="en-US" sz="2400" b="0" dirty="0">
                <a:ea typeface="新細明體" panose="02020500000000000000" pitchFamily="18" charset="-120"/>
              </a:rPr>
              <a:t>，</a:t>
            </a:r>
            <a:r>
              <a:rPr lang="en-US" altLang="zh-TW" sz="2400" b="0" dirty="0">
                <a:ea typeface="新細明體" panose="02020500000000000000" pitchFamily="18" charset="-120"/>
              </a:rPr>
              <a:t>02-33663602</a:t>
            </a:r>
          </a:p>
          <a:p>
            <a:pPr marL="342900" lvl="1" indent="0">
              <a:buNone/>
            </a:pPr>
            <a:r>
              <a:rPr lang="en-US" altLang="zh-TW" b="0" dirty="0"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b="0" dirty="0">
                <a:ea typeface="新細明體" panose="02020500000000000000" pitchFamily="18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http://cc.ee.ntu.edu.tw/~farn/courses/ST</a:t>
            </a:r>
            <a:endParaRPr lang="en-US" altLang="zh-TW" b="0" dirty="0">
              <a:ea typeface="新細明體" panose="02020500000000000000" pitchFamily="18" charset="-120"/>
            </a:endParaRPr>
          </a:p>
          <a:p>
            <a:r>
              <a:rPr lang="zh-TW" altLang="en-US" sz="2800" b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助教：劉宗翰</a:t>
            </a:r>
            <a:endParaRPr lang="en-US" altLang="zh-TW" sz="2800" b="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ea typeface="新細明體" panose="02020500000000000000" pitchFamily="18" charset="-120"/>
              </a:rPr>
              <a:t>618</a:t>
            </a: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r11921094@ntu.edu.tw</a:t>
            </a:r>
            <a:endParaRPr lang="en-US" altLang="zh-TW" sz="2400" b="0" dirty="0"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</a:rPr>
              <a:t>Office hour: Wednesday 12:00noon -13:00pm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0DA960-A70A-42C6-99B1-78814E79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zh-TW" sz="900" b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08B8E8-B47D-47B7-90EB-6F6A4D73C9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9230" y="3788410"/>
            <a:ext cx="2875280" cy="2156460"/>
          </a:xfrm>
          <a:prstGeom prst="rect">
            <a:avLst/>
          </a:prstGeom>
        </p:spPr>
      </p:pic>
    </p:spTree>
  </p:cSld>
  <p:clrMapOvr>
    <a:masterClrMapping/>
  </p:clrMapOvr>
  <p:transition spd="med" advTm="150162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246880" y="1338360"/>
            <a:ext cx="4724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測試成本居高不下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30-35%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研發成本：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具圖形介面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35-50%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：如果還有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持續高漲中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AD641DD-1CC9-4791-BCFE-4F69FF63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0" y="1338360"/>
            <a:ext cx="3668510" cy="32369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A4DA3D5-9B1D-46E7-9F13-8C945E2FFF5C}"/>
              </a:ext>
            </a:extLst>
          </p:cNvPr>
          <p:cNvSpPr/>
          <p:nvPr/>
        </p:nvSpPr>
        <p:spPr>
          <a:xfrm>
            <a:off x="1478845" y="408671"/>
            <a:ext cx="59940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423AE3-983A-40F2-80D3-DAE70F24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735548"/>
            <a:ext cx="7886700" cy="179733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b="0">
                <a:ea typeface="新細明體" panose="02020500000000000000" pitchFamily="18" charset="-120"/>
              </a:rPr>
              <a:t>Software </a:t>
            </a:r>
            <a:r>
              <a:rPr lang="en-US" altLang="zh-TW" sz="2800">
                <a:ea typeface="新細明體" panose="02020500000000000000" pitchFamily="18" charset="-120"/>
              </a:rPr>
              <a:t>QA &amp; </a:t>
            </a:r>
            <a:r>
              <a:rPr lang="en-US" altLang="zh-TW" sz="2800" b="0">
                <a:ea typeface="新細明體" panose="02020500000000000000" pitchFamily="18" charset="-120"/>
              </a:rPr>
              <a:t>security is a highly visible and fast-growing sector of software testing.  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Taiwan's high-tech companies do not think that they should spend money in software testing.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>
                <a:ea typeface="新細明體" panose="02020500000000000000" pitchFamily="18" charset="-120"/>
              </a:rPr>
              <a:t>Taiwan's industrial strength in OEM and ODM</a:t>
            </a:r>
            <a:endParaRPr lang="en-US" altLang="zh-TW" sz="2400" b="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132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7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endParaRPr lang="zh-TW" altLang="en-US" sz="21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140046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軟體品管預算膨脹迅速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目前一般軟體開發計畫，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％以上成本與時間都花在測試與品管。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若能降低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％軟體品管成本，就可提昇公司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％獲利。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軟體品管技術交流不易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空有天下優良軟體工程師，卻只能進行手工測試。</a:t>
            </a: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目前一般透過網路廣告，測試需求顧客與軟體測試服務公司個別接洽！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底層結構（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infrastructure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）把持在少數測試工具公司！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0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241927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F84B5086-D804-450D-9FB9-9B7C9DF627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55584"/>
            <a:ext cx="4572000" cy="4006859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77466E3D-3F92-49F0-BFE2-86671C019D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2262669"/>
            <a:ext cx="4687173" cy="40346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854AB49-389B-46DF-B836-A7BB8C7878D2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85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C3EDB2AD-F371-4A58-92F0-E14A6AC357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1F1CAE03-12C2-40BA-8B88-64306CBBA1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054" y="2035717"/>
            <a:ext cx="6746452" cy="236307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FAC212A5-5CDC-4C17-A658-08687D437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2" y="3962718"/>
            <a:ext cx="8775698" cy="26786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E2077E5-08AB-4509-AD29-88BC42D7D4AF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0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D8FA6331-2785-46E4-80A7-4357D714D1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49C9D773-69D5-41B2-BAD3-501CB50E3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035319"/>
            <a:ext cx="3531049" cy="4605988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D4FD266D-F4BF-41F3-9973-E83806F6C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249" y="2108916"/>
            <a:ext cx="4806585" cy="459788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59D80B-6C62-4FC6-B1C9-23A273AB74F9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D8FA6331-2785-46E4-80A7-4357D714D1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4A570471-E2A8-4182-AAAB-CC4955265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9" y="2128754"/>
            <a:ext cx="8910725" cy="46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3200" i="1" dirty="0"/>
              <a:t>Functional Testing</a:t>
            </a:r>
          </a:p>
          <a:p>
            <a:r>
              <a:rPr lang="en-US" altLang="zh-TW" sz="2700" dirty="0"/>
              <a:t>Unit testing</a:t>
            </a:r>
          </a:p>
          <a:p>
            <a:r>
              <a:rPr lang="en-US" altLang="zh-TW" sz="2700" dirty="0"/>
              <a:t>Integration testing</a:t>
            </a:r>
          </a:p>
          <a:p>
            <a:r>
              <a:rPr lang="en-US" altLang="zh-TW" sz="2700" dirty="0"/>
              <a:t>End-to-end testing</a:t>
            </a:r>
          </a:p>
          <a:p>
            <a:r>
              <a:rPr lang="en-US" altLang="zh-TW" sz="2700" dirty="0"/>
              <a:t>Smoke testing</a:t>
            </a:r>
          </a:p>
          <a:p>
            <a:r>
              <a:rPr lang="en-US" altLang="zh-TW" sz="2700" dirty="0"/>
              <a:t>Sanity testing</a:t>
            </a:r>
          </a:p>
          <a:p>
            <a:r>
              <a:rPr lang="en-US" altLang="zh-TW" sz="2700" dirty="0"/>
              <a:t>Regression testing</a:t>
            </a:r>
          </a:p>
          <a:p>
            <a:r>
              <a:rPr lang="en-US" altLang="zh-TW" sz="2700" dirty="0"/>
              <a:t>Acceptance testing</a:t>
            </a:r>
          </a:p>
          <a:p>
            <a:r>
              <a:rPr lang="en-US" altLang="zh-TW" sz="2700" dirty="0"/>
              <a:t>Interface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 altLang="zh-TW" u="sng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9B9C515-F289-4AD6-9389-C775D210CF0F}"/>
              </a:ext>
            </a:extLst>
          </p:cNvPr>
          <p:cNvSpPr txBox="1">
            <a:spLocks/>
          </p:cNvSpPr>
          <p:nvPr/>
        </p:nvSpPr>
        <p:spPr bwMode="auto">
          <a:xfrm>
            <a:off x="4785019" y="2326639"/>
            <a:ext cx="3963054" cy="455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sz="2800" b="0" kern="0" dirty="0"/>
              <a:t>White box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b="0" kern="0" dirty="0"/>
              <a:t>Black box testing</a:t>
            </a:r>
          </a:p>
        </p:txBody>
      </p:sp>
    </p:spTree>
    <p:extLst>
      <p:ext uri="{BB962C8B-B14F-4D97-AF65-F5344CB8AC3E}">
        <p14:creationId xmlns:p14="http://schemas.microsoft.com/office/powerpoint/2010/main" val="1031498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78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sz="2800" i="1" dirty="0"/>
              <a:t>Non-functional Testing</a:t>
            </a:r>
          </a:p>
          <a:p>
            <a:r>
              <a:rPr lang="en-US" altLang="zh-TW" sz="2700" dirty="0"/>
              <a:t>Performance testing</a:t>
            </a:r>
          </a:p>
          <a:p>
            <a:r>
              <a:rPr lang="en-US" altLang="zh-TW" sz="2700" dirty="0"/>
              <a:t>Security testing</a:t>
            </a:r>
          </a:p>
          <a:p>
            <a:r>
              <a:rPr lang="en-US" altLang="zh-TW" sz="2700" dirty="0"/>
              <a:t>Load testing</a:t>
            </a:r>
          </a:p>
          <a:p>
            <a:r>
              <a:rPr lang="en-US" altLang="zh-TW" sz="2700" dirty="0"/>
              <a:t>Failover testing</a:t>
            </a:r>
          </a:p>
          <a:p>
            <a:r>
              <a:rPr lang="en-US" altLang="zh-TW" sz="2700" dirty="0"/>
              <a:t>Compatibility testing</a:t>
            </a:r>
          </a:p>
          <a:p>
            <a:r>
              <a:rPr lang="en-US" altLang="zh-TW" sz="2700" dirty="0"/>
              <a:t>Usability testing</a:t>
            </a:r>
          </a:p>
          <a:p>
            <a:r>
              <a:rPr lang="en-US" altLang="zh-TW" sz="2700" dirty="0"/>
              <a:t>Scalability testing</a:t>
            </a:r>
          </a:p>
          <a:p>
            <a:r>
              <a:rPr lang="en-US" altLang="zh-TW" sz="2700" dirty="0"/>
              <a:t>Volume testing</a:t>
            </a:r>
          </a:p>
          <a:p>
            <a:r>
              <a:rPr lang="en-US" altLang="zh-TW" sz="2700" dirty="0"/>
              <a:t>Stress testing</a:t>
            </a:r>
          </a:p>
          <a:p>
            <a:r>
              <a:rPr lang="en-US" altLang="zh-TW" sz="2700" dirty="0"/>
              <a:t>Accessibility testing</a:t>
            </a:r>
          </a:p>
          <a:p>
            <a:r>
              <a:rPr lang="en-US" altLang="zh-TW" sz="2700" dirty="0"/>
              <a:t>Alpha testing</a:t>
            </a:r>
          </a:p>
          <a:p>
            <a:r>
              <a:rPr lang="en-US" altLang="zh-TW" sz="2700" dirty="0"/>
              <a:t>Beta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Software Testing  &amp; Security Checking, Syllabus</a:t>
            </a:r>
            <a:endParaRPr lang="en-US" altLang="zh-TW" u="sng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BE9F2F-13E9-4B4E-A320-EEE5EAA49015}"/>
              </a:ext>
            </a:extLst>
          </p:cNvPr>
          <p:cNvSpPr txBox="1">
            <a:spLocks/>
          </p:cNvSpPr>
          <p:nvPr/>
        </p:nvSpPr>
        <p:spPr bwMode="auto">
          <a:xfrm>
            <a:off x="4382814" y="2131574"/>
            <a:ext cx="4475436" cy="5546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Maintainability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Compliance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Efficiency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Reliability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Endurance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Disaster recovery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Localization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Internationalization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Ad-hoc testing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TW" b="0" kern="0" dirty="0"/>
          </a:p>
        </p:txBody>
      </p:sp>
    </p:spTree>
    <p:extLst>
      <p:ext uri="{BB962C8B-B14F-4D97-AF65-F5344CB8AC3E}">
        <p14:creationId xmlns:p14="http://schemas.microsoft.com/office/powerpoint/2010/main" val="57396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29600" cy="17880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現有自動化解決方案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幾乎都著重在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Test Execution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 Setup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1049336" y="359281"/>
            <a:ext cx="70453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prstClr val="black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Steps in a Testing Project</a:t>
            </a:r>
            <a:endParaRPr kumimoji="1" lang="zh-TW" altLang="en-US" sz="4400" b="1" dirty="0">
              <a:solidFill>
                <a:prstClr val="black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CB8CA7E-0B0E-4105-8F26-73286137C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787" y="1276827"/>
            <a:ext cx="4750750" cy="4608938"/>
          </a:xfrm>
          <a:prstGeom prst="rect">
            <a:avLst/>
          </a:prstGeom>
        </p:spPr>
      </p:pic>
      <p:pic>
        <p:nvPicPr>
          <p:cNvPr id="14" name="Picture 2" descr="iT 邦幫忙::一起幫忙解決難題，拯救IT 人的一天">
            <a:extLst>
              <a:ext uri="{FF2B5EF4-FFF2-40B4-BE49-F238E27FC236}">
                <a16:creationId xmlns:a16="http://schemas.microsoft.com/office/drawing/2014/main" id="{2351DC10-759E-403D-AF43-12C719871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43" y="3648072"/>
            <a:ext cx="2154996" cy="82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BBD8DCB1-3726-490C-A134-37194EFC7EA4}"/>
              </a:ext>
            </a:extLst>
          </p:cNvPr>
          <p:cNvGrpSpPr/>
          <p:nvPr/>
        </p:nvGrpSpPr>
        <p:grpSpPr>
          <a:xfrm>
            <a:off x="1720840" y="4628665"/>
            <a:ext cx="1834677" cy="909706"/>
            <a:chOff x="1848587" y="3303262"/>
            <a:chExt cx="1834677" cy="909706"/>
          </a:xfrm>
        </p:grpSpPr>
        <p:pic>
          <p:nvPicPr>
            <p:cNvPr id="16" name="Picture 2" descr="About SideeX - HackMD">
              <a:extLst>
                <a:ext uri="{FF2B5EF4-FFF2-40B4-BE49-F238E27FC236}">
                  <a16:creationId xmlns:a16="http://schemas.microsoft.com/office/drawing/2014/main" id="{C71B99E6-9728-4A58-841E-2C402F17C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587" y="3303262"/>
              <a:ext cx="909706" cy="909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48E2A12-7F9E-425A-A89F-70811BB5DE38}"/>
                </a:ext>
              </a:extLst>
            </p:cNvPr>
            <p:cNvSpPr txBox="1"/>
            <p:nvPr/>
          </p:nvSpPr>
          <p:spPr>
            <a:xfrm>
              <a:off x="2443807" y="3723242"/>
              <a:ext cx="12394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SiteeX</a:t>
              </a:r>
              <a:endParaRPr lang="zh-TW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098" name="Picture 2" descr="AWS Marketplace: Tricentis Tosca Reviews">
            <a:extLst>
              <a:ext uri="{FF2B5EF4-FFF2-40B4-BE49-F238E27FC236}">
                <a16:creationId xmlns:a16="http://schemas.microsoft.com/office/drawing/2014/main" id="{AB7A1275-8F58-46CF-8807-6F0F6302E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363" y="6025285"/>
            <a:ext cx="1800307" cy="51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EBC2F8C-C24F-4F38-A79A-22B6DC6BA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1" y="2972304"/>
            <a:ext cx="1701901" cy="646896"/>
          </a:xfrm>
          <a:prstGeom prst="rect">
            <a:avLst/>
          </a:prstGeom>
        </p:spPr>
      </p:pic>
      <p:pic>
        <p:nvPicPr>
          <p:cNvPr id="20" name="Picture 2" descr="XAMARIN : The Next level of Cross-Platform Mobile App Development. - Wildnet">
            <a:extLst>
              <a:ext uri="{FF2B5EF4-FFF2-40B4-BE49-F238E27FC236}">
                <a16:creationId xmlns:a16="http://schemas.microsoft.com/office/drawing/2014/main" id="{DC7A0B66-8208-449F-9C1A-64F667A1F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18" y="3686868"/>
            <a:ext cx="1668842" cy="82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FE23C27-A8CA-434E-80E4-5010E0CF55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70" y="2820625"/>
            <a:ext cx="770077" cy="962756"/>
          </a:xfrm>
          <a:prstGeom prst="rect">
            <a:avLst/>
          </a:prstGeom>
        </p:spPr>
      </p:pic>
      <p:pic>
        <p:nvPicPr>
          <p:cNvPr id="23" name="Picture 6" descr="Testing Asynchronous Code In Swift | by Christopher Webb | Journey Of One  Thousand Apps | Medium">
            <a:extLst>
              <a:ext uri="{FF2B5EF4-FFF2-40B4-BE49-F238E27FC236}">
                <a16:creationId xmlns:a16="http://schemas.microsoft.com/office/drawing/2014/main" id="{7B629CFB-5D6A-4E7C-AE42-33CD57E66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39" y="4469155"/>
            <a:ext cx="1126132" cy="133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45E1395-392E-4387-B0E3-E4221905E1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308" y="5879630"/>
            <a:ext cx="2382042" cy="961421"/>
          </a:xfrm>
          <a:prstGeom prst="rect">
            <a:avLst/>
          </a:prstGeom>
        </p:spPr>
      </p:pic>
      <p:pic>
        <p:nvPicPr>
          <p:cNvPr id="25" name="Picture 10" descr="Learn MonkeyTalk - Best MonkeyTalk Tutorials and Courses | Devglan">
            <a:extLst>
              <a:ext uri="{FF2B5EF4-FFF2-40B4-BE49-F238E27FC236}">
                <a16:creationId xmlns:a16="http://schemas.microsoft.com/office/drawing/2014/main" id="{4759457E-53B8-4B26-90A6-B7442E5DC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403" y="5926927"/>
            <a:ext cx="859690" cy="96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0F430EA6-9214-4E2B-A635-FCEFE21951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98" y="5933794"/>
            <a:ext cx="2025696" cy="7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8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A9F066-C601-44D4-A06F-87130A55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影像" descr="影像">
            <a:extLst>
              <a:ext uri="{FF2B5EF4-FFF2-40B4-BE49-F238E27FC236}">
                <a16:creationId xmlns:a16="http://schemas.microsoft.com/office/drawing/2014/main" id="{0B1BC956-19B7-4F6D-85F4-ECA8D5877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4527" y="1500697"/>
            <a:ext cx="8149492" cy="440048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8F27663-6370-4310-AD55-5D9131769224}"/>
              </a:ext>
            </a:extLst>
          </p:cNvPr>
          <p:cNvSpPr/>
          <p:nvPr/>
        </p:nvSpPr>
        <p:spPr>
          <a:xfrm>
            <a:off x="1188936" y="503670"/>
            <a:ext cx="68006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3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901" y="1743515"/>
            <a:ext cx="8041064" cy="39881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/>
              <a:t>年營收</a:t>
            </a:r>
            <a:r>
              <a:rPr lang="en-US" altLang="zh-TW" sz="2000" dirty="0"/>
              <a:t>					</a:t>
            </a:r>
            <a:r>
              <a:rPr lang="zh-TW" altLang="en-US" sz="2000" dirty="0"/>
              <a:t>            </a:t>
            </a:r>
            <a:r>
              <a:rPr lang="en-US" altLang="zh-TW" sz="2000" dirty="0"/>
              <a:t>M</a:t>
            </a:r>
            <a:r>
              <a:rPr lang="zh-TW" altLang="en-US" sz="2000" dirty="0"/>
              <a:t>：</a:t>
            </a:r>
            <a:r>
              <a:rPr lang="en-US" altLang="zh-TW" sz="2000" dirty="0"/>
              <a:t>1</a:t>
            </a:r>
            <a:r>
              <a:rPr lang="zh-TW" altLang="en-US" sz="2000" dirty="0"/>
              <a:t> 百萬美元</a:t>
            </a:r>
            <a:r>
              <a:rPr lang="en-US" altLang="zh-TW" sz="2000" dirty="0"/>
              <a:t>Revenue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QualityLogic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https://www.qualitylogic.com/</a:t>
            </a:r>
            <a:r>
              <a:rPr lang="en-US" altLang="zh-TW" sz="2000" dirty="0"/>
              <a:t> (9.7M)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V-Cubed Solutions, </a:t>
            </a:r>
            <a:r>
              <a:rPr lang="en-US" altLang="zh-TW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https://www.v-cubed.net/</a:t>
            </a:r>
            <a:r>
              <a:rPr lang="en-US" altLang="zh-TW" sz="2000" dirty="0"/>
              <a:t> (27M)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Value Stream Engineering, </a:t>
            </a:r>
            <a:r>
              <a:rPr lang="en-US" altLang="zh-TW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http://www.valuestreamengineers.com/</a:t>
            </a:r>
            <a:r>
              <a:rPr lang="en-US" altLang="zh-TW" sz="2000" dirty="0"/>
              <a:t> (3.8M)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IT Automation LLC, </a:t>
            </a:r>
            <a:r>
              <a:rPr lang="en-US" altLang="zh-TW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http://www.itautomation.com/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NeoTys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https://www.neotys.com/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Parasoft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https://www.parasoft.com/</a:t>
            </a:r>
            <a:r>
              <a:rPr lang="en-US" altLang="zh-TW" sz="2000" dirty="0"/>
              <a:t> (55M)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Performancelab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https://www.performancelab.com.br/home</a:t>
            </a:r>
            <a:r>
              <a:rPr lang="en-US" altLang="zh-TW" sz="2000" dirty="0"/>
              <a:t> (25.3M)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ScienceSoft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https://www.scnsoft.com/</a:t>
            </a:r>
            <a:r>
              <a:rPr lang="en-US" altLang="zh-TW" sz="2000" dirty="0"/>
              <a:t> (22M)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Symbio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https://www.symbio.com/</a:t>
            </a:r>
            <a:r>
              <a:rPr lang="en-US" altLang="zh-TW" sz="2000" dirty="0"/>
              <a:t> (150M)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tenio.io, </a:t>
            </a:r>
            <a:r>
              <a:rPr lang="en-US" altLang="zh-TW" sz="20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https://tenon.io/</a:t>
            </a:r>
            <a:r>
              <a:rPr lang="en-US" altLang="zh-TW" sz="2000" dirty="0"/>
              <a:t> 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8A6BD6-C456-4DBD-BECF-227382FB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4B89D0-9922-41D3-85D3-D36E1C6CFC15}"/>
              </a:ext>
            </a:extLst>
          </p:cNvPr>
          <p:cNvSpPr txBox="1"/>
          <p:nvPr/>
        </p:nvSpPr>
        <p:spPr>
          <a:xfrm rot="20446638">
            <a:off x="2259481" y="2722700"/>
            <a:ext cx="4880823" cy="1615827"/>
          </a:xfrm>
          <a:prstGeom prst="rect">
            <a:avLst/>
          </a:prstGeom>
          <a:solidFill>
            <a:srgbClr val="FFFF00">
              <a:alpha val="54902"/>
            </a:srgbClr>
          </a:solidFill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4950" dirty="0">
                <a:solidFill>
                  <a:srgbClr val="FF0000"/>
                </a:solidFill>
                <a:sym typeface="Symbol" panose="05050102010706020507" pitchFamily="18" charset="2"/>
              </a:rPr>
              <a:t></a:t>
            </a:r>
            <a:r>
              <a:rPr lang="en-US" altLang="zh-TW" sz="4950" dirty="0">
                <a:solidFill>
                  <a:srgbClr val="FF0000"/>
                </a:solidFill>
              </a:rPr>
              <a:t>310.4 Millions</a:t>
            </a:r>
          </a:p>
          <a:p>
            <a:r>
              <a:rPr lang="en-US" altLang="zh-TW" sz="4950" dirty="0">
                <a:solidFill>
                  <a:srgbClr val="FF0000"/>
                </a:solidFill>
              </a:rPr>
              <a:t>Avg.</a:t>
            </a:r>
            <a:r>
              <a:rPr lang="zh-TW" altLang="en-US" sz="4950" dirty="0">
                <a:solidFill>
                  <a:srgbClr val="FF0000"/>
                </a:solidFill>
              </a:rPr>
              <a:t> </a:t>
            </a:r>
            <a:r>
              <a:rPr lang="en-US" altLang="zh-TW" sz="4950" dirty="0">
                <a:solidFill>
                  <a:srgbClr val="FF0000"/>
                </a:solidFill>
              </a:rPr>
              <a:t>34.5Millions</a:t>
            </a:r>
            <a:endParaRPr lang="zh-TW" altLang="en-US" sz="495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001DC-D2A3-4289-8391-2FD8E8E52A8A}"/>
              </a:ext>
            </a:extLst>
          </p:cNvPr>
          <p:cNvSpPr/>
          <p:nvPr/>
        </p:nvSpPr>
        <p:spPr>
          <a:xfrm>
            <a:off x="1356360" y="497777"/>
            <a:ext cx="64312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03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70054"/>
            <a:ext cx="8966200" cy="1162506"/>
          </a:xfrm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hsb-DE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sb-DE" altLang="zh-TW" sz="2800" i="1" dirty="0">
                <a:latin typeface="Arial" panose="020B0604020202020204" pitchFamily="34" charset="0"/>
                <a:cs typeface="Arial" panose="020B0604020202020204" pitchFamily="34" charset="0"/>
              </a:rPr>
              <a:t>from the Boss‘ perspective</a:t>
            </a:r>
            <a:endParaRPr lang="zh-TW" alt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42" y="1753420"/>
            <a:ext cx="7999364" cy="2524116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upon a time in a QA meeting when MS hired 10000 testers, </a:t>
            </a:r>
          </a:p>
          <a:p>
            <a:pPr marL="0" indent="0">
              <a:buNone/>
            </a:pP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</a:t>
            </a:r>
            <a:r>
              <a:rPr lang="zh-TW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 I pay a lot of testers, but I really have no idea what they do.“</a:t>
            </a:r>
          </a:p>
          <a:p>
            <a:pPr marL="0" indent="0">
              <a:buNone/>
            </a:pPr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「Bill Gates」的圖片搜尋結果">
            <a:extLst>
              <a:ext uri="{FF2B5EF4-FFF2-40B4-BE49-F238E27FC236}">
                <a16:creationId xmlns:a16="http://schemas.microsoft.com/office/drawing/2014/main" id="{C9E88FC8-0B60-4B5A-BDD8-FAF9F63E0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358" y="3574318"/>
            <a:ext cx="3068200" cy="208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27CDC00-4974-41B2-A6EE-B0A40E427E3E}"/>
              </a:ext>
            </a:extLst>
          </p:cNvPr>
          <p:cNvSpPr txBox="1">
            <a:spLocks/>
          </p:cNvSpPr>
          <p:nvPr/>
        </p:nvSpPr>
        <p:spPr>
          <a:xfrm>
            <a:off x="288187" y="5661145"/>
            <a:ext cx="8516447" cy="4088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https://softwaretesting.cioreview.com/cxoinsight/the-cost-of-software-testing-nid-27746-cid-112.html</a:t>
            </a:r>
            <a:endParaRPr lang="en-US" altLang="zh-TW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400" dirty="0">
              <a:solidFill>
                <a:schemeClr val="tx2"/>
              </a:solidFill>
            </a:endParaRPr>
          </a:p>
          <a:p>
            <a:endParaRPr lang="zh-TW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17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91466"/>
            <a:ext cx="8966200" cy="91598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hsb-DE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sb-DE" altLang="zh-TW" sz="3100" i="1" dirty="0">
                <a:latin typeface="Arial" panose="020B0604020202020204" pitchFamily="34" charset="0"/>
                <a:cs typeface="Arial" panose="020B0604020202020204" pitchFamily="34" charset="0"/>
              </a:rPr>
              <a:t>from Taiwana Boss‘ perspective</a:t>
            </a:r>
            <a:endParaRPr lang="zh-TW" altLang="en-US" sz="3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217" y="2052485"/>
            <a:ext cx="6346433" cy="2409963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82DD0C-09F9-4128-A3E2-CA20FEC54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02" y="1294808"/>
            <a:ext cx="5137608" cy="5030201"/>
          </a:xfrm>
          <a:prstGeom prst="rect">
            <a:avLst/>
          </a:prstGeom>
        </p:spPr>
      </p:pic>
      <p:sp>
        <p:nvSpPr>
          <p:cNvPr id="9" name="語音泡泡: 矩形 8">
            <a:extLst>
              <a:ext uri="{FF2B5EF4-FFF2-40B4-BE49-F238E27FC236}">
                <a16:creationId xmlns:a16="http://schemas.microsoft.com/office/drawing/2014/main" id="{D1EC007B-0BAF-4396-88F9-BE73115C6D81}"/>
              </a:ext>
            </a:extLst>
          </p:cNvPr>
          <p:cNvSpPr/>
          <p:nvPr/>
        </p:nvSpPr>
        <p:spPr>
          <a:xfrm>
            <a:off x="2249260" y="1615921"/>
            <a:ext cx="4575746" cy="1485498"/>
          </a:xfrm>
          <a:prstGeom prst="wedgeRectCallout">
            <a:avLst>
              <a:gd name="adj1" fmla="val -18294"/>
              <a:gd name="adj2" fmla="val 49639"/>
            </a:avLst>
          </a:prstGeom>
          <a:solidFill>
            <a:srgbClr val="8EB383"/>
          </a:solidFill>
          <a:ln>
            <a:solidFill>
              <a:srgbClr val="8EB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sb-DE" altLang="zh-TW" sz="3200" dirty="0">
                <a:solidFill>
                  <a:schemeClr val="tx1"/>
                </a:solidFill>
              </a:rPr>
              <a:t>If our product does not crash before clients, all your testing is wasted. 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28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CED221D-7AB1-4036-8FEE-2528063A9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9" y="1166822"/>
            <a:ext cx="8312141" cy="48366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625" b="1" i="1" dirty="0">
                <a:solidFill>
                  <a:schemeClr val="tx2"/>
                </a:solidFill>
              </a:rPr>
              <a:t>Q #35) How many test cases have you automated per day?</a:t>
            </a:r>
            <a:endParaRPr lang="en-US" altLang="zh-TW" dirty="0">
              <a:solidFill>
                <a:schemeClr val="tx2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1478845" y="408671"/>
            <a:ext cx="59940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68F2FBF-8578-42EF-87D2-76CD4943B21A}"/>
              </a:ext>
            </a:extLst>
          </p:cNvPr>
          <p:cNvSpPr txBox="1">
            <a:spLocks/>
          </p:cNvSpPr>
          <p:nvPr/>
        </p:nvSpPr>
        <p:spPr>
          <a:xfrm>
            <a:off x="374659" y="5579521"/>
            <a:ext cx="8312141" cy="81899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b="1" u="sng" dirty="0">
                <a:solidFill>
                  <a:schemeClr val="accent1"/>
                </a:solidFill>
              </a:rPr>
              <a:t>39 TOP Automation Testing Interview Questions And Answers </a:t>
            </a:r>
            <a:endParaRPr lang="en-US" altLang="zh-TW" sz="16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1"/>
                </a:solidFill>
              </a:rPr>
              <a:t>https://www.softwaretestinghelp.com/test-automation-interview-questions/</a:t>
            </a:r>
          </a:p>
          <a:p>
            <a:endParaRPr lang="zh-TW" altLang="en-US" sz="1600" dirty="0">
              <a:solidFill>
                <a:schemeClr val="accent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20A663A-3434-403B-87C3-17BDEED59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704" y="1754717"/>
            <a:ext cx="3459808" cy="3352433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773DFC9-E80C-4370-BFC5-908FD51DF335}"/>
              </a:ext>
            </a:extLst>
          </p:cNvPr>
          <p:cNvSpPr txBox="1">
            <a:spLocks/>
          </p:cNvSpPr>
          <p:nvPr/>
        </p:nvSpPr>
        <p:spPr>
          <a:xfrm>
            <a:off x="374659" y="1733444"/>
            <a:ext cx="5144035" cy="37631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Answer: Well, the number depends on the complexity of the test cases. When the complexity was limited, I was able to automate </a:t>
            </a:r>
            <a:r>
              <a:rPr lang="en-US" altLang="zh-TW" b="1" dirty="0">
                <a:solidFill>
                  <a:schemeClr val="tx2"/>
                </a:solidFill>
              </a:rPr>
              <a:t>5 to 6 test cases per day</a:t>
            </a:r>
            <a:r>
              <a:rPr lang="en-US" altLang="zh-TW" dirty="0">
                <a:solidFill>
                  <a:schemeClr val="tx2"/>
                </a:solidFill>
              </a:rPr>
              <a:t>. 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     Sometimes, I was able to automate </a:t>
            </a:r>
            <a:r>
              <a:rPr lang="en-US" altLang="zh-TW" b="1" dirty="0">
                <a:solidFill>
                  <a:schemeClr val="tx2"/>
                </a:solidFill>
              </a:rPr>
              <a:t>only one test case for complex scenarios</a:t>
            </a:r>
            <a:r>
              <a:rPr lang="en-US" altLang="zh-TW" dirty="0">
                <a:solidFill>
                  <a:schemeClr val="tx2"/>
                </a:solidFill>
              </a:rPr>
              <a:t>.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      I have also broken down my test cases into different components like, take input, do the calculation, verify the output etc. 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	in case of </a:t>
            </a:r>
            <a:r>
              <a:rPr lang="en-US" altLang="zh-TW" b="1" dirty="0">
                <a:solidFill>
                  <a:schemeClr val="tx2"/>
                </a:solidFill>
              </a:rPr>
              <a:t>very complex scenarios and have taken 2 or more days</a:t>
            </a:r>
            <a:r>
              <a:rPr lang="en-US" altLang="zh-TW" dirty="0">
                <a:solidFill>
                  <a:schemeClr val="tx2"/>
                </a:solidFill>
              </a:rPr>
              <a:t>.</a:t>
            </a:r>
            <a:endParaRPr lang="zh-TW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82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9280" y="1089398"/>
            <a:ext cx="7731760" cy="1917183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altLang="zh-TW" sz="2400" i="1" dirty="0"/>
              <a:t>Basically record/replay and test management.</a:t>
            </a:r>
          </a:p>
          <a:p>
            <a:pPr>
              <a:defRPr/>
            </a:pPr>
            <a:r>
              <a:rPr lang="en-US" altLang="zh-TW" sz="2400" i="1" dirty="0"/>
              <a:t>Test scripts are not reusable across projects.</a:t>
            </a:r>
          </a:p>
          <a:p>
            <a:pPr>
              <a:defRPr/>
            </a:pPr>
            <a:r>
              <a:rPr lang="en-US" altLang="zh-TW" sz="2400" i="1" dirty="0"/>
              <a:t>Need human to design tests</a:t>
            </a:r>
          </a:p>
          <a:p>
            <a:pPr>
              <a:defRPr/>
            </a:pPr>
            <a:r>
              <a:rPr lang="en-US" altLang="zh-TW" sz="2400" i="1" dirty="0"/>
              <a:t>Need human to recognize screens</a:t>
            </a:r>
          </a:p>
          <a:p>
            <a:pPr>
              <a:defRPr/>
            </a:pPr>
            <a:r>
              <a:rPr lang="en-US" altLang="zh-TW" sz="2400" i="1" dirty="0"/>
              <a:t>Need human to understand traces. 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59D247-F831-47A2-9085-440BECBA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D9988B7-FC32-4FFC-9AAC-35FDBAF58787}" type="slidenum">
              <a:rPr lang="zh-TW" altLang="en-US" sz="9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zh-TW" altLang="en-US" sz="900">
              <a:solidFill>
                <a:srgbClr val="898989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" y="3294303"/>
            <a:ext cx="3251200" cy="290960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78" y="3212887"/>
            <a:ext cx="1728243" cy="307243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80" y="3138708"/>
            <a:ext cx="1862224" cy="331062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D46145-9484-421A-A310-ED7262D1AF5C}"/>
              </a:ext>
            </a:extLst>
          </p:cNvPr>
          <p:cNvSpPr/>
          <p:nvPr/>
        </p:nvSpPr>
        <p:spPr>
          <a:xfrm>
            <a:off x="1092200" y="375725"/>
            <a:ext cx="67259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36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6362" y="379622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br>
              <a:rPr lang="en-US" altLang="zh-TW" b="1" dirty="0"/>
            </a:br>
            <a:r>
              <a:rPr lang="en-US" altLang="zh-TW" sz="2700" dirty="0"/>
              <a:t>solutions </a:t>
            </a:r>
            <a:r>
              <a:rPr lang="en-US" altLang="zh-TW" sz="2700" dirty="0" err="1"/>
              <a:t>nowaday</a:t>
            </a:r>
            <a:endParaRPr lang="zh-TW" altLang="en-US" sz="27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6497" y="1609463"/>
            <a:ext cx="8286161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測試外包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適合大型軟體公司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只能做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testin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acceptance testing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外洩風險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Feedback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緩慢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l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軟體測試自動化工具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只幫你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replay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testing (low intelligence)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low reusability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許多未經整合的測試準備工作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語音泡泡: 矩形 5">
            <a:extLst>
              <a:ext uri="{FF2B5EF4-FFF2-40B4-BE49-F238E27FC236}">
                <a16:creationId xmlns:a16="http://schemas.microsoft.com/office/drawing/2014/main" id="{49EA1480-4358-44A5-846F-A3B8982D8C33}"/>
              </a:ext>
            </a:extLst>
          </p:cNvPr>
          <p:cNvSpPr/>
          <p:nvPr/>
        </p:nvSpPr>
        <p:spPr>
          <a:xfrm>
            <a:off x="5311110" y="3120785"/>
            <a:ext cx="3446393" cy="1427479"/>
          </a:xfrm>
          <a:prstGeom prst="wedgeRectCallout">
            <a:avLst>
              <a:gd name="adj1" fmla="val -90827"/>
              <a:gd name="adj2" fmla="val 26560"/>
            </a:avLst>
          </a:prstGeom>
          <a:solidFill>
            <a:srgbClr val="00FFFF"/>
          </a:solidFill>
          <a:ln w="762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r>
              <a:rPr lang="zh-TW" altLang="en-US" sz="2100" dirty="0">
                <a:solidFill>
                  <a:srgbClr val="FF0000"/>
                </a:solidFill>
              </a:rPr>
              <a:t>巨大市場機會</a:t>
            </a:r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endParaRPr lang="en-US" altLang="zh-TW" sz="2100" dirty="0">
              <a:solidFill>
                <a:srgbClr val="0000FF"/>
              </a:solidFill>
            </a:endParaRPr>
          </a:p>
          <a:p>
            <a:pPr algn="ctr"/>
            <a:r>
              <a:rPr lang="en-US" altLang="zh-TW" sz="2100" dirty="0">
                <a:solidFill>
                  <a:srgbClr val="FF0000"/>
                </a:solidFill>
              </a:rPr>
              <a:t>App</a:t>
            </a:r>
            <a:r>
              <a:rPr lang="zh-TW" altLang="en-US" sz="2100" dirty="0">
                <a:solidFill>
                  <a:srgbClr val="FF0000"/>
                </a:solidFill>
              </a:rPr>
              <a:t>智慧型測試工具</a:t>
            </a:r>
          </a:p>
        </p:txBody>
      </p:sp>
    </p:spTree>
    <p:extLst>
      <p:ext uri="{BB962C8B-B14F-4D97-AF65-F5344CB8AC3E}">
        <p14:creationId xmlns:p14="http://schemas.microsoft.com/office/powerpoint/2010/main" val="2859408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7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078772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應用測試難以自動化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目前測試自動化成果重複使用性都非常低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對一個顧客所製作的成果，幾乎都沒辦法用在另一個顧客。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軟體流程差異性、軟體文件差異性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學界的軟體測試成果基本上沒有在工業界應用可能性。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8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61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Goal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513840"/>
            <a:ext cx="8158480" cy="486314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Theory in software testing.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Advanced testing and security-checking tools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Capability of deploying software testing technology to various companies.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Basic concepts and skills in security checking.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10D86D32-AE63-4ACB-8E82-0FD275F9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21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451820092"/>
      </p:ext>
    </p:extLst>
  </p:cSld>
  <p:clrMapOvr>
    <a:masterClrMapping/>
  </p:clrMapOvr>
  <p:transition spd="med" advTm="11699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Plan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44320"/>
            <a:ext cx="8027670" cy="48326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The first module: foundations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The second module: Testing criteria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Graph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Logic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Input space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Syntax testing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Third module: practical consideration. </a:t>
            </a:r>
          </a:p>
          <a:p>
            <a:r>
              <a:rPr lang="en-US" altLang="zh-TW" sz="2800" b="0" dirty="0" err="1">
                <a:ea typeface="新細明體" panose="02020500000000000000" pitchFamily="18" charset="-120"/>
              </a:rPr>
              <a:t>Criterias</a:t>
            </a:r>
            <a:r>
              <a:rPr lang="en-US" altLang="zh-TW" sz="2800" b="0" dirty="0">
                <a:ea typeface="新細明體" panose="02020500000000000000" pitchFamily="18" charset="-120"/>
              </a:rPr>
              <a:t> for new app types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Security checking overview. 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3592912791"/>
      </p:ext>
    </p:extLst>
  </p:cSld>
  <p:clrMapOvr>
    <a:masterClrMapping/>
  </p:clrMapOvr>
  <p:transition spd="med" advTm="168273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Pre-requisites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595120"/>
            <a:ext cx="8007350" cy="47818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Basic Computer Concepts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C/C++, Java programming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Python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Data-Structures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Algorithms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23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2691107570"/>
      </p:ext>
    </p:extLst>
  </p:cSld>
  <p:clrMapOvr>
    <a:masterClrMapping/>
  </p:clrMapOvr>
  <p:transition spd="med" advTm="157772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493520"/>
            <a:ext cx="8173040" cy="48834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Final exam (40%) , June </a:t>
            </a:r>
            <a:r>
              <a:rPr lang="en-US" altLang="zh-TW" sz="2800" dirty="0">
                <a:ea typeface="新細明體" panose="02020500000000000000" pitchFamily="18" charset="-120"/>
              </a:rPr>
              <a:t>7</a:t>
            </a:r>
            <a:r>
              <a:rPr lang="en-US" altLang="zh-TW" sz="2800" b="0" dirty="0">
                <a:ea typeface="新細明體" panose="02020500000000000000" pitchFamily="18" charset="-120"/>
              </a:rPr>
              <a:t>, 2023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b="0" dirty="0">
                <a:ea typeface="新細明體" panose="02020500000000000000" pitchFamily="18" charset="-120"/>
              </a:rPr>
              <a:t>20% of final exam scores w</a:t>
            </a:r>
            <a:r>
              <a:rPr lang="en-US" altLang="zh-TW" sz="2500" dirty="0">
                <a:ea typeface="新細明體" panose="02020500000000000000" pitchFamily="18" charset="-120"/>
              </a:rPr>
              <a:t>ill be for questions on selected midterm reports. </a:t>
            </a:r>
            <a:endParaRPr lang="en-US" altLang="zh-TW" sz="2500" b="0" dirty="0">
              <a:ea typeface="新細明體" panose="02020500000000000000" pitchFamily="18" charset="-120"/>
            </a:endParaRP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Mid-term report (10%), deadline on April 26, 2023.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/>
              <a:t>Deadline for midterm presentation registration: 3/8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/>
              <a:t>Confirmation of midterm presentation registration: 3/15</a:t>
            </a:r>
            <a:endParaRPr lang="en-US" altLang="zh-TW" sz="2500" b="0" dirty="0">
              <a:ea typeface="新細明體" panose="02020500000000000000" pitchFamily="18" charset="-120"/>
            </a:endParaRPr>
          </a:p>
          <a:p>
            <a:r>
              <a:rPr lang="en-US" altLang="zh-TW" sz="2800" dirty="0">
                <a:ea typeface="新細明體" panose="02020500000000000000" pitchFamily="18" charset="-120"/>
              </a:rPr>
              <a:t>3</a:t>
            </a:r>
            <a:r>
              <a:rPr lang="en-US" altLang="zh-TW" sz="2800" b="0" dirty="0">
                <a:ea typeface="新細明體" panose="02020500000000000000" pitchFamily="18" charset="-120"/>
              </a:rPr>
              <a:t> projects (50%)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 err="1">
                <a:ea typeface="新細明體" panose="02020500000000000000" pitchFamily="18" charset="-120"/>
              </a:rPr>
              <a:t>CppUnit</a:t>
            </a:r>
            <a:r>
              <a:rPr lang="en-US" altLang="zh-TW" sz="2500" dirty="0">
                <a:ea typeface="新細明體" panose="02020500000000000000" pitchFamily="18" charset="-120"/>
              </a:rPr>
              <a:t> and GOV for unit testing (15%), due by April 12, 2023.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b="0" dirty="0">
                <a:ea typeface="新細明體" panose="02020500000000000000" pitchFamily="18" charset="-120"/>
              </a:rPr>
              <a:t>Selenium for web-testing (15%), due by May 3, 2023.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>
                <a:ea typeface="新細明體" panose="02020500000000000000" pitchFamily="18" charset="-120"/>
              </a:rPr>
              <a:t>App/Web/Security Testing (20%), due by June 14, 2023. </a:t>
            </a:r>
          </a:p>
          <a:p>
            <a:pPr lvl="2">
              <a:buFont typeface="Wingdings" panose="05000000000000000000" pitchFamily="2" charset="2"/>
              <a:buChar char="u"/>
            </a:pPr>
            <a:r>
              <a:rPr lang="en-US" altLang="zh-TW" sz="2200" b="0" dirty="0">
                <a:ea typeface="新細明體" panose="02020500000000000000" pitchFamily="18" charset="-120"/>
              </a:rPr>
              <a:t>Experiment with AI </a:t>
            </a:r>
          </a:p>
          <a:p>
            <a:pPr lvl="1">
              <a:buFont typeface="Wingdings" panose="05000000000000000000" pitchFamily="2" charset="2"/>
              <a:buChar char="n"/>
            </a:pPr>
            <a:endParaRPr lang="en-US" altLang="zh-TW" sz="2500" b="0" dirty="0">
              <a:ea typeface="新細明體" panose="02020500000000000000" pitchFamily="18" charset="-120"/>
            </a:endParaRPr>
          </a:p>
          <a:p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700656095"/>
      </p:ext>
    </p:extLst>
  </p:cSld>
  <p:clrMapOvr>
    <a:masterClrMapping/>
  </p:clrMapOvr>
  <p:transition spd="med" advTm="225749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3520"/>
            <a:ext cx="7886700" cy="48834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sb-DE" altLang="zh-TW" sz="2800" b="0" dirty="0">
                <a:ea typeface="新細明體" panose="02020500000000000000" pitchFamily="18" charset="-120"/>
              </a:rPr>
              <a:t>Midterm presentation (10%) </a:t>
            </a: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a main paper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b="0" dirty="0">
                <a:ea typeface="新細明體" panose="02020500000000000000" pitchFamily="18" charset="-120"/>
              </a:rPr>
              <a:t>must be a regular paper published in ACM/IEEE ICSE 2021-22, ACM FSE 2021-22, IEEE ASE 2021-22, ACM ISSTA 2021-22, or ACM PLDI 2021-22.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i="1" dirty="0">
                <a:solidFill>
                  <a:schemeClr val="accent1"/>
                </a:solidFill>
                <a:ea typeface="新細明體" panose="02020500000000000000" pitchFamily="18" charset="-120"/>
              </a:rPr>
              <a:t>No tool paper, no short paper, no affiliated workshop paper.</a:t>
            </a:r>
            <a:endParaRPr lang="en-US" altLang="zh-TW" sz="2700" b="0" i="1" dirty="0">
              <a:solidFill>
                <a:schemeClr val="accent1"/>
              </a:solidFill>
              <a:ea typeface="新細明體" panose="02020500000000000000" pitchFamily="18" charset="-120"/>
            </a:endParaRP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2 comparison papers related to the main paper.</a:t>
            </a: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Comparing the three papers that you selected in the above. </a:t>
            </a:r>
          </a:p>
          <a:p>
            <a:r>
              <a:rPr lang="en-US" altLang="zh-TW" sz="3100" dirty="0">
                <a:ea typeface="新細明體" panose="02020500000000000000" pitchFamily="18" charset="-120"/>
              </a:rPr>
              <a:t>Submission including your PPT file and MP4 Video for 10mins.</a:t>
            </a:r>
            <a:endParaRPr lang="en-US" altLang="zh-TW" sz="3100" b="0" dirty="0"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3769813048"/>
      </p:ext>
    </p:extLst>
  </p:cSld>
  <p:clrMapOvr>
    <a:masterClrMapping/>
  </p:clrMapOvr>
  <p:transition spd="med" advTm="225749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  <a:b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</a:br>
            <a:r>
              <a:rPr lang="en-US" altLang="zh-TW" sz="3600" i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project 1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78000"/>
            <a:ext cx="8239760" cy="45989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700" b="0" dirty="0">
                <a:ea typeface="新細明體" panose="02020500000000000000" pitchFamily="18" charset="-120"/>
              </a:rPr>
              <a:t>White-box unit testing with CPP and GOV.  (15%)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Software under test (SUT) is a </a:t>
            </a:r>
            <a:r>
              <a:rPr lang="en-US" altLang="zh-TW" sz="3000" b="0" dirty="0" err="1">
                <a:ea typeface="新細明體" panose="02020500000000000000" pitchFamily="18" charset="-120"/>
              </a:rPr>
              <a:t>github</a:t>
            </a:r>
            <a:r>
              <a:rPr lang="en-US" altLang="zh-TW" sz="3000" b="0" dirty="0">
                <a:ea typeface="新細明體" panose="02020500000000000000" pitchFamily="18" charset="-120"/>
              </a:rPr>
              <a:t> open-source </a:t>
            </a:r>
            <a:r>
              <a:rPr lang="en-US" altLang="zh-TW" sz="3000" b="0" dirty="0" err="1">
                <a:ea typeface="新細明體" panose="02020500000000000000" pitchFamily="18" charset="-120"/>
              </a:rPr>
              <a:t>cpp</a:t>
            </a:r>
            <a:r>
              <a:rPr lang="en-US" altLang="zh-TW" sz="3000" b="0" dirty="0">
                <a:ea typeface="新細明體" panose="02020500000000000000" pitchFamily="18" charset="-120"/>
              </a:rPr>
              <a:t> module.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Must write assertions to evaluate the pass or fail of the test scripts.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Submission: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</a:t>
            </a:r>
            <a:r>
              <a:rPr lang="en-US" altLang="zh-TW" sz="2700" dirty="0" err="1">
                <a:ea typeface="新細明體" panose="02020500000000000000" pitchFamily="18" charset="-120"/>
              </a:rPr>
              <a:t>CPPUnit</a:t>
            </a:r>
            <a:r>
              <a:rPr lang="en-US" altLang="zh-TW" sz="2700" dirty="0">
                <a:ea typeface="新細明體" panose="02020500000000000000" pitchFamily="18" charset="-120"/>
              </a:rPr>
              <a:t> test modules, test reports, and SUT source code.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3000" b="0" dirty="0">
                <a:ea typeface="新細明體" panose="02020500000000000000" pitchFamily="18" charset="-120"/>
              </a:rPr>
              <a:t> PPT explains the SUT, your test requirements, your test plan, and your test result with coverage analysis.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Your score is </a:t>
            </a:r>
          </a:p>
          <a:p>
            <a:pPr marL="0" indent="0">
              <a:buNone/>
            </a:pPr>
            <a:r>
              <a:rPr lang="en-US" altLang="zh-TW" sz="3000" dirty="0">
                <a:ea typeface="新細明體" panose="02020500000000000000" pitchFamily="18" charset="-120"/>
              </a:rPr>
              <a:t>(</a:t>
            </a:r>
            <a:r>
              <a:rPr lang="en-US" altLang="zh-TW" sz="2700" dirty="0">
                <a:ea typeface="新細明體" panose="02020500000000000000" pitchFamily="18" charset="-120"/>
              </a:rPr>
              <a:t>line coverage) </a:t>
            </a:r>
            <a:r>
              <a:rPr lang="en-US" altLang="zh-TW" sz="2700" dirty="0">
                <a:ea typeface="新細明體" panose="02020500000000000000" pitchFamily="18" charset="-120"/>
                <a:sym typeface="Symbol" panose="05050102010706020507" pitchFamily="18" charset="2"/>
              </a:rPr>
              <a:t></a:t>
            </a:r>
            <a:r>
              <a:rPr lang="en-US" altLang="zh-TW" sz="2700" dirty="0">
                <a:ea typeface="新細明體" panose="02020500000000000000" pitchFamily="18" charset="-120"/>
              </a:rPr>
              <a:t> log(#lines+#classes) + 10*(bugs detected)</a:t>
            </a:r>
            <a:endParaRPr lang="en-US" altLang="zh-TW" sz="2700" b="0" dirty="0">
              <a:ea typeface="新細明體" panose="02020500000000000000" pitchFamily="18" charset="-120"/>
            </a:endParaRPr>
          </a:p>
          <a:p>
            <a:pPr marL="0" indent="0">
              <a:buNone/>
            </a:pPr>
            <a:endParaRPr lang="en-US" altLang="zh-TW" sz="27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1218957318"/>
      </p:ext>
    </p:extLst>
  </p:cSld>
  <p:clrMapOvr>
    <a:masterClrMapping/>
  </p:clrMapOvr>
  <p:transition spd="med" advTm="225749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  <a:b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</a:br>
            <a:r>
              <a:rPr lang="en-US" altLang="zh-TW" sz="3600" i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project 2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78000"/>
            <a:ext cx="8239760" cy="45989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2700" b="0" dirty="0">
                <a:ea typeface="新細明體" panose="02020500000000000000" pitchFamily="18" charset="-120"/>
              </a:rPr>
              <a:t>Web testing with Selenium. (15%)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Software under test (SUT) is an open-source web program from </a:t>
            </a:r>
            <a:r>
              <a:rPr lang="en-US" altLang="zh-TW" sz="3000" b="0" dirty="0" err="1">
                <a:ea typeface="新細明體" panose="02020500000000000000" pitchFamily="18" charset="-120"/>
              </a:rPr>
              <a:t>github</a:t>
            </a:r>
            <a:r>
              <a:rPr lang="en-US" altLang="zh-TW" sz="3000" b="0" dirty="0">
                <a:ea typeface="新細明體" panose="02020500000000000000" pitchFamily="18" charset="-120"/>
              </a:rPr>
              <a:t>.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Must write assertions to evaluate the pass or fail of the test scripts.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Submission: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Selenium test scripts, test reports with coverage analysis of the test items.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3000" b="0" dirty="0">
                <a:ea typeface="新細明體" panose="02020500000000000000" pitchFamily="18" charset="-120"/>
              </a:rPr>
              <a:t> PPT explains the SUT, your test requirements, your test plan, and your test result.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Your score is </a:t>
            </a:r>
          </a:p>
          <a:p>
            <a:pPr marL="0" indent="0">
              <a:buNone/>
            </a:pPr>
            <a:r>
              <a:rPr lang="en-US" altLang="zh-TW" sz="3000" dirty="0">
                <a:ea typeface="新細明體" panose="02020500000000000000" pitchFamily="18" charset="-120"/>
              </a:rPr>
              <a:t>(</a:t>
            </a:r>
            <a:r>
              <a:rPr lang="en-US" altLang="zh-TW" sz="2700" dirty="0">
                <a:ea typeface="新細明體" panose="02020500000000000000" pitchFamily="18" charset="-120"/>
              </a:rPr>
              <a:t>coverage of the test items) </a:t>
            </a:r>
            <a:r>
              <a:rPr lang="en-US" altLang="zh-TW" sz="2700" dirty="0">
                <a:ea typeface="新細明體" panose="02020500000000000000" pitchFamily="18" charset="-120"/>
                <a:sym typeface="Symbol" panose="05050102010706020507" pitchFamily="18" charset="2"/>
              </a:rPr>
              <a:t></a:t>
            </a:r>
            <a:r>
              <a:rPr lang="en-US" altLang="zh-TW" sz="2700" dirty="0">
                <a:ea typeface="新細明體" panose="02020500000000000000" pitchFamily="18" charset="-120"/>
              </a:rPr>
              <a:t> log(#</a:t>
            </a:r>
            <a:r>
              <a:rPr lang="en-US" altLang="zh-TW" sz="2700" dirty="0" err="1">
                <a:ea typeface="新細明體" panose="02020500000000000000" pitchFamily="18" charset="-120"/>
              </a:rPr>
              <a:t>actionables+html</a:t>
            </a:r>
            <a:r>
              <a:rPr lang="en-US" altLang="zh-TW" sz="2700" dirty="0">
                <a:ea typeface="新細明體" panose="02020500000000000000" pitchFamily="18" charset="-120"/>
              </a:rPr>
              <a:t> sizes) </a:t>
            </a:r>
          </a:p>
          <a:p>
            <a:pPr marL="0" indent="0">
              <a:buNone/>
            </a:pPr>
            <a:r>
              <a:rPr lang="en-US" altLang="zh-TW" sz="2700" dirty="0">
                <a:ea typeface="新細明體" panose="02020500000000000000" pitchFamily="18" charset="-120"/>
              </a:rPr>
              <a:t>+ 10*(bugs detected)</a:t>
            </a:r>
            <a:endParaRPr lang="en-US" altLang="zh-TW" sz="2700" b="0" dirty="0">
              <a:ea typeface="新細明體" panose="02020500000000000000" pitchFamily="18" charset="-120"/>
            </a:endParaRPr>
          </a:p>
          <a:p>
            <a:pPr marL="0" indent="0">
              <a:buNone/>
            </a:pPr>
            <a:endParaRPr lang="en-US" altLang="zh-TW" sz="27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1211403065"/>
      </p:ext>
    </p:extLst>
  </p:cSld>
  <p:clrMapOvr>
    <a:masterClrMapping/>
  </p:clrMapOvr>
  <p:transition spd="med" advTm="225749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  <a:b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</a:br>
            <a:r>
              <a:rPr lang="en-US" altLang="zh-TW" sz="3600" i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project 3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78000"/>
            <a:ext cx="8239760" cy="45989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700" dirty="0">
                <a:ea typeface="新細明體" panose="02020500000000000000" pitchFamily="18" charset="-120"/>
              </a:rPr>
              <a:t>App/w</a:t>
            </a:r>
            <a:r>
              <a:rPr lang="en-US" altLang="zh-TW" sz="2700" b="0" dirty="0">
                <a:ea typeface="新細明體" panose="02020500000000000000" pitchFamily="18" charset="-120"/>
              </a:rPr>
              <a:t>eb/security testing on an AI test automation platform. (20%)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Software under test (SUT) </a:t>
            </a:r>
            <a:r>
              <a:rPr lang="en-US" altLang="zh-TW" sz="3000" dirty="0">
                <a:ea typeface="新細明體" panose="02020500000000000000" pitchFamily="18" charset="-120"/>
              </a:rPr>
              <a:t>could be a mobile APP or a web program.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b="0" dirty="0">
                <a:ea typeface="新細明體" panose="02020500000000000000" pitchFamily="18" charset="-120"/>
              </a:rPr>
              <a:t>The test items will be announced.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W</a:t>
            </a:r>
            <a:r>
              <a:rPr lang="en-US" altLang="zh-TW" sz="3000" b="0" dirty="0">
                <a:ea typeface="新細明體" panose="02020500000000000000" pitchFamily="18" charset="-120"/>
              </a:rPr>
              <a:t>riting a python </a:t>
            </a:r>
            <a:r>
              <a:rPr lang="en-US" altLang="zh-TW" sz="3000" dirty="0">
                <a:ea typeface="新細明體" panose="02020500000000000000" pitchFamily="18" charset="-120"/>
              </a:rPr>
              <a:t>program as a test robot that generates test reports. </a:t>
            </a:r>
            <a:r>
              <a:rPr lang="en-US" altLang="zh-TW" sz="3000" b="0" dirty="0">
                <a:ea typeface="新細明體" panose="02020500000000000000" pitchFamily="18" charset="-120"/>
              </a:rPr>
              <a:t>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Submission: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A test robot that can be used by other classmates.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Online documents of your test robot.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Your score is based on the rating and reviews of peer classmates.  </a:t>
            </a:r>
          </a:p>
          <a:p>
            <a:pPr marL="0" indent="0">
              <a:buNone/>
            </a:pPr>
            <a:endParaRPr lang="en-US" altLang="zh-TW" sz="27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1844291077"/>
      </p:ext>
    </p:extLst>
  </p:cSld>
  <p:clrMapOvr>
    <a:masterClrMapping/>
  </p:clrMapOvr>
  <p:transition spd="med" advTm="22574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D14D6-8E57-4C84-9C81-34F3CA5E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sb-DE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Videos</a:t>
            </a:r>
            <a:endParaRPr lang="zh-TW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8F14786-8795-4CD8-8B74-BD382E8C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Department of Electrical Engineering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F7336F-E612-4AAD-806F-79A63164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849596"/>
            <a:ext cx="7768590" cy="4369832"/>
          </a:xfrm>
          <a:prstGeom prst="rect">
            <a:avLst/>
          </a:prstGeom>
        </p:spPr>
      </p:pic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E12B84F-8DA2-42D7-8D66-6039AD356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517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Schedule (1/2)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zh-TW" sz="9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A449877-A0E5-4CC4-B7AB-8FF1BB53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769645"/>
              </p:ext>
            </p:extLst>
          </p:nvPr>
        </p:nvGraphicFramePr>
        <p:xfrm>
          <a:off x="455444" y="1431926"/>
          <a:ext cx="8050491" cy="4628624"/>
        </p:xfrm>
        <a:graphic>
          <a:graphicData uri="http://schemas.openxmlformats.org/drawingml/2006/table">
            <a:tbl>
              <a:tblPr/>
              <a:tblGrid>
                <a:gridCol w="596064">
                  <a:extLst>
                    <a:ext uri="{9D8B030D-6E8A-4147-A177-3AD203B41FA5}">
                      <a16:colId xmlns:a16="http://schemas.microsoft.com/office/drawing/2014/main" val="267000603"/>
                    </a:ext>
                  </a:extLst>
                </a:gridCol>
                <a:gridCol w="1019354">
                  <a:extLst>
                    <a:ext uri="{9D8B030D-6E8A-4147-A177-3AD203B41FA5}">
                      <a16:colId xmlns:a16="http://schemas.microsoft.com/office/drawing/2014/main" val="530036836"/>
                    </a:ext>
                  </a:extLst>
                </a:gridCol>
                <a:gridCol w="6435073">
                  <a:extLst>
                    <a:ext uri="{9D8B030D-6E8A-4147-A177-3AD203B41FA5}">
                      <a16:colId xmlns:a16="http://schemas.microsoft.com/office/drawing/2014/main" val="1415872203"/>
                    </a:ext>
                  </a:extLst>
                </a:gridCol>
              </a:tblGrid>
              <a:tr h="201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1. 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2/22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Syllabus, 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Chapter 1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970910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1</a:t>
                      </a:r>
                      <a:endParaRPr lang="hsb-DE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4974065"/>
                  </a:ext>
                </a:extLst>
              </a:tr>
              <a:tr h="37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3/8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Deadline for midterm presentation registration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1 announcement: unit testing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544526"/>
                  </a:ext>
                </a:extLst>
              </a:tr>
              <a:tr h="4570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3/15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Confirmation of midterm presentation registration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4323566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3/22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12648" indent="-612648" algn="l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2</a:t>
                      </a:r>
                      <a:endParaRPr lang="hsb-DE" altLang="zh-TW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943661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3/29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3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972194"/>
                  </a:ext>
                </a:extLst>
              </a:tr>
              <a:tr h="201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2000" b="1" dirty="0">
                          <a:solidFill>
                            <a:srgbClr val="92D05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清明節</a:t>
                      </a:r>
                      <a:endParaRPr lang="en-US" sz="2000" b="1" dirty="0">
                        <a:solidFill>
                          <a:srgbClr val="92D05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9924517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4/12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AutoNum type="alphaLcParenR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Chapter 3</a:t>
                      </a: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en-US" altLang="zh-TW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457200" indent="-457200">
                        <a:buAutoNum type="alphaLcParenR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Project 1 deadline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c) </a:t>
                      </a: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Project 2 announcement: web-testing 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1095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C1D9459-23A9-4A4F-A8ED-1B342739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6168282"/>
      </p:ext>
    </p:extLst>
  </p:cSld>
  <p:clrMapOvr>
    <a:masterClrMapping/>
  </p:clrMapOvr>
  <p:transition spd="med" advTm="35199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Schedule (</a:t>
            </a:r>
            <a:r>
              <a:rPr lang="hsb-DE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2</a:t>
            </a:r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US" altLang="zh-TW" sz="9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914709-2E67-407C-9E47-8CD4DCBB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138438"/>
              </p:ext>
            </p:extLst>
          </p:nvPr>
        </p:nvGraphicFramePr>
        <p:xfrm>
          <a:off x="692870" y="1453157"/>
          <a:ext cx="7758260" cy="4166000"/>
        </p:xfrm>
        <a:graphic>
          <a:graphicData uri="http://schemas.openxmlformats.org/drawingml/2006/table">
            <a:tbl>
              <a:tblPr/>
              <a:tblGrid>
                <a:gridCol w="574426">
                  <a:extLst>
                    <a:ext uri="{9D8B030D-6E8A-4147-A177-3AD203B41FA5}">
                      <a16:colId xmlns:a16="http://schemas.microsoft.com/office/drawing/2014/main" val="3407845760"/>
                    </a:ext>
                  </a:extLst>
                </a:gridCol>
                <a:gridCol w="982353">
                  <a:extLst>
                    <a:ext uri="{9D8B030D-6E8A-4147-A177-3AD203B41FA5}">
                      <a16:colId xmlns:a16="http://schemas.microsoft.com/office/drawing/2014/main" val="2398072364"/>
                    </a:ext>
                  </a:extLst>
                </a:gridCol>
                <a:gridCol w="6201481">
                  <a:extLst>
                    <a:ext uri="{9D8B030D-6E8A-4147-A177-3AD203B41FA5}">
                      <a16:colId xmlns:a16="http://schemas.microsoft.com/office/drawing/2014/main" val="26338110"/>
                    </a:ext>
                  </a:extLst>
                </a:gridCol>
              </a:tblGrid>
              <a:tr h="327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4/19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Chapter 3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375838"/>
                  </a:ext>
                </a:extLst>
              </a:tr>
              <a:tr h="327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4/26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0"/>
                        </a:spcBef>
                        <a:buAutoNum type="alphaLcParenR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Deadline of midterm presentation submission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marL="457200" indent="-457200">
                        <a:spcBef>
                          <a:spcPts val="0"/>
                        </a:spcBef>
                        <a:buAutoNum type="alphaLcParenR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90809"/>
                  </a:ext>
                </a:extLst>
              </a:tr>
              <a:tr h="5873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Project 2 deadline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3 announcement: app/web/security testing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67274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12.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5/10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sb-DE" altLang="zh-TW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4</a:t>
                      </a:r>
                      <a:endParaRPr lang="hsb-DE" altLang="zh-TW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258471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13.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5/17</a:t>
                      </a:r>
                      <a:endParaRPr lang="zh-TW" alt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2648" indent="-612648" algn="l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5</a:t>
                      </a:r>
                      <a:endParaRPr lang="hsb-DE" altLang="zh-TW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624025"/>
                  </a:ext>
                </a:extLst>
              </a:tr>
              <a:tr h="4517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14.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5/24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5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604799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15.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5/31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Security Checking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976281"/>
                  </a:ext>
                </a:extLst>
              </a:tr>
              <a:tr h="1749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16.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6/7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Final exam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875019"/>
                  </a:ext>
                </a:extLst>
              </a:tr>
              <a:tr h="1749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6/14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3 deadline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70515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618466D-CDB0-413A-AD47-2345A207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351198"/>
      </p:ext>
    </p:extLst>
  </p:cSld>
  <p:clrMapOvr>
    <a:masterClrMapping/>
  </p:clrMapOvr>
  <p:transition spd="med" advTm="18430"/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6605</TotalTime>
  <Pages>49</Pages>
  <Words>1985</Words>
  <Application>Microsoft Office PowerPoint</Application>
  <PresentationFormat>如螢幕大小 (4:3)</PresentationFormat>
  <Paragraphs>372</Paragraphs>
  <Slides>31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2" baseType="lpstr">
      <vt:lpstr>Monotype Sorts</vt:lpstr>
      <vt:lpstr>華康儷楷書(P)</vt:lpstr>
      <vt:lpstr>微軟正黑體</vt:lpstr>
      <vt:lpstr>新細明體</vt:lpstr>
      <vt:lpstr>Arial</vt:lpstr>
      <vt:lpstr>Calibri</vt:lpstr>
      <vt:lpstr>Calibri Light</vt:lpstr>
      <vt:lpstr>Symbol</vt:lpstr>
      <vt:lpstr>Times New Roman</vt:lpstr>
      <vt:lpstr>Wingdings</vt:lpstr>
      <vt:lpstr>Office 佈景主題</vt:lpstr>
      <vt:lpstr>Software Testing &amp; Security Checking Spring 2023, EE 5191  Syllabus</vt:lpstr>
      <vt:lpstr>Textbook</vt:lpstr>
      <vt:lpstr>Class Information</vt:lpstr>
      <vt:lpstr>PowerPoint 簡報</vt:lpstr>
      <vt:lpstr>產業分析</vt:lpstr>
      <vt:lpstr>PowerPoint 簡報</vt:lpstr>
      <vt:lpstr>PowerPoint 簡報</vt:lpstr>
      <vt:lpstr>PowerPoint 簡報</vt:lpstr>
      <vt:lpstr>PowerPoint 簡報</vt:lpstr>
      <vt:lpstr>Status in the Industry</vt:lpstr>
      <vt:lpstr>Status in the Industry</vt:lpstr>
      <vt:lpstr>PowerPoint 簡報</vt:lpstr>
      <vt:lpstr>PowerPoint 簡報</vt:lpstr>
      <vt:lpstr>PowerPoint 簡報</vt:lpstr>
      <vt:lpstr>Background from the Boss‘ perspective</vt:lpstr>
      <vt:lpstr>Background from Taiwana Boss‘ perspective</vt:lpstr>
      <vt:lpstr>PowerPoint 簡報</vt:lpstr>
      <vt:lpstr>PowerPoint 簡報</vt:lpstr>
      <vt:lpstr>產業分析 solutions nowaday</vt:lpstr>
      <vt:lpstr>產業分析</vt:lpstr>
      <vt:lpstr>Goal</vt:lpstr>
      <vt:lpstr>Course Plan</vt:lpstr>
      <vt:lpstr>Pre-requisites</vt:lpstr>
      <vt:lpstr>Evaluation</vt:lpstr>
      <vt:lpstr>Evaluation</vt:lpstr>
      <vt:lpstr>Evaluation project 1</vt:lpstr>
      <vt:lpstr>Evaluation project 2</vt:lpstr>
      <vt:lpstr>Evaluation project 3</vt:lpstr>
      <vt:lpstr>Videos</vt:lpstr>
      <vt:lpstr>Course Schedule (1/2)</vt:lpstr>
      <vt:lpstr>Course Schedule (2/2)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subject/>
  <dc:creator>Jeff Offutt</dc:creator>
  <cp:keywords/>
  <dc:description/>
  <cp:lastModifiedBy>Farn</cp:lastModifiedBy>
  <cp:revision>342</cp:revision>
  <cp:lastPrinted>1996-04-04T10:27:56Z</cp:lastPrinted>
  <dcterms:created xsi:type="dcterms:W3CDTF">1996-06-15T03:21:08Z</dcterms:created>
  <dcterms:modified xsi:type="dcterms:W3CDTF">2023-02-26T03:55:59Z</dcterms:modified>
</cp:coreProperties>
</file>