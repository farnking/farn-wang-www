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"/>
  </p:notesMasterIdLst>
  <p:sldIdLst>
    <p:sldId id="256" r:id="rId2"/>
    <p:sldId id="263" r:id="rId3"/>
    <p:sldId id="264" r:id="rId4"/>
    <p:sldId id="267" r:id="rId5"/>
    <p:sldId id="265" r:id="rId6"/>
    <p:sldId id="257" r:id="rId7"/>
    <p:sldId id="258" r:id="rId8"/>
    <p:sldId id="261" r:id="rId9"/>
    <p:sldId id="262" r:id="rId10"/>
    <p:sldId id="260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E4E5F2-BE61-48CD-863A-105E46AEEF91}" type="datetimeFigureOut">
              <a:rPr lang="zh-TW" altLang="en-US" smtClean="0"/>
              <a:t>2015/10/10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85EDED-4215-446A-BA2F-EF755F91E1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7994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9EE85CC-22EE-4486-A465-D9428A439704}" type="datetime1">
              <a:rPr lang="zh-TW" altLang="en-US" smtClean="0"/>
              <a:t>2015/10/10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矩形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線接點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直線接點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直線接點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線接點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線接點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直線接點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矩形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橢圓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橢圓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橢圓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橢圓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橢圓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C8107D2-5BD8-4D9C-B3ED-39C90759C637}" type="datetime1">
              <a:rPr lang="zh-TW" altLang="en-US" smtClean="0"/>
              <a:t>2015/10/10</a:t>
            </a:fld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頁尾版面配置區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E524951D-89EE-48E7-9708-491C38A1BB9B}" type="datetime1">
              <a:rPr lang="zh-TW" altLang="en-US" smtClean="0"/>
              <a:t>2015/10/10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線接點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線接點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線接點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線接點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直線接點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矩形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橢圓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橢圓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橢圓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橢圓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橢圓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直線接點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35502-EF84-456A-9C9B-6316B662B85C}" type="datetime1">
              <a:rPr lang="zh-TW" altLang="en-US" smtClean="0"/>
              <a:t>2015/10/10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44980-4019-4C1C-9695-42B494934896}" type="datetime1">
              <a:rPr lang="zh-TW" altLang="en-US" smtClean="0"/>
              <a:t>2015/10/10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2" name="文字版面配置區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14" name="文字版面配置區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6DA35B40-737C-4A1D-AF7B-F252A8B34E3E}" type="datetime1">
              <a:rPr lang="zh-TW" altLang="en-US" smtClean="0"/>
              <a:t>2015/10/10</a:t>
            </a:fld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7B13-60CB-45B3-A1D4-A11DF2CAFC12}" type="datetime1">
              <a:rPr lang="zh-TW" altLang="en-US" smtClean="0"/>
              <a:t>2015/10/10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線接點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直線接點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線接點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橢圓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內容版面配置區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21" name="日期版面配置區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459455A-B48C-43F5-93F0-9B47A365F524}" type="datetime1">
              <a:rPr lang="zh-TW" altLang="en-US" smtClean="0"/>
              <a:t>2015/10/10</a:t>
            </a:fld>
            <a:endParaRPr lang="zh-TW" altLang="en-US"/>
          </a:p>
        </p:txBody>
      </p:sp>
      <p:sp>
        <p:nvSpPr>
          <p:cNvPr id="22" name="投影片編號版面配置區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3" name="頁尾版面配置區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橢圓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線接點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直線接點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直線接點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日期版面配置區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11795AA-9B03-4499-9861-6CDBE42C5785}" type="datetime1">
              <a:rPr lang="zh-TW" altLang="en-US" smtClean="0"/>
              <a:t>2015/10/10</a:t>
            </a:fld>
            <a:endParaRPr lang="zh-TW" altLang="en-US"/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1" name="頁尾版面配置區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2416E-E91C-4440-9B82-D89AB1A0AF10}" type="datetime1">
              <a:rPr lang="zh-TW" altLang="en-US" smtClean="0"/>
              <a:t>2015/10/10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4A6B9-0386-4656-A1E6-5401E13B3A1F}" type="datetime1">
              <a:rPr lang="zh-TW" altLang="en-US" smtClean="0"/>
              <a:t>2015/10/10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直線接點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2E0E94A8-2A59-4429-BD3A-E153AD6732B8}" type="datetime1">
              <a:rPr lang="zh-TW" altLang="en-US" smtClean="0"/>
              <a:t>2015/10/10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線接點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橢圓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B296CF8-5911-4BFF-85E4-8A84EAB1490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8XXfgF9GSc" TargetMode="External"/><Relationship Id="rId2" Type="http://schemas.openxmlformats.org/officeDocument/2006/relationships/hyperlink" Target="https://www.youtube.com/watch?v=v2F49zLLj-8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junit.org/" TargetMode="External"/><Relationship Id="rId2" Type="http://schemas.openxmlformats.org/officeDocument/2006/relationships/hyperlink" Target="http://www.vogella.com/tutorials/JUnit/articl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clipse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Software Testing </a:t>
            </a:r>
            <a:r>
              <a:rPr lang="en-US" altLang="zh-TW" dirty="0" err="1" smtClean="0"/>
              <a:t>Suppliment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 smtClean="0"/>
              <a:t>&amp; Proj.1: Junit Instructor (Eclipse)</a:t>
            </a:r>
            <a:br>
              <a:rPr lang="en-US" altLang="zh-TW" dirty="0" smtClean="0"/>
            </a:br>
            <a:r>
              <a:rPr lang="en-US" altLang="zh-TW" sz="1400" dirty="0" smtClean="0"/>
              <a:t>2015/10/7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  <a:p>
            <a:pPr algn="ctr"/>
            <a:r>
              <a:rPr lang="en-US" altLang="zh-TW" dirty="0" smtClean="0"/>
              <a:t>Speaker: TA: </a:t>
            </a:r>
            <a:r>
              <a:rPr lang="en-US" altLang="zh-TW" dirty="0" smtClean="0"/>
              <a:t>Hung </a:t>
            </a:r>
            <a:r>
              <a:rPr lang="en-US" altLang="zh-TW" dirty="0" err="1" smtClean="0"/>
              <a:t>Shiu</a:t>
            </a:r>
            <a:r>
              <a:rPr lang="en-US" altLang="zh-TW" smtClean="0"/>
              <a:t>-Jr.</a:t>
            </a:r>
            <a:endParaRPr lang="en-US" altLang="zh-TW" dirty="0" smtClean="0"/>
          </a:p>
          <a:p>
            <a:pPr algn="ctr"/>
            <a:r>
              <a:rPr lang="en-US" altLang="zh-TW" dirty="0" smtClean="0"/>
              <a:t>Adviser: </a:t>
            </a:r>
            <a:r>
              <a:rPr lang="en-US" altLang="zh-TW" dirty="0" err="1" smtClean="0"/>
              <a:t>Farn</a:t>
            </a:r>
            <a:r>
              <a:rPr lang="en-US" altLang="zh-TW" dirty="0" smtClean="0"/>
              <a:t> Wang</a:t>
            </a:r>
            <a:endParaRPr lang="zh-TW" altLang="en-US" dirty="0"/>
          </a:p>
        </p:txBody>
      </p:sp>
      <p:pic>
        <p:nvPicPr>
          <p:cNvPr id="1026" name="Picture 2" descr="C:\Users\shiuhungjr\Desktop\ntu-mark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426543"/>
            <a:ext cx="1368152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shiuhungjr\Desktop\ntu-mark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245" y="4826990"/>
            <a:ext cx="754467" cy="75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shiuhungjr\Desktop\ntu-mark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4447993"/>
            <a:ext cx="468570" cy="468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shiuhungjr\Desktop\ntu-mark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478" y="5723296"/>
            <a:ext cx="396258" cy="396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shiuhungjr\Desktop\ntu-mark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941" y="5446770"/>
            <a:ext cx="269374" cy="26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1265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Industrial software testing project (V model)</a:t>
            </a:r>
          </a:p>
          <a:p>
            <a:endParaRPr lang="en-US" dirty="0"/>
          </a:p>
          <a:p>
            <a:r>
              <a:rPr lang="en-US" dirty="0" smtClean="0"/>
              <a:t>IEEE 829 (software testing process standard)</a:t>
            </a:r>
          </a:p>
          <a:p>
            <a:endParaRPr lang="en-US" dirty="0"/>
          </a:p>
          <a:p>
            <a:r>
              <a:rPr lang="en-US" dirty="0" smtClean="0"/>
              <a:t>Industrial sample (Bluetooth communication)</a:t>
            </a:r>
          </a:p>
          <a:p>
            <a:endParaRPr lang="en-US" dirty="0"/>
          </a:p>
          <a:p>
            <a:r>
              <a:rPr lang="en-US" dirty="0" smtClean="0"/>
              <a:t>Project 1 sample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986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 model</a:t>
            </a:r>
            <a:endParaRPr 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61197"/>
            <a:ext cx="7467600" cy="4151630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424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 model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Operation and Maintenance: decide the testing flow, includes languages, report forms…etc.</a:t>
            </a:r>
          </a:p>
          <a:p>
            <a:endParaRPr lang="en-US" dirty="0"/>
          </a:p>
          <a:p>
            <a:r>
              <a:rPr lang="en-US" dirty="0" smtClean="0"/>
              <a:t>System verification and validation: decide testing specifications.</a:t>
            </a:r>
          </a:p>
          <a:p>
            <a:endParaRPr lang="en-US" dirty="0"/>
          </a:p>
          <a:p>
            <a:r>
              <a:rPr lang="en-US" dirty="0" smtClean="0"/>
              <a:t>Integration testing and verifications: translate testing spec. to testing procedure.</a:t>
            </a:r>
          </a:p>
          <a:p>
            <a:endParaRPr lang="en-US" dirty="0"/>
          </a:p>
          <a:p>
            <a:r>
              <a:rPr lang="en-US" dirty="0" smtClean="0"/>
              <a:t>Implementation: design auto/non-auto test scripts. (For RD, also implement unit test.)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636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IEEE 829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Test design spec. (based on design spec.)</a:t>
            </a:r>
          </a:p>
          <a:p>
            <a:r>
              <a:rPr lang="en-US" dirty="0" smtClean="0"/>
              <a:t>Test plan (collection of test items)</a:t>
            </a:r>
          </a:p>
          <a:p>
            <a:r>
              <a:rPr lang="en-US" dirty="0" smtClean="0"/>
              <a:t>Test cases (test procedures of test items)</a:t>
            </a:r>
          </a:p>
          <a:p>
            <a:r>
              <a:rPr lang="en-US" dirty="0" smtClean="0"/>
              <a:t>Tools and outputs (languages)</a:t>
            </a:r>
          </a:p>
          <a:p>
            <a:r>
              <a:rPr lang="en-US" dirty="0" smtClean="0"/>
              <a:t>Simulators (scripts or programs)</a:t>
            </a:r>
          </a:p>
          <a:p>
            <a:r>
              <a:rPr lang="en-US" dirty="0" smtClean="0"/>
              <a:t>Static and dynamic generators (random testing samples: positive, negative, stress…</a:t>
            </a:r>
            <a:r>
              <a:rPr lang="en-US" dirty="0" err="1" smtClean="0"/>
              <a:t>etc</a:t>
            </a:r>
            <a:r>
              <a:rPr lang="en-US" dirty="0" smtClean="0"/>
              <a:t>)</a:t>
            </a:r>
          </a:p>
          <a:p>
            <a:r>
              <a:rPr lang="en-US" dirty="0" smtClean="0"/>
              <a:t>Error and execution logs</a:t>
            </a:r>
          </a:p>
          <a:p>
            <a:r>
              <a:rPr lang="en-US" dirty="0" smtClean="0"/>
              <a:t>Reports and actions</a:t>
            </a:r>
          </a:p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3504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Project 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Eclipse (create a java project and class)</a:t>
            </a:r>
          </a:p>
          <a:p>
            <a:pPr marL="0" indent="0">
              <a:buNone/>
            </a:pPr>
            <a:r>
              <a:rPr lang="en-US" altLang="zh-TW" dirty="0">
                <a:hlinkClick r:id="rId2"/>
              </a:rPr>
              <a:t>https://</a:t>
            </a:r>
            <a:r>
              <a:rPr lang="en-US" altLang="zh-TW" dirty="0" smtClean="0">
                <a:hlinkClick r:id="rId2"/>
              </a:rPr>
              <a:t>www.youtube.com/watch?v=v2F49zLLj-8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 smtClean="0"/>
              <a:t>Eclipse (create </a:t>
            </a:r>
            <a:r>
              <a:rPr lang="en-US" altLang="zh-TW" smtClean="0"/>
              <a:t>JUnit</a:t>
            </a:r>
            <a:r>
              <a:rPr lang="en-US" altLang="zh-TW" dirty="0" smtClean="0"/>
              <a:t> test cases)</a:t>
            </a:r>
          </a:p>
          <a:p>
            <a:pPr marL="0" indent="0">
              <a:buNone/>
            </a:pPr>
            <a:r>
              <a:rPr lang="en-US" altLang="zh-TW" dirty="0">
                <a:hlinkClick r:id="rId3"/>
              </a:rPr>
              <a:t>https://</a:t>
            </a:r>
            <a:r>
              <a:rPr lang="en-US" altLang="zh-TW" dirty="0" smtClean="0">
                <a:hlinkClick r:id="rId3"/>
              </a:rPr>
              <a:t>www.youtube.com/watch?v=I8XXfgF9GSc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 smtClean="0"/>
              <a:t>Junit test methods</a:t>
            </a:r>
          </a:p>
          <a:p>
            <a:endParaRPr lang="en-US" altLang="zh-TW" dirty="0"/>
          </a:p>
          <a:p>
            <a:r>
              <a:rPr lang="en-US" altLang="zh-TW" dirty="0" smtClean="0"/>
              <a:t>Junit assert types</a:t>
            </a:r>
          </a:p>
          <a:p>
            <a:endParaRPr lang="en-US" altLang="zh-TW" dirty="0"/>
          </a:p>
          <a:p>
            <a:r>
              <a:rPr lang="en-US" altLang="zh-TW" dirty="0" smtClean="0"/>
              <a:t>Sample demonstration</a:t>
            </a:r>
          </a:p>
          <a:p>
            <a:endParaRPr lang="en-US" altLang="zh-TW" dirty="0"/>
          </a:p>
          <a:p>
            <a:r>
              <a:rPr lang="en-US" altLang="zh-TW" dirty="0" smtClean="0"/>
              <a:t>References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894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Junit test methods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zh-TW" dirty="0" smtClean="0"/>
              <a:t>@Test public void method()</a:t>
            </a:r>
          </a:p>
          <a:p>
            <a:pPr algn="just"/>
            <a:r>
              <a:rPr lang="en-US" altLang="zh-TW" dirty="0" smtClean="0"/>
              <a:t>@Test(timeout = 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)</a:t>
            </a:r>
          </a:p>
          <a:p>
            <a:pPr algn="just"/>
            <a:r>
              <a:rPr lang="en-US" altLang="zh-TW" dirty="0" smtClean="0"/>
              <a:t>@Before public void method()</a:t>
            </a:r>
          </a:p>
          <a:p>
            <a:pPr algn="just"/>
            <a:r>
              <a:rPr lang="en-US" altLang="zh-TW" dirty="0" smtClean="0"/>
              <a:t>@After public void method()</a:t>
            </a:r>
          </a:p>
          <a:p>
            <a:pPr algn="just"/>
            <a:r>
              <a:rPr lang="en-US" altLang="zh-TW" dirty="0" smtClean="0"/>
              <a:t>@</a:t>
            </a:r>
            <a:r>
              <a:rPr lang="en-US" altLang="zh-TW" dirty="0" err="1" smtClean="0"/>
              <a:t>BeforeClass</a:t>
            </a:r>
            <a:r>
              <a:rPr lang="en-US" altLang="zh-TW" dirty="0" smtClean="0"/>
              <a:t> public static void method()</a:t>
            </a:r>
          </a:p>
          <a:p>
            <a:pPr algn="just"/>
            <a:r>
              <a:rPr lang="en-US" altLang="zh-TW" dirty="0" smtClean="0"/>
              <a:t>@</a:t>
            </a:r>
            <a:r>
              <a:rPr lang="en-US" altLang="zh-TW" dirty="0" err="1" smtClean="0"/>
              <a:t>AfterClass</a:t>
            </a:r>
            <a:r>
              <a:rPr lang="en-US" altLang="zh-TW" dirty="0" smtClean="0"/>
              <a:t> public static void method()</a:t>
            </a:r>
          </a:p>
          <a:p>
            <a:pPr algn="just"/>
            <a:r>
              <a:rPr lang="en-US" altLang="zh-TW" dirty="0" smtClean="0"/>
              <a:t>@Ignore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613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Junit assert types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zh-TW" dirty="0" err="1" smtClean="0"/>
              <a:t>assertTrue</a:t>
            </a:r>
            <a:r>
              <a:rPr lang="en-US" altLang="zh-TW" dirty="0" smtClean="0"/>
              <a:t>(string message, </a:t>
            </a:r>
            <a:r>
              <a:rPr lang="en-US" altLang="zh-TW" dirty="0" err="1" smtClean="0"/>
              <a:t>boolean</a:t>
            </a:r>
            <a:r>
              <a:rPr lang="en-US" altLang="zh-TW" dirty="0" smtClean="0"/>
              <a:t> condition)</a:t>
            </a:r>
          </a:p>
          <a:p>
            <a:pPr algn="just"/>
            <a:r>
              <a:rPr lang="en-US" altLang="zh-TW" dirty="0" err="1" smtClean="0"/>
              <a:t>assertFalse</a:t>
            </a:r>
            <a:r>
              <a:rPr lang="en-US" altLang="zh-TW" dirty="0" smtClean="0"/>
              <a:t>(string message, </a:t>
            </a:r>
            <a:r>
              <a:rPr lang="en-US" altLang="zh-TW" dirty="0" err="1" smtClean="0"/>
              <a:t>boolean</a:t>
            </a:r>
            <a:r>
              <a:rPr lang="en-US" altLang="zh-TW" dirty="0" smtClean="0"/>
              <a:t> condition)</a:t>
            </a:r>
          </a:p>
          <a:p>
            <a:pPr algn="just"/>
            <a:r>
              <a:rPr lang="en-US" altLang="zh-TW" dirty="0" err="1" smtClean="0"/>
              <a:t>assertEquals</a:t>
            </a:r>
            <a:r>
              <a:rPr lang="en-US" altLang="zh-TW" dirty="0" smtClean="0"/>
              <a:t>(string message, expected, actual)</a:t>
            </a:r>
          </a:p>
          <a:p>
            <a:pPr algn="just"/>
            <a:r>
              <a:rPr lang="en-US" altLang="zh-TW" dirty="0" err="1" smtClean="0"/>
              <a:t>assertEquals</a:t>
            </a:r>
            <a:r>
              <a:rPr lang="en-US" altLang="zh-TW" dirty="0" smtClean="0"/>
              <a:t>(string message, expected, actual, tolerance)</a:t>
            </a:r>
          </a:p>
          <a:p>
            <a:pPr algn="just"/>
            <a:r>
              <a:rPr lang="en-US" altLang="zh-TW" dirty="0" err="1" smtClean="0"/>
              <a:t>assertSame</a:t>
            </a:r>
            <a:r>
              <a:rPr lang="en-US" altLang="zh-TW" dirty="0" smtClean="0"/>
              <a:t>(string message, expected, actual)</a:t>
            </a:r>
          </a:p>
          <a:p>
            <a:pPr algn="just"/>
            <a:r>
              <a:rPr lang="en-US" altLang="zh-TW" dirty="0" err="1" smtClean="0"/>
              <a:t>assertNotSame</a:t>
            </a:r>
            <a:r>
              <a:rPr lang="en-US" altLang="zh-TW" dirty="0" smtClean="0"/>
              <a:t>(string message, expected, actual)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168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Sample demonstration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Test Requirements:</a:t>
            </a:r>
          </a:p>
          <a:p>
            <a:pPr marL="0" indent="0">
              <a:buNone/>
            </a:pPr>
            <a:r>
              <a:rPr lang="en-US" dirty="0" smtClean="0"/>
              <a:t>-Test a given prime number.</a:t>
            </a:r>
          </a:p>
          <a:p>
            <a:pPr marL="0" indent="0">
              <a:buNone/>
            </a:pPr>
            <a:r>
              <a:rPr lang="en-US" dirty="0" smtClean="0"/>
              <a:t>-Test a given non-prime number.</a:t>
            </a:r>
          </a:p>
          <a:p>
            <a:pPr marL="0" indent="0">
              <a:buNone/>
            </a:pPr>
            <a:r>
              <a:rPr lang="en-US" dirty="0" smtClean="0"/>
              <a:t>-Test a given negative integer.</a:t>
            </a:r>
          </a:p>
          <a:p>
            <a:pPr marL="0" indent="0">
              <a:buNone/>
            </a:pPr>
            <a:r>
              <a:rPr lang="en-US" dirty="0" smtClean="0"/>
              <a:t>-Test a given large prime number to check timeout tolerance.</a:t>
            </a:r>
          </a:p>
          <a:p>
            <a:pPr marL="0" indent="0">
              <a:buNone/>
            </a:pPr>
            <a:r>
              <a:rPr lang="en-US" dirty="0" smtClean="0"/>
              <a:t>-Test a given integer to count it’s number of prime factors.</a:t>
            </a:r>
          </a:p>
          <a:p>
            <a:pPr marL="0" indent="0">
              <a:buNone/>
            </a:pPr>
            <a:r>
              <a:rPr lang="en-US" dirty="0" smtClean="0"/>
              <a:t>-Test a given negative integer.</a:t>
            </a:r>
          </a:p>
          <a:p>
            <a:pPr marL="0" indent="0">
              <a:buNone/>
            </a:pPr>
            <a:r>
              <a:rPr lang="en-US" dirty="0" smtClean="0"/>
              <a:t>-Test a given large number to check timeout tolerance.</a:t>
            </a:r>
          </a:p>
          <a:p>
            <a:endParaRPr lang="en-US" dirty="0"/>
          </a:p>
          <a:p>
            <a:r>
              <a:rPr lang="en-US" dirty="0" smtClean="0"/>
              <a:t>Test cases:</a:t>
            </a:r>
          </a:p>
          <a:p>
            <a:pPr marL="0" indent="0">
              <a:buNone/>
            </a:pPr>
            <a:r>
              <a:rPr lang="en-US" dirty="0" smtClean="0"/>
              <a:t>-positive test</a:t>
            </a:r>
          </a:p>
          <a:p>
            <a:pPr marL="0" indent="0">
              <a:buNone/>
            </a:pPr>
            <a:r>
              <a:rPr lang="en-US" dirty="0" smtClean="0"/>
              <a:t>-negative test</a:t>
            </a:r>
          </a:p>
          <a:p>
            <a:pPr marL="0" indent="0">
              <a:buNone/>
            </a:pPr>
            <a:r>
              <a:rPr lang="en-US" dirty="0" smtClean="0"/>
              <a:t>-stress test for negative input</a:t>
            </a:r>
          </a:p>
          <a:p>
            <a:pPr marL="0" indent="0">
              <a:buNone/>
            </a:pPr>
            <a:r>
              <a:rPr lang="en-US" dirty="0" smtClean="0"/>
              <a:t>-stress test</a:t>
            </a:r>
          </a:p>
          <a:p>
            <a:pPr marL="0" indent="0">
              <a:buNone/>
            </a:pPr>
            <a:r>
              <a:rPr lang="en-US" dirty="0" smtClean="0"/>
              <a:t>-positive test</a:t>
            </a:r>
          </a:p>
          <a:p>
            <a:pPr marL="0" indent="0">
              <a:buNone/>
            </a:pPr>
            <a:r>
              <a:rPr lang="en-US" dirty="0" smtClean="0"/>
              <a:t>-negative test</a:t>
            </a:r>
          </a:p>
          <a:p>
            <a:pPr marL="0" indent="0">
              <a:buNone/>
            </a:pPr>
            <a:r>
              <a:rPr lang="en-US" dirty="0" smtClean="0"/>
              <a:t>-stress test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7942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References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sz="2200" dirty="0" smtClean="0"/>
              <a:t>[1] </a:t>
            </a:r>
            <a:r>
              <a:rPr lang="en-US" sz="2200" dirty="0">
                <a:hlinkClick r:id="rId2"/>
              </a:rPr>
              <a:t>http://</a:t>
            </a:r>
            <a:r>
              <a:rPr lang="en-US" sz="2200" dirty="0" smtClean="0">
                <a:hlinkClick r:id="rId2"/>
              </a:rPr>
              <a:t>www.vogella.com/tutorials/JUnit/article.html</a:t>
            </a:r>
            <a:endParaRPr lang="en-US" sz="2200" dirty="0" smtClean="0"/>
          </a:p>
          <a:p>
            <a:pPr marL="0" indent="0" algn="just">
              <a:buNone/>
            </a:pPr>
            <a:r>
              <a:rPr lang="en-US" altLang="zh-TW" sz="2200" dirty="0" smtClean="0"/>
              <a:t>[2] </a:t>
            </a:r>
            <a:r>
              <a:rPr lang="en-US" sz="2200" dirty="0">
                <a:hlinkClick r:id="rId3"/>
              </a:rPr>
              <a:t>http://junit.org</a:t>
            </a:r>
            <a:r>
              <a:rPr lang="en-US" sz="2200" dirty="0" smtClean="0">
                <a:hlinkClick r:id="rId3"/>
              </a:rPr>
              <a:t>/</a:t>
            </a:r>
            <a:endParaRPr lang="en-US" sz="2200" dirty="0" smtClean="0"/>
          </a:p>
          <a:p>
            <a:pPr marL="0" indent="0" algn="just">
              <a:buNone/>
            </a:pPr>
            <a:r>
              <a:rPr lang="en-US" sz="2200" dirty="0" smtClean="0"/>
              <a:t>[3]</a:t>
            </a:r>
            <a:r>
              <a:rPr lang="en-US" sz="2200" dirty="0"/>
              <a:t> </a:t>
            </a:r>
            <a:r>
              <a:rPr lang="en-US" sz="2200" dirty="0">
                <a:hlinkClick r:id="rId4"/>
              </a:rPr>
              <a:t>http://eclipse.org</a:t>
            </a:r>
            <a:r>
              <a:rPr lang="en-US" sz="2200" dirty="0" smtClean="0">
                <a:hlinkClick r:id="rId4"/>
              </a:rPr>
              <a:t>/</a:t>
            </a:r>
            <a:endParaRPr lang="en-US" sz="220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296CF8-5911-4BFF-85E4-8A84EAB14904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634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壁窗">
  <a:themeElements>
    <a:clrScheme name="壁窗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壁窗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壁窗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3617</TotalTime>
  <Words>404</Words>
  <Application>Microsoft Office PowerPoint</Application>
  <PresentationFormat>如螢幕大小 (4:3)</PresentationFormat>
  <Paragraphs>91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新細明體</vt:lpstr>
      <vt:lpstr>Calibri</vt:lpstr>
      <vt:lpstr>Century Schoolbook</vt:lpstr>
      <vt:lpstr>Wingdings</vt:lpstr>
      <vt:lpstr>Wingdings 2</vt:lpstr>
      <vt:lpstr>壁窗</vt:lpstr>
      <vt:lpstr> Software Testing Suppliment &amp; Proj.1: Junit Instructor (Eclipse) 2015/10/7</vt:lpstr>
      <vt:lpstr>Outline</vt:lpstr>
      <vt:lpstr>V model</vt:lpstr>
      <vt:lpstr>V model</vt:lpstr>
      <vt:lpstr>IEEE 829</vt:lpstr>
      <vt:lpstr>Project 1</vt:lpstr>
      <vt:lpstr>Junit test methods</vt:lpstr>
      <vt:lpstr>Junit assert types</vt:lpstr>
      <vt:lpstr>Sample demonstration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Editing by Viewing: Automatic Home Video Summarization by Viewing Behavior Analysis Wei-Ting Peng, Wei-Ta Chu, Chia-Han Chang, Chien-Nan Chou, Wei-Jia Huang, Wen-Yan Chang and Yi-Ping Hung IEEE TRANSACTIONS ON MULTIMEDIA, VOL. 13, NO. 3, JUNE 2011</dc:title>
  <dc:creator>shiuhungjr</dc:creator>
  <cp:lastModifiedBy>Farn Wang</cp:lastModifiedBy>
  <cp:revision>186</cp:revision>
  <dcterms:created xsi:type="dcterms:W3CDTF">2014-03-08T10:30:01Z</dcterms:created>
  <dcterms:modified xsi:type="dcterms:W3CDTF">2015-10-10T02:17:51Z</dcterms:modified>
</cp:coreProperties>
</file>