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4" r:id="rId7"/>
    <p:sldId id="265" r:id="rId8"/>
    <p:sldId id="266" r:id="rId9"/>
    <p:sldId id="267" r:id="rId10"/>
    <p:sldId id="259" r:id="rId11"/>
    <p:sldId id="261" r:id="rId12"/>
    <p:sldId id="260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89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17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01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58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006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80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942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24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516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80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40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0D5E1-7206-4883-B33D-DD04C151D21B}" type="datetimeFigureOut">
              <a:rPr lang="zh-TW" altLang="en-US" smtClean="0"/>
              <a:t>2015/9/18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E44A7-4B3F-4B4F-BBD1-C99512F583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009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file:///C:\Users\Farn\Documents\courses\ST\2015.fall\hsu1.jp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file:///C:\Users\Farn\Documents\courses\ST\2015.fall\hsu1.jp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lvl="0"/>
            <a:r>
              <a:rPr kumimoji="0" lang="zh-TW" altLang="zh-TW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ritannic Bold" panose="020B0903060703020204" pitchFamily="34" charset="0"/>
              </a:rPr>
              <a:t>Software Testing</a:t>
            </a:r>
            <a:r>
              <a:rPr kumimoji="0" lang="en-US" altLang="zh-TW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ritannic Bold" panose="020B0903060703020204" pitchFamily="34" charset="0"/>
              </a:rPr>
              <a:t/>
            </a:r>
            <a:br>
              <a:rPr kumimoji="0" lang="en-US" altLang="zh-TW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ritannic Bold" panose="020B0903060703020204" pitchFamily="34" charset="0"/>
              </a:rPr>
            </a:br>
            <a:r>
              <a:rPr kumimoji="0" lang="zh-TW" altLang="zh-TW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ritannic Bold" panose="020B0903060703020204" pitchFamily="34" charset="0"/>
              </a:rPr>
              <a:t>EE 5170/921 U9550</a:t>
            </a:r>
            <a:r>
              <a:rPr kumimoji="0" lang="en-US" altLang="zh-TW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ritannic Bold" panose="020B0903060703020204" pitchFamily="34" charset="0"/>
              </a:rPr>
              <a:t/>
            </a:r>
            <a:br>
              <a:rPr kumimoji="0" lang="en-US" altLang="zh-TW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ritannic Bold" panose="020B0903060703020204" pitchFamily="34" charset="0"/>
              </a:rPr>
            </a:br>
            <a:r>
              <a:rPr lang="en-US" altLang="zh-TW" sz="3600" b="1" dirty="0" smtClean="0">
                <a:latin typeface="Britannic Bold" panose="020B0903060703020204" pitchFamily="34" charset="0"/>
              </a:rPr>
              <a:t>Fall 2015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zh-TW" dirty="0" smtClean="0"/>
              <a:t>Professor: Farn Wang </a:t>
            </a:r>
            <a:r>
              <a:rPr lang="zh-TW" altLang="de-DE" dirty="0" smtClean="0"/>
              <a:t>（王凡教授）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zh-TW" dirty="0" smtClean="0"/>
              <a:t>farn</a:t>
            </a:r>
            <a:r>
              <a:rPr lang="zh-TW" altLang="de-DE" dirty="0" smtClean="0"/>
              <a:t>＠</a:t>
            </a:r>
            <a:r>
              <a:rPr lang="de-DE" altLang="zh-TW" dirty="0" smtClean="0"/>
              <a:t>ntu.edu.tw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zh-TW" dirty="0" smtClean="0"/>
              <a:t>http://cc.ee.ntu.edu.tw/~farn</a:t>
            </a:r>
          </a:p>
        </p:txBody>
      </p:sp>
      <p:sp>
        <p:nvSpPr>
          <p:cNvPr id="4" name="矩形 3"/>
          <p:cNvSpPr/>
          <p:nvPr/>
        </p:nvSpPr>
        <p:spPr>
          <a:xfrm>
            <a:off x="3048000" y="2321005"/>
            <a:ext cx="6096000" cy="44627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TW" altLang="zh-TW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31759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5400" b="1" dirty="0" smtClean="0">
                <a:solidFill>
                  <a:srgbClr val="0070C0"/>
                </a:solidFill>
              </a:rPr>
              <a:t>Software Testing</a:t>
            </a:r>
            <a:br>
              <a:rPr lang="en-US" altLang="zh-TW" sz="5400" b="1" dirty="0" smtClean="0">
                <a:solidFill>
                  <a:srgbClr val="0070C0"/>
                </a:solidFill>
              </a:rPr>
            </a:br>
            <a:r>
              <a:rPr lang="es-ES" altLang="zh-TW" dirty="0" smtClean="0"/>
              <a:t>EE 5170/921 U9550                              Fall 2015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altLang="zh-TW" dirty="0" smtClean="0"/>
              <a:t>Professor: Farn Wang </a:t>
            </a:r>
            <a:r>
              <a:rPr lang="zh-TW" altLang="de-DE" dirty="0" smtClean="0"/>
              <a:t>（王凡教授）</a:t>
            </a:r>
          </a:p>
          <a:p>
            <a:r>
              <a:rPr lang="de-DE" altLang="zh-TW" dirty="0" smtClean="0"/>
              <a:t>farn</a:t>
            </a:r>
            <a:r>
              <a:rPr lang="zh-TW" altLang="de-DE" dirty="0" smtClean="0"/>
              <a:t>＠</a:t>
            </a:r>
            <a:r>
              <a:rPr lang="de-DE" altLang="zh-TW" dirty="0" smtClean="0"/>
              <a:t>ntu.edu.tw</a:t>
            </a:r>
          </a:p>
          <a:p>
            <a:r>
              <a:rPr lang="de-DE" altLang="zh-TW" dirty="0" smtClean="0"/>
              <a:t>http://cc.ee.ntu.edu.tw/~farn</a:t>
            </a:r>
          </a:p>
          <a:p>
            <a:r>
              <a:rPr lang="en-US" altLang="zh-TW" dirty="0" smtClean="0"/>
              <a:t>Office: BL 616</a:t>
            </a:r>
          </a:p>
          <a:p>
            <a:r>
              <a:rPr lang="en-US" altLang="zh-TW" dirty="0" smtClean="0"/>
              <a:t>Phone: +886-2-33663602</a:t>
            </a:r>
          </a:p>
          <a:p>
            <a:r>
              <a:rPr lang="en-US" altLang="zh-TW" dirty="0" smtClean="0"/>
              <a:t>Semester: Fall 2015            </a:t>
            </a:r>
          </a:p>
          <a:p>
            <a:r>
              <a:rPr lang="en-US" altLang="zh-TW" dirty="0" smtClean="0"/>
              <a:t>Time: Every Friday, 9:10am-12:00noon. </a:t>
            </a:r>
          </a:p>
          <a:p>
            <a:r>
              <a:rPr lang="en-US" altLang="zh-TW" dirty="0" smtClean="0"/>
              <a:t>Classroom: BL 103</a:t>
            </a:r>
            <a:endParaRPr lang="en-US" altLang="zh-TW" dirty="0"/>
          </a:p>
          <a:p>
            <a:r>
              <a:rPr lang="en-US" altLang="zh-TW" dirty="0" smtClean="0"/>
              <a:t>Credits: 3</a:t>
            </a:r>
            <a:endParaRPr lang="zh-TW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79177"/>
            <a:ext cx="31290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27" name="Picture 3" descr="C:\Users\Farn\Documents\courses\ST\2015.fall\hsu1-small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3869988"/>
            <a:ext cx="457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775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Background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sizes and functionalities of software keep on growing, </a:t>
            </a:r>
          </a:p>
          <a:p>
            <a:r>
              <a:rPr lang="en-US" altLang="zh-TW" dirty="0" smtClean="0"/>
              <a:t>more than half of their budget in testing and debugging.   </a:t>
            </a:r>
          </a:p>
          <a:p>
            <a:r>
              <a:rPr lang="en-US" altLang="zh-TW" dirty="0" smtClean="0"/>
              <a:t>For Taiwan's high-tech industry,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do not think should spend money in software testing.  </a:t>
            </a:r>
          </a:p>
          <a:p>
            <a:pPr lvl="2">
              <a:buFont typeface="Wingdings" panose="05000000000000000000" pitchFamily="2" charset="2"/>
              <a:buChar char="u"/>
            </a:pPr>
            <a:r>
              <a:rPr lang="en-US" altLang="zh-TW" dirty="0" smtClean="0"/>
              <a:t>OEM and ODM business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hurting Taiwan's effort in brand business.  </a:t>
            </a:r>
          </a:p>
        </p:txBody>
      </p:sp>
    </p:spTree>
    <p:extLst>
      <p:ext uri="{BB962C8B-B14F-4D97-AF65-F5344CB8AC3E}">
        <p14:creationId xmlns:p14="http://schemas.microsoft.com/office/powerpoint/2010/main" val="88813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Goals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teaching the students the background theory of software testing </a:t>
            </a:r>
          </a:p>
          <a:p>
            <a:r>
              <a:rPr lang="en-US" altLang="zh-TW" dirty="0" smtClean="0"/>
              <a:t>letting them play with advanced testing tools from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academia and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industry</a:t>
            </a:r>
          </a:p>
          <a:p>
            <a:pPr marL="0" indent="0">
              <a:buNone/>
            </a:pPr>
            <a:r>
              <a:rPr lang="en-US" altLang="zh-TW" dirty="0" smtClean="0"/>
              <a:t>In the long-term, </a:t>
            </a:r>
          </a:p>
          <a:p>
            <a:r>
              <a:rPr lang="en-US" altLang="zh-TW" dirty="0" smtClean="0"/>
              <a:t>produce skillful professionals in software testing business for Taiwan's high-tech industry  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Knowing the fundamentals and resources in software testing;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Utilizing the research results from academia;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Deploying software testing technology to various companies. 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565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Course planning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1.  first module: foundations (slides)</a:t>
            </a:r>
          </a:p>
          <a:p>
            <a:r>
              <a:rPr lang="en-US" altLang="zh-TW" dirty="0" smtClean="0"/>
              <a:t>2.  second module: Testing criteria</a:t>
            </a:r>
          </a:p>
          <a:p>
            <a:r>
              <a:rPr lang="en-US" altLang="zh-TW" dirty="0" smtClean="0"/>
              <a:t>2.1 Graph testing (slides)</a:t>
            </a:r>
          </a:p>
          <a:p>
            <a:r>
              <a:rPr lang="en-US" altLang="zh-TW" dirty="0" smtClean="0"/>
              <a:t>2.2 Logic testing (slides)</a:t>
            </a:r>
          </a:p>
          <a:p>
            <a:r>
              <a:rPr lang="en-US" altLang="zh-TW" dirty="0" smtClean="0"/>
              <a:t>2.3 Input space testing (slides) </a:t>
            </a:r>
          </a:p>
          <a:p>
            <a:r>
              <a:rPr lang="en-US" altLang="zh-TW" dirty="0" smtClean="0"/>
              <a:t>2.4 Syntax testing (slides) </a:t>
            </a:r>
          </a:p>
          <a:p>
            <a:r>
              <a:rPr lang="en-US" altLang="zh-TW" dirty="0" smtClean="0"/>
              <a:t>3.  third module: practical consideration. (slides)</a:t>
            </a:r>
          </a:p>
          <a:p>
            <a:r>
              <a:rPr lang="en-US" altLang="zh-TW" dirty="0" smtClean="0"/>
              <a:t>4. </a:t>
            </a:r>
            <a:r>
              <a:rPr lang="en-US" altLang="zh-TW" dirty="0" err="1" smtClean="0"/>
              <a:t>Criterias</a:t>
            </a:r>
            <a:r>
              <a:rPr lang="en-US" altLang="zh-TW" dirty="0" smtClean="0"/>
              <a:t> for new app types (slides)</a:t>
            </a:r>
          </a:p>
          <a:p>
            <a:pPr marL="0" indent="0">
              <a:buNone/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1167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Pre-requisites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Basic Computer Concepts, </a:t>
            </a:r>
          </a:p>
          <a:p>
            <a:r>
              <a:rPr lang="en-US" altLang="zh-TW" dirty="0" smtClean="0"/>
              <a:t>C/C++ or Java programming, </a:t>
            </a:r>
          </a:p>
          <a:p>
            <a:r>
              <a:rPr lang="en-US" altLang="zh-TW" dirty="0" smtClean="0"/>
              <a:t>Data-Structures, </a:t>
            </a:r>
          </a:p>
          <a:p>
            <a:r>
              <a:rPr lang="en-US" altLang="zh-TW" dirty="0" smtClean="0"/>
              <a:t>Algorithms </a:t>
            </a:r>
          </a:p>
        </p:txBody>
      </p:sp>
    </p:spTree>
    <p:extLst>
      <p:ext uri="{BB962C8B-B14F-4D97-AF65-F5344CB8AC3E}">
        <p14:creationId xmlns:p14="http://schemas.microsoft.com/office/powerpoint/2010/main" val="377811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Evaluation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Final exam (45%) </a:t>
            </a:r>
          </a:p>
          <a:p>
            <a:r>
              <a:rPr lang="en-US" altLang="zh-TW" dirty="0" smtClean="0"/>
              <a:t>80+%  variations from textbook exercises </a:t>
            </a:r>
          </a:p>
          <a:p>
            <a:r>
              <a:rPr lang="en-US" altLang="zh-TW" dirty="0" smtClean="0"/>
              <a:t>Projects 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Project 1 (15%): </a:t>
            </a:r>
            <a:r>
              <a:rPr lang="en-US" altLang="zh-TW" dirty="0" err="1" smtClean="0"/>
              <a:t>CUnit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CppUnit</a:t>
            </a:r>
            <a:r>
              <a:rPr lang="en-US" altLang="zh-TW" dirty="0" smtClean="0"/>
              <a:t>, or JUnit, due by Nov. 20, 2014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Project 2 (15%): GUI testing with Selenium (with Firefox on either Linux or Windows) due by Dec. 18, 2014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dirty="0" smtClean="0"/>
              <a:t>Project 3 (15%): Image-based testing due by Jan. 22, 2015 </a:t>
            </a:r>
          </a:p>
          <a:p>
            <a:pPr lvl="2">
              <a:buFont typeface="Wingdings" panose="05000000000000000000" pitchFamily="2" charset="2"/>
              <a:buChar char="p"/>
            </a:pPr>
            <a:r>
              <a:rPr lang="en-US" altLang="zh-TW" dirty="0" smtClean="0"/>
              <a:t>with </a:t>
            </a:r>
            <a:r>
              <a:rPr lang="en-US" altLang="zh-TW" dirty="0" err="1" smtClean="0"/>
              <a:t>Sikuli</a:t>
            </a:r>
            <a:r>
              <a:rPr lang="en-US" altLang="zh-TW" dirty="0" smtClean="0"/>
              <a:t> (with Firefox on either Linux or Windows), or </a:t>
            </a:r>
          </a:p>
          <a:p>
            <a:pPr lvl="2">
              <a:buFont typeface="Wingdings" panose="05000000000000000000" pitchFamily="2" charset="2"/>
              <a:buChar char="p"/>
            </a:pPr>
            <a:r>
              <a:rPr lang="en-US" altLang="zh-TW" dirty="0" smtClean="0"/>
              <a:t>with Android devices </a:t>
            </a:r>
            <a:endParaRPr lang="en-US" altLang="zh-TW" dirty="0" smtClean="0"/>
          </a:p>
          <a:p>
            <a:r>
              <a:rPr lang="fr-FR" altLang="zh-TW" dirty="0" smtClean="0"/>
              <a:t>Homework </a:t>
            </a:r>
            <a:r>
              <a:rPr lang="fr-FR" altLang="zh-TW" dirty="0"/>
              <a:t>(10%)  </a:t>
            </a:r>
          </a:p>
          <a:p>
            <a:pPr lvl="2">
              <a:buFont typeface="Wingdings" panose="05000000000000000000" pitchFamily="2" charset="2"/>
              <a:buChar char="p"/>
            </a:pP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13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Requirement on students' projects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One student one team. </a:t>
            </a:r>
          </a:p>
          <a:p>
            <a:r>
              <a:rPr lang="en-US" altLang="zh-TW" dirty="0" smtClean="0"/>
              <a:t>About 10 mins every students with PPT files. </a:t>
            </a:r>
          </a:p>
          <a:p>
            <a:r>
              <a:rPr lang="en-US" altLang="zh-TW" dirty="0" smtClean="0"/>
              <a:t>One min about the app and its challenge to software testing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523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Project evaluation </a:t>
            </a:r>
            <a:r>
              <a:rPr lang="en-US" altLang="zh-TW" dirty="0" smtClean="0"/>
              <a:t>criteria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Explanation </a:t>
            </a:r>
            <a:r>
              <a:rPr lang="en-US" altLang="zh-TW" dirty="0" smtClean="0"/>
              <a:t>of the SUT. (10% of total points) 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User </a:t>
            </a:r>
            <a:r>
              <a:rPr lang="en-US" altLang="zh-TW" dirty="0" smtClean="0"/>
              <a:t>requirements. (10% of </a:t>
            </a:r>
            <a:r>
              <a:rPr lang="en-US" altLang="zh-TW" dirty="0" err="1" smtClean="0"/>
              <a:t>totoal</a:t>
            </a:r>
            <a:r>
              <a:rPr lang="en-US" altLang="zh-TW" dirty="0" smtClean="0"/>
              <a:t> points) 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Test </a:t>
            </a:r>
            <a:r>
              <a:rPr lang="en-US" altLang="zh-TW" dirty="0" smtClean="0"/>
              <a:t>specification correspondence to user requirements. (10% of total points) 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Test </a:t>
            </a:r>
            <a:r>
              <a:rPr lang="en-US" altLang="zh-TW" dirty="0" smtClean="0"/>
              <a:t>adequacy. (30% of total points)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How </a:t>
            </a:r>
            <a:r>
              <a:rPr lang="en-US" altLang="zh-TW" dirty="0" smtClean="0"/>
              <a:t>many (combinations of) data intervals are tested ?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How </a:t>
            </a:r>
            <a:r>
              <a:rPr lang="en-US" altLang="zh-TW" dirty="0" smtClean="0"/>
              <a:t>many permutations of test input events are tested ?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Test </a:t>
            </a:r>
            <a:r>
              <a:rPr lang="en-US" altLang="zh-TW" dirty="0" smtClean="0"/>
              <a:t>evaluation (test oracle) ?</a:t>
            </a:r>
            <a:r>
              <a:rPr lang="zh-TW" altLang="en-US" dirty="0" smtClean="0"/>
              <a:t>　</a:t>
            </a:r>
            <a:r>
              <a:rPr lang="en-US" altLang="zh-TW" dirty="0" smtClean="0"/>
              <a:t>(10% of total points) </a:t>
            </a:r>
          </a:p>
          <a:p>
            <a:pPr lvl="1"/>
            <a:r>
              <a:rPr lang="en-US" altLang="zh-TW" dirty="0" smtClean="0"/>
              <a:t>Purely by human decision ?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By </a:t>
            </a:r>
            <a:r>
              <a:rPr lang="en-US" altLang="zh-TW" dirty="0" smtClean="0"/>
              <a:t>test verdicts (or as assertion) encoded in the test scripts ?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Or </a:t>
            </a:r>
            <a:r>
              <a:rPr lang="en-US" altLang="zh-TW" dirty="0" smtClean="0"/>
              <a:t>by a test evaluation method ?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Test </a:t>
            </a:r>
            <a:r>
              <a:rPr lang="en-US" altLang="zh-TW" dirty="0" smtClean="0"/>
              <a:t>execution demonstration</a:t>
            </a:r>
            <a:r>
              <a:rPr lang="zh-TW" altLang="en-US" dirty="0" smtClean="0"/>
              <a:t>　</a:t>
            </a:r>
            <a:r>
              <a:rPr lang="en-US" altLang="zh-TW" dirty="0" smtClean="0"/>
              <a:t>(10% of total points) 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Test </a:t>
            </a:r>
            <a:r>
              <a:rPr lang="en-US" altLang="zh-TW" dirty="0" smtClean="0"/>
              <a:t>execution analysis ?</a:t>
            </a:r>
            <a:r>
              <a:rPr lang="zh-TW" altLang="en-US" dirty="0" smtClean="0"/>
              <a:t>　</a:t>
            </a:r>
            <a:r>
              <a:rPr lang="en-US" altLang="zh-TW" dirty="0" smtClean="0"/>
              <a:t>(10% of total points)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How </a:t>
            </a:r>
            <a:r>
              <a:rPr lang="en-US" altLang="zh-TW" dirty="0" smtClean="0"/>
              <a:t>many bugs detected ?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What </a:t>
            </a:r>
            <a:r>
              <a:rPr lang="en-US" altLang="zh-TW" dirty="0" smtClean="0"/>
              <a:t>kind of bugs detected ?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Communication </a:t>
            </a:r>
            <a:r>
              <a:rPr lang="en-US" altLang="zh-TW" dirty="0" smtClean="0"/>
              <a:t>quality ?</a:t>
            </a:r>
            <a:r>
              <a:rPr lang="zh-TW" altLang="en-US" dirty="0" smtClean="0"/>
              <a:t>　</a:t>
            </a:r>
            <a:r>
              <a:rPr lang="en-US" altLang="zh-TW" dirty="0" smtClean="0"/>
              <a:t>(10% of total points)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5927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 dirty="0" smtClean="0"/>
              <a:t>Textbook</a:t>
            </a:r>
            <a:endParaRPr lang="fr-FR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altLang="zh-TW" dirty="0"/>
          </a:p>
          <a:p>
            <a:pPr marL="0" indent="0" algn="ctr">
              <a:buNone/>
            </a:pPr>
            <a:r>
              <a:rPr lang="fr-FR" altLang="zh-TW" sz="5200" dirty="0" smtClean="0">
                <a:solidFill>
                  <a:srgbClr val="FF0000"/>
                </a:solidFill>
              </a:rPr>
              <a:t>Introduction </a:t>
            </a:r>
            <a:r>
              <a:rPr lang="fr-FR" altLang="zh-TW" sz="5200" dirty="0">
                <a:solidFill>
                  <a:srgbClr val="FF0000"/>
                </a:solidFill>
              </a:rPr>
              <a:t>to Software Testing</a:t>
            </a:r>
          </a:p>
          <a:p>
            <a:pPr marL="0" indent="0" algn="ctr">
              <a:buNone/>
            </a:pPr>
            <a:r>
              <a:rPr lang="fr-FR" altLang="zh-TW" sz="3600" i="1" dirty="0"/>
              <a:t>Paul Ammann and Jeff Offutt</a:t>
            </a:r>
          </a:p>
          <a:p>
            <a:pPr marL="0" indent="0">
              <a:buNone/>
            </a:pPr>
            <a:endParaRPr lang="fr-FR" altLang="zh-TW" dirty="0"/>
          </a:p>
          <a:p>
            <a:pPr marL="0" indent="0">
              <a:buNone/>
            </a:pPr>
            <a:r>
              <a:rPr lang="fr-FR" altLang="zh-TW" dirty="0"/>
              <a:t>With related course materials in </a:t>
            </a:r>
            <a:r>
              <a:rPr lang="fr-FR" altLang="zh-TW" dirty="0" smtClean="0"/>
              <a:t>http</a:t>
            </a:r>
            <a:r>
              <a:rPr lang="fr-FR" altLang="zh-TW" dirty="0"/>
              <a:t>://cs.gmu.edu/~offutt/softwaretest/</a:t>
            </a:r>
          </a:p>
          <a:p>
            <a:pPr marL="0" indent="0">
              <a:buNone/>
            </a:pPr>
            <a:endParaRPr lang="fr-FR" altLang="zh-TW" dirty="0"/>
          </a:p>
        </p:txBody>
      </p:sp>
      <p:pic>
        <p:nvPicPr>
          <p:cNvPr id="1026" name="Picture 2" descr="爆炸 2: News&#10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7706975"/>
            <a:ext cx="32004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388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Homework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altLang="zh-TW" dirty="0" smtClean="0"/>
              <a:t>Chapter </a:t>
            </a:r>
            <a:r>
              <a:rPr lang="fr-FR" altLang="zh-TW" dirty="0" smtClean="0"/>
              <a:t>1:  </a:t>
            </a:r>
          </a:p>
          <a:p>
            <a:r>
              <a:rPr lang="fr-FR" altLang="zh-TW" dirty="0" smtClean="0"/>
              <a:t>Section 1.1, exercise 1 (page 10). </a:t>
            </a:r>
          </a:p>
          <a:p>
            <a:r>
              <a:rPr lang="fr-FR" altLang="zh-TW" dirty="0" smtClean="0"/>
              <a:t>Section 1.2, exercise 3 (page 16).</a:t>
            </a:r>
          </a:p>
          <a:p>
            <a:r>
              <a:rPr lang="fr-FR" altLang="zh-TW" dirty="0" smtClean="0"/>
              <a:t>Section 1.3, exercise 1 (page 21). </a:t>
            </a:r>
          </a:p>
          <a:p>
            <a:r>
              <a:rPr lang="fr-FR" altLang="zh-TW" dirty="0" smtClean="0"/>
              <a:t>Chapter 2:</a:t>
            </a:r>
          </a:p>
          <a:p>
            <a:r>
              <a:rPr lang="fr-FR" altLang="zh-TW" dirty="0" smtClean="0"/>
              <a:t>Section 2.1, exercise 2, 4 (page 32).</a:t>
            </a:r>
          </a:p>
          <a:p>
            <a:r>
              <a:rPr lang="fr-FR" altLang="zh-TW" dirty="0" smtClean="0"/>
              <a:t>Section 2.2.1, exercise 2, 3 (page 42), 5, 7 (page 43). </a:t>
            </a:r>
          </a:p>
          <a:p>
            <a:r>
              <a:rPr lang="fr-FR" altLang="zh-TW" dirty="0" smtClean="0"/>
              <a:t>Section 2.2.3, exercise 1 (page 51). </a:t>
            </a:r>
          </a:p>
          <a:p>
            <a:r>
              <a:rPr lang="fr-FR" altLang="zh-TW" dirty="0" smtClean="0"/>
              <a:t>Section 2.3, exercise 1 (page 60), 5 (page 61), 6 (page 62). </a:t>
            </a:r>
          </a:p>
          <a:p>
            <a:r>
              <a:rPr lang="fr-FR" altLang="zh-TW" dirty="0" smtClean="0"/>
              <a:t>Section 2.4, exercise 3 (page 74). </a:t>
            </a:r>
          </a:p>
          <a:p>
            <a:r>
              <a:rPr lang="fr-FR" altLang="zh-TW" dirty="0" smtClean="0"/>
              <a:t>Section 2.5, exercise 1 (page 85). </a:t>
            </a:r>
          </a:p>
          <a:p>
            <a:r>
              <a:rPr lang="fr-FR" altLang="zh-TW" dirty="0" smtClean="0"/>
              <a:t>Section 2.6, exercise 1 (page 91). </a:t>
            </a:r>
          </a:p>
          <a:p>
            <a:r>
              <a:rPr lang="fr-FR" altLang="zh-TW" dirty="0" smtClean="0"/>
              <a:t>Section 2.7, exercise 6, 7 (page 100). </a:t>
            </a:r>
          </a:p>
          <a:p>
            <a:r>
              <a:rPr lang="fr-FR" altLang="zh-TW" dirty="0" smtClean="0"/>
              <a:t>Chapter 3: </a:t>
            </a:r>
          </a:p>
          <a:p>
            <a:r>
              <a:rPr lang="fr-FR" altLang="zh-TW" dirty="0" smtClean="0"/>
              <a:t>Section 3.1, exercise 2 (page 105). </a:t>
            </a:r>
          </a:p>
          <a:p>
            <a:r>
              <a:rPr lang="fr-FR" altLang="zh-TW" dirty="0" smtClean="0"/>
              <a:t>Section 3.2, exercise 6(a)-(h), 8(a)-(h) (page 119). </a:t>
            </a:r>
          </a:p>
          <a:p>
            <a:r>
              <a:rPr lang="fr-FR" altLang="zh-TW" dirty="0" smtClean="0"/>
              <a:t>Section 3.3, exercise 2 (page 130). </a:t>
            </a:r>
          </a:p>
          <a:p>
            <a:r>
              <a:rPr lang="fr-FR" altLang="zh-TW" dirty="0" smtClean="0"/>
              <a:t>Section 3.4, exercise 1 (page 134). </a:t>
            </a:r>
          </a:p>
          <a:p>
            <a:r>
              <a:rPr lang="fr-FR" altLang="zh-TW" dirty="0" smtClean="0"/>
              <a:t>Section 3.5, exercise 1 (page 137), 3 (page 138). </a:t>
            </a:r>
          </a:p>
          <a:p>
            <a:r>
              <a:rPr lang="fr-FR" altLang="zh-TW" dirty="0" smtClean="0"/>
              <a:t>Section 3.6, exercise 2(a)-(e), 4(a)-(e) (page 146). </a:t>
            </a:r>
          </a:p>
          <a:p>
            <a:r>
              <a:rPr lang="fr-FR" altLang="zh-TW" dirty="0" smtClean="0"/>
              <a:t>Chapter 4:</a:t>
            </a:r>
          </a:p>
          <a:p>
            <a:r>
              <a:rPr lang="fr-FR" altLang="zh-TW" dirty="0" smtClean="0"/>
              <a:t>Section 4.1, exercise 2 (page 159). </a:t>
            </a:r>
          </a:p>
          <a:p>
            <a:r>
              <a:rPr lang="fr-FR" altLang="zh-TW" dirty="0" smtClean="0"/>
              <a:t>Section 4.2, exercise 3, 4 (page 163), 5 (page 164). </a:t>
            </a:r>
          </a:p>
          <a:p>
            <a:r>
              <a:rPr lang="fr-FR" altLang="zh-TW" dirty="0" smtClean="0"/>
              <a:t>Chapter 5: </a:t>
            </a:r>
          </a:p>
          <a:p>
            <a:r>
              <a:rPr lang="fr-FR" altLang="zh-TW" dirty="0" smtClean="0"/>
              <a:t>Section 5.1.1, exercise 2 (page 173). </a:t>
            </a:r>
          </a:p>
          <a:p>
            <a:r>
              <a:rPr lang="fr-FR" altLang="zh-TW" dirty="0" smtClean="0"/>
              <a:t>Section 5.1.2, exercise 2, 3 (page 175). </a:t>
            </a:r>
          </a:p>
          <a:p>
            <a:r>
              <a:rPr lang="fr-FR" altLang="zh-TW" dirty="0" smtClean="0"/>
              <a:t>Section 5.2, exercise 2 (page 189), 6 (page 190). </a:t>
            </a:r>
          </a:p>
          <a:p>
            <a:r>
              <a:rPr lang="fr-FR" altLang="zh-TW" dirty="0" smtClean="0"/>
              <a:t>Section 5.5, exercise 3 (page 208), 4, 5 (page 209). </a:t>
            </a:r>
          </a:p>
          <a:p>
            <a:r>
              <a:rPr lang="fr-FR" altLang="zh-TW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49071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Teaching Assistant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55868" y="1825625"/>
            <a:ext cx="6997931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許宏誌</a:t>
            </a:r>
            <a:endParaRPr lang="en-US" altLang="zh-TW" dirty="0" smtClean="0"/>
          </a:p>
          <a:p>
            <a:r>
              <a:rPr lang="en-US" altLang="zh-TW" dirty="0" smtClean="0"/>
              <a:t>Mail: hsuhongzhi@gmail.com</a:t>
            </a:r>
          </a:p>
          <a:p>
            <a:r>
              <a:rPr lang="en-US" altLang="zh-TW" dirty="0" smtClean="0"/>
              <a:t>Room: BL 604</a:t>
            </a:r>
          </a:p>
          <a:p>
            <a:r>
              <a:rPr lang="en-US" altLang="zh-TW" dirty="0" smtClean="0"/>
              <a:t>Office Hour: 13:00-14:00pm, every Friday</a:t>
            </a:r>
          </a:p>
          <a:p>
            <a:endParaRPr lang="zh-TW" altLang="en-US" dirty="0"/>
          </a:p>
        </p:txBody>
      </p:sp>
      <p:pic>
        <p:nvPicPr>
          <p:cNvPr id="4" name="Picture 3" descr="C:\Users\Farn\Documents\courses\ST\2015.fall\hsu1-small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3060643" cy="408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51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285</Words>
  <Application>Microsoft Office PowerPoint</Application>
  <PresentationFormat>寬螢幕</PresentationFormat>
  <Paragraphs>122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新細明體</vt:lpstr>
      <vt:lpstr>標楷體</vt:lpstr>
      <vt:lpstr>Arial</vt:lpstr>
      <vt:lpstr>Britannic Bold</vt:lpstr>
      <vt:lpstr>Calibri</vt:lpstr>
      <vt:lpstr>Calibri Light</vt:lpstr>
      <vt:lpstr>Wingdings</vt:lpstr>
      <vt:lpstr>Office 佈景主題</vt:lpstr>
      <vt:lpstr>Software Testing EE 5170/921 U9550 Fall 2015</vt:lpstr>
      <vt:lpstr>Software Testing EE 5170/921 U9550                              Fall 2015</vt:lpstr>
      <vt:lpstr>Background</vt:lpstr>
      <vt:lpstr>Goals</vt:lpstr>
      <vt:lpstr>Course planning</vt:lpstr>
      <vt:lpstr>Pre-requisites</vt:lpstr>
      <vt:lpstr>Evaluation</vt:lpstr>
      <vt:lpstr>Requirement on students' projects</vt:lpstr>
      <vt:lpstr>Project evaluation criteria</vt:lpstr>
      <vt:lpstr>Textbook</vt:lpstr>
      <vt:lpstr>Homework </vt:lpstr>
      <vt:lpstr>Teaching Assistant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EE 5170/921 U9550 Fall 2015</dc:title>
  <dc:creator>Farn Wang</dc:creator>
  <cp:lastModifiedBy>Farn Wang</cp:lastModifiedBy>
  <cp:revision>6</cp:revision>
  <dcterms:created xsi:type="dcterms:W3CDTF">2015-09-18T05:30:25Z</dcterms:created>
  <dcterms:modified xsi:type="dcterms:W3CDTF">2015-09-18T07:26:57Z</dcterms:modified>
</cp:coreProperties>
</file>