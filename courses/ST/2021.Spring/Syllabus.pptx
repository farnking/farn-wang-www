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36" r:id="rId2"/>
    <p:sldId id="532" r:id="rId3"/>
    <p:sldId id="533" r:id="rId4"/>
    <p:sldId id="471" r:id="rId5"/>
    <p:sldId id="506" r:id="rId6"/>
    <p:sldId id="578" r:id="rId7"/>
    <p:sldId id="579" r:id="rId8"/>
    <p:sldId id="526" r:id="rId9"/>
    <p:sldId id="465" r:id="rId10"/>
    <p:sldId id="457" r:id="rId11"/>
    <p:sldId id="467" r:id="rId12"/>
    <p:sldId id="472" r:id="rId13"/>
    <p:sldId id="554" r:id="rId14"/>
    <p:sldId id="524" r:id="rId15"/>
    <p:sldId id="575" r:id="rId16"/>
    <p:sldId id="576" r:id="rId17"/>
    <p:sldId id="344" r:id="rId18"/>
    <p:sldId id="347" r:id="rId19"/>
    <p:sldId id="572" r:id="rId20"/>
    <p:sldId id="577" r:id="rId21"/>
    <p:sldId id="527" r:id="rId22"/>
    <p:sldId id="507" r:id="rId23"/>
    <p:sldId id="508" r:id="rId24"/>
    <p:sldId id="509" r:id="rId25"/>
    <p:sldId id="510" r:id="rId26"/>
    <p:sldId id="514" r:id="rId27"/>
    <p:sldId id="516" r:id="rId28"/>
    <p:sldId id="511" r:id="rId29"/>
    <p:sldId id="513" r:id="rId30"/>
    <p:sldId id="512" r:id="rId3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1E5A"/>
    <a:srgbClr val="00FF00"/>
    <a:srgbClr val="0000CC"/>
    <a:srgbClr val="00145A"/>
    <a:srgbClr val="5F5F5F"/>
    <a:srgbClr val="000050"/>
    <a:srgbClr val="00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31" autoAdjust="0"/>
  </p:normalViewPr>
  <p:slideViewPr>
    <p:cSldViewPr snapToGrid="0">
      <p:cViewPr varScale="1">
        <p:scale>
          <a:sx n="68" d="100"/>
          <a:sy n="68" d="100"/>
        </p:scale>
        <p:origin x="1264" y="48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E370844-D1F2-4528-8D60-CB104FEA91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1327212-FB83-4062-BDF2-B8FE863CCBF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5C491B-F85F-4E4E-BB04-39DAE207E27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D948304-55E0-40BF-9F11-B851D005CA7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fld id="{CD99912A-0628-4823-B136-D40CC8FD1F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D8A4522-0744-414F-940C-8F40FF333C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7427713-DC27-4E42-9F64-8674210A82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F897707-D18B-4AAA-8675-495597139F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76509A6-258F-4163-88FF-DF596595DE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CA50831-9127-4B10-9B2F-C5798AB68D4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BE8E8D27-A7BE-49B8-A8D0-9041F379B0A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9" tIns="48661" rIns="97319" bIns="48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45BE0C0-809B-46D8-9613-8EC0B11D680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6" name="Rectangle 8">
            <a:extLst>
              <a:ext uri="{FF2B5EF4-FFF2-40B4-BE49-F238E27FC236}">
                <a16:creationId xmlns:a16="http://schemas.microsoft.com/office/drawing/2014/main" id="{76BCECE3-F92E-4201-8E78-2AC1B2960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9144000"/>
            <a:ext cx="731837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88" tIns="46983" rIns="92288" bIns="46983">
            <a:spAutoFit/>
          </a:bodyPr>
          <a:lstStyle>
            <a:lvl1pPr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TW" sz="1400" b="0">
                <a:solidFill>
                  <a:schemeClr val="tx1"/>
                </a:solidFill>
              </a:rPr>
              <a:t>Page </a:t>
            </a:r>
            <a:fld id="{05CFF13C-2E90-46CA-BC8A-7D2958CBF6B7}" type="slidenum">
              <a:rPr lang="en-US" altLang="zh-TW" sz="1400" b="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zh-TW" sz="14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A0775B91-AD1F-44C8-B7A6-194B9115BA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A334D0D-0B4B-4A1A-B9BF-B34D73B3B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A4674DE2-8D01-411A-BC09-BC9F0155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6ACB12E-7FF2-40E8-9945-BA387A061325}" type="slidenum">
              <a:rPr lang="en-US" altLang="zh-TW" sz="1100" b="0" smtClean="0">
                <a:solidFill>
                  <a:schemeClr val="tx1"/>
                </a:solidFill>
              </a:rPr>
              <a:pPr/>
              <a:t>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4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5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383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B153425-8468-4505-B2B4-985D19F2C509}" type="slidenum">
              <a:rPr lang="zh-TW" altLang="en-US" smtClean="0"/>
              <a:pPr>
                <a:spcBef>
                  <a:spcPct val="0"/>
                </a:spcBef>
              </a:pPr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885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2048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MS LineDraw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MS LineDraw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MS LineDraw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MS LineDraw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MS LineDraw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MS LineDraw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MS LineDraw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MS LineDraw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MS LineDraw"/>
                <a:ea typeface="新細明體" panose="02020500000000000000" pitchFamily="18" charset="-120"/>
              </a:defRPr>
            </a:lvl9pPr>
          </a:lstStyle>
          <a:p>
            <a:fld id="{18ECC671-B4C4-43BA-A243-BA13441CBA4A}" type="slidenum">
              <a:rPr lang="zh-TW" altLang="en-US" sz="1000" smtClean="0">
                <a:latin typeface="Times New Roman" panose="02020603050405020304" pitchFamily="18" charset="0"/>
              </a:rPr>
              <a:pPr/>
              <a:t>18</a:t>
            </a:fld>
            <a:endParaRPr lang="zh-TW" altLang="en-US" sz="10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584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22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862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23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156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24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735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25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913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26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5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27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552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28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661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29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0883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30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83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C0D123A-3436-4B3D-A2FB-F93A2B8FDF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CB82B11-77EE-40D9-99A4-F00CA28E46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1347BC6-1755-4D77-A05C-F2DDBB05A9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7DBEB5-0052-40E1-8A89-47389F41C30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6236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829994"/>
            <a:ext cx="8966200" cy="55469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7A34D-B679-4976-84B2-8F6F479A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 altLang="zh-TW" u="s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EDED9-07DB-46AA-A15F-3D8AB9808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39284-803F-4019-9D70-F6DB1C07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DAA4F-BB26-4595-AE00-9EC242E0641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709003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1DC31AA-8973-4EE4-93C2-60E409D6A0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2D0E8E7-AB22-4BCC-82AD-63276A5F7D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2FF068-E1C9-40E0-AAC4-264BBA7C09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7E895-63E0-459E-B4F5-569C51C772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297083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113" y="1085850"/>
            <a:ext cx="4357687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357688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A963B5-03A9-4C25-B663-9B2C2444C1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EFD254-963E-47A0-880A-14958A1D54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951E1C1-0493-4071-B772-B7FFD92CBC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17F20-8955-48B0-8FC4-F80F17E7DDA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891397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E0A1757-7D3E-480C-8D5B-3F2AAC2ED3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8D8A1EF-DC3F-4077-8D11-8DAF5C451C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89860D7-90F0-4173-B877-1910B315B1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ED8E9-BCAD-4813-B72D-AAA9C36D56E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9560913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1F7E5-584C-41A3-A8C5-55BC11568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27791-43FA-4D7C-8DB8-390516554B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F52EFB-7015-4A50-AACB-AD36DCDC69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7FEE1-7671-48EC-808E-9F8E571CB7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376313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9C788CC-DA85-4D85-886F-7731CC0A96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C0EB32-ED5B-416B-9EA2-80CDA90A93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6028BC-38B4-4E8E-A7F4-A337D13063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1A218-5617-4987-A666-8F0CBD7E41D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804210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D929C56-3198-475F-8235-2C5E80711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7065438-870E-4B0F-8230-5708955E10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BEADAE-3D09-48FD-A376-2C7D65BF40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6222A-0D25-4618-82A2-5A65D90E011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146765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4ED7B7-0192-4F4A-A4D6-4424C771B8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7F0EB14-83D8-43E0-8D56-2953732EF8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43BA8F-057E-4D26-AAF4-CC99FE02E0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9E8141-CB2A-43E0-9858-D38F0016742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7795767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307150-5A9B-4284-B575-24B9DA61B6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4F31A84-5E13-4CF3-8EF9-9381E70731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45E0A7E-609D-40F3-9E24-275B5E784D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8A480-99D6-49CC-B150-1EE7A96C8D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985625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9738" y="96838"/>
            <a:ext cx="2216150" cy="6280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113" y="96838"/>
            <a:ext cx="6499225" cy="6280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EDB441D-46E8-4EF8-B982-EE03A69D30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62744AB-3C3E-4A38-9C81-ABE29E068F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7A809EB-E1EC-4719-982F-F4B8C09621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19DE6-1714-48EE-8996-8447C69D1AD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619965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8F202E-EC29-44D4-8549-90A3233C4E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725" y="6526213"/>
            <a:ext cx="384492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BE69B0D-4094-4C48-B767-3C6AF159390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05275" y="6518275"/>
            <a:ext cx="2895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41D3287-E07E-49C8-89C5-EDC3A4BF2CE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94550" y="6510338"/>
            <a:ext cx="19050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A76F3A5-FC33-4E62-B254-52CBFF36A0D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22F0A3-E334-49BA-BA89-A0C5ADABE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8900" y="96838"/>
            <a:ext cx="89662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7463E6-F5F9-4CA9-82F3-D6FFF2940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8900" y="1085850"/>
            <a:ext cx="8966200" cy="542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 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 </a:t>
            </a:r>
          </a:p>
          <a:p>
            <a:pPr lvl="4"/>
            <a:r>
              <a:rPr lang="en-US" altLang="zh-TW"/>
              <a:t>Fifth level 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7992ACE-DAE3-4C39-A7E6-96D898E22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endParaRPr lang="zh-TW" altLang="zh-TW">
              <a:ea typeface="新細明體" panose="02020500000000000000" pitchFamily="18" charset="-12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454" r:id="rId1"/>
    <p:sldLayoutId id="2147484464" r:id="rId2"/>
    <p:sldLayoutId id="2147484455" r:id="rId3"/>
    <p:sldLayoutId id="2147484456" r:id="rId4"/>
    <p:sldLayoutId id="2147484457" r:id="rId5"/>
    <p:sldLayoutId id="2147484458" r:id="rId6"/>
    <p:sldLayoutId id="2147484459" r:id="rId7"/>
    <p:sldLayoutId id="2147484460" r:id="rId8"/>
    <p:sldLayoutId id="2147484461" r:id="rId9"/>
    <p:sldLayoutId id="2147484462" r:id="rId10"/>
    <p:sldLayoutId id="2147484463" r:id="rId11"/>
  </p:sldLayoutIdLst>
  <p:transition spd="med"/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75000"/>
        <a:buFont typeface="Monotype Sorts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1">
          <a:solidFill>
            <a:schemeClr val="tx1"/>
          </a:solidFill>
          <a:latin typeface="+mn-lt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arn@ntu.edu.t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farn@ntu.edu.t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cc.ee.ntu.edu.tw/~farn/courses/ST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hoenixnap.com/blog/best-automation-testing-tool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hoenixnap.com/blog/best-automation-testing-tool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rformancelab.com.br/home" TargetMode="External"/><Relationship Id="rId3" Type="http://schemas.openxmlformats.org/officeDocument/2006/relationships/hyperlink" Target="https://www.v-cubed.net/" TargetMode="External"/><Relationship Id="rId7" Type="http://schemas.openxmlformats.org/officeDocument/2006/relationships/hyperlink" Target="https://www.parasoft.com/" TargetMode="External"/><Relationship Id="rId2" Type="http://schemas.openxmlformats.org/officeDocument/2006/relationships/hyperlink" Target="https://www.qualitylogic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otys.com/" TargetMode="External"/><Relationship Id="rId11" Type="http://schemas.openxmlformats.org/officeDocument/2006/relationships/hyperlink" Target="https://tenon.io/" TargetMode="External"/><Relationship Id="rId5" Type="http://schemas.openxmlformats.org/officeDocument/2006/relationships/hyperlink" Target="http://www.itautomation.com/" TargetMode="External"/><Relationship Id="rId10" Type="http://schemas.openxmlformats.org/officeDocument/2006/relationships/hyperlink" Target="https://www.symbio.com/" TargetMode="External"/><Relationship Id="rId4" Type="http://schemas.openxmlformats.org/officeDocument/2006/relationships/hyperlink" Target="http://www.valuestreamengineers.com/" TargetMode="External"/><Relationship Id="rId9" Type="http://schemas.openxmlformats.org/officeDocument/2006/relationships/hyperlink" Target="https://www.scnsoft.com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waretesting.cioreview.com/cxoinsight/the-cost-of-software-testing-nid-27746-cid-112.html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34A73DA-1E6B-477E-9F30-09885ACEA5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0850" y="533400"/>
            <a:ext cx="8229600" cy="2870200"/>
          </a:xfrm>
        </p:spPr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Software Testing &amp; Security Checking</a:t>
            </a:r>
            <a:br>
              <a:rPr lang="en-US" altLang="zh-TW" dirty="0">
                <a:ea typeface="新細明體" panose="02020500000000000000" pitchFamily="18" charset="-120"/>
              </a:rPr>
            </a:br>
            <a:br>
              <a:rPr lang="en-US" altLang="zh-TW" dirty="0">
                <a:ea typeface="新細明體" panose="02020500000000000000" pitchFamily="18" charset="-120"/>
              </a:rPr>
            </a:br>
            <a:r>
              <a:rPr lang="en-US" altLang="zh-TW" dirty="0">
                <a:ea typeface="新細明體" panose="02020500000000000000" pitchFamily="18" charset="-120"/>
              </a:rPr>
              <a:t>EE 5191</a:t>
            </a:r>
            <a:br>
              <a:rPr lang="en-US" altLang="zh-TW" dirty="0">
                <a:ea typeface="新細明體" panose="02020500000000000000" pitchFamily="18" charset="-120"/>
              </a:rPr>
            </a:br>
            <a:br>
              <a:rPr lang="en-US" altLang="zh-TW" dirty="0">
                <a:ea typeface="新細明體" panose="02020500000000000000" pitchFamily="18" charset="-120"/>
              </a:rPr>
            </a:br>
            <a:r>
              <a:rPr lang="en-US" altLang="zh-TW" dirty="0">
                <a:ea typeface="新細明體" panose="02020500000000000000" pitchFamily="18" charset="-120"/>
              </a:rPr>
              <a:t>Syllabus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68FFC3-A138-4177-885A-695A10CAB4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56383"/>
            <a:ext cx="6400800" cy="209515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zh-TW" altLang="en-US" sz="2800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王凡 </a:t>
            </a:r>
            <a:r>
              <a:rPr lang="zh-TW" altLang="en-US" sz="2800" dirty="0">
                <a:ea typeface="新細明體" panose="02020500000000000000" pitchFamily="18" charset="-120"/>
              </a:rPr>
              <a:t>（</a:t>
            </a:r>
            <a:r>
              <a:rPr lang="en-US" altLang="zh-TW" sz="2800" dirty="0" err="1">
                <a:ea typeface="新細明體" panose="02020500000000000000" pitchFamily="18" charset="-120"/>
              </a:rPr>
              <a:t>Farn</a:t>
            </a:r>
            <a:r>
              <a:rPr lang="en-US" altLang="zh-TW" sz="2800" dirty="0">
                <a:ea typeface="新細明體" panose="02020500000000000000" pitchFamily="18" charset="-120"/>
              </a:rPr>
              <a:t> Wang</a:t>
            </a:r>
            <a:r>
              <a:rPr lang="zh-TW" altLang="en-US" sz="2800" dirty="0">
                <a:ea typeface="新細明體" panose="02020500000000000000" pitchFamily="18" charset="-120"/>
              </a:rPr>
              <a:t>）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r>
              <a:rPr lang="en-US" altLang="zh-TW" b="0" dirty="0">
                <a:solidFill>
                  <a:schemeClr val="tx2"/>
                </a:solidFill>
                <a:ea typeface="新細明體" panose="02020500000000000000" pitchFamily="18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farn@ntu.edu.tw</a:t>
            </a:r>
            <a:endParaRPr lang="en-US" altLang="zh-TW" b="0" dirty="0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r>
              <a:rPr lang="hsb-DE" altLang="zh-TW" b="0" dirty="0">
                <a:solidFill>
                  <a:schemeClr val="tx2"/>
                </a:solidFill>
                <a:ea typeface="新細明體" panose="02020500000000000000" pitchFamily="18" charset="-120"/>
              </a:rPr>
              <a:t>h</a:t>
            </a:r>
            <a:r>
              <a:rPr lang="en-US" altLang="zh-TW" b="0" dirty="0">
                <a:solidFill>
                  <a:schemeClr val="tx2"/>
                </a:solidFill>
                <a:ea typeface="新細明體" panose="02020500000000000000" pitchFamily="18" charset="-120"/>
              </a:rPr>
              <a:t>ttp://cc.ee.ntu.edu.tw/ST</a:t>
            </a:r>
          </a:p>
          <a:p>
            <a:endParaRPr lang="en-US" altLang="zh-TW" b="0" dirty="0">
              <a:latin typeface="華康儷楷書(P)" panose="03000500000000000000" pitchFamily="66" charset="-120"/>
              <a:ea typeface="華康儷楷書(P)" panose="03000500000000000000" pitchFamily="66" charset="-120"/>
              <a:cs typeface="華康儷楷書(P)" panose="03000500000000000000" pitchFamily="66" charset="-120"/>
            </a:endParaRPr>
          </a:p>
          <a:p>
            <a:r>
              <a:rPr lang="zh-TW" altLang="en-US" b="0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國立臺灣大學 電機工程學系</a:t>
            </a:r>
            <a:endParaRPr lang="en-US" altLang="zh-TW" b="0" dirty="0">
              <a:latin typeface="華康儷楷書(P)" panose="03000500000000000000" pitchFamily="66" charset="-120"/>
              <a:ea typeface="華康儷楷書(P)" panose="03000500000000000000" pitchFamily="66" charset="-120"/>
              <a:cs typeface="華康儷楷書(P)" panose="03000500000000000000" pitchFamily="66" charset="-120"/>
            </a:endParaRPr>
          </a:p>
        </p:txBody>
      </p:sp>
    </p:spTree>
  </p:cSld>
  <p:clrMapOvr>
    <a:masterClrMapping/>
  </p:clrMapOvr>
  <p:transition spd="med" advTm="6643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DD14D6-8E57-4C84-9C81-34F3CA5E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sb-DE" altLang="zh-TW" dirty="0"/>
              <a:t>Teaching Plan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213060-1F46-4D5C-8AA9-88944D70F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sb-DE" altLang="zh-TW" sz="2800" dirty="0"/>
              <a:t>With the availiability of lecture videos, class lecture of each week is administered as follows.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hsb-DE" altLang="zh-TW" sz="2800" dirty="0"/>
              <a:t>Presenting the guideline to the materials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hsb-DE" altLang="zh-TW" sz="2800" dirty="0"/>
              <a:t>showing some videos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hsb-DE" altLang="zh-TW" sz="2800" dirty="0"/>
              <a:t>Q&amp;A sessions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hsb-DE" altLang="zh-TW" sz="2800" dirty="0"/>
              <a:t>a quiz (open book and open internet)</a:t>
            </a:r>
          </a:p>
          <a:p>
            <a:pPr marL="0" indent="0">
              <a:buNone/>
            </a:pPr>
            <a:r>
              <a:rPr lang="hsb-DE" altLang="zh-TW" sz="2800" i="1" dirty="0">
                <a:solidFill>
                  <a:srgbClr val="FFFF00"/>
                </a:solidFill>
              </a:rPr>
              <a:t>We expect the students to prepare well enough for the quizzes with the slides and videos online. </a:t>
            </a:r>
            <a:endParaRPr lang="zh-TW" altLang="en-US" sz="2800" i="1" dirty="0">
              <a:solidFill>
                <a:srgbClr val="FFFF00"/>
              </a:solidFill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8F14786-8795-4CD8-8B74-BD382E8CA6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Department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36983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DD14D6-8E57-4C84-9C81-34F3CA5E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sb-DE" altLang="zh-TW" dirty="0"/>
              <a:t>Teaching Plan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213060-1F46-4D5C-8AA9-88944D70F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sb-DE" altLang="zh-TW" sz="2800" i="1" dirty="0">
                <a:solidFill>
                  <a:srgbClr val="FFFF00"/>
                </a:solidFill>
              </a:rPr>
              <a:t>Video links in the course webpage.</a:t>
            </a:r>
            <a:endParaRPr lang="zh-TW" altLang="en-US" sz="2800" i="1" dirty="0">
              <a:solidFill>
                <a:srgbClr val="FFFF00"/>
              </a:solidFill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8F14786-8795-4CD8-8B74-BD382E8CA6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Department of Electrical Engineering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9F7336F-E612-4AAD-806F-79A63164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2194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1731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授課資訊</a:t>
            </a:r>
            <a:endParaRPr lang="en-US" altLang="zh-TW" dirty="0">
              <a:latin typeface="華康儷楷書(P)" panose="03000500000000000000" pitchFamily="66" charset="-120"/>
              <a:ea typeface="華康儷楷書(P)" panose="03000500000000000000" pitchFamily="66" charset="-120"/>
              <a:cs typeface="華康儷楷書(P)" panose="03000500000000000000" pitchFamily="66" charset="-120"/>
            </a:endParaRP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1139686"/>
            <a:ext cx="8966200" cy="5237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TW" altLang="en-US" sz="2800" b="0" dirty="0">
                <a:ea typeface="新細明體" panose="02020500000000000000" pitchFamily="18" charset="-120"/>
              </a:rPr>
              <a:t>課號：</a:t>
            </a:r>
            <a:r>
              <a:rPr lang="en-US" altLang="zh-TW" sz="2800" b="0" dirty="0">
                <a:ea typeface="新細明體" panose="02020500000000000000" pitchFamily="18" charset="-120"/>
              </a:rPr>
              <a:t>EE</a:t>
            </a:r>
            <a:r>
              <a:rPr lang="zh-TW" altLang="en-US" sz="2800" b="0" dirty="0">
                <a:ea typeface="新細明體" panose="02020500000000000000" pitchFamily="18" charset="-120"/>
              </a:rPr>
              <a:t> </a:t>
            </a:r>
            <a:r>
              <a:rPr lang="en-US" altLang="zh-TW" sz="2800" b="0" dirty="0">
                <a:ea typeface="新細明體" panose="02020500000000000000" pitchFamily="18" charset="-120"/>
              </a:rPr>
              <a:t>5191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Spring 2020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Wednesday, 9:10am-12:00noon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Classroom: BL 113              Credits: 3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sz="2800" b="0" dirty="0">
                <a:ea typeface="新細明體" panose="02020500000000000000" pitchFamily="18" charset="-120"/>
              </a:rPr>
              <a:t>王 凡 教授</a:t>
            </a:r>
            <a:endParaRPr lang="en-US" altLang="zh-TW" sz="2800" b="0" dirty="0">
              <a:ea typeface="新細明體" panose="02020500000000000000" pitchFamily="18" charset="-120"/>
            </a:endParaRPr>
          </a:p>
          <a:p>
            <a:pPr lvl="1"/>
            <a:r>
              <a:rPr lang="zh-TW" altLang="en-US" sz="2400" b="0" dirty="0">
                <a:ea typeface="新細明體" panose="02020500000000000000" pitchFamily="18" charset="-120"/>
              </a:rPr>
              <a:t>博理館</a:t>
            </a:r>
            <a:r>
              <a:rPr lang="en-US" altLang="zh-TW" sz="2400" b="0" dirty="0">
                <a:ea typeface="新細明體" panose="02020500000000000000" pitchFamily="18" charset="-120"/>
              </a:rPr>
              <a:t>616</a:t>
            </a:r>
            <a:r>
              <a:rPr lang="zh-TW" altLang="en-US" sz="2400" b="0" dirty="0">
                <a:ea typeface="新細明體" panose="02020500000000000000" pitchFamily="18" charset="-120"/>
              </a:rPr>
              <a:t>，</a:t>
            </a:r>
            <a:r>
              <a:rPr lang="en-US" altLang="zh-TW" sz="2400" b="0" dirty="0">
                <a:ea typeface="新細明體" panose="02020500000000000000" pitchFamily="18" charset="-120"/>
              </a:rPr>
              <a:t>02-33663602</a:t>
            </a:r>
          </a:p>
          <a:p>
            <a:pPr lvl="1"/>
            <a:r>
              <a:rPr lang="en-US" altLang="zh-TW" b="0" dirty="0">
                <a:solidFill>
                  <a:srgbClr val="FFFF00"/>
                </a:solidFill>
                <a:ea typeface="新細明體" panose="02020500000000000000" pitchFamily="18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farn@ntu.edu.tw</a:t>
            </a:r>
            <a:endParaRPr lang="en-US" altLang="zh-TW" b="0" dirty="0">
              <a:solidFill>
                <a:srgbClr val="FFFF00"/>
              </a:solidFill>
              <a:ea typeface="新細明體" panose="02020500000000000000" pitchFamily="18" charset="-120"/>
            </a:endParaRPr>
          </a:p>
          <a:p>
            <a:pPr lvl="1"/>
            <a:r>
              <a:rPr lang="en-US" altLang="zh-TW" b="0" dirty="0">
                <a:solidFill>
                  <a:srgbClr val="FFFF00"/>
                </a:solidFill>
                <a:ea typeface="新細明體" panose="02020500000000000000" pitchFamily="18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http://cc.ee.ntu.edu.tw/~farn/courses/ST</a:t>
            </a:r>
            <a:endParaRPr lang="en-US" altLang="zh-TW" b="0" dirty="0">
              <a:solidFill>
                <a:srgbClr val="FFFF00"/>
              </a:solidFill>
              <a:ea typeface="新細明體" panose="02020500000000000000" pitchFamily="18" charset="-12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TW" altLang="en-US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助教：李恩瑋</a:t>
            </a:r>
            <a:endParaRPr lang="en-US" altLang="zh-TW" sz="2800" b="0" dirty="0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pPr lvl="1"/>
            <a:r>
              <a:rPr lang="zh-TW" altLang="en-US" sz="2400" b="0" dirty="0">
                <a:solidFill>
                  <a:schemeClr val="tx2"/>
                </a:solidFill>
                <a:ea typeface="新細明體" panose="02020500000000000000" pitchFamily="18" charset="-120"/>
              </a:rPr>
              <a:t>博理館</a:t>
            </a:r>
            <a:r>
              <a:rPr lang="en-US" altLang="zh-TW" sz="2400" b="0" dirty="0">
                <a:solidFill>
                  <a:schemeClr val="tx2"/>
                </a:solidFill>
                <a:ea typeface="新細明體" panose="02020500000000000000" pitchFamily="18" charset="-120"/>
              </a:rPr>
              <a:t>618</a:t>
            </a:r>
          </a:p>
          <a:p>
            <a:pPr lvl="1"/>
            <a:r>
              <a:rPr lang="en-US" altLang="zh-TW" sz="2400" b="0" dirty="0">
                <a:solidFill>
                  <a:schemeClr val="tx2"/>
                </a:solidFill>
                <a:ea typeface="新細明體" panose="02020500000000000000" pitchFamily="18" charset="-120"/>
              </a:rPr>
              <a:t>r08921105@ntu.edu.tw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US" altLang="zh-TW" sz="900" b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0DA960-A70A-42C6-99B1-78814E79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BDC6CB4-F046-48D5-B6EA-82B4F254E1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56" y="3429000"/>
            <a:ext cx="2031738" cy="2710206"/>
          </a:xfrm>
          <a:prstGeom prst="rect">
            <a:avLst/>
          </a:prstGeom>
        </p:spPr>
      </p:pic>
    </p:spTree>
  </p:cSld>
  <p:clrMapOvr>
    <a:masterClrMapping/>
  </p:clrMapOvr>
  <p:transition spd="med" advTm="150162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Background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1139686"/>
            <a:ext cx="8966200" cy="5237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Software projects have spent more than half of their budget in testing and debugging.  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Software security is a highly visible and fast-growing sector of software testing.  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government regulations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companies willing to pay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Taiwan's high-tech companies do not think that they should spend money in software testing.  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Taiwan's industrial strength in OEM and ODM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Without the know-how in software QA, Taiwan has no hope. 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zh-TW" sz="900" b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2849C9C1-94B1-4A4C-A57D-5F9B2FE1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</p:spTree>
    <p:extLst>
      <p:ext uri="{BB962C8B-B14F-4D97-AF65-F5344CB8AC3E}">
        <p14:creationId xmlns:p14="http://schemas.microsoft.com/office/powerpoint/2010/main" val="3668802150"/>
      </p:ext>
    </p:extLst>
  </p:cSld>
  <p:clrMapOvr>
    <a:masterClrMapping/>
  </p:clrMapOvr>
  <p:transition spd="med" advTm="45138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3E853-85D7-4027-8538-8596136A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sb-DE" altLang="zh-TW" dirty="0"/>
              <a:t>Types of Software Testing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8FF60-C04A-4FE2-AAC3-79761DF7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2800" dirty="0"/>
              <a:t>Functional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Unit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Integration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End-to-end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Smoke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Sanity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Regression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Acceptance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Interface testing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DB98CA-00D9-4EE0-8DB7-B5F70E6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 altLang="zh-TW" u="sng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E488F-1ADB-431F-87EC-D78A8C6E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B4D84-F833-4C76-A630-A678D2B4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DAA4F-BB26-4595-AE00-9EC242E06411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9B9C515-F289-4AD6-9389-C775D210CF0F}"/>
              </a:ext>
            </a:extLst>
          </p:cNvPr>
          <p:cNvSpPr txBox="1">
            <a:spLocks/>
          </p:cNvSpPr>
          <p:nvPr/>
        </p:nvSpPr>
        <p:spPr bwMode="auto">
          <a:xfrm>
            <a:off x="4785019" y="1330295"/>
            <a:ext cx="3963054" cy="5546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kern="0" dirty="0"/>
              <a:t>White box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kern="0" dirty="0"/>
              <a:t>Black box testing</a:t>
            </a:r>
          </a:p>
        </p:txBody>
      </p:sp>
    </p:spTree>
    <p:extLst>
      <p:ext uri="{BB962C8B-B14F-4D97-AF65-F5344CB8AC3E}">
        <p14:creationId xmlns:p14="http://schemas.microsoft.com/office/powerpoint/2010/main" val="103149817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3E853-85D7-4027-8538-8596136A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sb-DE" altLang="zh-TW" dirty="0"/>
              <a:t>Types of Software Testing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8FF60-C04A-4FE2-AAC3-79761DF7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2800" dirty="0"/>
              <a:t>Non-functional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Performance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Security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Load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Failover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Compatibility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Usability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Scalability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Volume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Stress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Accessibility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Alpha testing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dirty="0"/>
              <a:t>Beta testing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DB98CA-00D9-4EE0-8DB7-B5F70E6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Software Testing  &amp; Security Checking, Syllabus</a:t>
            </a:r>
            <a:endParaRPr lang="en-US" altLang="zh-TW" u="sng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E488F-1ADB-431F-87EC-D78A8C6E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B4D84-F833-4C76-A630-A678D2B4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DAA4F-BB26-4595-AE00-9EC242E06411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BE9F2F-13E9-4B4E-A320-EEE5EAA49015}"/>
              </a:ext>
            </a:extLst>
          </p:cNvPr>
          <p:cNvSpPr txBox="1">
            <a:spLocks/>
          </p:cNvSpPr>
          <p:nvPr/>
        </p:nvSpPr>
        <p:spPr bwMode="auto">
          <a:xfrm>
            <a:off x="4572000" y="1154112"/>
            <a:ext cx="8966200" cy="5546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en-US" altLang="zh-TW" kern="0" dirty="0"/>
              <a:t>Maintainability testing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TW" kern="0" dirty="0"/>
              <a:t>Compliance testing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TW" kern="0" dirty="0"/>
              <a:t>Efficiency testing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TW" kern="0" dirty="0"/>
              <a:t>Reliability testing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TW" kern="0" dirty="0"/>
              <a:t>Endurance testing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TW" kern="0" dirty="0"/>
              <a:t>Disaster recovery testing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TW" kern="0" dirty="0"/>
              <a:t>Localization testing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TW" kern="0" dirty="0"/>
              <a:t>Internationalization testing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TW" kern="0" dirty="0"/>
              <a:t>Ad-hoc testing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TW" kern="0" dirty="0"/>
          </a:p>
        </p:txBody>
      </p:sp>
    </p:spTree>
    <p:extLst>
      <p:ext uri="{BB962C8B-B14F-4D97-AF65-F5344CB8AC3E}">
        <p14:creationId xmlns:p14="http://schemas.microsoft.com/office/powerpoint/2010/main" val="57396170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783" y="342693"/>
            <a:ext cx="6346433" cy="922571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/>
              <a:t>產業分析</a:t>
            </a:r>
            <a:endParaRPr lang="zh-TW" altLang="en-US" sz="21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50" y="1368214"/>
            <a:ext cx="4106635" cy="30055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800" dirty="0"/>
              <a:t>Testing </a:t>
            </a:r>
            <a:r>
              <a:rPr lang="hsb-DE" altLang="zh-TW" sz="2800" dirty="0"/>
              <a:t>cost</a:t>
            </a:r>
            <a:r>
              <a:rPr lang="en-US" altLang="zh-TW" sz="2800" dirty="0"/>
              <a:t>s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dirty="0"/>
              <a:t>20 percent of the overall development time for a single-component application,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dirty="0"/>
              <a:t>20 to 30 percent for a two-component application and </a:t>
            </a:r>
          </a:p>
          <a:p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9D19588-68A3-4B96-900F-909779B7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080" y="1368214"/>
            <a:ext cx="4111700" cy="3627992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5780AA-5968-473F-95AF-594437BACBF3}"/>
              </a:ext>
            </a:extLst>
          </p:cNvPr>
          <p:cNvSpPr txBox="1">
            <a:spLocks/>
          </p:cNvSpPr>
          <p:nvPr/>
        </p:nvSpPr>
        <p:spPr>
          <a:xfrm>
            <a:off x="559254" y="4924571"/>
            <a:ext cx="8352065" cy="99080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TW" sz="2800" dirty="0">
                <a:latin typeface="+mn-lt"/>
              </a:rPr>
              <a:t>30 to 35 percent for an application with GUI.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dirty="0">
                <a:latin typeface="+mn-lt"/>
              </a:rPr>
              <a:t>35 to 50 percent for a distributed application with GUI.</a:t>
            </a:r>
          </a:p>
          <a:p>
            <a:pPr>
              <a:buFont typeface="Wingdings" panose="05000000000000000000" pitchFamily="2" charset="2"/>
              <a:buChar char="l"/>
            </a:pPr>
            <a:endParaRPr lang="zh-TW" altLang="en-US" sz="2800" dirty="0">
              <a:latin typeface="+mn-lt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616A02-F8FC-4196-8467-B930D3A66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13978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3" y="440966"/>
            <a:ext cx="6346433" cy="1059731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/>
              <a:t>產業分析</a:t>
            </a:r>
            <a:endParaRPr lang="zh-TW" altLang="en-US" sz="21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影像" descr="影像">
            <a:extLst>
              <a:ext uri="{FF2B5EF4-FFF2-40B4-BE49-F238E27FC236}">
                <a16:creationId xmlns:a16="http://schemas.microsoft.com/office/drawing/2014/main" id="{0B1BC956-19B7-4F6D-85F4-ECA8D5877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4527" y="1500697"/>
            <a:ext cx="8149492" cy="440048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A9F066-C601-44D4-A06F-87130A55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3446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4" y="405566"/>
            <a:ext cx="6346433" cy="1144137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軟體自動測試市場主要競爭者說明</a:t>
            </a:r>
            <a:br>
              <a:rPr lang="en-US" altLang="zh-TW" b="1" dirty="0">
                <a:solidFill>
                  <a:schemeClr val="tx1"/>
                </a:solidFill>
              </a:rPr>
            </a:br>
            <a:r>
              <a:rPr lang="en-US" altLang="zh-TW" b="1" dirty="0">
                <a:solidFill>
                  <a:schemeClr val="tx1"/>
                </a:solidFill>
              </a:rPr>
              <a:t>-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sz="2100" dirty="0">
                <a:solidFill>
                  <a:schemeClr val="tx1"/>
                </a:solidFill>
              </a:rPr>
              <a:t>Open-Source Solutions </a:t>
            </a:r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98784" y="1579332"/>
            <a:ext cx="6346433" cy="495887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altLang="zh-TW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https://phoenixnap.com/blog/best-automation-testing-tools</a:t>
            </a:r>
            <a:endParaRPr lang="en-US" altLang="zh-TW" dirty="0">
              <a:solidFill>
                <a:schemeClr val="tx2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CFB6167-B09F-4887-AA01-70886BC0C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745535"/>
              </p:ext>
            </p:extLst>
          </p:nvPr>
        </p:nvGraphicFramePr>
        <p:xfrm>
          <a:off x="1221987" y="2075220"/>
          <a:ext cx="6979335" cy="4435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684">
                  <a:extLst>
                    <a:ext uri="{9D8B030D-6E8A-4147-A177-3AD203B41FA5}">
                      <a16:colId xmlns:a16="http://schemas.microsoft.com/office/drawing/2014/main" val="943671465"/>
                    </a:ext>
                  </a:extLst>
                </a:gridCol>
                <a:gridCol w="700391">
                  <a:extLst>
                    <a:ext uri="{9D8B030D-6E8A-4147-A177-3AD203B41FA5}">
                      <a16:colId xmlns:a16="http://schemas.microsoft.com/office/drawing/2014/main" val="164308287"/>
                    </a:ext>
                  </a:extLst>
                </a:gridCol>
                <a:gridCol w="516077">
                  <a:extLst>
                    <a:ext uri="{9D8B030D-6E8A-4147-A177-3AD203B41FA5}">
                      <a16:colId xmlns:a16="http://schemas.microsoft.com/office/drawing/2014/main" val="1665601541"/>
                    </a:ext>
                  </a:extLst>
                </a:gridCol>
                <a:gridCol w="528365">
                  <a:extLst>
                    <a:ext uri="{9D8B030D-6E8A-4147-A177-3AD203B41FA5}">
                      <a16:colId xmlns:a16="http://schemas.microsoft.com/office/drawing/2014/main" val="2580569827"/>
                    </a:ext>
                  </a:extLst>
                </a:gridCol>
                <a:gridCol w="454641">
                  <a:extLst>
                    <a:ext uri="{9D8B030D-6E8A-4147-A177-3AD203B41FA5}">
                      <a16:colId xmlns:a16="http://schemas.microsoft.com/office/drawing/2014/main" val="4255364448"/>
                    </a:ext>
                  </a:extLst>
                </a:gridCol>
                <a:gridCol w="565228">
                  <a:extLst>
                    <a:ext uri="{9D8B030D-6E8A-4147-A177-3AD203B41FA5}">
                      <a16:colId xmlns:a16="http://schemas.microsoft.com/office/drawing/2014/main" val="3555801458"/>
                    </a:ext>
                  </a:extLst>
                </a:gridCol>
                <a:gridCol w="516077">
                  <a:extLst>
                    <a:ext uri="{9D8B030D-6E8A-4147-A177-3AD203B41FA5}">
                      <a16:colId xmlns:a16="http://schemas.microsoft.com/office/drawing/2014/main" val="2573869709"/>
                    </a:ext>
                  </a:extLst>
                </a:gridCol>
                <a:gridCol w="479215">
                  <a:extLst>
                    <a:ext uri="{9D8B030D-6E8A-4147-A177-3AD203B41FA5}">
                      <a16:colId xmlns:a16="http://schemas.microsoft.com/office/drawing/2014/main" val="1515013587"/>
                    </a:ext>
                  </a:extLst>
                </a:gridCol>
                <a:gridCol w="528365">
                  <a:extLst>
                    <a:ext uri="{9D8B030D-6E8A-4147-A177-3AD203B41FA5}">
                      <a16:colId xmlns:a16="http://schemas.microsoft.com/office/drawing/2014/main" val="1444045202"/>
                    </a:ext>
                  </a:extLst>
                </a:gridCol>
                <a:gridCol w="995292">
                  <a:extLst>
                    <a:ext uri="{9D8B030D-6E8A-4147-A177-3AD203B41FA5}">
                      <a16:colId xmlns:a16="http://schemas.microsoft.com/office/drawing/2014/main" val="3842816353"/>
                    </a:ext>
                  </a:extLst>
                </a:gridCol>
              </a:tblGrid>
              <a:tr h="53198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Tools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Com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web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And.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iOS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GUI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API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src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AI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TRG shop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59512196"/>
                  </a:ext>
                </a:extLst>
              </a:tr>
              <a:tr h="302822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TaaD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841261"/>
                  </a:ext>
                </a:extLst>
              </a:tr>
              <a:tr h="531984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Citrus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Telerik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94598303"/>
                  </a:ext>
                </a:extLst>
              </a:tr>
              <a:tr h="302822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Galen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57027783"/>
                  </a:ext>
                </a:extLst>
              </a:tr>
              <a:tr h="302822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Karate-DSL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01736092"/>
                  </a:ext>
                </a:extLst>
              </a:tr>
              <a:tr h="311350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Robot Framework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03257842"/>
                  </a:ext>
                </a:extLst>
              </a:tr>
              <a:tr h="302822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Selenium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79435171"/>
                  </a:ext>
                </a:extLst>
              </a:tr>
              <a:tr h="334407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Watir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MS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19562752"/>
                  </a:ext>
                </a:extLst>
              </a:tr>
              <a:tr h="302822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Gauge (</a:t>
                      </a: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)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HP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5820276"/>
                  </a:ext>
                </a:extLst>
              </a:tr>
              <a:tr h="302822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RedwoodHQ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8588329"/>
                  </a:ext>
                </a:extLst>
              </a:tr>
              <a:tr h="302822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Serenity BDD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41834214"/>
                  </a:ext>
                </a:extLst>
              </a:tr>
              <a:tr h="302822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Appium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03857057"/>
                  </a:ext>
                </a:extLst>
              </a:tr>
              <a:tr h="302822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Apache JMeter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718020"/>
                  </a:ext>
                </a:extLst>
              </a:tr>
            </a:tbl>
          </a:graphicData>
        </a:graphic>
      </p:graphicFrame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02D153-2CD6-4E90-8BA1-8B0A940FF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72789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5" y="379026"/>
            <a:ext cx="6346433" cy="1144137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軟體自動測試市場主要競爭者</a:t>
            </a:r>
            <a:br>
              <a:rPr lang="en-US" altLang="zh-TW" b="1" dirty="0">
                <a:solidFill>
                  <a:schemeClr val="tx1"/>
                </a:solidFill>
              </a:rPr>
            </a:br>
            <a:r>
              <a:rPr lang="en-US" altLang="zh-TW" b="1" dirty="0">
                <a:solidFill>
                  <a:schemeClr val="tx1"/>
                </a:solidFill>
              </a:rPr>
              <a:t>-</a:t>
            </a:r>
            <a:r>
              <a:rPr lang="zh-TW" altLang="en-US" b="1" dirty="0">
                <a:solidFill>
                  <a:schemeClr val="tx1"/>
                </a:solidFill>
              </a:rPr>
              <a:t> </a:t>
            </a:r>
            <a:r>
              <a:rPr lang="en-US" altLang="zh-TW" sz="2100" dirty="0">
                <a:solidFill>
                  <a:schemeClr val="tx1"/>
                </a:solidFill>
              </a:rPr>
              <a:t>vs. Commercial Solutions</a:t>
            </a:r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7390" y="1593629"/>
            <a:ext cx="8682086" cy="3503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https://phoenixnap.com/blog/best-automation-testing-tools</a:t>
            </a:r>
            <a:endParaRPr lang="en-US" altLang="zh-TW" dirty="0">
              <a:solidFill>
                <a:schemeClr val="tx2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CFB6167-B09F-4887-AA01-70886BC0C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353157"/>
              </p:ext>
            </p:extLst>
          </p:nvPr>
        </p:nvGraphicFramePr>
        <p:xfrm>
          <a:off x="848412" y="2139885"/>
          <a:ext cx="7503734" cy="4378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55">
                  <a:extLst>
                    <a:ext uri="{9D8B030D-6E8A-4147-A177-3AD203B41FA5}">
                      <a16:colId xmlns:a16="http://schemas.microsoft.com/office/drawing/2014/main" val="943671465"/>
                    </a:ext>
                  </a:extLst>
                </a:gridCol>
                <a:gridCol w="573839">
                  <a:extLst>
                    <a:ext uri="{9D8B030D-6E8A-4147-A177-3AD203B41FA5}">
                      <a16:colId xmlns:a16="http://schemas.microsoft.com/office/drawing/2014/main" val="164308287"/>
                    </a:ext>
                  </a:extLst>
                </a:gridCol>
                <a:gridCol w="760960">
                  <a:extLst>
                    <a:ext uri="{9D8B030D-6E8A-4147-A177-3AD203B41FA5}">
                      <a16:colId xmlns:a16="http://schemas.microsoft.com/office/drawing/2014/main" val="1665601541"/>
                    </a:ext>
                  </a:extLst>
                </a:gridCol>
                <a:gridCol w="536414">
                  <a:extLst>
                    <a:ext uri="{9D8B030D-6E8A-4147-A177-3AD203B41FA5}">
                      <a16:colId xmlns:a16="http://schemas.microsoft.com/office/drawing/2014/main" val="2580569827"/>
                    </a:ext>
                  </a:extLst>
                </a:gridCol>
                <a:gridCol w="523939">
                  <a:extLst>
                    <a:ext uri="{9D8B030D-6E8A-4147-A177-3AD203B41FA5}">
                      <a16:colId xmlns:a16="http://schemas.microsoft.com/office/drawing/2014/main" val="4255364448"/>
                    </a:ext>
                  </a:extLst>
                </a:gridCol>
                <a:gridCol w="449091">
                  <a:extLst>
                    <a:ext uri="{9D8B030D-6E8A-4147-A177-3AD203B41FA5}">
                      <a16:colId xmlns:a16="http://schemas.microsoft.com/office/drawing/2014/main" val="3555801458"/>
                    </a:ext>
                  </a:extLst>
                </a:gridCol>
                <a:gridCol w="498990">
                  <a:extLst>
                    <a:ext uri="{9D8B030D-6E8A-4147-A177-3AD203B41FA5}">
                      <a16:colId xmlns:a16="http://schemas.microsoft.com/office/drawing/2014/main" val="2573869709"/>
                    </a:ext>
                  </a:extLst>
                </a:gridCol>
                <a:gridCol w="461565">
                  <a:extLst>
                    <a:ext uri="{9D8B030D-6E8A-4147-A177-3AD203B41FA5}">
                      <a16:colId xmlns:a16="http://schemas.microsoft.com/office/drawing/2014/main" val="1515013587"/>
                    </a:ext>
                  </a:extLst>
                </a:gridCol>
                <a:gridCol w="411667">
                  <a:extLst>
                    <a:ext uri="{9D8B030D-6E8A-4147-A177-3AD203B41FA5}">
                      <a16:colId xmlns:a16="http://schemas.microsoft.com/office/drawing/2014/main" val="1529557248"/>
                    </a:ext>
                  </a:extLst>
                </a:gridCol>
                <a:gridCol w="399192">
                  <a:extLst>
                    <a:ext uri="{9D8B030D-6E8A-4147-A177-3AD203B41FA5}">
                      <a16:colId xmlns:a16="http://schemas.microsoft.com/office/drawing/2014/main" val="1444045202"/>
                    </a:ext>
                  </a:extLst>
                </a:gridCol>
                <a:gridCol w="1007422">
                  <a:extLst>
                    <a:ext uri="{9D8B030D-6E8A-4147-A177-3AD203B41FA5}">
                      <a16:colId xmlns:a16="http://schemas.microsoft.com/office/drawing/2014/main" val="3842816353"/>
                    </a:ext>
                  </a:extLst>
                </a:gridCol>
              </a:tblGrid>
              <a:tr h="566531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Tools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Com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$$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web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And.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iOS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GUI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API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src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AI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TRG Shop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59512196"/>
                  </a:ext>
                </a:extLst>
              </a:tr>
              <a:tr h="421386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TaaD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6000/y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841261"/>
                  </a:ext>
                </a:extLst>
              </a:tr>
              <a:tr h="566531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Rat’al</a:t>
                      </a:r>
                      <a:r>
                        <a:rPr lang="en-US" altLang="zh-TW" sz="1400" dirty="0"/>
                        <a:t> </a:t>
                      </a:r>
                      <a:r>
                        <a:rPr lang="en-US" altLang="zh-TW" sz="1400" dirty="0" err="1"/>
                        <a:t>Funct’al</a:t>
                      </a:r>
                      <a:r>
                        <a:rPr lang="en-US" altLang="zh-TW" sz="1400" dirty="0"/>
                        <a:t> Tester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IBM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8140/y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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ym typeface="Symbol" panose="05050102010706020507" pitchFamily="18" charset="2"/>
                        </a:rPr>
                        <a:t>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94598303"/>
                  </a:ext>
                </a:extLst>
              </a:tr>
              <a:tr h="322487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Katalon</a:t>
                      </a:r>
                      <a:r>
                        <a:rPr lang="en-US" altLang="zh-TW" sz="1400" dirty="0"/>
                        <a:t> Studio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759/y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57027783"/>
                  </a:ext>
                </a:extLst>
              </a:tr>
              <a:tr h="322487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Ranorex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1120/y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01736092"/>
                  </a:ext>
                </a:extLst>
              </a:tr>
              <a:tr h="322487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Sahi</a:t>
                      </a:r>
                      <a:r>
                        <a:rPr lang="en-US" altLang="zh-TW" sz="1400" dirty="0"/>
                        <a:t> Pro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1390/y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03257842"/>
                  </a:ext>
                </a:extLst>
              </a:tr>
              <a:tr h="322487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TestComplete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4515/y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79435171"/>
                  </a:ext>
                </a:extLst>
              </a:tr>
              <a:tr h="322487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TestPlant</a:t>
                      </a:r>
                      <a:r>
                        <a:rPr lang="en-US" altLang="zh-TW" sz="1400" dirty="0"/>
                        <a:t> </a:t>
                      </a:r>
                      <a:r>
                        <a:rPr lang="en-US" altLang="zh-TW" sz="1400" dirty="0" err="1"/>
                        <a:t>eggPlant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MS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19562752"/>
                  </a:ext>
                </a:extLst>
              </a:tr>
              <a:tr h="322487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Tricentis</a:t>
                      </a:r>
                      <a:r>
                        <a:rPr lang="en-US" altLang="zh-TW" sz="1400" dirty="0"/>
                        <a:t> Tosca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HP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5820276"/>
                  </a:ext>
                </a:extLst>
              </a:tr>
              <a:tr h="566531">
                <a:tc>
                  <a:txBody>
                    <a:bodyPr/>
                    <a:lstStyle/>
                    <a:p>
                      <a:r>
                        <a:rPr lang="en-US" altLang="zh-TW" sz="1400" dirty="0" err="1"/>
                        <a:t>Unif</a:t>
                      </a:r>
                      <a:r>
                        <a:rPr lang="en-US" altLang="zh-TW" sz="1400" dirty="0"/>
                        <a:t>. </a:t>
                      </a:r>
                      <a:r>
                        <a:rPr lang="en-US" altLang="zh-TW" sz="1400" dirty="0" err="1"/>
                        <a:t>Funct’al</a:t>
                      </a:r>
                      <a:r>
                        <a:rPr lang="en-US" altLang="zh-TW" sz="1400" dirty="0"/>
                        <a:t> Testing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3200/y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41988269"/>
                  </a:ext>
                </a:extLst>
              </a:tr>
              <a:tr h="322487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Cypress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1188/y</a:t>
                      </a:r>
                      <a:endParaRPr lang="zh-TW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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X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9522495"/>
                  </a:ext>
                </a:extLst>
              </a:tr>
            </a:tbl>
          </a:graphicData>
        </a:graphic>
      </p:graphicFrame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BB7F1A-71F0-460F-BF8D-A9194536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37460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6525" y="471991"/>
            <a:ext cx="7603816" cy="732657"/>
          </a:xfrm>
        </p:spPr>
        <p:txBody>
          <a:bodyPr>
            <a:noAutofit/>
          </a:bodyPr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軟體自動測試市場主要競爭者年營收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901" y="1743515"/>
            <a:ext cx="8041064" cy="39881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/>
              <a:t>年營收</a:t>
            </a:r>
            <a:r>
              <a:rPr lang="en-US" altLang="zh-TW" sz="2000" dirty="0"/>
              <a:t>					</a:t>
            </a:r>
            <a:r>
              <a:rPr lang="zh-TW" altLang="en-US" sz="2000" dirty="0"/>
              <a:t>            </a:t>
            </a:r>
            <a:r>
              <a:rPr lang="en-US" altLang="zh-TW" sz="2000" dirty="0"/>
              <a:t>M</a:t>
            </a:r>
            <a:r>
              <a:rPr lang="zh-TW" altLang="en-US" sz="2000" dirty="0"/>
              <a:t>：</a:t>
            </a:r>
            <a:r>
              <a:rPr lang="en-US" altLang="zh-TW" sz="2000" dirty="0"/>
              <a:t>1</a:t>
            </a:r>
            <a:r>
              <a:rPr lang="zh-TW" altLang="en-US" sz="2000" dirty="0"/>
              <a:t> 百萬美元</a:t>
            </a:r>
            <a:r>
              <a:rPr lang="en-US" altLang="zh-TW" sz="2000" dirty="0"/>
              <a:t>Revenue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QualityLogic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https://www.qualitylogic.com/</a:t>
            </a:r>
            <a:r>
              <a:rPr lang="en-US" altLang="zh-TW" sz="2000" dirty="0"/>
              <a:t> (9.7M)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V-Cubed Solutions, </a:t>
            </a:r>
            <a:r>
              <a:rPr lang="en-US" altLang="zh-TW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https://www.v-cubed.net/</a:t>
            </a:r>
            <a:r>
              <a:rPr lang="en-US" altLang="zh-TW" sz="2000" dirty="0"/>
              <a:t> (27M)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Value Stream Engineering, </a:t>
            </a:r>
            <a:r>
              <a:rPr lang="en-US" altLang="zh-TW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http://www.valuestreamengineers.com/</a:t>
            </a:r>
            <a:r>
              <a:rPr lang="en-US" altLang="zh-TW" sz="2000" dirty="0"/>
              <a:t> (3.8M)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IT Automation LLC, </a:t>
            </a:r>
            <a:r>
              <a:rPr lang="en-US" altLang="zh-TW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http://www.itautomation.com/</a:t>
            </a:r>
            <a:r>
              <a:rPr lang="en-US" altLang="zh-TW" sz="2000" dirty="0"/>
              <a:t> (8.8M)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NeoTys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https://www.neotys.com/</a:t>
            </a:r>
            <a:r>
              <a:rPr lang="en-US" altLang="zh-TW" sz="2000" dirty="0"/>
              <a:t> (8.8M)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Parasoft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https://www.parasoft.com/</a:t>
            </a:r>
            <a:r>
              <a:rPr lang="en-US" altLang="zh-TW" sz="2000" dirty="0"/>
              <a:t> (55M)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Performancelab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https://www.performancelab.com.br/home</a:t>
            </a:r>
            <a:r>
              <a:rPr lang="en-US" altLang="zh-TW" sz="2000" dirty="0"/>
              <a:t> (25.3M)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ScienceSoft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https://www.scnsoft.com/</a:t>
            </a:r>
            <a:r>
              <a:rPr lang="en-US" altLang="zh-TW" sz="2000" dirty="0"/>
              <a:t> (22M)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Symbio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https://www.symbio.com/</a:t>
            </a:r>
            <a:r>
              <a:rPr lang="en-US" altLang="zh-TW" sz="2000" dirty="0"/>
              <a:t> (150M)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tenio.io, </a:t>
            </a:r>
            <a:r>
              <a:rPr lang="en-US" altLang="zh-TW" sz="2000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https://tenon.io/</a:t>
            </a:r>
            <a:r>
              <a:rPr lang="en-US" altLang="zh-TW" sz="2000" dirty="0"/>
              <a:t> </a:t>
            </a:r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8A6BD6-C456-4DBD-BECF-227382FB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C4B89D0-9922-41D3-85D3-D36E1C6CFC15}"/>
              </a:ext>
            </a:extLst>
          </p:cNvPr>
          <p:cNvSpPr txBox="1"/>
          <p:nvPr/>
        </p:nvSpPr>
        <p:spPr>
          <a:xfrm rot="20446638">
            <a:off x="2259481" y="2722700"/>
            <a:ext cx="4880823" cy="1615827"/>
          </a:xfrm>
          <a:prstGeom prst="rect">
            <a:avLst/>
          </a:prstGeom>
          <a:solidFill>
            <a:srgbClr val="FFFF00">
              <a:alpha val="54902"/>
            </a:srgbClr>
          </a:solidFill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4950" dirty="0">
                <a:solidFill>
                  <a:srgbClr val="FF0000"/>
                </a:solidFill>
                <a:sym typeface="Symbol" panose="05050102010706020507" pitchFamily="18" charset="2"/>
              </a:rPr>
              <a:t></a:t>
            </a:r>
            <a:r>
              <a:rPr lang="en-US" altLang="zh-TW" sz="4950" dirty="0">
                <a:solidFill>
                  <a:srgbClr val="FF0000"/>
                </a:solidFill>
              </a:rPr>
              <a:t>310.4 Millions</a:t>
            </a:r>
          </a:p>
          <a:p>
            <a:r>
              <a:rPr lang="en-US" altLang="zh-TW" sz="4950" dirty="0">
                <a:solidFill>
                  <a:srgbClr val="FF0000"/>
                </a:solidFill>
              </a:rPr>
              <a:t>Avg.</a:t>
            </a:r>
            <a:r>
              <a:rPr lang="zh-TW" altLang="en-US" sz="4950" dirty="0">
                <a:solidFill>
                  <a:srgbClr val="FF0000"/>
                </a:solidFill>
              </a:rPr>
              <a:t> </a:t>
            </a:r>
            <a:r>
              <a:rPr lang="en-US" altLang="zh-TW" sz="4950" dirty="0">
                <a:solidFill>
                  <a:srgbClr val="FF0000"/>
                </a:solidFill>
              </a:rPr>
              <a:t>34.5Millions</a:t>
            </a:r>
            <a:endParaRPr lang="zh-TW" altLang="en-US" sz="49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10352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1245" y="440966"/>
            <a:ext cx="7296380" cy="1059731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軟體自動測試市場主要競爭者說明</a:t>
            </a:r>
            <a:br>
              <a:rPr lang="en-US" altLang="zh-TW" b="1" dirty="0">
                <a:solidFill>
                  <a:schemeClr val="tx1"/>
                </a:solidFill>
              </a:rPr>
            </a:br>
            <a:r>
              <a:rPr lang="en-US" altLang="zh-TW" sz="2100" dirty="0">
                <a:solidFill>
                  <a:schemeClr val="tx1"/>
                </a:solidFill>
              </a:rPr>
              <a:t>- </a:t>
            </a:r>
            <a:r>
              <a:rPr lang="zh-TW" altLang="en-US" sz="2100" dirty="0">
                <a:solidFill>
                  <a:schemeClr val="tx1"/>
                </a:solidFill>
              </a:rPr>
              <a:t>您看見機會了嗎？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影像" descr="影像">
            <a:extLst>
              <a:ext uri="{FF2B5EF4-FFF2-40B4-BE49-F238E27FC236}">
                <a16:creationId xmlns:a16="http://schemas.microsoft.com/office/drawing/2014/main" id="{0B1BC956-19B7-4F6D-85F4-ECA8D5877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1245" y="2345243"/>
            <a:ext cx="7540772" cy="407179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A9F066-C601-44D4-A06F-87130A55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048A2DA6-BF5E-42AF-A4D0-D9B7854F367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 rot="20446638">
            <a:off x="1742823" y="1217432"/>
            <a:ext cx="5212789" cy="2606740"/>
          </a:xfrm>
          <a:prstGeom prst="rect">
            <a:avLst/>
          </a:prstGeom>
          <a:solidFill>
            <a:srgbClr val="FFFF00">
              <a:alpha val="54902"/>
            </a:srgbClr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3000" dirty="0">
                <a:solidFill>
                  <a:srgbClr val="000000"/>
                </a:solidFill>
                <a:sym typeface="Symbol" panose="05050102010706020507" pitchFamily="18" charset="2"/>
              </a:rPr>
              <a:t>Only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zh-TW" sz="4950" dirty="0">
                <a:solidFill>
                  <a:srgbClr val="000000"/>
                </a:solidFill>
              </a:rPr>
              <a:t>310.4M (&lt;1%)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3000" dirty="0">
                <a:solidFill>
                  <a:srgbClr val="000000"/>
                </a:solidFill>
              </a:rPr>
              <a:t>of testing service market is captured by top 9. </a:t>
            </a:r>
            <a:endParaRPr lang="zh-TW" altLang="en-US" sz="3000" dirty="0">
              <a:solidFill>
                <a:srgbClr val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1567A0-400D-481F-8C04-9D5EA2B7EFAD}"/>
              </a:ext>
            </a:extLst>
          </p:cNvPr>
          <p:cNvSpPr/>
          <p:nvPr/>
        </p:nvSpPr>
        <p:spPr>
          <a:xfrm>
            <a:off x="4349217" y="3547698"/>
            <a:ext cx="476003" cy="1059731"/>
          </a:xfrm>
          <a:prstGeom prst="rect">
            <a:avLst/>
          </a:prstGeom>
          <a:solidFill>
            <a:srgbClr val="FFC000">
              <a:alpha val="50196"/>
            </a:srgb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00"/>
          </a:p>
        </p:txBody>
      </p:sp>
      <p:sp>
        <p:nvSpPr>
          <p:cNvPr id="5" name="星形: 十二角 4">
            <a:extLst>
              <a:ext uri="{FF2B5EF4-FFF2-40B4-BE49-F238E27FC236}">
                <a16:creationId xmlns:a16="http://schemas.microsoft.com/office/drawing/2014/main" id="{3ED2A316-B9BC-4771-977B-6783C8AFB866}"/>
              </a:ext>
            </a:extLst>
          </p:cNvPr>
          <p:cNvSpPr/>
          <p:nvPr/>
        </p:nvSpPr>
        <p:spPr>
          <a:xfrm>
            <a:off x="1398784" y="1173774"/>
            <a:ext cx="6346433" cy="1602863"/>
          </a:xfrm>
          <a:prstGeom prst="star12">
            <a:avLst/>
          </a:prstGeom>
          <a:solidFill>
            <a:srgbClr val="FF8E11"/>
          </a:solidFill>
          <a:ln w="7620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Huge opportunity!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9252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1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1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1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150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6" grpId="0" animBg="1"/>
      <p:bldP spid="5" grpId="0" animBg="1"/>
      <p:bldP spid="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270054"/>
            <a:ext cx="8966200" cy="915987"/>
          </a:xfrm>
        </p:spPr>
        <p:txBody>
          <a:bodyPr/>
          <a:lstStyle/>
          <a:p>
            <a:pPr algn="ctr"/>
            <a:r>
              <a:rPr lang="zh-TW" altLang="en-US" b="1" dirty="0"/>
              <a:t>產業分析</a:t>
            </a:r>
            <a:br>
              <a:rPr lang="hsb-DE" altLang="zh-TW" b="1" dirty="0"/>
            </a:br>
            <a:r>
              <a:rPr lang="hsb-DE" altLang="zh-TW" sz="2700" dirty="0"/>
              <a:t>from the Boss‘ perspective</a:t>
            </a:r>
            <a:endParaRPr lang="zh-TW" altLang="en-US" sz="27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42" y="1332803"/>
            <a:ext cx="7999364" cy="2944733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upon a time in a QA meeting when MS hired 10000 testers, </a:t>
            </a:r>
          </a:p>
          <a:p>
            <a:pPr marL="0" indent="0">
              <a:buNone/>
            </a:pPr>
            <a:endParaRPr lang="en-US" altLang="zh-TW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</a:t>
            </a:r>
            <a:r>
              <a:rPr lang="zh-TW" altLang="en-US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 I pay a lot of testers, but I really have no idea what they do.“</a:t>
            </a:r>
          </a:p>
          <a:p>
            <a:pPr marL="0" indent="0">
              <a:buNone/>
            </a:pPr>
            <a:endParaRPr lang="en-US" altLang="zh-TW" sz="2800" dirty="0"/>
          </a:p>
          <a:p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026" name="Picture 2" descr="「Bill Gates」的圖片搜尋結果">
            <a:extLst>
              <a:ext uri="{FF2B5EF4-FFF2-40B4-BE49-F238E27FC236}">
                <a16:creationId xmlns:a16="http://schemas.microsoft.com/office/drawing/2014/main" id="{C9E88FC8-0B60-4B5A-BDD8-FAF9F63E0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583" y="3253458"/>
            <a:ext cx="3068200" cy="208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27CDC00-4974-41B2-A6EE-B0A40E427E3E}"/>
              </a:ext>
            </a:extLst>
          </p:cNvPr>
          <p:cNvSpPr txBox="1">
            <a:spLocks/>
          </p:cNvSpPr>
          <p:nvPr/>
        </p:nvSpPr>
        <p:spPr>
          <a:xfrm>
            <a:off x="288187" y="5661145"/>
            <a:ext cx="8516447" cy="4088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https://softwaretesting.cioreview.com/cxoinsight/the-cost-of-software-testing-nid-27746-cid-112.html</a:t>
            </a:r>
            <a:endParaRPr lang="en-US" altLang="zh-TW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zh-TW" sz="1400" dirty="0">
              <a:solidFill>
                <a:schemeClr val="tx2"/>
              </a:solidFill>
            </a:endParaRPr>
          </a:p>
          <a:p>
            <a:endParaRPr lang="zh-TW" altLang="en-US" sz="1400" dirty="0">
              <a:solidFill>
                <a:schemeClr val="tx2"/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0BD52C-FF1E-48D1-A1D5-36EB574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11753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291466"/>
            <a:ext cx="8966200" cy="915987"/>
          </a:xfrm>
        </p:spPr>
        <p:txBody>
          <a:bodyPr/>
          <a:lstStyle/>
          <a:p>
            <a:pPr algn="ctr"/>
            <a:r>
              <a:rPr lang="zh-TW" altLang="en-US" b="1" dirty="0"/>
              <a:t>產業分析</a:t>
            </a:r>
            <a:br>
              <a:rPr lang="hsb-DE" altLang="zh-TW" b="1" dirty="0"/>
            </a:br>
            <a:r>
              <a:rPr lang="hsb-DE" altLang="zh-TW" sz="2700" dirty="0"/>
              <a:t>from Taiwana Boss‘ perspective</a:t>
            </a:r>
            <a:endParaRPr lang="zh-TW" altLang="en-US" sz="27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217" y="2052485"/>
            <a:ext cx="6346433" cy="2409963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0BD52C-FF1E-48D1-A1D5-36EB574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B82DD0C-09F9-4128-A3E2-CA20FEC54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202" y="1294808"/>
            <a:ext cx="5137608" cy="5030201"/>
          </a:xfrm>
          <a:prstGeom prst="rect">
            <a:avLst/>
          </a:prstGeom>
        </p:spPr>
      </p:pic>
      <p:sp>
        <p:nvSpPr>
          <p:cNvPr id="9" name="語音泡泡: 矩形 8">
            <a:extLst>
              <a:ext uri="{FF2B5EF4-FFF2-40B4-BE49-F238E27FC236}">
                <a16:creationId xmlns:a16="http://schemas.microsoft.com/office/drawing/2014/main" id="{D1EC007B-0BAF-4396-88F9-BE73115C6D81}"/>
              </a:ext>
            </a:extLst>
          </p:cNvPr>
          <p:cNvSpPr/>
          <p:nvPr/>
        </p:nvSpPr>
        <p:spPr>
          <a:xfrm>
            <a:off x="2249260" y="1615921"/>
            <a:ext cx="4575746" cy="1485498"/>
          </a:xfrm>
          <a:prstGeom prst="wedgeRectCallout">
            <a:avLst>
              <a:gd name="adj1" fmla="val -18294"/>
              <a:gd name="adj2" fmla="val 49639"/>
            </a:avLst>
          </a:prstGeom>
          <a:solidFill>
            <a:srgbClr val="8EB383"/>
          </a:solidFill>
          <a:ln>
            <a:solidFill>
              <a:srgbClr val="8EB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sb-DE" altLang="zh-TW" sz="3200" dirty="0">
                <a:solidFill>
                  <a:schemeClr val="tx1"/>
                </a:solidFill>
              </a:rPr>
              <a:t>If our product does not crash before clients, all your testing is wasted. 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2888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426776"/>
            <a:ext cx="8966200" cy="915987"/>
          </a:xfrm>
        </p:spPr>
        <p:txBody>
          <a:bodyPr/>
          <a:lstStyle/>
          <a:p>
            <a:pPr algn="ctr"/>
            <a:r>
              <a:rPr lang="zh-TW" altLang="en-US" b="1" dirty="0"/>
              <a:t>產業分析</a:t>
            </a:r>
            <a:br>
              <a:rPr lang="hsb-DE" altLang="zh-TW" b="1" dirty="0"/>
            </a:br>
            <a:r>
              <a:rPr lang="hsb-DE" altLang="zh-TW" sz="2700" dirty="0"/>
              <a:t>from the QA engineers‘ perspective</a:t>
            </a:r>
            <a:endParaRPr lang="zh-TW" altLang="en-US" sz="27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486" y="2224019"/>
            <a:ext cx="3882816" cy="18771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hsb-DE" altLang="zh-TW" dirty="0"/>
              <a:t>Can work in a big company! 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hsb-DE" altLang="zh-TW" dirty="0"/>
              <a:t>Can test a few products in the company.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hsb-DE" altLang="zh-TW" dirty="0"/>
              <a:t>Low self-esteem. 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0BD52C-FF1E-48D1-A1D5-36EB574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756CA59-8A05-4186-921B-F4DFC1BC7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61" y="2224019"/>
            <a:ext cx="4023325" cy="3898462"/>
          </a:xfrm>
          <a:prstGeom prst="rect">
            <a:avLst/>
          </a:prstGeom>
        </p:spPr>
      </p:pic>
      <p:sp>
        <p:nvSpPr>
          <p:cNvPr id="9" name="語音泡泡: 矩形 8">
            <a:extLst>
              <a:ext uri="{FF2B5EF4-FFF2-40B4-BE49-F238E27FC236}">
                <a16:creationId xmlns:a16="http://schemas.microsoft.com/office/drawing/2014/main" id="{D1EC007B-0BAF-4396-88F9-BE73115C6D81}"/>
              </a:ext>
            </a:extLst>
          </p:cNvPr>
          <p:cNvSpPr/>
          <p:nvPr/>
        </p:nvSpPr>
        <p:spPr>
          <a:xfrm>
            <a:off x="744718" y="2366127"/>
            <a:ext cx="3389795" cy="1489435"/>
          </a:xfrm>
          <a:prstGeom prst="wedgeRectCallout">
            <a:avLst>
              <a:gd name="adj1" fmla="val -18294"/>
              <a:gd name="adj2" fmla="val 49639"/>
            </a:avLst>
          </a:prstGeom>
          <a:solidFill>
            <a:srgbClr val="EAEAC4"/>
          </a:solidFill>
          <a:ln>
            <a:solidFill>
              <a:srgbClr val="8EB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sb-DE" altLang="zh-TW" sz="2400" dirty="0">
                <a:solidFill>
                  <a:schemeClr val="bg2"/>
                </a:solidFill>
              </a:rPr>
              <a:t>I am a loser.  </a:t>
            </a:r>
          </a:p>
          <a:p>
            <a:pPr algn="ctr"/>
            <a:r>
              <a:rPr lang="hsb-DE" altLang="zh-TW" sz="2400" dirty="0">
                <a:solidFill>
                  <a:schemeClr val="bg2"/>
                </a:solidFill>
              </a:rPr>
              <a:t>I</a:t>
            </a:r>
            <a:r>
              <a:rPr lang="zh-TW" altLang="en-US" sz="2400" dirty="0">
                <a:solidFill>
                  <a:schemeClr val="bg2"/>
                </a:solidFill>
              </a:rPr>
              <a:t> </a:t>
            </a:r>
            <a:r>
              <a:rPr lang="hsb-DE" altLang="zh-TW" sz="2400" dirty="0">
                <a:solidFill>
                  <a:schemeClr val="bg2"/>
                </a:solidFill>
              </a:rPr>
              <a:t>don‘t</a:t>
            </a:r>
            <a:r>
              <a:rPr lang="zh-TW" altLang="en-US" sz="2400" dirty="0">
                <a:solidFill>
                  <a:schemeClr val="bg2"/>
                </a:solidFill>
              </a:rPr>
              <a:t> </a:t>
            </a:r>
            <a:r>
              <a:rPr lang="hsb-DE" altLang="zh-TW" sz="2400" dirty="0">
                <a:solidFill>
                  <a:schemeClr val="bg2"/>
                </a:solidFill>
              </a:rPr>
              <a:t>have</a:t>
            </a:r>
            <a:r>
              <a:rPr lang="zh-TW" altLang="en-US" sz="2400" dirty="0">
                <a:solidFill>
                  <a:schemeClr val="bg2"/>
                </a:solidFill>
              </a:rPr>
              <a:t> </a:t>
            </a:r>
            <a:r>
              <a:rPr lang="hsb-DE" altLang="zh-TW" sz="2400" dirty="0">
                <a:solidFill>
                  <a:schemeClr val="bg2"/>
                </a:solidFill>
              </a:rPr>
              <a:t>value to the company.</a:t>
            </a:r>
          </a:p>
          <a:p>
            <a:pPr algn="ctr"/>
            <a:r>
              <a:rPr lang="hsb-DE" altLang="zh-TW" sz="2400" dirty="0">
                <a:solidFill>
                  <a:schemeClr val="bg2"/>
                </a:solidFill>
              </a:rPr>
              <a:t>I have no life!</a:t>
            </a:r>
            <a:endParaRPr lang="zh-TW" alt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29669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>
          <a:xfrm>
            <a:off x="1318432" y="426818"/>
            <a:ext cx="6346433" cy="975325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zh-TW" altLang="en-US" dirty="0">
                <a:latin typeface="+mn-lt"/>
              </a:rPr>
              <a:t>產業分析</a:t>
            </a:r>
            <a:br>
              <a:rPr lang="en-US" altLang="zh-TW" dirty="0">
                <a:latin typeface="+mn-lt"/>
              </a:rPr>
            </a:br>
            <a:r>
              <a:rPr lang="en-US" altLang="zh-TW" sz="2325" dirty="0">
                <a:latin typeface="+mn-lt"/>
              </a:rPr>
              <a:t>Reality</a:t>
            </a:r>
            <a:endParaRPr lang="zh-TW" altLang="en-US" sz="2325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66338" y="1545996"/>
            <a:ext cx="5915025" cy="1590387"/>
          </a:xfrm>
        </p:spPr>
        <p:txBody>
          <a:bodyPr rtlCol="0"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TW" i="1" dirty="0"/>
              <a:t>Basically record/replay and test management.</a:t>
            </a:r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TW" i="1" dirty="0"/>
              <a:t>Need human to design tests</a:t>
            </a:r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TW" i="1" dirty="0"/>
              <a:t>Need human to recognize screens</a:t>
            </a:r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en-US" altLang="zh-TW" i="1" dirty="0"/>
              <a:t>Need human to understand traces. </a:t>
            </a:r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D9988B7-FC32-4FFC-9AAC-35FDBAF58787}" type="slidenum">
              <a:rPr lang="zh-TW" altLang="en-US" sz="9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zh-TW" altLang="en-US" sz="900">
              <a:solidFill>
                <a:srgbClr val="898989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597" y="3212582"/>
            <a:ext cx="2915949" cy="260957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917" y="3212583"/>
            <a:ext cx="1508948" cy="268257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851" y="3212582"/>
            <a:ext cx="1437761" cy="2556020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59D247-F831-47A2-9085-440BECBA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7" name="矩形: 按鈕形 6">
            <a:extLst>
              <a:ext uri="{FF2B5EF4-FFF2-40B4-BE49-F238E27FC236}">
                <a16:creationId xmlns:a16="http://schemas.microsoft.com/office/drawing/2014/main" id="{34C3BF3E-76F7-4D49-9A5D-E0E898D18F68}"/>
              </a:ext>
            </a:extLst>
          </p:cNvPr>
          <p:cNvSpPr/>
          <p:nvPr/>
        </p:nvSpPr>
        <p:spPr>
          <a:xfrm rot="19969193">
            <a:off x="6998691" y="4863642"/>
            <a:ext cx="1892940" cy="1562569"/>
          </a:xfrm>
          <a:prstGeom prst="beve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rgbClr val="FF0000"/>
                </a:solidFill>
              </a:rPr>
              <a:t>Huge labor</a:t>
            </a:r>
          </a:p>
          <a:p>
            <a:pPr algn="ctr"/>
            <a:r>
              <a:rPr lang="en-US" altLang="zh-TW" sz="1800" dirty="0">
                <a:solidFill>
                  <a:srgbClr val="FF0000"/>
                </a:solidFill>
              </a:rPr>
              <a:t>low efficiency inconsistent quality</a:t>
            </a:r>
          </a:p>
        </p:txBody>
      </p:sp>
    </p:spTree>
    <p:extLst>
      <p:ext uri="{BB962C8B-B14F-4D97-AF65-F5344CB8AC3E}">
        <p14:creationId xmlns:p14="http://schemas.microsoft.com/office/powerpoint/2010/main" val="323753658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群組 46">
            <a:extLst>
              <a:ext uri="{FF2B5EF4-FFF2-40B4-BE49-F238E27FC236}">
                <a16:creationId xmlns:a16="http://schemas.microsoft.com/office/drawing/2014/main" id="{4BB528B3-F7E8-4C1E-9B1E-7B0ABF1EAF0F}"/>
              </a:ext>
            </a:extLst>
          </p:cNvPr>
          <p:cNvGrpSpPr/>
          <p:nvPr/>
        </p:nvGrpSpPr>
        <p:grpSpPr>
          <a:xfrm>
            <a:off x="6813501" y="2593859"/>
            <a:ext cx="1070734" cy="1078245"/>
            <a:chOff x="7409286" y="2467417"/>
            <a:chExt cx="1427645" cy="1437660"/>
          </a:xfrm>
        </p:grpSpPr>
        <p:pic>
          <p:nvPicPr>
            <p:cNvPr id="48" name="Picture 3">
              <a:extLst>
                <a:ext uri="{FF2B5EF4-FFF2-40B4-BE49-F238E27FC236}">
                  <a16:creationId xmlns:a16="http://schemas.microsoft.com/office/drawing/2014/main" id="{9A4277D1-5E66-407B-BFE5-48D307F7C5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9286" y="24674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" name="Picture 3">
              <a:extLst>
                <a:ext uri="{FF2B5EF4-FFF2-40B4-BE49-F238E27FC236}">
                  <a16:creationId xmlns:a16="http://schemas.microsoft.com/office/drawing/2014/main" id="{6C6E88C5-010D-47B1-B25E-5FA2CB2128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1686" y="26198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" name="Picture 3">
              <a:extLst>
                <a:ext uri="{FF2B5EF4-FFF2-40B4-BE49-F238E27FC236}">
                  <a16:creationId xmlns:a16="http://schemas.microsoft.com/office/drawing/2014/main" id="{F41D4917-7A20-4E9A-A05D-A6C13D2D97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4086" y="27722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3">
              <a:extLst>
                <a:ext uri="{FF2B5EF4-FFF2-40B4-BE49-F238E27FC236}">
                  <a16:creationId xmlns:a16="http://schemas.microsoft.com/office/drawing/2014/main" id="{761BF62E-4508-455D-BDA8-DC05000B99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6486" y="29246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3">
              <a:extLst>
                <a:ext uri="{FF2B5EF4-FFF2-40B4-BE49-F238E27FC236}">
                  <a16:creationId xmlns:a16="http://schemas.microsoft.com/office/drawing/2014/main" id="{46C29264-18E9-46A9-BE31-046D41EB22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886" y="30770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3">
              <a:extLst>
                <a:ext uri="{FF2B5EF4-FFF2-40B4-BE49-F238E27FC236}">
                  <a16:creationId xmlns:a16="http://schemas.microsoft.com/office/drawing/2014/main" id="{F4AD9FE0-2B1C-49C6-8596-E8C548E339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1286" y="32294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" name="內容版面配置區 2">
            <a:extLst>
              <a:ext uri="{FF2B5EF4-FFF2-40B4-BE49-F238E27FC236}">
                <a16:creationId xmlns:a16="http://schemas.microsoft.com/office/drawing/2014/main" id="{3DD8C0D9-C188-48F3-B461-91FB863B18B0}"/>
              </a:ext>
            </a:extLst>
          </p:cNvPr>
          <p:cNvSpPr txBox="1">
            <a:spLocks/>
          </p:cNvSpPr>
          <p:nvPr/>
        </p:nvSpPr>
        <p:spPr>
          <a:xfrm>
            <a:off x="1700150" y="3257748"/>
            <a:ext cx="1776099" cy="653617"/>
          </a:xfrm>
          <a:prstGeom prst="rect">
            <a:avLst/>
          </a:prstGeom>
          <a:solidFill>
            <a:srgbClr val="FFC000"/>
          </a:solidFill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1500" dirty="0"/>
              <a:t>Record/replay.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500" dirty="0"/>
              <a:t>Test management!</a:t>
            </a: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8725219C-2055-42BD-8FFA-77EC45A032C1}"/>
              </a:ext>
            </a:extLst>
          </p:cNvPr>
          <p:cNvCxnSpPr>
            <a:cxnSpLocks/>
            <a:stCxn id="9" idx="3"/>
            <a:endCxn id="17" idx="0"/>
          </p:cNvCxnSpPr>
          <p:nvPr/>
        </p:nvCxnSpPr>
        <p:spPr>
          <a:xfrm>
            <a:off x="6442481" y="2691652"/>
            <a:ext cx="79769" cy="2195992"/>
          </a:xfrm>
          <a:prstGeom prst="straightConnector1">
            <a:avLst/>
          </a:prstGeom>
          <a:ln w="57150">
            <a:solidFill>
              <a:srgbClr val="92D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標題 1"/>
          <p:cNvSpPr>
            <a:spLocks noGrp="1"/>
          </p:cNvSpPr>
          <p:nvPr>
            <p:ph type="title"/>
          </p:nvPr>
        </p:nvSpPr>
        <p:spPr>
          <a:xfrm>
            <a:off x="1385924" y="388978"/>
            <a:ext cx="6346433" cy="951791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/>
              <a:t>產業分析</a:t>
            </a:r>
            <a:br>
              <a:rPr lang="hsb-DE" altLang="zh-TW" dirty="0"/>
            </a:br>
            <a:r>
              <a:rPr lang="en-US" altLang="zh-TW" sz="2400" dirty="0"/>
              <a:t>Reality</a:t>
            </a:r>
            <a:endParaRPr lang="zh-TW" altLang="en-US" sz="2400" dirty="0"/>
          </a:p>
        </p:txBody>
      </p:sp>
      <p:cxnSp>
        <p:nvCxnSpPr>
          <p:cNvPr id="18" name="直線單箭頭接點 17"/>
          <p:cNvCxnSpPr>
            <a:cxnSpLocks/>
            <a:endCxn id="16" idx="2"/>
          </p:cNvCxnSpPr>
          <p:nvPr/>
        </p:nvCxnSpPr>
        <p:spPr>
          <a:xfrm>
            <a:off x="2747853" y="2674816"/>
            <a:ext cx="879212" cy="142096"/>
          </a:xfrm>
          <a:prstGeom prst="straightConnector1">
            <a:avLst/>
          </a:prstGeom>
          <a:ln w="5715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3" name="文字方塊 19"/>
          <p:cNvSpPr txBox="1">
            <a:spLocks noChangeArrowheads="1"/>
          </p:cNvSpPr>
          <p:nvPr/>
        </p:nvSpPr>
        <p:spPr bwMode="auto">
          <a:xfrm>
            <a:off x="3044526" y="2068955"/>
            <a:ext cx="9727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Century Schoolbook" panose="02040604050505020304" pitchFamily="18" charset="0"/>
              </a:rPr>
              <a:t>test input</a:t>
            </a:r>
            <a:endParaRPr lang="zh-TW" altLang="en-US" sz="1800" dirty="0">
              <a:latin typeface="Century Schoolbook" panose="02040604050505020304" pitchFamily="18" charset="0"/>
            </a:endParaRPr>
          </a:p>
        </p:txBody>
      </p:sp>
      <p:cxnSp>
        <p:nvCxnSpPr>
          <p:cNvPr id="24" name="直線單箭頭接點 23"/>
          <p:cNvCxnSpPr>
            <a:cxnSpLocks/>
            <a:stCxn id="16" idx="7"/>
            <a:endCxn id="9" idx="2"/>
          </p:cNvCxnSpPr>
          <p:nvPr/>
        </p:nvCxnSpPr>
        <p:spPr>
          <a:xfrm flipV="1">
            <a:off x="5201236" y="2214295"/>
            <a:ext cx="813911" cy="314264"/>
          </a:xfrm>
          <a:prstGeom prst="straightConnector1">
            <a:avLst/>
          </a:prstGeom>
          <a:ln w="57150">
            <a:solidFill>
              <a:srgbClr val="92D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0" name="文字方塊 8"/>
          <p:cNvSpPr txBox="1">
            <a:spLocks noChangeArrowheads="1"/>
          </p:cNvSpPr>
          <p:nvPr/>
        </p:nvSpPr>
        <p:spPr bwMode="auto">
          <a:xfrm>
            <a:off x="6001941" y="2733601"/>
            <a:ext cx="109897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1800" dirty="0">
                <a:highlight>
                  <a:srgbClr val="FFC000"/>
                </a:highlight>
                <a:ea typeface="新細明體" charset="-120"/>
              </a:rPr>
              <a:t>human </a:t>
            </a:r>
          </a:p>
          <a:p>
            <a:pPr>
              <a:defRPr/>
            </a:pPr>
            <a:r>
              <a:rPr lang="en-US" altLang="zh-TW" sz="1800" dirty="0">
                <a:highlight>
                  <a:srgbClr val="FFC000"/>
                </a:highlight>
                <a:ea typeface="新細明體" charset="-120"/>
              </a:rPr>
              <a:t>test  </a:t>
            </a:r>
          </a:p>
          <a:p>
            <a:pPr>
              <a:defRPr/>
            </a:pPr>
            <a:r>
              <a:rPr lang="en-US" altLang="zh-TW" sz="1800" dirty="0">
                <a:highlight>
                  <a:srgbClr val="FFC000"/>
                </a:highlight>
                <a:ea typeface="新細明體" charset="-120"/>
              </a:rPr>
              <a:t>oracle</a:t>
            </a:r>
            <a:endParaRPr lang="zh-TW" altLang="en-US" sz="1800" dirty="0">
              <a:highlight>
                <a:srgbClr val="FFC000"/>
              </a:highlight>
              <a:ea typeface="新細明體" charset="-120"/>
            </a:endParaRPr>
          </a:p>
        </p:txBody>
      </p:sp>
      <p:sp>
        <p:nvSpPr>
          <p:cNvPr id="19470" name="投影片編號版面配置區 3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A2CF2B-98A8-441E-BBFA-84A68B0894FB}" type="slidenum">
              <a:rPr lang="en-US" altLang="zh-TW" sz="18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TW" sz="1800" dirty="0"/>
          </a:p>
        </p:txBody>
      </p:sp>
      <p:sp>
        <p:nvSpPr>
          <p:cNvPr id="19471" name="內容版面配置區 2"/>
          <p:cNvSpPr>
            <a:spLocks noGrp="1"/>
          </p:cNvSpPr>
          <p:nvPr>
            <p:ph idx="1"/>
          </p:nvPr>
        </p:nvSpPr>
        <p:spPr>
          <a:xfrm>
            <a:off x="188536" y="3918409"/>
            <a:ext cx="3107157" cy="194065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TW" i="1" dirty="0"/>
              <a:t>Low efficiency. 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TW" i="1" dirty="0"/>
              <a:t>Poor coverage.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TW" i="1" dirty="0"/>
              <a:t>Low reusability</a:t>
            </a:r>
            <a:endParaRPr lang="zh-TW" altLang="en-US" i="1" dirty="0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3A4DE81F-E240-4441-B700-CD5769C0D2C8}"/>
              </a:ext>
            </a:extLst>
          </p:cNvPr>
          <p:cNvSpPr/>
          <p:nvPr/>
        </p:nvSpPr>
        <p:spPr>
          <a:xfrm>
            <a:off x="3627065" y="2409118"/>
            <a:ext cx="1844258" cy="815586"/>
          </a:xfrm>
          <a:prstGeom prst="ellipse">
            <a:avLst/>
          </a:prstGeom>
          <a:solidFill>
            <a:srgbClr val="F89926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ts val="2400"/>
              </a:lnSpc>
              <a:defRPr/>
            </a:pPr>
            <a:r>
              <a:rPr lang="en-US" altLang="zh-TW" sz="2700" dirty="0">
                <a:solidFill>
                  <a:schemeClr val="tx1"/>
                </a:solidFill>
              </a:rPr>
              <a:t>Testbed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17" name="書卷 (垂直) 40">
            <a:extLst>
              <a:ext uri="{FF2B5EF4-FFF2-40B4-BE49-F238E27FC236}">
                <a16:creationId xmlns:a16="http://schemas.microsoft.com/office/drawing/2014/main" id="{5D9CB187-FCE2-4F20-9707-FFC38C4EBDC6}"/>
              </a:ext>
            </a:extLst>
          </p:cNvPr>
          <p:cNvSpPr/>
          <p:nvPr/>
        </p:nvSpPr>
        <p:spPr>
          <a:xfrm>
            <a:off x="5966989" y="4887644"/>
            <a:ext cx="1110521" cy="712166"/>
          </a:xfrm>
          <a:prstGeom prst="verticalScroll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1800" i="1" dirty="0">
                <a:solidFill>
                  <a:schemeClr val="tx1"/>
                </a:solidFill>
              </a:rPr>
              <a:t>Test reports</a:t>
            </a:r>
            <a:endParaRPr lang="zh-TW" altLang="en-US" sz="1800" i="1" dirty="0">
              <a:solidFill>
                <a:schemeClr val="tx1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A0C2837-3A00-41F5-B745-32490C1F7D38}"/>
              </a:ext>
            </a:extLst>
          </p:cNvPr>
          <p:cNvGrpSpPr/>
          <p:nvPr/>
        </p:nvGrpSpPr>
        <p:grpSpPr>
          <a:xfrm>
            <a:off x="3476250" y="4382166"/>
            <a:ext cx="2191501" cy="1379270"/>
            <a:chOff x="2574035" y="4872572"/>
            <a:chExt cx="2922001" cy="1839027"/>
          </a:xfrm>
        </p:grpSpPr>
        <p:sp>
          <p:nvSpPr>
            <p:cNvPr id="32" name="橢圓 31"/>
            <p:cNvSpPr/>
            <p:nvPr/>
          </p:nvSpPr>
          <p:spPr>
            <a:xfrm>
              <a:off x="2574035" y="4872572"/>
              <a:ext cx="2922001" cy="18390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zh-TW" sz="2100" dirty="0"/>
                <a:t>System </a:t>
              </a:r>
            </a:p>
            <a:p>
              <a:pPr>
                <a:defRPr/>
              </a:pPr>
              <a:r>
                <a:rPr lang="en-US" altLang="zh-TW" sz="2100" dirty="0"/>
                <a:t>under </a:t>
              </a:r>
            </a:p>
            <a:p>
              <a:pPr>
                <a:defRPr/>
              </a:pPr>
              <a:r>
                <a:rPr lang="en-US" altLang="zh-TW" sz="2100" dirty="0"/>
                <a:t>Test</a:t>
              </a:r>
              <a:endParaRPr lang="zh-TW" altLang="en-US" sz="2100" dirty="0"/>
            </a:p>
          </p:txBody>
        </p:sp>
        <p:grpSp>
          <p:nvGrpSpPr>
            <p:cNvPr id="19" name="群組 42">
              <a:extLst>
                <a:ext uri="{FF2B5EF4-FFF2-40B4-BE49-F238E27FC236}">
                  <a16:creationId xmlns:a16="http://schemas.microsoft.com/office/drawing/2014/main" id="{F836FFBC-79A6-4BD2-B4B6-521192FC18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8745" y="4934502"/>
              <a:ext cx="1019395" cy="1561597"/>
              <a:chOff x="10249786" y="2850412"/>
              <a:chExt cx="1597212" cy="2827374"/>
            </a:xfrm>
          </p:grpSpPr>
          <p:sp>
            <p:nvSpPr>
              <p:cNvPr id="20" name="圓角矩形 44">
                <a:extLst>
                  <a:ext uri="{FF2B5EF4-FFF2-40B4-BE49-F238E27FC236}">
                    <a16:creationId xmlns:a16="http://schemas.microsoft.com/office/drawing/2014/main" id="{6B9A9E15-A73B-43B8-87D2-DADBDE1C068B}"/>
                  </a:ext>
                </a:extLst>
              </p:cNvPr>
              <p:cNvSpPr/>
              <p:nvPr/>
            </p:nvSpPr>
            <p:spPr>
              <a:xfrm>
                <a:off x="10592692" y="2850412"/>
                <a:ext cx="1255204" cy="237025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D01A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</p:txBody>
          </p:sp>
          <p:sp>
            <p:nvSpPr>
              <p:cNvPr id="21" name="圓角矩形 45">
                <a:extLst>
                  <a:ext uri="{FF2B5EF4-FFF2-40B4-BE49-F238E27FC236}">
                    <a16:creationId xmlns:a16="http://schemas.microsoft.com/office/drawing/2014/main" id="{DE184E35-7414-4658-AB92-C4140BB5E134}"/>
                  </a:ext>
                </a:extLst>
              </p:cNvPr>
              <p:cNvSpPr/>
              <p:nvPr/>
            </p:nvSpPr>
            <p:spPr>
              <a:xfrm>
                <a:off x="10520724" y="2932948"/>
                <a:ext cx="1257321" cy="2372369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D01A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</p:txBody>
          </p:sp>
          <p:sp>
            <p:nvSpPr>
              <p:cNvPr id="22" name="圓角矩形 46">
                <a:extLst>
                  <a:ext uri="{FF2B5EF4-FFF2-40B4-BE49-F238E27FC236}">
                    <a16:creationId xmlns:a16="http://schemas.microsoft.com/office/drawing/2014/main" id="{CB609E8A-E5B7-4ED6-A4A7-361849FC42BD}"/>
                  </a:ext>
                </a:extLst>
              </p:cNvPr>
              <p:cNvSpPr/>
              <p:nvPr/>
            </p:nvSpPr>
            <p:spPr>
              <a:xfrm>
                <a:off x="10450872" y="3017600"/>
                <a:ext cx="1255205" cy="237025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D01A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</p:txBody>
          </p:sp>
          <p:sp>
            <p:nvSpPr>
              <p:cNvPr id="23" name="圓角矩形 47">
                <a:extLst>
                  <a:ext uri="{FF2B5EF4-FFF2-40B4-BE49-F238E27FC236}">
                    <a16:creationId xmlns:a16="http://schemas.microsoft.com/office/drawing/2014/main" id="{88F07D79-8C98-42AA-B266-E7E88638F4C2}"/>
                  </a:ext>
                </a:extLst>
              </p:cNvPr>
              <p:cNvSpPr/>
              <p:nvPr/>
            </p:nvSpPr>
            <p:spPr>
              <a:xfrm>
                <a:off x="10381022" y="3112833"/>
                <a:ext cx="1255204" cy="237237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D01A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</p:txBody>
          </p:sp>
          <p:sp>
            <p:nvSpPr>
              <p:cNvPr id="25" name="圓角矩形 48">
                <a:extLst>
                  <a:ext uri="{FF2B5EF4-FFF2-40B4-BE49-F238E27FC236}">
                    <a16:creationId xmlns:a16="http://schemas.microsoft.com/office/drawing/2014/main" id="{ECC1FBC6-0BD1-433B-803B-7608EB4685D0}"/>
                  </a:ext>
                </a:extLst>
              </p:cNvPr>
              <p:cNvSpPr/>
              <p:nvPr/>
            </p:nvSpPr>
            <p:spPr>
              <a:xfrm>
                <a:off x="10309054" y="3210183"/>
                <a:ext cx="1255204" cy="237025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D01A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</p:txBody>
          </p:sp>
          <p:sp>
            <p:nvSpPr>
              <p:cNvPr id="26" name="圓角矩形 49">
                <a:extLst>
                  <a:ext uri="{FF2B5EF4-FFF2-40B4-BE49-F238E27FC236}">
                    <a16:creationId xmlns:a16="http://schemas.microsoft.com/office/drawing/2014/main" id="{9DC1DEBE-5D42-493C-8C67-2A5190427F51}"/>
                  </a:ext>
                </a:extLst>
              </p:cNvPr>
              <p:cNvSpPr/>
              <p:nvPr/>
            </p:nvSpPr>
            <p:spPr>
              <a:xfrm>
                <a:off x="10249786" y="3307532"/>
                <a:ext cx="1255204" cy="237025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D01A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  <a:p>
                <a:pPr algn="ctr">
                  <a:defRPr/>
                </a:pPr>
                <a:endParaRPr lang="en-US" altLang="zh-TW" sz="1575" dirty="0"/>
              </a:p>
            </p:txBody>
          </p:sp>
          <p:pic>
            <p:nvPicPr>
              <p:cNvPr id="27" name="圖片 50">
                <a:extLst>
                  <a:ext uri="{FF2B5EF4-FFF2-40B4-BE49-F238E27FC236}">
                    <a16:creationId xmlns:a16="http://schemas.microsoft.com/office/drawing/2014/main" id="{BCC3D556-9799-4A21-98E1-0264578550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09260" y="3475519"/>
                <a:ext cx="1135691" cy="1840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" name="流程圖: 接點 27">
                <a:extLst>
                  <a:ext uri="{FF2B5EF4-FFF2-40B4-BE49-F238E27FC236}">
                    <a16:creationId xmlns:a16="http://schemas.microsoft.com/office/drawing/2014/main" id="{F85C0463-02AF-4800-A1EB-B6D7250E6CB7}"/>
                  </a:ext>
                </a:extLst>
              </p:cNvPr>
              <p:cNvSpPr/>
              <p:nvPr/>
            </p:nvSpPr>
            <p:spPr>
              <a:xfrm>
                <a:off x="10747210" y="5368807"/>
                <a:ext cx="260355" cy="245491"/>
              </a:xfrm>
              <a:prstGeom prst="flowChartConnector">
                <a:avLst/>
              </a:prstGeom>
              <a:solidFill>
                <a:schemeClr val="bg1"/>
              </a:solidFill>
              <a:ln w="38100">
                <a:solidFill>
                  <a:srgbClr val="DD01A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TW" altLang="en-US" sz="1500"/>
              </a:p>
            </p:txBody>
          </p:sp>
        </p:grpSp>
      </p:grpSp>
      <p:sp>
        <p:nvSpPr>
          <p:cNvPr id="9" name="流程圖: 磁碟 8">
            <a:extLst>
              <a:ext uri="{FF2B5EF4-FFF2-40B4-BE49-F238E27FC236}">
                <a16:creationId xmlns:a16="http://schemas.microsoft.com/office/drawing/2014/main" id="{FD35BCB4-57E4-46B6-ADF4-1016604740DC}"/>
              </a:ext>
            </a:extLst>
          </p:cNvPr>
          <p:cNvSpPr/>
          <p:nvPr/>
        </p:nvSpPr>
        <p:spPr>
          <a:xfrm>
            <a:off x="6015147" y="1736936"/>
            <a:ext cx="854666" cy="954716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>
                <a:solidFill>
                  <a:schemeClr val="tx1"/>
                </a:solidFill>
              </a:rPr>
              <a:t>test traces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46" name="內容版面配置區 2">
            <a:extLst>
              <a:ext uri="{FF2B5EF4-FFF2-40B4-BE49-F238E27FC236}">
                <a16:creationId xmlns:a16="http://schemas.microsoft.com/office/drawing/2014/main" id="{4797A744-9A5C-465D-8FA2-CE8999E031FC}"/>
              </a:ext>
            </a:extLst>
          </p:cNvPr>
          <p:cNvSpPr txBox="1">
            <a:spLocks/>
          </p:cNvSpPr>
          <p:nvPr/>
        </p:nvSpPr>
        <p:spPr>
          <a:xfrm>
            <a:off x="3743914" y="3323821"/>
            <a:ext cx="1776099" cy="414356"/>
          </a:xfrm>
          <a:prstGeom prst="rect">
            <a:avLst/>
          </a:prstGeom>
          <a:solidFill>
            <a:srgbClr val="00B0F0"/>
          </a:solidFill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1500" dirty="0"/>
              <a:t>High automation!</a:t>
            </a:r>
          </a:p>
        </p:txBody>
      </p:sp>
      <p:sp>
        <p:nvSpPr>
          <p:cNvPr id="29" name="左-右雙向箭號 28">
            <a:extLst>
              <a:ext uri="{FF2B5EF4-FFF2-40B4-BE49-F238E27FC236}">
                <a16:creationId xmlns:a16="http://schemas.microsoft.com/office/drawing/2014/main" id="{1C69FB2E-BD44-4C48-B87B-67B071A77CCF}"/>
              </a:ext>
            </a:extLst>
          </p:cNvPr>
          <p:cNvSpPr/>
          <p:nvPr/>
        </p:nvSpPr>
        <p:spPr>
          <a:xfrm rot="5400000">
            <a:off x="4024616" y="3667002"/>
            <a:ext cx="1157460" cy="272870"/>
          </a:xfrm>
          <a:prstGeom prst="leftRightArrow">
            <a:avLst/>
          </a:prstGeom>
          <a:solidFill>
            <a:srgbClr val="FF0000">
              <a:alpha val="58039"/>
            </a:srgbClr>
          </a:solidFill>
          <a:ln>
            <a:solidFill>
              <a:srgbClr val="41719C">
                <a:alpha val="41961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150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B6D478BF-9F67-4C62-A8DB-8C28D3AA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42C26D47-573B-4640-972A-E087789CBAA5}"/>
              </a:ext>
            </a:extLst>
          </p:cNvPr>
          <p:cNvGrpSpPr/>
          <p:nvPr/>
        </p:nvGrpSpPr>
        <p:grpSpPr>
          <a:xfrm>
            <a:off x="1460825" y="1932037"/>
            <a:ext cx="1256292" cy="1267162"/>
            <a:chOff x="423767" y="1433048"/>
            <a:chExt cx="1675056" cy="1689549"/>
          </a:xfrm>
        </p:grpSpPr>
        <p:pic>
          <p:nvPicPr>
            <p:cNvPr id="1946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3767" y="1433048"/>
              <a:ext cx="913056" cy="927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3">
              <a:extLst>
                <a:ext uri="{FF2B5EF4-FFF2-40B4-BE49-F238E27FC236}">
                  <a16:creationId xmlns:a16="http://schemas.microsoft.com/office/drawing/2014/main" id="{233E5E8C-A646-4356-BB08-7789A219A5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76167" y="1585448"/>
              <a:ext cx="913056" cy="927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">
              <a:extLst>
                <a:ext uri="{FF2B5EF4-FFF2-40B4-BE49-F238E27FC236}">
                  <a16:creationId xmlns:a16="http://schemas.microsoft.com/office/drawing/2014/main" id="{E23912E6-A3C5-4AC1-90FF-1F8D9C9B5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28567" y="1737848"/>
              <a:ext cx="913056" cy="927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3">
              <a:extLst>
                <a:ext uri="{FF2B5EF4-FFF2-40B4-BE49-F238E27FC236}">
                  <a16:creationId xmlns:a16="http://schemas.microsoft.com/office/drawing/2014/main" id="{C9C68FCB-6940-4B61-B71C-6F2581B573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0967" y="1890248"/>
              <a:ext cx="913056" cy="927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3">
              <a:extLst>
                <a:ext uri="{FF2B5EF4-FFF2-40B4-BE49-F238E27FC236}">
                  <a16:creationId xmlns:a16="http://schemas.microsoft.com/office/drawing/2014/main" id="{4CCD6794-0B80-43B8-9DAD-3D4C65EFE5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033367" y="2042648"/>
              <a:ext cx="913056" cy="927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3">
              <a:extLst>
                <a:ext uri="{FF2B5EF4-FFF2-40B4-BE49-F238E27FC236}">
                  <a16:creationId xmlns:a16="http://schemas.microsoft.com/office/drawing/2014/main" id="{ABDD823C-8D6B-4EA0-86F4-5F11833884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185767" y="2195048"/>
              <a:ext cx="913056" cy="927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2F551824-B5E8-4B58-B5F0-4D0CB07A6323}"/>
              </a:ext>
            </a:extLst>
          </p:cNvPr>
          <p:cNvGrpSpPr/>
          <p:nvPr/>
        </p:nvGrpSpPr>
        <p:grpSpPr>
          <a:xfrm>
            <a:off x="6775923" y="3038427"/>
            <a:ext cx="1070734" cy="1078245"/>
            <a:chOff x="7409286" y="2467417"/>
            <a:chExt cx="1427645" cy="1437660"/>
          </a:xfrm>
        </p:grpSpPr>
        <p:pic>
          <p:nvPicPr>
            <p:cNvPr id="1946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9286" y="24674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3">
              <a:extLst>
                <a:ext uri="{FF2B5EF4-FFF2-40B4-BE49-F238E27FC236}">
                  <a16:creationId xmlns:a16="http://schemas.microsoft.com/office/drawing/2014/main" id="{E5162D78-079E-4474-BFBE-E992FA9FAC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1686" y="26198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3">
              <a:extLst>
                <a:ext uri="{FF2B5EF4-FFF2-40B4-BE49-F238E27FC236}">
                  <a16:creationId xmlns:a16="http://schemas.microsoft.com/office/drawing/2014/main" id="{88A0D437-8184-446B-9F35-330189ACA9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4086" y="27722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3">
              <a:extLst>
                <a:ext uri="{FF2B5EF4-FFF2-40B4-BE49-F238E27FC236}">
                  <a16:creationId xmlns:a16="http://schemas.microsoft.com/office/drawing/2014/main" id="{111D63E4-89EC-4EA9-B12B-6AFD2CE5BD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6486" y="29246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" name="Picture 3">
              <a:extLst>
                <a:ext uri="{FF2B5EF4-FFF2-40B4-BE49-F238E27FC236}">
                  <a16:creationId xmlns:a16="http://schemas.microsoft.com/office/drawing/2014/main" id="{A7940467-3EF7-44A5-B1AC-256252D07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886" y="30770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3">
              <a:extLst>
                <a:ext uri="{FF2B5EF4-FFF2-40B4-BE49-F238E27FC236}">
                  <a16:creationId xmlns:a16="http://schemas.microsoft.com/office/drawing/2014/main" id="{3F211F27-C2CF-4174-B149-3650282026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1286" y="32294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2EAD7D7C-248F-49BB-BB7C-148C8986B9BC}"/>
              </a:ext>
            </a:extLst>
          </p:cNvPr>
          <p:cNvGrpSpPr/>
          <p:nvPr/>
        </p:nvGrpSpPr>
        <p:grpSpPr>
          <a:xfrm>
            <a:off x="6678408" y="3331813"/>
            <a:ext cx="1070734" cy="1078245"/>
            <a:chOff x="7409286" y="2467417"/>
            <a:chExt cx="1427645" cy="1437660"/>
          </a:xfrm>
        </p:grpSpPr>
        <p:pic>
          <p:nvPicPr>
            <p:cNvPr id="56" name="Picture 3">
              <a:extLst>
                <a:ext uri="{FF2B5EF4-FFF2-40B4-BE49-F238E27FC236}">
                  <a16:creationId xmlns:a16="http://schemas.microsoft.com/office/drawing/2014/main" id="{938D389A-AE2B-40DC-8ADA-3B26FC47BB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9286" y="24674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3">
              <a:extLst>
                <a:ext uri="{FF2B5EF4-FFF2-40B4-BE49-F238E27FC236}">
                  <a16:creationId xmlns:a16="http://schemas.microsoft.com/office/drawing/2014/main" id="{EF67E9E7-6C84-440E-B59C-8FDE98625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1686" y="26198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" name="Picture 3">
              <a:extLst>
                <a:ext uri="{FF2B5EF4-FFF2-40B4-BE49-F238E27FC236}">
                  <a16:creationId xmlns:a16="http://schemas.microsoft.com/office/drawing/2014/main" id="{CC464D8E-02BB-4E80-9FF5-7631E9141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4086" y="27722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3">
              <a:extLst>
                <a:ext uri="{FF2B5EF4-FFF2-40B4-BE49-F238E27FC236}">
                  <a16:creationId xmlns:a16="http://schemas.microsoft.com/office/drawing/2014/main" id="{A974AE23-92C6-4732-95DB-DF41677020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6486" y="29246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3">
              <a:extLst>
                <a:ext uri="{FF2B5EF4-FFF2-40B4-BE49-F238E27FC236}">
                  <a16:creationId xmlns:a16="http://schemas.microsoft.com/office/drawing/2014/main" id="{C0A98DA5-A67E-4DC9-B5E4-C25762BEB8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8886" y="30770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" name="Picture 3">
              <a:extLst>
                <a:ext uri="{FF2B5EF4-FFF2-40B4-BE49-F238E27FC236}">
                  <a16:creationId xmlns:a16="http://schemas.microsoft.com/office/drawing/2014/main" id="{133A2BD3-940F-47F1-8053-9CB954B92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1286" y="3229417"/>
              <a:ext cx="665645" cy="67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" name="內容版面配置區 2">
            <a:extLst>
              <a:ext uri="{FF2B5EF4-FFF2-40B4-BE49-F238E27FC236}">
                <a16:creationId xmlns:a16="http://schemas.microsoft.com/office/drawing/2014/main" id="{7A4B43A7-3589-4579-8585-016EBAB8B5CB}"/>
              </a:ext>
            </a:extLst>
          </p:cNvPr>
          <p:cNvSpPr txBox="1">
            <a:spLocks/>
          </p:cNvSpPr>
          <p:nvPr/>
        </p:nvSpPr>
        <p:spPr>
          <a:xfrm>
            <a:off x="5856080" y="3755445"/>
            <a:ext cx="1647675" cy="1410312"/>
          </a:xfrm>
          <a:prstGeom prst="rect">
            <a:avLst/>
          </a:prstGeom>
          <a:noFill/>
          <a:ln>
            <a:noFill/>
          </a:ln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TW" sz="1500" i="1" dirty="0"/>
              <a:t>Very low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500" i="1" dirty="0"/>
              <a:t>automation!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zh-TW" sz="1500" i="1" dirty="0"/>
              <a:t>Low consistency!</a:t>
            </a:r>
          </a:p>
        </p:txBody>
      </p:sp>
    </p:spTree>
    <p:extLst>
      <p:ext uri="{BB962C8B-B14F-4D97-AF65-F5344CB8AC3E}">
        <p14:creationId xmlns:p14="http://schemas.microsoft.com/office/powerpoint/2010/main" val="4953572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56362" y="379622"/>
            <a:ext cx="6346433" cy="1059731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/>
              <a:t>產業分析</a:t>
            </a:r>
            <a:br>
              <a:rPr lang="en-US" altLang="zh-TW" b="1" dirty="0"/>
            </a:br>
            <a:r>
              <a:rPr lang="en-US" altLang="zh-TW" sz="2700" dirty="0"/>
              <a:t>solutions </a:t>
            </a:r>
            <a:r>
              <a:rPr lang="en-US" altLang="zh-TW" sz="2700" dirty="0" err="1"/>
              <a:t>nowaday</a:t>
            </a:r>
            <a:endParaRPr lang="zh-TW" altLang="en-US" sz="27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6497" y="1609463"/>
            <a:ext cx="8286161" cy="3827768"/>
          </a:xfrm>
        </p:spPr>
        <p:txBody>
          <a:bodyPr>
            <a:noAutofit/>
          </a:bodyPr>
          <a:lstStyle/>
          <a:p>
            <a:pPr marL="200025" indent="-342900">
              <a:buFont typeface="Wingdings" panose="05000000000000000000" pitchFamily="2" charset="2"/>
              <a:buChar char="l"/>
            </a:pPr>
            <a:r>
              <a:rPr lang="zh-TW" altLang="en-US" dirty="0"/>
              <a:t>測試外包</a:t>
            </a:r>
            <a:endParaRPr lang="en-US" altLang="zh-TW" dirty="0"/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/>
              <a:t>適合大型軟體公司</a:t>
            </a:r>
            <a:endParaRPr lang="en-US" altLang="zh-TW" sz="2400" dirty="0"/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/>
              <a:t>只能做</a:t>
            </a:r>
            <a:r>
              <a:rPr lang="en-US" altLang="zh-TW" sz="2400" dirty="0"/>
              <a:t>system </a:t>
            </a:r>
            <a:r>
              <a:rPr lang="en-US" altLang="zh-TW" sz="2400" dirty="0" err="1"/>
              <a:t>testin</a:t>
            </a:r>
            <a:r>
              <a:rPr lang="zh-TW" altLang="en-US" sz="2400" dirty="0"/>
              <a:t>或</a:t>
            </a:r>
            <a:r>
              <a:rPr lang="en-US" altLang="zh-TW" sz="2400" dirty="0"/>
              <a:t>user acceptance testing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/>
              <a:t>IP</a:t>
            </a:r>
            <a:r>
              <a:rPr lang="zh-TW" altLang="en-US" sz="2400" dirty="0"/>
              <a:t>外洩風險</a:t>
            </a:r>
            <a:endParaRPr lang="en-US" altLang="zh-TW" sz="2400" dirty="0"/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/>
              <a:t>Feedback</a:t>
            </a:r>
            <a:r>
              <a:rPr lang="zh-TW" altLang="en-US" sz="2400" dirty="0"/>
              <a:t> 緩慢</a:t>
            </a:r>
            <a:endParaRPr lang="en-US" altLang="zh-TW" sz="2400" dirty="0"/>
          </a:p>
          <a:p>
            <a:pPr marL="542925" lvl="1" indent="-342900">
              <a:buFont typeface="Wingdings" panose="05000000000000000000" pitchFamily="2" charset="2"/>
              <a:buChar char="l"/>
            </a:pPr>
            <a:endParaRPr lang="en-US" altLang="zh-TW" sz="2400" dirty="0"/>
          </a:p>
          <a:p>
            <a:pPr marL="200025" indent="-342900">
              <a:buFont typeface="Wingdings" panose="05000000000000000000" pitchFamily="2" charset="2"/>
              <a:buChar char="n"/>
            </a:pPr>
            <a:r>
              <a:rPr lang="zh-TW" altLang="en-US" dirty="0"/>
              <a:t>軟體測試自動化工具</a:t>
            </a:r>
            <a:endParaRPr lang="en-US" altLang="zh-TW" dirty="0"/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/>
              <a:t>只幫你</a:t>
            </a:r>
            <a:r>
              <a:rPr lang="en-US" altLang="zh-TW" sz="2400" dirty="0"/>
              <a:t>record</a:t>
            </a:r>
            <a:r>
              <a:rPr lang="zh-TW" altLang="en-US" sz="2400" dirty="0"/>
              <a:t>與</a:t>
            </a:r>
            <a:r>
              <a:rPr lang="en-US" altLang="zh-TW" sz="2400" dirty="0"/>
              <a:t>replay</a:t>
            </a:r>
            <a:endParaRPr lang="zh-TW" altLang="en-US" sz="2400" dirty="0"/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/>
              <a:t>Monkey</a:t>
            </a:r>
            <a:r>
              <a:rPr lang="zh-TW" altLang="en-US" sz="2400" dirty="0"/>
              <a:t> </a:t>
            </a:r>
            <a:r>
              <a:rPr lang="en-US" altLang="zh-TW" sz="2400" dirty="0"/>
              <a:t>testing (low intelligence)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/>
              <a:t>Test</a:t>
            </a:r>
            <a:r>
              <a:rPr lang="zh-TW" altLang="en-US" sz="2400" dirty="0"/>
              <a:t> </a:t>
            </a:r>
            <a:r>
              <a:rPr lang="en-US" altLang="zh-TW" sz="2400" dirty="0"/>
              <a:t>investment</a:t>
            </a:r>
            <a:r>
              <a:rPr lang="zh-TW" altLang="en-US" sz="2400" dirty="0"/>
              <a:t> </a:t>
            </a:r>
            <a:r>
              <a:rPr lang="en-US" altLang="zh-TW" sz="2400" dirty="0"/>
              <a:t>low reusability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/>
              <a:t>許多未經整合的測試準備工作</a:t>
            </a:r>
            <a:endParaRPr lang="en-US" altLang="zh-TW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6" name="語音泡泡: 矩形 5">
            <a:extLst>
              <a:ext uri="{FF2B5EF4-FFF2-40B4-BE49-F238E27FC236}">
                <a16:creationId xmlns:a16="http://schemas.microsoft.com/office/drawing/2014/main" id="{49EA1480-4358-44A5-846F-A3B8982D8C33}"/>
              </a:ext>
            </a:extLst>
          </p:cNvPr>
          <p:cNvSpPr/>
          <p:nvPr/>
        </p:nvSpPr>
        <p:spPr>
          <a:xfrm>
            <a:off x="4580165" y="2998865"/>
            <a:ext cx="3446393" cy="1427479"/>
          </a:xfrm>
          <a:prstGeom prst="wedgeRectCallout">
            <a:avLst>
              <a:gd name="adj1" fmla="val -75792"/>
              <a:gd name="adj2" fmla="val 19443"/>
            </a:avLst>
          </a:prstGeom>
          <a:solidFill>
            <a:srgbClr val="00FFFF"/>
          </a:solidFill>
          <a:ln w="762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100" dirty="0">
                <a:solidFill>
                  <a:srgbClr val="0000FF"/>
                </a:solidFill>
              </a:rPr>
              <a:t>★☆</a:t>
            </a:r>
            <a:r>
              <a:rPr lang="zh-TW" altLang="en-US" sz="2100" dirty="0">
                <a:solidFill>
                  <a:srgbClr val="FF0000"/>
                </a:solidFill>
              </a:rPr>
              <a:t>巨大市場機會</a:t>
            </a:r>
            <a:r>
              <a:rPr lang="zh-TW" altLang="en-US" sz="2100" dirty="0">
                <a:solidFill>
                  <a:srgbClr val="0000FF"/>
                </a:solidFill>
              </a:rPr>
              <a:t>★☆</a:t>
            </a:r>
            <a:endParaRPr lang="en-US" altLang="zh-TW" sz="2100" dirty="0">
              <a:solidFill>
                <a:srgbClr val="0000FF"/>
              </a:solidFill>
            </a:endParaRPr>
          </a:p>
          <a:p>
            <a:pPr algn="ctr"/>
            <a:r>
              <a:rPr lang="en-US" altLang="zh-TW" sz="2100" dirty="0">
                <a:solidFill>
                  <a:srgbClr val="FF0000"/>
                </a:solidFill>
              </a:rPr>
              <a:t>App</a:t>
            </a:r>
            <a:r>
              <a:rPr lang="zh-TW" altLang="en-US" sz="2100" dirty="0">
                <a:solidFill>
                  <a:srgbClr val="FF0000"/>
                </a:solidFill>
              </a:rPr>
              <a:t>智慧型測試工具</a:t>
            </a:r>
          </a:p>
        </p:txBody>
      </p:sp>
    </p:spTree>
    <p:extLst>
      <p:ext uri="{BB962C8B-B14F-4D97-AF65-F5344CB8AC3E}">
        <p14:creationId xmlns:p14="http://schemas.microsoft.com/office/powerpoint/2010/main" val="285940873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3" y="429777"/>
            <a:ext cx="6346433" cy="1059731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/>
              <a:t>產業分析</a:t>
            </a:r>
            <a:endParaRPr lang="zh-TW" altLang="en-US" sz="21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6754" y="1363579"/>
            <a:ext cx="8597246" cy="3827768"/>
          </a:xfrm>
        </p:spPr>
        <p:txBody>
          <a:bodyPr>
            <a:noAutofit/>
          </a:bodyPr>
          <a:lstStyle/>
          <a:p>
            <a:pPr marL="314325" indent="-457200">
              <a:buFont typeface="Wingdings" panose="05000000000000000000" pitchFamily="2" charset="2"/>
              <a:buChar char="l"/>
            </a:pPr>
            <a:r>
              <a:rPr lang="zh-TW" altLang="en-US" sz="2800" dirty="0"/>
              <a:t>軟體品管預算膨脹迅速</a:t>
            </a:r>
            <a:endParaRPr lang="en-US" altLang="zh-TW" sz="2800" dirty="0"/>
          </a:p>
          <a:p>
            <a:pPr marL="657225" lvl="1" indent="-457200">
              <a:buFont typeface="Wingdings" panose="05000000000000000000" pitchFamily="2" charset="2"/>
              <a:buChar char="n"/>
            </a:pPr>
            <a:r>
              <a:rPr lang="zh-TW" altLang="en-US" sz="2400" dirty="0"/>
              <a:t>目前一般軟體開發計畫，</a:t>
            </a:r>
            <a:r>
              <a:rPr lang="en-US" altLang="zh-TW" sz="2400" dirty="0"/>
              <a:t>50</a:t>
            </a:r>
            <a:r>
              <a:rPr lang="zh-TW" altLang="en-US" sz="2400" dirty="0"/>
              <a:t>％以上成本與時間都花在測試與品管。</a:t>
            </a:r>
            <a:endParaRPr lang="en-US" altLang="zh-TW" sz="2400" dirty="0"/>
          </a:p>
          <a:p>
            <a:pPr marL="657225" lvl="1" indent="-457200">
              <a:buFont typeface="Wingdings" panose="05000000000000000000" pitchFamily="2" charset="2"/>
              <a:buChar char="n"/>
            </a:pPr>
            <a:r>
              <a:rPr lang="zh-TW" altLang="en-US" sz="2400" dirty="0"/>
              <a:t>若能降低</a:t>
            </a:r>
            <a:r>
              <a:rPr lang="en-US" altLang="zh-TW" sz="2400" dirty="0"/>
              <a:t>10</a:t>
            </a:r>
            <a:r>
              <a:rPr lang="zh-TW" altLang="en-US" sz="2400" dirty="0"/>
              <a:t>％軟體品管成本，就可提昇公司</a:t>
            </a:r>
            <a:r>
              <a:rPr lang="en-US" altLang="zh-TW" sz="2400" dirty="0"/>
              <a:t>5</a:t>
            </a:r>
            <a:r>
              <a:rPr lang="zh-TW" altLang="en-US" sz="2400" dirty="0"/>
              <a:t>％獲利。</a:t>
            </a:r>
            <a:endParaRPr lang="en-US" altLang="zh-TW" sz="2400" dirty="0"/>
          </a:p>
          <a:p>
            <a:pPr marL="314325" indent="-457200">
              <a:buFont typeface="Wingdings" panose="05000000000000000000" pitchFamily="2" charset="2"/>
              <a:buChar char="l"/>
            </a:pPr>
            <a:r>
              <a:rPr lang="zh-TW" altLang="en-US" sz="2800" dirty="0"/>
              <a:t>軟體品管技術交流不易</a:t>
            </a:r>
            <a:endParaRPr lang="en-US" altLang="zh-TW" sz="2800" dirty="0"/>
          </a:p>
          <a:p>
            <a:pPr marL="657225" lvl="1" indent="-457200">
              <a:buFont typeface="Wingdings" panose="05000000000000000000" pitchFamily="2" charset="2"/>
              <a:buChar char="n"/>
            </a:pPr>
            <a:r>
              <a:rPr lang="zh-TW" altLang="en-US" sz="2400" dirty="0"/>
              <a:t>空有天下優良軟體工程師，卻只能進行手工測試。</a:t>
            </a:r>
          </a:p>
          <a:p>
            <a:pPr marL="657225" lvl="1" indent="-457200">
              <a:buFont typeface="Wingdings" panose="05000000000000000000" pitchFamily="2" charset="2"/>
              <a:buChar char="n"/>
            </a:pPr>
            <a:r>
              <a:rPr lang="zh-TW" altLang="en-US" sz="2400" dirty="0"/>
              <a:t>目前一般透過網路廣告，測試需求顧客與軟體測試服務公司個別接洽！</a:t>
            </a:r>
            <a:endParaRPr lang="en-US" altLang="zh-TW" sz="2400" dirty="0"/>
          </a:p>
          <a:p>
            <a:pPr marL="657225" lvl="1" indent="-457200">
              <a:buFont typeface="Wingdings" panose="05000000000000000000" pitchFamily="2" charset="2"/>
              <a:buChar char="n"/>
            </a:pPr>
            <a:r>
              <a:rPr lang="zh-TW" altLang="en-US" sz="2400" dirty="0"/>
              <a:t>底層結構（</a:t>
            </a:r>
            <a:r>
              <a:rPr lang="en-US" altLang="zh-TW" sz="2400" dirty="0"/>
              <a:t>infrastructure</a:t>
            </a:r>
            <a:r>
              <a:rPr lang="zh-TW" altLang="en-US" sz="2400" dirty="0"/>
              <a:t>）把持在少數測試工具公司！</a:t>
            </a:r>
            <a:endParaRPr lang="en-US" altLang="zh-TW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0926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3" y="429777"/>
            <a:ext cx="6346433" cy="1059731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/>
              <a:t>產業分析</a:t>
            </a:r>
            <a:endParaRPr lang="zh-TW" altLang="en-US" sz="21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6754" y="1363579"/>
            <a:ext cx="8078772" cy="3827768"/>
          </a:xfrm>
        </p:spPr>
        <p:txBody>
          <a:bodyPr>
            <a:noAutofit/>
          </a:bodyPr>
          <a:lstStyle/>
          <a:p>
            <a:pPr marL="314325" indent="-457200">
              <a:buFont typeface="Wingdings" panose="05000000000000000000" pitchFamily="2" charset="2"/>
              <a:buChar char="l"/>
            </a:pPr>
            <a:r>
              <a:rPr lang="zh-TW" altLang="en-US" sz="2800" dirty="0"/>
              <a:t>應用測試難以自動化</a:t>
            </a:r>
            <a:endParaRPr lang="en-US" altLang="zh-TW" sz="2800" dirty="0"/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/>
              <a:t>目前測試自動化成果重複使用性都非常低</a:t>
            </a:r>
            <a:endParaRPr lang="en-US" altLang="zh-TW" sz="2400" dirty="0"/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/>
              <a:t>對一個顧客所製作的成果，幾乎都沒辦法用在另一個顧客。</a:t>
            </a:r>
            <a:endParaRPr lang="en-US" altLang="zh-TW" sz="2400" dirty="0"/>
          </a:p>
          <a:p>
            <a:pPr marL="885825" lvl="2" indent="-342900">
              <a:buFont typeface="Wingdings" panose="05000000000000000000" pitchFamily="2" charset="2"/>
              <a:buChar char="n"/>
            </a:pPr>
            <a:r>
              <a:rPr lang="zh-TW" altLang="en-US" sz="2400" dirty="0"/>
              <a:t>軟體流程差異性、軟體文件差異性</a:t>
            </a:r>
            <a:endParaRPr lang="en-US" altLang="zh-TW" sz="2400" dirty="0"/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/>
              <a:t>學界的軟體測試成果基本上沒有在工業界應用可能性。</a:t>
            </a:r>
            <a:endParaRPr lang="en-US" altLang="zh-TW" sz="2400" dirty="0"/>
          </a:p>
          <a:p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6149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Goal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1139686"/>
            <a:ext cx="8966200" cy="5237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Theory in software testing.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Advanced testing and security-checking tools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Capability of deploying software testing technology to various companies.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Basic concepts and skills in security checking.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US" altLang="zh-TW" sz="900" b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10D86D32-AE63-4ACB-8E82-0FD275F9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</p:spTree>
    <p:extLst>
      <p:ext uri="{BB962C8B-B14F-4D97-AF65-F5344CB8AC3E}">
        <p14:creationId xmlns:p14="http://schemas.microsoft.com/office/powerpoint/2010/main" val="451820092"/>
      </p:ext>
    </p:extLst>
  </p:cSld>
  <p:clrMapOvr>
    <a:masterClrMapping/>
  </p:clrMapOvr>
  <p:transition spd="med" advTm="11699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Course Plan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1139686"/>
            <a:ext cx="8966200" cy="5237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The first module: foundations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The second module: Testing criteria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Graph testing 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Logic testing 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Input space testing 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Syntax testing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Third module: practical consideration.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 err="1">
                <a:ea typeface="新細明體" panose="02020500000000000000" pitchFamily="18" charset="-120"/>
              </a:rPr>
              <a:t>Criterias</a:t>
            </a:r>
            <a:r>
              <a:rPr lang="en-US" altLang="zh-TW" sz="2800" b="0" dirty="0">
                <a:ea typeface="新細明體" panose="02020500000000000000" pitchFamily="18" charset="-120"/>
              </a:rPr>
              <a:t> for new app types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Security checking overview. 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23</a:t>
            </a:fld>
            <a:endParaRPr lang="en-US" altLang="zh-TW" sz="900" b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</p:spTree>
    <p:extLst>
      <p:ext uri="{BB962C8B-B14F-4D97-AF65-F5344CB8AC3E}">
        <p14:creationId xmlns:p14="http://schemas.microsoft.com/office/powerpoint/2010/main" val="3592912791"/>
      </p:ext>
    </p:extLst>
  </p:cSld>
  <p:clrMapOvr>
    <a:masterClrMapping/>
  </p:clrMapOvr>
  <p:transition spd="med" advTm="168273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Pre-requisites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1139686"/>
            <a:ext cx="8966200" cy="5237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Basic Computer Concepts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C/C++, Java programming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Python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Data-Structures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Algorithms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24</a:t>
            </a:fld>
            <a:endParaRPr lang="en-US" altLang="zh-TW" sz="900" b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</p:spTree>
    <p:extLst>
      <p:ext uri="{BB962C8B-B14F-4D97-AF65-F5344CB8AC3E}">
        <p14:creationId xmlns:p14="http://schemas.microsoft.com/office/powerpoint/2010/main" val="2691107570"/>
      </p:ext>
    </p:extLst>
  </p:cSld>
  <p:clrMapOvr>
    <a:masterClrMapping/>
  </p:clrMapOvr>
  <p:transition spd="med" advTm="157772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Evaluation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1139686"/>
            <a:ext cx="8173040" cy="5237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Final exam (40%) , June 23, 2021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Mid-term report (8%), deadline on April 28, 2021.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A</a:t>
            </a:r>
            <a:r>
              <a:rPr lang="zh-TW" altLang="en-US" sz="2800" b="0" dirty="0">
                <a:ea typeface="新細明體" panose="02020500000000000000" pitchFamily="18" charset="-120"/>
              </a:rPr>
              <a:t> </a:t>
            </a:r>
            <a:r>
              <a:rPr lang="hsb-DE" altLang="zh-TW" sz="2800" b="0" dirty="0">
                <a:ea typeface="新細明體" panose="02020500000000000000" pitchFamily="18" charset="-120"/>
              </a:rPr>
              <a:t>Software Testing Market Survey Report (2%)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hsb-DE" altLang="zh-TW" sz="2400" b="0" dirty="0">
                <a:ea typeface="新細明體" panose="02020500000000000000" pitchFamily="18" charset="-120"/>
              </a:rPr>
              <a:t>Deadline March 17, 2021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hsb-DE" altLang="zh-TW" sz="2800" b="0" dirty="0">
                <a:ea typeface="新細明體" panose="02020500000000000000" pitchFamily="18" charset="-120"/>
              </a:rPr>
              <a:t>Quizzes (10%), open book, open internet, no discussion</a:t>
            </a:r>
            <a:endParaRPr lang="en-US" altLang="zh-TW" sz="2800" b="0" dirty="0">
              <a:ea typeface="新細明體" panose="02020500000000000000" pitchFamily="18" charset="-12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4 projects (40%)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25</a:t>
            </a:fld>
            <a:endParaRPr lang="en-US" altLang="zh-TW" sz="900" b="0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</p:spTree>
    <p:extLst>
      <p:ext uri="{BB962C8B-B14F-4D97-AF65-F5344CB8AC3E}">
        <p14:creationId xmlns:p14="http://schemas.microsoft.com/office/powerpoint/2010/main" val="700656095"/>
      </p:ext>
    </p:extLst>
  </p:cSld>
  <p:clrMapOvr>
    <a:masterClrMapping/>
  </p:clrMapOvr>
  <p:transition spd="med" advTm="225749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Evaluation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1139686"/>
            <a:ext cx="8966200" cy="5237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hsb-DE" altLang="zh-TW" sz="2800" b="0" dirty="0">
                <a:ea typeface="新細明體" panose="02020500000000000000" pitchFamily="18" charset="-120"/>
              </a:rPr>
              <a:t>Midterm presentation (8%)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800" b="0" dirty="0">
                <a:ea typeface="新細明體" panose="02020500000000000000" pitchFamily="18" charset="-120"/>
              </a:rPr>
              <a:t>The topic must be technologically related to one of the chapter in the textbook.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800" b="0" dirty="0">
                <a:ea typeface="新細明體" panose="02020500000000000000" pitchFamily="18" charset="-120"/>
              </a:rPr>
              <a:t>a main paper </a:t>
            </a:r>
          </a:p>
          <a:p>
            <a:pPr lvl="2">
              <a:buFont typeface="Wingdings" panose="05000000000000000000" pitchFamily="2" charset="2"/>
              <a:buChar char="u"/>
            </a:pPr>
            <a:r>
              <a:rPr lang="en-US" altLang="zh-TW" sz="2400" b="0" dirty="0">
                <a:ea typeface="新細明體" panose="02020500000000000000" pitchFamily="18" charset="-120"/>
              </a:rPr>
              <a:t>must be a regular paper published in ACM/IEEE ICSE 2019-20, ACM FSE 2019-20, IEEE ASE 2019-20, ACM ISSTA 2019-20, or ACM PLDI 2019-20.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800" b="0" dirty="0">
                <a:ea typeface="新細明體" panose="02020500000000000000" pitchFamily="18" charset="-120"/>
              </a:rPr>
              <a:t>2 comparison papers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800" b="0" dirty="0">
                <a:ea typeface="新細明體" panose="02020500000000000000" pitchFamily="18" charset="-120"/>
              </a:rPr>
              <a:t>Comparing the three papers that you selected in the above. 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TW" sz="28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US" altLang="zh-TW" sz="900" b="0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</p:spTree>
    <p:extLst>
      <p:ext uri="{BB962C8B-B14F-4D97-AF65-F5344CB8AC3E}">
        <p14:creationId xmlns:p14="http://schemas.microsoft.com/office/powerpoint/2010/main" val="3769813048"/>
      </p:ext>
    </p:extLst>
  </p:cSld>
  <p:clrMapOvr>
    <a:masterClrMapping/>
  </p:clrMapOvr>
  <p:transition spd="med" advTm="225749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Evaluation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1139686"/>
            <a:ext cx="8966200" cy="52373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TW" sz="2800" b="0" dirty="0">
                <a:ea typeface="新細明體" panose="02020500000000000000" pitchFamily="18" charset="-120"/>
              </a:rPr>
              <a:t>4 projects (40%): 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Project 1 (10%): Continuous testing and unit testing, </a:t>
            </a:r>
          </a:p>
          <a:p>
            <a:pPr lvl="2"/>
            <a:r>
              <a:rPr lang="en-US" altLang="zh-TW" sz="2400" b="0" dirty="0">
                <a:ea typeface="新細明體" panose="02020500000000000000" pitchFamily="18" charset="-120"/>
              </a:rPr>
              <a:t>due by April 7, 2021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Project 2 (10%): GUI testing with Selenium </a:t>
            </a:r>
          </a:p>
          <a:p>
            <a:pPr lvl="2"/>
            <a:r>
              <a:rPr lang="en-US" altLang="zh-TW" sz="2400" b="0" dirty="0">
                <a:ea typeface="新細明體" panose="02020500000000000000" pitchFamily="18" charset="-120"/>
              </a:rPr>
              <a:t>with Firefox on either Linux or Windows</a:t>
            </a:r>
          </a:p>
          <a:p>
            <a:pPr lvl="2"/>
            <a:r>
              <a:rPr lang="en-US" altLang="zh-TW" sz="2400" b="0" dirty="0">
                <a:ea typeface="新細明體" panose="02020500000000000000" pitchFamily="18" charset="-120"/>
              </a:rPr>
              <a:t>due by May 5, 2021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Project 3 (10%): mobile app testing </a:t>
            </a:r>
          </a:p>
          <a:p>
            <a:pPr lvl="2"/>
            <a:r>
              <a:rPr lang="en-US" altLang="zh-TW" sz="2400" b="0" dirty="0">
                <a:ea typeface="新細明體" panose="02020500000000000000" pitchFamily="18" charset="-120"/>
              </a:rPr>
              <a:t>due by May 26, 2021</a:t>
            </a:r>
          </a:p>
          <a:p>
            <a:pPr lvl="1"/>
            <a:r>
              <a:rPr lang="en-US" altLang="zh-TW" sz="2400" b="0" dirty="0">
                <a:ea typeface="新細明體" panose="02020500000000000000" pitchFamily="18" charset="-120"/>
              </a:rPr>
              <a:t>Project 4 (10%): security check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TW" sz="2400" b="0" dirty="0">
                <a:ea typeface="新細明體" panose="02020500000000000000" pitchFamily="18" charset="-120"/>
              </a:rPr>
              <a:t>due by June 16, 2021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27</a:t>
            </a:fld>
            <a:endParaRPr lang="en-US" altLang="zh-TW" sz="900" b="0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</p:spTree>
    <p:extLst>
      <p:ext uri="{BB962C8B-B14F-4D97-AF65-F5344CB8AC3E}">
        <p14:creationId xmlns:p14="http://schemas.microsoft.com/office/powerpoint/2010/main" val="1218957318"/>
      </p:ext>
    </p:extLst>
  </p:cSld>
  <p:clrMapOvr>
    <a:masterClrMapping/>
  </p:clrMapOvr>
  <p:transition spd="med" advTm="225749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Textbook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55" y="1139687"/>
            <a:ext cx="8126691" cy="108667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0" dirty="0">
                <a:ea typeface="新細明體" panose="02020500000000000000" pitchFamily="18" charset="-120"/>
              </a:rPr>
              <a:t>Introduction to Software Testing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US" altLang="zh-TW" sz="900" b="0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pic>
        <p:nvPicPr>
          <p:cNvPr id="196610" name="Picture 2" descr="https://cs.gmu.edu/~offutt/softwaretest/SecondEditionCover.jpg">
            <a:extLst>
              <a:ext uri="{FF2B5EF4-FFF2-40B4-BE49-F238E27FC236}">
                <a16:creationId xmlns:a16="http://schemas.microsoft.com/office/drawing/2014/main" id="{1EDE5AF5-4B43-443C-8415-D961C98DC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3" y="1937061"/>
            <a:ext cx="2802718" cy="403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EAD921-61C2-4FF4-8C01-3BBE00B1B006}"/>
              </a:ext>
            </a:extLst>
          </p:cNvPr>
          <p:cNvSpPr txBox="1">
            <a:spLocks/>
          </p:cNvSpPr>
          <p:nvPr/>
        </p:nvSpPr>
        <p:spPr bwMode="auto">
          <a:xfrm>
            <a:off x="3660120" y="2500587"/>
            <a:ext cx="5127626" cy="267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Monotype Sorts"/>
              <a:buNone/>
            </a:pPr>
            <a:r>
              <a:rPr lang="en-US" altLang="zh-TW" sz="2800" b="0" i="1" kern="0" dirty="0">
                <a:solidFill>
                  <a:srgbClr val="FFFF00"/>
                </a:solidFill>
                <a:ea typeface="新細明體" panose="02020500000000000000" pitchFamily="18" charset="-120"/>
              </a:rPr>
              <a:t>Paul Ammann and Jeff Offutt</a:t>
            </a:r>
          </a:p>
          <a:p>
            <a:pPr marL="0" indent="0">
              <a:buFont typeface="Monotype Sorts"/>
              <a:buNone/>
            </a:pPr>
            <a:endParaRPr lang="en-US" altLang="zh-TW" sz="2800" b="0" kern="0" dirty="0">
              <a:ea typeface="新細明體" panose="02020500000000000000" pitchFamily="18" charset="-120"/>
            </a:endParaRPr>
          </a:p>
          <a:p>
            <a:pPr marL="0" indent="0">
              <a:buFont typeface="Monotype Sorts"/>
              <a:buNone/>
            </a:pPr>
            <a:r>
              <a:rPr lang="en-US" altLang="zh-TW" b="0" kern="0" dirty="0">
                <a:ea typeface="新細明體" panose="02020500000000000000" pitchFamily="18" charset="-120"/>
              </a:rPr>
              <a:t>related materials in </a:t>
            </a:r>
          </a:p>
          <a:p>
            <a:pPr marL="0" indent="0">
              <a:buFont typeface="Monotype Sorts"/>
              <a:buNone/>
            </a:pPr>
            <a:r>
              <a:rPr lang="en-US" altLang="zh-TW" b="0" kern="0" dirty="0">
                <a:ea typeface="新細明體" panose="02020500000000000000" pitchFamily="18" charset="-120"/>
              </a:rPr>
              <a:t>http://cs.gmu.edu/~offutt/softwaretest/</a:t>
            </a:r>
          </a:p>
        </p:txBody>
      </p:sp>
    </p:spTree>
    <p:extLst>
      <p:ext uri="{BB962C8B-B14F-4D97-AF65-F5344CB8AC3E}">
        <p14:creationId xmlns:p14="http://schemas.microsoft.com/office/powerpoint/2010/main" val="1568211718"/>
      </p:ext>
    </p:extLst>
  </p:cSld>
  <p:clrMapOvr>
    <a:masterClrMapping/>
  </p:clrMapOvr>
  <p:transition spd="med" advTm="106705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Course Schedule (1/2)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29</a:t>
            </a:fld>
            <a:endParaRPr lang="en-US" altLang="zh-TW" sz="900" b="0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C0254-093E-4F83-8F06-CDDA94901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50247" y="0"/>
            <a:ext cx="168618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A449877-A0E5-4CC4-B7AB-8FF1BB530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898240"/>
              </p:ext>
            </p:extLst>
          </p:nvPr>
        </p:nvGraphicFramePr>
        <p:xfrm>
          <a:off x="455444" y="875541"/>
          <a:ext cx="8050491" cy="5283402"/>
        </p:xfrm>
        <a:graphic>
          <a:graphicData uri="http://schemas.openxmlformats.org/drawingml/2006/table">
            <a:tbl>
              <a:tblPr/>
              <a:tblGrid>
                <a:gridCol w="596064">
                  <a:extLst>
                    <a:ext uri="{9D8B030D-6E8A-4147-A177-3AD203B41FA5}">
                      <a16:colId xmlns:a16="http://schemas.microsoft.com/office/drawing/2014/main" val="267000603"/>
                    </a:ext>
                  </a:extLst>
                </a:gridCol>
                <a:gridCol w="1019354">
                  <a:extLst>
                    <a:ext uri="{9D8B030D-6E8A-4147-A177-3AD203B41FA5}">
                      <a16:colId xmlns:a16="http://schemas.microsoft.com/office/drawing/2014/main" val="530036836"/>
                    </a:ext>
                  </a:extLst>
                </a:gridCol>
                <a:gridCol w="6435073">
                  <a:extLst>
                    <a:ext uri="{9D8B030D-6E8A-4147-A177-3AD203B41FA5}">
                      <a16:colId xmlns:a16="http://schemas.microsoft.com/office/drawing/2014/main" val="1415872203"/>
                    </a:ext>
                  </a:extLst>
                </a:gridCol>
              </a:tblGrid>
              <a:tr h="2019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1. 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2/24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Syllabus, 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Chapter 1</a:t>
                      </a:r>
                      <a:endParaRPr lang="fr-F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970910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3/3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1</a:t>
                      </a:r>
                      <a:endParaRPr lang="hsb-DE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4974065"/>
                  </a:ext>
                </a:extLst>
              </a:tr>
              <a:tr h="37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3/10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Survey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assignement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announcement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c) Deadline for midterm presentation registration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8544526"/>
                  </a:ext>
                </a:extLst>
              </a:tr>
              <a:tr h="45700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3/17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Survey assignment deadline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c) Confirmation of midterm presentation registration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d) Project 1 announcement: </a:t>
                      </a:r>
                      <a:r>
                        <a:rPr lang="en-US" sz="2000" i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unit testing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altLang="zh-TW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4323566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3/24</a:t>
                      </a:r>
                      <a:endParaRPr lang="hsb-DE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12648" indent="-612648" algn="l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2</a:t>
                      </a:r>
                      <a:endParaRPr lang="hsb-DE" altLang="zh-TW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943661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3/31</a:t>
                      </a:r>
                      <a:endParaRPr lang="hsb-DE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2</a:t>
                      </a:r>
                      <a:endParaRPr lang="hsb-DE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972194"/>
                  </a:ext>
                </a:extLst>
              </a:tr>
              <a:tr h="2019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4/7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2b) Project 1 deadline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c) Project 2 announcement: </a:t>
                      </a:r>
                      <a:r>
                        <a:rPr lang="en-US" sz="2000" i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web-testing 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9924517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4/14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hsb-DE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Chapter 3</a:t>
                      </a:r>
                      <a:endParaRPr lang="hsb-DE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210956"/>
                  </a:ext>
                </a:extLst>
              </a:tr>
              <a:tr h="2029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4/21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hsb-DE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Chapter 3</a:t>
                      </a:r>
                      <a:endParaRPr lang="hsb-DE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487273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EC1D9459-23A9-4A4F-A8ED-1B342739D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71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6168282"/>
      </p:ext>
    </p:extLst>
  </p:cSld>
  <p:clrMapOvr>
    <a:masterClrMapping/>
  </p:clrMapOvr>
  <p:transition spd="med" advTm="35199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96838"/>
            <a:ext cx="8966200" cy="915987"/>
          </a:xfrm>
        </p:spPr>
        <p:txBody>
          <a:bodyPr/>
          <a:lstStyle/>
          <a:p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Course Schedule (</a:t>
            </a:r>
            <a:r>
              <a:rPr lang="hsb-DE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2</a:t>
            </a:r>
            <a:r>
              <a:rPr lang="en-US" altLang="zh-TW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/2)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30</a:t>
            </a:fld>
            <a:endParaRPr lang="en-US" altLang="zh-TW" sz="900" b="0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C0254-093E-4F83-8F06-CDDA94901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50247" y="0"/>
            <a:ext cx="168618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914709-2E67-407C-9E47-8CD4DCBB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663941"/>
              </p:ext>
            </p:extLst>
          </p:nvPr>
        </p:nvGraphicFramePr>
        <p:xfrm>
          <a:off x="692870" y="1012825"/>
          <a:ext cx="7758260" cy="4673802"/>
        </p:xfrm>
        <a:graphic>
          <a:graphicData uri="http://schemas.openxmlformats.org/drawingml/2006/table">
            <a:tbl>
              <a:tblPr/>
              <a:tblGrid>
                <a:gridCol w="574426">
                  <a:extLst>
                    <a:ext uri="{9D8B030D-6E8A-4147-A177-3AD203B41FA5}">
                      <a16:colId xmlns:a16="http://schemas.microsoft.com/office/drawing/2014/main" val="3407845760"/>
                    </a:ext>
                  </a:extLst>
                </a:gridCol>
                <a:gridCol w="982353">
                  <a:extLst>
                    <a:ext uri="{9D8B030D-6E8A-4147-A177-3AD203B41FA5}">
                      <a16:colId xmlns:a16="http://schemas.microsoft.com/office/drawing/2014/main" val="2398072364"/>
                    </a:ext>
                  </a:extLst>
                </a:gridCol>
                <a:gridCol w="6201481">
                  <a:extLst>
                    <a:ext uri="{9D8B030D-6E8A-4147-A177-3AD203B41FA5}">
                      <a16:colId xmlns:a16="http://schemas.microsoft.com/office/drawing/2014/main" val="26338110"/>
                    </a:ext>
                  </a:extLst>
                </a:gridCol>
              </a:tblGrid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10.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4/28</a:t>
                      </a:r>
                      <a:endParaRPr lang="hsb-DE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Deadline of midterm presentation submission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Midterm presentation 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375838"/>
                  </a:ext>
                </a:extLst>
              </a:tr>
              <a:tr h="5873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11.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5/5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3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Project 2 deadline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c) Project 3 announcement: mobile app testing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767274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12.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5/12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Midterm presentation 2</a:t>
                      </a:r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hsb-DE" altLang="zh-TW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258471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13.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altLang="zh-TW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5/19</a:t>
                      </a:r>
                      <a:endParaRPr lang="zh-TW" alt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2648" indent="-612648" algn="l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4</a:t>
                      </a:r>
                      <a:endParaRPr lang="hsb-DE" altLang="zh-TW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624025"/>
                  </a:ext>
                </a:extLst>
              </a:tr>
              <a:tr h="4517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14.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5/26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5b) Project 3 deadline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c) Project 4 announcement: security checking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604799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15.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6/2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5</a:t>
                      </a:r>
                      <a:endParaRPr lang="hsb-DE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976281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16.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6/9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Security checking</a:t>
                      </a:r>
                      <a:endParaRPr lang="hsb-DE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875019"/>
                  </a:ext>
                </a:extLst>
              </a:tr>
              <a:tr h="316243">
                <a:tc>
                  <a:txBody>
                    <a:bodyPr/>
                    <a:lstStyle/>
                    <a:p>
                      <a:pPr algn="ctr"/>
                      <a:r>
                        <a:rPr lang="hsb-DE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17.</a:t>
                      </a:r>
                      <a:endParaRPr lang="hsb-DE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6/16</a:t>
                      </a:r>
                      <a:endParaRPr lang="hsb-DE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Security checking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Project 4 deadline 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1701145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18.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6/23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Final exam</a:t>
                      </a:r>
                      <a:endParaRPr lang="hsb-DE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02385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2618466D-CDB0-413A-AD47-2345A207F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71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351198"/>
      </p:ext>
    </p:extLst>
  </p:cSld>
  <p:clrMapOvr>
    <a:masterClrMapping/>
  </p:clrMapOvr>
  <p:transition spd="med" advTm="18430"/>
</p:sld>
</file>

<file path=ppt/theme/theme1.xml><?xml version="1.0" encoding="utf-8"?>
<a:theme xmlns:a="http://schemas.openxmlformats.org/drawingml/2006/main" name="intro">
  <a:themeElements>
    <a:clrScheme name="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0033"/>
      </a:hlink>
      <a:folHlink>
        <a:srgbClr val="969696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5901</TotalTime>
  <Pages>49</Pages>
  <Words>2068</Words>
  <Application>Microsoft Office PowerPoint</Application>
  <PresentationFormat>如螢幕大小 (4:3)</PresentationFormat>
  <Paragraphs>611</Paragraphs>
  <Slides>30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41" baseType="lpstr">
      <vt:lpstr>Monotype Sorts</vt:lpstr>
      <vt:lpstr>華康儷楷書(P)</vt:lpstr>
      <vt:lpstr>微軟正黑體</vt:lpstr>
      <vt:lpstr>新細明體</vt:lpstr>
      <vt:lpstr>Arial</vt:lpstr>
      <vt:lpstr>Calibri</vt:lpstr>
      <vt:lpstr>Century Schoolbook</vt:lpstr>
      <vt:lpstr>Symbol</vt:lpstr>
      <vt:lpstr>Times New Roman</vt:lpstr>
      <vt:lpstr>Wingdings</vt:lpstr>
      <vt:lpstr>intro</vt:lpstr>
      <vt:lpstr>Software Testing &amp; Security Checking  EE 5191  Syllabus</vt:lpstr>
      <vt:lpstr>Teaching Plan</vt:lpstr>
      <vt:lpstr>Teaching Plan</vt:lpstr>
      <vt:lpstr>授課資訊</vt:lpstr>
      <vt:lpstr>Background</vt:lpstr>
      <vt:lpstr>Types of Software Testing</vt:lpstr>
      <vt:lpstr>Types of Software Testing</vt:lpstr>
      <vt:lpstr>產業分析</vt:lpstr>
      <vt:lpstr>產業分析</vt:lpstr>
      <vt:lpstr>軟體自動測試市場主要競爭者說明 - Open-Source Solutions </vt:lpstr>
      <vt:lpstr>軟體自動測試市場主要競爭者 - vs. Commercial Solutions</vt:lpstr>
      <vt:lpstr>軟體自動測試市場主要競爭者年營收</vt:lpstr>
      <vt:lpstr>軟體自動測試市場主要競爭者說明 - 您看見機會了嗎？</vt:lpstr>
      <vt:lpstr>產業分析 from the Boss‘ perspective</vt:lpstr>
      <vt:lpstr>產業分析 from Taiwana Boss‘ perspective</vt:lpstr>
      <vt:lpstr>產業分析 from the QA engineers‘ perspective</vt:lpstr>
      <vt:lpstr>產業分析 Reality</vt:lpstr>
      <vt:lpstr>產業分析 Reality</vt:lpstr>
      <vt:lpstr>產業分析 solutions nowaday</vt:lpstr>
      <vt:lpstr>產業分析</vt:lpstr>
      <vt:lpstr>產業分析</vt:lpstr>
      <vt:lpstr>Goal</vt:lpstr>
      <vt:lpstr>Course Plan</vt:lpstr>
      <vt:lpstr>Pre-requisites</vt:lpstr>
      <vt:lpstr>Evaluation</vt:lpstr>
      <vt:lpstr>Evaluation</vt:lpstr>
      <vt:lpstr>Evaluation</vt:lpstr>
      <vt:lpstr>Textbook</vt:lpstr>
      <vt:lpstr>Course Schedule (1/2)</vt:lpstr>
      <vt:lpstr>Course Schedule (2/2)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subject/>
  <dc:creator>Jeff Offutt</dc:creator>
  <cp:keywords/>
  <dc:description/>
  <cp:lastModifiedBy>Farn</cp:lastModifiedBy>
  <cp:revision>293</cp:revision>
  <cp:lastPrinted>1996-04-04T10:27:56Z</cp:lastPrinted>
  <dcterms:created xsi:type="dcterms:W3CDTF">1996-06-15T03:21:08Z</dcterms:created>
  <dcterms:modified xsi:type="dcterms:W3CDTF">2021-02-24T08:58:54Z</dcterms:modified>
</cp:coreProperties>
</file>