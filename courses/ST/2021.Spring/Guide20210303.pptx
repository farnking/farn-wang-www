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36" r:id="rId2"/>
    <p:sldId id="471" r:id="rId3"/>
    <p:sldId id="505" r:id="rId4"/>
    <p:sldId id="454" r:id="rId5"/>
    <p:sldId id="522" r:id="rId6"/>
    <p:sldId id="473" r:id="rId7"/>
    <p:sldId id="474" r:id="rId8"/>
    <p:sldId id="517" r:id="rId9"/>
    <p:sldId id="475" r:id="rId10"/>
    <p:sldId id="518" r:id="rId11"/>
    <p:sldId id="447" r:id="rId12"/>
    <p:sldId id="476" r:id="rId13"/>
    <p:sldId id="477" r:id="rId14"/>
    <p:sldId id="478" r:id="rId15"/>
    <p:sldId id="479" r:id="rId16"/>
    <p:sldId id="506" r:id="rId17"/>
    <p:sldId id="368" r:id="rId18"/>
    <p:sldId id="370" r:id="rId19"/>
    <p:sldId id="371" r:id="rId20"/>
    <p:sldId id="372" r:id="rId21"/>
    <p:sldId id="373" r:id="rId22"/>
    <p:sldId id="507" r:id="rId23"/>
    <p:sldId id="442" r:id="rId24"/>
    <p:sldId id="443" r:id="rId25"/>
    <p:sldId id="440" r:id="rId26"/>
    <p:sldId id="438" r:id="rId27"/>
    <p:sldId id="483" r:id="rId28"/>
    <p:sldId id="484" r:id="rId29"/>
    <p:sldId id="486" r:id="rId30"/>
    <p:sldId id="487" r:id="rId3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1E5A"/>
    <a:srgbClr val="000000"/>
    <a:srgbClr val="00FF00"/>
    <a:srgbClr val="0000CC"/>
    <a:srgbClr val="0014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331" autoAdjust="0"/>
  </p:normalViewPr>
  <p:slideViewPr>
    <p:cSldViewPr snapToGrid="0">
      <p:cViewPr varScale="1">
        <p:scale>
          <a:sx n="68" d="100"/>
          <a:sy n="68" d="100"/>
        </p:scale>
        <p:origin x="1264" y="48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FE2B62D-82DD-4E42-9D77-2CC5676625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F84F7A0-8C74-49EB-A1A1-C7D74D7867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8E3E879-7204-4B92-BC7E-0CCE65FAB66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907C56E-509F-476F-AD5D-68C1CAE0D7F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fld id="{62DFDDBE-BD62-4D3F-A473-2BE250D3F26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7FA5391-64BE-4995-8D68-0A31C9BB59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64E1995-A6C5-44C7-AD6D-59CCD5DF7A6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5BFE333-B5F6-455A-A468-9E664C10FE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38BC364-6DE7-4F4B-AF85-D1AC336122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9618626-E375-47AE-8A88-443E81BFF3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E24D171D-78FC-4224-83AA-687A17FB799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9" tIns="48661" rIns="97319" bIns="48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C62E623-07E6-4C21-B06A-BFF1B0A2818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6" name="Rectangle 8">
            <a:extLst>
              <a:ext uri="{FF2B5EF4-FFF2-40B4-BE49-F238E27FC236}">
                <a16:creationId xmlns:a16="http://schemas.microsoft.com/office/drawing/2014/main" id="{3C025E90-C1B2-44C6-91CA-54E2C12A4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9144000"/>
            <a:ext cx="731837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8" tIns="46983" rIns="92288" bIns="46983">
            <a:spAutoFit/>
          </a:bodyPr>
          <a:lstStyle>
            <a:lvl1pPr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400" b="0">
                <a:solidFill>
                  <a:schemeClr val="tx1"/>
                </a:solidFill>
              </a:rPr>
              <a:t>Page </a:t>
            </a:r>
            <a:fld id="{15BF5972-6399-4E13-AEAA-A1661C51D89A}" type="slidenum">
              <a:rPr lang="en-US" altLang="zh-TW" sz="1400" b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B989A75B-32ED-4D09-9CA0-1A8661EB9B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EE26A9D4-EE87-4943-9502-AC73E2710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B9E18650-CC1A-4441-B32B-87D0464B1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3B133C9-7F56-41BD-9622-963D885906BA}" type="slidenum">
              <a:rPr lang="en-US" altLang="zh-TW" sz="1100" b="0" smtClean="0">
                <a:solidFill>
                  <a:schemeClr val="tx1"/>
                </a:solidFill>
              </a:rPr>
              <a:pPr/>
              <a:t>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53CF9527-2466-47C3-9042-E191B3330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7DF54EEC-DC41-48A6-92D5-B4C5ECD7A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0283004D-5C03-47C0-8259-B016B5CEB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AF8BEA9D-1DF0-4EC8-935C-36AC6E08C816}" type="slidenum">
              <a:rPr lang="en-US" altLang="zh-TW" sz="1100" b="0" smtClean="0">
                <a:solidFill>
                  <a:schemeClr val="tx1"/>
                </a:solidFill>
              </a:rPr>
              <a:pPr/>
              <a:t>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投影片圖像版面配置區 1">
            <a:extLst>
              <a:ext uri="{FF2B5EF4-FFF2-40B4-BE49-F238E27FC236}">
                <a16:creationId xmlns:a16="http://schemas.microsoft.com/office/drawing/2014/main" id="{3A8B5169-7773-4AA4-87B8-019FBD3F4B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備忘稿版面配置區 2">
            <a:extLst>
              <a:ext uri="{FF2B5EF4-FFF2-40B4-BE49-F238E27FC236}">
                <a16:creationId xmlns:a16="http://schemas.microsoft.com/office/drawing/2014/main" id="{F8FA23FD-D101-4DF1-A802-89441447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44" name="投影片編號版面配置區 3">
            <a:extLst>
              <a:ext uri="{FF2B5EF4-FFF2-40B4-BE49-F238E27FC236}">
                <a16:creationId xmlns:a16="http://schemas.microsoft.com/office/drawing/2014/main" id="{FE9CBBEB-AF45-46FE-8ABA-5AB359B70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9B45CF0-12C6-4606-9799-ED84527A4948}" type="slidenum">
              <a:rPr lang="en-US" altLang="zh-TW" sz="1100" b="0" smtClean="0">
                <a:solidFill>
                  <a:schemeClr val="tx1"/>
                </a:solidFill>
              </a:rPr>
              <a:pPr/>
              <a:t>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B48A74CB-2E1D-4A38-81D9-7C09805AAE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5BABECD5-9400-4B97-8B98-F0F534C1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92" name="投影片編號版面配置區 3">
            <a:extLst>
              <a:ext uri="{FF2B5EF4-FFF2-40B4-BE49-F238E27FC236}">
                <a16:creationId xmlns:a16="http://schemas.microsoft.com/office/drawing/2014/main" id="{0738A7C5-115C-498B-B770-D8323010A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6101A37-5A3F-4150-AFDC-7A9B6ECA7A3D}" type="slidenum">
              <a:rPr lang="en-US" altLang="zh-TW" sz="1100" b="0" smtClean="0">
                <a:solidFill>
                  <a:schemeClr val="tx1"/>
                </a:solidFill>
              </a:rPr>
              <a:pPr/>
              <a:t>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>
            <a:extLst>
              <a:ext uri="{FF2B5EF4-FFF2-40B4-BE49-F238E27FC236}">
                <a16:creationId xmlns:a16="http://schemas.microsoft.com/office/drawing/2014/main" id="{05B4EA37-C0E8-4302-BA40-DDFCF70ABC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備忘稿版面配置區 2">
            <a:extLst>
              <a:ext uri="{FF2B5EF4-FFF2-40B4-BE49-F238E27FC236}">
                <a16:creationId xmlns:a16="http://schemas.microsoft.com/office/drawing/2014/main" id="{1749D49D-5F21-4A17-A282-AB2C10559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364" name="投影片編號版面配置區 3">
            <a:extLst>
              <a:ext uri="{FF2B5EF4-FFF2-40B4-BE49-F238E27FC236}">
                <a16:creationId xmlns:a16="http://schemas.microsoft.com/office/drawing/2014/main" id="{AD71E95D-C301-4277-B8E2-01ADB268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AD0C3D5-0C1C-41B8-8F81-41D7D649D827}" type="slidenum">
              <a:rPr lang="en-US" altLang="zh-TW" sz="1100" b="0" smtClean="0">
                <a:solidFill>
                  <a:schemeClr val="tx1"/>
                </a:solidFill>
              </a:rPr>
              <a:pPr/>
              <a:t>6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圖像版面配置區 1">
            <a:extLst>
              <a:ext uri="{FF2B5EF4-FFF2-40B4-BE49-F238E27FC236}">
                <a16:creationId xmlns:a16="http://schemas.microsoft.com/office/drawing/2014/main" id="{A2334740-B51B-430A-A939-FA69FD394B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備忘稿版面配置區 2">
            <a:extLst>
              <a:ext uri="{FF2B5EF4-FFF2-40B4-BE49-F238E27FC236}">
                <a16:creationId xmlns:a16="http://schemas.microsoft.com/office/drawing/2014/main" id="{A733ECBD-ABC8-4CDF-B4A5-7C0681E06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412" name="投影片編號版面配置區 3">
            <a:extLst>
              <a:ext uri="{FF2B5EF4-FFF2-40B4-BE49-F238E27FC236}">
                <a16:creationId xmlns:a16="http://schemas.microsoft.com/office/drawing/2014/main" id="{99DEE10F-428F-4460-AA4D-73F7D28E5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3057C88-1D2F-4090-851F-B2742750E6CB}" type="slidenum">
              <a:rPr lang="en-US" altLang="zh-TW" sz="1100" b="0" smtClean="0">
                <a:solidFill>
                  <a:schemeClr val="tx1"/>
                </a:solidFill>
              </a:rPr>
              <a:pPr/>
              <a:t>7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8E606AD-0D93-42D1-B289-77133BF689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626653A-6EA5-4EB0-A847-AFF984B0E3CE}" type="slidenum">
              <a:rPr lang="en-US" altLang="zh-TW" sz="1100" b="0" smtClean="0">
                <a:solidFill>
                  <a:schemeClr val="tx1"/>
                </a:solidFill>
              </a:rPr>
              <a:pPr/>
              <a:t>8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0D31246-5B54-486B-BA1D-389FF1F5B8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9585BE7-D571-4863-93B4-9347F755C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B55A028B-4DC8-4505-BFDC-7EB8D0BF40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A76E069C-9301-4F9F-9EA9-2539E3189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BCFBD2A1-2045-4100-A5C5-10D6CAB63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E33D056-0DE0-4076-B9AE-AFC0867BBE7D}" type="slidenum">
              <a:rPr lang="en-US" altLang="zh-TW" sz="1100" b="0" smtClean="0">
                <a:solidFill>
                  <a:schemeClr val="tx1"/>
                </a:solidFill>
              </a:rPr>
              <a:pPr/>
              <a:t>9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7E2CC1AB-C654-4FC9-A686-C58B7B4F8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C480C0B-FB2B-491B-9E8D-A6CDB5077152}" type="slidenum">
              <a:rPr lang="en-US" altLang="zh-TW" sz="1100" b="0" smtClean="0">
                <a:solidFill>
                  <a:schemeClr val="tx1"/>
                </a:solidFill>
              </a:rPr>
              <a:pPr/>
              <a:t>10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9F7131B-867B-4D2A-8BE8-3D5FDA94B7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D7863BC-C98A-481C-AA9F-890F8852F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圖像版面配置區 1">
            <a:extLst>
              <a:ext uri="{FF2B5EF4-FFF2-40B4-BE49-F238E27FC236}">
                <a16:creationId xmlns:a16="http://schemas.microsoft.com/office/drawing/2014/main" id="{FA1D8B85-93A1-4618-AB94-0CCAF46872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備忘稿版面配置區 2">
            <a:extLst>
              <a:ext uri="{FF2B5EF4-FFF2-40B4-BE49-F238E27FC236}">
                <a16:creationId xmlns:a16="http://schemas.microsoft.com/office/drawing/2014/main" id="{B4B92BDA-3696-443D-89AD-A4F0FC9CE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5604" name="投影片編號版面配置區 3">
            <a:extLst>
              <a:ext uri="{FF2B5EF4-FFF2-40B4-BE49-F238E27FC236}">
                <a16:creationId xmlns:a16="http://schemas.microsoft.com/office/drawing/2014/main" id="{2A932F37-498D-484A-98DE-ADA345ECC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6AA3B0C-A0A6-4301-8332-227B36AC4966}" type="slidenum">
              <a:rPr lang="en-US" altLang="zh-TW" sz="1100" b="0" smtClean="0">
                <a:solidFill>
                  <a:schemeClr val="tx1"/>
                </a:solidFill>
              </a:rPr>
              <a:pPr/>
              <a:t>11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圖像版面配置區 1">
            <a:extLst>
              <a:ext uri="{FF2B5EF4-FFF2-40B4-BE49-F238E27FC236}">
                <a16:creationId xmlns:a16="http://schemas.microsoft.com/office/drawing/2014/main" id="{A098033B-06D9-45D0-9F3B-E20A23542F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備忘稿版面配置區 2">
            <a:extLst>
              <a:ext uri="{FF2B5EF4-FFF2-40B4-BE49-F238E27FC236}">
                <a16:creationId xmlns:a16="http://schemas.microsoft.com/office/drawing/2014/main" id="{39E7728F-F519-4649-A936-C24B12AE4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7652" name="投影片編號版面配置區 3">
            <a:extLst>
              <a:ext uri="{FF2B5EF4-FFF2-40B4-BE49-F238E27FC236}">
                <a16:creationId xmlns:a16="http://schemas.microsoft.com/office/drawing/2014/main" id="{61072735-8952-4868-9B06-B6F495481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CAC0444B-C9D4-4572-88FE-6DF5FE5956A0}" type="slidenum">
              <a:rPr lang="en-US" altLang="zh-TW" sz="1100" b="0" smtClean="0">
                <a:solidFill>
                  <a:schemeClr val="tx1"/>
                </a:solidFill>
              </a:rPr>
              <a:pPr/>
              <a:t>12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>
            <a:extLst>
              <a:ext uri="{FF2B5EF4-FFF2-40B4-BE49-F238E27FC236}">
                <a16:creationId xmlns:a16="http://schemas.microsoft.com/office/drawing/2014/main" id="{7F372B0B-0824-43D5-8EFD-52B7D40B8F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備忘稿版面配置區 2">
            <a:extLst>
              <a:ext uri="{FF2B5EF4-FFF2-40B4-BE49-F238E27FC236}">
                <a16:creationId xmlns:a16="http://schemas.microsoft.com/office/drawing/2014/main" id="{DF7C508E-55A1-41E4-8328-CEA4F5DD8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9700" name="投影片編號版面配置區 3">
            <a:extLst>
              <a:ext uri="{FF2B5EF4-FFF2-40B4-BE49-F238E27FC236}">
                <a16:creationId xmlns:a16="http://schemas.microsoft.com/office/drawing/2014/main" id="{CF175176-B88D-4F75-9792-3D0BD8116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182A9B83-07C1-471A-B136-237F3D9B8208}" type="slidenum">
              <a:rPr lang="en-US" altLang="zh-TW" sz="1100" b="0" smtClean="0">
                <a:solidFill>
                  <a:schemeClr val="tx1"/>
                </a:solidFill>
              </a:rPr>
              <a:pPr/>
              <a:t>13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圖像版面配置區 1">
            <a:extLst>
              <a:ext uri="{FF2B5EF4-FFF2-40B4-BE49-F238E27FC236}">
                <a16:creationId xmlns:a16="http://schemas.microsoft.com/office/drawing/2014/main" id="{A5247431-2E43-4E98-8A27-32F6FC5565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備忘稿版面配置區 2">
            <a:extLst>
              <a:ext uri="{FF2B5EF4-FFF2-40B4-BE49-F238E27FC236}">
                <a16:creationId xmlns:a16="http://schemas.microsoft.com/office/drawing/2014/main" id="{F0A37B47-928C-410F-9BB0-9B179A0E8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8" name="投影片編號版面配置區 3">
            <a:extLst>
              <a:ext uri="{FF2B5EF4-FFF2-40B4-BE49-F238E27FC236}">
                <a16:creationId xmlns:a16="http://schemas.microsoft.com/office/drawing/2014/main" id="{5E707F26-B239-4012-88E2-303D254E3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328CC6DB-289E-48C4-A83A-FA76431048D9}" type="slidenum">
              <a:rPr lang="en-US" altLang="zh-TW" sz="1100" b="0" smtClean="0">
                <a:solidFill>
                  <a:schemeClr val="tx1"/>
                </a:solidFill>
              </a:rPr>
              <a:pPr/>
              <a:t>14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投影片圖像版面配置區 1">
            <a:extLst>
              <a:ext uri="{FF2B5EF4-FFF2-40B4-BE49-F238E27FC236}">
                <a16:creationId xmlns:a16="http://schemas.microsoft.com/office/drawing/2014/main" id="{CBD34313-AD28-4C90-BEE8-C648A5A432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備忘稿版面配置區 2">
            <a:extLst>
              <a:ext uri="{FF2B5EF4-FFF2-40B4-BE49-F238E27FC236}">
                <a16:creationId xmlns:a16="http://schemas.microsoft.com/office/drawing/2014/main" id="{D1263EFB-AE26-4279-9FC3-FC495EE31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3796" name="投影片編號版面配置區 3">
            <a:extLst>
              <a:ext uri="{FF2B5EF4-FFF2-40B4-BE49-F238E27FC236}">
                <a16:creationId xmlns:a16="http://schemas.microsoft.com/office/drawing/2014/main" id="{41446107-D7B5-4882-8286-0BD122B95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63FF8920-53B1-4DCD-8473-21AFEA63AD47}" type="slidenum">
              <a:rPr lang="en-US" altLang="zh-TW" sz="1100" b="0" smtClean="0">
                <a:solidFill>
                  <a:schemeClr val="tx1"/>
                </a:solidFill>
              </a:rPr>
              <a:pPr/>
              <a:t>15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>
            <a:extLst>
              <a:ext uri="{FF2B5EF4-FFF2-40B4-BE49-F238E27FC236}">
                <a16:creationId xmlns:a16="http://schemas.microsoft.com/office/drawing/2014/main" id="{64E4E55A-488D-4372-ACB1-1CD4E27E08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備忘稿版面配置區 2">
            <a:extLst>
              <a:ext uri="{FF2B5EF4-FFF2-40B4-BE49-F238E27FC236}">
                <a16:creationId xmlns:a16="http://schemas.microsoft.com/office/drawing/2014/main" id="{DE98DE9B-25E0-460E-BF63-706318892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4" name="投影片編號版面配置區 3">
            <a:extLst>
              <a:ext uri="{FF2B5EF4-FFF2-40B4-BE49-F238E27FC236}">
                <a16:creationId xmlns:a16="http://schemas.microsoft.com/office/drawing/2014/main" id="{2435FD97-6D59-41F1-9091-ACA6CE4C6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23C3101-9D27-4D95-9599-39112801797D}" type="slidenum">
              <a:rPr lang="en-US" altLang="zh-TW" sz="1100" b="0" smtClean="0">
                <a:solidFill>
                  <a:schemeClr val="tx1"/>
                </a:solidFill>
              </a:rPr>
              <a:pPr/>
              <a:t>16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223478D8-0E56-4C87-8A05-FBDE0D5D0B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184F2458-1C80-4A02-ACA3-787A181A6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9B97BA2B-EE38-4B1B-88BF-298B3E145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94CCDAC-9393-40B6-9EC6-2ABBF06B7C72}" type="slidenum">
              <a:rPr lang="en-US" altLang="zh-TW" sz="1100" b="0" smtClean="0">
                <a:solidFill>
                  <a:schemeClr val="tx1"/>
                </a:solidFill>
              </a:rPr>
              <a:pPr/>
              <a:t>18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0939E0C-BB70-4DBB-8E2C-657B0DF958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60B784F2-AAAA-4A0B-B1EC-BA883DB8B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D64B660C-65D0-4625-B0EF-A165D80FF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D5380B0-6063-463D-8594-D8AD80B713F3}" type="slidenum">
              <a:rPr lang="en-US" altLang="zh-TW" sz="1100" b="0" smtClean="0">
                <a:solidFill>
                  <a:schemeClr val="tx1"/>
                </a:solidFill>
              </a:rPr>
              <a:pPr/>
              <a:t>19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78F4E132-AFF2-469E-8925-1013D2C148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927476E6-D4A6-4A26-AB8A-60EA5CB8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48102091-9F96-4111-BC02-1C1857940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93F97FAA-FEDB-4765-8E6D-BD446CFC3BFB}" type="slidenum">
              <a:rPr lang="en-US" altLang="zh-TW" sz="1100" b="0" smtClean="0">
                <a:solidFill>
                  <a:schemeClr val="tx1"/>
                </a:solidFill>
              </a:rPr>
              <a:pPr/>
              <a:t>20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000DF0A4-0F83-43E3-8EE6-200BAD5775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CB4C326E-38CC-44C9-958F-987E6DDC6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411CD161-E480-4E0B-B0E2-E7E3FF4A3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0A7637F-41C4-4182-B3C9-8E878D7B3C85}" type="slidenum">
              <a:rPr lang="en-US" altLang="zh-TW" sz="1100" b="0" smtClean="0">
                <a:solidFill>
                  <a:schemeClr val="tx1"/>
                </a:solidFill>
              </a:rPr>
              <a:pPr/>
              <a:t>21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>
            <a:extLst>
              <a:ext uri="{FF2B5EF4-FFF2-40B4-BE49-F238E27FC236}">
                <a16:creationId xmlns:a16="http://schemas.microsoft.com/office/drawing/2014/main" id="{D102E684-8E31-4F34-8600-5C60A408A0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備忘稿版面配置區 2">
            <a:extLst>
              <a:ext uri="{FF2B5EF4-FFF2-40B4-BE49-F238E27FC236}">
                <a16:creationId xmlns:a16="http://schemas.microsoft.com/office/drawing/2014/main" id="{38B459B8-AE0F-4FB0-8B7E-0B329FAC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9156" name="投影片編號版面配置區 3">
            <a:extLst>
              <a:ext uri="{FF2B5EF4-FFF2-40B4-BE49-F238E27FC236}">
                <a16:creationId xmlns:a16="http://schemas.microsoft.com/office/drawing/2014/main" id="{06617F6F-D093-47C0-855B-A5635DA9D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420B7F10-3A2D-4B5A-994B-97DB1E26BAE7}" type="slidenum">
              <a:rPr lang="en-US" altLang="zh-TW" sz="1100" b="0" smtClean="0">
                <a:solidFill>
                  <a:schemeClr val="tx1"/>
                </a:solidFill>
              </a:rPr>
              <a:pPr/>
              <a:t>22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圖像版面配置區 1">
            <a:extLst>
              <a:ext uri="{FF2B5EF4-FFF2-40B4-BE49-F238E27FC236}">
                <a16:creationId xmlns:a16="http://schemas.microsoft.com/office/drawing/2014/main" id="{8233C352-BADC-4DC1-8E58-E1C4FE36B7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備忘稿版面配置區 2">
            <a:extLst>
              <a:ext uri="{FF2B5EF4-FFF2-40B4-BE49-F238E27FC236}">
                <a16:creationId xmlns:a16="http://schemas.microsoft.com/office/drawing/2014/main" id="{42B065BC-E7B4-432C-A280-F88BB8F7A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5780" name="投影片編號版面配置區 3">
            <a:extLst>
              <a:ext uri="{FF2B5EF4-FFF2-40B4-BE49-F238E27FC236}">
                <a16:creationId xmlns:a16="http://schemas.microsoft.com/office/drawing/2014/main" id="{9ADC7FEC-7D4F-4F26-AA84-CC0CF7523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0F0B08D-43C3-47A3-AE41-2035AA50C460}" type="slidenum">
              <a:rPr lang="en-US" altLang="zh-TW" sz="1100" b="0" smtClean="0">
                <a:solidFill>
                  <a:schemeClr val="tx1"/>
                </a:solidFill>
              </a:rPr>
              <a:pPr/>
              <a:t>23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>
            <a:extLst>
              <a:ext uri="{FF2B5EF4-FFF2-40B4-BE49-F238E27FC236}">
                <a16:creationId xmlns:a16="http://schemas.microsoft.com/office/drawing/2014/main" id="{18575E32-4675-4B48-A8FF-991B18E1FD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備忘稿版面配置區 2">
            <a:extLst>
              <a:ext uri="{FF2B5EF4-FFF2-40B4-BE49-F238E27FC236}">
                <a16:creationId xmlns:a16="http://schemas.microsoft.com/office/drawing/2014/main" id="{A0812971-D67B-403E-81D7-EDB8E7600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28" name="投影片編號版面配置區 3">
            <a:extLst>
              <a:ext uri="{FF2B5EF4-FFF2-40B4-BE49-F238E27FC236}">
                <a16:creationId xmlns:a16="http://schemas.microsoft.com/office/drawing/2014/main" id="{21B4A547-C767-437C-84B6-0ABEE00C9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59340D56-4F64-466D-A6E2-49CC063B659D}" type="slidenum">
              <a:rPr lang="en-US" altLang="zh-TW" sz="1100" b="0" smtClean="0">
                <a:solidFill>
                  <a:schemeClr val="tx1"/>
                </a:solidFill>
              </a:rPr>
              <a:pPr/>
              <a:t>24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圖像版面配置區 1">
            <a:extLst>
              <a:ext uri="{FF2B5EF4-FFF2-40B4-BE49-F238E27FC236}">
                <a16:creationId xmlns:a16="http://schemas.microsoft.com/office/drawing/2014/main" id="{2DDD6CE7-5DAB-4493-A434-5DC91FBD50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備忘稿版面配置區 2">
            <a:extLst>
              <a:ext uri="{FF2B5EF4-FFF2-40B4-BE49-F238E27FC236}">
                <a16:creationId xmlns:a16="http://schemas.microsoft.com/office/drawing/2014/main" id="{4E25921C-57FE-46D9-9D32-FCDC43AB0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7588" name="投影片編號版面配置區 3">
            <a:extLst>
              <a:ext uri="{FF2B5EF4-FFF2-40B4-BE49-F238E27FC236}">
                <a16:creationId xmlns:a16="http://schemas.microsoft.com/office/drawing/2014/main" id="{C06D22AC-93D0-41BF-893A-BEAAC4BD4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F139C333-CABB-4061-ABEF-FDDC1B0071BE}" type="slidenum">
              <a:rPr lang="en-US" altLang="zh-TW" sz="1100" b="0" smtClean="0">
                <a:solidFill>
                  <a:schemeClr val="tx1"/>
                </a:solidFill>
              </a:rPr>
              <a:pPr/>
              <a:t>25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>
            <a:extLst>
              <a:ext uri="{FF2B5EF4-FFF2-40B4-BE49-F238E27FC236}">
                <a16:creationId xmlns:a16="http://schemas.microsoft.com/office/drawing/2014/main" id="{28C432EF-C1F3-44B7-AF80-7EA55A1136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備忘稿版面配置區 2">
            <a:extLst>
              <a:ext uri="{FF2B5EF4-FFF2-40B4-BE49-F238E27FC236}">
                <a16:creationId xmlns:a16="http://schemas.microsoft.com/office/drawing/2014/main" id="{E6B2F568-6436-4526-9726-F9A0574B9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5540" name="投影片編號版面配置區 3">
            <a:extLst>
              <a:ext uri="{FF2B5EF4-FFF2-40B4-BE49-F238E27FC236}">
                <a16:creationId xmlns:a16="http://schemas.microsoft.com/office/drawing/2014/main" id="{B81F4FF7-8E1D-4146-9D30-D04AE8E67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B9F26F39-1360-4692-8C42-C521AF22CD09}" type="slidenum">
              <a:rPr lang="en-US" altLang="zh-TW" sz="1100" b="0" smtClean="0">
                <a:solidFill>
                  <a:schemeClr val="tx1"/>
                </a:solidFill>
              </a:rPr>
              <a:pPr/>
              <a:t>26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投影片圖像版面配置區 1">
            <a:extLst>
              <a:ext uri="{FF2B5EF4-FFF2-40B4-BE49-F238E27FC236}">
                <a16:creationId xmlns:a16="http://schemas.microsoft.com/office/drawing/2014/main" id="{13542A76-76F1-42E9-A4CE-AFB1CF6BEB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備忘稿版面配置區 2">
            <a:extLst>
              <a:ext uri="{FF2B5EF4-FFF2-40B4-BE49-F238E27FC236}">
                <a16:creationId xmlns:a16="http://schemas.microsoft.com/office/drawing/2014/main" id="{F15B84F8-9FEB-46B1-8C70-BBF5B53AB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9636" name="投影片編號版面配置區 3">
            <a:extLst>
              <a:ext uri="{FF2B5EF4-FFF2-40B4-BE49-F238E27FC236}">
                <a16:creationId xmlns:a16="http://schemas.microsoft.com/office/drawing/2014/main" id="{C448CE45-DC30-4A8B-BF6F-0EBF37F9D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74A87FB0-0881-4B8B-A7EC-DABA7321C2FC}" type="slidenum">
              <a:rPr lang="en-US" altLang="zh-TW" sz="1100" b="0" smtClean="0">
                <a:solidFill>
                  <a:schemeClr val="tx1"/>
                </a:solidFill>
              </a:rPr>
              <a:pPr/>
              <a:t>27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圖像版面配置區 1">
            <a:extLst>
              <a:ext uri="{FF2B5EF4-FFF2-40B4-BE49-F238E27FC236}">
                <a16:creationId xmlns:a16="http://schemas.microsoft.com/office/drawing/2014/main" id="{99747375-9939-4C04-8751-8D30F01D00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備忘稿版面配置區 2">
            <a:extLst>
              <a:ext uri="{FF2B5EF4-FFF2-40B4-BE49-F238E27FC236}">
                <a16:creationId xmlns:a16="http://schemas.microsoft.com/office/drawing/2014/main" id="{5AAEEBB0-A046-480A-A27C-831ABB583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3732" name="投影片編號版面配置區 3">
            <a:extLst>
              <a:ext uri="{FF2B5EF4-FFF2-40B4-BE49-F238E27FC236}">
                <a16:creationId xmlns:a16="http://schemas.microsoft.com/office/drawing/2014/main" id="{1924909A-7CE1-441F-800A-7C7D3C619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28B17B83-97C0-4603-9CEC-AC80ED3CC18D}" type="slidenum">
              <a:rPr lang="en-US" altLang="zh-TW" sz="1100" b="0" smtClean="0">
                <a:solidFill>
                  <a:schemeClr val="tx1"/>
                </a:solidFill>
              </a:rPr>
              <a:pPr/>
              <a:t>28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D73974-B8F0-4EB9-856D-80CB6AAC0C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E38637-6169-4710-BCCC-3DDB41D8FC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44C5A8E-FAF4-4E83-BAF8-0CBCDDAFAB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C7D47-3644-48B9-B507-349A290372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766638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29994"/>
            <a:ext cx="8966200" cy="55469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EAC72-727D-43C9-89D2-DC577078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Introduction to Software Testing  (Ch 1)</a:t>
            </a:r>
            <a:endParaRPr lang="en-US" altLang="zh-TW" u="s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A017B-E2C8-4D79-828F-080487D83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05235-642D-4F47-8E03-02BC8DC6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82ED-3179-4B6F-9868-CBE5570F05D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89653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8B17E01-F78F-4E9A-925E-0778A933B9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30C3B11-89B2-45F6-B511-C281484889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23CBC52-0991-44F4-9966-77F3F7E454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783A4-3813-4253-B685-834E9AF4A1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4170536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880EDE-A97E-49EB-B6B6-6A8815B506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702B272-1205-4989-BD4E-58C69D9BF0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A3B31F4-5E1B-4029-964E-2AA921B087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A60E6-94A0-44CA-8ACE-2737489A9F5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822350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A29A6B9-8F61-414A-A184-32995EEB14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4BE4FDB-3D53-4235-AEE2-F04035BE12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E3145BD-13ED-47CB-9FAC-CAA1862AC0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80D34-3E83-4D43-BBC8-4DFB54F818B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14597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337CA-67B5-441A-817C-008F885A8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79E05B-42B4-4020-B86D-9D70AE20DF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4BDFB6-9442-4D7D-BA35-DD28D1AE0C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D80073-C3C0-482B-802B-C4D564A6CD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41973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6586130-60D0-4A45-951C-AC1C5B9EAE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7EEEE3-F672-415F-9C5A-045A8BB2BD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3564AF-DB10-4DF5-931C-06F6F7B832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E4F8E-8C43-4AFD-905A-96794788ECB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617810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D38C77-53BB-4F39-BA0E-089BADC522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24CBBA-ED55-4762-A5A3-7BD7D66230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276F42F-9CCC-42AB-BE6F-E386C8248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C9016-C275-42FA-ACB1-5D2C6BCCC2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174811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3D6219-E691-4E79-BD88-81EB5B26DA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89828A6-5EAA-46F8-84BE-598F03A7A2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0EE0D80-1CF6-4490-8643-3CF6F6565B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FB446-81FB-423D-80D3-DF4FB78A21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728663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926460C-975C-4579-B5B3-F9DA09C53D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AEC0198-3869-45D6-9508-C89D0D631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782A0A5-B880-4258-83DF-C99393A6D9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2C8A4-3787-4F91-B2AA-C2482BDEBB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148018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280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280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A2D15F-94EB-4750-947A-CE17A5DF00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1CD9172-BB0F-4798-BC93-1AF8A75305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478E068-45C3-4D9F-8959-F73359CFD1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760CD-768D-406B-8B76-4E739BBFE79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813276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F2783A9-33C9-45FB-89A7-B2D48B78BB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725" y="6526213"/>
            <a:ext cx="38449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Introduction to Software Testing  (Ch 1)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CEBC78-56B2-4471-96B1-587BF3DE63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05275" y="6518275"/>
            <a:ext cx="2895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E9DAC69-CFD3-405B-9856-7A317D8D98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94550" y="6510338"/>
            <a:ext cx="19050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D9D1A02-2735-4E05-BC97-54F9AD19F98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11B0B7-1C2E-4C9C-8AD6-F3954ED49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8900" y="96838"/>
            <a:ext cx="8966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F6C569-E5F5-4CAB-B5C9-66BCC61D1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" y="1085850"/>
            <a:ext cx="8966200" cy="542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 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 </a:t>
            </a:r>
          </a:p>
          <a:p>
            <a:pPr lvl="4"/>
            <a:r>
              <a:rPr lang="en-US" altLang="zh-TW"/>
              <a:t>Fifth level 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2A160E3-C5C2-4F7E-8511-192CFC7C2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TW" altLang="zh-TW">
              <a:ea typeface="新細明體" panose="02020500000000000000" pitchFamily="18" charset="-12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454" r:id="rId1"/>
    <p:sldLayoutId id="2147484464" r:id="rId2"/>
    <p:sldLayoutId id="2147484455" r:id="rId3"/>
    <p:sldLayoutId id="2147484456" r:id="rId4"/>
    <p:sldLayoutId id="2147484457" r:id="rId5"/>
    <p:sldLayoutId id="2147484458" r:id="rId6"/>
    <p:sldLayoutId id="2147484459" r:id="rId7"/>
    <p:sldLayoutId id="2147484460" r:id="rId8"/>
    <p:sldLayoutId id="2147484461" r:id="rId9"/>
    <p:sldLayoutId id="2147484462" r:id="rId10"/>
    <p:sldLayoutId id="2147484463" r:id="rId11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Font typeface="Monotype Sorts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gmu.edu/~offutt/softwaretes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3.wmf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12" Type="http://schemas.openxmlformats.org/officeDocument/2006/relationships/image" Target="../media/image22.emf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emf"/><Relationship Id="rId5" Type="http://schemas.openxmlformats.org/officeDocument/2006/relationships/image" Target="../media/image15.png"/><Relationship Id="rId15" Type="http://schemas.openxmlformats.org/officeDocument/2006/relationships/image" Target="../media/image25.wmf"/><Relationship Id="rId10" Type="http://schemas.openxmlformats.org/officeDocument/2006/relationships/image" Target="../media/image20.emf"/><Relationship Id="rId4" Type="http://schemas.openxmlformats.org/officeDocument/2006/relationships/image" Target="../media/image14.png"/><Relationship Id="rId9" Type="http://schemas.openxmlformats.org/officeDocument/2006/relationships/image" Target="../media/image19.emf"/><Relationship Id="rId1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cs.gmu.edu:8080/offutt/coverage/GraphCoverage" TargetMode="External"/><Relationship Id="rId2" Type="http://schemas.openxmlformats.org/officeDocument/2006/relationships/hyperlink" Target="http://www.cs.gmu.edu/~offutt/softwarete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A3EA6F3-4D20-4816-9940-DB7592CD54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0850" y="533400"/>
            <a:ext cx="8229600" cy="2870200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Introduction to Software Testing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>
                <a:ea typeface="新細明體" panose="02020500000000000000" pitchFamily="18" charset="-120"/>
              </a:rPr>
              <a:t>Chapter 1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>
                <a:ea typeface="新細明體" panose="02020500000000000000" pitchFamily="18" charset="-120"/>
              </a:rPr>
              <a:t>Introduction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>
                <a:ea typeface="新細明體" panose="02020500000000000000" pitchFamily="18" charset="-120"/>
              </a:rPr>
              <a:t>&amp;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>
                <a:ea typeface="新細明體" panose="02020500000000000000" pitchFamily="18" charset="-120"/>
              </a:rPr>
              <a:t>The Model-Driven Test Design Process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15BFF71-43EE-45AF-9675-597C6BC467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25825"/>
            <a:ext cx="6400800" cy="252571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3200">
                <a:ea typeface="新細明體" panose="02020500000000000000" pitchFamily="18" charset="-120"/>
              </a:rPr>
              <a:t>Paul Ammann &amp; Jeff Offutt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b="0">
                <a:ea typeface="新細明體" panose="02020500000000000000" pitchFamily="18" charset="-120"/>
                <a:hlinkClick r:id="rId3"/>
              </a:rPr>
              <a:t>http://www.cs.gmu.edu/~offutt/softwaretest/</a:t>
            </a:r>
            <a:endParaRPr lang="en-US" altLang="zh-TW" b="0">
              <a:ea typeface="新細明體" panose="02020500000000000000" pitchFamily="18" charset="-120"/>
            </a:endParaRPr>
          </a:p>
          <a:p>
            <a:endParaRPr lang="en-US" altLang="zh-TW" b="0">
              <a:ea typeface="新細明體" panose="02020500000000000000" pitchFamily="18" charset="-120"/>
            </a:endParaRPr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E9D3B2FA-D4B8-4642-9D94-6D9CEA1B9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925" y="6321425"/>
            <a:ext cx="27241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1600" b="0" i="1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</a:rPr>
              <a:t>Updated 24-August 2010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1ECFF67-06CD-4D61-A594-0C0FC3AE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Testing in the 21st Century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9B616CE-82B2-4ECE-911D-C27F15A04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852488"/>
            <a:ext cx="8966200" cy="5524500"/>
          </a:xfrm>
        </p:spPr>
        <p:txBody>
          <a:bodyPr/>
          <a:lstStyle/>
          <a:p>
            <a:r>
              <a:rPr lang="en-US" altLang="zh-TW" sz="2800" b="0">
                <a:ea typeface="新細明體" panose="02020500000000000000" pitchFamily="18" charset="-120"/>
              </a:rPr>
              <a:t>Software defines </a:t>
            </a:r>
            <a:r>
              <a:rPr lang="en-US" altLang="zh-TW" sz="2800" b="0">
                <a:solidFill>
                  <a:srgbClr val="FFFF00"/>
                </a:solidFill>
                <a:ea typeface="新細明體" panose="02020500000000000000" pitchFamily="18" charset="-120"/>
              </a:rPr>
              <a:t>behavior</a:t>
            </a:r>
            <a:endParaRPr lang="en-US" altLang="zh-TW" b="0">
              <a:solidFill>
                <a:srgbClr val="FFFF00"/>
              </a:solidFill>
              <a:ea typeface="新細明體" panose="02020500000000000000" pitchFamily="18" charset="-120"/>
            </a:endParaRPr>
          </a:p>
          <a:p>
            <a:pPr lvl="1"/>
            <a:r>
              <a:rPr lang="en-US" altLang="zh-TW" sz="1800" b="0">
                <a:ea typeface="新細明體" panose="02020500000000000000" pitchFamily="18" charset="-120"/>
              </a:rPr>
              <a:t>network routers, finance, switching networks, other infrastructure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Today’s software </a:t>
            </a:r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market</a:t>
            </a:r>
            <a:r>
              <a:rPr lang="en-US" altLang="zh-TW" sz="2800" b="0">
                <a:ea typeface="新細明體" panose="02020500000000000000" pitchFamily="18" charset="-120"/>
              </a:rPr>
              <a:t> :</a:t>
            </a:r>
          </a:p>
          <a:p>
            <a:pPr lvl="1"/>
            <a:r>
              <a:rPr lang="en-US" altLang="zh-TW" b="0">
                <a:ea typeface="新細明體" panose="02020500000000000000" pitchFamily="18" charset="-120"/>
              </a:rPr>
              <a:t>is much </a:t>
            </a:r>
            <a:r>
              <a:rPr lang="en-US" altLang="zh-TW" b="0">
                <a:solidFill>
                  <a:schemeClr val="tx2"/>
                </a:solidFill>
                <a:ea typeface="新細明體" panose="02020500000000000000" pitchFamily="18" charset="-120"/>
              </a:rPr>
              <a:t>bigger</a:t>
            </a:r>
          </a:p>
          <a:p>
            <a:pPr lvl="1"/>
            <a:r>
              <a:rPr lang="en-US" altLang="zh-TW" b="0">
                <a:ea typeface="新細明體" panose="02020500000000000000" pitchFamily="18" charset="-120"/>
              </a:rPr>
              <a:t>is more </a:t>
            </a:r>
            <a:r>
              <a:rPr lang="en-US" altLang="zh-TW" b="0">
                <a:solidFill>
                  <a:schemeClr val="tx2"/>
                </a:solidFill>
                <a:ea typeface="新細明體" panose="02020500000000000000" pitchFamily="18" charset="-120"/>
              </a:rPr>
              <a:t>competitive</a:t>
            </a:r>
          </a:p>
          <a:p>
            <a:pPr lvl="1"/>
            <a:r>
              <a:rPr lang="en-US" altLang="zh-TW" b="0">
                <a:ea typeface="新細明體" panose="02020500000000000000" pitchFamily="18" charset="-120"/>
              </a:rPr>
              <a:t>has more </a:t>
            </a:r>
            <a:r>
              <a:rPr lang="en-US" altLang="zh-TW" b="0">
                <a:solidFill>
                  <a:schemeClr val="tx2"/>
                </a:solidFill>
                <a:ea typeface="新細明體" panose="02020500000000000000" pitchFamily="18" charset="-120"/>
              </a:rPr>
              <a:t>users</a:t>
            </a:r>
          </a:p>
          <a:p>
            <a:r>
              <a:rPr lang="en-US" altLang="zh-TW" sz="2800" b="0">
                <a:solidFill>
                  <a:srgbClr val="FFFF00"/>
                </a:solidFill>
                <a:ea typeface="新細明體" panose="02020500000000000000" pitchFamily="18" charset="-120"/>
              </a:rPr>
              <a:t>Embedded Control</a:t>
            </a:r>
            <a:r>
              <a:rPr lang="en-US" altLang="zh-TW" sz="2800" b="0">
                <a:ea typeface="新細明體" panose="02020500000000000000" pitchFamily="18" charset="-120"/>
              </a:rPr>
              <a:t> Applications</a:t>
            </a:r>
          </a:p>
          <a:p>
            <a:pPr lvl="1"/>
            <a:r>
              <a:rPr lang="en-US" altLang="zh-TW" sz="1800" b="0">
                <a:ea typeface="新細明體" panose="02020500000000000000" pitchFamily="18" charset="-120"/>
              </a:rPr>
              <a:t>airplanes, air traffic control</a:t>
            </a:r>
          </a:p>
          <a:p>
            <a:pPr lvl="1"/>
            <a:r>
              <a:rPr lang="en-US" altLang="zh-TW" sz="1800" b="0">
                <a:ea typeface="新細明體" panose="02020500000000000000" pitchFamily="18" charset="-120"/>
              </a:rPr>
              <a:t>spaceships</a:t>
            </a:r>
          </a:p>
          <a:p>
            <a:pPr lvl="1"/>
            <a:r>
              <a:rPr lang="en-US" altLang="zh-TW" sz="1800" b="0">
                <a:ea typeface="新細明體" panose="02020500000000000000" pitchFamily="18" charset="-120"/>
              </a:rPr>
              <a:t>watches</a:t>
            </a:r>
          </a:p>
          <a:p>
            <a:pPr lvl="1"/>
            <a:r>
              <a:rPr lang="en-US" altLang="zh-TW" sz="1800" b="0">
                <a:ea typeface="新細明體" panose="02020500000000000000" pitchFamily="18" charset="-120"/>
              </a:rPr>
              <a:t>ovens</a:t>
            </a:r>
          </a:p>
          <a:p>
            <a:pPr lvl="1">
              <a:lnSpc>
                <a:spcPct val="80000"/>
              </a:lnSpc>
            </a:pPr>
            <a:r>
              <a:rPr lang="en-US" altLang="zh-TW" sz="1800" b="0">
                <a:ea typeface="新細明體" panose="02020500000000000000" pitchFamily="18" charset="-120"/>
              </a:rPr>
              <a:t>remote controllers</a:t>
            </a:r>
            <a:endParaRPr lang="en-US" altLang="zh-TW" sz="2400" b="0">
              <a:ea typeface="新細明體" panose="02020500000000000000" pitchFamily="18" charset="-120"/>
            </a:endParaRPr>
          </a:p>
          <a:p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Agile</a:t>
            </a:r>
            <a:r>
              <a:rPr lang="en-US" altLang="zh-TW" sz="2800" b="0">
                <a:ea typeface="新細明體" panose="02020500000000000000" pitchFamily="18" charset="-120"/>
              </a:rPr>
              <a:t> processes put increased pressure on testers</a:t>
            </a:r>
          </a:p>
          <a:p>
            <a:pPr lvl="1"/>
            <a:r>
              <a:rPr lang="en-US" altLang="zh-TW" b="0">
                <a:solidFill>
                  <a:schemeClr val="tx2"/>
                </a:solidFill>
                <a:ea typeface="新細明體" panose="02020500000000000000" pitchFamily="18" charset="-120"/>
              </a:rPr>
              <a:t>Programmers</a:t>
            </a:r>
            <a:r>
              <a:rPr lang="en-US" altLang="zh-TW" b="0">
                <a:ea typeface="新細明體" panose="02020500000000000000" pitchFamily="18" charset="-120"/>
              </a:rPr>
              <a:t> must </a:t>
            </a:r>
            <a:r>
              <a:rPr lang="en-US" altLang="zh-TW" b="0">
                <a:solidFill>
                  <a:schemeClr val="tx2"/>
                </a:solidFill>
                <a:ea typeface="新細明體" panose="02020500000000000000" pitchFamily="18" charset="-120"/>
              </a:rPr>
              <a:t>unit</a:t>
            </a:r>
            <a:r>
              <a:rPr lang="en-US" altLang="zh-TW" b="0">
                <a:ea typeface="新細明體" panose="02020500000000000000" pitchFamily="18" charset="-120"/>
              </a:rPr>
              <a:t> test – with no training, education or tools !</a:t>
            </a:r>
          </a:p>
          <a:p>
            <a:pPr lvl="1"/>
            <a:r>
              <a:rPr lang="en-US" altLang="zh-TW" b="0">
                <a:ea typeface="新細明體" panose="02020500000000000000" pitchFamily="18" charset="-120"/>
              </a:rPr>
              <a:t>Tests are key to </a:t>
            </a:r>
            <a:r>
              <a:rPr lang="en-US" altLang="zh-TW" b="0">
                <a:solidFill>
                  <a:schemeClr val="tx2"/>
                </a:solidFill>
                <a:ea typeface="新細明體" panose="02020500000000000000" pitchFamily="18" charset="-120"/>
              </a:rPr>
              <a:t>functional requirements</a:t>
            </a:r>
            <a:r>
              <a:rPr lang="en-US" altLang="zh-TW" b="0">
                <a:ea typeface="新細明體" panose="02020500000000000000" pitchFamily="18" charset="-120"/>
              </a:rPr>
              <a:t> – but who builds those tests ?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15CC08F1-8DE0-43C6-9BD4-815D72CF121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7173" name="Footer Placeholder 4">
            <a:extLst>
              <a:ext uri="{FF2B5EF4-FFF2-40B4-BE49-F238E27FC236}">
                <a16:creationId xmlns:a16="http://schemas.microsoft.com/office/drawing/2014/main" id="{72B42C48-A5FF-48BD-9388-8D8A5676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F50195D8-701A-41C3-9DD5-0F74FA7B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2CDA44D-0DFC-4EFB-836E-01924B32764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zh-TW" sz="900" b="0"/>
          </a:p>
        </p:txBody>
      </p:sp>
      <p:sp>
        <p:nvSpPr>
          <p:cNvPr id="7175" name="Text Box 4">
            <a:extLst>
              <a:ext uri="{FF2B5EF4-FFF2-40B4-BE49-F238E27FC236}">
                <a16:creationId xmlns:a16="http://schemas.microsoft.com/office/drawing/2014/main" id="{643B0552-BADA-4C1D-BC94-1BD0E956B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75" y="3757613"/>
            <a:ext cx="3402013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lnSpc>
                <a:spcPct val="80000"/>
              </a:lnSpc>
            </a:pPr>
            <a:r>
              <a:rPr lang="en-US" altLang="zh-TW" sz="1800" b="0">
                <a:solidFill>
                  <a:srgbClr val="F8F8F8"/>
                </a:solidFill>
                <a:ea typeface="新細明體" panose="02020500000000000000" pitchFamily="18" charset="-120"/>
                <a:cs typeface="Arial" panose="020B0604020202020204" pitchFamily="34" charset="0"/>
              </a:rPr>
              <a:t> PDAs</a:t>
            </a:r>
          </a:p>
          <a:p>
            <a:pPr lvl="1">
              <a:lnSpc>
                <a:spcPct val="80000"/>
              </a:lnSpc>
            </a:pPr>
            <a:r>
              <a:rPr lang="en-US" altLang="zh-TW" sz="1800" b="0">
                <a:solidFill>
                  <a:srgbClr val="F8F8F8"/>
                </a:solidFill>
                <a:ea typeface="新細明體" panose="02020500000000000000" pitchFamily="18" charset="-120"/>
                <a:cs typeface="Arial" panose="020B0604020202020204" pitchFamily="34" charset="0"/>
              </a:rPr>
              <a:t> memory seats </a:t>
            </a:r>
          </a:p>
          <a:p>
            <a:pPr lvl="1">
              <a:lnSpc>
                <a:spcPct val="80000"/>
              </a:lnSpc>
            </a:pPr>
            <a:r>
              <a:rPr lang="en-US" altLang="zh-TW" sz="1800" b="0">
                <a:solidFill>
                  <a:srgbClr val="F8F8F8"/>
                </a:solidFill>
                <a:ea typeface="新細明體" panose="02020500000000000000" pitchFamily="18" charset="-120"/>
                <a:cs typeface="Arial" panose="020B0604020202020204" pitchFamily="34" charset="0"/>
              </a:rPr>
              <a:t> DVD players</a:t>
            </a:r>
          </a:p>
          <a:p>
            <a:pPr lvl="1">
              <a:lnSpc>
                <a:spcPct val="80000"/>
              </a:lnSpc>
            </a:pPr>
            <a:r>
              <a:rPr lang="en-US" altLang="zh-TW" sz="1800" b="0">
                <a:solidFill>
                  <a:srgbClr val="F8F8F8"/>
                </a:solidFill>
                <a:ea typeface="新細明體" panose="02020500000000000000" pitchFamily="18" charset="-120"/>
                <a:cs typeface="Arial" panose="020B0604020202020204" pitchFamily="34" charset="0"/>
              </a:rPr>
              <a:t> garage door openers</a:t>
            </a:r>
          </a:p>
          <a:p>
            <a:pPr lvl="1">
              <a:lnSpc>
                <a:spcPct val="80000"/>
              </a:lnSpc>
            </a:pPr>
            <a:r>
              <a:rPr lang="en-US" altLang="zh-TW" sz="1800" b="0">
                <a:solidFill>
                  <a:srgbClr val="F8F8F8"/>
                </a:solidFill>
                <a:ea typeface="新細明體" panose="02020500000000000000" pitchFamily="18" charset="-120"/>
                <a:cs typeface="Arial" panose="020B0604020202020204" pitchFamily="34" charset="0"/>
              </a:rPr>
              <a:t> cell phones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948060E0-DAB8-4BD8-9D70-4A47E520C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804988"/>
            <a:ext cx="3863975" cy="1938337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69000">
                <a:schemeClr val="bg1">
                  <a:lumMod val="60000"/>
                  <a:lumOff val="40000"/>
                </a:schemeClr>
              </a:gs>
              <a:gs pos="88000">
                <a:schemeClr val="bg1">
                  <a:lumMod val="75000"/>
                </a:schemeClr>
              </a:gs>
            </a:gsLst>
            <a:lin ang="5400000" scaled="0"/>
          </a:gra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10000"/>
              </a:spcBef>
              <a:defRPr/>
            </a:pPr>
            <a:r>
              <a:rPr lang="en-US" sz="2400" dirty="0">
                <a:solidFill>
                  <a:schemeClr val="tx2"/>
                </a:solidFill>
                <a:latin typeface="Comic Sans MS" pitchFamily="66" charset="0"/>
              </a:rPr>
              <a:t>Industry is going through a revolution in what testing means to the success of software products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69E1A13-BD98-4410-8F7D-EFF7BE0D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9219" name="Date Placeholder 2">
            <a:extLst>
              <a:ext uri="{FF2B5EF4-FFF2-40B4-BE49-F238E27FC236}">
                <a16:creationId xmlns:a16="http://schemas.microsoft.com/office/drawing/2014/main" id="{60506567-524F-47E4-B248-2765E461D5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Introduction to Software Testing  (Ch 1)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9D647B60-CFEC-4098-A629-A8749F9A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9C03B4C1-E6F1-4A7B-B435-0567F44B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697011FE-D3A0-4A97-A61D-FAFD45DE8A10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zh-TW" sz="900" b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3DEE8A-BF32-43F8-80B2-77CF85F0916E}"/>
              </a:ext>
            </a:extLst>
          </p:cNvPr>
          <p:cNvSpPr txBox="1">
            <a:spLocks/>
          </p:cNvSpPr>
          <p:nvPr/>
        </p:nvSpPr>
        <p:spPr>
          <a:xfrm>
            <a:off x="914400" y="830263"/>
            <a:ext cx="7304088" cy="562610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8575">
            <a:solidFill>
              <a:srgbClr val="000000"/>
            </a:solidFill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Spectacular Software Failures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Why Test?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What Do We Do When We Test ?</a:t>
            </a:r>
          </a:p>
          <a:p>
            <a:pPr marL="971550" lvl="1" indent="-5143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Test Activities and Model-Driven Testing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Software Testing Terminology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Changing Notions of Testing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Test Maturity Levels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A70D93-0D73-4A76-B955-509C3FD31A1E}"/>
              </a:ext>
            </a:extLst>
          </p:cNvPr>
          <p:cNvSpPr/>
          <p:nvPr/>
        </p:nvSpPr>
        <p:spPr>
          <a:xfrm>
            <a:off x="958850" y="877888"/>
            <a:ext cx="5032375" cy="715962"/>
          </a:xfrm>
          <a:prstGeom prst="rect">
            <a:avLst/>
          </a:prstGeom>
          <a:solidFill>
            <a:srgbClr val="FFFF00">
              <a:alpha val="4902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zh-TW">
              <a:solidFill>
                <a:srgbClr val="FFFFFF"/>
              </a:solidFill>
              <a:ea typeface="新細明體" pitchFamily="18" charset="-12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1B7C96B6-D16F-42B8-B923-48170D47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The First Bugs</a:t>
            </a:r>
          </a:p>
        </p:txBody>
      </p:sp>
      <p:sp>
        <p:nvSpPr>
          <p:cNvPr id="11267" name="Date Placeholder 3">
            <a:extLst>
              <a:ext uri="{FF2B5EF4-FFF2-40B4-BE49-F238E27FC236}">
                <a16:creationId xmlns:a16="http://schemas.microsoft.com/office/drawing/2014/main" id="{59D4A296-3BB1-4E4F-B0F0-63B66256A6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11268" name="Footer Placeholder 4">
            <a:extLst>
              <a:ext uri="{FF2B5EF4-FFF2-40B4-BE49-F238E27FC236}">
                <a16:creationId xmlns:a16="http://schemas.microsoft.com/office/drawing/2014/main" id="{302F1788-D4BF-47DA-AF86-EFB93406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11269" name="Slide Number Placeholder 5">
            <a:extLst>
              <a:ext uri="{FF2B5EF4-FFF2-40B4-BE49-F238E27FC236}">
                <a16:creationId xmlns:a16="http://schemas.microsoft.com/office/drawing/2014/main" id="{815FED50-3A30-4696-8712-8EC6A786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D7CB99DD-6329-4E11-A05F-0527F7BCDF46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zh-TW" sz="900" b="0"/>
          </a:p>
        </p:txBody>
      </p:sp>
      <p:sp>
        <p:nvSpPr>
          <p:cNvPr id="11270" name="Text Box 7">
            <a:extLst>
              <a:ext uri="{FF2B5EF4-FFF2-40B4-BE49-F238E27FC236}">
                <a16:creationId xmlns:a16="http://schemas.microsoft.com/office/drawing/2014/main" id="{4DB4DEAB-E26F-47C8-A65D-0F9193F67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357563"/>
            <a:ext cx="3529013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“It has been just so in all of my inventions. The first step is an intuition, and comes with a burst, then difficulties arise—this thing gives out and </a:t>
            </a:r>
            <a:r>
              <a:rPr lang="en-US" altLang="zh-TW" sz="1800" i="1">
                <a:ea typeface="新細明體" panose="02020500000000000000" pitchFamily="18" charset="-120"/>
              </a:rPr>
              <a:t>[it is]</a:t>
            </a:r>
            <a:r>
              <a:rPr lang="en-US" altLang="zh-TW" sz="1800">
                <a:ea typeface="新細明體" panose="02020500000000000000" pitchFamily="18" charset="-120"/>
              </a:rPr>
              <a:t> then that 'Bugs'—as such little faults and difficulties are called—show themselves and months of intense watching, study and labor are requisite. . .” </a:t>
            </a:r>
            <a:r>
              <a:rPr lang="en-US" altLang="zh-TW" sz="1800" b="0">
                <a:ea typeface="新細明體" panose="02020500000000000000" pitchFamily="18" charset="-120"/>
              </a:rPr>
              <a:t>– Thomas Edison</a:t>
            </a:r>
          </a:p>
        </p:txBody>
      </p:sp>
      <p:pic>
        <p:nvPicPr>
          <p:cNvPr id="11271" name="Picture 8">
            <a:extLst>
              <a:ext uri="{FF2B5EF4-FFF2-40B4-BE49-F238E27FC236}">
                <a16:creationId xmlns:a16="http://schemas.microsoft.com/office/drawing/2014/main" id="{C88B514E-1B27-4F8B-99D4-174B99952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1012825"/>
            <a:ext cx="12890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9">
            <a:extLst>
              <a:ext uri="{FF2B5EF4-FFF2-40B4-BE49-F238E27FC236}">
                <a16:creationId xmlns:a16="http://schemas.microsoft.com/office/drawing/2014/main" id="{B9981C65-3B83-427B-A329-9EB8B135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052513"/>
            <a:ext cx="1558925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3" name="Text Box 10">
            <a:extLst>
              <a:ext uri="{FF2B5EF4-FFF2-40B4-BE49-F238E27FC236}">
                <a16:creationId xmlns:a16="http://schemas.microsoft.com/office/drawing/2014/main" id="{985D5576-B0BB-45FB-B764-EA3964989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3141663"/>
            <a:ext cx="36004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1800">
                <a:ea typeface="新細明體" panose="02020500000000000000" pitchFamily="18" charset="-120"/>
              </a:rPr>
              <a:t>“an analyzing process must equally have been performed in order to furnish the Analytical Engine with the necessary operative data; and that herein may also lie a possible source of error. Granted that the actual mechanism is unerring in its processes, the cards may give it wrong orders. ” </a:t>
            </a:r>
            <a:r>
              <a:rPr lang="en-US" altLang="zh-TW" sz="1800" b="0">
                <a:ea typeface="新細明體" panose="02020500000000000000" pitchFamily="18" charset="-120"/>
              </a:rPr>
              <a:t>– Ada, Countess Lovelace (notes on Babbage’s Analytical Engine)</a:t>
            </a:r>
          </a:p>
        </p:txBody>
      </p:sp>
      <p:pic>
        <p:nvPicPr>
          <p:cNvPr id="11274" name="Picture 5" descr="bug_anim_code">
            <a:extLst>
              <a:ext uri="{FF2B5EF4-FFF2-40B4-BE49-F238E27FC236}">
                <a16:creationId xmlns:a16="http://schemas.microsoft.com/office/drawing/2014/main" id="{7BC20C9C-78FA-4632-BC9C-90A1739EE2F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995363"/>
            <a:ext cx="1993900" cy="207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>
            <a:extLst>
              <a:ext uri="{FF2B5EF4-FFF2-40B4-BE49-F238E27FC236}">
                <a16:creationId xmlns:a16="http://schemas.microsoft.com/office/drawing/2014/main" id="{921326DC-B2AC-4A7A-BC2E-C6A16271D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The First Bugs</a:t>
            </a:r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13315" name="內容版面配置區 9">
            <a:extLst>
              <a:ext uri="{FF2B5EF4-FFF2-40B4-BE49-F238E27FC236}">
                <a16:creationId xmlns:a16="http://schemas.microsoft.com/office/drawing/2014/main" id="{B10A434C-841D-4B62-B254-4CE7B031A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36925" y="1012825"/>
            <a:ext cx="5553075" cy="5546725"/>
          </a:xfrm>
        </p:spPr>
      </p:pic>
      <p:sp>
        <p:nvSpPr>
          <p:cNvPr id="13316" name="日期版面配置區 3">
            <a:extLst>
              <a:ext uri="{FF2B5EF4-FFF2-40B4-BE49-F238E27FC236}">
                <a16:creationId xmlns:a16="http://schemas.microsoft.com/office/drawing/2014/main" id="{2FCCA8AE-F9DA-402D-90A3-35E60EA9E1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13317" name="頁尾版面配置區 4">
            <a:extLst>
              <a:ext uri="{FF2B5EF4-FFF2-40B4-BE49-F238E27FC236}">
                <a16:creationId xmlns:a16="http://schemas.microsoft.com/office/drawing/2014/main" id="{4076C83F-D404-4C63-8AD5-CC2A1779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13318" name="投影片編號版面配置區 5">
            <a:extLst>
              <a:ext uri="{FF2B5EF4-FFF2-40B4-BE49-F238E27FC236}">
                <a16:creationId xmlns:a16="http://schemas.microsoft.com/office/drawing/2014/main" id="{03CC7D9C-310F-484A-858D-BDE9CB36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3314E971-A8C4-467E-8C86-2EE80DB6AA87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zh-TW" sz="900" b="0"/>
          </a:p>
        </p:txBody>
      </p:sp>
      <p:pic>
        <p:nvPicPr>
          <p:cNvPr id="13319" name="Picture 11">
            <a:extLst>
              <a:ext uri="{FF2B5EF4-FFF2-40B4-BE49-F238E27FC236}">
                <a16:creationId xmlns:a16="http://schemas.microsoft.com/office/drawing/2014/main" id="{6D252F95-046C-4F3D-9C22-8542D04F8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022350"/>
            <a:ext cx="2465388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Text Box 12">
            <a:extLst>
              <a:ext uri="{FF2B5EF4-FFF2-40B4-BE49-F238E27FC236}">
                <a16:creationId xmlns:a16="http://schemas.microsoft.com/office/drawing/2014/main" id="{24B06B97-55AC-460A-9AE3-22B1C96C5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3078163"/>
            <a:ext cx="3286125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ea typeface="新細明體" panose="02020500000000000000" pitchFamily="18" charset="-120"/>
              </a:rPr>
              <a:t>Grace Hopper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1400" i="1">
                <a:ea typeface="新細明體" panose="02020500000000000000" pitchFamily="18" charset="-120"/>
              </a:rPr>
              <a:t>USS Navy Rear Admiral </a:t>
            </a:r>
            <a:r>
              <a:rPr lang="en-US" altLang="zh-TW" sz="1400" b="0">
                <a:latin typeface="ＤＦ中太楷書体"/>
                <a:ea typeface="ＤＦ中太楷書体"/>
                <a:cs typeface="ＤＦ中太楷書体"/>
              </a:rPr>
              <a:t>(</a:t>
            </a:r>
            <a:r>
              <a:rPr lang="zh-TW" altLang="en-US" sz="1400" b="0">
                <a:latin typeface="ＤＦ中太楷書体"/>
                <a:ea typeface="ＤＦ中太楷書体"/>
                <a:cs typeface="ＤＦ中太楷書体"/>
              </a:rPr>
              <a:t>二星少將）</a:t>
            </a:r>
            <a:endParaRPr lang="en-US" altLang="zh-TW" sz="1400" b="0">
              <a:latin typeface="ＤＦ中太楷書体"/>
              <a:ea typeface="ＤＦ中太楷書体"/>
              <a:cs typeface="ＤＦ中太楷書体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1600" b="0">
                <a:latin typeface="ＤＦ中太楷書体"/>
                <a:ea typeface="ＤＦ中太楷書体"/>
                <a:cs typeface="ＤＦ中太楷書体"/>
              </a:rPr>
              <a:t>The 1</a:t>
            </a:r>
            <a:r>
              <a:rPr lang="en-US" altLang="zh-TW" sz="1600" b="0" baseline="30000">
                <a:latin typeface="ＤＦ中太楷書体"/>
                <a:ea typeface="ＤＦ中太楷書体"/>
                <a:cs typeface="ＤＦ中太楷書体"/>
              </a:rPr>
              <a:t>st</a:t>
            </a:r>
            <a:r>
              <a:rPr lang="en-US" altLang="zh-TW" sz="1600" b="0">
                <a:latin typeface="ＤＦ中太楷書体"/>
                <a:ea typeface="ＤＦ中太楷書体"/>
                <a:cs typeface="ＤＦ中太楷書体"/>
              </a:rPr>
              <a:t> COBOL compiler</a:t>
            </a:r>
          </a:p>
        </p:txBody>
      </p:sp>
      <p:pic>
        <p:nvPicPr>
          <p:cNvPr id="13321" name="圖片 10">
            <a:extLst>
              <a:ext uri="{FF2B5EF4-FFF2-40B4-BE49-F238E27FC236}">
                <a16:creationId xmlns:a16="http://schemas.microsoft.com/office/drawing/2014/main" id="{493CEA08-7828-4DE3-9899-63B7CAB6D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3983038"/>
            <a:ext cx="1903412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圖片 1">
            <a:extLst>
              <a:ext uri="{FF2B5EF4-FFF2-40B4-BE49-F238E27FC236}">
                <a16:creationId xmlns:a16="http://schemas.microsoft.com/office/drawing/2014/main" id="{19BF9DCD-8BEE-46C0-B325-E0991137B5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4176713"/>
            <a:ext cx="10001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B36AF67-7B85-4AB0-BDE8-D1CB3ED5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Costly Software Failures</a:t>
            </a:r>
          </a:p>
        </p:txBody>
      </p:sp>
      <p:sp>
        <p:nvSpPr>
          <p:cNvPr id="14339" name="Date Placeholder 2">
            <a:extLst>
              <a:ext uri="{FF2B5EF4-FFF2-40B4-BE49-F238E27FC236}">
                <a16:creationId xmlns:a16="http://schemas.microsoft.com/office/drawing/2014/main" id="{AC935B11-8BB4-4A91-9C60-FD6BB5D874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Introduction to Software Testing  (Ch 1)</a:t>
            </a:r>
          </a:p>
        </p:txBody>
      </p:sp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284B57A2-1F9D-4A1F-8760-25A5E963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A49A9492-E05C-4022-B06D-D4A00066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D49CE0F-7CAE-4C21-A7E6-0E05048F4B40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zh-TW" sz="900" b="0"/>
          </a:p>
        </p:txBody>
      </p:sp>
      <p:sp>
        <p:nvSpPr>
          <p:cNvPr id="14342" name="Content Placeholder 2">
            <a:extLst>
              <a:ext uri="{FF2B5EF4-FFF2-40B4-BE49-F238E27FC236}">
                <a16:creationId xmlns:a16="http://schemas.microsoft.com/office/drawing/2014/main" id="{F9493FE1-0B15-4983-8C87-1AEFB4690DED}"/>
              </a:ext>
            </a:extLst>
          </p:cNvPr>
          <p:cNvSpPr txBox="1">
            <a:spLocks/>
          </p:cNvSpPr>
          <p:nvPr/>
        </p:nvSpPr>
        <p:spPr bwMode="auto">
          <a:xfrm>
            <a:off x="88900" y="862013"/>
            <a:ext cx="8966200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3000"/>
              </a:lnSpc>
            </a:pPr>
            <a:r>
              <a:rPr lang="en-US" altLang="zh-TW" sz="2800" b="0">
                <a:ea typeface="新細明體" panose="02020500000000000000" pitchFamily="18" charset="-120"/>
              </a:rPr>
              <a:t>NIST report, “The </a:t>
            </a:r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Economic Impacts</a:t>
            </a:r>
            <a:r>
              <a:rPr lang="en-US" altLang="zh-TW" sz="2800" b="0">
                <a:ea typeface="新細明體" panose="02020500000000000000" pitchFamily="18" charset="-120"/>
              </a:rPr>
              <a:t> of Inadequate Infrastructure for Software Testing” (2002)</a:t>
            </a:r>
          </a:p>
          <a:p>
            <a:pPr lvl="1">
              <a:lnSpc>
                <a:spcPct val="83000"/>
              </a:lnSpc>
            </a:pPr>
            <a:r>
              <a:rPr lang="en-US" altLang="zh-TW" sz="2400" b="0">
                <a:ea typeface="新細明體" panose="02020500000000000000" pitchFamily="18" charset="-120"/>
              </a:rPr>
              <a:t>Inadequate software testing costs the US alone between $22 and $59 billion annually</a:t>
            </a:r>
          </a:p>
          <a:p>
            <a:pPr lvl="1">
              <a:lnSpc>
                <a:spcPct val="83000"/>
              </a:lnSpc>
            </a:pPr>
            <a:r>
              <a:rPr lang="en-US" altLang="zh-TW" sz="2400" b="0">
                <a:ea typeface="新細明體" panose="02020500000000000000" pitchFamily="18" charset="-120"/>
              </a:rPr>
              <a:t>Better approaches could cut this amount in half</a:t>
            </a:r>
            <a:endParaRPr lang="en-US" altLang="zh-TW" sz="320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Huge losses </a:t>
            </a:r>
            <a:r>
              <a:rPr lang="en-US" altLang="zh-TW" sz="2800" b="0">
                <a:ea typeface="新細明體" panose="02020500000000000000" pitchFamily="18" charset="-120"/>
              </a:rPr>
              <a:t>due to web application failures</a:t>
            </a:r>
            <a:endParaRPr lang="en-US" altLang="zh-TW" sz="1400" b="0" baseline="80000">
              <a:ea typeface="新細明體" panose="02020500000000000000" pitchFamily="18" charset="-120"/>
            </a:endParaRPr>
          </a:p>
          <a:p>
            <a:pPr lvl="1"/>
            <a:r>
              <a:rPr lang="en-US" altLang="zh-TW" sz="2400" b="0">
                <a:solidFill>
                  <a:schemeClr val="tx2"/>
                </a:solidFill>
                <a:ea typeface="新細明體" panose="02020500000000000000" pitchFamily="18" charset="-120"/>
              </a:rPr>
              <a:t>Financial</a:t>
            </a:r>
            <a:r>
              <a:rPr lang="en-US" altLang="zh-TW" sz="2400" b="0">
                <a:ea typeface="新細明體" panose="02020500000000000000" pitchFamily="18" charset="-120"/>
              </a:rPr>
              <a:t> services : $6.5 million per hour (just in USA!)</a:t>
            </a:r>
          </a:p>
          <a:p>
            <a:pPr lvl="1"/>
            <a:r>
              <a:rPr lang="en-US" altLang="zh-TW" sz="2400" b="0">
                <a:solidFill>
                  <a:schemeClr val="tx2"/>
                </a:solidFill>
                <a:ea typeface="新細明體" panose="02020500000000000000" pitchFamily="18" charset="-120"/>
              </a:rPr>
              <a:t>Credit card sales</a:t>
            </a:r>
            <a:r>
              <a:rPr lang="en-US" altLang="zh-TW" sz="2400" b="0">
                <a:ea typeface="新細明體" panose="02020500000000000000" pitchFamily="18" charset="-120"/>
              </a:rPr>
              <a:t> applications : $2.4 million per hour (in USA)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In Dec 2006, </a:t>
            </a:r>
            <a:r>
              <a:rPr lang="en-US" altLang="zh-TW" sz="2800" b="0" i="1">
                <a:ea typeface="新細明體" panose="02020500000000000000" pitchFamily="18" charset="-120"/>
              </a:rPr>
              <a:t>amazon.com’s</a:t>
            </a:r>
            <a:r>
              <a:rPr lang="en-US" altLang="zh-TW" sz="2800" b="0">
                <a:ea typeface="新細明體" panose="02020500000000000000" pitchFamily="18" charset="-120"/>
              </a:rPr>
              <a:t> </a:t>
            </a:r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BOGO</a:t>
            </a:r>
            <a:r>
              <a:rPr lang="en-US" altLang="zh-TW" sz="2800" b="0">
                <a:ea typeface="新細明體" panose="02020500000000000000" pitchFamily="18" charset="-120"/>
              </a:rPr>
              <a:t> offer turned into a </a:t>
            </a:r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double discount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2007 : Symantec says that most </a:t>
            </a:r>
            <a:r>
              <a:rPr lang="en-US" altLang="zh-TW" sz="2800" b="0">
                <a:solidFill>
                  <a:srgbClr val="FFFF00"/>
                </a:solidFill>
                <a:ea typeface="新細明體" panose="02020500000000000000" pitchFamily="18" charset="-120"/>
              </a:rPr>
              <a:t>security vulnerabilities </a:t>
            </a:r>
            <a:r>
              <a:rPr lang="en-US" altLang="zh-TW" sz="2800" b="0">
                <a:ea typeface="新細明體" panose="02020500000000000000" pitchFamily="18" charset="-120"/>
              </a:rPr>
              <a:t>are due to faulty software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D0D9AB4-619B-48A6-ABB1-8F90A7C5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5934075"/>
            <a:ext cx="9061450" cy="523875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800" b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SimSun" pitchFamily="2" charset="-122"/>
              </a:rPr>
              <a:t>World-wide monetary loss due </a:t>
            </a:r>
            <a:r>
              <a:rPr lang="en-US" altLang="zh-CN" b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SimSun" pitchFamily="2" charset="-122"/>
              </a:rPr>
              <a:t>to</a:t>
            </a:r>
            <a:r>
              <a:rPr lang="en-US" altLang="zh-CN" sz="2800" b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SimSun" pitchFamily="2" charset="-122"/>
              </a:rPr>
              <a:t> poor software </a:t>
            </a:r>
            <a:r>
              <a:rPr lang="en-US" altLang="zh-CN" b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SimSun" pitchFamily="2" charset="-122"/>
              </a:rPr>
              <a:t>is </a:t>
            </a:r>
            <a:r>
              <a:rPr lang="en-US" altLang="zh-CN" sz="2800" b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Kristen ITC" pitchFamily="66" charset="0"/>
                <a:ea typeface="SimSun" pitchFamily="2" charset="-122"/>
              </a:rPr>
              <a:t>staggering</a:t>
            </a:r>
            <a:endParaRPr lang="en-US" altLang="zh-TW" sz="2800" b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Kristen ITC" pitchFamily="66" charset="0"/>
              <a:ea typeface="SimSun" pitchFamily="2" charset="-122"/>
            </a:endParaRPr>
          </a:p>
        </p:txBody>
      </p:sp>
      <p:sp>
        <p:nvSpPr>
          <p:cNvPr id="14344" name="文字方塊 7">
            <a:extLst>
              <a:ext uri="{FF2B5EF4-FFF2-40B4-BE49-F238E27FC236}">
                <a16:creationId xmlns:a16="http://schemas.microsoft.com/office/drawing/2014/main" id="{26B21941-B96C-41D9-AEC6-C98276F6F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400" y="539750"/>
            <a:ext cx="855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ea typeface="新細明體" panose="02020500000000000000" pitchFamily="18" charset="-120"/>
              </a:rPr>
              <a:t>CoPQ</a:t>
            </a:r>
            <a:endParaRPr lang="zh-TW" altLang="en-US" sz="2000">
              <a:solidFill>
                <a:srgbClr val="FAFD00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3">
            <a:extLst>
              <a:ext uri="{FF2B5EF4-FFF2-40B4-BE49-F238E27FC236}">
                <a16:creationId xmlns:a16="http://schemas.microsoft.com/office/drawing/2014/main" id="{CB92F8C7-CA3D-4655-93BB-340E98D3E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981075"/>
            <a:ext cx="23812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itle 1">
            <a:extLst>
              <a:ext uri="{FF2B5EF4-FFF2-40B4-BE49-F238E27FC236}">
                <a16:creationId xmlns:a16="http://schemas.microsoft.com/office/drawing/2014/main" id="{91DE02CC-A70D-401C-996E-8002D310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Spectacular Software Failures</a:t>
            </a:r>
          </a:p>
        </p:txBody>
      </p:sp>
      <p:sp>
        <p:nvSpPr>
          <p:cNvPr id="16388" name="Date Placeholder 2">
            <a:extLst>
              <a:ext uri="{FF2B5EF4-FFF2-40B4-BE49-F238E27FC236}">
                <a16:creationId xmlns:a16="http://schemas.microsoft.com/office/drawing/2014/main" id="{B6C68C0F-8428-4A86-B23B-B001ECBFC8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Introduction to Software Testing  (Ch 1)</a:t>
            </a:r>
          </a:p>
        </p:txBody>
      </p:sp>
      <p:sp>
        <p:nvSpPr>
          <p:cNvPr id="16389" name="Footer Placeholder 3">
            <a:extLst>
              <a:ext uri="{FF2B5EF4-FFF2-40B4-BE49-F238E27FC236}">
                <a16:creationId xmlns:a16="http://schemas.microsoft.com/office/drawing/2014/main" id="{CF2E4415-FF5D-4090-854C-179B0024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16390" name="Slide Number Placeholder 4">
            <a:extLst>
              <a:ext uri="{FF2B5EF4-FFF2-40B4-BE49-F238E27FC236}">
                <a16:creationId xmlns:a16="http://schemas.microsoft.com/office/drawing/2014/main" id="{ACBC89F2-E278-429F-A9BC-44BF8C25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93CCEFD7-C354-43EA-983E-12C110D6ED66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US" altLang="zh-TW" sz="900" b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40CD31-BBB8-4DB1-9250-05892AEE0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3084513"/>
            <a:ext cx="6453188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83000"/>
              </a:lnSpc>
              <a:spcBef>
                <a:spcPct val="30000"/>
              </a:spcBef>
              <a:buSzPct val="75000"/>
              <a:buFont typeface="Monotype Sorts" charset="2"/>
              <a:buChar char="n"/>
              <a:defRPr/>
            </a:pPr>
            <a:r>
              <a:rPr lang="en-US" sz="2400" b="0" kern="0" dirty="0">
                <a:solidFill>
                  <a:schemeClr val="tx2"/>
                </a:solidFill>
                <a:latin typeface="+mn-lt"/>
              </a:rPr>
              <a:t>Major failures</a:t>
            </a:r>
            <a:r>
              <a:rPr lang="en-US" sz="2400" b="0" kern="0" dirty="0">
                <a:solidFill>
                  <a:schemeClr val="tx1"/>
                </a:solidFill>
                <a:latin typeface="+mn-lt"/>
              </a:rPr>
              <a:t>:  </a:t>
            </a:r>
            <a:r>
              <a:rPr lang="en-US" sz="2400" b="0" kern="0" dirty="0" err="1">
                <a:solidFill>
                  <a:schemeClr val="tx1"/>
                </a:solidFill>
                <a:latin typeface="+mn-lt"/>
              </a:rPr>
              <a:t>Ariane</a:t>
            </a:r>
            <a:r>
              <a:rPr lang="en-US" sz="2400" b="0" kern="0" dirty="0">
                <a:solidFill>
                  <a:schemeClr val="tx1"/>
                </a:solidFill>
                <a:latin typeface="+mn-lt"/>
              </a:rPr>
              <a:t> 5 explosion, </a:t>
            </a:r>
          </a:p>
          <a:p>
            <a:pPr marL="285750" indent="-285750">
              <a:lnSpc>
                <a:spcPct val="83000"/>
              </a:lnSpc>
              <a:spcBef>
                <a:spcPct val="30000"/>
              </a:spcBef>
              <a:buSzPct val="75000"/>
              <a:buFont typeface="Monotype Sorts" charset="2"/>
              <a:buChar char="n"/>
              <a:defRPr/>
            </a:pPr>
            <a:r>
              <a:rPr lang="en-US" sz="2400" b="0" kern="0" dirty="0">
                <a:solidFill>
                  <a:schemeClr val="tx1"/>
                </a:solidFill>
                <a:latin typeface="+mn-lt"/>
              </a:rPr>
              <a:t>Intel’s Pentium FDIV bug</a:t>
            </a:r>
          </a:p>
        </p:txBody>
      </p:sp>
      <p:pic>
        <p:nvPicPr>
          <p:cNvPr id="9" name="Picture 23">
            <a:extLst>
              <a:ext uri="{FF2B5EF4-FFF2-40B4-BE49-F238E27FC236}">
                <a16:creationId xmlns:a16="http://schemas.microsoft.com/office/drawing/2014/main" id="{F9B64FED-973F-4EDD-A65D-898F7A9CF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487488"/>
            <a:ext cx="10668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4">
            <a:extLst>
              <a:ext uri="{FF2B5EF4-FFF2-40B4-BE49-F238E27FC236}">
                <a16:creationId xmlns:a16="http://schemas.microsoft.com/office/drawing/2014/main" id="{90D2CCE3-C84F-4232-95C2-DA145EFE1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7563" y="1279525"/>
            <a:ext cx="1681162" cy="101600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Mars Polar</a:t>
            </a:r>
            <a:br>
              <a:rPr lang="en-US" dirty="0"/>
            </a:br>
            <a:r>
              <a:rPr lang="en-US" dirty="0"/>
              <a:t>Lander crash</a:t>
            </a:r>
            <a:br>
              <a:rPr lang="en-US" dirty="0"/>
            </a:br>
            <a:r>
              <a:rPr lang="en-US" dirty="0"/>
              <a:t>site?</a:t>
            </a:r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1EF19F8F-44BF-40D7-A99F-120F54D13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575" y="909638"/>
            <a:ext cx="253682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Ariane 5:</a:t>
            </a:r>
            <a:b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exception-handling</a:t>
            </a:r>
            <a:b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bug :  forced self</a:t>
            </a:r>
            <a:b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destruct on maiden</a:t>
            </a:r>
            <a:b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flight (64-bit to 16-bit</a:t>
            </a:r>
            <a:b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conversion:  about</a:t>
            </a:r>
            <a:b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</a:br>
            <a:r>
              <a:rPr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370 million $ lost)</a:t>
            </a:r>
          </a:p>
        </p:txBody>
      </p:sp>
      <p:pic>
        <p:nvPicPr>
          <p:cNvPr id="13" name="Picture 27">
            <a:extLst>
              <a:ext uri="{FF2B5EF4-FFF2-40B4-BE49-F238E27FC236}">
                <a16:creationId xmlns:a16="http://schemas.microsoft.com/office/drawing/2014/main" id="{41C496A9-F2E0-4194-A6FD-30901CABC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3381375"/>
            <a:ext cx="792163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4">
            <a:extLst>
              <a:ext uri="{FF2B5EF4-FFF2-40B4-BE49-F238E27FC236}">
                <a16:creationId xmlns:a16="http://schemas.microsoft.com/office/drawing/2014/main" id="{238D1E0F-6E85-497C-A745-EF690AB48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5391150"/>
            <a:ext cx="6261100" cy="954088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rPr>
              <a:t>We need our software to be</a:t>
            </a:r>
            <a:r>
              <a:rPr lang="en-US" altLang="zh-CN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rPr>
              <a:t> 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Kristen ITC" pitchFamily="66" charset="0"/>
                <a:ea typeface="宋体" charset="-122"/>
              </a:rPr>
              <a:t>dependable</a:t>
            </a:r>
          </a:p>
          <a:p>
            <a:pPr algn="ctr">
              <a:defRPr/>
            </a:pPr>
            <a:r>
              <a:rPr lang="en-US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charset="-122"/>
              </a:rPr>
              <a:t>Testing is </a:t>
            </a:r>
            <a:r>
              <a:rPr lang="en-US" sz="2800" b="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charset="-122"/>
              </a:rPr>
              <a:t>one</a:t>
            </a:r>
            <a:r>
              <a:rPr lang="en-US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宋体" charset="-122"/>
              </a:rPr>
              <a:t> way to assess dependability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A7009B4-0096-4FEF-88ED-7283053AA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865188"/>
            <a:ext cx="6453188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83000"/>
              </a:lnSpc>
              <a:spcBef>
                <a:spcPct val="30000"/>
              </a:spcBef>
              <a:buSzPct val="75000"/>
              <a:buFont typeface="Monotype Sorts" charset="2"/>
              <a:buChar char="n"/>
              <a:defRPr/>
            </a:pPr>
            <a:r>
              <a:rPr lang="en-US" sz="2400" b="0" kern="0" dirty="0">
                <a:solidFill>
                  <a:schemeClr val="tx2"/>
                </a:solidFill>
                <a:latin typeface="+mn-lt"/>
              </a:rPr>
              <a:t>NASA’s Mars </a:t>
            </a:r>
            <a:r>
              <a:rPr lang="en-US" sz="2400" b="0" kern="0" dirty="0" err="1">
                <a:solidFill>
                  <a:schemeClr val="tx2"/>
                </a:solidFill>
                <a:latin typeface="+mn-lt"/>
              </a:rPr>
              <a:t>lander</a:t>
            </a:r>
            <a:r>
              <a:rPr lang="en-US" sz="2400" b="0" kern="0" dirty="0">
                <a:solidFill>
                  <a:schemeClr val="tx1"/>
                </a:solidFill>
                <a:latin typeface="+mn-lt"/>
              </a:rPr>
              <a:t>: September 1999, crashed due to a units integration fault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4A7276E-5242-4917-B3FC-EF1A3AE02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2500313"/>
            <a:ext cx="6453188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83000"/>
              </a:lnSpc>
              <a:spcBef>
                <a:spcPct val="30000"/>
              </a:spcBef>
              <a:buSzPct val="75000"/>
              <a:buFont typeface="Monotype Sorts" charset="2"/>
              <a:buChar char="n"/>
              <a:defRPr/>
            </a:pPr>
            <a:r>
              <a:rPr lang="en-US" sz="2400" b="0" kern="0" dirty="0">
                <a:solidFill>
                  <a:schemeClr val="tx2"/>
                </a:solidFill>
                <a:latin typeface="+mn-lt"/>
              </a:rPr>
              <a:t>Toyota brakes </a:t>
            </a:r>
            <a:r>
              <a:rPr lang="en-US" sz="2400" b="0" kern="0" dirty="0">
                <a:solidFill>
                  <a:schemeClr val="tx1"/>
                </a:solidFill>
                <a:latin typeface="+mn-lt"/>
              </a:rPr>
              <a:t>:  Dozens dead, thousands of crashes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0" grpId="0" animBg="1"/>
      <p:bldP spid="12" grpId="0"/>
      <p:bldP spid="14" grpId="0" animBg="1"/>
      <p:bldP spid="16" grpId="0" build="p"/>
      <p:bldP spid="1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92F9E6E-30FF-4195-9F91-9FB3E4C8C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lnSpc>
                <a:spcPct val="83000"/>
              </a:lnSpc>
              <a:spcBef>
                <a:spcPct val="30000"/>
              </a:spcBef>
            </a:pPr>
            <a:r>
              <a:rPr lang="en-US" altLang="zh-TW" b="0">
                <a:solidFill>
                  <a:schemeClr val="tx1"/>
                </a:solidFill>
                <a:ea typeface="新細明體" panose="02020500000000000000" pitchFamily="18" charset="-120"/>
              </a:rPr>
              <a:t>Poor testing of safety-critical software</a:t>
            </a:r>
          </a:p>
        </p:txBody>
      </p:sp>
      <p:sp>
        <p:nvSpPr>
          <p:cNvPr id="18435" name="投影片編號版面配置區 5">
            <a:extLst>
              <a:ext uri="{FF2B5EF4-FFF2-40B4-BE49-F238E27FC236}">
                <a16:creationId xmlns:a16="http://schemas.microsoft.com/office/drawing/2014/main" id="{2EFB32C4-771B-4037-A45B-85685459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E4F9BC6A-C58D-47EB-A049-EB4D502324D6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zh-TW" sz="900" b="0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F51CE8A-659F-494C-A51F-24B0E2F60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0363" y="1154113"/>
            <a:ext cx="8423275" cy="7651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z="2800">
                <a:latin typeface="Arial" panose="020B0604020202020204" pitchFamily="34" charset="0"/>
                <a:ea typeface="新細明體" panose="02020500000000000000" pitchFamily="18" charset="-120"/>
              </a:rPr>
              <a:t>Therac-25: medical linear accelerator by AECL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FE3390BD-013D-40FA-AE1C-3FD83A116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6848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zh-TW" altLang="zh-TW" sz="2000">
              <a:solidFill>
                <a:srgbClr val="FAFD00"/>
              </a:solidFill>
              <a:ea typeface="新細明體" panose="02020500000000000000" pitchFamily="18" charset="-120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8A3B54D6-CAD7-4F71-B3FB-2AE4F973B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5189538"/>
            <a:ext cx="7116762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  <a:cs typeface="Arial" pitchFamily="34" charset="0"/>
              </a:rPr>
              <a:t>6 accidents with 3 death and serious injuries from 6/1985 to 1/1987</a:t>
            </a:r>
          </a:p>
        </p:txBody>
      </p:sp>
      <p:pic>
        <p:nvPicPr>
          <p:cNvPr id="18439" name="圖片 15" descr="Radiation_burn.jpg">
            <a:extLst>
              <a:ext uri="{FF2B5EF4-FFF2-40B4-BE49-F238E27FC236}">
                <a16:creationId xmlns:a16="http://schemas.microsoft.com/office/drawing/2014/main" id="{E87BF821-C749-4947-9544-188CCA9A7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463" y="2416175"/>
            <a:ext cx="3633787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圖片 16" descr="21367-radiation_therapy.jpg">
            <a:extLst>
              <a:ext uri="{FF2B5EF4-FFF2-40B4-BE49-F238E27FC236}">
                <a16:creationId xmlns:a16="http://schemas.microsoft.com/office/drawing/2014/main" id="{61CD2483-A3EA-4165-A521-FE8B2EB0A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060575"/>
            <a:ext cx="403225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EBDD6EE-6D75-498B-A100-F9B24287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96838"/>
            <a:ext cx="7064375" cy="1500187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Software is a Skin that Surrounds Our Civilization</a:t>
            </a:r>
          </a:p>
        </p:txBody>
      </p:sp>
      <p:sp>
        <p:nvSpPr>
          <p:cNvPr id="20483" name="Date Placeholder 3">
            <a:extLst>
              <a:ext uri="{FF2B5EF4-FFF2-40B4-BE49-F238E27FC236}">
                <a16:creationId xmlns:a16="http://schemas.microsoft.com/office/drawing/2014/main" id="{0366ABFC-A7A0-4AFA-B3C2-7471C0A5F9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20484" name="Footer Placeholder 4">
            <a:extLst>
              <a:ext uri="{FF2B5EF4-FFF2-40B4-BE49-F238E27FC236}">
                <a16:creationId xmlns:a16="http://schemas.microsoft.com/office/drawing/2014/main" id="{C3E3F3BC-50A8-4466-8FCF-96633033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20485" name="Slide Number Placeholder 5">
            <a:extLst>
              <a:ext uri="{FF2B5EF4-FFF2-40B4-BE49-F238E27FC236}">
                <a16:creationId xmlns:a16="http://schemas.microsoft.com/office/drawing/2014/main" id="{9A52D63D-C48A-401D-AEE9-7AF2761E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669AACC4-DDD2-4148-975E-63399B77001D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zh-TW" sz="900" b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D560BE-AFC7-46A2-B1B3-2F64D5787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514600"/>
            <a:ext cx="12192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BF167CC3-2359-4AD6-8666-5275BCA20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413" y="3179763"/>
            <a:ext cx="161925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C982978B-2C51-41F0-ABCE-8C425CC36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755775"/>
            <a:ext cx="1428750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4" descr="C:\Documents and Settings\rpanesar\My Documents\My Pictures\Microsoft Clip Organizer\j0410044.jpg">
            <a:extLst>
              <a:ext uri="{FF2B5EF4-FFF2-40B4-BE49-F238E27FC236}">
                <a16:creationId xmlns:a16="http://schemas.microsoft.com/office/drawing/2014/main" id="{41A022ED-E6B3-41C3-855C-0CF41B699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076450"/>
            <a:ext cx="10001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5" descr="C:\Documents and Settings\rpanesar\My Documents\My Pictures\Microsoft Clip Organizer\j0433050.jpg">
            <a:extLst>
              <a:ext uri="{FF2B5EF4-FFF2-40B4-BE49-F238E27FC236}">
                <a16:creationId xmlns:a16="http://schemas.microsoft.com/office/drawing/2014/main" id="{3EEE7F1D-5F6C-4CB9-85BB-083DFDF54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3741738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>
            <a:extLst>
              <a:ext uri="{FF2B5EF4-FFF2-40B4-BE49-F238E27FC236}">
                <a16:creationId xmlns:a16="http://schemas.microsoft.com/office/drawing/2014/main" id="{951F3958-60E2-4017-90E7-2882566EA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388" y="1666875"/>
            <a:ext cx="8286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8">
            <a:extLst>
              <a:ext uri="{FF2B5EF4-FFF2-40B4-BE49-F238E27FC236}">
                <a16:creationId xmlns:a16="http://schemas.microsoft.com/office/drawing/2014/main" id="{26462A02-85A2-47B3-9A0C-79D908F3E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4675188"/>
            <a:ext cx="16430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0">
            <a:extLst>
              <a:ext uri="{FF2B5EF4-FFF2-40B4-BE49-F238E27FC236}">
                <a16:creationId xmlns:a16="http://schemas.microsoft.com/office/drawing/2014/main" id="{C99A9279-37D5-476C-BEF5-4262368DE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5132388"/>
            <a:ext cx="1657350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1">
            <a:extLst>
              <a:ext uri="{FF2B5EF4-FFF2-40B4-BE49-F238E27FC236}">
                <a16:creationId xmlns:a16="http://schemas.microsoft.com/office/drawing/2014/main" id="{4D3539C1-60F0-4C05-969E-D4A65F97B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3286125"/>
            <a:ext cx="914400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2">
            <a:extLst>
              <a:ext uri="{FF2B5EF4-FFF2-40B4-BE49-F238E27FC236}">
                <a16:creationId xmlns:a16="http://schemas.microsoft.com/office/drawing/2014/main" id="{220F28DB-9F9F-4775-89D3-B853B8C65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100" y="1598613"/>
            <a:ext cx="985838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5" descr="MCj04157480000[1]">
            <a:extLst>
              <a:ext uri="{FF2B5EF4-FFF2-40B4-BE49-F238E27FC236}">
                <a16:creationId xmlns:a16="http://schemas.microsoft.com/office/drawing/2014/main" id="{3305F5F5-B6C2-410A-8A58-B942DA684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8" y="1054100"/>
            <a:ext cx="16668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 descr="MCj02903870000[1]">
            <a:extLst>
              <a:ext uri="{FF2B5EF4-FFF2-40B4-BE49-F238E27FC236}">
                <a16:creationId xmlns:a16="http://schemas.microsoft.com/office/drawing/2014/main" id="{B921DAAE-B749-4359-8D14-AF9F1CA76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4527550"/>
            <a:ext cx="15811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 descr="j0215086">
            <a:extLst>
              <a:ext uri="{FF2B5EF4-FFF2-40B4-BE49-F238E27FC236}">
                <a16:creationId xmlns:a16="http://schemas.microsoft.com/office/drawing/2014/main" id="{9509AAD6-8249-40D5-948A-9B56C96C7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038600"/>
            <a:ext cx="1214438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8" descr="C:\Documents and Settings\rpanesar\Local Settings\Temporary Internet Files\Content.IE5\P2WWCY0O\MCj02811390000[1].wmf">
            <a:extLst>
              <a:ext uri="{FF2B5EF4-FFF2-40B4-BE49-F238E27FC236}">
                <a16:creationId xmlns:a16="http://schemas.microsoft.com/office/drawing/2014/main" id="{37DC6378-6935-4F80-9EC8-FCF5B1B67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38" y="2590800"/>
            <a:ext cx="2125662" cy="216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88712B1-322E-4C00-A03A-EB71D8B3390E}"/>
              </a:ext>
            </a:extLst>
          </p:cNvPr>
          <p:cNvSpPr txBox="1"/>
          <p:nvPr/>
        </p:nvSpPr>
        <p:spPr>
          <a:xfrm>
            <a:off x="6126163" y="6153150"/>
            <a:ext cx="2628900" cy="254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1050" dirty="0">
                <a:latin typeface="Comic Sans MS" pitchFamily="66" charset="0"/>
              </a:rPr>
              <a:t>Quote due to Dr. Mark Harman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9AD9C7B-A4BE-48C8-A323-3802B8EF3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Embedded and real-time systems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>
                <a:ea typeface="新細明體" panose="02020500000000000000" pitchFamily="18" charset="-120"/>
              </a:rPr>
              <a:t>- the modern ones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8799802-8FDA-4AB7-B4A1-1524D66E7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604838"/>
          </a:xfrm>
        </p:spPr>
        <p:txBody>
          <a:bodyPr/>
          <a:lstStyle/>
          <a:p>
            <a:pPr>
              <a:buFontTx/>
              <a:buNone/>
            </a:pPr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22532" name="投影片編號版面配置區 5">
            <a:extLst>
              <a:ext uri="{FF2B5EF4-FFF2-40B4-BE49-F238E27FC236}">
                <a16:creationId xmlns:a16="http://schemas.microsoft.com/office/drawing/2014/main" id="{B312268E-7CB6-471C-A73A-01E63957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EA9C5D6A-BE3C-444D-B173-43E7ED9A54A0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10</a:t>
            </a:fld>
            <a:endParaRPr lang="en-US" altLang="zh-TW" sz="900" b="0"/>
          </a:p>
        </p:txBody>
      </p:sp>
      <p:pic>
        <p:nvPicPr>
          <p:cNvPr id="22533" name="Picture 2">
            <a:extLst>
              <a:ext uri="{FF2B5EF4-FFF2-40B4-BE49-F238E27FC236}">
                <a16:creationId xmlns:a16="http://schemas.microsoft.com/office/drawing/2014/main" id="{B58B5D0F-3BAA-4B70-9317-FB6DAF757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341438"/>
            <a:ext cx="6769100" cy="518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Text Box 3">
            <a:extLst>
              <a:ext uri="{FF2B5EF4-FFF2-40B4-BE49-F238E27FC236}">
                <a16:creationId xmlns:a16="http://schemas.microsoft.com/office/drawing/2014/main" id="{48139803-A3A4-46BF-82A2-BC56DD8A4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805488"/>
            <a:ext cx="6858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ea typeface="新細明體" panose="02020500000000000000" pitchFamily="18" charset="-120"/>
              </a:rPr>
              <a:t>2,500,000+1,500,000 lines of codes (most in Ada)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3944A9A-7D37-49B7-BDB8-A9B5F3B90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0"/>
            <a:ext cx="9055100" cy="1230313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Bypass Testing Results</a:t>
            </a:r>
            <a:br>
              <a:rPr lang="en-US" altLang="zh-TW">
                <a:ea typeface="新細明體" panose="02020500000000000000" pitchFamily="18" charset="-120"/>
              </a:rPr>
            </a:br>
            <a:r>
              <a:rPr lang="en-US" altLang="zh-TW" sz="2800" i="1">
                <a:ea typeface="新細明體" panose="02020500000000000000" pitchFamily="18" charset="-120"/>
              </a:rPr>
              <a:t>for web input validations</a:t>
            </a:r>
          </a:p>
        </p:txBody>
      </p:sp>
      <p:sp>
        <p:nvSpPr>
          <p:cNvPr id="24579" name="Date Placeholder 3">
            <a:extLst>
              <a:ext uri="{FF2B5EF4-FFF2-40B4-BE49-F238E27FC236}">
                <a16:creationId xmlns:a16="http://schemas.microsoft.com/office/drawing/2014/main" id="{4243F3A5-2933-4F67-B100-5AA09A1ECF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Introduction to Software Testing  (Ch 1)</a:t>
            </a:r>
          </a:p>
        </p:txBody>
      </p:sp>
      <p:sp>
        <p:nvSpPr>
          <p:cNvPr id="24580" name="Footer Placeholder 4">
            <a:extLst>
              <a:ext uri="{FF2B5EF4-FFF2-40B4-BE49-F238E27FC236}">
                <a16:creationId xmlns:a16="http://schemas.microsoft.com/office/drawing/2014/main" id="{73C86723-382B-4C86-AFCE-1913D3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© Ammann &amp; Offutt</a:t>
            </a:r>
          </a:p>
        </p:txBody>
      </p:sp>
      <p:sp>
        <p:nvSpPr>
          <p:cNvPr id="24581" name="Slide Number Placeholder 5">
            <a:extLst>
              <a:ext uri="{FF2B5EF4-FFF2-40B4-BE49-F238E27FC236}">
                <a16:creationId xmlns:a16="http://schemas.microsoft.com/office/drawing/2014/main" id="{AABD7FEC-620A-45D2-8A51-9545290B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CC143F00-0F28-4834-9F51-592AF8096363}" type="slidenum">
              <a:rPr lang="zh-CN" altLang="en-US" sz="900" b="0" smtClean="0">
                <a:ea typeface="SimSun" panose="02010600030101010101" pitchFamily="2" charset="-122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US" altLang="zh-CN" sz="900" b="0">
              <a:ea typeface="SimSun" panose="02010600030101010101" pitchFamily="2" charset="-122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E8EB42D4-E0FA-4C1B-9F1B-8BFBFB8B0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2188"/>
            <a:ext cx="9144000" cy="502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ea typeface="新細明體" panose="02020500000000000000" pitchFamily="18" charset="-120"/>
              </a:rPr>
              <a:t>v</a:t>
            </a:r>
          </a:p>
        </p:txBody>
      </p:sp>
      <p:pic>
        <p:nvPicPr>
          <p:cNvPr id="24583" name="Picture 5">
            <a:extLst>
              <a:ext uri="{FF2B5EF4-FFF2-40B4-BE49-F238E27FC236}">
                <a16:creationId xmlns:a16="http://schemas.microsoft.com/office/drawing/2014/main" id="{EC88349C-69AF-452E-93DE-D014BE2DE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79513"/>
            <a:ext cx="58674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17" descr="inv-ValidResponces_FORpresent">
            <a:extLst>
              <a:ext uri="{FF2B5EF4-FFF2-40B4-BE49-F238E27FC236}">
                <a16:creationId xmlns:a16="http://schemas.microsoft.com/office/drawing/2014/main" id="{BCC66A54-5D70-4157-8A50-D33D7B430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068388"/>
            <a:ext cx="3160713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ABC5C8-C8C7-4DF2-B74E-76BD39E10DB2}"/>
              </a:ext>
            </a:extLst>
          </p:cNvPr>
          <p:cNvSpPr txBox="1"/>
          <p:nvPr/>
        </p:nvSpPr>
        <p:spPr>
          <a:xfrm>
            <a:off x="592138" y="6186488"/>
            <a:ext cx="7931150" cy="307975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0" dirty="0"/>
              <a:t>— </a:t>
            </a:r>
            <a:r>
              <a:rPr lang="en-US" sz="1400" b="0" dirty="0" err="1"/>
              <a:t>Vasileios</a:t>
            </a:r>
            <a:r>
              <a:rPr lang="en-US" sz="1400" b="0" dirty="0"/>
              <a:t> Papadimitriou. Masters thesis, </a:t>
            </a:r>
            <a:r>
              <a:rPr lang="en-US" sz="1400" b="0" i="1" dirty="0"/>
              <a:t>Automating Bypass Testing for Web Applications</a:t>
            </a:r>
            <a:r>
              <a:rPr lang="en-US" sz="1400" b="0" dirty="0"/>
              <a:t>, GMU 2006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715513AB-84AE-4D69-8D13-C812C0A1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5" y="96838"/>
            <a:ext cx="6931025" cy="1447800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Airbus 319 Safety Critical Software Control</a:t>
            </a:r>
          </a:p>
        </p:txBody>
      </p:sp>
      <p:sp>
        <p:nvSpPr>
          <p:cNvPr id="26627" name="Date Placeholder 3">
            <a:extLst>
              <a:ext uri="{FF2B5EF4-FFF2-40B4-BE49-F238E27FC236}">
                <a16:creationId xmlns:a16="http://schemas.microsoft.com/office/drawing/2014/main" id="{2BFA1AD5-1FF2-4895-9625-CEEF372FEC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26628" name="Footer Placeholder 4">
            <a:extLst>
              <a:ext uri="{FF2B5EF4-FFF2-40B4-BE49-F238E27FC236}">
                <a16:creationId xmlns:a16="http://schemas.microsoft.com/office/drawing/2014/main" id="{C26233A8-DFC2-42A1-AED3-512CE1C2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26629" name="Slide Number Placeholder 5">
            <a:extLst>
              <a:ext uri="{FF2B5EF4-FFF2-40B4-BE49-F238E27FC236}">
                <a16:creationId xmlns:a16="http://schemas.microsoft.com/office/drawing/2014/main" id="{4FEBB39F-E979-4C4A-BD2F-302F8776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4B978F91-34A1-4A58-9D76-35D83E66EEEE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12</a:t>
            </a:fld>
            <a:endParaRPr lang="en-US" altLang="zh-TW" sz="900" b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6D0D5A5-5621-40A4-BB21-34C4CE8F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285875"/>
            <a:ext cx="6753225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1DFBAF-350C-4B6A-949B-460310A0F79A}"/>
              </a:ext>
            </a:extLst>
          </p:cNvPr>
          <p:cNvSpPr/>
          <p:nvPr/>
        </p:nvSpPr>
        <p:spPr bwMode="auto">
          <a:xfrm>
            <a:off x="211138" y="4852988"/>
            <a:ext cx="2063750" cy="428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Loss of autopilot</a:t>
            </a:r>
            <a:endParaRPr lang="en-GB" altLang="zh-TW" sz="180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9802C4-6C9F-4F8E-9395-F9DAE081C2FC}"/>
              </a:ext>
            </a:extLst>
          </p:cNvPr>
          <p:cNvSpPr/>
          <p:nvPr/>
        </p:nvSpPr>
        <p:spPr bwMode="auto">
          <a:xfrm>
            <a:off x="211138" y="5853113"/>
            <a:ext cx="5591175" cy="6429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GB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Loss of both the commander’s and the co‑pilot’s primary flight and navigation displays 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17DEF2-CA41-4351-B729-5B33D91E77B3}"/>
              </a:ext>
            </a:extLst>
          </p:cNvPr>
          <p:cNvSpPr/>
          <p:nvPr/>
        </p:nvSpPr>
        <p:spPr bwMode="auto">
          <a:xfrm>
            <a:off x="211138" y="5353050"/>
            <a:ext cx="5222875" cy="428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GB" sz="1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Loss of most flight deck lighting and intercom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CB1ECEAC-2E05-4429-8E04-D31F0B65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Northeast Blackout of 2003</a:t>
            </a:r>
          </a:p>
        </p:txBody>
      </p:sp>
      <p:sp>
        <p:nvSpPr>
          <p:cNvPr id="28675" name="Date Placeholder 3">
            <a:extLst>
              <a:ext uri="{FF2B5EF4-FFF2-40B4-BE49-F238E27FC236}">
                <a16:creationId xmlns:a16="http://schemas.microsoft.com/office/drawing/2014/main" id="{BA796512-0656-42F7-9050-4F168633F79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28676" name="Footer Placeholder 4">
            <a:extLst>
              <a:ext uri="{FF2B5EF4-FFF2-40B4-BE49-F238E27FC236}">
                <a16:creationId xmlns:a16="http://schemas.microsoft.com/office/drawing/2014/main" id="{97E76FAE-3E26-4BA5-B5B6-10A95868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28677" name="Slide Number Placeholder 5">
            <a:extLst>
              <a:ext uri="{FF2B5EF4-FFF2-40B4-BE49-F238E27FC236}">
                <a16:creationId xmlns:a16="http://schemas.microsoft.com/office/drawing/2014/main" id="{5EF3A0DC-0A96-4253-A8F1-841F10A8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5A41B75-D853-49E6-9561-BAFBE882CBEA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13</a:t>
            </a:fld>
            <a:endParaRPr lang="en-US" altLang="zh-TW" sz="900" b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9BA51-4664-4CED-B066-2D6783F75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785813"/>
            <a:ext cx="6096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F57283-0EC5-4D30-A140-203F9710BAEB}"/>
              </a:ext>
            </a:extLst>
          </p:cNvPr>
          <p:cNvSpPr/>
          <p:nvPr/>
        </p:nvSpPr>
        <p:spPr bwMode="auto">
          <a:xfrm>
            <a:off x="285750" y="2543175"/>
            <a:ext cx="2357438" cy="9144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Affected 10 million people in Ontario, Canada</a:t>
            </a:r>
            <a:endParaRPr lang="en-GB" altLang="zh-TW" sz="180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DA9DBF-AFAC-4A9D-B316-3F2AE2DDFD72}"/>
              </a:ext>
            </a:extLst>
          </p:cNvPr>
          <p:cNvSpPr/>
          <p:nvPr/>
        </p:nvSpPr>
        <p:spPr bwMode="auto">
          <a:xfrm>
            <a:off x="285750" y="3543300"/>
            <a:ext cx="2357438" cy="9144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Affected 40 million people in 8 US states</a:t>
            </a:r>
            <a:endParaRPr lang="en-GB" altLang="zh-TW" sz="180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C65270-2A67-44AD-8946-4BE01CA11BEE}"/>
              </a:ext>
            </a:extLst>
          </p:cNvPr>
          <p:cNvSpPr/>
          <p:nvPr/>
        </p:nvSpPr>
        <p:spPr bwMode="auto">
          <a:xfrm>
            <a:off x="285750" y="4543425"/>
            <a:ext cx="2357438" cy="9144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Financial losses of</a:t>
            </a:r>
          </a:p>
          <a:p>
            <a:pPr algn="ctr">
              <a:spcBef>
                <a:spcPct val="20000"/>
              </a:spcBef>
              <a:defRPr/>
            </a:pP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$6 Billion USD</a:t>
            </a:r>
            <a:endParaRPr lang="en-GB" altLang="zh-TW" sz="180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29C5F3-3C24-41E7-A4F0-A42738C9D064}"/>
              </a:ext>
            </a:extLst>
          </p:cNvPr>
          <p:cNvSpPr/>
          <p:nvPr/>
        </p:nvSpPr>
        <p:spPr bwMode="auto">
          <a:xfrm>
            <a:off x="285750" y="1246188"/>
            <a:ext cx="2357438" cy="12112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508 generating units and 256 power plants shut down</a:t>
            </a:r>
            <a:endParaRPr lang="en-GB" altLang="zh-TW" sz="180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14BE873-4F38-4C1E-B5C9-A9C8A02AD738}"/>
              </a:ext>
            </a:extLst>
          </p:cNvPr>
          <p:cNvSpPr/>
          <p:nvPr/>
        </p:nvSpPr>
        <p:spPr bwMode="auto">
          <a:xfrm>
            <a:off x="285750" y="5543550"/>
            <a:ext cx="6929438" cy="9144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The </a:t>
            </a:r>
            <a:r>
              <a:rPr lang="nb-NO" altLang="zh-TW" sz="1800">
                <a:solidFill>
                  <a:srgbClr val="2929FF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alarm system </a:t>
            </a: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in the energy management system </a:t>
            </a:r>
            <a:r>
              <a:rPr lang="nb-NO" altLang="zh-TW" sz="1800">
                <a:solidFill>
                  <a:srgbClr val="2929FF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failed due to a software error</a:t>
            </a:r>
            <a:r>
              <a:rPr lang="nb-NO" altLang="zh-TW" sz="180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 and operators were not informed of the power overload in the system</a:t>
            </a:r>
            <a:endParaRPr lang="en-GB" altLang="zh-TW" sz="180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F257C96C-E2F8-499D-9494-A144A24D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What Does This Mean?</a:t>
            </a:r>
          </a:p>
        </p:txBody>
      </p:sp>
      <p:sp>
        <p:nvSpPr>
          <p:cNvPr id="30723" name="Date Placeholder 3">
            <a:extLst>
              <a:ext uri="{FF2B5EF4-FFF2-40B4-BE49-F238E27FC236}">
                <a16:creationId xmlns:a16="http://schemas.microsoft.com/office/drawing/2014/main" id="{AFDCF350-F4C2-47E9-A184-FA30A474FC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30724" name="Footer Placeholder 4">
            <a:extLst>
              <a:ext uri="{FF2B5EF4-FFF2-40B4-BE49-F238E27FC236}">
                <a16:creationId xmlns:a16="http://schemas.microsoft.com/office/drawing/2014/main" id="{FA01D989-9BA2-4029-8E63-81C56641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30725" name="Slide Number Placeholder 5">
            <a:extLst>
              <a:ext uri="{FF2B5EF4-FFF2-40B4-BE49-F238E27FC236}">
                <a16:creationId xmlns:a16="http://schemas.microsoft.com/office/drawing/2014/main" id="{87484C5F-C954-45CC-ABBA-F57B8481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5C1B3FB-138B-430B-9EFA-5F7197CD6511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14</a:t>
            </a:fld>
            <a:endParaRPr lang="en-US" altLang="zh-TW" sz="900" b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D0A9370-4429-4370-84A3-C3AA9C0C2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390" y="2507634"/>
            <a:ext cx="7247744" cy="1127481"/>
          </a:xfrm>
          <a:prstGeom prst="rect">
            <a:avLst/>
          </a:prstGeom>
          <a:gradFill flip="none" rotWithShape="1">
            <a:gsLst>
              <a:gs pos="0">
                <a:srgbClr val="0033CC">
                  <a:shade val="30000"/>
                  <a:satMod val="115000"/>
                </a:srgbClr>
              </a:gs>
              <a:gs pos="50000">
                <a:srgbClr val="0033CC">
                  <a:shade val="67500"/>
                  <a:satMod val="115000"/>
                </a:srgbClr>
              </a:gs>
              <a:gs pos="100000">
                <a:srgbClr val="0033CC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altLang="zh-TW" sz="3200">
                <a:effectLst>
                  <a:outerShdw blurRad="38100" dist="38100" dir="2700000" algn="tl">
                    <a:srgbClr val="000000"/>
                  </a:outerShdw>
                </a:effectLst>
                <a:ea typeface="新細明體" pitchFamily="18" charset="-120"/>
              </a:rPr>
              <a:t>Software testing is getting more important</a:t>
            </a:r>
            <a:endParaRPr lang="en-US" altLang="zh-TW">
              <a:effectLst>
                <a:outerShdw blurRad="38100" dist="38100" dir="2700000" algn="tl">
                  <a:srgbClr val="000000"/>
                </a:outerShdw>
              </a:effectLst>
              <a:ea typeface="新細明體" pitchFamily="18" charset="-12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CC599C5-823C-42A0-A876-62976015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Testing in the 21st Century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4B34410-3CA4-41E2-BFC1-91EC05D98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882650"/>
            <a:ext cx="8966200" cy="5494338"/>
          </a:xfrm>
        </p:spPr>
        <p:txBody>
          <a:bodyPr/>
          <a:lstStyle/>
          <a:p>
            <a:r>
              <a:rPr lang="en-US" altLang="zh-TW" sz="2800" b="0">
                <a:ea typeface="新細明體" panose="02020500000000000000" pitchFamily="18" charset="-120"/>
              </a:rPr>
              <a:t> More </a:t>
            </a:r>
            <a:r>
              <a:rPr lang="en-US" altLang="zh-TW" sz="2800" b="0">
                <a:solidFill>
                  <a:srgbClr val="FFFF00"/>
                </a:solidFill>
                <a:ea typeface="新細明體" panose="02020500000000000000" pitchFamily="18" charset="-120"/>
              </a:rPr>
              <a:t>safety</a:t>
            </a:r>
            <a:r>
              <a:rPr lang="en-US" altLang="zh-TW" sz="2800" b="0">
                <a:ea typeface="新細明體" panose="02020500000000000000" pitchFamily="18" charset="-120"/>
              </a:rPr>
              <a:t> critical, </a:t>
            </a:r>
            <a:r>
              <a:rPr lang="en-US" altLang="zh-TW" sz="2800" b="0">
                <a:solidFill>
                  <a:srgbClr val="FFFF00"/>
                </a:solidFill>
                <a:ea typeface="新細明體" panose="02020500000000000000" pitchFamily="18" charset="-120"/>
              </a:rPr>
              <a:t>real-time</a:t>
            </a:r>
            <a:r>
              <a:rPr lang="en-US" altLang="zh-TW" sz="2800" b="0">
                <a:ea typeface="新細明體" panose="02020500000000000000" pitchFamily="18" charset="-120"/>
              </a:rPr>
              <a:t> software</a:t>
            </a:r>
          </a:p>
          <a:p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Embedded</a:t>
            </a:r>
            <a:r>
              <a:rPr lang="en-US" altLang="zh-TW" sz="2800" b="0">
                <a:ea typeface="新細明體" panose="02020500000000000000" pitchFamily="18" charset="-120"/>
              </a:rPr>
              <a:t> software is ubiquitous … check your pockets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 </a:t>
            </a:r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Enterprise</a:t>
            </a:r>
            <a:r>
              <a:rPr lang="en-US" altLang="zh-TW" sz="2800" b="0">
                <a:ea typeface="新細明體" panose="02020500000000000000" pitchFamily="18" charset="-120"/>
              </a:rPr>
              <a:t> applications means bigger programs, more users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 Paradoxically, free software </a:t>
            </a:r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increases</a:t>
            </a:r>
            <a:r>
              <a:rPr lang="en-US" altLang="zh-TW" sz="2800" b="0">
                <a:ea typeface="新細明體" panose="02020500000000000000" pitchFamily="18" charset="-120"/>
              </a:rPr>
              <a:t> our expectations !</a:t>
            </a:r>
          </a:p>
          <a:p>
            <a:pPr>
              <a:lnSpc>
                <a:spcPct val="80000"/>
              </a:lnSpc>
            </a:pPr>
            <a:r>
              <a:rPr lang="en-US" altLang="zh-TW" sz="2800" b="0">
                <a:ea typeface="新細明體" panose="02020500000000000000" pitchFamily="18" charset="-120"/>
              </a:rPr>
              <a:t> </a:t>
            </a:r>
            <a:r>
              <a:rPr lang="en-US" altLang="zh-TW" sz="2800" b="0">
                <a:solidFill>
                  <a:srgbClr val="FFFF00"/>
                </a:solidFill>
                <a:ea typeface="新細明體" panose="02020500000000000000" pitchFamily="18" charset="-120"/>
              </a:rPr>
              <a:t>Security</a:t>
            </a:r>
            <a:r>
              <a:rPr lang="en-US" altLang="zh-TW" sz="2800" b="0">
                <a:ea typeface="新細明體" panose="02020500000000000000" pitchFamily="18" charset="-120"/>
              </a:rPr>
              <a:t> is now all about software faults</a:t>
            </a:r>
          </a:p>
          <a:p>
            <a:pPr lvl="1"/>
            <a:r>
              <a:rPr lang="en-US" altLang="zh-TW" sz="2400" b="0">
                <a:solidFill>
                  <a:schemeClr val="tx2"/>
                </a:solidFill>
                <a:ea typeface="新細明體" panose="02020500000000000000" pitchFamily="18" charset="-120"/>
              </a:rPr>
              <a:t>Secure</a:t>
            </a:r>
            <a:r>
              <a:rPr lang="en-US" altLang="zh-TW" sz="2400" b="0">
                <a:ea typeface="新細明體" panose="02020500000000000000" pitchFamily="18" charset="-120"/>
              </a:rPr>
              <a:t> software is </a:t>
            </a:r>
            <a:r>
              <a:rPr lang="en-US" altLang="zh-TW" sz="2400" b="0">
                <a:solidFill>
                  <a:schemeClr val="tx2"/>
                </a:solidFill>
                <a:ea typeface="新細明體" panose="02020500000000000000" pitchFamily="18" charset="-120"/>
              </a:rPr>
              <a:t>reliable</a:t>
            </a:r>
            <a:r>
              <a:rPr lang="en-US" altLang="zh-TW" sz="2400" b="0">
                <a:ea typeface="新細明體" panose="02020500000000000000" pitchFamily="18" charset="-120"/>
              </a:rPr>
              <a:t> software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 The </a:t>
            </a:r>
            <a:r>
              <a:rPr lang="en-US" altLang="zh-TW" sz="2800" b="0">
                <a:solidFill>
                  <a:schemeClr val="tx2"/>
                </a:solidFill>
                <a:ea typeface="新細明體" panose="02020500000000000000" pitchFamily="18" charset="-120"/>
              </a:rPr>
              <a:t>web</a:t>
            </a:r>
            <a:r>
              <a:rPr lang="en-US" altLang="zh-TW" sz="2800" b="0">
                <a:ea typeface="新細明體" panose="02020500000000000000" pitchFamily="18" charset="-120"/>
              </a:rPr>
              <a:t> offers a new deployment platform</a:t>
            </a:r>
          </a:p>
          <a:p>
            <a:pPr lvl="1"/>
            <a:r>
              <a:rPr lang="en-US" altLang="zh-TW" sz="2400" b="0">
                <a:ea typeface="新細明體" panose="02020500000000000000" pitchFamily="18" charset="-120"/>
              </a:rPr>
              <a:t>Very </a:t>
            </a:r>
            <a:r>
              <a:rPr lang="en-US" altLang="zh-TW" sz="2400" b="0">
                <a:solidFill>
                  <a:schemeClr val="tx2"/>
                </a:solidFill>
                <a:ea typeface="新細明體" panose="02020500000000000000" pitchFamily="18" charset="-120"/>
              </a:rPr>
              <a:t>competitive</a:t>
            </a:r>
            <a:r>
              <a:rPr lang="en-US" altLang="zh-TW" sz="2400" b="0">
                <a:ea typeface="新細明體" panose="02020500000000000000" pitchFamily="18" charset="-120"/>
              </a:rPr>
              <a:t> and very </a:t>
            </a:r>
            <a:r>
              <a:rPr lang="en-US" altLang="zh-TW" sz="2400" b="0">
                <a:solidFill>
                  <a:schemeClr val="tx2"/>
                </a:solidFill>
                <a:ea typeface="新細明體" panose="02020500000000000000" pitchFamily="18" charset="-120"/>
              </a:rPr>
              <a:t>available</a:t>
            </a:r>
            <a:r>
              <a:rPr lang="en-US" altLang="zh-TW" sz="2400" b="0">
                <a:ea typeface="新細明體" panose="02020500000000000000" pitchFamily="18" charset="-120"/>
              </a:rPr>
              <a:t> to more users</a:t>
            </a:r>
          </a:p>
          <a:p>
            <a:pPr lvl="1"/>
            <a:r>
              <a:rPr lang="en-US" altLang="zh-TW" sz="2400" b="0">
                <a:ea typeface="新細明體" panose="02020500000000000000" pitchFamily="18" charset="-120"/>
              </a:rPr>
              <a:t>Web apps are distributed</a:t>
            </a:r>
          </a:p>
          <a:p>
            <a:pPr lvl="1"/>
            <a:r>
              <a:rPr lang="en-US" altLang="zh-TW" sz="2400" b="0">
                <a:solidFill>
                  <a:srgbClr val="FFFF00"/>
                </a:solidFill>
                <a:ea typeface="新細明體" panose="02020500000000000000" pitchFamily="18" charset="-120"/>
              </a:rPr>
              <a:t>Web apps</a:t>
            </a:r>
            <a:r>
              <a:rPr lang="en-US" altLang="zh-TW" sz="2400" b="0">
                <a:ea typeface="新細明體" panose="02020500000000000000" pitchFamily="18" charset="-120"/>
              </a:rPr>
              <a:t> must be highly reliable</a:t>
            </a:r>
          </a:p>
          <a:p>
            <a:endParaRPr lang="en-US" altLang="zh-TW" sz="1800" b="0">
              <a:ea typeface="新細明體" panose="02020500000000000000" pitchFamily="18" charset="-120"/>
            </a:endParaRPr>
          </a:p>
        </p:txBody>
      </p:sp>
      <p:sp>
        <p:nvSpPr>
          <p:cNvPr id="32772" name="Date Placeholder 3">
            <a:extLst>
              <a:ext uri="{FF2B5EF4-FFF2-40B4-BE49-F238E27FC236}">
                <a16:creationId xmlns:a16="http://schemas.microsoft.com/office/drawing/2014/main" id="{C4B9BC2D-5530-4D88-ABDB-58ED37AD30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Introduction to Software Testing  (Ch 1)</a:t>
            </a:r>
          </a:p>
        </p:txBody>
      </p:sp>
      <p:sp>
        <p:nvSpPr>
          <p:cNvPr id="32773" name="Footer Placeholder 4">
            <a:extLst>
              <a:ext uri="{FF2B5EF4-FFF2-40B4-BE49-F238E27FC236}">
                <a16:creationId xmlns:a16="http://schemas.microsoft.com/office/drawing/2014/main" id="{32B07470-75B4-4C46-A25E-1BF293DF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© Ammann &amp; Offutt</a:t>
            </a:r>
          </a:p>
        </p:txBody>
      </p:sp>
      <p:sp>
        <p:nvSpPr>
          <p:cNvPr id="32774" name="Slide Number Placeholder 5">
            <a:extLst>
              <a:ext uri="{FF2B5EF4-FFF2-40B4-BE49-F238E27FC236}">
                <a16:creationId xmlns:a16="http://schemas.microsoft.com/office/drawing/2014/main" id="{3AA5A1E7-C299-4097-A3F3-551DD8BC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3522FEDE-5F8E-460C-BCCF-83E526F7EAB9}" type="slidenum">
              <a:rPr lang="zh-CN" altLang="en-US" sz="900" b="0" smtClean="0">
                <a:ea typeface="SimSun" panose="02010600030101010101" pitchFamily="2" charset="-122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15</a:t>
            </a:fld>
            <a:endParaRPr lang="en-US" altLang="zh-CN" sz="900" b="0">
              <a:ea typeface="SimSun" panose="02010600030101010101" pitchFamily="2" charset="-12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676404F1-2197-427B-900C-6296EA9C7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6005513"/>
            <a:ext cx="6986587" cy="523875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53000">
                <a:schemeClr val="bg1">
                  <a:lumMod val="60000"/>
                  <a:lumOff val="40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Industry desperately needs our inventions 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35C5D11-CB82-4313-BFEC-D009741F1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34819" name="Date Placeholder 2">
            <a:extLst>
              <a:ext uri="{FF2B5EF4-FFF2-40B4-BE49-F238E27FC236}">
                <a16:creationId xmlns:a16="http://schemas.microsoft.com/office/drawing/2014/main" id="{C8BFC5C4-BB56-4B4C-B0EF-C1C616B4D7D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Introduction to Software Testing  (Ch 1)</a:t>
            </a:r>
          </a:p>
        </p:txBody>
      </p:sp>
      <p:sp>
        <p:nvSpPr>
          <p:cNvPr id="34820" name="Footer Placeholder 3">
            <a:extLst>
              <a:ext uri="{FF2B5EF4-FFF2-40B4-BE49-F238E27FC236}">
                <a16:creationId xmlns:a16="http://schemas.microsoft.com/office/drawing/2014/main" id="{69E14755-A204-4B6B-846D-386B16017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34821" name="Slide Number Placeholder 4">
            <a:extLst>
              <a:ext uri="{FF2B5EF4-FFF2-40B4-BE49-F238E27FC236}">
                <a16:creationId xmlns:a16="http://schemas.microsoft.com/office/drawing/2014/main" id="{16FC623F-370C-46D3-8A2C-610CE327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A89FA3DE-0AA8-4FC5-A4CF-E08C65BD506E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US" altLang="zh-TW" sz="900" b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CA7B72-15FC-4E69-8DFA-524A29FA0E11}"/>
              </a:ext>
            </a:extLst>
          </p:cNvPr>
          <p:cNvSpPr txBox="1">
            <a:spLocks/>
          </p:cNvSpPr>
          <p:nvPr/>
        </p:nvSpPr>
        <p:spPr>
          <a:xfrm>
            <a:off x="914400" y="830263"/>
            <a:ext cx="7304088" cy="562610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8575">
            <a:solidFill>
              <a:srgbClr val="000000"/>
            </a:solidFill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Spectacular Software Failures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Why Test?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What Do We Do When We Test ?</a:t>
            </a:r>
          </a:p>
          <a:p>
            <a:pPr marL="971550" lvl="1" indent="-5143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Test Activities and Model-Driven Testing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Software Testing Terminology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Changing Notions of Testing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Test Maturity Levels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77BFE0-46B0-4C7E-8231-6E1B0966709E}"/>
              </a:ext>
            </a:extLst>
          </p:cNvPr>
          <p:cNvSpPr/>
          <p:nvPr/>
        </p:nvSpPr>
        <p:spPr>
          <a:xfrm>
            <a:off x="958850" y="1544638"/>
            <a:ext cx="2335213" cy="715962"/>
          </a:xfrm>
          <a:prstGeom prst="rect">
            <a:avLst/>
          </a:prstGeom>
          <a:solidFill>
            <a:srgbClr val="FFFF00">
              <a:alpha val="4902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zh-TW">
              <a:solidFill>
                <a:srgbClr val="FFFFFF"/>
              </a:solidFill>
              <a:ea typeface="新細明體" pitchFamily="18" charset="-12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paperstack.jpg">
            <a:extLst>
              <a:ext uri="{FF2B5EF4-FFF2-40B4-BE49-F238E27FC236}">
                <a16:creationId xmlns:a16="http://schemas.microsoft.com/office/drawing/2014/main" id="{D6319BA8-D61D-4C40-A5F3-B6F3E0FC7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5" y="1704975"/>
            <a:ext cx="6508750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Date Placeholder 2">
            <a:extLst>
              <a:ext uri="{FF2B5EF4-FFF2-40B4-BE49-F238E27FC236}">
                <a16:creationId xmlns:a16="http://schemas.microsoft.com/office/drawing/2014/main" id="{A6C7B8DA-99C5-4EC0-BBE2-BB8D54F69A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Introduction to Software Testing  (Ch 1)</a:t>
            </a:r>
          </a:p>
        </p:txBody>
      </p:sp>
      <p:sp>
        <p:nvSpPr>
          <p:cNvPr id="36868" name="Footer Placeholder 3">
            <a:extLst>
              <a:ext uri="{FF2B5EF4-FFF2-40B4-BE49-F238E27FC236}">
                <a16:creationId xmlns:a16="http://schemas.microsoft.com/office/drawing/2014/main" id="{C2A3F873-8DD7-4772-AA15-F593386A8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36869" name="Slide Number Placeholder 4">
            <a:extLst>
              <a:ext uri="{FF2B5EF4-FFF2-40B4-BE49-F238E27FC236}">
                <a16:creationId xmlns:a16="http://schemas.microsoft.com/office/drawing/2014/main" id="{67F8A57C-55CE-4885-A62A-F4B23786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E2930648-6298-46DB-9F23-7DE4BC93FDFB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17</a:t>
            </a:fld>
            <a:endParaRPr lang="en-US" altLang="zh-TW" sz="900" b="0"/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61D00964-C389-4407-B13E-AD87A3F4F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Here! Test This!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0D8400CE-B50C-4AC6-9F7A-6FF74DB204A4}"/>
              </a:ext>
            </a:extLst>
          </p:cNvPr>
          <p:cNvGrpSpPr>
            <a:grpSpLocks/>
          </p:cNvGrpSpPr>
          <p:nvPr/>
        </p:nvGrpSpPr>
        <p:grpSpPr bwMode="auto">
          <a:xfrm>
            <a:off x="2659063" y="1798638"/>
            <a:ext cx="3825875" cy="3992562"/>
            <a:chOff x="1675" y="1038"/>
            <a:chExt cx="2410" cy="2515"/>
          </a:xfrm>
        </p:grpSpPr>
        <p:sp>
          <p:nvSpPr>
            <p:cNvPr id="36878" name="Rectangle 4">
              <a:extLst>
                <a:ext uri="{FF2B5EF4-FFF2-40B4-BE49-F238E27FC236}">
                  <a16:creationId xmlns:a16="http://schemas.microsoft.com/office/drawing/2014/main" id="{EE71401F-AACD-46C8-855C-BE812FEE4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5" y="1038"/>
              <a:ext cx="2410" cy="2425"/>
            </a:xfrm>
            <a:prstGeom prst="rect">
              <a:avLst/>
            </a:prstGeom>
            <a:solidFill>
              <a:srgbClr val="5F5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79" name="AutoShape 5">
              <a:extLst>
                <a:ext uri="{FF2B5EF4-FFF2-40B4-BE49-F238E27FC236}">
                  <a16:creationId xmlns:a16="http://schemas.microsoft.com/office/drawing/2014/main" id="{853BA135-F45C-44A0-8F4E-7DFA3F4E3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5" y="3171"/>
              <a:ext cx="284" cy="299"/>
            </a:xfrm>
            <a:prstGeom prst="rtTriangle">
              <a:avLst/>
            </a:prstGeom>
            <a:solidFill>
              <a:srgbClr val="000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0" name="AutoShape 6">
              <a:extLst>
                <a:ext uri="{FF2B5EF4-FFF2-40B4-BE49-F238E27FC236}">
                  <a16:creationId xmlns:a16="http://schemas.microsoft.com/office/drawing/2014/main" id="{133F9071-8125-4118-B142-C109F2FB7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" y="1038"/>
              <a:ext cx="1635" cy="1429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1" name="Rectangle 7">
              <a:extLst>
                <a:ext uri="{FF2B5EF4-FFF2-40B4-BE49-F238E27FC236}">
                  <a16:creationId xmlns:a16="http://schemas.microsoft.com/office/drawing/2014/main" id="{6D3DC7CE-0DF7-44D6-9B4C-ACF015D6F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1038"/>
              <a:ext cx="327" cy="32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2" name="Rectangle 8">
              <a:extLst>
                <a:ext uri="{FF2B5EF4-FFF2-40B4-BE49-F238E27FC236}">
                  <a16:creationId xmlns:a16="http://schemas.microsoft.com/office/drawing/2014/main" id="{175D84AE-F879-410A-B281-583A83159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1038"/>
              <a:ext cx="327" cy="32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3" name="AutoShape 9">
              <a:extLst>
                <a:ext uri="{FF2B5EF4-FFF2-40B4-BE49-F238E27FC236}">
                  <a16:creationId xmlns:a16="http://schemas.microsoft.com/office/drawing/2014/main" id="{BFECE0D4-EEB8-44FC-80D3-015BE607D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7" y="2929"/>
              <a:ext cx="1280" cy="541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4" name="Rectangle 10">
              <a:extLst>
                <a:ext uri="{FF2B5EF4-FFF2-40B4-BE49-F238E27FC236}">
                  <a16:creationId xmlns:a16="http://schemas.microsoft.com/office/drawing/2014/main" id="{B84FC7EA-E1EF-4F17-9BAB-51931C30D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7" y="3250"/>
              <a:ext cx="171" cy="22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5" name="Rectangle 11">
              <a:extLst>
                <a:ext uri="{FF2B5EF4-FFF2-40B4-BE49-F238E27FC236}">
                  <a16:creationId xmlns:a16="http://schemas.microsoft.com/office/drawing/2014/main" id="{BE3704DD-8879-40B8-8647-CDFF64C86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3250"/>
              <a:ext cx="171" cy="22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6" name="Rectangle 12">
              <a:extLst>
                <a:ext uri="{FF2B5EF4-FFF2-40B4-BE49-F238E27FC236}">
                  <a16:creationId xmlns:a16="http://schemas.microsoft.com/office/drawing/2014/main" id="{51463104-178F-458E-BE9C-091CA31DF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975"/>
              <a:ext cx="206" cy="441"/>
            </a:xfrm>
            <a:prstGeom prst="rect">
              <a:avLst/>
            </a:prstGeom>
            <a:solidFill>
              <a:srgbClr val="5F5F5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zh-TW" altLang="zh-TW" sz="2000">
                <a:solidFill>
                  <a:srgbClr val="FAFD00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36887" name="Line 13">
              <a:extLst>
                <a:ext uri="{FF2B5EF4-FFF2-40B4-BE49-F238E27FC236}">
                  <a16:creationId xmlns:a16="http://schemas.microsoft.com/office/drawing/2014/main" id="{0AD379F7-8043-4C64-A7E9-1D1604A15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9" y="1262"/>
              <a:ext cx="16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888" name="Line 14">
              <a:extLst>
                <a:ext uri="{FF2B5EF4-FFF2-40B4-BE49-F238E27FC236}">
                  <a16:creationId xmlns:a16="http://schemas.microsoft.com/office/drawing/2014/main" id="{58806EA6-1C1D-47D1-BF66-7B43BA100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" y="1471"/>
              <a:ext cx="16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889" name="Line 15">
              <a:extLst>
                <a:ext uri="{FF2B5EF4-FFF2-40B4-BE49-F238E27FC236}">
                  <a16:creationId xmlns:a16="http://schemas.microsoft.com/office/drawing/2014/main" id="{55E9F105-3BBF-45FB-8467-45A75571E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" y="1680"/>
              <a:ext cx="16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890" name="Line 16">
              <a:extLst>
                <a:ext uri="{FF2B5EF4-FFF2-40B4-BE49-F238E27FC236}">
                  <a16:creationId xmlns:a16="http://schemas.microsoft.com/office/drawing/2014/main" id="{DD028E5A-599E-4EE9-8260-A18A759F7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" y="1889"/>
              <a:ext cx="16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891" name="Line 17">
              <a:extLst>
                <a:ext uri="{FF2B5EF4-FFF2-40B4-BE49-F238E27FC236}">
                  <a16:creationId xmlns:a16="http://schemas.microsoft.com/office/drawing/2014/main" id="{1C5E7347-68C1-4CBA-9112-38B1E2300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" y="2098"/>
              <a:ext cx="16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892" name="Text Box 18">
              <a:extLst>
                <a:ext uri="{FF2B5EF4-FFF2-40B4-BE49-F238E27FC236}">
                  <a16:creationId xmlns:a16="http://schemas.microsoft.com/office/drawing/2014/main" id="{7A627F8D-577F-425C-9769-F8A9981AD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" y="1070"/>
              <a:ext cx="1225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000000"/>
                  </a:solidFill>
                  <a:ea typeface="新細明體" panose="02020500000000000000" pitchFamily="18" charset="-120"/>
                </a:rPr>
                <a:t>MicroSteff – big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000000"/>
                  </a:solidFill>
                  <a:ea typeface="新細明體" panose="02020500000000000000" pitchFamily="18" charset="-120"/>
                </a:rPr>
                <a:t>software system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000000"/>
                  </a:solidFill>
                  <a:ea typeface="新細明體" panose="02020500000000000000" pitchFamily="18" charset="-120"/>
                </a:rPr>
                <a:t>for the mac</a:t>
              </a:r>
            </a:p>
          </p:txBody>
        </p:sp>
        <p:sp>
          <p:nvSpPr>
            <p:cNvPr id="36893" name="Text Box 19">
              <a:extLst>
                <a:ext uri="{FF2B5EF4-FFF2-40B4-BE49-F238E27FC236}">
                  <a16:creationId xmlns:a16="http://schemas.microsoft.com/office/drawing/2014/main" id="{85E666B5-25E4-4C86-A270-D5354E4FF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" y="1915"/>
              <a:ext cx="1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000000"/>
                  </a:solidFill>
                  <a:ea typeface="新細明體" panose="02020500000000000000" pitchFamily="18" charset="-120"/>
                </a:rPr>
                <a:t>V.1.5.1        Jan/2007</a:t>
              </a:r>
            </a:p>
          </p:txBody>
        </p:sp>
        <p:sp>
          <p:nvSpPr>
            <p:cNvPr id="36894" name="Text Box 20">
              <a:extLst>
                <a:ext uri="{FF2B5EF4-FFF2-40B4-BE49-F238E27FC236}">
                  <a16:creationId xmlns:a16="http://schemas.microsoft.com/office/drawing/2014/main" id="{1CE86395-8D88-4BAA-85DA-4A89ACA38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2876" y="2900"/>
              <a:ext cx="708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ea typeface="新細明體" panose="02020500000000000000" pitchFamily="18" charset="-120"/>
                </a:rPr>
                <a:t>Verdatim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ea typeface="新細明體" panose="02020500000000000000" pitchFamily="18" charset="-120"/>
                </a:rPr>
                <a:t>DataLife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ea typeface="新細明體" panose="02020500000000000000" pitchFamily="18" charset="-120"/>
                </a:rPr>
                <a:t>MF2-HD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ea typeface="新細明體" panose="02020500000000000000" pitchFamily="18" charset="-120"/>
                </a:rPr>
                <a:t>1.44 MB</a:t>
              </a:r>
            </a:p>
          </p:txBody>
        </p:sp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F051D567-C277-4816-BA6B-E909067FB761}"/>
              </a:ext>
            </a:extLst>
          </p:cNvPr>
          <p:cNvGrpSpPr>
            <a:grpSpLocks/>
          </p:cNvGrpSpPr>
          <p:nvPr/>
        </p:nvGrpSpPr>
        <p:grpSpPr bwMode="auto">
          <a:xfrm>
            <a:off x="3157538" y="1828800"/>
            <a:ext cx="2819400" cy="1890713"/>
            <a:chOff x="1992" y="1113"/>
            <a:chExt cx="1776" cy="1191"/>
          </a:xfrm>
        </p:grpSpPr>
        <p:pic>
          <p:nvPicPr>
            <p:cNvPr id="36875" name="Picture 22" descr="usbdrive">
              <a:extLst>
                <a:ext uri="{FF2B5EF4-FFF2-40B4-BE49-F238E27FC236}">
                  <a16:creationId xmlns:a16="http://schemas.microsoft.com/office/drawing/2014/main" id="{9229F27F-3FF0-469F-AA18-C42478C9D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0" y="1156"/>
              <a:ext cx="1680" cy="1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6" name="Text Box 23">
              <a:extLst>
                <a:ext uri="{FF2B5EF4-FFF2-40B4-BE49-F238E27FC236}">
                  <a16:creationId xmlns:a16="http://schemas.microsoft.com/office/drawing/2014/main" id="{D100CE1A-CEE7-4C3B-98CC-6A534175E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2" y="1113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Comic Sans MS" panose="030F0702030302020204" pitchFamily="66" charset="0"/>
                  <a:ea typeface="新細明體" panose="02020500000000000000" pitchFamily="18" charset="-120"/>
                  <a:cs typeface="Arial" panose="020B0604020202020204" pitchFamily="34" charset="0"/>
                </a:rPr>
                <a:t>Big software program</a:t>
              </a:r>
            </a:p>
          </p:txBody>
        </p:sp>
        <p:sp>
          <p:nvSpPr>
            <p:cNvPr id="36877" name="Text Box 24">
              <a:extLst>
                <a:ext uri="{FF2B5EF4-FFF2-40B4-BE49-F238E27FC236}">
                  <a16:creationId xmlns:a16="http://schemas.microsoft.com/office/drawing/2014/main" id="{E85C1D2C-B5B1-46D9-A710-ECF356ABA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073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Comic Sans MS" panose="030F0702030302020204" pitchFamily="66" charset="0"/>
                  <a:ea typeface="新細明體" panose="02020500000000000000" pitchFamily="18" charset="-120"/>
                  <a:cs typeface="Arial" panose="020B0604020202020204" pitchFamily="34" charset="0"/>
                </a:rPr>
                <a:t>Jan/2007</a:t>
              </a:r>
            </a:p>
          </p:txBody>
        </p:sp>
      </p:grpSp>
      <p:sp>
        <p:nvSpPr>
          <p:cNvPr id="36873" name="Text Box 25">
            <a:extLst>
              <a:ext uri="{FF2B5EF4-FFF2-40B4-BE49-F238E27FC236}">
                <a16:creationId xmlns:a16="http://schemas.microsoft.com/office/drawing/2014/main" id="{9C49308F-CB7A-4926-A2D2-3CEF9F689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1219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My first “professional” job</a:t>
            </a:r>
          </a:p>
        </p:txBody>
      </p:sp>
      <p:sp>
        <p:nvSpPr>
          <p:cNvPr id="36874" name="Text Box 26">
            <a:extLst>
              <a:ext uri="{FF2B5EF4-FFF2-40B4-BE49-F238E27FC236}">
                <a16:creationId xmlns:a16="http://schemas.microsoft.com/office/drawing/2014/main" id="{D9C408D9-7B78-4C15-B799-2CAB6D9A4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9436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stack of computer printouts—and no documentation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3">
            <a:extLst>
              <a:ext uri="{FF2B5EF4-FFF2-40B4-BE49-F238E27FC236}">
                <a16:creationId xmlns:a16="http://schemas.microsoft.com/office/drawing/2014/main" id="{002F5E06-4666-4FF4-9465-74042276687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</a:p>
        </p:txBody>
      </p:sp>
      <p:sp>
        <p:nvSpPr>
          <p:cNvPr id="37891" name="Footer Placeholder 4">
            <a:extLst>
              <a:ext uri="{FF2B5EF4-FFF2-40B4-BE49-F238E27FC236}">
                <a16:creationId xmlns:a16="http://schemas.microsoft.com/office/drawing/2014/main" id="{8CBE0F42-2709-4F40-AD78-6767CAAA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E52F64BA-00CE-4C3F-AAFC-607695D1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B3C9F994-1412-4BB7-B539-ECDB1C5077B0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18</a:t>
            </a:fld>
            <a:endParaRPr lang="en-US" altLang="zh-TW" sz="900" b="0"/>
          </a:p>
        </p:txBody>
      </p:sp>
      <p:sp>
        <p:nvSpPr>
          <p:cNvPr id="37893" name="Rectangle 2">
            <a:extLst>
              <a:ext uri="{FF2B5EF4-FFF2-40B4-BE49-F238E27FC236}">
                <a16:creationId xmlns:a16="http://schemas.microsoft.com/office/drawing/2014/main" id="{C49B1ECB-BF71-4EC6-9FFD-255CF60F3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Cost of Testing</a:t>
            </a:r>
          </a:p>
        </p:txBody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2BC08B3B-7F35-4372-982A-D119B3252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2489200"/>
            <a:ext cx="8867775" cy="3887788"/>
          </a:xfrm>
        </p:spPr>
        <p:txBody>
          <a:bodyPr/>
          <a:lstStyle/>
          <a:p>
            <a:r>
              <a:rPr lang="en-US" altLang="zh-TW" sz="3200">
                <a:ea typeface="新細明體" panose="02020500000000000000" pitchFamily="18" charset="-120"/>
              </a:rPr>
              <a:t>In the real-world, testing is the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principle post-design activity</a:t>
            </a:r>
          </a:p>
          <a:p>
            <a:pPr lvl="1"/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Restricting early testing usually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increases cost</a:t>
            </a:r>
          </a:p>
          <a:p>
            <a:pPr lvl="1"/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Extensive hardware-software integration requires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more</a:t>
            </a:r>
            <a:r>
              <a:rPr lang="en-US" altLang="zh-TW" sz="3200">
                <a:ea typeface="新細明體" panose="02020500000000000000" pitchFamily="18" charset="-120"/>
              </a:rPr>
              <a:t> testing</a:t>
            </a:r>
          </a:p>
        </p:txBody>
      </p:sp>
      <p:sp>
        <p:nvSpPr>
          <p:cNvPr id="156676" name="Text Box 4">
            <a:extLst>
              <a:ext uri="{FF2B5EF4-FFF2-40B4-BE49-F238E27FC236}">
                <a16:creationId xmlns:a16="http://schemas.microsoft.com/office/drawing/2014/main" id="{49A75F44-431A-4FA5-A322-84A4F35B5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909638"/>
            <a:ext cx="6745288" cy="138588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You’re going to spend at least half of your development budget on testing, whether you want to or not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>
            <a:extLst>
              <a:ext uri="{FF2B5EF4-FFF2-40B4-BE49-F238E27FC236}">
                <a16:creationId xmlns:a16="http://schemas.microsoft.com/office/drawing/2014/main" id="{22778CEF-D586-4971-925E-52A24F233A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</a:p>
        </p:txBody>
      </p:sp>
      <p:sp>
        <p:nvSpPr>
          <p:cNvPr id="39939" name="Footer Placeholder 4">
            <a:extLst>
              <a:ext uri="{FF2B5EF4-FFF2-40B4-BE49-F238E27FC236}">
                <a16:creationId xmlns:a16="http://schemas.microsoft.com/office/drawing/2014/main" id="{4C1D997E-8503-4117-B4AA-07BCDD88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0648279E-641D-4EC8-944C-6D048B8D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B5D64F76-66CD-41DF-B050-A63F0828C39F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19</a:t>
            </a:fld>
            <a:endParaRPr lang="en-US" altLang="zh-TW" sz="900" b="0"/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B8A9521D-4A88-43C1-833C-D3683EDE3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Why Test?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D02B890D-2713-4981-AB24-97A568308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850" y="2181225"/>
            <a:ext cx="8736013" cy="3830638"/>
          </a:xfrm>
        </p:spPr>
        <p:txBody>
          <a:bodyPr/>
          <a:lstStyle/>
          <a:p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Written test objectives</a:t>
            </a:r>
            <a:r>
              <a:rPr lang="en-US" altLang="zh-TW" sz="3200">
                <a:ea typeface="新細明體" panose="02020500000000000000" pitchFamily="18" charset="-120"/>
              </a:rPr>
              <a:t> and requirements must be documented</a:t>
            </a:r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What are your planned </a:t>
            </a:r>
            <a:r>
              <a:rPr lang="en-US" altLang="zh-TW" sz="3200">
                <a:solidFill>
                  <a:schemeClr val="tx2"/>
                </a:solidFill>
                <a:ea typeface="新細明體" panose="02020500000000000000" pitchFamily="18" charset="-120"/>
              </a:rPr>
              <a:t>coverage</a:t>
            </a:r>
            <a:r>
              <a:rPr lang="en-US" altLang="zh-TW" sz="3200">
                <a:ea typeface="新細明體" panose="02020500000000000000" pitchFamily="18" charset="-120"/>
              </a:rPr>
              <a:t> levels?</a:t>
            </a:r>
          </a:p>
          <a:p>
            <a:r>
              <a:rPr lang="en-US" altLang="zh-TW" sz="3200">
                <a:ea typeface="新細明體" panose="02020500000000000000" pitchFamily="18" charset="-120"/>
              </a:rPr>
              <a:t>How much testing is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enough</a:t>
            </a:r>
            <a:r>
              <a:rPr lang="en-US" altLang="zh-TW" sz="3200">
                <a:ea typeface="新細明體" panose="02020500000000000000" pitchFamily="18" charset="-120"/>
              </a:rPr>
              <a:t>?</a:t>
            </a:r>
          </a:p>
          <a:p>
            <a:r>
              <a:rPr lang="en-US" altLang="zh-TW" sz="3200">
                <a:ea typeface="新細明體" panose="02020500000000000000" pitchFamily="18" charset="-120"/>
              </a:rPr>
              <a:t>Common objective –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spend the budget</a:t>
            </a:r>
            <a:r>
              <a:rPr lang="en-US" altLang="zh-TW" sz="3200">
                <a:ea typeface="新細明體" panose="02020500000000000000" pitchFamily="18" charset="-120"/>
              </a:rPr>
              <a:t> </a:t>
            </a:r>
            <a:r>
              <a:rPr lang="en-US" altLang="zh-TW" sz="4000">
                <a:ea typeface="新細明體" panose="02020500000000000000" pitchFamily="18" charset="-120"/>
              </a:rPr>
              <a:t>…</a:t>
            </a:r>
            <a:r>
              <a:rPr lang="en-US" altLang="zh-TW" sz="3200">
                <a:ea typeface="新細明體" panose="02020500000000000000" pitchFamily="18" charset="-120"/>
              </a:rPr>
              <a:t> </a:t>
            </a:r>
            <a:r>
              <a:rPr lang="en-US" altLang="zh-TW" sz="3200">
                <a:solidFill>
                  <a:schemeClr val="tx2"/>
                </a:solidFill>
                <a:ea typeface="新細明體" panose="02020500000000000000" pitchFamily="18" charset="-120"/>
              </a:rPr>
              <a:t>test until the ship-date</a:t>
            </a:r>
            <a:r>
              <a:rPr lang="en-US" altLang="zh-TW" sz="3200">
                <a:ea typeface="新細明體" panose="02020500000000000000" pitchFamily="18" charset="-120"/>
              </a:rPr>
              <a:t> …</a:t>
            </a:r>
          </a:p>
          <a:p>
            <a:pPr lvl="1"/>
            <a:r>
              <a:rPr lang="en-US" altLang="zh-TW" sz="2800">
                <a:ea typeface="新細明體" panose="02020500000000000000" pitchFamily="18" charset="-120"/>
              </a:rPr>
              <a:t>Sometimes called the “</a:t>
            </a:r>
            <a:r>
              <a:rPr lang="en-US" altLang="zh-TW" sz="2800">
                <a:solidFill>
                  <a:schemeClr val="tx2"/>
                </a:solidFill>
                <a:latin typeface="Comic Sans MS" panose="030F0702030302020204" pitchFamily="66" charset="0"/>
                <a:ea typeface="新細明體" panose="02020500000000000000" pitchFamily="18" charset="-120"/>
              </a:rPr>
              <a:t>date criterion</a:t>
            </a:r>
            <a:r>
              <a:rPr lang="en-US" altLang="zh-TW" sz="2800">
                <a:ea typeface="新細明體" panose="02020500000000000000" pitchFamily="18" charset="-120"/>
              </a:rPr>
              <a:t>”</a:t>
            </a:r>
          </a:p>
        </p:txBody>
      </p:sp>
      <p:sp>
        <p:nvSpPr>
          <p:cNvPr id="157700" name="Text Box 4">
            <a:extLst>
              <a:ext uri="{FF2B5EF4-FFF2-40B4-BE49-F238E27FC236}">
                <a16:creationId xmlns:a16="http://schemas.microsoft.com/office/drawing/2014/main" id="{7AF323C8-C8FD-40C5-B97E-14E20C8B5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1057275"/>
            <a:ext cx="7183437" cy="95885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If you don’t know </a:t>
            </a:r>
            <a:r>
              <a:rPr lang="en-US" sz="28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why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 you’re conducting each test, it won’t be very helpful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3">
            <a:extLst>
              <a:ext uri="{FF2B5EF4-FFF2-40B4-BE49-F238E27FC236}">
                <a16:creationId xmlns:a16="http://schemas.microsoft.com/office/drawing/2014/main" id="{29CA6E30-3369-4E21-9D77-BD66870B75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</a:p>
        </p:txBody>
      </p:sp>
      <p:sp>
        <p:nvSpPr>
          <p:cNvPr id="41987" name="Footer Placeholder 4">
            <a:extLst>
              <a:ext uri="{FF2B5EF4-FFF2-40B4-BE49-F238E27FC236}">
                <a16:creationId xmlns:a16="http://schemas.microsoft.com/office/drawing/2014/main" id="{0C1418A0-E408-473F-9C22-3A4B6C43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54E972AC-A77F-4263-88E1-3D6A6E9C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BFFB1FE-7023-4D15-8D81-9313F62AC2CD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20</a:t>
            </a:fld>
            <a:endParaRPr lang="en-US" altLang="zh-TW" sz="900" b="0"/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BDFC59C9-B872-4702-9DAE-86060461C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Why Test?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F6B93076-A0E3-41D7-964D-29B21BE4B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850" y="2335213"/>
            <a:ext cx="8778875" cy="3914775"/>
          </a:xfrm>
        </p:spPr>
        <p:txBody>
          <a:bodyPr/>
          <a:lstStyle/>
          <a:p>
            <a:r>
              <a:rPr lang="en-US" altLang="zh-TW" sz="3200">
                <a:ea typeface="新細明體" panose="02020500000000000000" pitchFamily="18" charset="-120"/>
              </a:rPr>
              <a:t>1980: “The software shall be easily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maintainable</a:t>
            </a:r>
            <a:r>
              <a:rPr lang="en-US" altLang="zh-TW" sz="3200">
                <a:ea typeface="新細明體" panose="02020500000000000000" pitchFamily="18" charset="-120"/>
              </a:rPr>
              <a:t>”</a:t>
            </a:r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Threshold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reliability</a:t>
            </a:r>
            <a:r>
              <a:rPr lang="en-US" altLang="zh-TW" sz="3200">
                <a:ea typeface="新細明體" panose="02020500000000000000" pitchFamily="18" charset="-120"/>
              </a:rPr>
              <a:t> requirements?</a:t>
            </a:r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What fact is each test trying to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verify</a:t>
            </a:r>
            <a:r>
              <a:rPr lang="en-US" altLang="zh-TW" sz="3200">
                <a:ea typeface="新細明體" panose="02020500000000000000" pitchFamily="18" charset="-120"/>
              </a:rPr>
              <a:t>?</a:t>
            </a:r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Requirements</a:t>
            </a:r>
            <a:r>
              <a:rPr lang="en-US" altLang="zh-TW" sz="3200">
                <a:ea typeface="新細明體" panose="02020500000000000000" pitchFamily="18" charset="-120"/>
              </a:rPr>
              <a:t> definition teams need testers!</a:t>
            </a:r>
          </a:p>
        </p:txBody>
      </p:sp>
      <p:sp>
        <p:nvSpPr>
          <p:cNvPr id="158724" name="Text Box 4">
            <a:extLst>
              <a:ext uri="{FF2B5EF4-FFF2-40B4-BE49-F238E27FC236}">
                <a16:creationId xmlns:a16="http://schemas.microsoft.com/office/drawing/2014/main" id="{B5FC65D9-D5A3-41A6-98DF-68340F489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811213"/>
            <a:ext cx="8737600" cy="138588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If you don’t start planning for each test when the functional requirements are formed, you’ll never know why you’re conducting the test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3">
            <a:extLst>
              <a:ext uri="{FF2B5EF4-FFF2-40B4-BE49-F238E27FC236}">
                <a16:creationId xmlns:a16="http://schemas.microsoft.com/office/drawing/2014/main" id="{CA51AB01-FC50-4F76-966F-34A20F24FC1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</a:p>
        </p:txBody>
      </p:sp>
      <p:sp>
        <p:nvSpPr>
          <p:cNvPr id="44035" name="Footer Placeholder 4">
            <a:extLst>
              <a:ext uri="{FF2B5EF4-FFF2-40B4-BE49-F238E27FC236}">
                <a16:creationId xmlns:a16="http://schemas.microsoft.com/office/drawing/2014/main" id="{4DDA1D5E-CE59-4308-87FA-5BF9893A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50263F12-BD77-47CA-B39E-8D632D25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ABDD116-15BD-4A28-BB85-07285FC0AB1A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21</a:t>
            </a:fld>
            <a:endParaRPr lang="en-US" altLang="zh-TW" sz="900" b="0"/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274E1329-B1A8-40CB-91A9-AB81A09C4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Cost of </a:t>
            </a:r>
            <a:r>
              <a:rPr lang="en-US" altLang="zh-TW" u="sng">
                <a:ea typeface="新細明體" panose="02020500000000000000" pitchFamily="18" charset="-120"/>
              </a:rPr>
              <a:t>Not</a:t>
            </a:r>
            <a:r>
              <a:rPr lang="en-US" altLang="zh-TW">
                <a:ea typeface="新細明體" panose="02020500000000000000" pitchFamily="18" charset="-120"/>
              </a:rPr>
              <a:t> Testing</a:t>
            </a:r>
          </a:p>
        </p:txBody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B96DBDFC-CD91-40BC-9752-A03D84730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5113" y="1927225"/>
            <a:ext cx="8615362" cy="4379913"/>
          </a:xfrm>
        </p:spPr>
        <p:txBody>
          <a:bodyPr/>
          <a:lstStyle/>
          <a:p>
            <a:r>
              <a:rPr lang="en-US" altLang="zh-TW" sz="3200" u="sng">
                <a:ea typeface="新細明體" panose="02020500000000000000" pitchFamily="18" charset="-120"/>
              </a:rPr>
              <a:t>Not</a:t>
            </a:r>
            <a:r>
              <a:rPr lang="en-US" altLang="zh-TW" sz="3200">
                <a:ea typeface="新細明體" panose="02020500000000000000" pitchFamily="18" charset="-120"/>
              </a:rPr>
              <a:t> testing is even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more expensive</a:t>
            </a:r>
          </a:p>
          <a:p>
            <a:pPr lvl="1"/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Planning for testing after development is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prohibitively </a:t>
            </a:r>
            <a:r>
              <a:rPr lang="en-US" altLang="zh-TW" sz="3200">
                <a:ea typeface="新細明體" panose="02020500000000000000" pitchFamily="18" charset="-120"/>
              </a:rPr>
              <a:t>expensive</a:t>
            </a:r>
          </a:p>
          <a:p>
            <a:pPr lvl="1"/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A test station for circuit boards costs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half a million</a:t>
            </a:r>
            <a:r>
              <a:rPr lang="en-US" altLang="zh-TW" sz="3200">
                <a:ea typeface="新細明體" panose="02020500000000000000" pitchFamily="18" charset="-120"/>
              </a:rPr>
              <a:t> dollars …</a:t>
            </a:r>
          </a:p>
          <a:p>
            <a:pPr lvl="2"/>
            <a:endParaRPr lang="en-US" altLang="zh-TW" sz="28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Software test tools cost less than </a:t>
            </a:r>
            <a:r>
              <a:rPr lang="en-US" altLang="zh-TW" sz="3200">
                <a:solidFill>
                  <a:srgbClr val="FFFF00"/>
                </a:solidFill>
                <a:ea typeface="新細明體" panose="02020500000000000000" pitchFamily="18" charset="-120"/>
              </a:rPr>
              <a:t>$10,000</a:t>
            </a:r>
            <a:r>
              <a:rPr lang="en-US" altLang="zh-TW" sz="3200">
                <a:ea typeface="新細明體" panose="02020500000000000000" pitchFamily="18" charset="-120"/>
              </a:rPr>
              <a:t> !!!</a:t>
            </a:r>
          </a:p>
        </p:txBody>
      </p:sp>
      <p:sp>
        <p:nvSpPr>
          <p:cNvPr id="159748" name="Text Box 4">
            <a:extLst>
              <a:ext uri="{FF2B5EF4-FFF2-40B4-BE49-F238E27FC236}">
                <a16:creationId xmlns:a16="http://schemas.microsoft.com/office/drawing/2014/main" id="{D947D755-0C63-4D87-B2E3-644CC0A05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839788"/>
            <a:ext cx="5373687" cy="95885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TW" sz="280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ea typeface="新細明體" pitchFamily="18" charset="-120"/>
                <a:cs typeface="Arial" pitchFamily="34" charset="0"/>
              </a:rPr>
              <a:t>Program Managers often say: “Testing is too expensive.”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B8095CBF-B9AF-4011-B235-DB3F4CE1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OUTLINE</a:t>
            </a:r>
          </a:p>
        </p:txBody>
      </p:sp>
      <p:sp>
        <p:nvSpPr>
          <p:cNvPr id="48131" name="Date Placeholder 2">
            <a:extLst>
              <a:ext uri="{FF2B5EF4-FFF2-40B4-BE49-F238E27FC236}">
                <a16:creationId xmlns:a16="http://schemas.microsoft.com/office/drawing/2014/main" id="{4CD9A2B9-D57F-4D03-9ADA-D21FB591A5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Introduction to Software Testing  (Ch 1)</a:t>
            </a:r>
          </a:p>
        </p:txBody>
      </p:sp>
      <p:sp>
        <p:nvSpPr>
          <p:cNvPr id="48132" name="Footer Placeholder 3">
            <a:extLst>
              <a:ext uri="{FF2B5EF4-FFF2-40B4-BE49-F238E27FC236}">
                <a16:creationId xmlns:a16="http://schemas.microsoft.com/office/drawing/2014/main" id="{64F04358-7D20-427B-9F55-ADBA39E5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0E38F318-2193-4790-8FF3-4FD78A6E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14CBB33-0125-48A0-BC16-DD195294860A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zh-TW" sz="900" b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D597FB-C17B-4298-AFD2-8C3E170B228F}"/>
              </a:ext>
            </a:extLst>
          </p:cNvPr>
          <p:cNvSpPr txBox="1">
            <a:spLocks/>
          </p:cNvSpPr>
          <p:nvPr/>
        </p:nvSpPr>
        <p:spPr>
          <a:xfrm>
            <a:off x="914400" y="830263"/>
            <a:ext cx="7304088" cy="562610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8575">
            <a:solidFill>
              <a:srgbClr val="000000"/>
            </a:solidFill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Spectacular Software Failures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Why Test?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What Do We Do When We Test ?</a:t>
            </a:r>
          </a:p>
          <a:p>
            <a:pPr marL="971550" lvl="1" indent="-5143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Test Activities and Model-Driven Testing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Software Testing Terminology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Changing Notions of Testing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Test Maturity Levels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400" b="0" kern="0" dirty="0">
                <a:solidFill>
                  <a:schemeClr val="tx1">
                    <a:lumMod val="95000"/>
                  </a:schemeClr>
                </a:solidFill>
                <a:latin typeface="Comic Sans MS" pitchFamily="66" charset="0"/>
              </a:rPr>
              <a:t>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6CE88-4ADE-4B33-951E-D76A04C23E0D}"/>
              </a:ext>
            </a:extLst>
          </p:cNvPr>
          <p:cNvSpPr/>
          <p:nvPr/>
        </p:nvSpPr>
        <p:spPr>
          <a:xfrm>
            <a:off x="958850" y="2241550"/>
            <a:ext cx="5530850" cy="715963"/>
          </a:xfrm>
          <a:prstGeom prst="rect">
            <a:avLst/>
          </a:prstGeom>
          <a:solidFill>
            <a:srgbClr val="FFFF00">
              <a:alpha val="4902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zh-TW">
              <a:solidFill>
                <a:srgbClr val="FFFFFF"/>
              </a:solidFill>
              <a:ea typeface="新細明體" pitchFamily="18" charset="-12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820C576B-CC90-40E9-A57F-C61D413E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Model-Driven Test Design</a:t>
            </a:r>
          </a:p>
        </p:txBody>
      </p:sp>
      <p:sp>
        <p:nvSpPr>
          <p:cNvPr id="74755" name="Date Placeholder 3">
            <a:extLst>
              <a:ext uri="{FF2B5EF4-FFF2-40B4-BE49-F238E27FC236}">
                <a16:creationId xmlns:a16="http://schemas.microsoft.com/office/drawing/2014/main" id="{2DF2B16F-AC9F-46EE-AA1B-6E6617190F1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74756" name="Footer Placeholder 4">
            <a:extLst>
              <a:ext uri="{FF2B5EF4-FFF2-40B4-BE49-F238E27FC236}">
                <a16:creationId xmlns:a16="http://schemas.microsoft.com/office/drawing/2014/main" id="{E167731E-20E9-48E3-8CCB-351A8404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74757" name="Slide Number Placeholder 5">
            <a:extLst>
              <a:ext uri="{FF2B5EF4-FFF2-40B4-BE49-F238E27FC236}">
                <a16:creationId xmlns:a16="http://schemas.microsoft.com/office/drawing/2014/main" id="{9A091B11-3A98-4E70-9D7D-31D7EB6E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9B49DB0-CD3C-4BB6-BAC8-7B276F9A0E9E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23</a:t>
            </a:fld>
            <a:endParaRPr lang="en-US" altLang="zh-TW" sz="900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A4CF9-6569-44B7-9D94-CE23CEBA7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3597275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software artifact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1F74D-1301-485D-ACA2-E5FD26DB1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1125538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model /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5F9DA-CCDD-4645-AC93-A89669423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125538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F9978-9A0F-4630-833A-6218EABBF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0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refined requirements / test specs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5D40B-2A22-4949-AACF-6CA0472A5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3960813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input values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AE8A81-7002-4E00-96E9-439F67C6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5443538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cases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FE597-F32A-4D23-8EEE-D7B5D9782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6900" y="544353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scripts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3AD54-F245-4F48-A884-859310AA9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544353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results</a:t>
            </a: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CE082DA-D953-41CE-AB12-D595339E54E5}"/>
              </a:ext>
            </a:extLst>
          </p:cNvPr>
          <p:cNvCxnSpPr>
            <a:stCxn id="7" idx="0"/>
            <a:endCxn id="8" idx="1"/>
          </p:cNvCxnSpPr>
          <p:nvPr/>
        </p:nvCxnSpPr>
        <p:spPr bwMode="auto">
          <a:xfrm rot="5400000" flipH="1" flipV="1">
            <a:off x="189706" y="2083594"/>
            <a:ext cx="2117725" cy="9096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>
            <a:extLst>
              <a:ext uri="{FF2B5EF4-FFF2-40B4-BE49-F238E27FC236}">
                <a16:creationId xmlns:a16="http://schemas.microsoft.com/office/drawing/2014/main" id="{95FE9A31-4429-40B2-A291-E7659261230D}"/>
              </a:ext>
            </a:extLst>
          </p:cNvPr>
          <p:cNvCxnSpPr>
            <a:stCxn id="11" idx="2"/>
            <a:endCxn id="12" idx="3"/>
          </p:cNvCxnSpPr>
          <p:nvPr/>
        </p:nvCxnSpPr>
        <p:spPr bwMode="auto">
          <a:xfrm rot="5400000">
            <a:off x="7062788" y="4608513"/>
            <a:ext cx="1128712" cy="1249362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F34FFC-34F2-4374-A4D9-AEA79C6F6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3" y="5443538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pass / fail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A01954-298D-48CE-ABE0-1F694A2AB2AA}"/>
              </a:ext>
            </a:extLst>
          </p:cNvPr>
          <p:cNvCxnSpPr/>
          <p:nvPr/>
        </p:nvCxnSpPr>
        <p:spPr bwMode="auto">
          <a:xfrm flipV="1">
            <a:off x="3005138" y="1479550"/>
            <a:ext cx="5191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DF35C08-689D-40EE-9B3D-8E361A8B9FE0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5105400" y="1479550"/>
            <a:ext cx="7366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99AD980-0FB9-49A9-A205-B09F0957A3BE}"/>
              </a:ext>
            </a:extLst>
          </p:cNvPr>
          <p:cNvCxnSpPr/>
          <p:nvPr/>
        </p:nvCxnSpPr>
        <p:spPr bwMode="auto">
          <a:xfrm rot="10800000">
            <a:off x="2300288" y="5795963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1EAA087-7942-4841-A3AC-E30E3C486F76}"/>
              </a:ext>
            </a:extLst>
          </p:cNvPr>
          <p:cNvCxnSpPr/>
          <p:nvPr/>
        </p:nvCxnSpPr>
        <p:spPr bwMode="auto">
          <a:xfrm rot="10800000">
            <a:off x="3848100" y="579596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72485D6-D23D-4501-AF56-04211DAFFC26}"/>
              </a:ext>
            </a:extLst>
          </p:cNvPr>
          <p:cNvCxnSpPr/>
          <p:nvPr/>
        </p:nvCxnSpPr>
        <p:spPr bwMode="auto">
          <a:xfrm rot="10800000">
            <a:off x="5448300" y="579596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22BA2FA-4B50-4FB9-9F68-2269FD15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3433763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IMPLEMENTATION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ABSTRACTION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LEVEL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01D8B2-793B-4DEF-A8B4-C35BEFBA2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2398713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DESIGN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ABSTRACTION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LEVEL</a:t>
            </a:r>
          </a:p>
        </p:txBody>
      </p:sp>
      <p:cxnSp>
        <p:nvCxnSpPr>
          <p:cNvPr id="20" name="Shape 19">
            <a:extLst>
              <a:ext uri="{FF2B5EF4-FFF2-40B4-BE49-F238E27FC236}">
                <a16:creationId xmlns:a16="http://schemas.microsoft.com/office/drawing/2014/main" id="{0452429A-2EFF-4BAE-8AAA-6058D2757023}"/>
              </a:ext>
            </a:extLst>
          </p:cNvPr>
          <p:cNvCxnSpPr>
            <a:stCxn id="10" idx="3"/>
            <a:endCxn id="11" idx="0"/>
          </p:cNvCxnSpPr>
          <p:nvPr/>
        </p:nvCxnSpPr>
        <p:spPr bwMode="auto">
          <a:xfrm>
            <a:off x="7861300" y="1479550"/>
            <a:ext cx="390525" cy="2481263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26DE42-CACE-4DEE-8ABA-1DFEFBFC49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9225" y="3479800"/>
            <a:ext cx="8845550" cy="1588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Curved Connector 15">
            <a:extLst>
              <a:ext uri="{FF2B5EF4-FFF2-40B4-BE49-F238E27FC236}">
                <a16:creationId xmlns:a16="http://schemas.microsoft.com/office/drawing/2014/main" id="{30312F89-D517-48D7-9D87-BBEF64FC6004}"/>
              </a:ext>
            </a:extLst>
          </p:cNvPr>
          <p:cNvCxnSpPr>
            <a:cxnSpLocks noChangeShapeType="1"/>
            <a:endCxn id="28" idx="1"/>
          </p:cNvCxnSpPr>
          <p:nvPr/>
        </p:nvCxnSpPr>
        <p:spPr bwMode="auto">
          <a:xfrm flipV="1">
            <a:off x="1122363" y="2432050"/>
            <a:ext cx="2100262" cy="1143000"/>
          </a:xfrm>
          <a:prstGeom prst="curvedConnector3">
            <a:avLst>
              <a:gd name="adj1" fmla="val 17338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48AACF-9BBF-49F0-A638-1BFA41B41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2078038"/>
            <a:ext cx="1801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chemeClr val="tx2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requirements</a:t>
            </a:r>
          </a:p>
        </p:txBody>
      </p:sp>
      <p:cxnSp>
        <p:nvCxnSpPr>
          <p:cNvPr id="30" name="Curved Connector 15">
            <a:extLst>
              <a:ext uri="{FF2B5EF4-FFF2-40B4-BE49-F238E27FC236}">
                <a16:creationId xmlns:a16="http://schemas.microsoft.com/office/drawing/2014/main" id="{F40F1728-8954-4F47-9331-C153E77930E8}"/>
              </a:ext>
            </a:extLst>
          </p:cNvPr>
          <p:cNvCxnSpPr>
            <a:cxnSpLocks noChangeShapeType="1"/>
            <a:stCxn id="28" idx="3"/>
            <a:endCxn id="10" idx="1"/>
          </p:cNvCxnSpPr>
          <p:nvPr/>
        </p:nvCxnSpPr>
        <p:spPr bwMode="auto">
          <a:xfrm flipV="1">
            <a:off x="5024438" y="1479550"/>
            <a:ext cx="817562" cy="952500"/>
          </a:xfrm>
          <a:prstGeom prst="curvedConnector3">
            <a:avLst>
              <a:gd name="adj1" fmla="val 50000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26" grpId="0"/>
      <p:bldP spid="67" grpId="0" animBg="1"/>
      <p:bldP spid="68" grpId="0" animBg="1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43591466-15E1-40B3-AA6E-E5D3FC27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Model-Driven Test Design – Steps</a:t>
            </a:r>
          </a:p>
        </p:txBody>
      </p:sp>
      <p:sp>
        <p:nvSpPr>
          <p:cNvPr id="76803" name="Date Placeholder 3">
            <a:extLst>
              <a:ext uri="{FF2B5EF4-FFF2-40B4-BE49-F238E27FC236}">
                <a16:creationId xmlns:a16="http://schemas.microsoft.com/office/drawing/2014/main" id="{A7DE6BDD-9EF6-4212-97FB-A6589C625DE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76804" name="Footer Placeholder 4">
            <a:extLst>
              <a:ext uri="{FF2B5EF4-FFF2-40B4-BE49-F238E27FC236}">
                <a16:creationId xmlns:a16="http://schemas.microsoft.com/office/drawing/2014/main" id="{D0614995-7F6E-4950-9B79-FD6D211C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76805" name="Slide Number Placeholder 5">
            <a:extLst>
              <a:ext uri="{FF2B5EF4-FFF2-40B4-BE49-F238E27FC236}">
                <a16:creationId xmlns:a16="http://schemas.microsoft.com/office/drawing/2014/main" id="{AF18FB24-4889-4C8C-9E38-C1F416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FA53B93D-6CD2-43F1-B7F7-8FBE8E1B33F7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US" altLang="zh-TW" sz="900" b="0"/>
          </a:p>
        </p:txBody>
      </p:sp>
      <p:sp>
        <p:nvSpPr>
          <p:cNvPr id="76806" name="TextBox 6">
            <a:extLst>
              <a:ext uri="{FF2B5EF4-FFF2-40B4-BE49-F238E27FC236}">
                <a16:creationId xmlns:a16="http://schemas.microsoft.com/office/drawing/2014/main" id="{EB873DA6-05BF-414E-A2D6-965C0D9EE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3597275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software artifact</a:t>
            </a:r>
          </a:p>
        </p:txBody>
      </p:sp>
      <p:sp>
        <p:nvSpPr>
          <p:cNvPr id="76807" name="TextBox 7">
            <a:extLst>
              <a:ext uri="{FF2B5EF4-FFF2-40B4-BE49-F238E27FC236}">
                <a16:creationId xmlns:a16="http://schemas.microsoft.com/office/drawing/2014/main" id="{91ECB383-B86A-49E1-8AE8-8D042ABB1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088" y="1125538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model / structure</a:t>
            </a:r>
          </a:p>
        </p:txBody>
      </p:sp>
      <p:sp>
        <p:nvSpPr>
          <p:cNvPr id="76808" name="TextBox 8">
            <a:extLst>
              <a:ext uri="{FF2B5EF4-FFF2-40B4-BE49-F238E27FC236}">
                <a16:creationId xmlns:a16="http://schemas.microsoft.com/office/drawing/2014/main" id="{8E3B385F-B390-4818-8A8C-59A776F3A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1125538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requirements</a:t>
            </a:r>
          </a:p>
        </p:txBody>
      </p:sp>
      <p:sp>
        <p:nvSpPr>
          <p:cNvPr id="76809" name="TextBox 9">
            <a:extLst>
              <a:ext uri="{FF2B5EF4-FFF2-40B4-BE49-F238E27FC236}">
                <a16:creationId xmlns:a16="http://schemas.microsoft.com/office/drawing/2014/main" id="{F8AB1EF6-B711-4406-A632-C4672B206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8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refined requirements / test specs</a:t>
            </a:r>
          </a:p>
        </p:txBody>
      </p:sp>
      <p:sp>
        <p:nvSpPr>
          <p:cNvPr id="76810" name="TextBox 10">
            <a:extLst>
              <a:ext uri="{FF2B5EF4-FFF2-40B4-BE49-F238E27FC236}">
                <a16:creationId xmlns:a16="http://schemas.microsoft.com/office/drawing/2014/main" id="{6FAE1949-1A9F-4E99-B092-661566CFD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3952875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input values</a:t>
            </a:r>
          </a:p>
        </p:txBody>
      </p:sp>
      <p:sp>
        <p:nvSpPr>
          <p:cNvPr id="76811" name="TextBox 11">
            <a:extLst>
              <a:ext uri="{FF2B5EF4-FFF2-40B4-BE49-F238E27FC236}">
                <a16:creationId xmlns:a16="http://schemas.microsoft.com/office/drawing/2014/main" id="{1282B04F-8456-429F-A18A-8CE70D655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5449888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cases</a:t>
            </a:r>
          </a:p>
        </p:txBody>
      </p:sp>
      <p:sp>
        <p:nvSpPr>
          <p:cNvPr id="76812" name="TextBox 12">
            <a:extLst>
              <a:ext uri="{FF2B5EF4-FFF2-40B4-BE49-F238E27FC236}">
                <a16:creationId xmlns:a16="http://schemas.microsoft.com/office/drawing/2014/main" id="{78C11A2F-1908-4F7E-93F3-F8D4185BF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6900" y="544988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scripts</a:t>
            </a:r>
          </a:p>
        </p:txBody>
      </p:sp>
      <p:sp>
        <p:nvSpPr>
          <p:cNvPr id="76813" name="TextBox 13">
            <a:extLst>
              <a:ext uri="{FF2B5EF4-FFF2-40B4-BE49-F238E27FC236}">
                <a16:creationId xmlns:a16="http://schemas.microsoft.com/office/drawing/2014/main" id="{93CB67B6-01A9-48E7-912A-06B33F58B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544988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results</a:t>
            </a: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158B5F98-B9AA-4692-955B-279F1D3DF880}"/>
              </a:ext>
            </a:extLst>
          </p:cNvPr>
          <p:cNvCxnSpPr>
            <a:stCxn id="76806" idx="0"/>
            <a:endCxn id="76807" idx="1"/>
          </p:cNvCxnSpPr>
          <p:nvPr/>
        </p:nvCxnSpPr>
        <p:spPr bwMode="auto">
          <a:xfrm rot="5400000" flipH="1" flipV="1">
            <a:off x="132556" y="2140744"/>
            <a:ext cx="2117725" cy="7953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>
            <a:extLst>
              <a:ext uri="{FF2B5EF4-FFF2-40B4-BE49-F238E27FC236}">
                <a16:creationId xmlns:a16="http://schemas.microsoft.com/office/drawing/2014/main" id="{C1B346B6-49B4-4E55-855B-35F5137D7F7E}"/>
              </a:ext>
            </a:extLst>
          </p:cNvPr>
          <p:cNvCxnSpPr>
            <a:stCxn id="76810" idx="2"/>
            <a:endCxn id="76811" idx="3"/>
          </p:cNvCxnSpPr>
          <p:nvPr/>
        </p:nvCxnSpPr>
        <p:spPr bwMode="auto">
          <a:xfrm rot="5400000">
            <a:off x="7055644" y="4607719"/>
            <a:ext cx="1143000" cy="1249362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76816" name="TextBox 25">
            <a:extLst>
              <a:ext uri="{FF2B5EF4-FFF2-40B4-BE49-F238E27FC236}">
                <a16:creationId xmlns:a16="http://schemas.microsoft.com/office/drawing/2014/main" id="{F37EF7A7-EED5-49AF-95E0-357707D10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3" y="5449888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pass / fail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7B779B4-3521-4E27-AC94-15C4B363C323}"/>
              </a:ext>
            </a:extLst>
          </p:cNvPr>
          <p:cNvCxnSpPr/>
          <p:nvPr/>
        </p:nvCxnSpPr>
        <p:spPr bwMode="auto">
          <a:xfrm flipV="1">
            <a:off x="2833688" y="1463675"/>
            <a:ext cx="663575" cy="1587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05E0915-A6BA-48C3-A509-158F410106E6}"/>
              </a:ext>
            </a:extLst>
          </p:cNvPr>
          <p:cNvCxnSpPr>
            <a:endCxn id="76809" idx="1"/>
          </p:cNvCxnSpPr>
          <p:nvPr/>
        </p:nvCxnSpPr>
        <p:spPr bwMode="auto">
          <a:xfrm>
            <a:off x="4876800" y="1479550"/>
            <a:ext cx="687388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DFE2CFF-7AA7-469A-83E8-61BED03FD420}"/>
              </a:ext>
            </a:extLst>
          </p:cNvPr>
          <p:cNvCxnSpPr/>
          <p:nvPr/>
        </p:nvCxnSpPr>
        <p:spPr bwMode="auto">
          <a:xfrm rot="10800000">
            <a:off x="2300288" y="5802313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1F3AE7B-13FE-467A-9AB4-4A206E6F4F38}"/>
              </a:ext>
            </a:extLst>
          </p:cNvPr>
          <p:cNvCxnSpPr/>
          <p:nvPr/>
        </p:nvCxnSpPr>
        <p:spPr bwMode="auto">
          <a:xfrm rot="10800000">
            <a:off x="3848100" y="580231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7B27F0C-DD35-4365-824E-4F962528C088}"/>
              </a:ext>
            </a:extLst>
          </p:cNvPr>
          <p:cNvCxnSpPr/>
          <p:nvPr/>
        </p:nvCxnSpPr>
        <p:spPr bwMode="auto">
          <a:xfrm rot="10800000">
            <a:off x="5448300" y="580231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76822" name="TextBox 66">
            <a:extLst>
              <a:ext uri="{FF2B5EF4-FFF2-40B4-BE49-F238E27FC236}">
                <a16:creationId xmlns:a16="http://schemas.microsoft.com/office/drawing/2014/main" id="{DE98E8AB-D36F-4326-AD5A-3C3E84B1D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3435350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IMPLEMENTATION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ABSTRACTION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LEVEL</a:t>
            </a:r>
          </a:p>
        </p:txBody>
      </p:sp>
      <p:sp>
        <p:nvSpPr>
          <p:cNvPr id="76823" name="TextBox 67">
            <a:extLst>
              <a:ext uri="{FF2B5EF4-FFF2-40B4-BE49-F238E27FC236}">
                <a16:creationId xmlns:a16="http://schemas.microsoft.com/office/drawing/2014/main" id="{4629263A-AEAC-4786-A80C-73090BABC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2524125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DESIGN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ABSTRACTION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rgbClr val="FAFD00"/>
                </a:solidFill>
                <a:latin typeface="Bradley Hand ITC" panose="03070402050302030203" pitchFamily="66" charset="0"/>
                <a:ea typeface="新細明體" panose="02020500000000000000" pitchFamily="18" charset="-120"/>
              </a:rPr>
              <a:t>LEVEL</a:t>
            </a:r>
          </a:p>
        </p:txBody>
      </p:sp>
      <p:cxnSp>
        <p:nvCxnSpPr>
          <p:cNvPr id="20" name="Shape 19">
            <a:extLst>
              <a:ext uri="{FF2B5EF4-FFF2-40B4-BE49-F238E27FC236}">
                <a16:creationId xmlns:a16="http://schemas.microsoft.com/office/drawing/2014/main" id="{AF33DEF2-E55A-425D-9363-EC00BC5DBAB5}"/>
              </a:ext>
            </a:extLst>
          </p:cNvPr>
          <p:cNvCxnSpPr>
            <a:stCxn id="76809" idx="3"/>
            <a:endCxn id="76810" idx="0"/>
          </p:cNvCxnSpPr>
          <p:nvPr/>
        </p:nvCxnSpPr>
        <p:spPr bwMode="auto">
          <a:xfrm>
            <a:off x="7583488" y="1479550"/>
            <a:ext cx="668337" cy="2473325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76825" name="Straight Connector 62">
            <a:extLst>
              <a:ext uri="{FF2B5EF4-FFF2-40B4-BE49-F238E27FC236}">
                <a16:creationId xmlns:a16="http://schemas.microsoft.com/office/drawing/2014/main" id="{9DF4235B-9347-4B34-9287-D684A9CC5B9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9225" y="3481388"/>
            <a:ext cx="8845550" cy="1587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BC5524D-A3F2-4CA8-9C42-BE66D30F313A}"/>
              </a:ext>
            </a:extLst>
          </p:cNvPr>
          <p:cNvSpPr txBox="1"/>
          <p:nvPr/>
        </p:nvSpPr>
        <p:spPr>
          <a:xfrm>
            <a:off x="639763" y="2057400"/>
            <a:ext cx="1052512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87EA55-2181-4B89-9613-03CA3A6CE641}"/>
              </a:ext>
            </a:extLst>
          </p:cNvPr>
          <p:cNvSpPr txBox="1"/>
          <p:nvPr/>
        </p:nvSpPr>
        <p:spPr>
          <a:xfrm>
            <a:off x="2792413" y="960438"/>
            <a:ext cx="11366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FBF322-9D69-496A-9953-7E4C1C7702A0}"/>
              </a:ext>
            </a:extLst>
          </p:cNvPr>
          <p:cNvSpPr txBox="1"/>
          <p:nvPr/>
        </p:nvSpPr>
        <p:spPr>
          <a:xfrm>
            <a:off x="4694238" y="960438"/>
            <a:ext cx="8191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refine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62DBCC-7DE8-4E7A-802F-62E86B403F69}"/>
              </a:ext>
            </a:extLst>
          </p:cNvPr>
          <p:cNvSpPr txBox="1"/>
          <p:nvPr/>
        </p:nvSpPr>
        <p:spPr>
          <a:xfrm>
            <a:off x="7623175" y="1589088"/>
            <a:ext cx="11239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generate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E2A990-B9BE-47ED-A890-7A5C6A548FA7}"/>
              </a:ext>
            </a:extLst>
          </p:cNvPr>
          <p:cNvSpPr txBox="1"/>
          <p:nvPr/>
        </p:nvSpPr>
        <p:spPr>
          <a:xfrm>
            <a:off x="7383463" y="5038725"/>
            <a:ext cx="1138237" cy="1014413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prefix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postfix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expected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5AF82F-76CA-4BD9-B967-7A5E41B3396C}"/>
              </a:ext>
            </a:extLst>
          </p:cNvPr>
          <p:cNvSpPr txBox="1"/>
          <p:nvPr/>
        </p:nvSpPr>
        <p:spPr>
          <a:xfrm>
            <a:off x="5170488" y="5167313"/>
            <a:ext cx="1208087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automate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9768F2-206A-49C7-B545-5E3B054C37AC}"/>
              </a:ext>
            </a:extLst>
          </p:cNvPr>
          <p:cNvSpPr txBox="1"/>
          <p:nvPr/>
        </p:nvSpPr>
        <p:spPr>
          <a:xfrm>
            <a:off x="3733800" y="5126038"/>
            <a:ext cx="995363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88BE6A-BCF4-4C65-B4F8-043F402BA61B}"/>
              </a:ext>
            </a:extLst>
          </p:cNvPr>
          <p:cNvSpPr txBox="1"/>
          <p:nvPr/>
        </p:nvSpPr>
        <p:spPr>
          <a:xfrm>
            <a:off x="2217738" y="5153025"/>
            <a:ext cx="1095375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evaluate</a:t>
            </a:r>
          </a:p>
        </p:txBody>
      </p:sp>
      <p:cxnSp>
        <p:nvCxnSpPr>
          <p:cNvPr id="76834" name="Curved Connector 15">
            <a:extLst>
              <a:ext uri="{FF2B5EF4-FFF2-40B4-BE49-F238E27FC236}">
                <a16:creationId xmlns:a16="http://schemas.microsoft.com/office/drawing/2014/main" id="{50599200-6A54-4D71-91F9-7006D4888EF1}"/>
              </a:ext>
            </a:extLst>
          </p:cNvPr>
          <p:cNvCxnSpPr>
            <a:cxnSpLocks noChangeShapeType="1"/>
            <a:endCxn id="76835" idx="1"/>
          </p:cNvCxnSpPr>
          <p:nvPr/>
        </p:nvCxnSpPr>
        <p:spPr bwMode="auto">
          <a:xfrm flipV="1">
            <a:off x="1122363" y="2432050"/>
            <a:ext cx="2100262" cy="1143000"/>
          </a:xfrm>
          <a:prstGeom prst="curvedConnector3">
            <a:avLst>
              <a:gd name="adj1" fmla="val 17338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35" name="TextBox 34">
            <a:extLst>
              <a:ext uri="{FF2B5EF4-FFF2-40B4-BE49-F238E27FC236}">
                <a16:creationId xmlns:a16="http://schemas.microsoft.com/office/drawing/2014/main" id="{66215434-D08F-40C1-B620-4B1ECFEC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2078038"/>
            <a:ext cx="1801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2000">
                <a:solidFill>
                  <a:schemeClr val="tx2"/>
                </a:solidFill>
                <a:latin typeface="Comic Sans MS" panose="030F0702030302020204" pitchFamily="66" charset="0"/>
                <a:ea typeface="新細明體" panose="02020500000000000000" pitchFamily="18" charset="-120"/>
                <a:cs typeface="Shruti" panose="020B0502040204020203" pitchFamily="34" charset="0"/>
              </a:rPr>
              <a:t>test requirements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039157-83BA-47BE-83FB-55CFFC4E0A32}"/>
              </a:ext>
            </a:extLst>
          </p:cNvPr>
          <p:cNvSpPr txBox="1"/>
          <p:nvPr/>
        </p:nvSpPr>
        <p:spPr>
          <a:xfrm>
            <a:off x="1665288" y="2532063"/>
            <a:ext cx="1285875" cy="70802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domain analysis</a:t>
            </a:r>
          </a:p>
        </p:txBody>
      </p:sp>
      <p:cxnSp>
        <p:nvCxnSpPr>
          <p:cNvPr id="76837" name="Curved Connector 15">
            <a:extLst>
              <a:ext uri="{FF2B5EF4-FFF2-40B4-BE49-F238E27FC236}">
                <a16:creationId xmlns:a16="http://schemas.microsoft.com/office/drawing/2014/main" id="{726FB2BE-058D-4118-8A26-C06D88EA9FF6}"/>
              </a:ext>
            </a:extLst>
          </p:cNvPr>
          <p:cNvCxnSpPr>
            <a:cxnSpLocks noChangeShapeType="1"/>
            <a:stCxn id="76835" idx="3"/>
            <a:endCxn id="76809" idx="1"/>
          </p:cNvCxnSpPr>
          <p:nvPr/>
        </p:nvCxnSpPr>
        <p:spPr bwMode="auto">
          <a:xfrm flipV="1">
            <a:off x="5024438" y="1479550"/>
            <a:ext cx="539750" cy="952500"/>
          </a:xfrm>
          <a:prstGeom prst="curvedConnector3">
            <a:avLst>
              <a:gd name="adj1" fmla="val 50000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47">
            <a:extLst>
              <a:ext uri="{FF2B5EF4-FFF2-40B4-BE49-F238E27FC236}">
                <a16:creationId xmlns:a16="http://schemas.microsoft.com/office/drawing/2014/main" id="{C56AF308-1B3E-4F82-A67E-204CBD5EE41D}"/>
              </a:ext>
            </a:extLst>
          </p:cNvPr>
          <p:cNvGrpSpPr>
            <a:grpSpLocks/>
          </p:cNvGrpSpPr>
          <p:nvPr/>
        </p:nvGrpSpPr>
        <p:grpSpPr bwMode="auto">
          <a:xfrm>
            <a:off x="3041650" y="2562225"/>
            <a:ext cx="4600575" cy="2070100"/>
            <a:chOff x="3041822" y="2562130"/>
            <a:chExt cx="4600955" cy="2069438"/>
          </a:xfrm>
        </p:grpSpPr>
        <p:sp>
          <p:nvSpPr>
            <p:cNvPr id="49" name="Left Brace 48">
              <a:extLst>
                <a:ext uri="{FF2B5EF4-FFF2-40B4-BE49-F238E27FC236}">
                  <a16:creationId xmlns:a16="http://schemas.microsoft.com/office/drawing/2014/main" id="{B3798B61-DCA8-44DB-AA22-4D8CCDE000EE}"/>
                </a:ext>
              </a:extLst>
            </p:cNvPr>
            <p:cNvSpPr/>
            <p:nvPr/>
          </p:nvSpPr>
          <p:spPr>
            <a:xfrm rot="4719087">
              <a:off x="4974912" y="1963702"/>
              <a:ext cx="734777" cy="4600955"/>
            </a:xfrm>
            <a:prstGeom prst="leftBrace">
              <a:avLst>
                <a:gd name="adj1" fmla="val 8333"/>
                <a:gd name="adj2" fmla="val 4969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ea typeface="新細明體" pitchFamily="18" charset="-120"/>
              </a:endParaRPr>
            </a:p>
          </p:txBody>
        </p:sp>
        <p:grpSp>
          <p:nvGrpSpPr>
            <p:cNvPr id="76841" name="Group 89">
              <a:extLst>
                <a:ext uri="{FF2B5EF4-FFF2-40B4-BE49-F238E27FC236}">
                  <a16:creationId xmlns:a16="http://schemas.microsoft.com/office/drawing/2014/main" id="{860CB0D0-647C-4225-9A0C-A5F16A3610C5}"/>
                </a:ext>
              </a:extLst>
            </p:cNvPr>
            <p:cNvGrpSpPr>
              <a:grpSpLocks/>
            </p:cNvGrpSpPr>
            <p:nvPr/>
          </p:nvGrpSpPr>
          <p:grpSpPr bwMode="auto">
            <a:xfrm rot="-677690">
              <a:off x="4562954" y="2562130"/>
              <a:ext cx="999582" cy="1367073"/>
              <a:chOff x="4698749" y="2544024"/>
              <a:chExt cx="999582" cy="1367073"/>
            </a:xfrm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5FCC4336-DE43-4F4D-8A02-1AC7ECC32783}"/>
                  </a:ext>
                </a:extLst>
              </p:cNvPr>
              <p:cNvSpPr/>
              <p:nvPr/>
            </p:nvSpPr>
            <p:spPr>
              <a:xfrm>
                <a:off x="5281258" y="2617046"/>
                <a:ext cx="415960" cy="1245790"/>
              </a:xfrm>
              <a:custGeom>
                <a:avLst/>
                <a:gdLst>
                  <a:gd name="connsiteX0" fmla="*/ 0 w 411108"/>
                  <a:gd name="connsiteY0" fmla="*/ 1252009 h 1252009"/>
                  <a:gd name="connsiteX1" fmla="*/ 9054 w 411108"/>
                  <a:gd name="connsiteY1" fmla="*/ 790282 h 1252009"/>
                  <a:gd name="connsiteX2" fmla="*/ 18107 w 411108"/>
                  <a:gd name="connsiteY2" fmla="*/ 672587 h 1252009"/>
                  <a:gd name="connsiteX3" fmla="*/ 45268 w 411108"/>
                  <a:gd name="connsiteY3" fmla="*/ 582053 h 1252009"/>
                  <a:gd name="connsiteX4" fmla="*/ 63375 w 411108"/>
                  <a:gd name="connsiteY4" fmla="*/ 518678 h 1252009"/>
                  <a:gd name="connsiteX5" fmla="*/ 99588 w 411108"/>
                  <a:gd name="connsiteY5" fmla="*/ 455304 h 1252009"/>
                  <a:gd name="connsiteX6" fmla="*/ 108642 w 411108"/>
                  <a:gd name="connsiteY6" fmla="*/ 428144 h 1252009"/>
                  <a:gd name="connsiteX7" fmla="*/ 135802 w 411108"/>
                  <a:gd name="connsiteY7" fmla="*/ 391930 h 1252009"/>
                  <a:gd name="connsiteX8" fmla="*/ 181070 w 411108"/>
                  <a:gd name="connsiteY8" fmla="*/ 328556 h 1252009"/>
                  <a:gd name="connsiteX9" fmla="*/ 244444 w 411108"/>
                  <a:gd name="connsiteY9" fmla="*/ 228967 h 1252009"/>
                  <a:gd name="connsiteX10" fmla="*/ 325925 w 411108"/>
                  <a:gd name="connsiteY10" fmla="*/ 111272 h 1252009"/>
                  <a:gd name="connsiteX11" fmla="*/ 353085 w 411108"/>
                  <a:gd name="connsiteY11" fmla="*/ 75059 h 1252009"/>
                  <a:gd name="connsiteX12" fmla="*/ 371192 w 411108"/>
                  <a:gd name="connsiteY12" fmla="*/ 47898 h 1252009"/>
                  <a:gd name="connsiteX13" fmla="*/ 407406 w 411108"/>
                  <a:gd name="connsiteY13" fmla="*/ 2631 h 125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1108" h="1252009">
                    <a:moveTo>
                      <a:pt x="0" y="1252009"/>
                    </a:moveTo>
                    <a:cubicBezTo>
                      <a:pt x="3018" y="1098100"/>
                      <a:pt x="4246" y="944145"/>
                      <a:pt x="9054" y="790282"/>
                    </a:cubicBezTo>
                    <a:cubicBezTo>
                      <a:pt x="10283" y="750954"/>
                      <a:pt x="13510" y="711665"/>
                      <a:pt x="18107" y="672587"/>
                    </a:cubicBezTo>
                    <a:cubicBezTo>
                      <a:pt x="21300" y="645447"/>
                      <a:pt x="39317" y="605857"/>
                      <a:pt x="45268" y="582053"/>
                    </a:cubicBezTo>
                    <a:cubicBezTo>
                      <a:pt x="48170" y="570445"/>
                      <a:pt x="56879" y="531670"/>
                      <a:pt x="63375" y="518678"/>
                    </a:cubicBezTo>
                    <a:cubicBezTo>
                      <a:pt x="74256" y="496916"/>
                      <a:pt x="88707" y="477066"/>
                      <a:pt x="99588" y="455304"/>
                    </a:cubicBezTo>
                    <a:cubicBezTo>
                      <a:pt x="103856" y="446768"/>
                      <a:pt x="103907" y="436430"/>
                      <a:pt x="108642" y="428144"/>
                    </a:cubicBezTo>
                    <a:cubicBezTo>
                      <a:pt x="116128" y="415043"/>
                      <a:pt x="127805" y="404726"/>
                      <a:pt x="135802" y="391930"/>
                    </a:cubicBezTo>
                    <a:cubicBezTo>
                      <a:pt x="175521" y="328378"/>
                      <a:pt x="129294" y="380330"/>
                      <a:pt x="181070" y="328556"/>
                    </a:cubicBezTo>
                    <a:cubicBezTo>
                      <a:pt x="204412" y="258524"/>
                      <a:pt x="169387" y="354063"/>
                      <a:pt x="244444" y="228967"/>
                    </a:cubicBezTo>
                    <a:cubicBezTo>
                      <a:pt x="287130" y="157823"/>
                      <a:pt x="261047" y="197776"/>
                      <a:pt x="325925" y="111272"/>
                    </a:cubicBezTo>
                    <a:cubicBezTo>
                      <a:pt x="334978" y="99201"/>
                      <a:pt x="344715" y="87614"/>
                      <a:pt x="353085" y="75059"/>
                    </a:cubicBezTo>
                    <a:cubicBezTo>
                      <a:pt x="359121" y="66005"/>
                      <a:pt x="364226" y="56257"/>
                      <a:pt x="371192" y="47898"/>
                    </a:cubicBezTo>
                    <a:cubicBezTo>
                      <a:pt x="411108" y="0"/>
                      <a:pt x="388420" y="40605"/>
                      <a:pt x="407406" y="2631"/>
                    </a:cubicBezTo>
                  </a:path>
                </a:pathLst>
              </a:cu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F8906A6C-E7E8-401A-82F3-56C45D350A2B}"/>
                  </a:ext>
                </a:extLst>
              </p:cNvPr>
              <p:cNvSpPr/>
              <p:nvPr/>
            </p:nvSpPr>
            <p:spPr>
              <a:xfrm flipH="1">
                <a:off x="4662153" y="2692163"/>
                <a:ext cx="604888" cy="1104547"/>
              </a:xfrm>
              <a:custGeom>
                <a:avLst/>
                <a:gdLst>
                  <a:gd name="connsiteX0" fmla="*/ 0 w 411108"/>
                  <a:gd name="connsiteY0" fmla="*/ 1252009 h 1252009"/>
                  <a:gd name="connsiteX1" fmla="*/ 9054 w 411108"/>
                  <a:gd name="connsiteY1" fmla="*/ 790282 h 1252009"/>
                  <a:gd name="connsiteX2" fmla="*/ 18107 w 411108"/>
                  <a:gd name="connsiteY2" fmla="*/ 672587 h 1252009"/>
                  <a:gd name="connsiteX3" fmla="*/ 45268 w 411108"/>
                  <a:gd name="connsiteY3" fmla="*/ 582053 h 1252009"/>
                  <a:gd name="connsiteX4" fmla="*/ 63375 w 411108"/>
                  <a:gd name="connsiteY4" fmla="*/ 518678 h 1252009"/>
                  <a:gd name="connsiteX5" fmla="*/ 99588 w 411108"/>
                  <a:gd name="connsiteY5" fmla="*/ 455304 h 1252009"/>
                  <a:gd name="connsiteX6" fmla="*/ 108642 w 411108"/>
                  <a:gd name="connsiteY6" fmla="*/ 428144 h 1252009"/>
                  <a:gd name="connsiteX7" fmla="*/ 135802 w 411108"/>
                  <a:gd name="connsiteY7" fmla="*/ 391930 h 1252009"/>
                  <a:gd name="connsiteX8" fmla="*/ 181070 w 411108"/>
                  <a:gd name="connsiteY8" fmla="*/ 328556 h 1252009"/>
                  <a:gd name="connsiteX9" fmla="*/ 244444 w 411108"/>
                  <a:gd name="connsiteY9" fmla="*/ 228967 h 1252009"/>
                  <a:gd name="connsiteX10" fmla="*/ 325925 w 411108"/>
                  <a:gd name="connsiteY10" fmla="*/ 111272 h 1252009"/>
                  <a:gd name="connsiteX11" fmla="*/ 353085 w 411108"/>
                  <a:gd name="connsiteY11" fmla="*/ 75059 h 1252009"/>
                  <a:gd name="connsiteX12" fmla="*/ 371192 w 411108"/>
                  <a:gd name="connsiteY12" fmla="*/ 47898 h 1252009"/>
                  <a:gd name="connsiteX13" fmla="*/ 407406 w 411108"/>
                  <a:gd name="connsiteY13" fmla="*/ 2631 h 125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1108" h="1252009">
                    <a:moveTo>
                      <a:pt x="0" y="1252009"/>
                    </a:moveTo>
                    <a:cubicBezTo>
                      <a:pt x="3018" y="1098100"/>
                      <a:pt x="4246" y="944145"/>
                      <a:pt x="9054" y="790282"/>
                    </a:cubicBezTo>
                    <a:cubicBezTo>
                      <a:pt x="10283" y="750954"/>
                      <a:pt x="13510" y="711665"/>
                      <a:pt x="18107" y="672587"/>
                    </a:cubicBezTo>
                    <a:cubicBezTo>
                      <a:pt x="21300" y="645447"/>
                      <a:pt x="39317" y="605857"/>
                      <a:pt x="45268" y="582053"/>
                    </a:cubicBezTo>
                    <a:cubicBezTo>
                      <a:pt x="48170" y="570445"/>
                      <a:pt x="56879" y="531670"/>
                      <a:pt x="63375" y="518678"/>
                    </a:cubicBezTo>
                    <a:cubicBezTo>
                      <a:pt x="74256" y="496916"/>
                      <a:pt x="88707" y="477066"/>
                      <a:pt x="99588" y="455304"/>
                    </a:cubicBezTo>
                    <a:cubicBezTo>
                      <a:pt x="103856" y="446768"/>
                      <a:pt x="103907" y="436430"/>
                      <a:pt x="108642" y="428144"/>
                    </a:cubicBezTo>
                    <a:cubicBezTo>
                      <a:pt x="116128" y="415043"/>
                      <a:pt x="127805" y="404726"/>
                      <a:pt x="135802" y="391930"/>
                    </a:cubicBezTo>
                    <a:cubicBezTo>
                      <a:pt x="175521" y="328378"/>
                      <a:pt x="129294" y="380330"/>
                      <a:pt x="181070" y="328556"/>
                    </a:cubicBezTo>
                    <a:cubicBezTo>
                      <a:pt x="204412" y="258524"/>
                      <a:pt x="169387" y="354063"/>
                      <a:pt x="244444" y="228967"/>
                    </a:cubicBezTo>
                    <a:cubicBezTo>
                      <a:pt x="287130" y="157823"/>
                      <a:pt x="261047" y="197776"/>
                      <a:pt x="325925" y="111272"/>
                    </a:cubicBezTo>
                    <a:cubicBezTo>
                      <a:pt x="334978" y="99201"/>
                      <a:pt x="344715" y="87614"/>
                      <a:pt x="353085" y="75059"/>
                    </a:cubicBezTo>
                    <a:cubicBezTo>
                      <a:pt x="359121" y="66005"/>
                      <a:pt x="364226" y="56257"/>
                      <a:pt x="371192" y="47898"/>
                    </a:cubicBezTo>
                    <a:cubicBezTo>
                      <a:pt x="411108" y="0"/>
                      <a:pt x="388420" y="40605"/>
                      <a:pt x="407406" y="2631"/>
                    </a:cubicBezTo>
                  </a:path>
                </a:pathLst>
              </a:cu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48D40B7F-B5D3-4087-80B2-03547677F8DA}"/>
                  </a:ext>
                </a:extLst>
              </p:cNvPr>
              <p:cNvCxnSpPr>
                <a:stCxn id="52" idx="0"/>
              </p:cNvCxnSpPr>
              <p:nvPr/>
            </p:nvCxnSpPr>
            <p:spPr>
              <a:xfrm flipH="1" flipV="1">
                <a:off x="5218823" y="2502181"/>
                <a:ext cx="46042" cy="1334660"/>
              </a:xfrm>
              <a:prstGeom prst="straightConnector1">
                <a:avLst/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D5B4F9A-70F5-47BA-84E2-29EBF0C8E6EE}"/>
              </a:ext>
            </a:extLst>
          </p:cNvPr>
          <p:cNvSpPr txBox="1"/>
          <p:nvPr/>
        </p:nvSpPr>
        <p:spPr>
          <a:xfrm rot="21030169">
            <a:off x="4832350" y="4314825"/>
            <a:ext cx="1166813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feedback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36" grpId="0" animBg="1"/>
      <p:bldP spid="5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FCAD68E6-086F-489B-B7DE-F52157C3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Types of Test Activities – Summary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53E1A91E-3376-4293-88C3-80D3F5F17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979988"/>
            <a:ext cx="9144000" cy="1184275"/>
          </a:xfrm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These four general test activities are quite different</a:t>
            </a:r>
          </a:p>
          <a:p>
            <a:r>
              <a:rPr lang="en-US" altLang="zh-TW">
                <a:ea typeface="新細明體" panose="02020500000000000000" pitchFamily="18" charset="-120"/>
              </a:rPr>
              <a:t>It is a poor use of resources to use people inappropriately</a:t>
            </a:r>
          </a:p>
        </p:txBody>
      </p:sp>
      <p:sp>
        <p:nvSpPr>
          <p:cNvPr id="66564" name="Date Placeholder 3">
            <a:extLst>
              <a:ext uri="{FF2B5EF4-FFF2-40B4-BE49-F238E27FC236}">
                <a16:creationId xmlns:a16="http://schemas.microsoft.com/office/drawing/2014/main" id="{2BFF0E13-8C5D-4F07-81AD-070BCC9A6A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Introduction to Software Testing  (Ch 1)</a:t>
            </a:r>
          </a:p>
        </p:txBody>
      </p:sp>
      <p:sp>
        <p:nvSpPr>
          <p:cNvPr id="66565" name="Footer Placeholder 4">
            <a:extLst>
              <a:ext uri="{FF2B5EF4-FFF2-40B4-BE49-F238E27FC236}">
                <a16:creationId xmlns:a16="http://schemas.microsoft.com/office/drawing/2014/main" id="{1F612AA6-886A-4562-9E69-17E2B8F4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© Ammann &amp; Offutt</a:t>
            </a:r>
          </a:p>
        </p:txBody>
      </p:sp>
      <p:sp>
        <p:nvSpPr>
          <p:cNvPr id="66566" name="Slide Number Placeholder 5">
            <a:extLst>
              <a:ext uri="{FF2B5EF4-FFF2-40B4-BE49-F238E27FC236}">
                <a16:creationId xmlns:a16="http://schemas.microsoft.com/office/drawing/2014/main" id="{ACB050B8-00BF-42ED-AC62-FE182172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921AAA59-0713-46B1-8E3F-F45C8D42327F}" type="slidenum">
              <a:rPr lang="zh-CN" altLang="en-US" sz="900" b="0" smtClean="0">
                <a:ea typeface="SimSun" panose="02010600030101010101" pitchFamily="2" charset="-122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zh-CN" sz="900" b="0">
              <a:ea typeface="SimSun" panose="02010600030101010101" pitchFamily="2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6C7531-A554-4CF1-8303-4BA6F94BF96D}"/>
              </a:ext>
            </a:extLst>
          </p:cNvPr>
          <p:cNvGraphicFramePr>
            <a:graphicFrameLocks noGrp="1"/>
          </p:cNvGraphicFramePr>
          <p:nvPr/>
        </p:nvGraphicFramePr>
        <p:xfrm>
          <a:off x="257175" y="898525"/>
          <a:ext cx="8712200" cy="3962400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1a.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Design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Design test values to satisfy engineering goals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Criteria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Requires knowledge of discrete math, programming and testing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1b.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Design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Design test values from domain knowledge and intuition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Human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Requires knowledge of domain, UI, testing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Automation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Embed test values into executable scripts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Requires knowledge of scripting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Execution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Run tests on the software and record the results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Requires very little knowledge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Evaluation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Evaluate results of testing, report to developers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Requires domain knowledge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E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A2C85712-D4ED-417F-B865-1CBB5130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Other Activities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A23F091D-0C5C-41C7-A890-DA069163B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830263"/>
            <a:ext cx="8966200" cy="5546725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Test management </a:t>
            </a:r>
            <a:r>
              <a:rPr lang="en-US" altLang="zh-TW">
                <a:ea typeface="新細明體" panose="02020500000000000000" pitchFamily="18" charset="-120"/>
              </a:rPr>
              <a:t>: Sets policy, organizes team, interfaces with development,  chooses criteria, decides how much automation is needed, …</a:t>
            </a:r>
          </a:p>
          <a:p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Test maintenance </a:t>
            </a:r>
            <a:r>
              <a:rPr lang="en-US" altLang="zh-TW">
                <a:ea typeface="新細明體" panose="02020500000000000000" pitchFamily="18" charset="-120"/>
              </a:rPr>
              <a:t>: </a:t>
            </a:r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Save tests for reuse </a:t>
            </a:r>
            <a:r>
              <a:rPr lang="en-US" altLang="zh-TW">
                <a:ea typeface="新細明體" panose="02020500000000000000" pitchFamily="18" charset="-120"/>
              </a:rPr>
              <a:t>as software evolves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Requires cooperation of test </a:t>
            </a:r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designers and automators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Deciding when to trim the test suite is partly policy and partly technical – and in general, </a:t>
            </a:r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very hard </a:t>
            </a:r>
            <a:r>
              <a:rPr lang="en-US" altLang="zh-TW">
                <a:ea typeface="新細明體" panose="02020500000000000000" pitchFamily="18" charset="-120"/>
              </a:rPr>
              <a:t>!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Tests should be put in </a:t>
            </a:r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configuration control</a:t>
            </a:r>
          </a:p>
          <a:p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Test documentation </a:t>
            </a:r>
            <a:r>
              <a:rPr lang="en-US" altLang="zh-TW">
                <a:ea typeface="新細明體" panose="02020500000000000000" pitchFamily="18" charset="-120"/>
              </a:rPr>
              <a:t>: All parties participate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Each test must document “</a:t>
            </a:r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why</a:t>
            </a:r>
            <a:r>
              <a:rPr lang="en-US" altLang="zh-TW">
                <a:ea typeface="新細明體" panose="02020500000000000000" pitchFamily="18" charset="-120"/>
              </a:rPr>
              <a:t>” – criterion and test requirement satisfied or a rationale for human-designed tests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Ensure </a:t>
            </a:r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traceability</a:t>
            </a:r>
            <a:r>
              <a:rPr lang="en-US" altLang="zh-TW">
                <a:ea typeface="新細明體" panose="02020500000000000000" pitchFamily="18" charset="-120"/>
              </a:rPr>
              <a:t> throughout the process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Keep </a:t>
            </a:r>
            <a:r>
              <a:rPr lang="en-US" altLang="zh-TW">
                <a:solidFill>
                  <a:srgbClr val="FFFF00"/>
                </a:solidFill>
                <a:ea typeface="新細明體" panose="02020500000000000000" pitchFamily="18" charset="-120"/>
              </a:rPr>
              <a:t>documentation</a:t>
            </a:r>
            <a:r>
              <a:rPr lang="en-US" altLang="zh-TW">
                <a:ea typeface="新細明體" panose="02020500000000000000" pitchFamily="18" charset="-120"/>
              </a:rPr>
              <a:t> in the automated tests</a:t>
            </a:r>
          </a:p>
        </p:txBody>
      </p:sp>
      <p:sp>
        <p:nvSpPr>
          <p:cNvPr id="64516" name="Date Placeholder 3">
            <a:extLst>
              <a:ext uri="{FF2B5EF4-FFF2-40B4-BE49-F238E27FC236}">
                <a16:creationId xmlns:a16="http://schemas.microsoft.com/office/drawing/2014/main" id="{EE1FE607-79C6-4288-B404-70168C7A39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64517" name="Footer Placeholder 4">
            <a:extLst>
              <a:ext uri="{FF2B5EF4-FFF2-40B4-BE49-F238E27FC236}">
                <a16:creationId xmlns:a16="http://schemas.microsoft.com/office/drawing/2014/main" id="{9E1581CA-45C4-4C6C-A68D-60667C7D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64518" name="Slide Number Placeholder 5">
            <a:extLst>
              <a:ext uri="{FF2B5EF4-FFF2-40B4-BE49-F238E27FC236}">
                <a16:creationId xmlns:a16="http://schemas.microsoft.com/office/drawing/2014/main" id="{154C147F-05FC-4C17-B821-5344FFEF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F83C86B0-14CA-4A96-BBE3-318EE8DA007C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zh-TW" sz="900" b="0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0F3B410A-30DE-4BD6-BD83-C929A783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Organizing the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5B35B-1ABA-4B9A-AC74-EFF0073D9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830263"/>
            <a:ext cx="8966200" cy="5546725"/>
          </a:xfrm>
        </p:spPr>
        <p:txBody>
          <a:bodyPr/>
          <a:lstStyle/>
          <a:p>
            <a:pPr>
              <a:buFont typeface="Monotype Sorts" charset="2"/>
              <a:buChar char="n"/>
              <a:defRPr/>
            </a:pPr>
            <a:r>
              <a:rPr lang="en-US" dirty="0"/>
              <a:t>A mature test organization needs </a:t>
            </a:r>
            <a:r>
              <a:rPr lang="en-US" dirty="0">
                <a:solidFill>
                  <a:schemeClr val="tx2"/>
                </a:solidFill>
              </a:rPr>
              <a:t>only one test designer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to work with several test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automators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, executors and evaluators</a:t>
            </a:r>
          </a:p>
          <a:p>
            <a:pPr>
              <a:buFont typeface="Monotype Sorts" charset="2"/>
              <a:buChar char="n"/>
              <a:defRPr/>
            </a:pPr>
            <a:r>
              <a:rPr lang="en-US" dirty="0">
                <a:solidFill>
                  <a:schemeClr val="tx2"/>
                </a:solidFill>
              </a:rPr>
              <a:t>Improved automation</a:t>
            </a:r>
            <a:r>
              <a:rPr lang="en-US" dirty="0"/>
              <a:t> will reduce the number of test executors</a:t>
            </a:r>
          </a:p>
          <a:p>
            <a:pPr lvl="1">
              <a:defRPr/>
            </a:pPr>
            <a:r>
              <a:rPr lang="en-US" dirty="0"/>
              <a:t>Theoretically to zero … but not in practice</a:t>
            </a:r>
          </a:p>
          <a:p>
            <a:pPr>
              <a:buFont typeface="Monotype Sorts" charset="2"/>
              <a:buChar char="n"/>
              <a:defRPr/>
            </a:pPr>
            <a:r>
              <a:rPr lang="en-US" dirty="0"/>
              <a:t>Putting the </a:t>
            </a:r>
            <a:r>
              <a:rPr lang="en-US" dirty="0">
                <a:solidFill>
                  <a:schemeClr val="tx2"/>
                </a:solidFill>
              </a:rPr>
              <a:t>wrong</a:t>
            </a:r>
            <a:r>
              <a:rPr lang="en-US" dirty="0"/>
              <a:t> people on the </a:t>
            </a:r>
            <a:r>
              <a:rPr lang="en-US" dirty="0">
                <a:solidFill>
                  <a:schemeClr val="tx2"/>
                </a:solidFill>
              </a:rPr>
              <a:t>wrong</a:t>
            </a:r>
            <a:r>
              <a:rPr lang="en-US" dirty="0"/>
              <a:t> tasks leads to </a:t>
            </a:r>
            <a:r>
              <a:rPr lang="en-US" dirty="0">
                <a:solidFill>
                  <a:schemeClr val="tx2"/>
                </a:solidFill>
              </a:rPr>
              <a:t>inefficiency</a:t>
            </a:r>
            <a:r>
              <a:rPr lang="en-US" dirty="0"/>
              <a:t>, low </a:t>
            </a:r>
            <a:r>
              <a:rPr lang="en-US" dirty="0">
                <a:solidFill>
                  <a:schemeClr val="tx2"/>
                </a:solidFill>
              </a:rPr>
              <a:t>job satisfaction</a:t>
            </a:r>
            <a:r>
              <a:rPr lang="en-US" dirty="0"/>
              <a:t> and low </a:t>
            </a:r>
            <a:r>
              <a:rPr lang="en-US" dirty="0">
                <a:solidFill>
                  <a:schemeClr val="tx2"/>
                </a:solidFill>
              </a:rPr>
              <a:t>job performance</a:t>
            </a:r>
          </a:p>
          <a:p>
            <a:pPr lvl="1">
              <a:defRPr/>
            </a:pPr>
            <a:r>
              <a:rPr lang="en-US" dirty="0"/>
              <a:t>A qualified test designer will be </a:t>
            </a:r>
            <a:r>
              <a:rPr lang="en-US" dirty="0">
                <a:solidFill>
                  <a:schemeClr val="tx2"/>
                </a:solidFill>
              </a:rPr>
              <a:t>bored </a:t>
            </a:r>
            <a:r>
              <a:rPr lang="en-US" dirty="0"/>
              <a:t>with other tasks and look for a job in development</a:t>
            </a:r>
          </a:p>
          <a:p>
            <a:pPr lvl="1">
              <a:defRPr/>
            </a:pPr>
            <a:r>
              <a:rPr lang="en-US" dirty="0"/>
              <a:t>A qualified test evaluator will </a:t>
            </a:r>
            <a:r>
              <a:rPr lang="en-US" dirty="0">
                <a:solidFill>
                  <a:schemeClr val="tx2"/>
                </a:solidFill>
              </a:rPr>
              <a:t>not understand</a:t>
            </a:r>
            <a:r>
              <a:rPr lang="en-US" dirty="0"/>
              <a:t> the benefits of test criteria</a:t>
            </a:r>
          </a:p>
          <a:p>
            <a:pPr>
              <a:buFont typeface="Monotype Sorts" charset="2"/>
              <a:buChar char="n"/>
              <a:defRPr/>
            </a:pPr>
            <a:r>
              <a:rPr lang="en-US" dirty="0"/>
              <a:t>Test evaluators have the </a:t>
            </a:r>
            <a:r>
              <a:rPr lang="en-US" dirty="0">
                <a:solidFill>
                  <a:schemeClr val="tx2"/>
                </a:solidFill>
              </a:rPr>
              <a:t>domain knowledge</a:t>
            </a:r>
            <a:r>
              <a:rPr lang="en-US" dirty="0"/>
              <a:t>, so they </a:t>
            </a:r>
            <a:r>
              <a:rPr lang="en-US" dirty="0">
                <a:solidFill>
                  <a:schemeClr val="tx2"/>
                </a:solidFill>
              </a:rPr>
              <a:t>must</a:t>
            </a:r>
            <a:r>
              <a:rPr lang="en-US" dirty="0"/>
              <a:t> be free to add tests that “blind” engineering processes will not think of</a:t>
            </a:r>
          </a:p>
          <a:p>
            <a:pPr>
              <a:buFont typeface="Monotype Sorts" charset="2"/>
              <a:buChar char="n"/>
              <a:defRPr/>
            </a:pPr>
            <a:r>
              <a:rPr lang="en-US" dirty="0"/>
              <a:t>The four test activities are </a:t>
            </a:r>
            <a:r>
              <a:rPr lang="en-US" dirty="0">
                <a:solidFill>
                  <a:schemeClr val="tx2"/>
                </a:solidFill>
              </a:rPr>
              <a:t>quite different</a:t>
            </a:r>
          </a:p>
        </p:txBody>
      </p:sp>
      <p:sp>
        <p:nvSpPr>
          <p:cNvPr id="68612" name="Date Placeholder 3">
            <a:extLst>
              <a:ext uri="{FF2B5EF4-FFF2-40B4-BE49-F238E27FC236}">
                <a16:creationId xmlns:a16="http://schemas.microsoft.com/office/drawing/2014/main" id="{A5A4DEE7-C214-4A42-A6FD-509B9A424C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68613" name="Footer Placeholder 4">
            <a:extLst>
              <a:ext uri="{FF2B5EF4-FFF2-40B4-BE49-F238E27FC236}">
                <a16:creationId xmlns:a16="http://schemas.microsoft.com/office/drawing/2014/main" id="{F6522006-8C4F-4456-A328-5130792F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68614" name="Slide Number Placeholder 5">
            <a:extLst>
              <a:ext uri="{FF2B5EF4-FFF2-40B4-BE49-F238E27FC236}">
                <a16:creationId xmlns:a16="http://schemas.microsoft.com/office/drawing/2014/main" id="{0A4F46F2-4D67-4F09-A330-19A9ADBF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DF322026-149C-44D8-AA70-341F74C5717C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zh-TW" sz="900" b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0F36C0B-6AB6-46B4-85A6-1569FF762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5557838"/>
            <a:ext cx="8875712" cy="95408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cs typeface="Arial" pitchFamily="34" charset="0"/>
              </a:rPr>
              <a:t>Many test teams use the same people for ALL FOUR activities !!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7D19C5B1-577F-495E-801B-AC82FCC6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Using MDTD in Practice</a:t>
            </a:r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C31D0DE2-DB61-4090-BF31-CD27A65AC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003300"/>
            <a:ext cx="8966200" cy="5602288"/>
          </a:xfrm>
        </p:spPr>
        <p:txBody>
          <a:bodyPr/>
          <a:lstStyle/>
          <a:p>
            <a:r>
              <a:rPr lang="en-US" altLang="zh-TW" sz="2800">
                <a:ea typeface="新細明體" panose="02020500000000000000" pitchFamily="18" charset="-120"/>
              </a:rPr>
              <a:t>This approach lets </a:t>
            </a:r>
            <a:r>
              <a:rPr lang="en-US" altLang="zh-TW" sz="2800">
                <a:solidFill>
                  <a:schemeClr val="tx2"/>
                </a:solidFill>
                <a:ea typeface="新細明體" panose="02020500000000000000" pitchFamily="18" charset="-120"/>
              </a:rPr>
              <a:t>one test designer </a:t>
            </a:r>
            <a:r>
              <a:rPr lang="en-US" altLang="zh-TW" sz="2800">
                <a:ea typeface="新細明體" panose="02020500000000000000" pitchFamily="18" charset="-120"/>
              </a:rPr>
              <a:t>do the math</a:t>
            </a:r>
          </a:p>
          <a:p>
            <a:r>
              <a:rPr lang="en-US" altLang="zh-TW" sz="2800">
                <a:ea typeface="新細明體" panose="02020500000000000000" pitchFamily="18" charset="-120"/>
              </a:rPr>
              <a:t>Then traditional </a:t>
            </a:r>
            <a:r>
              <a:rPr lang="en-US" altLang="zh-TW" sz="2800">
                <a:solidFill>
                  <a:schemeClr val="tx2"/>
                </a:solidFill>
                <a:ea typeface="新細明體" panose="02020500000000000000" pitchFamily="18" charset="-120"/>
              </a:rPr>
              <a:t>testers</a:t>
            </a:r>
            <a:r>
              <a:rPr lang="en-US" altLang="zh-TW" sz="2800">
                <a:ea typeface="新細明體" panose="02020500000000000000" pitchFamily="18" charset="-120"/>
              </a:rPr>
              <a:t> and </a:t>
            </a:r>
            <a:r>
              <a:rPr lang="en-US" altLang="zh-TW" sz="2800">
                <a:solidFill>
                  <a:schemeClr val="tx2"/>
                </a:solidFill>
                <a:ea typeface="新細明體" panose="02020500000000000000" pitchFamily="18" charset="-120"/>
              </a:rPr>
              <a:t>programmers</a:t>
            </a:r>
            <a:r>
              <a:rPr lang="en-US" altLang="zh-TW" sz="2800">
                <a:ea typeface="新細明體" panose="02020500000000000000" pitchFamily="18" charset="-120"/>
              </a:rPr>
              <a:t> can do their parts</a:t>
            </a:r>
          </a:p>
          <a:p>
            <a:pPr lvl="1"/>
            <a:r>
              <a:rPr lang="en-US" altLang="zh-TW" sz="2400">
                <a:ea typeface="新細明體" panose="02020500000000000000" pitchFamily="18" charset="-120"/>
              </a:rPr>
              <a:t>Find values</a:t>
            </a:r>
          </a:p>
          <a:p>
            <a:pPr lvl="1"/>
            <a:r>
              <a:rPr lang="en-US" altLang="zh-TW" sz="2400">
                <a:ea typeface="新細明體" panose="02020500000000000000" pitchFamily="18" charset="-120"/>
              </a:rPr>
              <a:t>Automate the tests</a:t>
            </a:r>
          </a:p>
          <a:p>
            <a:pPr lvl="1"/>
            <a:r>
              <a:rPr lang="en-US" altLang="zh-TW" sz="2400">
                <a:ea typeface="新細明體" panose="02020500000000000000" pitchFamily="18" charset="-120"/>
              </a:rPr>
              <a:t>Run the tests</a:t>
            </a:r>
          </a:p>
          <a:p>
            <a:pPr lvl="1"/>
            <a:r>
              <a:rPr lang="en-US" altLang="zh-TW" sz="2400">
                <a:ea typeface="新細明體" panose="02020500000000000000" pitchFamily="18" charset="-120"/>
              </a:rPr>
              <a:t>Evaluate the tests</a:t>
            </a:r>
          </a:p>
          <a:p>
            <a:pPr lvl="1">
              <a:buSzPct val="75000"/>
              <a:buFont typeface="Monotype Sorts"/>
              <a:buChar char="n"/>
            </a:pPr>
            <a:r>
              <a:rPr lang="en-US" altLang="zh-TW" sz="2400">
                <a:ea typeface="新細明體" panose="02020500000000000000" pitchFamily="18" charset="-120"/>
              </a:rPr>
              <a:t>Just like in </a:t>
            </a:r>
            <a:r>
              <a:rPr lang="en-US" altLang="zh-TW" sz="2400">
                <a:solidFill>
                  <a:schemeClr val="tx2"/>
                </a:solidFill>
                <a:ea typeface="新細明體" panose="02020500000000000000" pitchFamily="18" charset="-120"/>
              </a:rPr>
              <a:t>traditional engineering</a:t>
            </a:r>
            <a:r>
              <a:rPr lang="en-US" altLang="zh-TW" sz="2400">
                <a:ea typeface="新細明體" panose="02020500000000000000" pitchFamily="18" charset="-120"/>
              </a:rPr>
              <a:t> … an engineer constructs models with calculus, then gives direction to carpenters, electricians, technicians, …</a:t>
            </a:r>
          </a:p>
        </p:txBody>
      </p:sp>
      <p:sp>
        <p:nvSpPr>
          <p:cNvPr id="72708" name="Date Placeholder 3">
            <a:extLst>
              <a:ext uri="{FF2B5EF4-FFF2-40B4-BE49-F238E27FC236}">
                <a16:creationId xmlns:a16="http://schemas.microsoft.com/office/drawing/2014/main" id="{583C7A26-C5E5-4EFA-AB38-0598407B6A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Introduction to Software Testing  (Ch 1)</a:t>
            </a:r>
            <a:endParaRPr lang="en-US" altLang="zh-TW" sz="900" b="0" u="sng"/>
          </a:p>
        </p:txBody>
      </p:sp>
      <p:sp>
        <p:nvSpPr>
          <p:cNvPr id="72709" name="Footer Placeholder 4">
            <a:extLst>
              <a:ext uri="{FF2B5EF4-FFF2-40B4-BE49-F238E27FC236}">
                <a16:creationId xmlns:a16="http://schemas.microsoft.com/office/drawing/2014/main" id="{D74C69AD-778C-4393-BD31-CD2F93F8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>
                <a:ea typeface="新細明體" panose="02020500000000000000" pitchFamily="18" charset="-120"/>
              </a:rPr>
              <a:t>© Ammann &amp; Offutt</a:t>
            </a:r>
          </a:p>
        </p:txBody>
      </p:sp>
      <p:sp>
        <p:nvSpPr>
          <p:cNvPr id="72710" name="Slide Number Placeholder 5">
            <a:extLst>
              <a:ext uri="{FF2B5EF4-FFF2-40B4-BE49-F238E27FC236}">
                <a16:creationId xmlns:a16="http://schemas.microsoft.com/office/drawing/2014/main" id="{E9D165F3-662E-47A8-8B48-906D5644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07835CA2-6F2F-4D4E-B84D-82C2E27704BA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zh-TW" sz="900" b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EB9F5FE-29C8-4F5E-B288-C9FF07D9D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5984875"/>
            <a:ext cx="5624512" cy="584200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SimSun" pitchFamily="2" charset="-122"/>
              </a:rPr>
              <a:t>Testers ain’t mathematicians !</a:t>
            </a:r>
            <a:endParaRPr lang="en-US" altLang="zh-TW" sz="32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SimSun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03238F9-61A1-416E-A20F-BE771684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Small Illustrative Example</a:t>
            </a:r>
          </a:p>
        </p:txBody>
      </p:sp>
      <p:sp>
        <p:nvSpPr>
          <p:cNvPr id="79875" name="Date Placeholder 3">
            <a:extLst>
              <a:ext uri="{FF2B5EF4-FFF2-40B4-BE49-F238E27FC236}">
                <a16:creationId xmlns:a16="http://schemas.microsoft.com/office/drawing/2014/main" id="{F543DFC2-F1C0-48E3-9AB2-C192B3AEB3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Introduction to Software Testing  (Ch 1)</a:t>
            </a:r>
          </a:p>
        </p:txBody>
      </p:sp>
      <p:sp>
        <p:nvSpPr>
          <p:cNvPr id="79876" name="Footer Placeholder 4">
            <a:extLst>
              <a:ext uri="{FF2B5EF4-FFF2-40B4-BE49-F238E27FC236}">
                <a16:creationId xmlns:a16="http://schemas.microsoft.com/office/drawing/2014/main" id="{D4B706EB-FCEF-4581-9D24-59FCDC79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© Ammann &amp; Offutt</a:t>
            </a:r>
          </a:p>
        </p:txBody>
      </p:sp>
      <p:sp>
        <p:nvSpPr>
          <p:cNvPr id="79877" name="Slide Number Placeholder 5">
            <a:extLst>
              <a:ext uri="{FF2B5EF4-FFF2-40B4-BE49-F238E27FC236}">
                <a16:creationId xmlns:a16="http://schemas.microsoft.com/office/drawing/2014/main" id="{BFBE039E-825D-479E-8608-D6F50800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DF24CD56-0B1E-4EF0-A758-C0B5C7514F27}" type="slidenum">
              <a:rPr lang="zh-CN" altLang="en-US" sz="900" b="0" smtClean="0">
                <a:ea typeface="SimSun" panose="02010600030101010101" pitchFamily="2" charset="-122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zh-CN" sz="900" b="0">
              <a:ea typeface="SimSun" panose="02010600030101010101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8DCE1-25D4-4ABD-87BA-F973D1F900A3}"/>
              </a:ext>
            </a:extLst>
          </p:cNvPr>
          <p:cNvSpPr/>
          <p:nvPr/>
        </p:nvSpPr>
        <p:spPr>
          <a:xfrm>
            <a:off x="79375" y="1635125"/>
            <a:ext cx="6007100" cy="431958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2"/>
                </a:solidFill>
                <a:latin typeface="Comic Sans MS" pitchFamily="66" charset="0"/>
              </a:rPr>
              <a:t>Software Artifact : Java Method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/**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* Return index of node n at the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* first position it appears,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* -1 if it is not present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*/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indexOf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(Node n)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for 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path.size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path.get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).equals(n))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return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return -1;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A48AA986-C238-480E-B592-B2CBFD123511}"/>
              </a:ext>
            </a:extLst>
          </p:cNvPr>
          <p:cNvGrpSpPr>
            <a:grpSpLocks/>
          </p:cNvGrpSpPr>
          <p:nvPr/>
        </p:nvGrpSpPr>
        <p:grpSpPr bwMode="auto">
          <a:xfrm>
            <a:off x="5800725" y="1679575"/>
            <a:ext cx="3275013" cy="4364038"/>
            <a:chOff x="5558790" y="1680210"/>
            <a:chExt cx="3516630" cy="4363105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D93365F-BD23-4207-8CFA-B8BB2FC791C4}"/>
                </a:ext>
              </a:extLst>
            </p:cNvPr>
            <p:cNvSpPr/>
            <p:nvPr/>
          </p:nvSpPr>
          <p:spPr>
            <a:xfrm>
              <a:off x="5669591" y="5051339"/>
              <a:ext cx="593207" cy="617406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新細明體" pitchFamily="18" charset="-12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8A8A2DA-353C-444C-9F7A-301F251997EE}"/>
                </a:ext>
              </a:extLst>
            </p:cNvPr>
            <p:cNvSpPr/>
            <p:nvPr/>
          </p:nvSpPr>
          <p:spPr>
            <a:xfrm>
              <a:off x="7822524" y="5056101"/>
              <a:ext cx="593207" cy="617405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新細明體" pitchFamily="18" charset="-12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0F09CB8-7CDC-4A94-97E4-3559826B83A3}"/>
                </a:ext>
              </a:extLst>
            </p:cNvPr>
            <p:cNvSpPr/>
            <p:nvPr/>
          </p:nvSpPr>
          <p:spPr>
            <a:xfrm>
              <a:off x="7897528" y="5143394"/>
              <a:ext cx="434678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D216F1-27D6-4B80-817C-8CB4459429E6}"/>
                </a:ext>
              </a:extLst>
            </p:cNvPr>
            <p:cNvSpPr/>
            <p:nvPr/>
          </p:nvSpPr>
          <p:spPr>
            <a:xfrm>
              <a:off x="5749707" y="5143394"/>
              <a:ext cx="434678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71D56B2-6B14-4EBF-B264-22D7FAC1C14A}"/>
                </a:ext>
              </a:extLst>
            </p:cNvPr>
            <p:cNvSpPr/>
            <p:nvPr/>
          </p:nvSpPr>
          <p:spPr>
            <a:xfrm>
              <a:off x="7113403" y="4245062"/>
              <a:ext cx="434678" cy="43329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5181BB8-7AAE-49FA-8FD2-B1EBFB675842}"/>
                </a:ext>
              </a:extLst>
            </p:cNvPr>
            <p:cNvSpPr/>
            <p:nvPr/>
          </p:nvSpPr>
          <p:spPr>
            <a:xfrm>
              <a:off x="6365075" y="3299114"/>
              <a:ext cx="434677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8876D83-ABA6-475F-9DAA-8DB3EC7840CE}"/>
                </a:ext>
              </a:extLst>
            </p:cNvPr>
            <p:cNvSpPr/>
            <p:nvPr/>
          </p:nvSpPr>
          <p:spPr>
            <a:xfrm>
              <a:off x="6365075" y="2376974"/>
              <a:ext cx="434677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1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5A82EC1-1611-4677-ABFD-BADBDC29C0F8}"/>
                </a:ext>
              </a:extLst>
            </p:cNvPr>
            <p:cNvCxnSpPr/>
            <p:nvPr/>
          </p:nvCxnSpPr>
          <p:spPr>
            <a:xfrm rot="5400000">
              <a:off x="6337991" y="3055426"/>
              <a:ext cx="488845" cy="1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ACAA8E7-D70F-4428-AB16-987872BE48AD}"/>
                </a:ext>
              </a:extLst>
            </p:cNvPr>
            <p:cNvCxnSpPr>
              <a:stCxn id="12" idx="3"/>
              <a:endCxn id="10" idx="0"/>
            </p:cNvCxnSpPr>
            <p:nvPr/>
          </p:nvCxnSpPr>
          <p:spPr>
            <a:xfrm rot="5400000">
              <a:off x="5460728" y="4175976"/>
              <a:ext cx="1472885" cy="461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D425198-0D9E-48BC-BFF0-31B2934C9D0A}"/>
                </a:ext>
              </a:extLst>
            </p:cNvPr>
            <p:cNvCxnSpPr>
              <a:stCxn id="11" idx="5"/>
              <a:endCxn id="9" idx="1"/>
            </p:cNvCxnSpPr>
            <p:nvPr/>
          </p:nvCxnSpPr>
          <p:spPr>
            <a:xfrm rot="16200000" flipH="1">
              <a:off x="7426799" y="4671377"/>
              <a:ext cx="592010" cy="4789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4BDE432-0F0C-4F66-90D9-0E0D8EC608B8}"/>
                </a:ext>
              </a:extLst>
            </p:cNvPr>
            <p:cNvCxnSpPr>
              <a:stCxn id="12" idx="5"/>
              <a:endCxn id="11" idx="1"/>
            </p:cNvCxnSpPr>
            <p:nvPr/>
          </p:nvCxnSpPr>
          <p:spPr>
            <a:xfrm rot="16200000" flipH="1">
              <a:off x="6636706" y="3768780"/>
              <a:ext cx="638039" cy="4414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891" name="TextBox 27">
              <a:extLst>
                <a:ext uri="{FF2B5EF4-FFF2-40B4-BE49-F238E27FC236}">
                  <a16:creationId xmlns:a16="http://schemas.microsoft.com/office/drawing/2014/main" id="{FC9347F8-10C8-498C-BB20-00077AC89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990" y="2377440"/>
              <a:ext cx="9601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FAFD00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i = 0</a:t>
              </a:r>
            </a:p>
          </p:txBody>
        </p:sp>
        <p:sp>
          <p:nvSpPr>
            <p:cNvPr id="79892" name="TextBox 29">
              <a:extLst>
                <a:ext uri="{FF2B5EF4-FFF2-40B4-BE49-F238E27FC236}">
                  <a16:creationId xmlns:a16="http://schemas.microsoft.com/office/drawing/2014/main" id="{CAA9F328-49B4-4050-A589-4484C15F2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50" y="3425190"/>
              <a:ext cx="23126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FAFD00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i &lt; path.size()</a:t>
              </a:r>
            </a:p>
          </p:txBody>
        </p:sp>
        <p:sp>
          <p:nvSpPr>
            <p:cNvPr id="79893" name="TextBox 30">
              <a:extLst>
                <a:ext uri="{FF2B5EF4-FFF2-40B4-BE49-F238E27FC236}">
                  <a16:creationId xmlns:a16="http://schemas.microsoft.com/office/drawing/2014/main" id="{9F0E6AF2-EBB2-4061-8056-90E9F44A0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60" y="4171950"/>
              <a:ext cx="6172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FAFD00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if</a:t>
              </a:r>
            </a:p>
          </p:txBody>
        </p:sp>
        <p:sp>
          <p:nvSpPr>
            <p:cNvPr id="79894" name="TextBox 31">
              <a:extLst>
                <a:ext uri="{FF2B5EF4-FFF2-40B4-BE49-F238E27FC236}">
                  <a16:creationId xmlns:a16="http://schemas.microsoft.com/office/drawing/2014/main" id="{081876AD-2620-4326-9866-34F630B302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8070" y="5581650"/>
              <a:ext cx="14401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FAFD00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return i</a:t>
              </a:r>
            </a:p>
          </p:txBody>
        </p:sp>
        <p:sp>
          <p:nvSpPr>
            <p:cNvPr id="79895" name="TextBox 32">
              <a:extLst>
                <a:ext uri="{FF2B5EF4-FFF2-40B4-BE49-F238E27FC236}">
                  <a16:creationId xmlns:a16="http://schemas.microsoft.com/office/drawing/2014/main" id="{BF2EB314-8B5A-4F41-A075-4E557D7E2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8790" y="5574030"/>
              <a:ext cx="16306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rgbClr val="FAFD00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return -1</a:t>
              </a:r>
            </a:p>
          </p:txBody>
        </p:sp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313917CC-EF77-4707-8DF1-567BB9D7E092}"/>
                </a:ext>
              </a:extLst>
            </p:cNvPr>
            <p:cNvCxnSpPr>
              <a:stCxn id="11" idx="4"/>
            </p:cNvCxnSpPr>
            <p:nvPr/>
          </p:nvCxnSpPr>
          <p:spPr>
            <a:xfrm rot="5400000" flipH="1">
              <a:off x="6509000" y="3857465"/>
              <a:ext cx="895159" cy="746623"/>
            </a:xfrm>
            <a:prstGeom prst="curvedConnector3">
              <a:avLst>
                <a:gd name="adj1" fmla="val -2553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897" name="TextBox 35">
              <a:extLst>
                <a:ext uri="{FF2B5EF4-FFF2-40B4-BE49-F238E27FC236}">
                  <a16:creationId xmlns:a16="http://schemas.microsoft.com/office/drawing/2014/main" id="{5015C112-A9EB-4DB5-9189-03F745EF5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90" y="1680210"/>
              <a:ext cx="30099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 sz="2000">
                  <a:solidFill>
                    <a:schemeClr val="tx2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Control Flow Graph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30982FF8-D092-47B1-84DC-324C4F1CB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Example (2)</a:t>
            </a:r>
          </a:p>
        </p:txBody>
      </p:sp>
      <p:sp>
        <p:nvSpPr>
          <p:cNvPr id="80899" name="Date Placeholder 3">
            <a:extLst>
              <a:ext uri="{FF2B5EF4-FFF2-40B4-BE49-F238E27FC236}">
                <a16:creationId xmlns:a16="http://schemas.microsoft.com/office/drawing/2014/main" id="{E360E24C-6509-4F21-8D56-6ADB5631DC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Introduction to Software Testing  (Ch 1)</a:t>
            </a:r>
          </a:p>
        </p:txBody>
      </p:sp>
      <p:sp>
        <p:nvSpPr>
          <p:cNvPr id="80900" name="Footer Placeholder 4">
            <a:extLst>
              <a:ext uri="{FF2B5EF4-FFF2-40B4-BE49-F238E27FC236}">
                <a16:creationId xmlns:a16="http://schemas.microsoft.com/office/drawing/2014/main" id="{59C85CE8-CB97-443C-924D-09CBEBDC8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900" b="0">
                <a:ea typeface="SimSun" panose="02010600030101010101" pitchFamily="2" charset="-122"/>
              </a:rPr>
              <a:t>© Ammann &amp; Offutt</a:t>
            </a:r>
          </a:p>
        </p:txBody>
      </p:sp>
      <p:sp>
        <p:nvSpPr>
          <p:cNvPr id="80901" name="Slide Number Placeholder 5">
            <a:extLst>
              <a:ext uri="{FF2B5EF4-FFF2-40B4-BE49-F238E27FC236}">
                <a16:creationId xmlns:a16="http://schemas.microsoft.com/office/drawing/2014/main" id="{AC68867B-DAA1-4CDE-B1E2-1817B627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2FC7EA85-A5EF-4FEE-B872-4DD840E2C680}" type="slidenum">
              <a:rPr lang="zh-CN" altLang="en-US" sz="900" b="0" smtClean="0">
                <a:ea typeface="SimSun" panose="02010600030101010101" pitchFamily="2" charset="-122"/>
              </a:rPr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US" altLang="zh-CN" sz="900" b="0">
              <a:ea typeface="SimSun" panose="02010600030101010101" pitchFamily="2" charset="-122"/>
            </a:endParaRPr>
          </a:p>
        </p:txBody>
      </p:sp>
      <p:sp>
        <p:nvSpPr>
          <p:cNvPr id="80902" name="TextBox 6">
            <a:extLst>
              <a:ext uri="{FF2B5EF4-FFF2-40B4-BE49-F238E27FC236}">
                <a16:creationId xmlns:a16="http://schemas.microsoft.com/office/drawing/2014/main" id="{A00ED73A-CAD8-4CC0-B4C8-BCD9E497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914400"/>
            <a:ext cx="7200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>
                <a:solidFill>
                  <a:srgbClr val="FAFD00"/>
                </a:solidFill>
                <a:ea typeface="新細明體" panose="02020500000000000000" pitchFamily="18" charset="-120"/>
              </a:rPr>
              <a:t>Support tool for graph coverage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u="sng">
                <a:solidFill>
                  <a:srgbClr val="FAFD00"/>
                </a:solidFill>
                <a:ea typeface="新細明體" panose="02020500000000000000" pitchFamily="18" charset="-120"/>
                <a:hlinkClick r:id="rId2"/>
              </a:rPr>
              <a:t>http://www.cs.gmu.edu/~offutt/softwaretest/</a:t>
            </a:r>
            <a:endParaRPr lang="en-US" altLang="zh-TW" u="sng">
              <a:solidFill>
                <a:srgbClr val="FAFD00"/>
              </a:solidFill>
              <a:ea typeface="新細明體" panose="02020500000000000000" pitchFamily="18" charset="-120"/>
              <a:hlinkClick r:id="rId3"/>
            </a:endParaRP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A47EE9CE-FDC9-4A82-A8A8-DA904454A097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2274888"/>
            <a:ext cx="3413125" cy="4129087"/>
            <a:chOff x="167640" y="2274570"/>
            <a:chExt cx="3413760" cy="41300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D98A436-E96D-4C8A-BA9A-F0376631CEA6}"/>
                </a:ext>
              </a:extLst>
            </p:cNvPr>
            <p:cNvSpPr/>
            <p:nvPr/>
          </p:nvSpPr>
          <p:spPr>
            <a:xfrm>
              <a:off x="834514" y="5783755"/>
              <a:ext cx="593835" cy="617680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新細明體" pitchFamily="18" charset="-12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E574603-AFA2-4A58-B3DE-E7CF59F8A373}"/>
                </a:ext>
              </a:extLst>
            </p:cNvPr>
            <p:cNvSpPr/>
            <p:nvPr/>
          </p:nvSpPr>
          <p:spPr>
            <a:xfrm>
              <a:off x="2987565" y="5786930"/>
              <a:ext cx="593835" cy="617680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zh-TW">
                <a:solidFill>
                  <a:srgbClr val="FFFFFF"/>
                </a:solidFill>
                <a:ea typeface="新細明體" pitchFamily="18" charset="-12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CCF7515-AF14-4B0B-8446-279E2528199F}"/>
                </a:ext>
              </a:extLst>
            </p:cNvPr>
            <p:cNvSpPr/>
            <p:nvPr/>
          </p:nvSpPr>
          <p:spPr>
            <a:xfrm>
              <a:off x="3063779" y="5874263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FBAE29-E509-42A4-9359-CA1501D2D161}"/>
                </a:ext>
              </a:extLst>
            </p:cNvPr>
            <p:cNvSpPr/>
            <p:nvPr/>
          </p:nvSpPr>
          <p:spPr>
            <a:xfrm>
              <a:off x="913904" y="5874263"/>
              <a:ext cx="435056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7B2F19E-420D-43F1-A4BE-5387E3A0AF62}"/>
                </a:ext>
              </a:extLst>
            </p:cNvPr>
            <p:cNvSpPr/>
            <p:nvPr/>
          </p:nvSpPr>
          <p:spPr>
            <a:xfrm>
              <a:off x="2277821" y="4975530"/>
              <a:ext cx="435056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3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96692E-803A-440A-B4BF-0B02678D25E7}"/>
                </a:ext>
              </a:extLst>
            </p:cNvPr>
            <p:cNvSpPr/>
            <p:nvPr/>
          </p:nvSpPr>
          <p:spPr>
            <a:xfrm>
              <a:off x="1529968" y="4030750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32BD261-3986-4A7D-AF0B-26246A6F952D}"/>
                </a:ext>
              </a:extLst>
            </p:cNvPr>
            <p:cNvSpPr/>
            <p:nvPr/>
          </p:nvSpPr>
          <p:spPr>
            <a:xfrm>
              <a:off x="1529968" y="3108199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defRPr/>
              </a:pPr>
              <a:r>
                <a:rPr lang="en-US" altLang="zh-TW">
                  <a:solidFill>
                    <a:srgbClr val="000000"/>
                  </a:solidFill>
                  <a:ea typeface="新細明體" pitchFamily="18" charset="-120"/>
                </a:rPr>
                <a:t>1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1866881-AF0B-4E9B-8A5D-C45FA7C6791C}"/>
                </a:ext>
              </a:extLst>
            </p:cNvPr>
            <p:cNvCxnSpPr/>
            <p:nvPr/>
          </p:nvCxnSpPr>
          <p:spPr>
            <a:xfrm rot="5400000">
              <a:off x="1502965" y="3787806"/>
              <a:ext cx="487474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72EF5BF-3814-429E-A269-DBC6218B10F5}"/>
                </a:ext>
              </a:extLst>
            </p:cNvPr>
            <p:cNvCxnSpPr>
              <a:stCxn id="14" idx="3"/>
              <a:endCxn id="12" idx="0"/>
            </p:cNvCxnSpPr>
            <p:nvPr/>
          </p:nvCxnSpPr>
          <p:spPr>
            <a:xfrm rot="5400000">
              <a:off x="626480" y="4907263"/>
              <a:ext cx="1471952" cy="4620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434E708-028E-44BC-9F02-654CA00C27C5}"/>
                </a:ext>
              </a:extLst>
            </p:cNvPr>
            <p:cNvCxnSpPr>
              <a:stCxn id="13" idx="5"/>
              <a:endCxn id="11" idx="1"/>
            </p:cNvCxnSpPr>
            <p:nvPr/>
          </p:nvCxnSpPr>
          <p:spPr>
            <a:xfrm rot="16200000" flipH="1">
              <a:off x="2592191" y="5404265"/>
              <a:ext cx="592275" cy="4779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11D79BA-0609-42B2-86B9-06A5C8B8A86D}"/>
                </a:ext>
              </a:extLst>
            </p:cNvPr>
            <p:cNvCxnSpPr>
              <a:stCxn id="14" idx="5"/>
              <a:endCxn id="13" idx="1"/>
            </p:cNvCxnSpPr>
            <p:nvPr/>
          </p:nvCxnSpPr>
          <p:spPr>
            <a:xfrm rot="16200000" flipH="1">
              <a:off x="1802262" y="4499974"/>
              <a:ext cx="636734" cy="4414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CFF496DD-B2CA-4F7E-AD7F-C5E1730C8719}"/>
                </a:ext>
              </a:extLst>
            </p:cNvPr>
            <p:cNvCxnSpPr>
              <a:stCxn id="13" idx="4"/>
            </p:cNvCxnSpPr>
            <p:nvPr/>
          </p:nvCxnSpPr>
          <p:spPr>
            <a:xfrm rot="5400000" flipH="1">
              <a:off x="1674438" y="4589695"/>
              <a:ext cx="895557" cy="746264"/>
            </a:xfrm>
            <a:prstGeom prst="curvedConnector3">
              <a:avLst>
                <a:gd name="adj1" fmla="val -2553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920" name="TextBox 25">
              <a:extLst>
                <a:ext uri="{FF2B5EF4-FFF2-40B4-BE49-F238E27FC236}">
                  <a16:creationId xmlns:a16="http://schemas.microsoft.com/office/drawing/2014/main" id="{EC8D05BD-1C95-4D57-954C-62BEEFDEF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" y="2274570"/>
              <a:ext cx="30099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30000"/>
                </a:spcBef>
                <a:buSzPct val="100000"/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30000"/>
                </a:spcBef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>
                  <a:solidFill>
                    <a:schemeClr val="tx2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Graph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zh-TW">
                  <a:solidFill>
                    <a:schemeClr val="tx2"/>
                  </a:solidFill>
                  <a:latin typeface="Comic Sans MS" panose="030F0702030302020204" pitchFamily="66" charset="0"/>
                  <a:ea typeface="新細明體" panose="02020500000000000000" pitchFamily="18" charset="-120"/>
                </a:rPr>
                <a:t>Abstract version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77B1113-5555-48E5-B7A4-47B1549DE6FC}"/>
              </a:ext>
            </a:extLst>
          </p:cNvPr>
          <p:cNvSpPr txBox="1"/>
          <p:nvPr/>
        </p:nvSpPr>
        <p:spPr>
          <a:xfrm>
            <a:off x="3294063" y="1866900"/>
            <a:ext cx="2420937" cy="304800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Edges</a:t>
            </a:r>
          </a:p>
          <a:p>
            <a:pPr>
              <a:defRPr/>
            </a:pPr>
            <a:r>
              <a:rPr lang="en-US" sz="2400" dirty="0"/>
              <a:t>1 2</a:t>
            </a:r>
          </a:p>
          <a:p>
            <a:pPr>
              <a:defRPr/>
            </a:pPr>
            <a:r>
              <a:rPr lang="en-US" sz="2400" dirty="0"/>
              <a:t>2 3</a:t>
            </a:r>
          </a:p>
          <a:p>
            <a:pPr>
              <a:defRPr/>
            </a:pPr>
            <a:r>
              <a:rPr lang="en-US" sz="2400" dirty="0"/>
              <a:t>3 2</a:t>
            </a:r>
          </a:p>
          <a:p>
            <a:pPr>
              <a:defRPr/>
            </a:pPr>
            <a:r>
              <a:rPr lang="en-US" sz="2400" dirty="0"/>
              <a:t>3 4</a:t>
            </a:r>
          </a:p>
          <a:p>
            <a:pPr>
              <a:defRPr/>
            </a:pPr>
            <a:r>
              <a:rPr lang="en-US" sz="2400" dirty="0"/>
              <a:t>2 5</a:t>
            </a:r>
          </a:p>
          <a:p>
            <a:pPr>
              <a:defRPr/>
            </a:pPr>
            <a:r>
              <a:rPr lang="en-US" sz="2400" dirty="0"/>
              <a:t>Initial Node: 1</a:t>
            </a:r>
          </a:p>
          <a:p>
            <a:pPr>
              <a:defRPr/>
            </a:pPr>
            <a:r>
              <a:rPr lang="en-US" sz="2400" dirty="0"/>
              <a:t>Final Nodes: 4, 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12FFA5-B7DD-4DA9-9120-D45B182E87D9}"/>
              </a:ext>
            </a:extLst>
          </p:cNvPr>
          <p:cNvSpPr txBox="1"/>
          <p:nvPr/>
        </p:nvSpPr>
        <p:spPr>
          <a:xfrm>
            <a:off x="6022975" y="1855788"/>
            <a:ext cx="2874963" cy="304641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6 requirements for Edge-Pair Coverage</a:t>
            </a:r>
            <a:br>
              <a:rPr lang="en-US" sz="2400" dirty="0"/>
            </a:br>
            <a:r>
              <a:rPr lang="en-US" sz="2400" dirty="0"/>
              <a:t>1. [1, 2, 3]</a:t>
            </a:r>
            <a:br>
              <a:rPr lang="en-US" sz="2400" dirty="0"/>
            </a:br>
            <a:r>
              <a:rPr lang="en-US" sz="2400" dirty="0"/>
              <a:t>2. [1, 2, 5]</a:t>
            </a:r>
            <a:br>
              <a:rPr lang="en-US" sz="2400" dirty="0"/>
            </a:br>
            <a:r>
              <a:rPr lang="en-US" sz="2400" dirty="0"/>
              <a:t>3. [2, 3, 4]</a:t>
            </a:r>
            <a:br>
              <a:rPr lang="en-US" sz="2400" dirty="0"/>
            </a:br>
            <a:r>
              <a:rPr lang="en-US" sz="2400" dirty="0"/>
              <a:t>4. [2, 3, 2]</a:t>
            </a:r>
            <a:br>
              <a:rPr lang="en-US" sz="2400" dirty="0"/>
            </a:br>
            <a:r>
              <a:rPr lang="en-US" sz="2400" dirty="0"/>
              <a:t>5. [3, 2, 3]</a:t>
            </a:r>
            <a:br>
              <a:rPr lang="en-US" sz="2400" dirty="0"/>
            </a:br>
            <a:r>
              <a:rPr lang="en-US" sz="2400" dirty="0"/>
              <a:t>6. [3, 2, 5]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577271-537B-4C7C-BD52-D2C453AAE919}"/>
              </a:ext>
            </a:extLst>
          </p:cNvPr>
          <p:cNvSpPr txBox="1"/>
          <p:nvPr/>
        </p:nvSpPr>
        <p:spPr>
          <a:xfrm>
            <a:off x="4473575" y="5018088"/>
            <a:ext cx="2133600" cy="157003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Test Paths</a:t>
            </a:r>
          </a:p>
          <a:p>
            <a:pPr>
              <a:defRPr/>
            </a:pPr>
            <a:r>
              <a:rPr lang="en-US" sz="2400" dirty="0"/>
              <a:t>[1, 2, 5]</a:t>
            </a:r>
          </a:p>
          <a:p>
            <a:pPr>
              <a:defRPr/>
            </a:pPr>
            <a:r>
              <a:rPr lang="en-US" sz="2400" dirty="0"/>
              <a:t>[1, 2, 3, 2, 5]</a:t>
            </a:r>
          </a:p>
          <a:p>
            <a:pPr>
              <a:defRPr/>
            </a:pPr>
            <a:r>
              <a:rPr lang="en-US" sz="2400" dirty="0"/>
              <a:t>[1, 2, 3, 2, 3, 4]</a:t>
            </a:r>
          </a:p>
        </p:txBody>
      </p:sp>
      <p:sp>
        <p:nvSpPr>
          <p:cNvPr id="31" name="AutoShape 15">
            <a:extLst>
              <a:ext uri="{FF2B5EF4-FFF2-40B4-BE49-F238E27FC236}">
                <a16:creationId xmlns:a16="http://schemas.microsoft.com/office/drawing/2014/main" id="{7AF3EC49-908E-4D66-9A96-526E30C2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575" y="5497513"/>
            <a:ext cx="2708275" cy="742950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>
                <a:solidFill>
                  <a:schemeClr val="tx2"/>
                </a:solidFill>
                <a:latin typeface="Papyrus" panose="03070502060502030205" pitchFamily="66" charset="0"/>
                <a:ea typeface="新細明體" panose="02020500000000000000" pitchFamily="18" charset="-120"/>
              </a:rPr>
              <a:t>Find values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theme/theme1.xml><?xml version="1.0" encoding="utf-8"?>
<a:theme xmlns:a="http://schemas.openxmlformats.org/drawingml/2006/main" name="intro">
  <a:themeElements>
    <a:clrScheme name="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0033"/>
      </a:hlink>
      <a:folHlink>
        <a:srgbClr val="969696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5724</TotalTime>
  <Pages>49</Pages>
  <Words>2251</Words>
  <Application>Microsoft Office PowerPoint</Application>
  <PresentationFormat>如螢幕大小 (4:3)</PresentationFormat>
  <Paragraphs>416</Paragraphs>
  <Slides>30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47" baseType="lpstr">
      <vt:lpstr>Times New Roman</vt:lpstr>
      <vt:lpstr>Arial</vt:lpstr>
      <vt:lpstr>Monotype Sorts</vt:lpstr>
      <vt:lpstr>Wingdings</vt:lpstr>
      <vt:lpstr>新細明體</vt:lpstr>
      <vt:lpstr>Comic Sans MS</vt:lpstr>
      <vt:lpstr>ＤＦ中太楷書体</vt:lpstr>
      <vt:lpstr>SimSun</vt:lpstr>
      <vt:lpstr>Kristen ITC</vt:lpstr>
      <vt:lpstr>Papyrus</vt:lpstr>
      <vt:lpstr>Shruti</vt:lpstr>
      <vt:lpstr>Bradley Hand ITC</vt:lpstr>
      <vt:lpstr>Courier New</vt:lpstr>
      <vt:lpstr>Marlett</vt:lpstr>
      <vt:lpstr>Helvetica</vt:lpstr>
      <vt:lpstr>Symbol</vt:lpstr>
      <vt:lpstr>intro</vt:lpstr>
      <vt:lpstr>Introduction to Software Testing Chapter 1 Introduction &amp; The Model-Driven Test Design Process</vt:lpstr>
      <vt:lpstr>Testing in the 21st Century</vt:lpstr>
      <vt:lpstr>OUTLINE</vt:lpstr>
      <vt:lpstr>The First Bugs</vt:lpstr>
      <vt:lpstr>The First Bugs</vt:lpstr>
      <vt:lpstr>Costly Software Failures</vt:lpstr>
      <vt:lpstr>Spectacular Software Failures</vt:lpstr>
      <vt:lpstr>Poor testing of safety-critical software</vt:lpstr>
      <vt:lpstr>Software is a Skin that Surrounds Our Civilization</vt:lpstr>
      <vt:lpstr>Embedded and real-time systems - the modern ones</vt:lpstr>
      <vt:lpstr>Bypass Testing Results for web input validations</vt:lpstr>
      <vt:lpstr>Airbus 319 Safety Critical Software Control</vt:lpstr>
      <vt:lpstr>Northeast Blackout of 2003</vt:lpstr>
      <vt:lpstr>What Does This Mean?</vt:lpstr>
      <vt:lpstr>Testing in the 21st Century</vt:lpstr>
      <vt:lpstr>OUTLINE</vt:lpstr>
      <vt:lpstr>Here! Test This!</vt:lpstr>
      <vt:lpstr>Cost of Testing</vt:lpstr>
      <vt:lpstr>Why Test?</vt:lpstr>
      <vt:lpstr>Why Test?</vt:lpstr>
      <vt:lpstr>Cost of Not Testing</vt:lpstr>
      <vt:lpstr>OUTLINE</vt:lpstr>
      <vt:lpstr>Model-Driven Test Design</vt:lpstr>
      <vt:lpstr>Model-Driven Test Design – Steps</vt:lpstr>
      <vt:lpstr>Types of Test Activities – Summary</vt:lpstr>
      <vt:lpstr>Other Activities</vt:lpstr>
      <vt:lpstr>Organizing the Team</vt:lpstr>
      <vt:lpstr>Using MDTD in Practice</vt:lpstr>
      <vt:lpstr>Small Illustrative Example</vt:lpstr>
      <vt:lpstr>Example (2)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subject/>
  <dc:creator>Jeff Offutt</dc:creator>
  <cp:keywords/>
  <dc:description/>
  <cp:lastModifiedBy>Farn</cp:lastModifiedBy>
  <cp:revision>257</cp:revision>
  <cp:lastPrinted>1996-04-04T10:27:56Z</cp:lastPrinted>
  <dcterms:created xsi:type="dcterms:W3CDTF">1996-06-15T03:21:08Z</dcterms:created>
  <dcterms:modified xsi:type="dcterms:W3CDTF">2021-03-01T10:31:48Z</dcterms:modified>
</cp:coreProperties>
</file>