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ink/ink1.xml" ContentType="application/inkml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44"/>
  </p:notesMasterIdLst>
  <p:handoutMasterIdLst>
    <p:handoutMasterId r:id="rId245"/>
  </p:handoutMasterIdLst>
  <p:sldIdLst>
    <p:sldId id="256" r:id="rId2"/>
    <p:sldId id="947" r:id="rId3"/>
    <p:sldId id="948" r:id="rId4"/>
    <p:sldId id="949" r:id="rId5"/>
    <p:sldId id="950" r:id="rId6"/>
    <p:sldId id="903" r:id="rId7"/>
    <p:sldId id="940" r:id="rId8"/>
    <p:sldId id="941" r:id="rId9"/>
    <p:sldId id="942" r:id="rId10"/>
    <p:sldId id="945" r:id="rId11"/>
    <p:sldId id="946" r:id="rId12"/>
    <p:sldId id="897" r:id="rId13"/>
    <p:sldId id="899" r:id="rId14"/>
    <p:sldId id="900" r:id="rId15"/>
    <p:sldId id="898" r:id="rId16"/>
    <p:sldId id="1000" r:id="rId17"/>
    <p:sldId id="1001" r:id="rId18"/>
    <p:sldId id="1002" r:id="rId19"/>
    <p:sldId id="1003" r:id="rId20"/>
    <p:sldId id="1004" r:id="rId21"/>
    <p:sldId id="1005" r:id="rId22"/>
    <p:sldId id="1006" r:id="rId23"/>
    <p:sldId id="1007" r:id="rId24"/>
    <p:sldId id="1008" r:id="rId25"/>
    <p:sldId id="1009" r:id="rId26"/>
    <p:sldId id="1010" r:id="rId27"/>
    <p:sldId id="1011" r:id="rId28"/>
    <p:sldId id="1012" r:id="rId29"/>
    <p:sldId id="1013" r:id="rId30"/>
    <p:sldId id="1014" r:id="rId31"/>
    <p:sldId id="1015" r:id="rId32"/>
    <p:sldId id="1016" r:id="rId33"/>
    <p:sldId id="1017" r:id="rId34"/>
    <p:sldId id="1018" r:id="rId35"/>
    <p:sldId id="1019" r:id="rId36"/>
    <p:sldId id="1020" r:id="rId37"/>
    <p:sldId id="1021" r:id="rId38"/>
    <p:sldId id="1022" r:id="rId39"/>
    <p:sldId id="1023" r:id="rId40"/>
    <p:sldId id="1024" r:id="rId41"/>
    <p:sldId id="1025" r:id="rId42"/>
    <p:sldId id="1026" r:id="rId43"/>
    <p:sldId id="1027" r:id="rId44"/>
    <p:sldId id="1028" r:id="rId45"/>
    <p:sldId id="1029" r:id="rId46"/>
    <p:sldId id="988" r:id="rId47"/>
    <p:sldId id="989" r:id="rId48"/>
    <p:sldId id="990" r:id="rId49"/>
    <p:sldId id="893" r:id="rId50"/>
    <p:sldId id="894" r:id="rId51"/>
    <p:sldId id="895" r:id="rId52"/>
    <p:sldId id="896" r:id="rId53"/>
    <p:sldId id="868" r:id="rId54"/>
    <p:sldId id="869" r:id="rId55"/>
    <p:sldId id="723" r:id="rId56"/>
    <p:sldId id="874" r:id="rId57"/>
    <p:sldId id="875" r:id="rId58"/>
    <p:sldId id="876" r:id="rId59"/>
    <p:sldId id="877" r:id="rId60"/>
    <p:sldId id="878" r:id="rId61"/>
    <p:sldId id="879" r:id="rId62"/>
    <p:sldId id="880" r:id="rId63"/>
    <p:sldId id="881" r:id="rId64"/>
    <p:sldId id="882" r:id="rId65"/>
    <p:sldId id="883" r:id="rId66"/>
    <p:sldId id="884" r:id="rId67"/>
    <p:sldId id="887" r:id="rId68"/>
    <p:sldId id="1074" r:id="rId69"/>
    <p:sldId id="331" r:id="rId70"/>
    <p:sldId id="332" r:id="rId71"/>
    <p:sldId id="333" r:id="rId72"/>
    <p:sldId id="334" r:id="rId73"/>
    <p:sldId id="335" r:id="rId74"/>
    <p:sldId id="72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669" r:id="rId84"/>
    <p:sldId id="670" r:id="rId85"/>
    <p:sldId id="671" r:id="rId86"/>
    <p:sldId id="744" r:id="rId87"/>
    <p:sldId id="978" r:id="rId88"/>
    <p:sldId id="345" r:id="rId89"/>
    <p:sldId id="346" r:id="rId90"/>
    <p:sldId id="347" r:id="rId91"/>
    <p:sldId id="348" r:id="rId92"/>
    <p:sldId id="349" r:id="rId93"/>
    <p:sldId id="579" r:id="rId94"/>
    <p:sldId id="580" r:id="rId95"/>
    <p:sldId id="602" r:id="rId96"/>
    <p:sldId id="672" r:id="rId97"/>
    <p:sldId id="673" r:id="rId98"/>
    <p:sldId id="576" r:id="rId99"/>
    <p:sldId id="737" r:id="rId100"/>
    <p:sldId id="726" r:id="rId101"/>
    <p:sldId id="577" r:id="rId102"/>
    <p:sldId id="727" r:id="rId103"/>
    <p:sldId id="578" r:id="rId104"/>
    <p:sldId id="603" r:id="rId105"/>
    <p:sldId id="604" r:id="rId106"/>
    <p:sldId id="605" r:id="rId107"/>
    <p:sldId id="608" r:id="rId108"/>
    <p:sldId id="649" r:id="rId109"/>
    <p:sldId id="901" r:id="rId110"/>
    <p:sldId id="674" r:id="rId111"/>
    <p:sldId id="1075" r:id="rId112"/>
    <p:sldId id="675" r:id="rId113"/>
    <p:sldId id="676" r:id="rId114"/>
    <p:sldId id="677" r:id="rId115"/>
    <p:sldId id="678" r:id="rId116"/>
    <p:sldId id="679" r:id="rId117"/>
    <p:sldId id="680" r:id="rId118"/>
    <p:sldId id="745" r:id="rId119"/>
    <p:sldId id="746" r:id="rId120"/>
    <p:sldId id="681" r:id="rId121"/>
    <p:sldId id="902" r:id="rId122"/>
    <p:sldId id="609" r:id="rId123"/>
    <p:sldId id="610" r:id="rId124"/>
    <p:sldId id="1031" r:id="rId125"/>
    <p:sldId id="964" r:id="rId126"/>
    <p:sldId id="1030" r:id="rId127"/>
    <p:sldId id="966" r:id="rId128"/>
    <p:sldId id="967" r:id="rId129"/>
    <p:sldId id="968" r:id="rId130"/>
    <p:sldId id="969" r:id="rId131"/>
    <p:sldId id="970" r:id="rId132"/>
    <p:sldId id="971" r:id="rId133"/>
    <p:sldId id="991" r:id="rId134"/>
    <p:sldId id="992" r:id="rId135"/>
    <p:sldId id="972" r:id="rId136"/>
    <p:sldId id="973" r:id="rId137"/>
    <p:sldId id="974" r:id="rId138"/>
    <p:sldId id="975" r:id="rId139"/>
    <p:sldId id="976" r:id="rId140"/>
    <p:sldId id="741" r:id="rId141"/>
    <p:sldId id="611" r:id="rId142"/>
    <p:sldId id="612" r:id="rId143"/>
    <p:sldId id="613" r:id="rId144"/>
    <p:sldId id="614" r:id="rId145"/>
    <p:sldId id="615" r:id="rId146"/>
    <p:sldId id="616" r:id="rId147"/>
    <p:sldId id="622" r:id="rId148"/>
    <p:sldId id="623" r:id="rId149"/>
    <p:sldId id="624" r:id="rId150"/>
    <p:sldId id="625" r:id="rId151"/>
    <p:sldId id="626" r:id="rId152"/>
    <p:sldId id="627" r:id="rId153"/>
    <p:sldId id="628" r:id="rId154"/>
    <p:sldId id="629" r:id="rId155"/>
    <p:sldId id="630" r:id="rId156"/>
    <p:sldId id="631" r:id="rId157"/>
    <p:sldId id="730" r:id="rId158"/>
    <p:sldId id="757" r:id="rId159"/>
    <p:sldId id="758" r:id="rId160"/>
    <p:sldId id="802" r:id="rId161"/>
    <p:sldId id="803" r:id="rId162"/>
    <p:sldId id="804" r:id="rId163"/>
    <p:sldId id="805" r:id="rId164"/>
    <p:sldId id="806" r:id="rId165"/>
    <p:sldId id="996" r:id="rId166"/>
    <p:sldId id="997" r:id="rId167"/>
    <p:sldId id="998" r:id="rId168"/>
    <p:sldId id="1072" r:id="rId169"/>
    <p:sldId id="765" r:id="rId170"/>
    <p:sldId id="766" r:id="rId171"/>
    <p:sldId id="767" r:id="rId172"/>
    <p:sldId id="768" r:id="rId173"/>
    <p:sldId id="769" r:id="rId174"/>
    <p:sldId id="770" r:id="rId175"/>
    <p:sldId id="771" r:id="rId176"/>
    <p:sldId id="772" r:id="rId177"/>
    <p:sldId id="773" r:id="rId178"/>
    <p:sldId id="836" r:id="rId179"/>
    <p:sldId id="995" r:id="rId180"/>
    <p:sldId id="837" r:id="rId181"/>
    <p:sldId id="838" r:id="rId182"/>
    <p:sldId id="839" r:id="rId183"/>
    <p:sldId id="1076" r:id="rId184"/>
    <p:sldId id="1077" r:id="rId185"/>
    <p:sldId id="1078" r:id="rId186"/>
    <p:sldId id="1079" r:id="rId187"/>
    <p:sldId id="1055" r:id="rId188"/>
    <p:sldId id="1056" r:id="rId189"/>
    <p:sldId id="1057" r:id="rId190"/>
    <p:sldId id="1059" r:id="rId191"/>
    <p:sldId id="1058" r:id="rId192"/>
    <p:sldId id="1060" r:id="rId193"/>
    <p:sldId id="1061" r:id="rId194"/>
    <p:sldId id="1062" r:id="rId195"/>
    <p:sldId id="1063" r:id="rId196"/>
    <p:sldId id="1064" r:id="rId197"/>
    <p:sldId id="1065" r:id="rId198"/>
    <p:sldId id="1066" r:id="rId199"/>
    <p:sldId id="1067" r:id="rId200"/>
    <p:sldId id="1068" r:id="rId201"/>
    <p:sldId id="1069" r:id="rId202"/>
    <p:sldId id="1070" r:id="rId203"/>
    <p:sldId id="1071" r:id="rId204"/>
    <p:sldId id="843" r:id="rId205"/>
    <p:sldId id="719" r:id="rId206"/>
    <p:sldId id="685" r:id="rId207"/>
    <p:sldId id="686" r:id="rId208"/>
    <p:sldId id="687" r:id="rId209"/>
    <p:sldId id="688" r:id="rId210"/>
    <p:sldId id="689" r:id="rId211"/>
    <p:sldId id="690" r:id="rId212"/>
    <p:sldId id="691" r:id="rId213"/>
    <p:sldId id="692" r:id="rId214"/>
    <p:sldId id="693" r:id="rId215"/>
    <p:sldId id="694" r:id="rId216"/>
    <p:sldId id="695" r:id="rId217"/>
    <p:sldId id="696" r:id="rId218"/>
    <p:sldId id="697" r:id="rId219"/>
    <p:sldId id="698" r:id="rId220"/>
    <p:sldId id="699" r:id="rId221"/>
    <p:sldId id="700" r:id="rId222"/>
    <p:sldId id="720" r:id="rId223"/>
    <p:sldId id="721" r:id="rId224"/>
    <p:sldId id="722" r:id="rId225"/>
    <p:sldId id="701" r:id="rId226"/>
    <p:sldId id="702" r:id="rId227"/>
    <p:sldId id="703" r:id="rId228"/>
    <p:sldId id="704" r:id="rId229"/>
    <p:sldId id="705" r:id="rId230"/>
    <p:sldId id="717" r:id="rId231"/>
    <p:sldId id="955" r:id="rId232"/>
    <p:sldId id="956" r:id="rId233"/>
    <p:sldId id="986" r:id="rId234"/>
    <p:sldId id="959" r:id="rId235"/>
    <p:sldId id="977" r:id="rId236"/>
    <p:sldId id="980" r:id="rId237"/>
    <p:sldId id="982" r:id="rId238"/>
    <p:sldId id="981" r:id="rId239"/>
    <p:sldId id="983" r:id="rId240"/>
    <p:sldId id="984" r:id="rId241"/>
    <p:sldId id="985" r:id="rId242"/>
    <p:sldId id="987" r:id="rId243"/>
  </p:sldIdLst>
  <p:sldSz cx="9144000" cy="6858000" type="screen4x3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n" initials="f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FFFF"/>
    <a:srgbClr val="FF00FF"/>
    <a:srgbClr val="FFCC00"/>
    <a:srgbClr val="CC3300"/>
    <a:srgbClr val="FFFF00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8" autoAdjust="0"/>
    <p:restoredTop sz="99655" autoAdjust="0"/>
  </p:normalViewPr>
  <p:slideViewPr>
    <p:cSldViewPr>
      <p:cViewPr varScale="1">
        <p:scale>
          <a:sx n="63" d="100"/>
          <a:sy n="63" d="100"/>
        </p:scale>
        <p:origin x="12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handoutMaster" Target="handoutMasters/handoutMaster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commentAuthors" Target="commentAuthor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2-10-10T23:31:54.678" idx="5">
    <p:pos x="5248" y="260"/>
    <p:text>可以討論（N，＜）與LPTL的對應關係。
可以討論（N，＜）與past與future的關係。
可以討論（N，＜）與（N，succ）的關係。
可以討加入＋、─、＊、/後的state-index的關係。
還有什麼是HOL？
譬如exists m forall i, j(p(i,j)-&gt; q(m(i,j))) 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ED0AB4B1-27F4-4836-B8FF-39325C2E6D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t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5288C0AA-031B-4E93-A135-668B4CE1DB7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t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1236" name="Rectangle 4">
            <a:extLst>
              <a:ext uri="{FF2B5EF4-FFF2-40B4-BE49-F238E27FC236}">
                <a16:creationId xmlns:a16="http://schemas.microsoft.com/office/drawing/2014/main" id="{4FE01243-7EB9-48B9-BDED-52C4CB46EF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b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1237" name="Rectangle 5">
            <a:extLst>
              <a:ext uri="{FF2B5EF4-FFF2-40B4-BE49-F238E27FC236}">
                <a16:creationId xmlns:a16="http://schemas.microsoft.com/office/drawing/2014/main" id="{428C994D-4C9B-4F99-922D-45A2E4AEBB7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b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 smtClean="0"/>
            </a:lvl1pPr>
          </a:lstStyle>
          <a:p>
            <a:pPr>
              <a:defRPr/>
            </a:pPr>
            <a:fld id="{B98593BA-22FA-45AF-AEAE-A78E342BBEB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24" units="1/cm"/>
          <inkml:channelProperty channel="Y" name="resolution" value="24" units="1/cm"/>
        </inkml:channelProperties>
      </inkml:inkSource>
      <inkml:timestamp xml:id="ts0" timeString="2008-05-13T03:52:10.43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638E6CA-DD3B-4B7F-A5D9-251D66492E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t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058C85-8A67-4AA9-BC15-144FE584EC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t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F39C248-7645-4A32-BC57-1ABCBD059D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2AFE650A-3B61-4191-B335-525F844BBA8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280993E3-5775-422D-8BEA-6B8EAF560A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b" anchorCtr="0" compatLnSpc="1">
            <a:prstTxWarp prst="textNoShape">
              <a:avLst/>
            </a:prstTxWarp>
          </a:bodyPr>
          <a:lstStyle>
            <a:lvl1pPr defTabSz="952500" eaLnBrk="1" hangingPunct="1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124DE75D-1727-4212-8844-9544106F1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2" tIns="47631" rIns="95262" bIns="47631" numCol="1" anchor="b" anchorCtr="0" compatLnSpc="1">
            <a:prstTxWarp prst="textNoShape">
              <a:avLst/>
            </a:prstTxWarp>
          </a:bodyPr>
          <a:lstStyle>
            <a:lvl1pPr algn="r" defTabSz="952500" eaLnBrk="1" hangingPunct="1">
              <a:defRPr sz="1300" smtClean="0"/>
            </a:lvl1pPr>
          </a:lstStyle>
          <a:p>
            <a:pPr>
              <a:defRPr/>
            </a:pPr>
            <a:fld id="{C5A1015C-7DC0-44B8-AB1F-2872C31F7E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0250F78-463A-4CB8-BFFF-16DE0C1EB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D20925-B5AB-4874-BA3B-C5087560210E}" type="slidenum">
              <a:rPr lang="en-US" altLang="zh-TW" sz="1300"/>
              <a:pPr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A6154A2-4B37-4143-99D3-085790D6D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DD0EBF0-AEEC-41D2-A702-A558F918D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BFB54DD-2E6B-482E-B5E3-D14A78026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35945F6-6A88-4737-8C8E-BF0D3AF43FF0}" type="slidenum">
              <a:rPr lang="en-US" altLang="zh-TW" sz="1300"/>
              <a:pPr>
                <a:spcBef>
                  <a:spcPct val="0"/>
                </a:spcBef>
              </a:pPr>
              <a:t>2</a:t>
            </a:fld>
            <a:endParaRPr lang="en-US" altLang="zh-TW" sz="13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351C40C-762B-498D-950C-BE4B9DCDE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0A2B101-7D63-4D7E-80BF-45062598E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C4B16EC6-4C84-4958-A6C5-A10B75FED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8DF4F7E-9FF3-4E38-B5EC-2373D461157D}" type="slidenum">
              <a:rPr lang="en-US" altLang="zh-TW" sz="1300"/>
              <a:pPr>
                <a:spcBef>
                  <a:spcPct val="0"/>
                </a:spcBef>
              </a:pPr>
              <a:t>3</a:t>
            </a:fld>
            <a:endParaRPr lang="en-US" altLang="zh-TW" sz="13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3382367-B279-4C35-8642-5FF52671F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5B5C4E8-1D9E-4142-96C6-3C8028F5D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C16A983E-1ECC-4758-B491-EDA8878940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6BC13A-DEE4-4C89-8E9E-DD642E64974C}" type="slidenum">
              <a:rPr lang="en-US" altLang="zh-TW" sz="1300"/>
              <a:pPr>
                <a:spcBef>
                  <a:spcPct val="0"/>
                </a:spcBef>
              </a:pPr>
              <a:t>4</a:t>
            </a:fld>
            <a:endParaRPr lang="en-US" altLang="zh-TW" sz="13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C101D28-6EF5-4C8E-BB9F-D2D14088E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49CED36-E1AA-43E7-9CF0-CD224B5BE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46C94200-76AB-4264-A5CA-7D094573F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1F0A2D-534D-47EE-8656-26EF2C70A784}" type="slidenum">
              <a:rPr lang="en-US" altLang="zh-TW" sz="1300"/>
              <a:pPr>
                <a:spcBef>
                  <a:spcPct val="0"/>
                </a:spcBef>
              </a:pPr>
              <a:t>5</a:t>
            </a:fld>
            <a:endParaRPr lang="en-US" altLang="zh-TW" sz="13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A55293F-D52A-49B2-91F5-CAF8B2C2B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2E27EC3-D611-4948-A8BF-744BDACB3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3733314-23C9-4A90-95B3-23DAF85AF4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28BC76-D8E1-4E0E-AB95-F874C7B0BCD8}" type="slidenum">
              <a:rPr lang="en-US" altLang="zh-TW" sz="1300"/>
              <a:pPr>
                <a:spcBef>
                  <a:spcPct val="0"/>
                </a:spcBef>
              </a:pPr>
              <a:t>6</a:t>
            </a:fld>
            <a:endParaRPr lang="en-US" altLang="zh-TW" sz="13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B659224-3D2C-4A5A-A3FF-5C949AC4A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1AE091D-665C-4887-B33F-EE9475FA3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DEC1F19-1F23-480D-AB9D-47A346D34F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AAE5F2B-1F62-4401-A490-0D62FE94C8B0}" type="slidenum">
              <a:rPr lang="en-US" altLang="zh-TW" sz="1300"/>
              <a:pPr>
                <a:spcBef>
                  <a:spcPct val="0"/>
                </a:spcBef>
              </a:pPr>
              <a:t>7</a:t>
            </a:fld>
            <a:endParaRPr lang="en-US" altLang="zh-TW" sz="13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F290335-A90D-4394-A462-68A6D2B3C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A2A5A0E-BE33-43DB-B6BE-D3F223624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C9E4E4A-7BAE-486B-9F96-57F30D2C0A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385911A-BF29-401F-A35F-02BF47886AF3}" type="slidenum">
              <a:rPr lang="en-US" altLang="zh-TW" sz="1300"/>
              <a:pPr>
                <a:spcBef>
                  <a:spcPct val="0"/>
                </a:spcBef>
              </a:pPr>
              <a:t>8</a:t>
            </a:fld>
            <a:endParaRPr lang="en-US" altLang="zh-TW" sz="13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0D463AF-5582-4F6B-A98E-5934A40E6C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E7B039B-C09D-4F6C-A98C-261CF5197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9843EBE-4DCE-406E-B668-922B0BD17D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85CC2DD-48F3-48F8-A731-7619B94713A4}" type="slidenum">
              <a:rPr lang="en-US" altLang="zh-TW" sz="1300"/>
              <a:pPr>
                <a:spcBef>
                  <a:spcPct val="0"/>
                </a:spcBef>
              </a:pPr>
              <a:t>9</a:t>
            </a:fld>
            <a:endParaRPr lang="en-US" altLang="zh-TW" sz="13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4C9A9ED-14FF-4A2D-828C-750FF9934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991E89D-D85B-4B0F-9BF8-8EE60EF62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5085A5A-B12F-4CCC-8F1A-9C1ACA81C7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C350E3A-E78E-49DC-9F9A-7F463E5AC5BE}" type="slidenum">
              <a:rPr lang="en-US" altLang="zh-TW" sz="1300"/>
              <a:pPr>
                <a:spcBef>
                  <a:spcPct val="0"/>
                </a:spcBef>
              </a:pPr>
              <a:t>10</a:t>
            </a:fld>
            <a:endParaRPr lang="en-US" altLang="zh-TW" sz="13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4859B50-8A81-45FD-AE91-5202934F9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DCF6150-DCE5-4C0C-AC1D-4458687D1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FB06AC7-FEE4-4720-9DD3-6A3D569865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0002325-21CC-4102-9F8B-B0DECA665733}" type="slidenum">
              <a:rPr lang="en-US" altLang="zh-TW" sz="1300"/>
              <a:pPr>
                <a:spcBef>
                  <a:spcPct val="0"/>
                </a:spcBef>
              </a:pPr>
              <a:t>11</a:t>
            </a:fld>
            <a:endParaRPr lang="en-US" altLang="zh-TW" sz="13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9417EFC-2943-4A1A-8DAF-2BA15B3A1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D5A3BF1-4A87-42D7-98D3-78CE1EB68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>
            <a:extLst>
              <a:ext uri="{FF2B5EF4-FFF2-40B4-BE49-F238E27FC236}">
                <a16:creationId xmlns:a16="http://schemas.microsoft.com/office/drawing/2014/main" id="{C87C14F9-5940-4A7C-9497-1A1CC6F02D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備忘稿版面配置區 2">
            <a:extLst>
              <a:ext uri="{FF2B5EF4-FFF2-40B4-BE49-F238E27FC236}">
                <a16:creationId xmlns:a16="http://schemas.microsoft.com/office/drawing/2014/main" id="{7611FE62-3AD8-48CC-95D3-B2203E76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700" name="投影片編號版面配置區 3">
            <a:extLst>
              <a:ext uri="{FF2B5EF4-FFF2-40B4-BE49-F238E27FC236}">
                <a16:creationId xmlns:a16="http://schemas.microsoft.com/office/drawing/2014/main" id="{0BDE444D-2FEA-43BE-AE6B-392F95703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0644EE0-EF49-45DB-BDB8-D6FC0F50E8DF}" type="slidenum">
              <a:rPr lang="en-US" altLang="zh-TW" sz="1300"/>
              <a:pPr>
                <a:spcBef>
                  <a:spcPct val="0"/>
                </a:spcBef>
              </a:pPr>
              <a:t>12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>
            <a:extLst>
              <a:ext uri="{FF2B5EF4-FFF2-40B4-BE49-F238E27FC236}">
                <a16:creationId xmlns:a16="http://schemas.microsoft.com/office/drawing/2014/main" id="{25E59CF6-90A4-4E97-A38F-6090152D4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備忘稿版面配置區 2">
            <a:extLst>
              <a:ext uri="{FF2B5EF4-FFF2-40B4-BE49-F238E27FC236}">
                <a16:creationId xmlns:a16="http://schemas.microsoft.com/office/drawing/2014/main" id="{2E914CC1-2ED6-4E0B-B692-88F9F0E22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8" name="投影片編號版面配置區 3">
            <a:extLst>
              <a:ext uri="{FF2B5EF4-FFF2-40B4-BE49-F238E27FC236}">
                <a16:creationId xmlns:a16="http://schemas.microsoft.com/office/drawing/2014/main" id="{73322F62-4D54-4991-9390-27BE6169A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0CC3C50-8B98-4650-9489-DA92A00F9969}" type="slidenum">
              <a:rPr lang="en-US" altLang="zh-TW" sz="1300"/>
              <a:pPr>
                <a:spcBef>
                  <a:spcPct val="0"/>
                </a:spcBef>
              </a:pPr>
              <a:t>13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投影片圖像版面配置區 1">
            <a:extLst>
              <a:ext uri="{FF2B5EF4-FFF2-40B4-BE49-F238E27FC236}">
                <a16:creationId xmlns:a16="http://schemas.microsoft.com/office/drawing/2014/main" id="{EDC50B69-9DD5-4ED4-8F95-ECAE121AE8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備忘稿版面配置區 2">
            <a:extLst>
              <a:ext uri="{FF2B5EF4-FFF2-40B4-BE49-F238E27FC236}">
                <a16:creationId xmlns:a16="http://schemas.microsoft.com/office/drawing/2014/main" id="{864AA249-30B7-4DD6-B187-9CA2DE326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796" name="投影片編號版面配置區 3">
            <a:extLst>
              <a:ext uri="{FF2B5EF4-FFF2-40B4-BE49-F238E27FC236}">
                <a16:creationId xmlns:a16="http://schemas.microsoft.com/office/drawing/2014/main" id="{6FE4A9C0-E873-4D23-A0D3-21208AA8B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8905C0C-F8CE-4ED4-9520-C1BB9EAB0512}" type="slidenum">
              <a:rPr lang="en-US" altLang="zh-TW" sz="1300"/>
              <a:pPr>
                <a:spcBef>
                  <a:spcPct val="0"/>
                </a:spcBef>
              </a:pPr>
              <a:t>14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>
            <a:extLst>
              <a:ext uri="{FF2B5EF4-FFF2-40B4-BE49-F238E27FC236}">
                <a16:creationId xmlns:a16="http://schemas.microsoft.com/office/drawing/2014/main" id="{DAF7AD11-0E37-4948-8219-A0A3CC1BFD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>
            <a:extLst>
              <a:ext uri="{FF2B5EF4-FFF2-40B4-BE49-F238E27FC236}">
                <a16:creationId xmlns:a16="http://schemas.microsoft.com/office/drawing/2014/main" id="{6610FB54-03A8-4788-BE70-303D5327D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>
            <a:extLst>
              <a:ext uri="{FF2B5EF4-FFF2-40B4-BE49-F238E27FC236}">
                <a16:creationId xmlns:a16="http://schemas.microsoft.com/office/drawing/2014/main" id="{8158586C-D61B-4924-806E-B88B2FAF5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30C1AA8-F458-499B-B649-69ACF8AA0712}" type="slidenum">
              <a:rPr lang="en-US" altLang="zh-TW" sz="1300"/>
              <a:pPr>
                <a:spcBef>
                  <a:spcPct val="0"/>
                </a:spcBef>
              </a:pPr>
              <a:t>15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02A608A-1AD5-4BD0-80F7-C3B7517E8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46F8CE7-66D8-438D-98D4-2A628342732F}" type="slidenum">
              <a:rPr lang="en-US" altLang="zh-TW" sz="1300"/>
              <a:pPr>
                <a:spcBef>
                  <a:spcPct val="0"/>
                </a:spcBef>
              </a:pPr>
              <a:t>16</a:t>
            </a:fld>
            <a:endParaRPr lang="en-US" altLang="zh-TW" sz="13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91A183A-B2D4-4F90-85DD-B8C507D50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074B241-3154-486B-B905-C087C2AF4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現在進入</a:t>
            </a:r>
            <a:r>
              <a:rPr lang="en-US" altLang="zh-TW"/>
              <a:t>State transition</a:t>
            </a:r>
            <a:r>
              <a:rPr lang="zh-TW" altLang="en-US"/>
              <a:t>的另一個主要表示方法</a:t>
            </a:r>
          </a:p>
          <a:p>
            <a:pPr eaLnBrk="1" hangingPunct="1"/>
            <a:r>
              <a:rPr lang="zh-TW" altLang="en-US"/>
              <a:t>說明</a:t>
            </a:r>
            <a:r>
              <a:rPr lang="en-US" altLang="zh-TW"/>
              <a:t>Kirpke structure </a:t>
            </a:r>
            <a:r>
              <a:rPr lang="zh-TW" altLang="en-US"/>
              <a:t>可以將</a:t>
            </a:r>
            <a:r>
              <a:rPr lang="en-US" altLang="zh-TW"/>
              <a:t>execution traces</a:t>
            </a:r>
            <a:r>
              <a:rPr lang="zh-TW" altLang="en-US"/>
              <a:t>展開成一棵樹，以便時態邏輯驗證。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70C70EB-EEF7-4FA7-8BE3-818338C0E1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92D28E8-66AC-4FFF-B5FB-778210C7DCED}" type="slidenum">
              <a:rPr lang="en-US" altLang="zh-TW" sz="1300"/>
              <a:pPr>
                <a:spcBef>
                  <a:spcPct val="0"/>
                </a:spcBef>
              </a:pPr>
              <a:t>17</a:t>
            </a:fld>
            <a:endParaRPr lang="en-US" altLang="zh-TW" sz="13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F2287EB-AC64-43DD-8C82-57292C7220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D8A41E1-A26A-4E1D-9B8A-9EFA6A2FE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C3AE7DA-82AD-4706-A7E5-419F7FC59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88C05D9-A273-47BA-8CBD-FB01B99D5D17}" type="slidenum">
              <a:rPr lang="en-US" altLang="zh-TW" sz="1300"/>
              <a:pPr>
                <a:spcBef>
                  <a:spcPct val="0"/>
                </a:spcBef>
              </a:pPr>
              <a:t>18</a:t>
            </a:fld>
            <a:endParaRPr lang="en-US" altLang="zh-TW" sz="13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8CB41C8-C1D8-4378-9A80-B1609AC423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B848066-3106-4801-ACB9-F490B017A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C635BBB5-D88B-4BB2-BFB9-8E42A2C0CE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B764D2A-2979-4A81-A85C-8C01A1500C51}" type="slidenum">
              <a:rPr lang="en-US" altLang="zh-TW" sz="1300"/>
              <a:pPr>
                <a:spcBef>
                  <a:spcPct val="0"/>
                </a:spcBef>
              </a:pPr>
              <a:t>19</a:t>
            </a:fld>
            <a:endParaRPr lang="en-US" altLang="zh-TW" sz="13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2C0431A-4D53-4F81-BC7A-B6B9B6F7B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EAF60F6-EEE5-4BAE-8182-112F849E1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10C17D3-8B1D-451D-9471-46F706D48B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3F4632-7BB3-4309-BAD8-9E5F8C628AEB}" type="slidenum">
              <a:rPr lang="en-US" altLang="zh-TW" sz="1300"/>
              <a:pPr>
                <a:spcBef>
                  <a:spcPct val="0"/>
                </a:spcBef>
              </a:pPr>
              <a:t>20</a:t>
            </a:fld>
            <a:endParaRPr lang="en-US" altLang="zh-TW" sz="13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7E1D8E3-8113-4A2B-9CC4-B0DFA8B9A3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B960C0C-BC8F-4BCA-A0D3-386483AB2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51A708A5-E449-4A70-96A3-C3AC772940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C7150D9-5BE0-44F3-BC5A-E91A0E17CEAB}" type="slidenum">
              <a:rPr lang="en-US" altLang="zh-TW" sz="1300"/>
              <a:pPr>
                <a:spcBef>
                  <a:spcPct val="0"/>
                </a:spcBef>
              </a:pPr>
              <a:t>21</a:t>
            </a:fld>
            <a:endParaRPr lang="en-US" altLang="zh-TW" sz="13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15C78BD-5D9D-4161-B8DE-4D361EC01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70E7F60-808A-4E59-A3B4-5EA0D9542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另一類說法是，</a:t>
            </a:r>
            <a:r>
              <a:rPr lang="en-US" altLang="zh-TW"/>
              <a:t>state</a:t>
            </a:r>
            <a:r>
              <a:rPr lang="zh-TW" altLang="en-US"/>
              <a:t>也可以代表成式的流程控制和資料變數。</a:t>
            </a:r>
          </a:p>
          <a:p>
            <a:pPr eaLnBrk="1" hangingPunct="1"/>
            <a:r>
              <a:rPr lang="zh-TW" altLang="en-US"/>
              <a:t>注意前提是必須是</a:t>
            </a:r>
            <a:r>
              <a:rPr lang="en-US" altLang="zh-TW"/>
              <a:t>finite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6920658-FC50-446E-8E93-B1DD2F33D8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A38850D-F792-4A81-97EB-F7770E11878E}" type="slidenum">
              <a:rPr lang="en-US" altLang="zh-TW" sz="1300"/>
              <a:pPr>
                <a:spcBef>
                  <a:spcPct val="0"/>
                </a:spcBef>
              </a:pPr>
              <a:t>22</a:t>
            </a:fld>
            <a:endParaRPr lang="en-US" altLang="zh-TW" sz="13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5D13B3D-11FE-4915-9CFD-9D9217510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A544F44-2958-4EA3-A3B0-5C4E841FD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通常必須先經過</a:t>
            </a:r>
            <a:r>
              <a:rPr lang="en-US" altLang="zh-TW"/>
              <a:t>abstract</a:t>
            </a:r>
            <a:r>
              <a:rPr lang="zh-TW" altLang="en-US"/>
              <a:t>成為</a:t>
            </a:r>
            <a:r>
              <a:rPr lang="en-US" altLang="zh-TW"/>
              <a:t>finite</a:t>
            </a:r>
          </a:p>
          <a:p>
            <a:pPr eaLnBrk="1" hangingPunct="1"/>
            <a:r>
              <a:rPr lang="zh-TW" altLang="en-US"/>
              <a:t>而我們的</a:t>
            </a:r>
            <a:r>
              <a:rPr lang="en-US" altLang="zh-TW"/>
              <a:t>structure</a:t>
            </a:r>
            <a:r>
              <a:rPr lang="zh-TW" altLang="en-US"/>
              <a:t>只會存有關的正負號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D0FB876-30D2-498F-8A7C-BB7D178D7D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C2F415F-69A6-4B5A-8B45-EC8B3C5D0F31}" type="slidenum">
              <a:rPr lang="en-US" altLang="zh-TW" sz="1300"/>
              <a:pPr>
                <a:spcBef>
                  <a:spcPct val="0"/>
                </a:spcBef>
              </a:pPr>
              <a:t>23</a:t>
            </a:fld>
            <a:endParaRPr lang="en-US" altLang="zh-TW" sz="13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3454D7B-DC4D-48DC-9D70-23DECF87EB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3F91F2A-BA44-4B06-AEF1-20C488399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說明並非所有</a:t>
            </a:r>
            <a:r>
              <a:rPr lang="en-US" altLang="zh-TW"/>
              <a:t>control locations</a:t>
            </a:r>
            <a:r>
              <a:rPr lang="zh-TW" altLang="en-US"/>
              <a:t>都是</a:t>
            </a:r>
            <a:r>
              <a:rPr lang="en-US" altLang="zh-TW"/>
              <a:t>finite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D9340D1-BDBB-46F5-8D23-65250F216A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455936F-E0D1-4D2A-8118-FE2A36BEED77}" type="slidenum">
              <a:rPr lang="en-US" altLang="zh-TW" sz="1300"/>
              <a:pPr>
                <a:spcBef>
                  <a:spcPct val="0"/>
                </a:spcBef>
              </a:pPr>
              <a:t>24</a:t>
            </a:fld>
            <a:endParaRPr lang="en-US" altLang="zh-TW" sz="13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A4A34BD8-A7D3-441B-82F7-81A621C4D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EEDFDCD4-8B91-4D1F-B136-0B9537ADA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描述</a:t>
            </a:r>
            <a:r>
              <a:rPr lang="en-US" altLang="zh-TW"/>
              <a:t>states </a:t>
            </a:r>
            <a:r>
              <a:rPr lang="zh-TW" altLang="en-US"/>
              <a:t>的特性以及</a:t>
            </a:r>
            <a:r>
              <a:rPr lang="en-US" altLang="zh-TW"/>
              <a:t>transition</a:t>
            </a:r>
            <a:r>
              <a:rPr lang="zh-TW" altLang="en-US"/>
              <a:t>的作用。</a:t>
            </a:r>
          </a:p>
          <a:p>
            <a:pPr eaLnBrk="1" hangingPunct="1"/>
            <a:r>
              <a:rPr lang="zh-TW" altLang="en-US"/>
              <a:t>重複總結兩者的密切關係，並提出</a:t>
            </a:r>
            <a:r>
              <a:rPr lang="en-US" altLang="zh-TW"/>
              <a:t>transition relation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7017AA4F-499A-451F-88FA-8A9367668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1079C6-A706-4BD0-8E86-C379BAE40011}" type="slidenum">
              <a:rPr lang="en-US" altLang="zh-TW" sz="1300"/>
              <a:pPr>
                <a:spcBef>
                  <a:spcPct val="0"/>
                </a:spcBef>
              </a:pPr>
              <a:t>25</a:t>
            </a:fld>
            <a:endParaRPr lang="en-US" altLang="zh-TW" sz="13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3E9F728-DCBB-47C9-AD29-06BA46EAD3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89821A0-DBEF-42AD-AF3D-0B71C8C5D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利用</a:t>
            </a:r>
            <a:r>
              <a:rPr lang="en-US" altLang="zh-TW"/>
              <a:t>states</a:t>
            </a:r>
            <a:r>
              <a:rPr lang="zh-TW" altLang="en-US"/>
              <a:t>的定義方法，說明兩個</a:t>
            </a:r>
            <a:r>
              <a:rPr lang="en-US" altLang="zh-TW"/>
              <a:t>states</a:t>
            </a:r>
            <a:r>
              <a:rPr lang="zh-TW" altLang="en-US"/>
              <a:t>的</a:t>
            </a:r>
            <a:r>
              <a:rPr lang="en-US" altLang="zh-TW"/>
              <a:t>transition</a:t>
            </a:r>
            <a:r>
              <a:rPr lang="zh-TW" altLang="en-US"/>
              <a:t>表示法。</a:t>
            </a:r>
          </a:p>
          <a:p>
            <a:pPr eaLnBrk="1" hangingPunct="1"/>
            <a:r>
              <a:rPr lang="zh-TW" altLang="en-US"/>
              <a:t>注意關係式。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50989A07-21B7-4816-9DC1-42886D3C8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241089-0981-471D-A9C7-D4E0F087687B}" type="slidenum">
              <a:rPr lang="en-US" altLang="zh-TW" sz="1300"/>
              <a:pPr>
                <a:spcBef>
                  <a:spcPct val="0"/>
                </a:spcBef>
              </a:pPr>
              <a:t>26</a:t>
            </a:fld>
            <a:endParaRPr lang="en-US" altLang="zh-TW" sz="13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F5FD96C2-7466-4978-8052-59C25EBAF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4F7D133-2286-4164-A70D-E45772CB9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簡略總結上一頁</a:t>
            </a:r>
            <a:r>
              <a:rPr lang="en-US" altLang="zh-TW"/>
              <a:t>states</a:t>
            </a:r>
            <a:r>
              <a:rPr lang="zh-TW" altLang="en-US"/>
              <a:t>和</a:t>
            </a:r>
            <a:r>
              <a:rPr lang="en-US" altLang="zh-TW"/>
              <a:t>transition</a:t>
            </a:r>
            <a:r>
              <a:rPr lang="zh-TW" altLang="en-US"/>
              <a:t>表示法，並推導</a:t>
            </a:r>
            <a:r>
              <a:rPr lang="en-US" altLang="zh-TW"/>
              <a:t>transition relation</a:t>
            </a:r>
            <a:r>
              <a:rPr lang="zh-TW" altLang="en-US"/>
              <a:t>定義表示法。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B1274D2-5948-4501-AF53-560F3C22A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26836C8-6C82-4B35-91D1-4814A668EDE6}" type="slidenum">
              <a:rPr lang="en-US" altLang="zh-TW" sz="1300"/>
              <a:pPr>
                <a:spcBef>
                  <a:spcPct val="0"/>
                </a:spcBef>
              </a:pPr>
              <a:t>27</a:t>
            </a:fld>
            <a:endParaRPr lang="en-US" altLang="zh-TW" sz="13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70A0012-42CC-4512-94D4-C758BF304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5189843-45BC-460C-B685-F91D8DDF5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舉例說明。</a:t>
            </a:r>
          </a:p>
          <a:p>
            <a:pPr eaLnBrk="1" hangingPunct="1"/>
            <a:r>
              <a:rPr lang="zh-TW" altLang="en-US"/>
              <a:t>可以再次提醒代號的意義，這樣較不容易混淆。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9572829D-31FE-4CE5-94F7-109EA8FA4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B065C98-9D4D-4EB0-B0C1-25331831C353}" type="slidenum">
              <a:rPr lang="en-US" altLang="zh-TW" sz="1300"/>
              <a:pPr>
                <a:spcBef>
                  <a:spcPct val="0"/>
                </a:spcBef>
              </a:pPr>
              <a:t>28</a:t>
            </a:fld>
            <a:endParaRPr lang="en-US" altLang="zh-TW" sz="13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32D0711-29C2-4CCF-9A6C-DCAA68F34A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F7C7DA3-662F-4CEE-B4CD-804C6C8F7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E2691A2-4EC7-40CE-A5C2-1503743E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1B7A9DC-FB4D-428F-9164-60E19B1FE697}" type="slidenum">
              <a:rPr lang="en-US" altLang="zh-TW" sz="1300"/>
              <a:pPr>
                <a:spcBef>
                  <a:spcPct val="0"/>
                </a:spcBef>
              </a:pPr>
              <a:t>29</a:t>
            </a:fld>
            <a:endParaRPr lang="en-US" altLang="zh-TW" sz="13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CE2E8E7-F472-430C-BBFA-52D7FF7AE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D944568-7A32-4371-92F4-B6F237E71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FD8C96E-7D93-4B1B-BC8C-FA64577AAD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0E22EF5-2C3A-4D5C-AE26-4FCC56518A05}" type="slidenum">
              <a:rPr lang="en-US" altLang="zh-TW" sz="1300"/>
              <a:pPr>
                <a:spcBef>
                  <a:spcPct val="0"/>
                </a:spcBef>
              </a:pPr>
              <a:t>30</a:t>
            </a:fld>
            <a:endParaRPr lang="en-US" altLang="zh-TW" sz="13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F7AA7AB6-8396-4CD2-9C6D-FB510A8D97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47C83DD-F5DC-4654-859E-5FA7879AD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D2B61BB-FB2D-420D-993F-4EE2E23F4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669936-9176-4783-BB38-A412AAC1A374}" type="slidenum">
              <a:rPr lang="en-US" altLang="zh-TW" sz="1300"/>
              <a:pPr>
                <a:spcBef>
                  <a:spcPct val="0"/>
                </a:spcBef>
              </a:pPr>
              <a:t>31</a:t>
            </a:fld>
            <a:endParaRPr lang="en-US" altLang="zh-TW" sz="13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F470A0C8-AFA8-4F14-850A-150FDB8BF0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F26CB28-A356-4C45-9A9B-925966C96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14E7F738-8E7B-46D9-BEF3-6AF4F14A86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DAE7E9B-44F1-46F4-9431-B6946528E537}" type="slidenum">
              <a:rPr lang="en-US" altLang="zh-TW" sz="1300"/>
              <a:pPr>
                <a:spcBef>
                  <a:spcPct val="0"/>
                </a:spcBef>
              </a:pPr>
              <a:t>32</a:t>
            </a:fld>
            <a:endParaRPr lang="en-US" altLang="zh-TW" sz="13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2F4B7EC4-D014-49D7-A52D-F4E6D0A6A4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21B94BDC-2098-4130-83FF-B566DF680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AEB4FD46-9CCB-4E2D-B998-32B740060A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AC4359D-7690-4074-99D4-491F2958F804}" type="slidenum">
              <a:rPr lang="en-US" altLang="zh-TW" sz="1300"/>
              <a:pPr>
                <a:spcBef>
                  <a:spcPct val="0"/>
                </a:spcBef>
              </a:pPr>
              <a:t>33</a:t>
            </a:fld>
            <a:endParaRPr lang="en-US" altLang="zh-TW" sz="13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547D8AB8-0B87-4E70-BF24-95026A41F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F35FB28F-7405-4A97-8C08-D39ACBC51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舉簡單的變數直改變的例子。</a:t>
            </a:r>
          </a:p>
          <a:p>
            <a:pPr eaLnBrk="1" hangingPunct="1"/>
            <a:r>
              <a:rPr lang="zh-TW" altLang="en-US"/>
              <a:t>讓同學熟悉其表示法。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91BBB2E9-806B-46F9-96A7-FDCEC1C5D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660C3FC-4DD5-424C-894C-1747BCADFAB6}" type="slidenum">
              <a:rPr lang="en-US" altLang="zh-TW" sz="1300"/>
              <a:pPr>
                <a:spcBef>
                  <a:spcPct val="0"/>
                </a:spcBef>
              </a:pPr>
              <a:t>34</a:t>
            </a:fld>
            <a:endParaRPr lang="en-US" altLang="zh-TW" sz="13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4A5E169-3ED4-46F6-A035-5F8D2912E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5FE05A9-F47F-4FE2-B39E-574DA19C9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FCC29342-A378-4031-BC6D-18B093AE2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03DCED0-459E-434D-B22C-170567C44CBF}" type="slidenum">
              <a:rPr lang="en-US" altLang="zh-TW" sz="1300"/>
              <a:pPr>
                <a:spcBef>
                  <a:spcPct val="0"/>
                </a:spcBef>
              </a:pPr>
              <a:t>35</a:t>
            </a:fld>
            <a:endParaRPr lang="en-US" altLang="zh-TW" sz="13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447FE36-E5A8-4591-890C-566E4634B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ACDE0A1-0138-4987-BB56-4F47399AB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AB5B3FC0-738D-414D-BA17-209D59DD02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5C21395-8703-4272-A5CF-F912593F89B5}" type="slidenum">
              <a:rPr lang="en-US" altLang="zh-TW" sz="1300"/>
              <a:pPr>
                <a:spcBef>
                  <a:spcPct val="0"/>
                </a:spcBef>
              </a:pPr>
              <a:t>36</a:t>
            </a:fld>
            <a:endParaRPr lang="en-US" altLang="zh-TW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AB9C378-7351-455D-8844-185A2D251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1713" y="774700"/>
            <a:ext cx="5097462" cy="38227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F6696331-7EF3-4A42-B574-441E44CFB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602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8EA85B8-839A-4743-8684-3CDEE761EA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C67A46C-72D8-4E37-A2BB-0654862DFA49}" type="slidenum">
              <a:rPr lang="en-US" altLang="zh-TW" sz="1300"/>
              <a:pPr>
                <a:spcBef>
                  <a:spcPct val="0"/>
                </a:spcBef>
              </a:pPr>
              <a:t>37</a:t>
            </a:fld>
            <a:endParaRPr lang="en-US" altLang="zh-TW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CD3D5F63-4A02-47F7-A0C9-0EB4A0746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D83FD0C-C15F-4DE9-AF6F-1F6B31BF1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8F9FE92-F982-451D-BE76-113B7353D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1B22B34-954B-4977-822F-7B57294CC973}" type="slidenum">
              <a:rPr lang="en-US" altLang="zh-TW" sz="1300"/>
              <a:pPr>
                <a:spcBef>
                  <a:spcPct val="0"/>
                </a:spcBef>
              </a:pPr>
              <a:t>38</a:t>
            </a:fld>
            <a:endParaRPr lang="en-US" altLang="zh-TW" sz="13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97A13571-9D4B-4AA2-B34F-0949E00E3C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AEE694CD-1CE5-49B8-A90A-160AD96E3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何謂</a:t>
            </a:r>
            <a:r>
              <a:rPr lang="en-US" altLang="zh-TW"/>
              <a:t>concurrent programs?</a:t>
            </a:r>
            <a:r>
              <a:rPr lang="zh-TW" altLang="en-US"/>
              <a:t>即一組同時執行但各自獨立的程式，互相溝通以共同完成一件工作。因為有多個程式同時進行，因此溝通與資源分配問題將十分重要。簡述常見的</a:t>
            </a:r>
            <a:r>
              <a:rPr lang="en-US" altLang="zh-TW"/>
              <a:t>concurrency</a:t>
            </a:r>
            <a:r>
              <a:rPr lang="zh-TW" altLang="en-US"/>
              <a:t>型態。</a:t>
            </a:r>
          </a:p>
          <a:p>
            <a:pPr eaLnBrk="1" hangingPunct="1"/>
            <a:endParaRPr lang="zh-TW" altLang="en-US"/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72214631-5E21-48E9-A270-D95E4BAB97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0216C21-2C92-4D07-92E9-3559BECEA122}" type="slidenum">
              <a:rPr lang="en-US" altLang="zh-TW" sz="1300"/>
              <a:pPr>
                <a:spcBef>
                  <a:spcPct val="0"/>
                </a:spcBef>
              </a:pPr>
              <a:t>39</a:t>
            </a:fld>
            <a:endParaRPr lang="en-US" altLang="zh-TW" sz="13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D4ED77DA-2C50-49AE-B512-B783DCDD0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7114D2F3-F16C-44F8-8FC0-0220050E4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一般人通常程式是非同步的獨立進行的，因此我們要引導題目到</a:t>
            </a:r>
            <a:r>
              <a:rPr lang="en-US" altLang="zh-TW"/>
              <a:t>concurrency</a:t>
            </a:r>
            <a:r>
              <a:rPr lang="zh-TW" altLang="en-US"/>
              <a:t>時需要先提示這樣的想法。</a:t>
            </a:r>
          </a:p>
          <a:p>
            <a:pPr eaLnBrk="1" hangingPunct="1"/>
            <a:r>
              <a:rPr lang="zh-TW" altLang="en-US"/>
              <a:t>引導學生思考若是非同步的，那程式的溝通如何進行、行為又是如何？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CB976D88-E1F5-44E4-BBE4-07D333B07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282F18D-8B40-456B-9C5C-55C7CF29FB1F}" type="slidenum">
              <a:rPr lang="en-US" altLang="zh-TW" sz="1300"/>
              <a:pPr>
                <a:spcBef>
                  <a:spcPct val="0"/>
                </a:spcBef>
              </a:pPr>
              <a:t>40</a:t>
            </a:fld>
            <a:endParaRPr lang="en-US" altLang="zh-TW" sz="13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05686DE4-393A-4CF6-9220-F34C41B9D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ED56E4B9-133A-42FD-82B8-3C2FCE8FC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我們還是可以把每個程式中的行為各自描述出來。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187F06CB-1612-4C7C-B003-24F72CE4F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A8EB478-68EC-448F-97C9-8EE2AF1C407D}" type="slidenum">
              <a:rPr lang="en-US" altLang="zh-TW" sz="1300"/>
              <a:pPr>
                <a:spcBef>
                  <a:spcPct val="0"/>
                </a:spcBef>
              </a:pPr>
              <a:t>41</a:t>
            </a:fld>
            <a:endParaRPr lang="en-US" altLang="zh-TW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2C8C5C1D-220E-4AEC-A019-352448103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144AAD1B-6098-4DCD-9333-EB466964A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交錯的進行，於是可以把行為組合起來。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2F00642-41D8-49A7-B4F5-366CF74A9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34CB53A-A544-48EB-8405-917682A38518}" type="slidenum">
              <a:rPr lang="en-US" altLang="zh-TW" sz="1300"/>
              <a:pPr>
                <a:spcBef>
                  <a:spcPct val="0"/>
                </a:spcBef>
              </a:pPr>
              <a:t>42</a:t>
            </a:fld>
            <a:endParaRPr lang="en-US" altLang="zh-TW" sz="13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E8F67A0-59FB-41B2-96ED-A27AD09FF9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82752F8-0BA4-471A-B83C-96ED6D521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0DC052C-C6B2-4AB4-A3C0-049FE7BE1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D26F431-E18A-441A-A94E-D7E6389B5DE1}" type="slidenum">
              <a:rPr lang="en-US" altLang="zh-TW" sz="1300"/>
              <a:pPr>
                <a:spcBef>
                  <a:spcPct val="0"/>
                </a:spcBef>
              </a:pPr>
              <a:t>43</a:t>
            </a:fld>
            <a:endParaRPr lang="en-US" altLang="zh-TW" sz="13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EA6FD4-989E-4CDE-B553-E82A0BFD2A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5724F14-C398-41FD-A826-C703EE12C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投影片圖像版面配置區 1">
            <a:extLst>
              <a:ext uri="{FF2B5EF4-FFF2-40B4-BE49-F238E27FC236}">
                <a16:creationId xmlns:a16="http://schemas.microsoft.com/office/drawing/2014/main" id="{44886209-CA6F-45B9-864D-8C25AC72BD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備忘稿版面配置區 2">
            <a:extLst>
              <a:ext uri="{FF2B5EF4-FFF2-40B4-BE49-F238E27FC236}">
                <a16:creationId xmlns:a16="http://schemas.microsoft.com/office/drawing/2014/main" id="{B1548DB0-9699-4014-AF11-95145031F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95236" name="投影片編號版面配置區 3">
            <a:extLst>
              <a:ext uri="{FF2B5EF4-FFF2-40B4-BE49-F238E27FC236}">
                <a16:creationId xmlns:a16="http://schemas.microsoft.com/office/drawing/2014/main" id="{C59380E4-F9F7-4F9D-BAEA-D838D612C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D1EC7AC-98B8-4C17-BE7C-3A5B4D3148D2}" type="slidenum">
              <a:rPr lang="en-US" altLang="zh-TW" sz="1300"/>
              <a:pPr>
                <a:spcBef>
                  <a:spcPct val="0"/>
                </a:spcBef>
              </a:pPr>
              <a:t>44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FB10C53B-43A0-4BE0-977F-55419CAD86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FC9B59-08CF-48AF-8062-96B748461A78}" type="slidenum">
              <a:rPr lang="en-US" altLang="zh-TW" sz="1300"/>
              <a:pPr>
                <a:spcBef>
                  <a:spcPct val="0"/>
                </a:spcBef>
              </a:pPr>
              <a:t>45</a:t>
            </a:fld>
            <a:endParaRPr lang="en-US" altLang="zh-TW" sz="13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AC9A69CB-B10D-4266-A374-6114E665BD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4DE3E5D0-8ABE-415E-9D92-29638459A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103EAEA-C6EA-43C4-91B2-6FF723E2D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B375090-A5AA-4DED-A648-A32C420EDFE9}" type="slidenum">
              <a:rPr lang="en-US" altLang="zh-TW" sz="1300"/>
              <a:pPr>
                <a:spcBef>
                  <a:spcPct val="0"/>
                </a:spcBef>
              </a:pPr>
              <a:t>46</a:t>
            </a:fld>
            <a:endParaRPr lang="en-US" altLang="zh-TW" sz="13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9A064012-1CE6-4E08-B059-8F410ABFC2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1359D99F-EBB4-48FC-B2B2-C9CDBF838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70F8B53D-5787-4E7D-A463-AEBC34DBE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7373653-8BFC-4554-B2DA-8E08334F0B56}" type="slidenum">
              <a:rPr lang="en-US" altLang="zh-TW" sz="1300"/>
              <a:pPr>
                <a:spcBef>
                  <a:spcPct val="0"/>
                </a:spcBef>
              </a:pPr>
              <a:t>47</a:t>
            </a:fld>
            <a:endParaRPr lang="en-US" altLang="zh-TW" sz="13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63C254C9-08D7-4A59-81B8-C954E774D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F19E3F0D-11A8-4F24-B05D-F2F1D5C15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FC282F48-9974-4934-8651-6E878E9E9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6E4EE02-B495-4C3E-B4B0-25EF1C76F536}" type="slidenum">
              <a:rPr lang="en-US" altLang="zh-TW" sz="1300"/>
              <a:pPr>
                <a:spcBef>
                  <a:spcPct val="0"/>
                </a:spcBef>
              </a:pPr>
              <a:t>48</a:t>
            </a:fld>
            <a:endParaRPr lang="en-US" altLang="zh-TW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F6E3FADB-0205-4AA9-BA16-CF9B034DE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037DF642-3FBE-4679-AFD8-2F52B5326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/>
              <a:t>這一章節是關於 </a:t>
            </a:r>
            <a:r>
              <a:rPr lang="en-US" altLang="zh-TW"/>
              <a:t>Temporal Logic formulas </a:t>
            </a:r>
            <a:r>
              <a:rPr lang="zh-TW" altLang="en-US"/>
              <a:t>和一些我們熟悉的 </a:t>
            </a:r>
            <a:r>
              <a:rPr lang="en-US" altLang="zh-TW"/>
              <a:t>model structures.</a:t>
            </a:r>
          </a:p>
          <a:p>
            <a:pPr eaLnBrk="1" hangingPunct="1"/>
            <a:r>
              <a:rPr kumimoji="0" lang="zh-TW" altLang="en-US"/>
              <a:t>最後</a:t>
            </a:r>
            <a:r>
              <a:rPr kumimoji="0" lang="en-US" altLang="zh-TW"/>
              <a:t>,</a:t>
            </a:r>
            <a:r>
              <a:rPr kumimoji="0" lang="zh-TW" altLang="en-US"/>
              <a:t>我們將會給予一些 </a:t>
            </a:r>
            <a:r>
              <a:rPr lang="en-US" altLang="zh-TW"/>
              <a:t>model checking </a:t>
            </a:r>
            <a:r>
              <a:rPr lang="zh-TW" altLang="en-US"/>
              <a:t>的例子</a:t>
            </a:r>
            <a:r>
              <a:rPr lang="en-US" altLang="zh-TW"/>
              <a:t>.</a:t>
            </a:r>
          </a:p>
          <a:p>
            <a:pPr eaLnBrk="1" hangingPunct="1"/>
            <a:endParaRPr kumimoji="0" lang="en-US" altLang="zh-TW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046EDE08-1B39-46A1-8AF8-2B5B6B23C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D96BA1C-ABB9-4106-9609-90B577992B87}" type="slidenum">
              <a:rPr lang="en-US" altLang="zh-TW" sz="1300"/>
              <a:pPr>
                <a:spcBef>
                  <a:spcPct val="0"/>
                </a:spcBef>
              </a:pPr>
              <a:t>49</a:t>
            </a:fld>
            <a:endParaRPr lang="en-US" altLang="zh-TW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4CA00EC0-4EB6-4EB2-AC01-E045175C3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AE597312-E162-4387-8931-2C7E4F717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196F1553-BCEA-46B7-A43F-D88A3954A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C7DC108-6B8C-401E-895A-4FCFFC118FF8}" type="slidenum">
              <a:rPr lang="en-US" altLang="zh-TW" sz="1300"/>
              <a:pPr>
                <a:spcBef>
                  <a:spcPct val="0"/>
                </a:spcBef>
              </a:pPr>
              <a:t>50</a:t>
            </a:fld>
            <a:endParaRPr lang="en-US" altLang="zh-TW" sz="13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6378FA2A-437D-4DEB-B2BB-D7939FCD2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A70FFFC5-B3DC-4FCD-AC51-2A84B05B4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0A9CA59-269F-48D9-AAA9-6AD767AE8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14A331-2B7E-48ED-8080-0FE61F3AFF78}" type="slidenum">
              <a:rPr lang="en-US" altLang="zh-TW" sz="1300"/>
              <a:pPr>
                <a:spcBef>
                  <a:spcPct val="0"/>
                </a:spcBef>
              </a:pPr>
              <a:t>51</a:t>
            </a:fld>
            <a:endParaRPr lang="en-US" altLang="zh-TW" sz="13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BE53EE6A-E294-42A8-865E-159A1C5E7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A21EFE15-9D4A-43B0-8995-57B6028A7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00FC0B9-A0F7-4C22-B2E8-5063BA8E2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9EEBF43-ED8F-4257-A96C-8EFF96EB5AF4}" type="slidenum">
              <a:rPr lang="en-US" altLang="zh-TW" sz="1300"/>
              <a:pPr>
                <a:spcBef>
                  <a:spcPct val="0"/>
                </a:spcBef>
              </a:pPr>
              <a:t>52</a:t>
            </a:fld>
            <a:endParaRPr lang="en-US" altLang="zh-TW" sz="13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EFCD3238-5509-487C-875D-8BE95CE96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25BEF252-2F23-4B4E-8B3A-48B679010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D08E64F-56B1-4C12-9B7F-065B1ACA2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5BC2571-8E9F-4D17-922C-7061D0C6127C}" type="slidenum">
              <a:rPr lang="en-US" altLang="zh-TW" sz="1300"/>
              <a:pPr>
                <a:spcBef>
                  <a:spcPct val="0"/>
                </a:spcBef>
              </a:pPr>
              <a:t>53</a:t>
            </a:fld>
            <a:endParaRPr lang="en-US" altLang="zh-TW" sz="13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4D9A65D-88D9-4B33-BD1B-57C064EA6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46B2905-601C-45B9-A4BC-8F122D296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此頁投影片談論 </a:t>
            </a:r>
            <a:r>
              <a:rPr lang="en-US" altLang="zh-TW"/>
              <a:t>temportal logic</a:t>
            </a:r>
            <a:r>
              <a:rPr lang="zh-TW" altLang="en-US"/>
              <a:t>中一些特性對照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FA8EA19B-D2D6-4BC3-88D2-7E34095E0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4DED1E8-7F76-4141-BFEE-ABC4C74B7090}" type="slidenum">
              <a:rPr lang="en-US" altLang="zh-TW" sz="1300"/>
              <a:pPr>
                <a:spcBef>
                  <a:spcPct val="0"/>
                </a:spcBef>
              </a:pPr>
              <a:t>54</a:t>
            </a:fld>
            <a:endParaRPr lang="en-US" altLang="zh-TW" sz="13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B8BFBAE-FAB1-4C4C-9823-CFEF7A9F4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322AA362-3EC5-46EE-838F-DBE32B88B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/>
              <a:t>Temporal logics </a:t>
            </a:r>
            <a:r>
              <a:rPr lang="zh-TW" altLang="en-US"/>
              <a:t>有兩種 </a:t>
            </a:r>
          </a:p>
          <a:p>
            <a:pPr eaLnBrk="1" hangingPunct="1"/>
            <a:r>
              <a:rPr lang="en-US" altLang="zh-TW"/>
              <a:t>Linear </a:t>
            </a:r>
            <a:r>
              <a:rPr lang="zh-TW" altLang="en-US"/>
              <a:t>和 </a:t>
            </a:r>
            <a:r>
              <a:rPr lang="en-US" altLang="zh-TW"/>
              <a:t>branching formula.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0F5B4E79-66C4-46FB-AC7A-A705AFCC43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78617A9-04D6-4E12-A3FB-4FB24BBB6557}" type="slidenum">
              <a:rPr lang="en-US" altLang="zh-TW" sz="1300"/>
              <a:pPr>
                <a:spcBef>
                  <a:spcPct val="0"/>
                </a:spcBef>
              </a:pPr>
              <a:t>55</a:t>
            </a:fld>
            <a:endParaRPr lang="en-US" altLang="zh-TW" sz="13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ADC61C3D-2C5E-43FB-BBAC-75024BAC8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6091E35-12D2-453D-A586-27C9F3851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9613F006-1391-4791-B06B-88C78AD0E0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3EC4DE0-DC71-4D0D-98C4-95908B8D3330}" type="slidenum">
              <a:rPr lang="en-US" altLang="zh-TW" sz="1300"/>
              <a:pPr>
                <a:spcBef>
                  <a:spcPct val="0"/>
                </a:spcBef>
              </a:pPr>
              <a:t>56</a:t>
            </a:fld>
            <a:endParaRPr lang="en-US" altLang="zh-TW" sz="13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F26F1874-5B7D-4CDC-B869-E11A1B1F4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91A1912-F9A2-40B0-B457-925B45713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/>
              <a:t>Here is LPTL conventional notation. </a:t>
            </a:r>
          </a:p>
          <a:p>
            <a:pPr eaLnBrk="1" hangingPunct="1"/>
            <a:r>
              <a:rPr lang="en-US" altLang="zh-TW"/>
              <a:t>State sequence S is a set which includes states s0, s1, …, sk,…</a:t>
            </a:r>
          </a:p>
          <a:p>
            <a:pPr eaLnBrk="1" hangingPunct="1"/>
            <a:r>
              <a:rPr kumimoji="0" lang="en-US" altLang="zh-TW"/>
              <a:t>If it is given proposition p, </a:t>
            </a:r>
            <a:r>
              <a:rPr lang="en-US" altLang="zh-TW" b="1" i="1"/>
              <a:t>s</a:t>
            </a:r>
            <a:r>
              <a:rPr lang="en-US" altLang="zh-TW" b="1" i="1" baseline="-25000"/>
              <a:t>k  </a:t>
            </a:r>
            <a:r>
              <a:rPr lang="en-US" altLang="zh-TW"/>
              <a:t>is a function of P where </a:t>
            </a:r>
            <a:r>
              <a:rPr lang="en-US" altLang="zh-TW" b="1" i="1"/>
              <a:t>P</a:t>
            </a:r>
            <a:r>
              <a:rPr lang="en-US" altLang="zh-TW" b="1" i="1">
                <a:sym typeface="ZapfDingbats" pitchFamily="82" charset="2"/>
              </a:rPr>
              <a:t></a:t>
            </a:r>
            <a:r>
              <a:rPr lang="en-US" altLang="zh-TW" b="1" i="1">
                <a:sym typeface="Wingdings" panose="05000000000000000000" pitchFamily="2" charset="2"/>
              </a:rPr>
              <a:t> </a:t>
            </a:r>
            <a:r>
              <a:rPr lang="en-US" altLang="zh-TW" b="1" i="1"/>
              <a:t>{true,false}.</a:t>
            </a:r>
            <a:endParaRPr lang="en-US" altLang="zh-TW"/>
          </a:p>
          <a:p>
            <a:pPr eaLnBrk="1" hangingPunct="1"/>
            <a:endParaRPr kumimoji="0" lang="en-US" altLang="zh-TW"/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8176604D-CD25-4295-AB0B-D50B088E59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72F668D-57B5-48DF-8815-CBD8971C2DE3}" type="slidenum">
              <a:rPr lang="en-US" altLang="zh-TW" sz="1300"/>
              <a:pPr>
                <a:spcBef>
                  <a:spcPct val="0"/>
                </a:spcBef>
              </a:pPr>
              <a:t>57</a:t>
            </a:fld>
            <a:endParaRPr lang="en-US" altLang="zh-TW" sz="13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FA9CBD75-F0C2-4E57-B618-B70A218D8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90E5014-B282-481D-89A2-58A2EA4E9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CC0838A-5C06-46A4-AA35-EDBC1FB43C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1D900AD-4F87-4AB9-B7DD-3171D88A2FFD}" type="slidenum">
              <a:rPr lang="en-US" altLang="zh-TW" sz="1300"/>
              <a:pPr>
                <a:spcBef>
                  <a:spcPct val="0"/>
                </a:spcBef>
              </a:pPr>
              <a:t>58</a:t>
            </a:fld>
            <a:endParaRPr lang="en-US" altLang="zh-TW" sz="13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8AB3198-9FAE-4C9C-9572-8787347842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56408657-2C30-49FC-94E4-B8BAC911A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153E3488-20F4-4FC4-B141-DDCE93FA8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DEB36DC-F5B4-46BC-B85D-BBE9EAC8951B}" type="slidenum">
              <a:rPr lang="en-US" altLang="zh-TW" sz="1300"/>
              <a:pPr>
                <a:spcBef>
                  <a:spcPct val="0"/>
                </a:spcBef>
              </a:pPr>
              <a:t>59</a:t>
            </a:fld>
            <a:endParaRPr lang="en-US" altLang="zh-TW" sz="1300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47F97B5E-7FBC-4B02-9B27-2C79EE2AC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F411C8BE-957B-4AD9-81E4-A02B60A9C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/>
              <a:t>This slide talks about the syntax of LPTL.</a:t>
            </a:r>
          </a:p>
          <a:p>
            <a:pPr eaLnBrk="1" hangingPunct="1"/>
            <a:r>
              <a:rPr lang="en-US" altLang="zh-TW" b="1">
                <a:sym typeface="Wingdings 2" panose="05020102010507070707" pitchFamily="18" charset="2"/>
              </a:rPr>
              <a:t></a:t>
            </a:r>
            <a:r>
              <a:rPr lang="en-US" altLang="zh-TW">
                <a:sym typeface="Wingdings 2" panose="05020102010507070707" pitchFamily="18" charset="2"/>
              </a:rPr>
              <a:t> is including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  O 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.</a:t>
            </a:r>
            <a:endParaRPr kumimoji="0" lang="en-US" altLang="zh-TW">
              <a:solidFill>
                <a:srgbClr val="000000"/>
              </a:solidFill>
              <a:sym typeface="Wingdings 2" panose="05020102010507070707" pitchFamily="18" charset="2"/>
            </a:endParaRPr>
          </a:p>
          <a:p>
            <a:pPr eaLnBrk="1" hangingPunct="1"/>
            <a:r>
              <a:rPr lang="en-US" altLang="zh-TW"/>
              <a:t>ψ</a:t>
            </a:r>
            <a:r>
              <a:rPr lang="en-US" altLang="zh-TW" baseline="-25000">
                <a:sym typeface="Wingdings 2" panose="05020102010507070707" pitchFamily="18" charset="2"/>
              </a:rPr>
              <a:t>1</a:t>
            </a:r>
            <a:r>
              <a:rPr lang="en-US" altLang="zh-TW">
                <a:latin typeface="ParkAvenue BT" pitchFamily="66" charset="0"/>
                <a:ea typeface="MS UI Gothic" panose="020B0600070205080204" pitchFamily="34" charset="-128"/>
              </a:rPr>
              <a:t>U</a:t>
            </a:r>
            <a:r>
              <a:rPr lang="en-US" altLang="zh-TW"/>
              <a:t>ψ</a:t>
            </a:r>
            <a:r>
              <a:rPr lang="en-US" altLang="zh-TW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r>
              <a:rPr lang="en-US" altLang="zh-TW">
                <a:latin typeface="ParkAvenue BT" pitchFamily="66" charset="0"/>
                <a:ea typeface="MS UI Gothic" panose="020B0600070205080204" pitchFamily="34" charset="-128"/>
              </a:rPr>
              <a:t> </a:t>
            </a:r>
            <a:r>
              <a:rPr lang="zh-TW" altLang="en-US">
                <a:latin typeface="ParkAvenue BT" pitchFamily="66" charset="0"/>
              </a:rPr>
              <a:t>是代表</a:t>
            </a:r>
            <a:r>
              <a:rPr lang="en-US" altLang="zh-TW"/>
              <a:t>ψ</a:t>
            </a:r>
            <a:r>
              <a:rPr lang="en-US" altLang="zh-TW" baseline="-25000">
                <a:sym typeface="Wingdings 2" panose="05020102010507070707" pitchFamily="18" charset="2"/>
              </a:rPr>
              <a:t>1</a:t>
            </a:r>
            <a:r>
              <a:rPr lang="zh-TW" altLang="en-US">
                <a:sym typeface="Wingdings 2" panose="05020102010507070707" pitchFamily="18" charset="2"/>
              </a:rPr>
              <a:t>必須一直發生直到</a:t>
            </a:r>
            <a:r>
              <a:rPr lang="en-US" altLang="zh-TW"/>
              <a:t>ψ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r>
              <a:rPr lang="zh-TW" altLang="en-US">
                <a:ea typeface="華康儷楷書" panose="03000509000000000000" pitchFamily="65" charset="-120"/>
                <a:cs typeface="華康儷楷書" panose="03000509000000000000" pitchFamily="65" charset="-120"/>
              </a:rPr>
              <a:t>發生為止</a:t>
            </a:r>
          </a:p>
          <a:p>
            <a:pPr eaLnBrk="1" hangingPunct="1"/>
            <a:r>
              <a:rPr kumimoji="0" lang="zh-TW" altLang="en-US" i="1">
                <a:sym typeface="Wingdings 2" panose="05020102010507070707" pitchFamily="18" charset="2"/>
              </a:rPr>
              <a:t>下頁投影片會談論到 </a:t>
            </a:r>
            <a:r>
              <a:rPr lang="zh-TW" altLang="en-US">
                <a:solidFill>
                  <a:srgbClr val="000000"/>
                </a:solidFill>
                <a:sym typeface="Wingdings 2" panose="05020102010507070707" pitchFamily="18" charset="2"/>
              </a:rPr>
              <a:t>  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O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CA87D251-A45E-45FF-B9E8-BA116A7DD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5B45ED7-0B61-4232-AE0F-1357E0FF77AA}" type="slidenum">
              <a:rPr lang="en-US" altLang="zh-TW" sz="1300"/>
              <a:pPr>
                <a:spcBef>
                  <a:spcPct val="0"/>
                </a:spcBef>
              </a:pPr>
              <a:t>60</a:t>
            </a:fld>
            <a:endParaRPr lang="en-US" altLang="zh-TW" sz="13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D37B7625-DB13-4817-AFC4-9091F6691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F94E5139-414A-476E-A18A-2C46196C6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Op :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下一個狀態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p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應該是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true.</a:t>
            </a:r>
          </a:p>
          <a:p>
            <a:pPr eaLnBrk="1" hangingPunct="1"/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p: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將來某一天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p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將會是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true.</a:t>
            </a:r>
          </a:p>
          <a:p>
            <a:pPr eaLnBrk="1" hangingPunct="1"/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p: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重現在開始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, p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永遠是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true.</a:t>
            </a:r>
          </a:p>
          <a:p>
            <a:pPr eaLnBrk="1" hangingPunct="1"/>
            <a:endParaRPr lang="en-US" altLang="zh-TW" b="1">
              <a:solidFill>
                <a:srgbClr val="000000"/>
              </a:solidFill>
              <a:sym typeface="Wingdings 2" panose="05020102010507070707" pitchFamily="18" charset="2"/>
            </a:endParaRPr>
          </a:p>
          <a:p>
            <a:pPr eaLnBrk="1" hangingPunct="1"/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  O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可以分別被下列三種標誌取代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F G X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F3D80BE5-5CA4-42BD-9BD0-A4A41E5B6C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AAB6670-FEF0-46E4-B3D6-0DD468CE079B}" type="slidenum">
              <a:rPr lang="en-US" altLang="zh-TW" sz="1300"/>
              <a:pPr>
                <a:spcBef>
                  <a:spcPct val="0"/>
                </a:spcBef>
              </a:pPr>
              <a:t>61</a:t>
            </a:fld>
            <a:endParaRPr lang="en-US" altLang="zh-TW" sz="1300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58CE35B-A31B-4F5A-96E9-242C44E89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A03A719F-0D5E-4BF4-B2A7-A4654B525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這是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Op </a:t>
            </a:r>
            <a:r>
              <a:rPr lang="zh-TW" altLang="en-US" b="1">
                <a:solidFill>
                  <a:srgbClr val="000000"/>
                </a:solidFill>
                <a:sym typeface="Wingdings 2" panose="05020102010507070707" pitchFamily="18" charset="2"/>
              </a:rPr>
              <a:t>的示意圖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92CF5F4C-2C20-4A32-B370-7C2FE64E5D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6BF2060-AED7-4D2F-AE68-BDE2732FEB7F}" type="slidenum">
              <a:rPr lang="en-US" altLang="zh-TW" sz="1300"/>
              <a:pPr>
                <a:spcBef>
                  <a:spcPct val="0"/>
                </a:spcBef>
              </a:pPr>
              <a:t>62</a:t>
            </a:fld>
            <a:endParaRPr lang="en-US" altLang="zh-TW" sz="1300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A2A3DFAA-4245-4144-ADC0-4B5811E8A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48B0DC64-74A7-4D80-B4BB-30B90F87F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這是 </a:t>
            </a:r>
            <a:r>
              <a:rPr lang="en-US" altLang="zh-TW"/>
              <a:t>pUq </a:t>
            </a:r>
            <a:r>
              <a:rPr lang="zh-TW" altLang="en-US"/>
              <a:t>的示意圖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FB023DF-EB06-4D86-9A91-C633A887CD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A13ACEB-78B5-4403-8B55-5D8D5DADE760}" type="slidenum">
              <a:rPr lang="en-US" altLang="zh-TW" sz="1300"/>
              <a:pPr>
                <a:spcBef>
                  <a:spcPct val="0"/>
                </a:spcBef>
              </a:pPr>
              <a:t>63</a:t>
            </a:fld>
            <a:endParaRPr lang="en-US" altLang="zh-TW" sz="1300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DC7A5D7E-481F-44C5-A79E-65E8DA453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A2944086-2E3A-417D-BA5D-19FF12CE6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這是 </a:t>
            </a:r>
            <a:r>
              <a:rPr lang="en-US" altLang="zh-TW"/>
              <a:t>eventually and always </a:t>
            </a:r>
            <a:r>
              <a:rPr lang="zh-TW" altLang="en-US"/>
              <a:t>時間示意圖</a:t>
            </a:r>
            <a:endParaRPr lang="zh-TW" altLang="en-US" b="1">
              <a:solidFill>
                <a:srgbClr val="000000"/>
              </a:solidFill>
              <a:sym typeface="Wingdings 2" panose="05020102010507070707" pitchFamily="18" charset="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A2C489A2-7426-4C7E-ACE3-3D2DB6111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90F8C1F-7B00-45BE-897E-E100515CE12B}" type="slidenum">
              <a:rPr lang="en-US" altLang="zh-TW" sz="1300"/>
              <a:pPr>
                <a:spcBef>
                  <a:spcPct val="0"/>
                </a:spcBef>
              </a:pPr>
              <a:t>64</a:t>
            </a:fld>
            <a:endParaRPr lang="en-US" altLang="zh-TW" sz="1300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56BD6354-A897-4BF7-B741-2EFFCA314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2E2F6876-52A6-4E2F-B003-C135004D4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現在如果把兩種</a:t>
            </a:r>
            <a:r>
              <a:rPr lang="en-US" altLang="zh-TW"/>
              <a:t>operation</a:t>
            </a:r>
            <a:r>
              <a:rPr lang="zh-TW" altLang="en-US"/>
              <a:t>加在一起</a:t>
            </a:r>
            <a:r>
              <a:rPr lang="en-US" altLang="zh-TW"/>
              <a:t>, 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p </a:t>
            </a:r>
            <a:r>
              <a:rPr lang="en-US" altLang="zh-TW" b="1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zh-TW" b="1">
                <a:solidFill>
                  <a:schemeClr val="hlink"/>
                </a:solidFill>
                <a:sym typeface="Symbol" panose="05050102010706020507" pitchFamily="18" charset="2"/>
              </a:rPr>
              <a:t>infinitely often</a:t>
            </a:r>
          </a:p>
          <a:p>
            <a:pPr eaLnBrk="1" hangingPunct="1"/>
            <a:r>
              <a:rPr lang="en-US" altLang="zh-TW" b="1">
                <a:solidFill>
                  <a:schemeClr val="hlink"/>
                </a:solidFill>
                <a:sym typeface="Symbol" panose="05050102010706020507" pitchFamily="18" charset="2"/>
              </a:rPr>
              <a:t>    				               </a:t>
            </a:r>
            <a:r>
              <a:rPr lang="en-US" altLang="zh-TW" b="1">
                <a:sym typeface="Wingdings 2" panose="05020102010507070707" pitchFamily="18" charset="2"/>
              </a:rPr>
              <a:t></a:t>
            </a:r>
            <a:r>
              <a:rPr lang="en-US" altLang="zh-TW" b="1" i="1"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p</a:t>
            </a:r>
            <a:r>
              <a:rPr lang="en-US" altLang="zh-TW" b="1" i="1">
                <a:ea typeface="華康儷楷書" panose="03000509000000000000" pitchFamily="65" charset="-120"/>
                <a:cs typeface="華康儷楷書" panose="03000509000000000000" pitchFamily="65" charset="-120"/>
                <a:sym typeface="Wingdings" panose="05000000000000000000" pitchFamily="2" charset="2"/>
              </a:rPr>
              <a:t> almost everywhere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29FB1CF6-4247-48BA-B566-7F6A11C795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90D24F8-320F-4E0B-B446-BF5C1474E241}" type="slidenum">
              <a:rPr lang="en-US" altLang="zh-TW" sz="1300"/>
              <a:pPr>
                <a:spcBef>
                  <a:spcPct val="0"/>
                </a:spcBef>
              </a:pPr>
              <a:t>65</a:t>
            </a:fld>
            <a:endParaRPr lang="en-US" altLang="zh-TW" sz="13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35397B0A-D896-4E6D-946E-AAB47D831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D13D902E-3949-4058-A010-19FC7E2AF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/>
              <a:t>How to represent a suffix path in LPTL?</a:t>
            </a:r>
          </a:p>
          <a:p>
            <a:pPr eaLnBrk="1" hangingPunct="1"/>
            <a:r>
              <a:rPr lang="en-US" altLang="zh-TW" i="1"/>
              <a:t>S : start with s0 node. ( equal to S(0) )</a:t>
            </a:r>
          </a:p>
          <a:p>
            <a:pPr eaLnBrk="1" hangingPunct="1"/>
            <a:r>
              <a:rPr kumimoji="0" lang="en-US" altLang="zh-TW" i="1"/>
              <a:t>S(1) : start with s1 node …</a:t>
            </a:r>
          </a:p>
          <a:p>
            <a:pPr eaLnBrk="1" hangingPunct="1"/>
            <a:r>
              <a:rPr kumimoji="0" lang="en-US" altLang="zh-TW" i="1"/>
              <a:t>…</a:t>
            </a:r>
          </a:p>
          <a:p>
            <a:pPr eaLnBrk="1" hangingPunct="1"/>
            <a:r>
              <a:rPr kumimoji="0" lang="en-US" altLang="zh-TW" i="1"/>
              <a:t>S(k) : start with sk…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AA18648C-931D-4F76-94A1-84E2650A0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B68C114-7012-48B2-B696-7C85F4A7F2E1}" type="slidenum">
              <a:rPr lang="en-US" altLang="zh-TW" sz="1300"/>
              <a:pPr>
                <a:spcBef>
                  <a:spcPct val="0"/>
                </a:spcBef>
              </a:pPr>
              <a:t>66</a:t>
            </a:fld>
            <a:endParaRPr lang="en-US" altLang="zh-TW" sz="1300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75682F2B-69CA-463C-956C-D915FAEA2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9689FED5-B184-488E-B6CD-B55E8B41C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 i="1"/>
              <a:t>此頁投影片介紹了如何表示</a:t>
            </a:r>
            <a:r>
              <a:rPr kumimoji="0" lang="en-US" altLang="zh-TW" i="1"/>
              <a:t>satisfy</a:t>
            </a:r>
            <a:r>
              <a:rPr kumimoji="0" lang="zh-TW" altLang="en-US" i="1"/>
              <a:t>的符號 </a:t>
            </a:r>
            <a:r>
              <a:rPr kumimoji="0" lang="en-US" altLang="zh-TW" i="1"/>
              <a:t>: S</a:t>
            </a:r>
            <a:r>
              <a:rPr lang="en-US" altLang="zh-TW" i="1" baseline="-25000"/>
              <a:t> </a:t>
            </a:r>
            <a:r>
              <a:rPr lang="en-US" altLang="zh-TW" i="1">
                <a:latin typeface="新細明體" panose="02020500000000000000" pitchFamily="18" charset="-120"/>
              </a:rPr>
              <a:t>╞</a:t>
            </a:r>
            <a:r>
              <a:rPr lang="en-US" altLang="zh-TW" i="1"/>
              <a:t>ψ </a:t>
            </a:r>
            <a:r>
              <a:rPr lang="en-US" altLang="zh-TW"/>
              <a:t>(</a:t>
            </a:r>
            <a:r>
              <a:rPr lang="en-US" altLang="zh-TW" i="1">
                <a:solidFill>
                  <a:srgbClr val="000000"/>
                </a:solidFill>
              </a:rPr>
              <a:t>S</a:t>
            </a:r>
            <a:r>
              <a:rPr lang="en-US" altLang="zh-TW" i="1" baseline="-25000"/>
              <a:t> </a:t>
            </a:r>
            <a:r>
              <a:rPr lang="en-US" altLang="zh-TW">
                <a:solidFill>
                  <a:srgbClr val="0000FF"/>
                </a:solidFill>
              </a:rPr>
              <a:t>satisfies </a:t>
            </a:r>
            <a:r>
              <a:rPr lang="en-US" altLang="zh-TW" i="1"/>
              <a:t>ψ</a:t>
            </a:r>
            <a:r>
              <a:rPr lang="zh-TW" altLang="en-US"/>
              <a:t>）</a:t>
            </a:r>
          </a:p>
          <a:p>
            <a:pPr eaLnBrk="1" hangingPunct="1"/>
            <a:r>
              <a:rPr lang="en-US" altLang="zh-TW"/>
              <a:t>Following is some examples about using satisfying statements.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99BF2631-FAE6-4E88-9B84-FFB292347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9706B8-A894-4FF0-9ACF-E119F9D77A92}" type="slidenum">
              <a:rPr lang="en-US" altLang="zh-TW" sz="1300"/>
              <a:pPr>
                <a:spcBef>
                  <a:spcPct val="0"/>
                </a:spcBef>
              </a:pPr>
              <a:t>67</a:t>
            </a:fld>
            <a:endParaRPr lang="en-US" altLang="zh-TW" sz="1300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5F2F5234-D913-4105-9AFD-377996174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D3E1A0CD-C69A-42FF-947D-5BE869002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投影片圖像版面配置區 1">
            <a:extLst>
              <a:ext uri="{FF2B5EF4-FFF2-40B4-BE49-F238E27FC236}">
                <a16:creationId xmlns:a16="http://schemas.microsoft.com/office/drawing/2014/main" id="{1657F20D-83C7-4E75-AFC4-2D1ECB79AD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備忘稿版面配置區 2">
            <a:extLst>
              <a:ext uri="{FF2B5EF4-FFF2-40B4-BE49-F238E27FC236}">
                <a16:creationId xmlns:a16="http://schemas.microsoft.com/office/drawing/2014/main" id="{64E34214-5F21-4004-BBC6-DAAD12D7B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6436" name="投影片編號版面配置區 3">
            <a:extLst>
              <a:ext uri="{FF2B5EF4-FFF2-40B4-BE49-F238E27FC236}">
                <a16:creationId xmlns:a16="http://schemas.microsoft.com/office/drawing/2014/main" id="{8D192003-45A8-40BE-9A55-72C08F759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40AB77-50AA-4C27-A2F9-A934ED3FA627}" type="slidenum">
              <a:rPr lang="en-US" altLang="zh-TW" sz="1300"/>
              <a:pPr>
                <a:spcBef>
                  <a:spcPct val="0"/>
                </a:spcBef>
              </a:pPr>
              <a:t>68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B30AF811-5025-4FC7-A317-FCC9B5203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95EDD2-82C3-4322-8065-4E01ACEB3CCF}" type="slidenum">
              <a:rPr lang="en-US" altLang="zh-TW" sz="1300"/>
              <a:pPr>
                <a:spcBef>
                  <a:spcPct val="0"/>
                </a:spcBef>
              </a:pPr>
              <a:t>69</a:t>
            </a:fld>
            <a:endParaRPr lang="en-US" altLang="zh-TW" sz="1300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DE21A4D7-EB7E-40C9-80F7-9987A2940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4B81BDAA-6998-4D31-8882-7E294BB20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現在要談論的是另一種</a:t>
            </a:r>
            <a:r>
              <a:rPr lang="en-US" altLang="zh-TW"/>
              <a:t>temporal logic formula</a:t>
            </a:r>
            <a:r>
              <a:rPr lang="zh-TW" altLang="en-US"/>
              <a:t>的型式</a:t>
            </a:r>
            <a:r>
              <a:rPr lang="en-US" altLang="zh-TW"/>
              <a:t>, Branch Temporal Logic.</a:t>
            </a:r>
          </a:p>
          <a:p>
            <a:pPr eaLnBrk="1" hangingPunct="1"/>
            <a:r>
              <a:rPr lang="zh-TW" altLang="en-US"/>
              <a:t>基本的假設是 此種結構是數狀結構</a:t>
            </a:r>
            <a:r>
              <a:rPr lang="en-US" altLang="zh-TW"/>
              <a:t>, </a:t>
            </a:r>
            <a:r>
              <a:rPr lang="zh-TW" altLang="en-US"/>
              <a:t>不同</a:t>
            </a:r>
            <a:r>
              <a:rPr lang="en-US" altLang="zh-TW"/>
              <a:t>LPTL</a:t>
            </a:r>
            <a:r>
              <a:rPr lang="zh-TW" altLang="en-US"/>
              <a:t>的是此種結構可以有多個</a:t>
            </a:r>
            <a:r>
              <a:rPr lang="en-US" altLang="zh-TW"/>
              <a:t>successors. (LPTL just has one.)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ED6D983B-F473-41BF-963F-48DD5B8E53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B7C92DB-99EB-4B4A-9B71-CC072D5ACEE5}" type="slidenum">
              <a:rPr lang="en-US" altLang="zh-TW" sz="1300"/>
              <a:pPr>
                <a:spcBef>
                  <a:spcPct val="0"/>
                </a:spcBef>
              </a:pPr>
              <a:t>70</a:t>
            </a:fld>
            <a:endParaRPr lang="en-US" altLang="zh-TW" sz="1300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BC75E003-08F3-42D6-8911-B81BE0FC09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98444C77-BEDD-4589-ADC7-B2EF9FB1F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/>
              <a:t>Each path has its state sequence.</a:t>
            </a:r>
          </a:p>
          <a:p>
            <a:pPr eaLnBrk="1" hangingPunct="1"/>
            <a:r>
              <a:rPr lang="en-US" altLang="zh-TW"/>
              <a:t>Ex: s0 s1 s2, s0 s1 s3, …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7DE370FA-628E-4971-A2DB-C10DAB541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0437AD8-BFA4-47EC-B958-961ADB65EC50}" type="slidenum">
              <a:rPr lang="en-US" altLang="zh-TW" sz="1300"/>
              <a:pPr>
                <a:spcBef>
                  <a:spcPct val="0"/>
                </a:spcBef>
              </a:pPr>
              <a:t>71</a:t>
            </a:fld>
            <a:endParaRPr lang="en-US" altLang="zh-TW" sz="1300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215B9DE4-D735-4FA2-91EE-83D5F436CC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EE85D1D2-DA9A-45CE-9473-2B8BC5BAA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在</a:t>
            </a:r>
            <a:r>
              <a:rPr lang="en-US" altLang="zh-TW"/>
              <a:t>CTL</a:t>
            </a:r>
            <a:r>
              <a:rPr lang="zh-TW" altLang="en-US"/>
              <a:t>及</a:t>
            </a:r>
            <a:r>
              <a:rPr lang="en-US" altLang="zh-TW"/>
              <a:t>CTL*</a:t>
            </a:r>
            <a:r>
              <a:rPr lang="zh-TW" altLang="en-US"/>
              <a:t>中，並沒有說明有限或是無限 以及 稠密或是離散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3534B85D-8EA9-46A0-BBD8-E484CC0633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ACE93C5-F308-46EC-99E7-8C5834EF786B}" type="slidenum">
              <a:rPr lang="en-US" altLang="zh-TW" sz="1300"/>
              <a:pPr>
                <a:spcBef>
                  <a:spcPct val="0"/>
                </a:spcBef>
              </a:pPr>
              <a:t>72</a:t>
            </a:fld>
            <a:endParaRPr lang="en-US" altLang="zh-TW" sz="1300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0C789305-3607-4730-96F7-A8F17AADAC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2BBC7395-3F71-48FD-9B9F-215329A52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我們可以將一個</a:t>
            </a:r>
            <a:r>
              <a:rPr lang="en-US" altLang="zh-TW"/>
              <a:t>FSM </a:t>
            </a:r>
            <a:r>
              <a:rPr lang="zh-TW" altLang="en-US"/>
              <a:t>轉換成此種結構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BE3485A4-62E7-4033-96CC-C642F6A5CF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E91B26A-EFC2-45AF-8113-03D5739BF7A8}" type="slidenum">
              <a:rPr lang="en-US" altLang="zh-TW" sz="1300"/>
              <a:pPr>
                <a:spcBef>
                  <a:spcPct val="0"/>
                </a:spcBef>
              </a:pPr>
              <a:t>73</a:t>
            </a:fld>
            <a:endParaRPr lang="en-US" altLang="zh-TW" sz="1300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98E9E16D-55F2-485D-AECF-7388B2E5C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6341E1F4-08BC-4C7D-A00C-438A9FEEB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此頁在介紹 一些基本 </a:t>
            </a:r>
            <a:r>
              <a:rPr lang="en-US" altLang="zh-TW"/>
              <a:t>CTL </a:t>
            </a:r>
            <a:r>
              <a:rPr lang="zh-TW" altLang="en-US"/>
              <a:t>的定義</a:t>
            </a:r>
          </a:p>
          <a:p>
            <a:pPr eaLnBrk="1" hangingPunct="1"/>
            <a:r>
              <a:rPr lang="zh-TW" altLang="en-US" b="1">
                <a:sym typeface="Symbol" panose="05050102010706020507" pitchFamily="18" charset="2"/>
              </a:rPr>
              <a:t> </a:t>
            </a:r>
            <a:r>
              <a:rPr lang="en-US" altLang="zh-TW" b="1">
                <a:sym typeface="Symbol" panose="05050102010706020507" pitchFamily="18" charset="2"/>
              </a:rPr>
              <a:t>:</a:t>
            </a:r>
            <a:r>
              <a:rPr lang="zh-TW" altLang="en-US" b="1">
                <a:sym typeface="Symbol" panose="05050102010706020507" pitchFamily="18" charset="2"/>
              </a:rPr>
              <a:t>存在一條</a:t>
            </a:r>
            <a:r>
              <a:rPr lang="en-US" altLang="zh-TW" b="1">
                <a:sym typeface="Symbol" panose="05050102010706020507" pitchFamily="18" charset="2"/>
              </a:rPr>
              <a:t>PATH</a:t>
            </a:r>
            <a:r>
              <a:rPr lang="zh-TW" altLang="en-US" b="1">
                <a:sym typeface="Symbol" panose="05050102010706020507" pitchFamily="18" charset="2"/>
              </a:rPr>
              <a:t>可以符合</a:t>
            </a:r>
            <a:r>
              <a:rPr lang="en-US" altLang="zh-TW" b="1">
                <a:sym typeface="Symbol" panose="05050102010706020507" pitchFamily="18" charset="2"/>
              </a:rPr>
              <a:t>…</a:t>
            </a:r>
            <a:r>
              <a:rPr lang="zh-TW" altLang="en-US" b="1">
                <a:sym typeface="Symbol" panose="05050102010706020507" pitchFamily="18" charset="2"/>
              </a:rPr>
              <a:t>條件</a:t>
            </a:r>
          </a:p>
          <a:p>
            <a:pPr eaLnBrk="1" hangingPunct="1"/>
            <a:r>
              <a:rPr lang="zh-TW" altLang="en-US" b="1">
                <a:sym typeface="Symbol" panose="05050102010706020507" pitchFamily="18" charset="2"/>
              </a:rPr>
              <a:t> </a:t>
            </a:r>
            <a:r>
              <a:rPr lang="en-US" altLang="zh-TW" b="1">
                <a:sym typeface="Symbol" panose="05050102010706020507" pitchFamily="18" charset="2"/>
              </a:rPr>
              <a:t>:</a:t>
            </a:r>
            <a:r>
              <a:rPr lang="zh-TW" altLang="en-US" b="1">
                <a:sym typeface="Symbol" panose="05050102010706020507" pitchFamily="18" charset="2"/>
              </a:rPr>
              <a:t>全部的</a:t>
            </a:r>
            <a:r>
              <a:rPr lang="en-US" altLang="zh-TW" b="1">
                <a:sym typeface="Symbol" panose="05050102010706020507" pitchFamily="18" charset="2"/>
              </a:rPr>
              <a:t>PATH</a:t>
            </a:r>
            <a:r>
              <a:rPr lang="zh-TW" altLang="en-US" b="1">
                <a:sym typeface="Symbol" panose="05050102010706020507" pitchFamily="18" charset="2"/>
              </a:rPr>
              <a:t>都可以符合</a:t>
            </a:r>
            <a:r>
              <a:rPr lang="en-US" altLang="zh-TW" b="1">
                <a:sym typeface="Symbol" panose="05050102010706020507" pitchFamily="18" charset="2"/>
              </a:rPr>
              <a:t>…</a:t>
            </a:r>
            <a:r>
              <a:rPr lang="zh-TW" altLang="en-US" b="1">
                <a:sym typeface="Symbol" panose="05050102010706020507" pitchFamily="18" charset="2"/>
              </a:rPr>
              <a:t>條件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28F8E079-E6AF-4119-AC9C-03205651C9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F3EA701-3618-484F-B9B7-9AD2D8BD131A}" type="slidenum">
              <a:rPr lang="en-US" altLang="zh-TW" sz="1300"/>
              <a:pPr>
                <a:spcBef>
                  <a:spcPct val="0"/>
                </a:spcBef>
              </a:pPr>
              <a:t>74</a:t>
            </a:fld>
            <a:endParaRPr lang="en-US" altLang="zh-TW" sz="1300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3001137C-C62F-4812-8DD8-CFD1287F71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FFE3BAE6-2F93-4370-A313-77B88FB0A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此頁在介紹 一些基本 </a:t>
            </a:r>
            <a:r>
              <a:rPr lang="en-US" altLang="zh-TW"/>
              <a:t>CTL </a:t>
            </a:r>
            <a:r>
              <a:rPr lang="zh-TW" altLang="en-US"/>
              <a:t>的定義</a:t>
            </a:r>
          </a:p>
          <a:p>
            <a:pPr eaLnBrk="1" hangingPunct="1"/>
            <a:r>
              <a:rPr lang="zh-TW" altLang="en-US" b="1">
                <a:sym typeface="Symbol" panose="05050102010706020507" pitchFamily="18" charset="2"/>
              </a:rPr>
              <a:t> </a:t>
            </a:r>
            <a:r>
              <a:rPr lang="en-US" altLang="zh-TW" b="1">
                <a:sym typeface="Symbol" panose="05050102010706020507" pitchFamily="18" charset="2"/>
              </a:rPr>
              <a:t>:</a:t>
            </a:r>
            <a:r>
              <a:rPr lang="zh-TW" altLang="en-US" b="1">
                <a:sym typeface="Symbol" panose="05050102010706020507" pitchFamily="18" charset="2"/>
              </a:rPr>
              <a:t>存在一條</a:t>
            </a:r>
            <a:r>
              <a:rPr lang="en-US" altLang="zh-TW" b="1">
                <a:sym typeface="Symbol" panose="05050102010706020507" pitchFamily="18" charset="2"/>
              </a:rPr>
              <a:t>PATH</a:t>
            </a:r>
            <a:r>
              <a:rPr lang="zh-TW" altLang="en-US" b="1">
                <a:sym typeface="Symbol" panose="05050102010706020507" pitchFamily="18" charset="2"/>
              </a:rPr>
              <a:t>可以符合</a:t>
            </a:r>
            <a:r>
              <a:rPr lang="en-US" altLang="zh-TW" b="1">
                <a:sym typeface="Symbol" panose="05050102010706020507" pitchFamily="18" charset="2"/>
              </a:rPr>
              <a:t>…</a:t>
            </a:r>
            <a:r>
              <a:rPr lang="zh-TW" altLang="en-US" b="1">
                <a:sym typeface="Symbol" panose="05050102010706020507" pitchFamily="18" charset="2"/>
              </a:rPr>
              <a:t>條件</a:t>
            </a:r>
          </a:p>
          <a:p>
            <a:pPr eaLnBrk="1" hangingPunct="1"/>
            <a:r>
              <a:rPr lang="zh-TW" altLang="en-US" b="1">
                <a:sym typeface="Symbol" panose="05050102010706020507" pitchFamily="18" charset="2"/>
              </a:rPr>
              <a:t> </a:t>
            </a:r>
            <a:r>
              <a:rPr lang="en-US" altLang="zh-TW" b="1">
                <a:sym typeface="Symbol" panose="05050102010706020507" pitchFamily="18" charset="2"/>
              </a:rPr>
              <a:t>:</a:t>
            </a:r>
            <a:r>
              <a:rPr lang="zh-TW" altLang="en-US" b="1">
                <a:sym typeface="Symbol" panose="05050102010706020507" pitchFamily="18" charset="2"/>
              </a:rPr>
              <a:t>全部的</a:t>
            </a:r>
            <a:r>
              <a:rPr lang="en-US" altLang="zh-TW" b="1">
                <a:sym typeface="Symbol" panose="05050102010706020507" pitchFamily="18" charset="2"/>
              </a:rPr>
              <a:t>PATH</a:t>
            </a:r>
            <a:r>
              <a:rPr lang="zh-TW" altLang="en-US" b="1">
                <a:sym typeface="Symbol" panose="05050102010706020507" pitchFamily="18" charset="2"/>
              </a:rPr>
              <a:t>都可以符合</a:t>
            </a:r>
            <a:r>
              <a:rPr lang="en-US" altLang="zh-TW" b="1">
                <a:sym typeface="Symbol" panose="05050102010706020507" pitchFamily="18" charset="2"/>
              </a:rPr>
              <a:t>…</a:t>
            </a:r>
            <a:r>
              <a:rPr lang="zh-TW" altLang="en-US" b="1">
                <a:sym typeface="Symbol" panose="05050102010706020507" pitchFamily="18" charset="2"/>
              </a:rPr>
              <a:t>條件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B6D5DE4D-9B89-42D7-B1EB-87E0993BB9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5A8EC4-50F1-43FC-8A10-AA0A0B135DF2}" type="slidenum">
              <a:rPr lang="en-US" altLang="zh-TW" sz="1300"/>
              <a:pPr>
                <a:spcBef>
                  <a:spcPct val="0"/>
                </a:spcBef>
              </a:pPr>
              <a:t>75</a:t>
            </a:fld>
            <a:endParaRPr lang="en-US" altLang="zh-TW" sz="1300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97E7105B-B294-43EF-8A52-1C979B7C5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DC239EB7-F694-4131-A03D-8079DF82E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13A21534-D1F3-4F95-AA73-27F498A11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7DAF9F9-698A-44A9-8CDE-189076809C5D}" type="slidenum">
              <a:rPr lang="en-US" altLang="zh-TW" sz="1300"/>
              <a:pPr>
                <a:spcBef>
                  <a:spcPct val="0"/>
                </a:spcBef>
              </a:pPr>
              <a:t>76</a:t>
            </a:fld>
            <a:endParaRPr lang="en-US" altLang="zh-TW" sz="1300"/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8344AB27-8962-4777-B4F7-0D2289231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9B07F592-3D82-40EE-B821-465086F8A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一個</a:t>
            </a:r>
            <a:r>
              <a:rPr lang="zh-TW" altLang="en-US" sz="1400" b="1">
                <a:sym typeface="Symbol" panose="05050102010706020507" pitchFamily="18" charset="2"/>
              </a:rPr>
              <a:t></a:t>
            </a:r>
            <a:r>
              <a:rPr lang="zh-TW" altLang="en-US" sz="1400" b="1">
                <a:sym typeface="Wingdings 2" panose="05020102010507070707" pitchFamily="18" charset="2"/>
              </a:rPr>
              <a:t></a:t>
            </a:r>
            <a:r>
              <a:rPr lang="en-US" altLang="zh-TW" sz="1400" b="1" i="1">
                <a:sym typeface="Wingdings 2" panose="05020102010507070707" pitchFamily="18" charset="2"/>
              </a:rPr>
              <a:t>p</a:t>
            </a:r>
            <a:r>
              <a:rPr lang="zh-TW" altLang="en-US" sz="1400" b="1" i="1">
                <a:sym typeface="Wingdings 2" panose="05020102010507070707" pitchFamily="18" charset="2"/>
              </a:rPr>
              <a:t>的例子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D3A6383-1A1B-42EF-97EF-6C408C897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600762E-EB34-432E-B958-F451883DB92E}" type="slidenum">
              <a:rPr lang="en-US" altLang="zh-TW" sz="1300"/>
              <a:pPr>
                <a:spcBef>
                  <a:spcPct val="0"/>
                </a:spcBef>
              </a:pPr>
              <a:t>77</a:t>
            </a:fld>
            <a:endParaRPr lang="en-US" altLang="zh-TW" sz="1300"/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CDAC0D83-5BCD-4325-88BC-C0FDD4B40A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123FC577-A8BD-4CB7-BF97-AE8BBD339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 sz="1400" b="1">
                <a:sym typeface="Symbol" panose="05050102010706020507" pitchFamily="18" charset="2"/>
              </a:rPr>
              <a:t>一個</a:t>
            </a:r>
            <a:r>
              <a:rPr lang="en-US" altLang="zh-TW" sz="14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1400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 </a:t>
            </a:r>
            <a:r>
              <a:rPr lang="en-US" altLang="zh-TW" sz="14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</a:t>
            </a:r>
            <a:r>
              <a:rPr lang="zh-TW" altLang="en-US" sz="14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的例子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6F77187C-38ED-42CF-BA43-67D91A2AE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958D8FF-4DA9-4F96-B42B-9915FC82825A}" type="slidenum">
              <a:rPr lang="en-US" altLang="zh-TW" sz="1300"/>
              <a:pPr>
                <a:spcBef>
                  <a:spcPct val="0"/>
                </a:spcBef>
              </a:pPr>
              <a:t>78</a:t>
            </a:fld>
            <a:endParaRPr lang="en-US" altLang="zh-TW" sz="1300"/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D729A8B4-450C-47C7-8BC2-EB8304D59E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FEC0B2E3-E680-42F3-8768-17EA8E21C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 sz="1600" b="1">
                <a:sym typeface="Symbol" panose="05050102010706020507" pitchFamily="18" charset="2"/>
              </a:rPr>
              <a:t>一個</a:t>
            </a:r>
            <a:r>
              <a:rPr lang="zh-TW" altLang="en-US" sz="1600" b="1">
                <a:sym typeface="Wingdings 2" panose="05020102010507070707" pitchFamily="18" charset="2"/>
              </a:rPr>
              <a:t></a:t>
            </a:r>
            <a:r>
              <a:rPr lang="en-US" altLang="zh-TW" sz="1600" b="1" i="1">
                <a:sym typeface="Wingdings 2" panose="05020102010507070707" pitchFamily="18" charset="2"/>
              </a:rPr>
              <a:t>p</a:t>
            </a:r>
            <a:r>
              <a:rPr lang="zh-TW" altLang="en-US" sz="1600" b="1" i="1">
                <a:sym typeface="Wingdings 2" panose="05020102010507070707" pitchFamily="18" charset="2"/>
              </a:rPr>
              <a:t>的例子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5EF45C4C-2174-46C6-9AB0-E1BEAF3C3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A7E7442-3529-4DA1-A3B2-D4EDD08287AB}" type="slidenum">
              <a:rPr lang="en-US" altLang="zh-TW" sz="1300"/>
              <a:pPr>
                <a:spcBef>
                  <a:spcPct val="0"/>
                </a:spcBef>
              </a:pPr>
              <a:t>79</a:t>
            </a:fld>
            <a:endParaRPr lang="en-US" altLang="zh-TW" sz="1300"/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E457CB30-6E89-4FE5-937D-55FC51E6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333CDA8F-1869-464B-9A00-FAC494ECC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一個</a:t>
            </a:r>
            <a:r>
              <a:rPr lang="zh-TW" altLang="en-US" sz="1300" b="1">
                <a:sym typeface="Symbol" panose="05050102010706020507" pitchFamily="18" charset="2"/>
              </a:rPr>
              <a:t></a:t>
            </a:r>
            <a:r>
              <a:rPr lang="en-US" altLang="zh-TW" sz="13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1300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 </a:t>
            </a:r>
            <a:r>
              <a:rPr lang="en-US" altLang="zh-TW" sz="13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</a:t>
            </a:r>
            <a:r>
              <a:rPr lang="zh-TW" altLang="en-US" sz="13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的例子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39C3ECF9-D7C1-4933-91A4-250C8675CE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ED0BEE0-975D-43F3-8D38-5DAD404BC7A5}" type="slidenum">
              <a:rPr lang="en-US" altLang="zh-TW" sz="1300"/>
              <a:pPr>
                <a:spcBef>
                  <a:spcPct val="0"/>
                </a:spcBef>
              </a:pPr>
              <a:t>80</a:t>
            </a:fld>
            <a:endParaRPr lang="en-US" altLang="zh-TW" sz="1300"/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51CBBAEF-DBE7-42F1-8546-C973C218D5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F42E8865-0BF5-447B-A595-AA128CFE5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定義</a:t>
            </a:r>
            <a:r>
              <a:rPr lang="en-US" altLang="zh-TW"/>
              <a:t>CTL satisfy</a:t>
            </a:r>
            <a:r>
              <a:rPr lang="zh-TW" altLang="en-US"/>
              <a:t>的相關</a:t>
            </a:r>
            <a:r>
              <a:rPr lang="en-US" altLang="zh-TW"/>
              <a:t>semantic 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>
            <a:extLst>
              <a:ext uri="{FF2B5EF4-FFF2-40B4-BE49-F238E27FC236}">
                <a16:creationId xmlns:a16="http://schemas.microsoft.com/office/drawing/2014/main" id="{2FB218B6-F2FE-466B-A276-4A1B92989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979C0B9-AE5F-4018-8DD7-320E70BD7BBF}" type="slidenum">
              <a:rPr lang="en-US" altLang="zh-TW" sz="1300"/>
              <a:pPr>
                <a:spcBef>
                  <a:spcPct val="0"/>
                </a:spcBef>
              </a:pPr>
              <a:t>81</a:t>
            </a:fld>
            <a:endParaRPr lang="en-US" altLang="zh-TW" sz="1300"/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014C9A87-B316-4B63-936E-91CD0A58B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105A5A77-908E-4D86-9313-1E4FD57E5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不同於</a:t>
            </a:r>
            <a:r>
              <a:rPr lang="en-US" altLang="zh-TW"/>
              <a:t>LPTL, CTL</a:t>
            </a:r>
            <a:r>
              <a:rPr lang="zh-TW" altLang="en-US"/>
              <a:t>中的</a:t>
            </a:r>
            <a:r>
              <a:rPr lang="en-US" altLang="zh-TW"/>
              <a:t>Si</a:t>
            </a:r>
            <a:r>
              <a:rPr lang="zh-TW" altLang="en-US"/>
              <a:t>可能會有多條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D4A7FCC5-1545-4B92-BB94-A0A76DF11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332D845-00DC-49E0-9761-58790E6515A8}" type="slidenum">
              <a:rPr lang="en-US" altLang="zh-TW" sz="1300"/>
              <a:pPr>
                <a:spcBef>
                  <a:spcPct val="0"/>
                </a:spcBef>
              </a:pPr>
              <a:t>82</a:t>
            </a:fld>
            <a:endParaRPr lang="en-US" altLang="zh-TW" sz="13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CAD93028-7E2D-4A59-9AFE-1BB509898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97783810-6EC8-46D9-81FC-B0DA7E206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D18CF416-C8F3-4045-9F72-07493FD42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5ACE16-B7E3-4631-9849-73689917F35A}" type="slidenum">
              <a:rPr lang="en-US" altLang="zh-TW" sz="1300"/>
              <a:pPr>
                <a:spcBef>
                  <a:spcPct val="0"/>
                </a:spcBef>
              </a:pPr>
              <a:t>83</a:t>
            </a:fld>
            <a:endParaRPr lang="en-US" altLang="zh-TW" sz="1300"/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8B2D8BA8-3DC6-4608-A8E2-9CA59E816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7DF39CC1-899E-495A-B522-450A2F1F2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>
            <a:extLst>
              <a:ext uri="{FF2B5EF4-FFF2-40B4-BE49-F238E27FC236}">
                <a16:creationId xmlns:a16="http://schemas.microsoft.com/office/drawing/2014/main" id="{3B4132A1-BF8B-4716-961B-2D058891B1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D65D975-A238-4A1E-99C2-B549D2AE7EC3}" type="slidenum">
              <a:rPr lang="en-US" altLang="zh-TW" sz="1300"/>
              <a:pPr>
                <a:spcBef>
                  <a:spcPct val="0"/>
                </a:spcBef>
              </a:pPr>
              <a:t>84</a:t>
            </a:fld>
            <a:endParaRPr lang="en-US" altLang="zh-TW" sz="1300"/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B22D451B-57B5-43B1-8945-E8E74EEDA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9D40BF9C-4C3E-465A-ACE4-D473BBEAF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>
            <a:extLst>
              <a:ext uri="{FF2B5EF4-FFF2-40B4-BE49-F238E27FC236}">
                <a16:creationId xmlns:a16="http://schemas.microsoft.com/office/drawing/2014/main" id="{5F117E76-4A5F-4C49-9276-BFB26AF11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7FE9834-BDAD-4E0A-934E-052801FFFB13}" type="slidenum">
              <a:rPr lang="en-US" altLang="zh-TW" sz="1300"/>
              <a:pPr>
                <a:spcBef>
                  <a:spcPct val="0"/>
                </a:spcBef>
              </a:pPr>
              <a:t>85</a:t>
            </a:fld>
            <a:endParaRPr lang="en-US" altLang="zh-TW" sz="1300"/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2D16F3E3-9FEF-4AF0-9926-9EE4F719A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81252" name="Rectangle 3">
            <a:extLst>
              <a:ext uri="{FF2B5EF4-FFF2-40B4-BE49-F238E27FC236}">
                <a16:creationId xmlns:a16="http://schemas.microsoft.com/office/drawing/2014/main" id="{61103C07-79EE-40E9-84F6-190EDF433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F94091A9-DFA7-41B6-8C1A-663CA088D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630E33C-3BC8-4EBE-A020-502894AD03F6}" type="slidenum">
              <a:rPr lang="en-US" altLang="zh-TW" sz="1300"/>
              <a:pPr>
                <a:spcBef>
                  <a:spcPct val="0"/>
                </a:spcBef>
              </a:pPr>
              <a:t>86</a:t>
            </a:fld>
            <a:endParaRPr lang="en-US" altLang="zh-TW" sz="1300"/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0241C341-FAD9-434A-9508-22FB447C6C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D85EC695-8D83-4D08-BEAF-A24064ECB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投影片圖像版面配置區 1">
            <a:extLst>
              <a:ext uri="{FF2B5EF4-FFF2-40B4-BE49-F238E27FC236}">
                <a16:creationId xmlns:a16="http://schemas.microsoft.com/office/drawing/2014/main" id="{178A35C7-C9AA-4C79-9771-9225EAE7E3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備忘稿版面配置區 2">
            <a:extLst>
              <a:ext uri="{FF2B5EF4-FFF2-40B4-BE49-F238E27FC236}">
                <a16:creationId xmlns:a16="http://schemas.microsoft.com/office/drawing/2014/main" id="{D5D4825E-E186-449B-A0D3-591F2D032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85348" name="投影片編號版面配置區 3">
            <a:extLst>
              <a:ext uri="{FF2B5EF4-FFF2-40B4-BE49-F238E27FC236}">
                <a16:creationId xmlns:a16="http://schemas.microsoft.com/office/drawing/2014/main" id="{B1575F96-9809-4BA6-8780-B81095D4B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1B83D9C-E5CF-429C-AF46-F19D087050A7}" type="slidenum">
              <a:rPr lang="en-US" altLang="zh-TW" sz="1300"/>
              <a:pPr>
                <a:spcBef>
                  <a:spcPct val="0"/>
                </a:spcBef>
              </a:pPr>
              <a:t>87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>
            <a:extLst>
              <a:ext uri="{FF2B5EF4-FFF2-40B4-BE49-F238E27FC236}">
                <a16:creationId xmlns:a16="http://schemas.microsoft.com/office/drawing/2014/main" id="{F833C850-D861-4C4E-8DB1-114B673562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D20D76E-A909-472F-863C-0ADA7C80263A}" type="slidenum">
              <a:rPr lang="en-US" altLang="zh-TW" sz="1300"/>
              <a:pPr>
                <a:spcBef>
                  <a:spcPct val="0"/>
                </a:spcBef>
              </a:pPr>
              <a:t>88</a:t>
            </a:fld>
            <a:endParaRPr lang="en-US" altLang="zh-TW" sz="1300"/>
          </a:p>
        </p:txBody>
      </p:sp>
      <p:sp>
        <p:nvSpPr>
          <p:cNvPr id="187395" name="Rectangle 2">
            <a:extLst>
              <a:ext uri="{FF2B5EF4-FFF2-40B4-BE49-F238E27FC236}">
                <a16:creationId xmlns:a16="http://schemas.microsoft.com/office/drawing/2014/main" id="{2ED267FF-971D-4C01-AFBB-4A2208EB87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>
            <a:extLst>
              <a:ext uri="{FF2B5EF4-FFF2-40B4-BE49-F238E27FC236}">
                <a16:creationId xmlns:a16="http://schemas.microsoft.com/office/drawing/2014/main" id="{7A237180-40B6-430E-85E1-D583537F8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E3CA6C35-1C03-4B51-B3F2-D4FB46195B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9E58F0E-10AF-468E-B0E6-03B3C09C4F42}" type="slidenum">
              <a:rPr lang="en-US" altLang="zh-TW" sz="1300"/>
              <a:pPr>
                <a:spcBef>
                  <a:spcPct val="0"/>
                </a:spcBef>
              </a:pPr>
              <a:t>89</a:t>
            </a:fld>
            <a:endParaRPr lang="en-US" altLang="zh-TW" sz="1300"/>
          </a:p>
        </p:txBody>
      </p:sp>
      <p:sp>
        <p:nvSpPr>
          <p:cNvPr id="189443" name="Rectangle 2">
            <a:extLst>
              <a:ext uri="{FF2B5EF4-FFF2-40B4-BE49-F238E27FC236}">
                <a16:creationId xmlns:a16="http://schemas.microsoft.com/office/drawing/2014/main" id="{8F7EFC3C-C21C-40D3-B6D1-19FEB99BF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>
            <a:extLst>
              <a:ext uri="{FF2B5EF4-FFF2-40B4-BE49-F238E27FC236}">
                <a16:creationId xmlns:a16="http://schemas.microsoft.com/office/drawing/2014/main" id="{8B1B8F7B-D4BA-4E5E-82E9-67FA2A4DB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>
            <a:extLst>
              <a:ext uri="{FF2B5EF4-FFF2-40B4-BE49-F238E27FC236}">
                <a16:creationId xmlns:a16="http://schemas.microsoft.com/office/drawing/2014/main" id="{36DF9CB3-148D-41D5-BFC2-EE7A3E58F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344EC2B-C842-47C2-8AC8-A3B6D00439ED}" type="slidenum">
              <a:rPr lang="en-US" altLang="zh-TW" sz="1300"/>
              <a:pPr>
                <a:spcBef>
                  <a:spcPct val="0"/>
                </a:spcBef>
              </a:pPr>
              <a:t>90</a:t>
            </a:fld>
            <a:endParaRPr lang="en-US" altLang="zh-TW" sz="1300"/>
          </a:p>
        </p:txBody>
      </p:sp>
      <p:sp>
        <p:nvSpPr>
          <p:cNvPr id="191491" name="Rectangle 2">
            <a:extLst>
              <a:ext uri="{FF2B5EF4-FFF2-40B4-BE49-F238E27FC236}">
                <a16:creationId xmlns:a16="http://schemas.microsoft.com/office/drawing/2014/main" id="{F90E6E3D-4FC4-4B04-9019-C2BEE20056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>
            <a:extLst>
              <a:ext uri="{FF2B5EF4-FFF2-40B4-BE49-F238E27FC236}">
                <a16:creationId xmlns:a16="http://schemas.microsoft.com/office/drawing/2014/main" id="{4C62F122-1A19-4FC2-BC7C-1EE77B63C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AA12FBB5-99CA-4342-8F57-44F821EBF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4D65CB1-2365-47C9-8B37-16E13E693C83}" type="slidenum">
              <a:rPr lang="en-US" altLang="zh-TW" sz="1300"/>
              <a:pPr>
                <a:spcBef>
                  <a:spcPct val="0"/>
                </a:spcBef>
              </a:pPr>
              <a:t>91</a:t>
            </a:fld>
            <a:endParaRPr lang="en-US" altLang="zh-TW" sz="1300"/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36333C73-B32F-4498-8DF2-C355E98A3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5EAC47F9-81A0-4E00-B1E4-AB4BEF943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>
            <a:extLst>
              <a:ext uri="{FF2B5EF4-FFF2-40B4-BE49-F238E27FC236}">
                <a16:creationId xmlns:a16="http://schemas.microsoft.com/office/drawing/2014/main" id="{17A0F254-181B-46A4-8749-231CCA0A3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0365032-6BA6-4438-AEFE-DFFF5BA93957}" type="slidenum">
              <a:rPr lang="en-US" altLang="zh-TW" sz="1300"/>
              <a:pPr>
                <a:spcBef>
                  <a:spcPct val="0"/>
                </a:spcBef>
              </a:pPr>
              <a:t>92</a:t>
            </a:fld>
            <a:endParaRPr lang="en-US" altLang="zh-TW" sz="1300"/>
          </a:p>
        </p:txBody>
      </p:sp>
      <p:sp>
        <p:nvSpPr>
          <p:cNvPr id="195587" name="Rectangle 2">
            <a:extLst>
              <a:ext uri="{FF2B5EF4-FFF2-40B4-BE49-F238E27FC236}">
                <a16:creationId xmlns:a16="http://schemas.microsoft.com/office/drawing/2014/main" id="{3273044A-2D29-4F59-98B8-B0EB3E826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>
            <a:extLst>
              <a:ext uri="{FF2B5EF4-FFF2-40B4-BE49-F238E27FC236}">
                <a16:creationId xmlns:a16="http://schemas.microsoft.com/office/drawing/2014/main" id="{96610EC8-AD82-43DB-9F23-5AE448A70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>
            <a:extLst>
              <a:ext uri="{FF2B5EF4-FFF2-40B4-BE49-F238E27FC236}">
                <a16:creationId xmlns:a16="http://schemas.microsoft.com/office/drawing/2014/main" id="{7DF1F7D8-B068-4BF2-8850-2041A3E65C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C16CFB1-7E44-49D7-AC72-E7AB78645A29}" type="slidenum">
              <a:rPr lang="en-US" altLang="zh-TW" sz="1300"/>
              <a:pPr>
                <a:spcBef>
                  <a:spcPct val="0"/>
                </a:spcBef>
              </a:pPr>
              <a:t>93</a:t>
            </a:fld>
            <a:endParaRPr lang="en-US" altLang="zh-TW" sz="1300"/>
          </a:p>
        </p:txBody>
      </p:sp>
      <p:sp>
        <p:nvSpPr>
          <p:cNvPr id="197635" name="Rectangle 2">
            <a:extLst>
              <a:ext uri="{FF2B5EF4-FFF2-40B4-BE49-F238E27FC236}">
                <a16:creationId xmlns:a16="http://schemas.microsoft.com/office/drawing/2014/main" id="{6A00C412-50ED-4E25-A8B1-6159E29A8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97636" name="Rectangle 3">
            <a:extLst>
              <a:ext uri="{FF2B5EF4-FFF2-40B4-BE49-F238E27FC236}">
                <a16:creationId xmlns:a16="http://schemas.microsoft.com/office/drawing/2014/main" id="{07AC65BA-FD59-4FAD-894F-19213C5EC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>
            <a:extLst>
              <a:ext uri="{FF2B5EF4-FFF2-40B4-BE49-F238E27FC236}">
                <a16:creationId xmlns:a16="http://schemas.microsoft.com/office/drawing/2014/main" id="{FEDB72D6-A5D1-43E8-B824-85EC8E7E2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8F793AB-E819-42BB-BFA4-75D3246FA26F}" type="slidenum">
              <a:rPr lang="en-US" altLang="zh-TW" sz="1300"/>
              <a:pPr>
                <a:spcBef>
                  <a:spcPct val="0"/>
                </a:spcBef>
              </a:pPr>
              <a:t>94</a:t>
            </a:fld>
            <a:endParaRPr lang="en-US" altLang="zh-TW" sz="1300"/>
          </a:p>
        </p:txBody>
      </p:sp>
      <p:sp>
        <p:nvSpPr>
          <p:cNvPr id="199683" name="Rectangle 2">
            <a:extLst>
              <a:ext uri="{FF2B5EF4-FFF2-40B4-BE49-F238E27FC236}">
                <a16:creationId xmlns:a16="http://schemas.microsoft.com/office/drawing/2014/main" id="{4FBE77DC-2CF0-4EBA-B00E-4D711EA65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199684" name="Rectangle 3">
            <a:extLst>
              <a:ext uri="{FF2B5EF4-FFF2-40B4-BE49-F238E27FC236}">
                <a16:creationId xmlns:a16="http://schemas.microsoft.com/office/drawing/2014/main" id="{C431822D-1517-449D-934C-F91AEEBAE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>
            <a:extLst>
              <a:ext uri="{FF2B5EF4-FFF2-40B4-BE49-F238E27FC236}">
                <a16:creationId xmlns:a16="http://schemas.microsoft.com/office/drawing/2014/main" id="{5C1338F0-8A5C-4690-8314-FB61C3570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ABDDE5-986A-48CE-8F3D-238145C5FC3D}" type="slidenum">
              <a:rPr lang="en-US" altLang="zh-TW" sz="1300"/>
              <a:pPr>
                <a:spcBef>
                  <a:spcPct val="0"/>
                </a:spcBef>
              </a:pPr>
              <a:t>95</a:t>
            </a:fld>
            <a:endParaRPr lang="en-US" altLang="zh-TW" sz="1300"/>
          </a:p>
        </p:txBody>
      </p:sp>
      <p:sp>
        <p:nvSpPr>
          <p:cNvPr id="201731" name="Rectangle 2">
            <a:extLst>
              <a:ext uri="{FF2B5EF4-FFF2-40B4-BE49-F238E27FC236}">
                <a16:creationId xmlns:a16="http://schemas.microsoft.com/office/drawing/2014/main" id="{C3D5413C-346B-477A-ABF8-F8AD4B9FF9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01732" name="Rectangle 3">
            <a:extLst>
              <a:ext uri="{FF2B5EF4-FFF2-40B4-BE49-F238E27FC236}">
                <a16:creationId xmlns:a16="http://schemas.microsoft.com/office/drawing/2014/main" id="{47468E4A-6054-4362-8287-E6CD89120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>
            <a:extLst>
              <a:ext uri="{FF2B5EF4-FFF2-40B4-BE49-F238E27FC236}">
                <a16:creationId xmlns:a16="http://schemas.microsoft.com/office/drawing/2014/main" id="{5B7A3729-2EE3-4EC0-8E24-B87F579270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14837DC-F6F7-4327-A542-EA2280B79E70}" type="slidenum">
              <a:rPr lang="en-US" altLang="zh-TW" sz="1300"/>
              <a:pPr>
                <a:spcBef>
                  <a:spcPct val="0"/>
                </a:spcBef>
              </a:pPr>
              <a:t>96</a:t>
            </a:fld>
            <a:endParaRPr lang="en-US" altLang="zh-TW" sz="1300"/>
          </a:p>
        </p:txBody>
      </p:sp>
      <p:sp>
        <p:nvSpPr>
          <p:cNvPr id="203779" name="Rectangle 2">
            <a:extLst>
              <a:ext uri="{FF2B5EF4-FFF2-40B4-BE49-F238E27FC236}">
                <a16:creationId xmlns:a16="http://schemas.microsoft.com/office/drawing/2014/main" id="{738A1D3E-C411-4070-9F3E-DA35BC315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03780" name="Rectangle 3">
            <a:extLst>
              <a:ext uri="{FF2B5EF4-FFF2-40B4-BE49-F238E27FC236}">
                <a16:creationId xmlns:a16="http://schemas.microsoft.com/office/drawing/2014/main" id="{E97F46B3-3EC8-4D56-8C98-EB480BF25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>
            <a:extLst>
              <a:ext uri="{FF2B5EF4-FFF2-40B4-BE49-F238E27FC236}">
                <a16:creationId xmlns:a16="http://schemas.microsoft.com/office/drawing/2014/main" id="{9CDB0BF9-8D4C-4B13-B460-BE81774FBB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CE66720-D65B-407C-9B42-57AD70EE6979}" type="slidenum">
              <a:rPr lang="en-US" altLang="zh-TW" sz="1300"/>
              <a:pPr>
                <a:spcBef>
                  <a:spcPct val="0"/>
                </a:spcBef>
              </a:pPr>
              <a:t>97</a:t>
            </a:fld>
            <a:endParaRPr lang="en-US" altLang="zh-TW" sz="1300"/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F6D5F60F-E91A-4D9F-AEF0-20B629F567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05828" name="Rectangle 3">
            <a:extLst>
              <a:ext uri="{FF2B5EF4-FFF2-40B4-BE49-F238E27FC236}">
                <a16:creationId xmlns:a16="http://schemas.microsoft.com/office/drawing/2014/main" id="{A7AFA9FF-7A45-4D0A-9E3D-7BE3823B9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9BF4C791-1051-4AF3-97B9-852B2EA44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4977CA1-AE89-42F1-B278-1D506B38BAEC}" type="slidenum">
              <a:rPr lang="en-US" altLang="zh-TW" sz="1300"/>
              <a:pPr>
                <a:spcBef>
                  <a:spcPct val="0"/>
                </a:spcBef>
              </a:pPr>
              <a:t>98</a:t>
            </a:fld>
            <a:endParaRPr lang="en-US" altLang="zh-TW" sz="1300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0DF0C76C-47FE-47AA-A1B8-DDF2EE85E9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A30AC605-DF4A-49EE-BE28-3A19B8AEB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40259AA4-C303-4931-9FB0-C0C063302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DB611FA-82D3-4A9A-99F5-784694D4F60E}" type="slidenum">
              <a:rPr lang="en-US" altLang="zh-TW" sz="1300"/>
              <a:pPr>
                <a:spcBef>
                  <a:spcPct val="0"/>
                </a:spcBef>
              </a:pPr>
              <a:t>99</a:t>
            </a:fld>
            <a:endParaRPr lang="en-US" altLang="zh-TW" sz="1300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E76E2A57-14C3-43B3-89A1-2928D3B7E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F61019CB-3FC3-4FD5-B9E6-18B7CFC3C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>
            <a:extLst>
              <a:ext uri="{FF2B5EF4-FFF2-40B4-BE49-F238E27FC236}">
                <a16:creationId xmlns:a16="http://schemas.microsoft.com/office/drawing/2014/main" id="{BB4057DA-3A0D-4F0C-B771-78933607B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EC60CAA-B2A8-482D-B571-CC11BE251722}" type="slidenum">
              <a:rPr lang="en-US" altLang="zh-TW" sz="1300"/>
              <a:pPr>
                <a:spcBef>
                  <a:spcPct val="0"/>
                </a:spcBef>
              </a:pPr>
              <a:t>100</a:t>
            </a:fld>
            <a:endParaRPr lang="en-US" altLang="zh-TW" sz="1300"/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21D1C00C-CEDB-40AE-9C0B-F03BF681DC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8255583C-B771-4A3E-82FA-7FEF55FE1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>
            <a:extLst>
              <a:ext uri="{FF2B5EF4-FFF2-40B4-BE49-F238E27FC236}">
                <a16:creationId xmlns:a16="http://schemas.microsoft.com/office/drawing/2014/main" id="{41693E07-16B2-4C58-B2B9-FDB9019AB0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78E23B-9A63-4706-9BDC-43B890E758C3}" type="slidenum">
              <a:rPr lang="en-US" altLang="zh-TW" sz="1300"/>
              <a:pPr>
                <a:spcBef>
                  <a:spcPct val="0"/>
                </a:spcBef>
              </a:pPr>
              <a:t>101</a:t>
            </a:fld>
            <a:endParaRPr lang="en-US" altLang="zh-TW" sz="1300"/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94781ADB-CA31-4976-938C-FBE25B18CB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14020" name="Rectangle 3">
            <a:extLst>
              <a:ext uri="{FF2B5EF4-FFF2-40B4-BE49-F238E27FC236}">
                <a16:creationId xmlns:a16="http://schemas.microsoft.com/office/drawing/2014/main" id="{5B7138F1-BEE0-4471-8B52-4C078F012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>
            <a:extLst>
              <a:ext uri="{FF2B5EF4-FFF2-40B4-BE49-F238E27FC236}">
                <a16:creationId xmlns:a16="http://schemas.microsoft.com/office/drawing/2014/main" id="{E3221218-B12D-4FEF-A30C-0CE400F2F3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BCC36D6-04E9-4222-A807-41F3A643791A}" type="slidenum">
              <a:rPr lang="en-US" altLang="zh-TW" sz="1300"/>
              <a:pPr>
                <a:spcBef>
                  <a:spcPct val="0"/>
                </a:spcBef>
              </a:pPr>
              <a:t>102</a:t>
            </a:fld>
            <a:endParaRPr lang="en-US" altLang="zh-TW" sz="1300"/>
          </a:p>
        </p:txBody>
      </p:sp>
      <p:sp>
        <p:nvSpPr>
          <p:cNvPr id="216067" name="Rectangle 2">
            <a:extLst>
              <a:ext uri="{FF2B5EF4-FFF2-40B4-BE49-F238E27FC236}">
                <a16:creationId xmlns:a16="http://schemas.microsoft.com/office/drawing/2014/main" id="{4A3E76A7-A2B6-40BD-AF35-64D93BB97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16068" name="Rectangle 3">
            <a:extLst>
              <a:ext uri="{FF2B5EF4-FFF2-40B4-BE49-F238E27FC236}">
                <a16:creationId xmlns:a16="http://schemas.microsoft.com/office/drawing/2014/main" id="{82BAAA05-6486-4EF0-8616-DCD247930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>
            <a:extLst>
              <a:ext uri="{FF2B5EF4-FFF2-40B4-BE49-F238E27FC236}">
                <a16:creationId xmlns:a16="http://schemas.microsoft.com/office/drawing/2014/main" id="{B12EF751-8CD7-47DD-960A-3E562BE2C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44EE06-2591-47AC-AEB2-F6A6583AFC64}" type="slidenum">
              <a:rPr lang="en-US" altLang="zh-TW" sz="1300"/>
              <a:pPr>
                <a:spcBef>
                  <a:spcPct val="0"/>
                </a:spcBef>
              </a:pPr>
              <a:t>103</a:t>
            </a:fld>
            <a:endParaRPr lang="en-US" altLang="zh-TW" sz="1300"/>
          </a:p>
        </p:txBody>
      </p:sp>
      <p:sp>
        <p:nvSpPr>
          <p:cNvPr id="218115" name="Rectangle 2">
            <a:extLst>
              <a:ext uri="{FF2B5EF4-FFF2-40B4-BE49-F238E27FC236}">
                <a16:creationId xmlns:a16="http://schemas.microsoft.com/office/drawing/2014/main" id="{121589D3-A62C-4FFD-8913-345BF659D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18116" name="Rectangle 3">
            <a:extLst>
              <a:ext uri="{FF2B5EF4-FFF2-40B4-BE49-F238E27FC236}">
                <a16:creationId xmlns:a16="http://schemas.microsoft.com/office/drawing/2014/main" id="{BFFC0EA3-3CAD-42B8-94B4-C8A3FB0A0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>
            <a:extLst>
              <a:ext uri="{FF2B5EF4-FFF2-40B4-BE49-F238E27FC236}">
                <a16:creationId xmlns:a16="http://schemas.microsoft.com/office/drawing/2014/main" id="{F10D77A0-E183-4FAC-A84B-7A12112113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0C884A-1C1D-45E9-8156-2AD61EC97973}" type="slidenum">
              <a:rPr lang="en-US" altLang="zh-TW" sz="1300"/>
              <a:pPr>
                <a:spcBef>
                  <a:spcPct val="0"/>
                </a:spcBef>
              </a:pPr>
              <a:t>104</a:t>
            </a:fld>
            <a:endParaRPr lang="en-US" altLang="zh-TW" sz="1300"/>
          </a:p>
        </p:txBody>
      </p:sp>
      <p:sp>
        <p:nvSpPr>
          <p:cNvPr id="220163" name="Rectangle 2">
            <a:extLst>
              <a:ext uri="{FF2B5EF4-FFF2-40B4-BE49-F238E27FC236}">
                <a16:creationId xmlns:a16="http://schemas.microsoft.com/office/drawing/2014/main" id="{7C0BD79E-4631-4EBA-8E46-ED075CC32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20164" name="Rectangle 3">
            <a:extLst>
              <a:ext uri="{FF2B5EF4-FFF2-40B4-BE49-F238E27FC236}">
                <a16:creationId xmlns:a16="http://schemas.microsoft.com/office/drawing/2014/main" id="{88AEFC1D-487E-40E6-8D0E-B04C1973E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>
            <a:extLst>
              <a:ext uri="{FF2B5EF4-FFF2-40B4-BE49-F238E27FC236}">
                <a16:creationId xmlns:a16="http://schemas.microsoft.com/office/drawing/2014/main" id="{8B83B309-BFF0-4BCB-BABB-324668C6D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6F0BC7D-398F-4175-A5E0-97D0EAA5754E}" type="slidenum">
              <a:rPr lang="en-US" altLang="zh-TW" sz="1300"/>
              <a:pPr>
                <a:spcBef>
                  <a:spcPct val="0"/>
                </a:spcBef>
              </a:pPr>
              <a:t>105</a:t>
            </a:fld>
            <a:endParaRPr lang="en-US" altLang="zh-TW" sz="1300"/>
          </a:p>
        </p:txBody>
      </p:sp>
      <p:sp>
        <p:nvSpPr>
          <p:cNvPr id="222211" name="Rectangle 2">
            <a:extLst>
              <a:ext uri="{FF2B5EF4-FFF2-40B4-BE49-F238E27FC236}">
                <a16:creationId xmlns:a16="http://schemas.microsoft.com/office/drawing/2014/main" id="{70EBF37C-371E-41D1-9D71-4DD01836E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22212" name="Rectangle 3">
            <a:extLst>
              <a:ext uri="{FF2B5EF4-FFF2-40B4-BE49-F238E27FC236}">
                <a16:creationId xmlns:a16="http://schemas.microsoft.com/office/drawing/2014/main" id="{E5492D33-B31B-4E3B-81B7-FFF170102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>
            <a:extLst>
              <a:ext uri="{FF2B5EF4-FFF2-40B4-BE49-F238E27FC236}">
                <a16:creationId xmlns:a16="http://schemas.microsoft.com/office/drawing/2014/main" id="{B366C836-DBD9-475D-B6B1-88A21ABD6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F31C94C-05F1-4514-A9E7-0F2A008A18C5}" type="slidenum">
              <a:rPr lang="en-US" altLang="zh-TW" sz="1300"/>
              <a:pPr>
                <a:spcBef>
                  <a:spcPct val="0"/>
                </a:spcBef>
              </a:pPr>
              <a:t>106</a:t>
            </a:fld>
            <a:endParaRPr lang="en-US" altLang="zh-TW" sz="1300"/>
          </a:p>
        </p:txBody>
      </p:sp>
      <p:sp>
        <p:nvSpPr>
          <p:cNvPr id="224259" name="Rectangle 2">
            <a:extLst>
              <a:ext uri="{FF2B5EF4-FFF2-40B4-BE49-F238E27FC236}">
                <a16:creationId xmlns:a16="http://schemas.microsoft.com/office/drawing/2014/main" id="{A2EA9793-2634-4400-8653-6666F02B46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24260" name="Rectangle 3">
            <a:extLst>
              <a:ext uri="{FF2B5EF4-FFF2-40B4-BE49-F238E27FC236}">
                <a16:creationId xmlns:a16="http://schemas.microsoft.com/office/drawing/2014/main" id="{358B7E24-F743-4838-9606-82E4BE90D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>
            <a:extLst>
              <a:ext uri="{FF2B5EF4-FFF2-40B4-BE49-F238E27FC236}">
                <a16:creationId xmlns:a16="http://schemas.microsoft.com/office/drawing/2014/main" id="{463874AD-3262-4B70-B8E8-41FF1BB8D8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F2A66B5-5BDF-4003-8F47-F2E756619CA6}" type="slidenum">
              <a:rPr lang="en-US" altLang="zh-TW" sz="1300"/>
              <a:pPr>
                <a:spcBef>
                  <a:spcPct val="0"/>
                </a:spcBef>
              </a:pPr>
              <a:t>107</a:t>
            </a:fld>
            <a:endParaRPr lang="en-US" altLang="zh-TW" sz="1300"/>
          </a:p>
        </p:txBody>
      </p:sp>
      <p:sp>
        <p:nvSpPr>
          <p:cNvPr id="226307" name="Rectangle 2">
            <a:extLst>
              <a:ext uri="{FF2B5EF4-FFF2-40B4-BE49-F238E27FC236}">
                <a16:creationId xmlns:a16="http://schemas.microsoft.com/office/drawing/2014/main" id="{8F2D071F-E42F-4ACE-B03B-C0832E3A0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26308" name="Rectangle 3">
            <a:extLst>
              <a:ext uri="{FF2B5EF4-FFF2-40B4-BE49-F238E27FC236}">
                <a16:creationId xmlns:a16="http://schemas.microsoft.com/office/drawing/2014/main" id="{7A535379-718E-42CB-BA27-BFB73F7DC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>
            <a:extLst>
              <a:ext uri="{FF2B5EF4-FFF2-40B4-BE49-F238E27FC236}">
                <a16:creationId xmlns:a16="http://schemas.microsoft.com/office/drawing/2014/main" id="{E890FB7C-3AEF-4BC8-BEFD-73EEDCF198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64D1F9F-C810-4A71-BE38-650F49F0CD41}" type="slidenum">
              <a:rPr lang="en-US" altLang="zh-TW" sz="1300"/>
              <a:pPr>
                <a:spcBef>
                  <a:spcPct val="0"/>
                </a:spcBef>
              </a:pPr>
              <a:t>108</a:t>
            </a:fld>
            <a:endParaRPr lang="en-US" altLang="zh-TW" sz="1300"/>
          </a:p>
        </p:txBody>
      </p:sp>
      <p:sp>
        <p:nvSpPr>
          <p:cNvPr id="228355" name="Rectangle 2">
            <a:extLst>
              <a:ext uri="{FF2B5EF4-FFF2-40B4-BE49-F238E27FC236}">
                <a16:creationId xmlns:a16="http://schemas.microsoft.com/office/drawing/2014/main" id="{DA602D24-27E5-45FB-ADB2-0E543A3010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28356" name="Rectangle 3">
            <a:extLst>
              <a:ext uri="{FF2B5EF4-FFF2-40B4-BE49-F238E27FC236}">
                <a16:creationId xmlns:a16="http://schemas.microsoft.com/office/drawing/2014/main" id="{BBAAD319-4E4D-4C4D-BB46-85255DEDA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>
            <a:extLst>
              <a:ext uri="{FF2B5EF4-FFF2-40B4-BE49-F238E27FC236}">
                <a16:creationId xmlns:a16="http://schemas.microsoft.com/office/drawing/2014/main" id="{15A30A28-C5E9-48DB-9801-C939245409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5F6E9E7-3CF9-4416-8C54-893F5ABCB057}" type="slidenum">
              <a:rPr lang="en-US" altLang="zh-TW" sz="1300"/>
              <a:pPr>
                <a:spcBef>
                  <a:spcPct val="0"/>
                </a:spcBef>
              </a:pPr>
              <a:t>109</a:t>
            </a:fld>
            <a:endParaRPr lang="en-US" altLang="zh-TW" sz="1300"/>
          </a:p>
        </p:txBody>
      </p:sp>
      <p:sp>
        <p:nvSpPr>
          <p:cNvPr id="230403" name="Rectangle 2">
            <a:extLst>
              <a:ext uri="{FF2B5EF4-FFF2-40B4-BE49-F238E27FC236}">
                <a16:creationId xmlns:a16="http://schemas.microsoft.com/office/drawing/2014/main" id="{05056F8B-8E38-4A40-881A-72B662EC5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>
            <a:extLst>
              <a:ext uri="{FF2B5EF4-FFF2-40B4-BE49-F238E27FC236}">
                <a16:creationId xmlns:a16="http://schemas.microsoft.com/office/drawing/2014/main" id="{0F8F863B-26DE-4321-936B-66AB7819E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/>
              <a:t>此</a:t>
            </a:r>
            <a:r>
              <a:rPr kumimoji="0" lang="en-US" altLang="zh-TW"/>
              <a:t>SLIDE</a:t>
            </a:r>
            <a:r>
              <a:rPr kumimoji="0" lang="zh-TW" altLang="en-US"/>
              <a:t>是關於 </a:t>
            </a:r>
            <a:r>
              <a:rPr lang="en-US" altLang="zh-TW"/>
              <a:t>model checking Framework.</a:t>
            </a:r>
          </a:p>
          <a:p>
            <a:pPr eaLnBrk="1" hangingPunct="1"/>
            <a:r>
              <a:rPr lang="zh-TW" altLang="en-US"/>
              <a:t>一開始我們會建立一個模型 並且 撰寫 一些 利用 </a:t>
            </a:r>
            <a:r>
              <a:rPr lang="en-US" altLang="zh-TW"/>
              <a:t>temporal logic formula </a:t>
            </a:r>
            <a:r>
              <a:rPr lang="zh-TW" altLang="en-US"/>
              <a:t>寫成的 </a:t>
            </a:r>
            <a:r>
              <a:rPr lang="en-US" altLang="zh-TW"/>
              <a:t>properties.</a:t>
            </a:r>
          </a:p>
          <a:p>
            <a:pPr eaLnBrk="1" hangingPunct="1"/>
            <a:r>
              <a:rPr lang="zh-TW" altLang="en-US"/>
              <a:t>然後</a:t>
            </a:r>
            <a:r>
              <a:rPr lang="en-US" altLang="zh-TW"/>
              <a:t>, </a:t>
            </a:r>
            <a:r>
              <a:rPr lang="zh-TW" altLang="en-US"/>
              <a:t>我們會把這些 </a:t>
            </a:r>
            <a:r>
              <a:rPr lang="en-US" altLang="zh-TW"/>
              <a:t>properties </a:t>
            </a:r>
            <a:r>
              <a:rPr lang="zh-TW" altLang="en-US"/>
              <a:t>輸入到 </a:t>
            </a:r>
            <a:r>
              <a:rPr lang="en-US" altLang="zh-TW"/>
              <a:t>model checker</a:t>
            </a:r>
            <a:r>
              <a:rPr lang="zh-TW" altLang="en-US"/>
              <a:t>中</a:t>
            </a:r>
            <a:r>
              <a:rPr lang="en-US" altLang="zh-TW"/>
              <a:t>, </a:t>
            </a:r>
            <a:r>
              <a:rPr lang="zh-TW" altLang="en-US"/>
              <a:t>最後會產生報告說是否和規格有產生反例</a:t>
            </a:r>
            <a:r>
              <a:rPr lang="en-US" altLang="zh-TW"/>
              <a:t>.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0A4184C1-6281-4766-9FB7-A8410DDD9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161FB6E-A466-4653-9D83-4C80B6DC97A2}" type="slidenum">
              <a:rPr lang="en-US" altLang="zh-TW" sz="1300"/>
              <a:pPr>
                <a:spcBef>
                  <a:spcPct val="0"/>
                </a:spcBef>
              </a:pPr>
              <a:t>110</a:t>
            </a:fld>
            <a:endParaRPr lang="en-US" altLang="zh-TW" sz="1300"/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02346FE4-5385-4FC7-9B20-55C7F8488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2452" name="Rectangle 3">
            <a:extLst>
              <a:ext uri="{FF2B5EF4-FFF2-40B4-BE49-F238E27FC236}">
                <a16:creationId xmlns:a16="http://schemas.microsoft.com/office/drawing/2014/main" id="{1352508F-8F10-4383-8290-ABCBC8DF0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B8CC7EB2-4CC8-407B-B709-E49CA85C32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8A01D85-8B29-474A-97D6-992788564959}" type="slidenum">
              <a:rPr lang="en-US" altLang="zh-TW" sz="1300"/>
              <a:pPr>
                <a:spcBef>
                  <a:spcPct val="0"/>
                </a:spcBef>
              </a:pPr>
              <a:t>111</a:t>
            </a:fld>
            <a:endParaRPr lang="en-US" altLang="zh-TW" sz="1300"/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B50A6352-1BE4-45D3-829D-ABF8F664C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EC5EDFAE-F380-4B71-B1F2-F378A77AB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F3F934AB-EF12-4985-A0CD-9F3912707F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652EC9D-B12B-4A8C-9D00-E2E7577D70E6}" type="slidenum">
              <a:rPr lang="en-US" altLang="zh-TW" sz="1300"/>
              <a:pPr>
                <a:spcBef>
                  <a:spcPct val="0"/>
                </a:spcBef>
              </a:pPr>
              <a:t>112</a:t>
            </a:fld>
            <a:endParaRPr lang="en-US" altLang="zh-TW" sz="1300"/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1E988B01-72A6-413A-9CB3-05A5056F5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5DE1B9C1-898A-4623-B79E-11F9F6287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>
            <a:extLst>
              <a:ext uri="{FF2B5EF4-FFF2-40B4-BE49-F238E27FC236}">
                <a16:creationId xmlns:a16="http://schemas.microsoft.com/office/drawing/2014/main" id="{AB3605DB-CC9C-4747-B959-71B0A5CEA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D54A794-FA13-4B92-A892-7FA19F00A349}" type="slidenum">
              <a:rPr lang="en-US" altLang="zh-TW" sz="1300"/>
              <a:pPr>
                <a:spcBef>
                  <a:spcPct val="0"/>
                </a:spcBef>
              </a:pPr>
              <a:t>113</a:t>
            </a:fld>
            <a:endParaRPr lang="en-US" altLang="zh-TW" sz="1300"/>
          </a:p>
        </p:txBody>
      </p:sp>
      <p:sp>
        <p:nvSpPr>
          <p:cNvPr id="238595" name="Rectangle 2">
            <a:extLst>
              <a:ext uri="{FF2B5EF4-FFF2-40B4-BE49-F238E27FC236}">
                <a16:creationId xmlns:a16="http://schemas.microsoft.com/office/drawing/2014/main" id="{B5C4E490-FE2C-4F76-8186-BB55C58A56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238596" name="Rectangle 3">
            <a:extLst>
              <a:ext uri="{FF2B5EF4-FFF2-40B4-BE49-F238E27FC236}">
                <a16:creationId xmlns:a16="http://schemas.microsoft.com/office/drawing/2014/main" id="{E2EEF007-96CC-40CA-9AA7-7A1D13991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>
            <a:extLst>
              <a:ext uri="{FF2B5EF4-FFF2-40B4-BE49-F238E27FC236}">
                <a16:creationId xmlns:a16="http://schemas.microsoft.com/office/drawing/2014/main" id="{12752340-A5EE-414F-BACD-88B8DEF41C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9489E2B-B5FC-4CF6-B91E-3F999DDF46BA}" type="slidenum">
              <a:rPr lang="en-US" altLang="zh-TW" sz="1300"/>
              <a:pPr>
                <a:spcBef>
                  <a:spcPct val="0"/>
                </a:spcBef>
              </a:pPr>
              <a:t>114</a:t>
            </a:fld>
            <a:endParaRPr lang="en-US" altLang="zh-TW" sz="1300"/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280965E7-71BA-4B20-B1E7-E881DB67E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240644" name="Rectangle 3">
            <a:extLst>
              <a:ext uri="{FF2B5EF4-FFF2-40B4-BE49-F238E27FC236}">
                <a16:creationId xmlns:a16="http://schemas.microsoft.com/office/drawing/2014/main" id="{6FC213D0-F473-4F28-A313-549B8F67C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>
            <a:extLst>
              <a:ext uri="{FF2B5EF4-FFF2-40B4-BE49-F238E27FC236}">
                <a16:creationId xmlns:a16="http://schemas.microsoft.com/office/drawing/2014/main" id="{DFD04E5B-98BC-4599-8A51-9C29D14E0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507CEA-91AF-4A68-B976-953BB63740DB}" type="slidenum">
              <a:rPr lang="en-US" altLang="zh-TW" sz="1300"/>
              <a:pPr>
                <a:spcBef>
                  <a:spcPct val="0"/>
                </a:spcBef>
              </a:pPr>
              <a:t>115</a:t>
            </a:fld>
            <a:endParaRPr lang="en-US" altLang="zh-TW" sz="1300"/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F0267190-786A-4D2D-8CDC-E7AB131839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ln/>
        </p:spPr>
      </p:sp>
      <p:sp>
        <p:nvSpPr>
          <p:cNvPr id="242692" name="Rectangle 3">
            <a:extLst>
              <a:ext uri="{FF2B5EF4-FFF2-40B4-BE49-F238E27FC236}">
                <a16:creationId xmlns:a16="http://schemas.microsoft.com/office/drawing/2014/main" id="{75447298-87B7-4C9B-99AD-0F18F299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>
            <a:extLst>
              <a:ext uri="{FF2B5EF4-FFF2-40B4-BE49-F238E27FC236}">
                <a16:creationId xmlns:a16="http://schemas.microsoft.com/office/drawing/2014/main" id="{B031D3E1-09C7-4282-B198-121DA65B8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C084F92-B29E-43C8-BACE-8BB0F5B25D16}" type="slidenum">
              <a:rPr lang="en-US" altLang="zh-TW" sz="1300"/>
              <a:pPr>
                <a:spcBef>
                  <a:spcPct val="0"/>
                </a:spcBef>
              </a:pPr>
              <a:t>116</a:t>
            </a:fld>
            <a:endParaRPr lang="en-US" altLang="zh-TW" sz="13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DA6C90FE-84D2-480B-A509-7BA7AECE5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4740" name="Rectangle 3">
            <a:extLst>
              <a:ext uri="{FF2B5EF4-FFF2-40B4-BE49-F238E27FC236}">
                <a16:creationId xmlns:a16="http://schemas.microsoft.com/office/drawing/2014/main" id="{0311DEFA-98C5-4532-ACBB-0F92F9399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>
            <a:extLst>
              <a:ext uri="{FF2B5EF4-FFF2-40B4-BE49-F238E27FC236}">
                <a16:creationId xmlns:a16="http://schemas.microsoft.com/office/drawing/2014/main" id="{77F19CAB-6F12-4FDD-89B9-1228C5ABC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FA7DC98-3561-4C41-858B-DE15DE32F6F3}" type="slidenum">
              <a:rPr lang="en-US" altLang="zh-TW" sz="1300"/>
              <a:pPr>
                <a:spcBef>
                  <a:spcPct val="0"/>
                </a:spcBef>
              </a:pPr>
              <a:t>117</a:t>
            </a:fld>
            <a:endParaRPr lang="en-US" altLang="zh-TW" sz="13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94ABF221-F0E8-4029-9976-F728C844D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6788" name="Rectangle 3">
            <a:extLst>
              <a:ext uri="{FF2B5EF4-FFF2-40B4-BE49-F238E27FC236}">
                <a16:creationId xmlns:a16="http://schemas.microsoft.com/office/drawing/2014/main" id="{55D72026-1542-4296-A4A5-915B91622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投影片圖像版面配置區 1">
            <a:extLst>
              <a:ext uri="{FF2B5EF4-FFF2-40B4-BE49-F238E27FC236}">
                <a16:creationId xmlns:a16="http://schemas.microsoft.com/office/drawing/2014/main" id="{A1BD2574-8FB4-47AA-AB58-F64BD5B362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備忘稿版面配置區 2">
            <a:extLst>
              <a:ext uri="{FF2B5EF4-FFF2-40B4-BE49-F238E27FC236}">
                <a16:creationId xmlns:a16="http://schemas.microsoft.com/office/drawing/2014/main" id="{642BE8DA-0653-429D-9E07-7010FBAF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8836" name="投影片編號版面配置區 3">
            <a:extLst>
              <a:ext uri="{FF2B5EF4-FFF2-40B4-BE49-F238E27FC236}">
                <a16:creationId xmlns:a16="http://schemas.microsoft.com/office/drawing/2014/main" id="{F1A982FA-505E-477E-B482-BEA278396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E49E299-6D85-4CD2-A102-29B0926A6BC0}" type="slidenum">
              <a:rPr lang="en-US" altLang="zh-TW" sz="1300"/>
              <a:pPr>
                <a:spcBef>
                  <a:spcPct val="0"/>
                </a:spcBef>
              </a:pPr>
              <a:t>118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投影片圖像版面配置區 1">
            <a:extLst>
              <a:ext uri="{FF2B5EF4-FFF2-40B4-BE49-F238E27FC236}">
                <a16:creationId xmlns:a16="http://schemas.microsoft.com/office/drawing/2014/main" id="{5D65DC4C-4545-44B4-8EA9-A8014FB69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備忘稿版面配置區 2">
            <a:extLst>
              <a:ext uri="{FF2B5EF4-FFF2-40B4-BE49-F238E27FC236}">
                <a16:creationId xmlns:a16="http://schemas.microsoft.com/office/drawing/2014/main" id="{56B5DC88-97D8-4C3D-994B-F2394DF6B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0884" name="投影片編號版面配置區 3">
            <a:extLst>
              <a:ext uri="{FF2B5EF4-FFF2-40B4-BE49-F238E27FC236}">
                <a16:creationId xmlns:a16="http://schemas.microsoft.com/office/drawing/2014/main" id="{69503607-84E5-41F9-98B5-357AD6629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CB6559F-9CD9-4B8D-9D4F-0DAD48AE7D6C}" type="slidenum">
              <a:rPr lang="en-US" altLang="zh-TW" sz="1300"/>
              <a:pPr>
                <a:spcBef>
                  <a:spcPct val="0"/>
                </a:spcBef>
              </a:pPr>
              <a:t>119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>
            <a:extLst>
              <a:ext uri="{FF2B5EF4-FFF2-40B4-BE49-F238E27FC236}">
                <a16:creationId xmlns:a16="http://schemas.microsoft.com/office/drawing/2014/main" id="{97EDBC54-D82B-471B-A82E-D290B4838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A622E45-53FF-4CB4-B405-0475343660A3}" type="slidenum">
              <a:rPr lang="en-US" altLang="zh-TW" sz="1300"/>
              <a:pPr>
                <a:spcBef>
                  <a:spcPct val="0"/>
                </a:spcBef>
              </a:pPr>
              <a:t>120</a:t>
            </a:fld>
            <a:endParaRPr lang="en-US" altLang="zh-TW" sz="1300"/>
          </a:p>
        </p:txBody>
      </p:sp>
      <p:sp>
        <p:nvSpPr>
          <p:cNvPr id="252931" name="Rectangle 2">
            <a:extLst>
              <a:ext uri="{FF2B5EF4-FFF2-40B4-BE49-F238E27FC236}">
                <a16:creationId xmlns:a16="http://schemas.microsoft.com/office/drawing/2014/main" id="{83E25301-604A-4962-8227-A4C071B6B3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52932" name="Rectangle 3">
            <a:extLst>
              <a:ext uri="{FF2B5EF4-FFF2-40B4-BE49-F238E27FC236}">
                <a16:creationId xmlns:a16="http://schemas.microsoft.com/office/drawing/2014/main" id="{6753564D-531A-46DE-8D01-31A2DD3B3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>
            <a:extLst>
              <a:ext uri="{FF2B5EF4-FFF2-40B4-BE49-F238E27FC236}">
                <a16:creationId xmlns:a16="http://schemas.microsoft.com/office/drawing/2014/main" id="{9221E7BE-E618-4BED-99C0-44606026D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FECE355-014A-47F4-B87D-374230DD05FF}" type="slidenum">
              <a:rPr lang="en-US" altLang="zh-TW" sz="1300"/>
              <a:pPr>
                <a:spcBef>
                  <a:spcPct val="0"/>
                </a:spcBef>
              </a:pPr>
              <a:t>121</a:t>
            </a:fld>
            <a:endParaRPr lang="en-US" altLang="zh-TW" sz="1300"/>
          </a:p>
        </p:txBody>
      </p:sp>
      <p:sp>
        <p:nvSpPr>
          <p:cNvPr id="254979" name="Rectangle 2">
            <a:extLst>
              <a:ext uri="{FF2B5EF4-FFF2-40B4-BE49-F238E27FC236}">
                <a16:creationId xmlns:a16="http://schemas.microsoft.com/office/drawing/2014/main" id="{F9A54F85-5CA0-4DD3-B697-7F633BCA3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>
            <a:extLst>
              <a:ext uri="{FF2B5EF4-FFF2-40B4-BE49-F238E27FC236}">
                <a16:creationId xmlns:a16="http://schemas.microsoft.com/office/drawing/2014/main" id="{B1FFBBC0-C3A5-4BFE-8627-1A3A39ACD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/>
              <a:t>此</a:t>
            </a:r>
            <a:r>
              <a:rPr kumimoji="0" lang="en-US" altLang="zh-TW"/>
              <a:t>SLIDE</a:t>
            </a:r>
            <a:r>
              <a:rPr kumimoji="0" lang="zh-TW" altLang="en-US"/>
              <a:t>是關於 </a:t>
            </a:r>
            <a:r>
              <a:rPr lang="en-US" altLang="zh-TW"/>
              <a:t>model checking Framework.</a:t>
            </a:r>
          </a:p>
          <a:p>
            <a:pPr eaLnBrk="1" hangingPunct="1"/>
            <a:r>
              <a:rPr lang="zh-TW" altLang="en-US"/>
              <a:t>一開始我們會建立一個模型 並且 撰寫 一些 利用 </a:t>
            </a:r>
            <a:r>
              <a:rPr lang="en-US" altLang="zh-TW"/>
              <a:t>temporal logic formula </a:t>
            </a:r>
            <a:r>
              <a:rPr lang="zh-TW" altLang="en-US"/>
              <a:t>寫成的 </a:t>
            </a:r>
            <a:r>
              <a:rPr lang="en-US" altLang="zh-TW"/>
              <a:t>properties.</a:t>
            </a:r>
          </a:p>
          <a:p>
            <a:pPr eaLnBrk="1" hangingPunct="1"/>
            <a:r>
              <a:rPr lang="zh-TW" altLang="en-US"/>
              <a:t>然後</a:t>
            </a:r>
            <a:r>
              <a:rPr lang="en-US" altLang="zh-TW"/>
              <a:t>, </a:t>
            </a:r>
            <a:r>
              <a:rPr lang="zh-TW" altLang="en-US"/>
              <a:t>我們會把這些 </a:t>
            </a:r>
            <a:r>
              <a:rPr lang="en-US" altLang="zh-TW"/>
              <a:t>properties </a:t>
            </a:r>
            <a:r>
              <a:rPr lang="zh-TW" altLang="en-US"/>
              <a:t>輸入到 </a:t>
            </a:r>
            <a:r>
              <a:rPr lang="en-US" altLang="zh-TW"/>
              <a:t>model checker</a:t>
            </a:r>
            <a:r>
              <a:rPr lang="zh-TW" altLang="en-US"/>
              <a:t>中</a:t>
            </a:r>
            <a:r>
              <a:rPr lang="en-US" altLang="zh-TW"/>
              <a:t>, </a:t>
            </a:r>
            <a:r>
              <a:rPr lang="zh-TW" altLang="en-US"/>
              <a:t>最後會產生報告說是否和規格有產生反例</a:t>
            </a:r>
            <a:r>
              <a:rPr lang="en-US" altLang="zh-TW"/>
              <a:t>.</a:t>
            </a: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>
            <a:extLst>
              <a:ext uri="{FF2B5EF4-FFF2-40B4-BE49-F238E27FC236}">
                <a16:creationId xmlns:a16="http://schemas.microsoft.com/office/drawing/2014/main" id="{5DE6D991-E3ED-43AE-B337-11AEF85A9E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3BB366-4999-4BEE-B624-B16897502262}" type="slidenum">
              <a:rPr lang="en-US" altLang="zh-TW" sz="1300"/>
              <a:pPr>
                <a:spcBef>
                  <a:spcPct val="0"/>
                </a:spcBef>
              </a:pPr>
              <a:t>122</a:t>
            </a:fld>
            <a:endParaRPr lang="en-US" altLang="zh-TW" sz="1300"/>
          </a:p>
        </p:txBody>
      </p:sp>
      <p:sp>
        <p:nvSpPr>
          <p:cNvPr id="257027" name="Rectangle 2">
            <a:extLst>
              <a:ext uri="{FF2B5EF4-FFF2-40B4-BE49-F238E27FC236}">
                <a16:creationId xmlns:a16="http://schemas.microsoft.com/office/drawing/2014/main" id="{78BF9040-ED6D-4452-9F8A-E6C2FFDAC7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57028" name="Rectangle 3">
            <a:extLst>
              <a:ext uri="{FF2B5EF4-FFF2-40B4-BE49-F238E27FC236}">
                <a16:creationId xmlns:a16="http://schemas.microsoft.com/office/drawing/2014/main" id="{ADF51A2E-A47A-4BEF-9F7D-C267B935C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>
            <a:extLst>
              <a:ext uri="{FF2B5EF4-FFF2-40B4-BE49-F238E27FC236}">
                <a16:creationId xmlns:a16="http://schemas.microsoft.com/office/drawing/2014/main" id="{F9AF6D46-E64A-413C-BC2D-CC8A54AC40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DED34A1-8BEC-4D0C-A806-688F8E32F2BE}" type="slidenum">
              <a:rPr lang="en-US" altLang="zh-TW" sz="1300"/>
              <a:pPr>
                <a:spcBef>
                  <a:spcPct val="0"/>
                </a:spcBef>
              </a:pPr>
              <a:t>123</a:t>
            </a:fld>
            <a:endParaRPr lang="en-US" altLang="zh-TW" sz="1300"/>
          </a:p>
        </p:txBody>
      </p:sp>
      <p:sp>
        <p:nvSpPr>
          <p:cNvPr id="259075" name="Rectangle 2">
            <a:extLst>
              <a:ext uri="{FF2B5EF4-FFF2-40B4-BE49-F238E27FC236}">
                <a16:creationId xmlns:a16="http://schemas.microsoft.com/office/drawing/2014/main" id="{C7AE4021-26D2-48D0-975E-81036F749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59076" name="Rectangle 3">
            <a:extLst>
              <a:ext uri="{FF2B5EF4-FFF2-40B4-BE49-F238E27FC236}">
                <a16:creationId xmlns:a16="http://schemas.microsoft.com/office/drawing/2014/main" id="{367B0874-AB8E-4BB8-836B-DB4608A506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>
            <a:extLst>
              <a:ext uri="{FF2B5EF4-FFF2-40B4-BE49-F238E27FC236}">
                <a16:creationId xmlns:a16="http://schemas.microsoft.com/office/drawing/2014/main" id="{9FCB5004-FADF-4BCD-8083-0F65F98335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3CE1A62-C7AA-46E5-ABCF-4FD59C6EC277}" type="slidenum">
              <a:rPr lang="en-US" altLang="zh-TW" sz="1300"/>
              <a:pPr>
                <a:spcBef>
                  <a:spcPct val="0"/>
                </a:spcBef>
              </a:pPr>
              <a:t>124</a:t>
            </a:fld>
            <a:endParaRPr lang="en-US" altLang="zh-TW" sz="1300"/>
          </a:p>
        </p:txBody>
      </p:sp>
      <p:sp>
        <p:nvSpPr>
          <p:cNvPr id="261123" name="Rectangle 2">
            <a:extLst>
              <a:ext uri="{FF2B5EF4-FFF2-40B4-BE49-F238E27FC236}">
                <a16:creationId xmlns:a16="http://schemas.microsoft.com/office/drawing/2014/main" id="{6E34B0A3-3908-4CB6-B689-6C1D29C12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61124" name="Rectangle 3">
            <a:extLst>
              <a:ext uri="{FF2B5EF4-FFF2-40B4-BE49-F238E27FC236}">
                <a16:creationId xmlns:a16="http://schemas.microsoft.com/office/drawing/2014/main" id="{460282CA-685E-4515-A227-3F4B8FE7B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>
            <a:extLst>
              <a:ext uri="{FF2B5EF4-FFF2-40B4-BE49-F238E27FC236}">
                <a16:creationId xmlns:a16="http://schemas.microsoft.com/office/drawing/2014/main" id="{8902F6C5-9D1E-4BB9-B34D-528BE0027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C62B894-54EE-4393-A205-741E18DFF19B}" type="slidenum">
              <a:rPr lang="en-US" altLang="zh-TW" sz="1300"/>
              <a:pPr>
                <a:spcBef>
                  <a:spcPct val="0"/>
                </a:spcBef>
              </a:pPr>
              <a:t>125</a:t>
            </a:fld>
            <a:endParaRPr lang="en-US" altLang="zh-TW" sz="1300"/>
          </a:p>
        </p:txBody>
      </p:sp>
      <p:sp>
        <p:nvSpPr>
          <p:cNvPr id="263171" name="Rectangle 2">
            <a:extLst>
              <a:ext uri="{FF2B5EF4-FFF2-40B4-BE49-F238E27FC236}">
                <a16:creationId xmlns:a16="http://schemas.microsoft.com/office/drawing/2014/main" id="{79CFB360-3624-4C36-8B43-52BC598112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63172" name="Rectangle 3">
            <a:extLst>
              <a:ext uri="{FF2B5EF4-FFF2-40B4-BE49-F238E27FC236}">
                <a16:creationId xmlns:a16="http://schemas.microsoft.com/office/drawing/2014/main" id="{B3C9B991-B063-41D2-8788-0794247F9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>
            <a:extLst>
              <a:ext uri="{FF2B5EF4-FFF2-40B4-BE49-F238E27FC236}">
                <a16:creationId xmlns:a16="http://schemas.microsoft.com/office/drawing/2014/main" id="{AE875A13-0889-4772-B5F1-DAF9B0DD0A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74088F0-9CE9-4D49-8C7F-A268A84BBE57}" type="slidenum">
              <a:rPr lang="en-US" altLang="zh-TW" sz="1300"/>
              <a:pPr>
                <a:spcBef>
                  <a:spcPct val="0"/>
                </a:spcBef>
              </a:pPr>
              <a:t>126</a:t>
            </a:fld>
            <a:endParaRPr lang="en-US" altLang="zh-TW" sz="1300"/>
          </a:p>
        </p:txBody>
      </p:sp>
      <p:sp>
        <p:nvSpPr>
          <p:cNvPr id="265219" name="Rectangle 2">
            <a:extLst>
              <a:ext uri="{FF2B5EF4-FFF2-40B4-BE49-F238E27FC236}">
                <a16:creationId xmlns:a16="http://schemas.microsoft.com/office/drawing/2014/main" id="{6E256D27-5CC9-4727-B711-16CA135F6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65220" name="Rectangle 3">
            <a:extLst>
              <a:ext uri="{FF2B5EF4-FFF2-40B4-BE49-F238E27FC236}">
                <a16:creationId xmlns:a16="http://schemas.microsoft.com/office/drawing/2014/main" id="{FF3C80C7-B1E2-4637-B919-726E7003F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>
            <a:extLst>
              <a:ext uri="{FF2B5EF4-FFF2-40B4-BE49-F238E27FC236}">
                <a16:creationId xmlns:a16="http://schemas.microsoft.com/office/drawing/2014/main" id="{1A25003A-EFD6-4556-8588-2991F7A9A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8B31397-4564-4060-977D-DDE75968F1D2}" type="slidenum">
              <a:rPr lang="en-US" altLang="zh-TW" sz="1300"/>
              <a:pPr>
                <a:spcBef>
                  <a:spcPct val="0"/>
                </a:spcBef>
              </a:pPr>
              <a:t>127</a:t>
            </a:fld>
            <a:endParaRPr lang="en-US" altLang="zh-TW" sz="1300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9D20BE35-DF32-4321-8771-9679E037E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BF1B8E6E-F2EC-48B8-8EF2-A670231F7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>
            <a:extLst>
              <a:ext uri="{FF2B5EF4-FFF2-40B4-BE49-F238E27FC236}">
                <a16:creationId xmlns:a16="http://schemas.microsoft.com/office/drawing/2014/main" id="{1D2AEDC2-48E6-487D-9A79-C3F646D6FD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985B565-8054-4A6B-BDF7-BB59A51994CA}" type="slidenum">
              <a:rPr lang="en-US" altLang="zh-TW" sz="1300"/>
              <a:pPr>
                <a:spcBef>
                  <a:spcPct val="0"/>
                </a:spcBef>
              </a:pPr>
              <a:t>128</a:t>
            </a:fld>
            <a:endParaRPr lang="en-US" altLang="zh-TW" sz="1300"/>
          </a:p>
        </p:txBody>
      </p:sp>
      <p:sp>
        <p:nvSpPr>
          <p:cNvPr id="269315" name="Rectangle 2">
            <a:extLst>
              <a:ext uri="{FF2B5EF4-FFF2-40B4-BE49-F238E27FC236}">
                <a16:creationId xmlns:a16="http://schemas.microsoft.com/office/drawing/2014/main" id="{DEA037DD-E9DF-4E69-952F-72DEE9441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69316" name="Rectangle 3">
            <a:extLst>
              <a:ext uri="{FF2B5EF4-FFF2-40B4-BE49-F238E27FC236}">
                <a16:creationId xmlns:a16="http://schemas.microsoft.com/office/drawing/2014/main" id="{84943DE5-D046-43D0-8C90-6551F1C16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>
            <a:extLst>
              <a:ext uri="{FF2B5EF4-FFF2-40B4-BE49-F238E27FC236}">
                <a16:creationId xmlns:a16="http://schemas.microsoft.com/office/drawing/2014/main" id="{AE7F8E2D-5C86-443A-B307-EF7AF1063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3A92B2A-3786-47E1-B13D-12B50A66300A}" type="slidenum">
              <a:rPr lang="en-US" altLang="zh-TW" sz="1300"/>
              <a:pPr>
                <a:spcBef>
                  <a:spcPct val="0"/>
                </a:spcBef>
              </a:pPr>
              <a:t>129</a:t>
            </a:fld>
            <a:endParaRPr lang="en-US" altLang="zh-TW" sz="1300"/>
          </a:p>
        </p:txBody>
      </p:sp>
      <p:sp>
        <p:nvSpPr>
          <p:cNvPr id="271363" name="Rectangle 2">
            <a:extLst>
              <a:ext uri="{FF2B5EF4-FFF2-40B4-BE49-F238E27FC236}">
                <a16:creationId xmlns:a16="http://schemas.microsoft.com/office/drawing/2014/main" id="{A72D88E0-81D0-42B5-B015-8CF0A9C245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71364" name="Rectangle 3">
            <a:extLst>
              <a:ext uri="{FF2B5EF4-FFF2-40B4-BE49-F238E27FC236}">
                <a16:creationId xmlns:a16="http://schemas.microsoft.com/office/drawing/2014/main" id="{294D394E-52F5-46E4-9720-45DE05781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>
            <a:extLst>
              <a:ext uri="{FF2B5EF4-FFF2-40B4-BE49-F238E27FC236}">
                <a16:creationId xmlns:a16="http://schemas.microsoft.com/office/drawing/2014/main" id="{FA599C3A-79A8-4DDE-9FCA-A22E80D996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58E9AE7-2C6C-4C54-9103-D4247423223E}" type="slidenum">
              <a:rPr lang="en-US" altLang="zh-TW" sz="1300"/>
              <a:pPr>
                <a:spcBef>
                  <a:spcPct val="0"/>
                </a:spcBef>
              </a:pPr>
              <a:t>130</a:t>
            </a:fld>
            <a:endParaRPr lang="en-US" altLang="zh-TW" sz="1300"/>
          </a:p>
        </p:txBody>
      </p:sp>
      <p:sp>
        <p:nvSpPr>
          <p:cNvPr id="273411" name="Rectangle 2">
            <a:extLst>
              <a:ext uri="{FF2B5EF4-FFF2-40B4-BE49-F238E27FC236}">
                <a16:creationId xmlns:a16="http://schemas.microsoft.com/office/drawing/2014/main" id="{923E8DF1-093E-4A1A-B910-44E1DB6A9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73412" name="Rectangle 3">
            <a:extLst>
              <a:ext uri="{FF2B5EF4-FFF2-40B4-BE49-F238E27FC236}">
                <a16:creationId xmlns:a16="http://schemas.microsoft.com/office/drawing/2014/main" id="{EF894D2A-1111-4B83-A78F-92C642218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>
            <a:extLst>
              <a:ext uri="{FF2B5EF4-FFF2-40B4-BE49-F238E27FC236}">
                <a16:creationId xmlns:a16="http://schemas.microsoft.com/office/drawing/2014/main" id="{2EA8D45D-53F7-462D-85C3-182C24497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AB162E5-C2FA-4C45-80DB-9EBA2D6880B4}" type="slidenum">
              <a:rPr lang="en-US" altLang="zh-TW" sz="1300"/>
              <a:pPr>
                <a:spcBef>
                  <a:spcPct val="0"/>
                </a:spcBef>
              </a:pPr>
              <a:t>131</a:t>
            </a:fld>
            <a:endParaRPr lang="en-US" altLang="zh-TW" sz="1300"/>
          </a:p>
        </p:txBody>
      </p:sp>
      <p:sp>
        <p:nvSpPr>
          <p:cNvPr id="275459" name="Rectangle 2">
            <a:extLst>
              <a:ext uri="{FF2B5EF4-FFF2-40B4-BE49-F238E27FC236}">
                <a16:creationId xmlns:a16="http://schemas.microsoft.com/office/drawing/2014/main" id="{080D4DAF-DC65-4FBF-A321-DD0862893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75460" name="Rectangle 3">
            <a:extLst>
              <a:ext uri="{FF2B5EF4-FFF2-40B4-BE49-F238E27FC236}">
                <a16:creationId xmlns:a16="http://schemas.microsoft.com/office/drawing/2014/main" id="{70688229-6CE7-4551-AA8F-4FE5C4362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>
            <a:extLst>
              <a:ext uri="{FF2B5EF4-FFF2-40B4-BE49-F238E27FC236}">
                <a16:creationId xmlns:a16="http://schemas.microsoft.com/office/drawing/2014/main" id="{F7D5E284-B441-41A0-9A5E-D886F539D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E265D7-6C2E-4A66-9750-0D0F2323063D}" type="slidenum">
              <a:rPr lang="en-US" altLang="zh-TW" sz="1300"/>
              <a:pPr>
                <a:spcBef>
                  <a:spcPct val="0"/>
                </a:spcBef>
              </a:pPr>
              <a:t>132</a:t>
            </a:fld>
            <a:endParaRPr lang="en-US" altLang="zh-TW" sz="1300"/>
          </a:p>
        </p:txBody>
      </p:sp>
      <p:sp>
        <p:nvSpPr>
          <p:cNvPr id="277507" name="Rectangle 2">
            <a:extLst>
              <a:ext uri="{FF2B5EF4-FFF2-40B4-BE49-F238E27FC236}">
                <a16:creationId xmlns:a16="http://schemas.microsoft.com/office/drawing/2014/main" id="{240753AF-CBC5-4A1F-B21A-AE003D150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77508" name="Rectangle 3">
            <a:extLst>
              <a:ext uri="{FF2B5EF4-FFF2-40B4-BE49-F238E27FC236}">
                <a16:creationId xmlns:a16="http://schemas.microsoft.com/office/drawing/2014/main" id="{0DE70B95-9F87-4148-A92B-493F7AFC7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7">
            <a:extLst>
              <a:ext uri="{FF2B5EF4-FFF2-40B4-BE49-F238E27FC236}">
                <a16:creationId xmlns:a16="http://schemas.microsoft.com/office/drawing/2014/main" id="{1366421D-67C3-4464-9E6E-642C5CD2CB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2ABDFEB-32C8-4CD1-B7EA-EB6C77CE7FB0}" type="slidenum">
              <a:rPr lang="en-US" altLang="zh-TW" sz="1300"/>
              <a:pPr>
                <a:spcBef>
                  <a:spcPct val="0"/>
                </a:spcBef>
              </a:pPr>
              <a:t>133</a:t>
            </a:fld>
            <a:endParaRPr lang="en-US" altLang="zh-TW" sz="1300"/>
          </a:p>
        </p:txBody>
      </p:sp>
      <p:sp>
        <p:nvSpPr>
          <p:cNvPr id="279555" name="Rectangle 2">
            <a:extLst>
              <a:ext uri="{FF2B5EF4-FFF2-40B4-BE49-F238E27FC236}">
                <a16:creationId xmlns:a16="http://schemas.microsoft.com/office/drawing/2014/main" id="{031D6429-71B5-40E6-8F1A-3C233965BD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79556" name="Rectangle 3">
            <a:extLst>
              <a:ext uri="{FF2B5EF4-FFF2-40B4-BE49-F238E27FC236}">
                <a16:creationId xmlns:a16="http://schemas.microsoft.com/office/drawing/2014/main" id="{6B98CB87-CB53-4663-BD78-D4900CEBD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7">
            <a:extLst>
              <a:ext uri="{FF2B5EF4-FFF2-40B4-BE49-F238E27FC236}">
                <a16:creationId xmlns:a16="http://schemas.microsoft.com/office/drawing/2014/main" id="{517D8E88-EA15-430E-803C-24F020D73B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D19844-48E6-46DC-9D5C-52E7CA9E981F}" type="slidenum">
              <a:rPr lang="en-US" altLang="zh-TW" sz="1300"/>
              <a:pPr>
                <a:spcBef>
                  <a:spcPct val="0"/>
                </a:spcBef>
              </a:pPr>
              <a:t>134</a:t>
            </a:fld>
            <a:endParaRPr lang="en-US" altLang="zh-TW" sz="1300"/>
          </a:p>
        </p:txBody>
      </p:sp>
      <p:sp>
        <p:nvSpPr>
          <p:cNvPr id="281603" name="Rectangle 2">
            <a:extLst>
              <a:ext uri="{FF2B5EF4-FFF2-40B4-BE49-F238E27FC236}">
                <a16:creationId xmlns:a16="http://schemas.microsoft.com/office/drawing/2014/main" id="{599ACC91-849A-4DCA-B0AC-B30D229DBA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81604" name="Rectangle 3">
            <a:extLst>
              <a:ext uri="{FF2B5EF4-FFF2-40B4-BE49-F238E27FC236}">
                <a16:creationId xmlns:a16="http://schemas.microsoft.com/office/drawing/2014/main" id="{ECDB274C-70B3-4768-BDB5-A28DA7505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7">
            <a:extLst>
              <a:ext uri="{FF2B5EF4-FFF2-40B4-BE49-F238E27FC236}">
                <a16:creationId xmlns:a16="http://schemas.microsoft.com/office/drawing/2014/main" id="{4D020368-560B-4C4A-8C65-C92634A37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CCDD551-7AED-44FE-82F3-C72070E0D284}" type="slidenum">
              <a:rPr lang="en-US" altLang="zh-TW" sz="1300"/>
              <a:pPr>
                <a:spcBef>
                  <a:spcPct val="0"/>
                </a:spcBef>
              </a:pPr>
              <a:t>135</a:t>
            </a:fld>
            <a:endParaRPr lang="en-US" altLang="zh-TW" sz="1300"/>
          </a:p>
        </p:txBody>
      </p:sp>
      <p:sp>
        <p:nvSpPr>
          <p:cNvPr id="283651" name="Rectangle 2">
            <a:extLst>
              <a:ext uri="{FF2B5EF4-FFF2-40B4-BE49-F238E27FC236}">
                <a16:creationId xmlns:a16="http://schemas.microsoft.com/office/drawing/2014/main" id="{CEBED261-37FF-44A7-B4DE-42A263FC51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83652" name="Rectangle 3">
            <a:extLst>
              <a:ext uri="{FF2B5EF4-FFF2-40B4-BE49-F238E27FC236}">
                <a16:creationId xmlns:a16="http://schemas.microsoft.com/office/drawing/2014/main" id="{5373984E-DDF5-4D2B-A853-A1E9FB3A3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7">
            <a:extLst>
              <a:ext uri="{FF2B5EF4-FFF2-40B4-BE49-F238E27FC236}">
                <a16:creationId xmlns:a16="http://schemas.microsoft.com/office/drawing/2014/main" id="{18AD2572-710D-4504-8A09-BF45A78C30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4BA503E-F600-4064-8E67-F4362AE8A6FE}" type="slidenum">
              <a:rPr lang="en-US" altLang="zh-TW" sz="1300"/>
              <a:pPr>
                <a:spcBef>
                  <a:spcPct val="0"/>
                </a:spcBef>
              </a:pPr>
              <a:t>136</a:t>
            </a:fld>
            <a:endParaRPr lang="en-US" altLang="zh-TW" sz="1300"/>
          </a:p>
        </p:txBody>
      </p:sp>
      <p:sp>
        <p:nvSpPr>
          <p:cNvPr id="285699" name="Rectangle 2">
            <a:extLst>
              <a:ext uri="{FF2B5EF4-FFF2-40B4-BE49-F238E27FC236}">
                <a16:creationId xmlns:a16="http://schemas.microsoft.com/office/drawing/2014/main" id="{1B1C2A64-B860-4C19-AA30-06F5279F2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85700" name="Rectangle 3">
            <a:extLst>
              <a:ext uri="{FF2B5EF4-FFF2-40B4-BE49-F238E27FC236}">
                <a16:creationId xmlns:a16="http://schemas.microsoft.com/office/drawing/2014/main" id="{5A8F8DA1-B863-4FF1-A36A-FF25D9BB7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7">
            <a:extLst>
              <a:ext uri="{FF2B5EF4-FFF2-40B4-BE49-F238E27FC236}">
                <a16:creationId xmlns:a16="http://schemas.microsoft.com/office/drawing/2014/main" id="{E23AD53A-35D4-4F01-9FC3-485622F5B7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BB2E5BE-967A-463E-9A4C-84AB2E38D36A}" type="slidenum">
              <a:rPr lang="en-US" altLang="zh-TW" sz="1300"/>
              <a:pPr>
                <a:spcBef>
                  <a:spcPct val="0"/>
                </a:spcBef>
              </a:pPr>
              <a:t>137</a:t>
            </a:fld>
            <a:endParaRPr lang="en-US" altLang="zh-TW" sz="1300"/>
          </a:p>
        </p:txBody>
      </p:sp>
      <p:sp>
        <p:nvSpPr>
          <p:cNvPr id="287747" name="Rectangle 2">
            <a:extLst>
              <a:ext uri="{FF2B5EF4-FFF2-40B4-BE49-F238E27FC236}">
                <a16:creationId xmlns:a16="http://schemas.microsoft.com/office/drawing/2014/main" id="{191CA673-8C88-4E85-9B4B-CA5B57C9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/>
          </a:p>
        </p:txBody>
      </p:sp>
      <p:sp>
        <p:nvSpPr>
          <p:cNvPr id="287748" name="Rectangle 3">
            <a:extLst>
              <a:ext uri="{FF2B5EF4-FFF2-40B4-BE49-F238E27FC236}">
                <a16:creationId xmlns:a16="http://schemas.microsoft.com/office/drawing/2014/main" id="{DCBB6994-0299-4CC5-8EA5-0CA2CB59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770" tIns="0" rIns="19770" bIns="0" anchor="b"/>
          <a:lstStyle>
            <a:lvl1pPr defTabSz="9493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493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493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493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493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spcBef>
                <a:spcPct val="0"/>
              </a:spcBef>
            </a:pPr>
            <a:r>
              <a:rPr kumimoji="0" lang="en-US" altLang="zh-TW" sz="1000" i="1">
                <a:latin typeface="Times New Roman" panose="02020603050405020304" pitchFamily="18" charset="0"/>
                <a:ea typeface="Times New Roman (Hebrew)"/>
                <a:cs typeface="Times New Roman (Hebrew)"/>
              </a:rPr>
              <a:t>20</a:t>
            </a:r>
          </a:p>
        </p:txBody>
      </p:sp>
      <p:sp>
        <p:nvSpPr>
          <p:cNvPr id="287749" name="Rectangle 4">
            <a:extLst>
              <a:ext uri="{FF2B5EF4-FFF2-40B4-BE49-F238E27FC236}">
                <a16:creationId xmlns:a16="http://schemas.microsoft.com/office/drawing/2014/main" id="{4F00D216-72DE-494D-A2C6-6B848F26F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/>
          </a:p>
        </p:txBody>
      </p:sp>
      <p:sp>
        <p:nvSpPr>
          <p:cNvPr id="287750" name="Rectangle 5">
            <a:extLst>
              <a:ext uri="{FF2B5EF4-FFF2-40B4-BE49-F238E27FC236}">
                <a16:creationId xmlns:a16="http://schemas.microsoft.com/office/drawing/2014/main" id="{55FA0310-6F0C-4A81-96AB-099BC5E32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/>
          </a:p>
        </p:txBody>
      </p:sp>
      <p:sp>
        <p:nvSpPr>
          <p:cNvPr id="287751" name="Rectangle 6">
            <a:extLst>
              <a:ext uri="{FF2B5EF4-FFF2-40B4-BE49-F238E27FC236}">
                <a16:creationId xmlns:a16="http://schemas.microsoft.com/office/drawing/2014/main" id="{8BA0B39A-A132-44F8-B567-CE250A9AA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1713" y="774700"/>
            <a:ext cx="5097462" cy="3822700"/>
          </a:xfrm>
          <a:ln w="12700" cap="flat">
            <a:solidFill>
              <a:schemeClr val="tx1"/>
            </a:solidFill>
          </a:ln>
        </p:spPr>
      </p:sp>
      <p:sp>
        <p:nvSpPr>
          <p:cNvPr id="287752" name="Rectangle 7">
            <a:extLst>
              <a:ext uri="{FF2B5EF4-FFF2-40B4-BE49-F238E27FC236}">
                <a16:creationId xmlns:a16="http://schemas.microsoft.com/office/drawing/2014/main" id="{F07CB178-7826-4810-A19C-706E9E6EE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2513"/>
            <a:ext cx="520382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54" tIns="47777" rIns="95554" bIns="47777"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7">
            <a:extLst>
              <a:ext uri="{FF2B5EF4-FFF2-40B4-BE49-F238E27FC236}">
                <a16:creationId xmlns:a16="http://schemas.microsoft.com/office/drawing/2014/main" id="{2D929B50-41E8-47C0-9445-13AC8F8B7B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01963DD-4294-48E4-A5C1-9B0706AE4BFF}" type="slidenum">
              <a:rPr lang="en-US" altLang="zh-TW" sz="1300"/>
              <a:pPr>
                <a:spcBef>
                  <a:spcPct val="0"/>
                </a:spcBef>
              </a:pPr>
              <a:t>138</a:t>
            </a:fld>
            <a:endParaRPr lang="en-US" altLang="zh-TW" sz="1300"/>
          </a:p>
        </p:txBody>
      </p:sp>
      <p:sp>
        <p:nvSpPr>
          <p:cNvPr id="289795" name="Rectangle 2">
            <a:extLst>
              <a:ext uri="{FF2B5EF4-FFF2-40B4-BE49-F238E27FC236}">
                <a16:creationId xmlns:a16="http://schemas.microsoft.com/office/drawing/2014/main" id="{0FDD21BF-2C5E-4BB9-9DA5-4DB4E8968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89796" name="Rectangle 3">
            <a:extLst>
              <a:ext uri="{FF2B5EF4-FFF2-40B4-BE49-F238E27FC236}">
                <a16:creationId xmlns:a16="http://schemas.microsoft.com/office/drawing/2014/main" id="{FE780E2E-5809-40DC-BFF2-8D7612992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>
            <a:extLst>
              <a:ext uri="{FF2B5EF4-FFF2-40B4-BE49-F238E27FC236}">
                <a16:creationId xmlns:a16="http://schemas.microsoft.com/office/drawing/2014/main" id="{665F560D-1A27-4914-98F1-35BD47AEFB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84D96D-501C-4C99-8855-7C6FA081F6CF}" type="slidenum">
              <a:rPr lang="en-US" altLang="zh-TW" sz="1300"/>
              <a:pPr>
                <a:spcBef>
                  <a:spcPct val="0"/>
                </a:spcBef>
              </a:pPr>
              <a:t>139</a:t>
            </a:fld>
            <a:endParaRPr lang="en-US" altLang="zh-TW" sz="1300"/>
          </a:p>
        </p:txBody>
      </p:sp>
      <p:sp>
        <p:nvSpPr>
          <p:cNvPr id="291843" name="Rectangle 2">
            <a:extLst>
              <a:ext uri="{FF2B5EF4-FFF2-40B4-BE49-F238E27FC236}">
                <a16:creationId xmlns:a16="http://schemas.microsoft.com/office/drawing/2014/main" id="{AF00832F-08D7-4F29-8483-F5C43C9D79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91844" name="Rectangle 3">
            <a:extLst>
              <a:ext uri="{FF2B5EF4-FFF2-40B4-BE49-F238E27FC236}">
                <a16:creationId xmlns:a16="http://schemas.microsoft.com/office/drawing/2014/main" id="{2DA8DEFA-D31E-43C6-99E2-6A502E2F2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投影片圖像版面配置區 1">
            <a:extLst>
              <a:ext uri="{FF2B5EF4-FFF2-40B4-BE49-F238E27FC236}">
                <a16:creationId xmlns:a16="http://schemas.microsoft.com/office/drawing/2014/main" id="{0288FABB-F0E1-4452-9350-F9B989DACD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備忘稿版面配置區 2">
            <a:extLst>
              <a:ext uri="{FF2B5EF4-FFF2-40B4-BE49-F238E27FC236}">
                <a16:creationId xmlns:a16="http://schemas.microsoft.com/office/drawing/2014/main" id="{B89F34B2-7ACC-42EF-A435-86014F1B2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293892" name="投影片編號版面配置區 3">
            <a:extLst>
              <a:ext uri="{FF2B5EF4-FFF2-40B4-BE49-F238E27FC236}">
                <a16:creationId xmlns:a16="http://schemas.microsoft.com/office/drawing/2014/main" id="{D9BFE6B2-1B42-40CD-8C26-83F92508C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351451B-C3E4-4E07-A5D6-751DA494AA52}" type="slidenum">
              <a:rPr lang="en-US" altLang="zh-TW" sz="1300"/>
              <a:pPr>
                <a:spcBef>
                  <a:spcPct val="0"/>
                </a:spcBef>
              </a:pPr>
              <a:t>140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>
            <a:extLst>
              <a:ext uri="{FF2B5EF4-FFF2-40B4-BE49-F238E27FC236}">
                <a16:creationId xmlns:a16="http://schemas.microsoft.com/office/drawing/2014/main" id="{598093E2-C7CD-47EC-96D2-746652A41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983428-3CE4-4EAC-8CCC-8136ACB7E022}" type="slidenum">
              <a:rPr lang="en-US" altLang="zh-TW" sz="1300"/>
              <a:pPr>
                <a:spcBef>
                  <a:spcPct val="0"/>
                </a:spcBef>
              </a:pPr>
              <a:t>141</a:t>
            </a:fld>
            <a:endParaRPr lang="en-US" altLang="zh-TW" sz="1300"/>
          </a:p>
        </p:txBody>
      </p:sp>
      <p:sp>
        <p:nvSpPr>
          <p:cNvPr id="295939" name="Rectangle 2">
            <a:extLst>
              <a:ext uri="{FF2B5EF4-FFF2-40B4-BE49-F238E27FC236}">
                <a16:creationId xmlns:a16="http://schemas.microsoft.com/office/drawing/2014/main" id="{25F4479F-82F7-437D-A5E8-F0DF655F6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95940" name="Rectangle 3">
            <a:extLst>
              <a:ext uri="{FF2B5EF4-FFF2-40B4-BE49-F238E27FC236}">
                <a16:creationId xmlns:a16="http://schemas.microsoft.com/office/drawing/2014/main" id="{1B856D96-E56D-4C50-8ECA-77F4E2FFF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>
            <a:extLst>
              <a:ext uri="{FF2B5EF4-FFF2-40B4-BE49-F238E27FC236}">
                <a16:creationId xmlns:a16="http://schemas.microsoft.com/office/drawing/2014/main" id="{6BF0418C-B272-43E8-9D57-1CF50B3B79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93CE055-7094-416D-8508-7DA368B1A88D}" type="slidenum">
              <a:rPr lang="en-US" altLang="zh-TW" sz="1300"/>
              <a:pPr>
                <a:spcBef>
                  <a:spcPct val="0"/>
                </a:spcBef>
              </a:pPr>
              <a:t>142</a:t>
            </a:fld>
            <a:endParaRPr lang="en-US" altLang="zh-TW" sz="1300"/>
          </a:p>
        </p:txBody>
      </p:sp>
      <p:sp>
        <p:nvSpPr>
          <p:cNvPr id="297987" name="Rectangle 2">
            <a:extLst>
              <a:ext uri="{FF2B5EF4-FFF2-40B4-BE49-F238E27FC236}">
                <a16:creationId xmlns:a16="http://schemas.microsoft.com/office/drawing/2014/main" id="{E176B870-A196-4D68-B8D8-357240399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297988" name="Rectangle 3">
            <a:extLst>
              <a:ext uri="{FF2B5EF4-FFF2-40B4-BE49-F238E27FC236}">
                <a16:creationId xmlns:a16="http://schemas.microsoft.com/office/drawing/2014/main" id="{90C6C410-F5B4-48D3-AC0C-2A5CF6F41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>
            <a:extLst>
              <a:ext uri="{FF2B5EF4-FFF2-40B4-BE49-F238E27FC236}">
                <a16:creationId xmlns:a16="http://schemas.microsoft.com/office/drawing/2014/main" id="{831DD980-6B5E-40B1-B13B-723A9274E2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2DFC6E3-E907-484B-8DFA-78A95A30B61E}" type="slidenum">
              <a:rPr lang="en-US" altLang="zh-TW" sz="1300"/>
              <a:pPr>
                <a:spcBef>
                  <a:spcPct val="0"/>
                </a:spcBef>
              </a:pPr>
              <a:t>143</a:t>
            </a:fld>
            <a:endParaRPr lang="en-US" altLang="zh-TW" sz="1300"/>
          </a:p>
        </p:txBody>
      </p:sp>
      <p:sp>
        <p:nvSpPr>
          <p:cNvPr id="300035" name="Rectangle 2">
            <a:extLst>
              <a:ext uri="{FF2B5EF4-FFF2-40B4-BE49-F238E27FC236}">
                <a16:creationId xmlns:a16="http://schemas.microsoft.com/office/drawing/2014/main" id="{98665311-E5F6-4B90-A83B-AD07400D2C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00036" name="Rectangle 3">
            <a:extLst>
              <a:ext uri="{FF2B5EF4-FFF2-40B4-BE49-F238E27FC236}">
                <a16:creationId xmlns:a16="http://schemas.microsoft.com/office/drawing/2014/main" id="{E0973442-ABAB-4838-93CB-E3D57DAAF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>
            <a:extLst>
              <a:ext uri="{FF2B5EF4-FFF2-40B4-BE49-F238E27FC236}">
                <a16:creationId xmlns:a16="http://schemas.microsoft.com/office/drawing/2014/main" id="{D4E81880-F4C4-466C-A132-130D2B52B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6DBDE25-7465-4A11-B8A2-7002AC91ABDE}" type="slidenum">
              <a:rPr lang="en-US" altLang="zh-TW" sz="1300"/>
              <a:pPr>
                <a:spcBef>
                  <a:spcPct val="0"/>
                </a:spcBef>
              </a:pPr>
              <a:t>144</a:t>
            </a:fld>
            <a:endParaRPr lang="en-US" altLang="zh-TW" sz="1300"/>
          </a:p>
        </p:txBody>
      </p:sp>
      <p:sp>
        <p:nvSpPr>
          <p:cNvPr id="302083" name="Rectangle 2">
            <a:extLst>
              <a:ext uri="{FF2B5EF4-FFF2-40B4-BE49-F238E27FC236}">
                <a16:creationId xmlns:a16="http://schemas.microsoft.com/office/drawing/2014/main" id="{8C607375-4085-4F7A-82F6-7B049EC40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02084" name="Rectangle 3">
            <a:extLst>
              <a:ext uri="{FF2B5EF4-FFF2-40B4-BE49-F238E27FC236}">
                <a16:creationId xmlns:a16="http://schemas.microsoft.com/office/drawing/2014/main" id="{E858B9AC-C2EF-40B7-AA62-D47802296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7">
            <a:extLst>
              <a:ext uri="{FF2B5EF4-FFF2-40B4-BE49-F238E27FC236}">
                <a16:creationId xmlns:a16="http://schemas.microsoft.com/office/drawing/2014/main" id="{6EFD7E8F-D311-495D-8275-51E4E6A2A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3A8388B-2CCD-4268-8A08-5C45A0EE4A57}" type="slidenum">
              <a:rPr lang="en-US" altLang="zh-TW" sz="1300"/>
              <a:pPr>
                <a:spcBef>
                  <a:spcPct val="0"/>
                </a:spcBef>
              </a:pPr>
              <a:t>145</a:t>
            </a:fld>
            <a:endParaRPr lang="en-US" altLang="zh-TW" sz="1300"/>
          </a:p>
        </p:txBody>
      </p:sp>
      <p:sp>
        <p:nvSpPr>
          <p:cNvPr id="304131" name="Rectangle 2">
            <a:extLst>
              <a:ext uri="{FF2B5EF4-FFF2-40B4-BE49-F238E27FC236}">
                <a16:creationId xmlns:a16="http://schemas.microsoft.com/office/drawing/2014/main" id="{E2ED4617-0A0A-48AA-89E3-D2EC59E83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04132" name="Rectangle 3">
            <a:extLst>
              <a:ext uri="{FF2B5EF4-FFF2-40B4-BE49-F238E27FC236}">
                <a16:creationId xmlns:a16="http://schemas.microsoft.com/office/drawing/2014/main" id="{8DB8C765-3B87-4C47-B9AE-7A4877FF2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7">
            <a:extLst>
              <a:ext uri="{FF2B5EF4-FFF2-40B4-BE49-F238E27FC236}">
                <a16:creationId xmlns:a16="http://schemas.microsoft.com/office/drawing/2014/main" id="{67439AAA-07DA-4DBA-8DCE-BEA998FDCD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0699953-67FE-4A60-949A-EAAA8FE7F714}" type="slidenum">
              <a:rPr lang="en-US" altLang="zh-TW" sz="1300"/>
              <a:pPr>
                <a:spcBef>
                  <a:spcPct val="0"/>
                </a:spcBef>
              </a:pPr>
              <a:t>146</a:t>
            </a:fld>
            <a:endParaRPr lang="en-US" altLang="zh-TW" sz="1300"/>
          </a:p>
        </p:txBody>
      </p:sp>
      <p:sp>
        <p:nvSpPr>
          <p:cNvPr id="306179" name="Rectangle 2">
            <a:extLst>
              <a:ext uri="{FF2B5EF4-FFF2-40B4-BE49-F238E27FC236}">
                <a16:creationId xmlns:a16="http://schemas.microsoft.com/office/drawing/2014/main" id="{93FE2915-B743-41DA-9829-86BAA4D88C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06180" name="Rectangle 3">
            <a:extLst>
              <a:ext uri="{FF2B5EF4-FFF2-40B4-BE49-F238E27FC236}">
                <a16:creationId xmlns:a16="http://schemas.microsoft.com/office/drawing/2014/main" id="{BF0D8181-CDDB-4D37-937D-DA1DC7840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7">
            <a:extLst>
              <a:ext uri="{FF2B5EF4-FFF2-40B4-BE49-F238E27FC236}">
                <a16:creationId xmlns:a16="http://schemas.microsoft.com/office/drawing/2014/main" id="{92D5170D-C0D4-424E-B548-C7EA3F5089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7F2C494-0D45-483C-9D03-C1C7C29FD9BC}" type="slidenum">
              <a:rPr lang="en-US" altLang="zh-TW" sz="1300"/>
              <a:pPr>
                <a:spcBef>
                  <a:spcPct val="0"/>
                </a:spcBef>
              </a:pPr>
              <a:t>147</a:t>
            </a:fld>
            <a:endParaRPr lang="en-US" altLang="zh-TW" sz="1300"/>
          </a:p>
        </p:txBody>
      </p:sp>
      <p:sp>
        <p:nvSpPr>
          <p:cNvPr id="308227" name="Rectangle 2">
            <a:extLst>
              <a:ext uri="{FF2B5EF4-FFF2-40B4-BE49-F238E27FC236}">
                <a16:creationId xmlns:a16="http://schemas.microsoft.com/office/drawing/2014/main" id="{9FA60312-E4C3-4068-8548-45A337518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08228" name="Rectangle 3">
            <a:extLst>
              <a:ext uri="{FF2B5EF4-FFF2-40B4-BE49-F238E27FC236}">
                <a16:creationId xmlns:a16="http://schemas.microsoft.com/office/drawing/2014/main" id="{C6FEFA1E-B642-4309-B020-CE22C438D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7">
            <a:extLst>
              <a:ext uri="{FF2B5EF4-FFF2-40B4-BE49-F238E27FC236}">
                <a16:creationId xmlns:a16="http://schemas.microsoft.com/office/drawing/2014/main" id="{00786C69-AF05-4197-9C3D-C733C0B43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B6BA996-95F3-43B6-9638-AF5754512E1A}" type="slidenum">
              <a:rPr lang="en-US" altLang="zh-TW" sz="1300"/>
              <a:pPr>
                <a:spcBef>
                  <a:spcPct val="0"/>
                </a:spcBef>
              </a:pPr>
              <a:t>148</a:t>
            </a:fld>
            <a:endParaRPr lang="en-US" altLang="zh-TW" sz="1300"/>
          </a:p>
        </p:txBody>
      </p:sp>
      <p:sp>
        <p:nvSpPr>
          <p:cNvPr id="310275" name="Rectangle 2">
            <a:extLst>
              <a:ext uri="{FF2B5EF4-FFF2-40B4-BE49-F238E27FC236}">
                <a16:creationId xmlns:a16="http://schemas.microsoft.com/office/drawing/2014/main" id="{3FEFB774-30AA-44C6-883F-D218CC7F6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10276" name="Rectangle 3">
            <a:extLst>
              <a:ext uri="{FF2B5EF4-FFF2-40B4-BE49-F238E27FC236}">
                <a16:creationId xmlns:a16="http://schemas.microsoft.com/office/drawing/2014/main" id="{533801A1-7AFC-450A-B33D-31BB3D103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7">
            <a:extLst>
              <a:ext uri="{FF2B5EF4-FFF2-40B4-BE49-F238E27FC236}">
                <a16:creationId xmlns:a16="http://schemas.microsoft.com/office/drawing/2014/main" id="{889A257F-F34A-485D-967A-FD463BB353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8312DA6-C052-495D-ABD1-E83AF063C382}" type="slidenum">
              <a:rPr lang="en-US" altLang="zh-TW" sz="1300"/>
              <a:pPr>
                <a:spcBef>
                  <a:spcPct val="0"/>
                </a:spcBef>
              </a:pPr>
              <a:t>149</a:t>
            </a:fld>
            <a:endParaRPr lang="en-US" altLang="zh-TW" sz="1300"/>
          </a:p>
        </p:txBody>
      </p:sp>
      <p:sp>
        <p:nvSpPr>
          <p:cNvPr id="312323" name="Rectangle 2">
            <a:extLst>
              <a:ext uri="{FF2B5EF4-FFF2-40B4-BE49-F238E27FC236}">
                <a16:creationId xmlns:a16="http://schemas.microsoft.com/office/drawing/2014/main" id="{191E5FA9-3B74-4F56-AF09-46B67E6667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12324" name="Rectangle 3">
            <a:extLst>
              <a:ext uri="{FF2B5EF4-FFF2-40B4-BE49-F238E27FC236}">
                <a16:creationId xmlns:a16="http://schemas.microsoft.com/office/drawing/2014/main" id="{C61CEBB7-0814-4EA2-A25B-F11F30EFC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7">
            <a:extLst>
              <a:ext uri="{FF2B5EF4-FFF2-40B4-BE49-F238E27FC236}">
                <a16:creationId xmlns:a16="http://schemas.microsoft.com/office/drawing/2014/main" id="{07862760-6477-4CA3-BD9B-7D635300A5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0CAE340-8C02-4A6A-88E8-FCF3A7BFAD78}" type="slidenum">
              <a:rPr lang="en-US" altLang="zh-TW" sz="1300"/>
              <a:pPr>
                <a:spcBef>
                  <a:spcPct val="0"/>
                </a:spcBef>
              </a:pPr>
              <a:t>150</a:t>
            </a:fld>
            <a:endParaRPr lang="en-US" altLang="zh-TW" sz="1300"/>
          </a:p>
        </p:txBody>
      </p:sp>
      <p:sp>
        <p:nvSpPr>
          <p:cNvPr id="314371" name="Rectangle 2">
            <a:extLst>
              <a:ext uri="{FF2B5EF4-FFF2-40B4-BE49-F238E27FC236}">
                <a16:creationId xmlns:a16="http://schemas.microsoft.com/office/drawing/2014/main" id="{37244ED6-1740-42FA-BA2F-5B1FAA93C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14372" name="Rectangle 3">
            <a:extLst>
              <a:ext uri="{FF2B5EF4-FFF2-40B4-BE49-F238E27FC236}">
                <a16:creationId xmlns:a16="http://schemas.microsoft.com/office/drawing/2014/main" id="{574A384A-9AD1-4B9B-A52E-F9FAA6E34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7">
            <a:extLst>
              <a:ext uri="{FF2B5EF4-FFF2-40B4-BE49-F238E27FC236}">
                <a16:creationId xmlns:a16="http://schemas.microsoft.com/office/drawing/2014/main" id="{8B2C76AA-CAE8-4DEB-B193-A0FB523ED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48E3D1B-B702-43B9-A353-87F1DBF33D4D}" type="slidenum">
              <a:rPr lang="en-US" altLang="zh-TW" sz="1300"/>
              <a:pPr>
                <a:spcBef>
                  <a:spcPct val="0"/>
                </a:spcBef>
              </a:pPr>
              <a:t>151</a:t>
            </a:fld>
            <a:endParaRPr lang="en-US" altLang="zh-TW" sz="1300"/>
          </a:p>
        </p:txBody>
      </p:sp>
      <p:sp>
        <p:nvSpPr>
          <p:cNvPr id="316419" name="Rectangle 2">
            <a:extLst>
              <a:ext uri="{FF2B5EF4-FFF2-40B4-BE49-F238E27FC236}">
                <a16:creationId xmlns:a16="http://schemas.microsoft.com/office/drawing/2014/main" id="{563326EB-5C3C-49CA-9CE1-5E4935ED91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16420" name="Rectangle 3">
            <a:extLst>
              <a:ext uri="{FF2B5EF4-FFF2-40B4-BE49-F238E27FC236}">
                <a16:creationId xmlns:a16="http://schemas.microsoft.com/office/drawing/2014/main" id="{FC483C5A-3364-4734-A683-A63970BDA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7">
            <a:extLst>
              <a:ext uri="{FF2B5EF4-FFF2-40B4-BE49-F238E27FC236}">
                <a16:creationId xmlns:a16="http://schemas.microsoft.com/office/drawing/2014/main" id="{13AD3DB3-B61C-4283-8F26-176ADE896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A16A36D-0A74-462A-81E2-040B16823A4D}" type="slidenum">
              <a:rPr lang="en-US" altLang="zh-TW" sz="1300"/>
              <a:pPr>
                <a:spcBef>
                  <a:spcPct val="0"/>
                </a:spcBef>
              </a:pPr>
              <a:t>152</a:t>
            </a:fld>
            <a:endParaRPr lang="en-US" altLang="zh-TW" sz="1300"/>
          </a:p>
        </p:txBody>
      </p:sp>
      <p:sp>
        <p:nvSpPr>
          <p:cNvPr id="318467" name="Rectangle 2">
            <a:extLst>
              <a:ext uri="{FF2B5EF4-FFF2-40B4-BE49-F238E27FC236}">
                <a16:creationId xmlns:a16="http://schemas.microsoft.com/office/drawing/2014/main" id="{DEBADB41-5DFF-40C5-B4D2-E8707A62E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18468" name="Rectangle 3">
            <a:extLst>
              <a:ext uri="{FF2B5EF4-FFF2-40B4-BE49-F238E27FC236}">
                <a16:creationId xmlns:a16="http://schemas.microsoft.com/office/drawing/2014/main" id="{46A0859D-DFB3-4F67-8B39-6D649E918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7">
            <a:extLst>
              <a:ext uri="{FF2B5EF4-FFF2-40B4-BE49-F238E27FC236}">
                <a16:creationId xmlns:a16="http://schemas.microsoft.com/office/drawing/2014/main" id="{8E4E57D9-8482-458E-812A-675E7AE3AA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A85E472-6299-4812-A16F-08587998A573}" type="slidenum">
              <a:rPr lang="en-US" altLang="zh-TW" sz="1300"/>
              <a:pPr>
                <a:spcBef>
                  <a:spcPct val="0"/>
                </a:spcBef>
              </a:pPr>
              <a:t>153</a:t>
            </a:fld>
            <a:endParaRPr lang="en-US" altLang="zh-TW" sz="1300"/>
          </a:p>
        </p:txBody>
      </p:sp>
      <p:sp>
        <p:nvSpPr>
          <p:cNvPr id="320515" name="Rectangle 2">
            <a:extLst>
              <a:ext uri="{FF2B5EF4-FFF2-40B4-BE49-F238E27FC236}">
                <a16:creationId xmlns:a16="http://schemas.microsoft.com/office/drawing/2014/main" id="{EC41A4A8-B478-4058-843B-23B32623D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20516" name="Rectangle 3">
            <a:extLst>
              <a:ext uri="{FF2B5EF4-FFF2-40B4-BE49-F238E27FC236}">
                <a16:creationId xmlns:a16="http://schemas.microsoft.com/office/drawing/2014/main" id="{632FE9D2-C581-49E3-8608-C4C0E1B2C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7">
            <a:extLst>
              <a:ext uri="{FF2B5EF4-FFF2-40B4-BE49-F238E27FC236}">
                <a16:creationId xmlns:a16="http://schemas.microsoft.com/office/drawing/2014/main" id="{A8693D30-6B53-49D9-9C95-5E9EDF5DA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A0EC0EC-BE4A-4754-8ED6-E50A52A6CDD4}" type="slidenum">
              <a:rPr lang="en-US" altLang="zh-TW" sz="1300"/>
              <a:pPr>
                <a:spcBef>
                  <a:spcPct val="0"/>
                </a:spcBef>
              </a:pPr>
              <a:t>154</a:t>
            </a:fld>
            <a:endParaRPr lang="en-US" altLang="zh-TW" sz="1300"/>
          </a:p>
        </p:txBody>
      </p:sp>
      <p:sp>
        <p:nvSpPr>
          <p:cNvPr id="322563" name="Rectangle 2">
            <a:extLst>
              <a:ext uri="{FF2B5EF4-FFF2-40B4-BE49-F238E27FC236}">
                <a16:creationId xmlns:a16="http://schemas.microsoft.com/office/drawing/2014/main" id="{FCE69706-6173-486F-A2C0-794D4E007A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22564" name="Rectangle 3">
            <a:extLst>
              <a:ext uri="{FF2B5EF4-FFF2-40B4-BE49-F238E27FC236}">
                <a16:creationId xmlns:a16="http://schemas.microsoft.com/office/drawing/2014/main" id="{D178B4BF-39A8-4217-9CE5-54F5A88B6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7">
            <a:extLst>
              <a:ext uri="{FF2B5EF4-FFF2-40B4-BE49-F238E27FC236}">
                <a16:creationId xmlns:a16="http://schemas.microsoft.com/office/drawing/2014/main" id="{B6991203-6B3A-4BC2-8C55-5BE83A3CA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00A8EDE-C886-4C60-97F3-263C1A6907F2}" type="slidenum">
              <a:rPr lang="en-US" altLang="zh-TW" sz="1300"/>
              <a:pPr>
                <a:spcBef>
                  <a:spcPct val="0"/>
                </a:spcBef>
              </a:pPr>
              <a:t>155</a:t>
            </a:fld>
            <a:endParaRPr lang="en-US" altLang="zh-TW" sz="1300"/>
          </a:p>
        </p:txBody>
      </p:sp>
      <p:sp>
        <p:nvSpPr>
          <p:cNvPr id="324611" name="Rectangle 2">
            <a:extLst>
              <a:ext uri="{FF2B5EF4-FFF2-40B4-BE49-F238E27FC236}">
                <a16:creationId xmlns:a16="http://schemas.microsoft.com/office/drawing/2014/main" id="{91654083-B2D3-430A-89B7-F7E151A80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24612" name="Rectangle 3">
            <a:extLst>
              <a:ext uri="{FF2B5EF4-FFF2-40B4-BE49-F238E27FC236}">
                <a16:creationId xmlns:a16="http://schemas.microsoft.com/office/drawing/2014/main" id="{15376F21-563B-447D-8113-94788FAB1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7">
            <a:extLst>
              <a:ext uri="{FF2B5EF4-FFF2-40B4-BE49-F238E27FC236}">
                <a16:creationId xmlns:a16="http://schemas.microsoft.com/office/drawing/2014/main" id="{BB643C2D-F53F-4785-AC23-5672BC821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19414F-D4AD-4530-BCC2-8C360E8899D7}" type="slidenum">
              <a:rPr lang="en-US" altLang="zh-TW" sz="1300"/>
              <a:pPr>
                <a:spcBef>
                  <a:spcPct val="0"/>
                </a:spcBef>
              </a:pPr>
              <a:t>156</a:t>
            </a:fld>
            <a:endParaRPr lang="en-US" altLang="zh-TW" sz="1300"/>
          </a:p>
        </p:txBody>
      </p:sp>
      <p:sp>
        <p:nvSpPr>
          <p:cNvPr id="326659" name="Rectangle 2">
            <a:extLst>
              <a:ext uri="{FF2B5EF4-FFF2-40B4-BE49-F238E27FC236}">
                <a16:creationId xmlns:a16="http://schemas.microsoft.com/office/drawing/2014/main" id="{F8F49ED9-CAB3-44B5-9045-341AD88E5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26660" name="Rectangle 3">
            <a:extLst>
              <a:ext uri="{FF2B5EF4-FFF2-40B4-BE49-F238E27FC236}">
                <a16:creationId xmlns:a16="http://schemas.microsoft.com/office/drawing/2014/main" id="{1872339E-4F15-4A09-8369-985DD8DA4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7">
            <a:extLst>
              <a:ext uri="{FF2B5EF4-FFF2-40B4-BE49-F238E27FC236}">
                <a16:creationId xmlns:a16="http://schemas.microsoft.com/office/drawing/2014/main" id="{70BFFA9C-1E12-4E14-8112-7248A70A1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5E86CD6-7E72-4344-BDB2-3217CB323002}" type="slidenum">
              <a:rPr lang="en-US" altLang="zh-TW" sz="1300"/>
              <a:pPr>
                <a:spcBef>
                  <a:spcPct val="0"/>
                </a:spcBef>
              </a:pPr>
              <a:t>157</a:t>
            </a:fld>
            <a:endParaRPr lang="en-US" altLang="zh-TW" sz="1300"/>
          </a:p>
        </p:txBody>
      </p:sp>
      <p:sp>
        <p:nvSpPr>
          <p:cNvPr id="328707" name="Rectangle 2">
            <a:extLst>
              <a:ext uri="{FF2B5EF4-FFF2-40B4-BE49-F238E27FC236}">
                <a16:creationId xmlns:a16="http://schemas.microsoft.com/office/drawing/2014/main" id="{1AC2F1EA-A5A0-4C16-9663-D3026C81A1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28708" name="Rectangle 3">
            <a:extLst>
              <a:ext uri="{FF2B5EF4-FFF2-40B4-BE49-F238E27FC236}">
                <a16:creationId xmlns:a16="http://schemas.microsoft.com/office/drawing/2014/main" id="{2DEADCC7-60F6-4E76-9D6D-4BAFF5F8E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7">
            <a:extLst>
              <a:ext uri="{FF2B5EF4-FFF2-40B4-BE49-F238E27FC236}">
                <a16:creationId xmlns:a16="http://schemas.microsoft.com/office/drawing/2014/main" id="{622614E3-6F27-4577-BEA3-AB2C0AE61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00326B7-052A-4D71-AFBD-9FACBE8D91DD}" type="slidenum">
              <a:rPr lang="en-US" altLang="zh-TW" sz="1300"/>
              <a:pPr>
                <a:spcBef>
                  <a:spcPct val="0"/>
                </a:spcBef>
              </a:pPr>
              <a:t>158</a:t>
            </a:fld>
            <a:endParaRPr lang="en-US" altLang="zh-TW" sz="1300"/>
          </a:p>
        </p:txBody>
      </p:sp>
      <p:sp>
        <p:nvSpPr>
          <p:cNvPr id="330755" name="Rectangle 2">
            <a:extLst>
              <a:ext uri="{FF2B5EF4-FFF2-40B4-BE49-F238E27FC236}">
                <a16:creationId xmlns:a16="http://schemas.microsoft.com/office/drawing/2014/main" id="{8F15A89F-C80A-4054-A4E0-BFA95AB8F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30756" name="Rectangle 3">
            <a:extLst>
              <a:ext uri="{FF2B5EF4-FFF2-40B4-BE49-F238E27FC236}">
                <a16:creationId xmlns:a16="http://schemas.microsoft.com/office/drawing/2014/main" id="{433E16DB-5F4B-4972-9086-FAF81E373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7">
            <a:extLst>
              <a:ext uri="{FF2B5EF4-FFF2-40B4-BE49-F238E27FC236}">
                <a16:creationId xmlns:a16="http://schemas.microsoft.com/office/drawing/2014/main" id="{3D7C8596-F9AA-4B69-A1C0-667B054C86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EDC7426-0934-4195-9BEF-416E1DF83AC5}" type="slidenum">
              <a:rPr lang="en-US" altLang="zh-TW" sz="1300"/>
              <a:pPr>
                <a:spcBef>
                  <a:spcPct val="0"/>
                </a:spcBef>
              </a:pPr>
              <a:t>159</a:t>
            </a:fld>
            <a:endParaRPr lang="en-US" altLang="zh-TW" sz="1300"/>
          </a:p>
        </p:txBody>
      </p:sp>
      <p:sp>
        <p:nvSpPr>
          <p:cNvPr id="332803" name="Rectangle 2">
            <a:extLst>
              <a:ext uri="{FF2B5EF4-FFF2-40B4-BE49-F238E27FC236}">
                <a16:creationId xmlns:a16="http://schemas.microsoft.com/office/drawing/2014/main" id="{19271C64-37E0-4230-88AC-AEA6926DCF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32804" name="Rectangle 3">
            <a:extLst>
              <a:ext uri="{FF2B5EF4-FFF2-40B4-BE49-F238E27FC236}">
                <a16:creationId xmlns:a16="http://schemas.microsoft.com/office/drawing/2014/main" id="{01528F37-8DBB-49FC-879A-1567FB577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投影片圖像版面配置區 1">
            <a:extLst>
              <a:ext uri="{FF2B5EF4-FFF2-40B4-BE49-F238E27FC236}">
                <a16:creationId xmlns:a16="http://schemas.microsoft.com/office/drawing/2014/main" id="{BA0524B1-BEF6-4391-B841-EC40FAA73F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備忘稿版面配置區 2">
            <a:extLst>
              <a:ext uri="{FF2B5EF4-FFF2-40B4-BE49-F238E27FC236}">
                <a16:creationId xmlns:a16="http://schemas.microsoft.com/office/drawing/2014/main" id="{E93AA34D-7DF4-403C-8493-39A7CF2A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4852" name="投影片編號版面配置區 3">
            <a:extLst>
              <a:ext uri="{FF2B5EF4-FFF2-40B4-BE49-F238E27FC236}">
                <a16:creationId xmlns:a16="http://schemas.microsoft.com/office/drawing/2014/main" id="{5B50D3EF-D9F6-400C-8859-E846014DF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2D5E3B4-5FB5-40E5-921D-DE3FB2F01D7F}" type="slidenum">
              <a:rPr lang="en-US" altLang="zh-TW" sz="1300"/>
              <a:pPr>
                <a:spcBef>
                  <a:spcPct val="0"/>
                </a:spcBef>
              </a:pPr>
              <a:t>160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投影片圖像版面配置區 1">
            <a:extLst>
              <a:ext uri="{FF2B5EF4-FFF2-40B4-BE49-F238E27FC236}">
                <a16:creationId xmlns:a16="http://schemas.microsoft.com/office/drawing/2014/main" id="{38B6C2D1-FCCC-4FF8-980E-ABB7C54539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備忘稿版面配置區 2">
            <a:extLst>
              <a:ext uri="{FF2B5EF4-FFF2-40B4-BE49-F238E27FC236}">
                <a16:creationId xmlns:a16="http://schemas.microsoft.com/office/drawing/2014/main" id="{6EB249FC-6C90-48B9-B1E5-36244FF6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6900" name="投影片編號版面配置區 3">
            <a:extLst>
              <a:ext uri="{FF2B5EF4-FFF2-40B4-BE49-F238E27FC236}">
                <a16:creationId xmlns:a16="http://schemas.microsoft.com/office/drawing/2014/main" id="{C91A0E91-1C70-4542-9335-12B10F91A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CB25205-6059-4EDC-83A4-211054045B19}" type="slidenum">
              <a:rPr lang="en-US" altLang="zh-TW" sz="1300"/>
              <a:pPr>
                <a:spcBef>
                  <a:spcPct val="0"/>
                </a:spcBef>
              </a:pPr>
              <a:t>161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投影片圖像版面配置區 1">
            <a:extLst>
              <a:ext uri="{FF2B5EF4-FFF2-40B4-BE49-F238E27FC236}">
                <a16:creationId xmlns:a16="http://schemas.microsoft.com/office/drawing/2014/main" id="{06D3ED4C-B96B-4D80-BB83-C336C13ABD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備忘稿版面配置區 2">
            <a:extLst>
              <a:ext uri="{FF2B5EF4-FFF2-40B4-BE49-F238E27FC236}">
                <a16:creationId xmlns:a16="http://schemas.microsoft.com/office/drawing/2014/main" id="{6EFFB199-8CAB-48A5-B9B3-F4B01ABD5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8948" name="投影片編號版面配置區 3">
            <a:extLst>
              <a:ext uri="{FF2B5EF4-FFF2-40B4-BE49-F238E27FC236}">
                <a16:creationId xmlns:a16="http://schemas.microsoft.com/office/drawing/2014/main" id="{B5141C90-EA35-43B1-B7D3-E8D1BF08D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0E106FE-F5DD-41A9-AF74-D7969B6D5017}" type="slidenum">
              <a:rPr lang="en-US" altLang="zh-TW" sz="1300"/>
              <a:pPr>
                <a:spcBef>
                  <a:spcPct val="0"/>
                </a:spcBef>
              </a:pPr>
              <a:t>162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投影片圖像版面配置區 1">
            <a:extLst>
              <a:ext uri="{FF2B5EF4-FFF2-40B4-BE49-F238E27FC236}">
                <a16:creationId xmlns:a16="http://schemas.microsoft.com/office/drawing/2014/main" id="{29C18AA0-993C-4DD1-97B4-E83C0DD467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備忘稿版面配置區 2">
            <a:extLst>
              <a:ext uri="{FF2B5EF4-FFF2-40B4-BE49-F238E27FC236}">
                <a16:creationId xmlns:a16="http://schemas.microsoft.com/office/drawing/2014/main" id="{B9BE6FDE-EF36-4069-901C-827D41571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0996" name="投影片編號版面配置區 3">
            <a:extLst>
              <a:ext uri="{FF2B5EF4-FFF2-40B4-BE49-F238E27FC236}">
                <a16:creationId xmlns:a16="http://schemas.microsoft.com/office/drawing/2014/main" id="{06DF52F3-933F-482C-8E9E-118DFE4E0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340D644-0BAF-4EF2-8C3C-60814A6CC903}" type="slidenum">
              <a:rPr lang="en-US" altLang="zh-TW" sz="1300"/>
              <a:pPr>
                <a:spcBef>
                  <a:spcPct val="0"/>
                </a:spcBef>
              </a:pPr>
              <a:t>163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投影片圖像版面配置區 1">
            <a:extLst>
              <a:ext uri="{FF2B5EF4-FFF2-40B4-BE49-F238E27FC236}">
                <a16:creationId xmlns:a16="http://schemas.microsoft.com/office/drawing/2014/main" id="{10799ECB-EF02-44B9-A003-BD49F6481F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備忘稿版面配置區 2">
            <a:extLst>
              <a:ext uri="{FF2B5EF4-FFF2-40B4-BE49-F238E27FC236}">
                <a16:creationId xmlns:a16="http://schemas.microsoft.com/office/drawing/2014/main" id="{C35F82D5-48B9-432F-96EB-B467B187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3044" name="投影片編號版面配置區 3">
            <a:extLst>
              <a:ext uri="{FF2B5EF4-FFF2-40B4-BE49-F238E27FC236}">
                <a16:creationId xmlns:a16="http://schemas.microsoft.com/office/drawing/2014/main" id="{9543C25A-9C5E-4091-88E9-8BAADC865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4F5A6AD-960B-4712-A37E-C52D4769B80D}" type="slidenum">
              <a:rPr lang="en-US" altLang="zh-TW" sz="1300"/>
              <a:pPr>
                <a:spcBef>
                  <a:spcPct val="0"/>
                </a:spcBef>
              </a:pPr>
              <a:t>164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投影片圖像版面配置區 1">
            <a:extLst>
              <a:ext uri="{FF2B5EF4-FFF2-40B4-BE49-F238E27FC236}">
                <a16:creationId xmlns:a16="http://schemas.microsoft.com/office/drawing/2014/main" id="{15FD2D2C-FE1B-44B3-8321-F5C1D06D02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備忘稿版面配置區 2">
            <a:extLst>
              <a:ext uri="{FF2B5EF4-FFF2-40B4-BE49-F238E27FC236}">
                <a16:creationId xmlns:a16="http://schemas.microsoft.com/office/drawing/2014/main" id="{737A1536-01E9-427E-8BAB-3F6FB653A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5092" name="投影片編號版面配置區 3">
            <a:extLst>
              <a:ext uri="{FF2B5EF4-FFF2-40B4-BE49-F238E27FC236}">
                <a16:creationId xmlns:a16="http://schemas.microsoft.com/office/drawing/2014/main" id="{DE72F10B-1F55-4DB8-89E9-FE3B133D7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D5AD9F4-4B5D-4B2E-BC68-71898D4008D1}" type="slidenum">
              <a:rPr lang="en-US" altLang="zh-TW" sz="1300"/>
              <a:pPr>
                <a:spcBef>
                  <a:spcPct val="0"/>
                </a:spcBef>
              </a:pPr>
              <a:t>165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投影片圖像版面配置區 1">
            <a:extLst>
              <a:ext uri="{FF2B5EF4-FFF2-40B4-BE49-F238E27FC236}">
                <a16:creationId xmlns:a16="http://schemas.microsoft.com/office/drawing/2014/main" id="{A973DDDA-2DC8-441F-8397-0F6D5B4F63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備忘稿版面配置區 2">
            <a:extLst>
              <a:ext uri="{FF2B5EF4-FFF2-40B4-BE49-F238E27FC236}">
                <a16:creationId xmlns:a16="http://schemas.microsoft.com/office/drawing/2014/main" id="{C4E552BC-1064-4ABB-9DF8-253F17B8C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7140" name="投影片編號版面配置區 3">
            <a:extLst>
              <a:ext uri="{FF2B5EF4-FFF2-40B4-BE49-F238E27FC236}">
                <a16:creationId xmlns:a16="http://schemas.microsoft.com/office/drawing/2014/main" id="{71DC7D3B-B220-4764-8B6B-70F818476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3896469-74E9-449F-90D0-E8CE09FD8BFE}" type="slidenum">
              <a:rPr lang="en-US" altLang="zh-TW" sz="1300"/>
              <a:pPr>
                <a:spcBef>
                  <a:spcPct val="0"/>
                </a:spcBef>
              </a:pPr>
              <a:t>166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投影片圖像版面配置區 1">
            <a:extLst>
              <a:ext uri="{FF2B5EF4-FFF2-40B4-BE49-F238E27FC236}">
                <a16:creationId xmlns:a16="http://schemas.microsoft.com/office/drawing/2014/main" id="{A9C5327B-9B14-47B8-9C8E-8BE01F376A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備忘稿版面配置區 2">
            <a:extLst>
              <a:ext uri="{FF2B5EF4-FFF2-40B4-BE49-F238E27FC236}">
                <a16:creationId xmlns:a16="http://schemas.microsoft.com/office/drawing/2014/main" id="{A597B700-7DC7-41ED-82B6-BC451C70D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9188" name="投影片編號版面配置區 3">
            <a:extLst>
              <a:ext uri="{FF2B5EF4-FFF2-40B4-BE49-F238E27FC236}">
                <a16:creationId xmlns:a16="http://schemas.microsoft.com/office/drawing/2014/main" id="{B209F853-1EE4-4E29-A450-1C794BC19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D498761-3007-4FF4-8A05-2CC326041DF3}" type="slidenum">
              <a:rPr lang="en-US" altLang="zh-TW" sz="1300"/>
              <a:pPr>
                <a:spcBef>
                  <a:spcPct val="0"/>
                </a:spcBef>
              </a:pPr>
              <a:t>167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>
            <a:extLst>
              <a:ext uri="{FF2B5EF4-FFF2-40B4-BE49-F238E27FC236}">
                <a16:creationId xmlns:a16="http://schemas.microsoft.com/office/drawing/2014/main" id="{A1F9E058-0B9A-4E9F-BEF2-E8C9A0404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59797E-A90E-4A03-8D05-97CBEC5C0148}" type="slidenum">
              <a:rPr lang="en-US" altLang="zh-TW" sz="1300"/>
              <a:pPr>
                <a:spcBef>
                  <a:spcPct val="0"/>
                </a:spcBef>
              </a:pPr>
              <a:t>169</a:t>
            </a:fld>
            <a:endParaRPr lang="en-US" altLang="zh-TW" sz="1300"/>
          </a:p>
        </p:txBody>
      </p:sp>
      <p:sp>
        <p:nvSpPr>
          <p:cNvPr id="352259" name="Rectangle 2">
            <a:extLst>
              <a:ext uri="{FF2B5EF4-FFF2-40B4-BE49-F238E27FC236}">
                <a16:creationId xmlns:a16="http://schemas.microsoft.com/office/drawing/2014/main" id="{5AA47575-422B-4A3C-9746-0B2A3B8AEA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60" name="Rectangle 3">
            <a:extLst>
              <a:ext uri="{FF2B5EF4-FFF2-40B4-BE49-F238E27FC236}">
                <a16:creationId xmlns:a16="http://schemas.microsoft.com/office/drawing/2014/main" id="{9E785E74-E029-4613-8B6F-1E1C97DE2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>
            <a:extLst>
              <a:ext uri="{FF2B5EF4-FFF2-40B4-BE49-F238E27FC236}">
                <a16:creationId xmlns:a16="http://schemas.microsoft.com/office/drawing/2014/main" id="{345837CA-AD10-4566-AD90-C19886CE9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D5D71C-C38B-4949-9E53-A81AA01947A7}" type="slidenum">
              <a:rPr lang="en-US" altLang="zh-TW" sz="1300"/>
              <a:pPr>
                <a:spcBef>
                  <a:spcPct val="0"/>
                </a:spcBef>
              </a:pPr>
              <a:t>170</a:t>
            </a:fld>
            <a:endParaRPr lang="en-US" altLang="zh-TW" sz="1300"/>
          </a:p>
        </p:txBody>
      </p:sp>
      <p:sp>
        <p:nvSpPr>
          <p:cNvPr id="354307" name="Rectangle 2">
            <a:extLst>
              <a:ext uri="{FF2B5EF4-FFF2-40B4-BE49-F238E27FC236}">
                <a16:creationId xmlns:a16="http://schemas.microsoft.com/office/drawing/2014/main" id="{6668A614-8246-4118-A242-3DF1C74A4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54308" name="Rectangle 3">
            <a:extLst>
              <a:ext uri="{FF2B5EF4-FFF2-40B4-BE49-F238E27FC236}">
                <a16:creationId xmlns:a16="http://schemas.microsoft.com/office/drawing/2014/main" id="{96EEF66B-EEA7-4368-9863-E72F48A27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7">
            <a:extLst>
              <a:ext uri="{FF2B5EF4-FFF2-40B4-BE49-F238E27FC236}">
                <a16:creationId xmlns:a16="http://schemas.microsoft.com/office/drawing/2014/main" id="{FBE5188C-24F2-4D32-890C-8A69B04745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C2FD909-E4CB-4BA5-B118-422C7650B8ED}" type="slidenum">
              <a:rPr lang="en-US" altLang="zh-TW" sz="1300"/>
              <a:pPr>
                <a:spcBef>
                  <a:spcPct val="0"/>
                </a:spcBef>
              </a:pPr>
              <a:t>171</a:t>
            </a:fld>
            <a:endParaRPr lang="en-US" altLang="zh-TW" sz="1300"/>
          </a:p>
        </p:txBody>
      </p:sp>
      <p:sp>
        <p:nvSpPr>
          <p:cNvPr id="356355" name="Rectangle 2">
            <a:extLst>
              <a:ext uri="{FF2B5EF4-FFF2-40B4-BE49-F238E27FC236}">
                <a16:creationId xmlns:a16="http://schemas.microsoft.com/office/drawing/2014/main" id="{A4557B09-25A8-4C99-83B7-DF8EC2A7C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56356" name="Rectangle 3">
            <a:extLst>
              <a:ext uri="{FF2B5EF4-FFF2-40B4-BE49-F238E27FC236}">
                <a16:creationId xmlns:a16="http://schemas.microsoft.com/office/drawing/2014/main" id="{A9A6FA16-86A1-45DD-9810-78280C6F8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7">
            <a:extLst>
              <a:ext uri="{FF2B5EF4-FFF2-40B4-BE49-F238E27FC236}">
                <a16:creationId xmlns:a16="http://schemas.microsoft.com/office/drawing/2014/main" id="{4F997AA0-FFF1-424E-91C6-5E05D03C74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25AF56A-4F44-4690-A864-D73D38A15C99}" type="slidenum">
              <a:rPr lang="en-US" altLang="zh-TW" sz="1300"/>
              <a:pPr>
                <a:spcBef>
                  <a:spcPct val="0"/>
                </a:spcBef>
              </a:pPr>
              <a:t>172</a:t>
            </a:fld>
            <a:endParaRPr lang="en-US" altLang="zh-TW" sz="1300"/>
          </a:p>
        </p:txBody>
      </p:sp>
      <p:sp>
        <p:nvSpPr>
          <p:cNvPr id="358403" name="Rectangle 2">
            <a:extLst>
              <a:ext uri="{FF2B5EF4-FFF2-40B4-BE49-F238E27FC236}">
                <a16:creationId xmlns:a16="http://schemas.microsoft.com/office/drawing/2014/main" id="{E5A20CE0-0299-4476-AEAD-63526ECDD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4" name="Rectangle 3">
            <a:extLst>
              <a:ext uri="{FF2B5EF4-FFF2-40B4-BE49-F238E27FC236}">
                <a16:creationId xmlns:a16="http://schemas.microsoft.com/office/drawing/2014/main" id="{E9D7DB0E-FB1F-453C-A875-6FFD0A826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投影片圖像版面配置區 1">
            <a:extLst>
              <a:ext uri="{FF2B5EF4-FFF2-40B4-BE49-F238E27FC236}">
                <a16:creationId xmlns:a16="http://schemas.microsoft.com/office/drawing/2014/main" id="{CD5F5303-70CD-4C0D-8626-447A249D7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備忘稿版面配置區 2">
            <a:extLst>
              <a:ext uri="{FF2B5EF4-FFF2-40B4-BE49-F238E27FC236}">
                <a16:creationId xmlns:a16="http://schemas.microsoft.com/office/drawing/2014/main" id="{79A11D5E-C639-4758-A214-0EDA2A3C3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0452" name="投影片編號版面配置區 3">
            <a:extLst>
              <a:ext uri="{FF2B5EF4-FFF2-40B4-BE49-F238E27FC236}">
                <a16:creationId xmlns:a16="http://schemas.microsoft.com/office/drawing/2014/main" id="{BD4157F7-EA1E-445E-AA83-EFFE18DF2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7F68561-34C9-4ABD-A279-BC7F074F0CFE}" type="slidenum">
              <a:rPr lang="en-US" altLang="zh-TW" sz="1300"/>
              <a:pPr>
                <a:spcBef>
                  <a:spcPct val="0"/>
                </a:spcBef>
              </a:pPr>
              <a:t>173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>
            <a:extLst>
              <a:ext uri="{FF2B5EF4-FFF2-40B4-BE49-F238E27FC236}">
                <a16:creationId xmlns:a16="http://schemas.microsoft.com/office/drawing/2014/main" id="{39D6CA99-C757-474B-8B07-099BFE714A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6353C7-4252-4B59-B363-208ED2229B80}" type="slidenum">
              <a:rPr lang="en-US" altLang="zh-TW" sz="1300"/>
              <a:pPr>
                <a:spcBef>
                  <a:spcPct val="0"/>
                </a:spcBef>
              </a:pPr>
              <a:t>174</a:t>
            </a:fld>
            <a:endParaRPr lang="en-US" altLang="zh-TW" sz="1300"/>
          </a:p>
        </p:txBody>
      </p:sp>
      <p:sp>
        <p:nvSpPr>
          <p:cNvPr id="362499" name="Rectangle 2">
            <a:extLst>
              <a:ext uri="{FF2B5EF4-FFF2-40B4-BE49-F238E27FC236}">
                <a16:creationId xmlns:a16="http://schemas.microsoft.com/office/drawing/2014/main" id="{F44B4095-05F5-4147-86BA-1CC08ACB5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>
            <a:extLst>
              <a:ext uri="{FF2B5EF4-FFF2-40B4-BE49-F238E27FC236}">
                <a16:creationId xmlns:a16="http://schemas.microsoft.com/office/drawing/2014/main" id="{763C682D-2F7F-4450-8F07-4D89B0E23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>
            <a:extLst>
              <a:ext uri="{FF2B5EF4-FFF2-40B4-BE49-F238E27FC236}">
                <a16:creationId xmlns:a16="http://schemas.microsoft.com/office/drawing/2014/main" id="{5F48A480-ED88-4964-A360-53935CD039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2537786-4858-4CD2-9EB6-2E06A8ADEBFA}" type="slidenum">
              <a:rPr lang="en-US" altLang="zh-TW" sz="1300"/>
              <a:pPr>
                <a:spcBef>
                  <a:spcPct val="0"/>
                </a:spcBef>
              </a:pPr>
              <a:t>175</a:t>
            </a:fld>
            <a:endParaRPr lang="en-US" altLang="zh-TW" sz="1300"/>
          </a:p>
        </p:txBody>
      </p:sp>
      <p:sp>
        <p:nvSpPr>
          <p:cNvPr id="364547" name="Rectangle 2">
            <a:extLst>
              <a:ext uri="{FF2B5EF4-FFF2-40B4-BE49-F238E27FC236}">
                <a16:creationId xmlns:a16="http://schemas.microsoft.com/office/drawing/2014/main" id="{5800F4C1-D83D-4033-ACD6-1B858EA2B8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>
            <a:extLst>
              <a:ext uri="{FF2B5EF4-FFF2-40B4-BE49-F238E27FC236}">
                <a16:creationId xmlns:a16="http://schemas.microsoft.com/office/drawing/2014/main" id="{659AD3B2-D047-4A09-860C-30F737154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7">
            <a:extLst>
              <a:ext uri="{FF2B5EF4-FFF2-40B4-BE49-F238E27FC236}">
                <a16:creationId xmlns:a16="http://schemas.microsoft.com/office/drawing/2014/main" id="{3E06F11A-7D79-4C20-9A18-A006D6905D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CA72C4A-B3E0-4B23-A6BB-484BA6B5BE2A}" type="slidenum">
              <a:rPr lang="en-US" altLang="zh-TW" sz="1300"/>
              <a:pPr>
                <a:spcBef>
                  <a:spcPct val="0"/>
                </a:spcBef>
              </a:pPr>
              <a:t>176</a:t>
            </a:fld>
            <a:endParaRPr lang="en-US" altLang="zh-TW" sz="1300"/>
          </a:p>
        </p:txBody>
      </p:sp>
      <p:sp>
        <p:nvSpPr>
          <p:cNvPr id="366595" name="Rectangle 2">
            <a:extLst>
              <a:ext uri="{FF2B5EF4-FFF2-40B4-BE49-F238E27FC236}">
                <a16:creationId xmlns:a16="http://schemas.microsoft.com/office/drawing/2014/main" id="{2223CE2B-DB98-4012-99A5-2AFC9313E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6596" name="Rectangle 3">
            <a:extLst>
              <a:ext uri="{FF2B5EF4-FFF2-40B4-BE49-F238E27FC236}">
                <a16:creationId xmlns:a16="http://schemas.microsoft.com/office/drawing/2014/main" id="{0F364BFD-0D3A-4DE1-ABD6-ADCE4F7E1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>
            <a:extLst>
              <a:ext uri="{FF2B5EF4-FFF2-40B4-BE49-F238E27FC236}">
                <a16:creationId xmlns:a16="http://schemas.microsoft.com/office/drawing/2014/main" id="{BC2D8F48-0BE3-4EC7-A2DB-4950FAD3B7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9B22699-06F7-444E-B083-5F25A9B44778}" type="slidenum">
              <a:rPr lang="en-US" altLang="zh-TW" sz="1300"/>
              <a:pPr>
                <a:spcBef>
                  <a:spcPct val="0"/>
                </a:spcBef>
              </a:pPr>
              <a:t>177</a:t>
            </a:fld>
            <a:endParaRPr lang="en-US" altLang="zh-TW" sz="1300"/>
          </a:p>
        </p:txBody>
      </p:sp>
      <p:sp>
        <p:nvSpPr>
          <p:cNvPr id="368643" name="Rectangle 2">
            <a:extLst>
              <a:ext uri="{FF2B5EF4-FFF2-40B4-BE49-F238E27FC236}">
                <a16:creationId xmlns:a16="http://schemas.microsoft.com/office/drawing/2014/main" id="{BB3E5DA2-82B2-443B-8174-C1312CE03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4" name="Rectangle 3">
            <a:extLst>
              <a:ext uri="{FF2B5EF4-FFF2-40B4-BE49-F238E27FC236}">
                <a16:creationId xmlns:a16="http://schemas.microsoft.com/office/drawing/2014/main" id="{FF16837B-9EEB-4D99-8CFE-659D5231B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7">
            <a:extLst>
              <a:ext uri="{FF2B5EF4-FFF2-40B4-BE49-F238E27FC236}">
                <a16:creationId xmlns:a16="http://schemas.microsoft.com/office/drawing/2014/main" id="{B3E87C31-1F51-42A2-BD77-C40CDEB5F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41494B4-CC93-4003-968C-E98AEAF0205B}" type="slidenum">
              <a:rPr lang="en-US" altLang="zh-TW" sz="1300"/>
              <a:pPr>
                <a:spcBef>
                  <a:spcPct val="0"/>
                </a:spcBef>
              </a:pPr>
              <a:t>178</a:t>
            </a:fld>
            <a:endParaRPr lang="en-US" altLang="zh-TW" sz="1300"/>
          </a:p>
        </p:txBody>
      </p:sp>
      <p:sp>
        <p:nvSpPr>
          <p:cNvPr id="370691" name="Rectangle 2">
            <a:extLst>
              <a:ext uri="{FF2B5EF4-FFF2-40B4-BE49-F238E27FC236}">
                <a16:creationId xmlns:a16="http://schemas.microsoft.com/office/drawing/2014/main" id="{3F546063-3140-4281-8002-35AC0D616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2" name="Rectangle 3">
            <a:extLst>
              <a:ext uri="{FF2B5EF4-FFF2-40B4-BE49-F238E27FC236}">
                <a16:creationId xmlns:a16="http://schemas.microsoft.com/office/drawing/2014/main" id="{0FA71748-C466-41F3-8ACB-1113FDB4C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>
            <a:extLst>
              <a:ext uri="{FF2B5EF4-FFF2-40B4-BE49-F238E27FC236}">
                <a16:creationId xmlns:a16="http://schemas.microsoft.com/office/drawing/2014/main" id="{1207BE31-8254-4D6A-8C98-EAF067B19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F6FB449-FD4B-4077-B0DB-F7C1ED5F9CDC}" type="slidenum">
              <a:rPr lang="en-US" altLang="zh-TW" sz="1300"/>
              <a:pPr>
                <a:spcBef>
                  <a:spcPct val="0"/>
                </a:spcBef>
              </a:pPr>
              <a:t>179</a:t>
            </a:fld>
            <a:endParaRPr lang="en-US" altLang="zh-TW" sz="1300"/>
          </a:p>
        </p:txBody>
      </p:sp>
      <p:sp>
        <p:nvSpPr>
          <p:cNvPr id="372739" name="Rectangle 2">
            <a:extLst>
              <a:ext uri="{FF2B5EF4-FFF2-40B4-BE49-F238E27FC236}">
                <a16:creationId xmlns:a16="http://schemas.microsoft.com/office/drawing/2014/main" id="{0DC150BE-B858-4F3B-971D-0E5A0EECAA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0" name="Rectangle 3">
            <a:extLst>
              <a:ext uri="{FF2B5EF4-FFF2-40B4-BE49-F238E27FC236}">
                <a16:creationId xmlns:a16="http://schemas.microsoft.com/office/drawing/2014/main" id="{002CD8EA-7DD1-4B81-8C54-96AC76448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7">
            <a:extLst>
              <a:ext uri="{FF2B5EF4-FFF2-40B4-BE49-F238E27FC236}">
                <a16:creationId xmlns:a16="http://schemas.microsoft.com/office/drawing/2014/main" id="{B629D53A-D9E9-43C4-9069-B90F26F91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E86047E-B7BD-4D11-ACE8-2EDB6C91A191}" type="slidenum">
              <a:rPr lang="en-US" altLang="zh-TW" sz="1300"/>
              <a:pPr>
                <a:spcBef>
                  <a:spcPct val="0"/>
                </a:spcBef>
              </a:pPr>
              <a:t>180</a:t>
            </a:fld>
            <a:endParaRPr lang="en-US" altLang="zh-TW" sz="1300"/>
          </a:p>
        </p:txBody>
      </p:sp>
      <p:sp>
        <p:nvSpPr>
          <p:cNvPr id="374787" name="Rectangle 2">
            <a:extLst>
              <a:ext uri="{FF2B5EF4-FFF2-40B4-BE49-F238E27FC236}">
                <a16:creationId xmlns:a16="http://schemas.microsoft.com/office/drawing/2014/main" id="{08279FD9-2A6B-4960-867B-4C413CB86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74788" name="Rectangle 3">
            <a:extLst>
              <a:ext uri="{FF2B5EF4-FFF2-40B4-BE49-F238E27FC236}">
                <a16:creationId xmlns:a16="http://schemas.microsoft.com/office/drawing/2014/main" id="{A4375747-7922-40D7-A8C2-BEA784080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7">
            <a:extLst>
              <a:ext uri="{FF2B5EF4-FFF2-40B4-BE49-F238E27FC236}">
                <a16:creationId xmlns:a16="http://schemas.microsoft.com/office/drawing/2014/main" id="{99382F26-0F2B-4C9E-BB8A-173ECA5EC4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B3EC343-2CFC-4EB1-96E5-E9DFFF18A011}" type="slidenum">
              <a:rPr lang="en-US" altLang="zh-TW" sz="1300"/>
              <a:pPr>
                <a:spcBef>
                  <a:spcPct val="0"/>
                </a:spcBef>
              </a:pPr>
              <a:t>181</a:t>
            </a:fld>
            <a:endParaRPr lang="en-US" altLang="zh-TW" sz="1300"/>
          </a:p>
        </p:txBody>
      </p:sp>
      <p:sp>
        <p:nvSpPr>
          <p:cNvPr id="376835" name="Rectangle 2">
            <a:extLst>
              <a:ext uri="{FF2B5EF4-FFF2-40B4-BE49-F238E27FC236}">
                <a16:creationId xmlns:a16="http://schemas.microsoft.com/office/drawing/2014/main" id="{E9FD1A90-1A67-4AFD-B51C-350B2D379B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376836" name="Rectangle 3">
            <a:extLst>
              <a:ext uri="{FF2B5EF4-FFF2-40B4-BE49-F238E27FC236}">
                <a16:creationId xmlns:a16="http://schemas.microsoft.com/office/drawing/2014/main" id="{B323018C-4741-4804-A288-4CE3AFD1E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>
            <a:extLst>
              <a:ext uri="{FF2B5EF4-FFF2-40B4-BE49-F238E27FC236}">
                <a16:creationId xmlns:a16="http://schemas.microsoft.com/office/drawing/2014/main" id="{9D26B5C1-A3F5-4288-BF73-18140BE9B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5399DB5-3DEC-4265-99FF-8EC5FDCAD40C}" type="slidenum">
              <a:rPr lang="en-US" altLang="zh-TW" sz="1300"/>
              <a:pPr>
                <a:spcBef>
                  <a:spcPct val="0"/>
                </a:spcBef>
              </a:pPr>
              <a:t>182</a:t>
            </a:fld>
            <a:endParaRPr lang="en-US" altLang="zh-TW" sz="1300"/>
          </a:p>
        </p:txBody>
      </p:sp>
      <p:sp>
        <p:nvSpPr>
          <p:cNvPr id="378883" name="Rectangle 2">
            <a:extLst>
              <a:ext uri="{FF2B5EF4-FFF2-40B4-BE49-F238E27FC236}">
                <a16:creationId xmlns:a16="http://schemas.microsoft.com/office/drawing/2014/main" id="{37B469E3-D82B-45D5-A1E0-B49B4BB0A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4" name="Rectangle 3">
            <a:extLst>
              <a:ext uri="{FF2B5EF4-FFF2-40B4-BE49-F238E27FC236}">
                <a16:creationId xmlns:a16="http://schemas.microsoft.com/office/drawing/2014/main" id="{A8897368-AB13-4942-834F-99AD84C30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7">
            <a:extLst>
              <a:ext uri="{FF2B5EF4-FFF2-40B4-BE49-F238E27FC236}">
                <a16:creationId xmlns:a16="http://schemas.microsoft.com/office/drawing/2014/main" id="{846C5C98-EB16-49AE-9197-1150B44DA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397EF7C-45ED-4F8C-867D-D0D4D76E2085}" type="slidenum">
              <a:rPr lang="en-US" altLang="zh-TW" sz="1300"/>
              <a:pPr>
                <a:spcBef>
                  <a:spcPct val="0"/>
                </a:spcBef>
              </a:pPr>
              <a:t>183</a:t>
            </a:fld>
            <a:endParaRPr lang="en-US" altLang="zh-TW" sz="1300"/>
          </a:p>
        </p:txBody>
      </p:sp>
      <p:sp>
        <p:nvSpPr>
          <p:cNvPr id="380931" name="Rectangle 2">
            <a:extLst>
              <a:ext uri="{FF2B5EF4-FFF2-40B4-BE49-F238E27FC236}">
                <a16:creationId xmlns:a16="http://schemas.microsoft.com/office/drawing/2014/main" id="{65F9A296-0E10-4B47-90DE-B548AA934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80932" name="Rectangle 3">
            <a:extLst>
              <a:ext uri="{FF2B5EF4-FFF2-40B4-BE49-F238E27FC236}">
                <a16:creationId xmlns:a16="http://schemas.microsoft.com/office/drawing/2014/main" id="{CF6DD451-4FBF-4F1C-AA13-F45EF9567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TW" altLang="en-US"/>
              <a:t>另一類說法是，</a:t>
            </a:r>
            <a:r>
              <a:rPr lang="en-US" altLang="zh-TW"/>
              <a:t>state</a:t>
            </a:r>
            <a:r>
              <a:rPr lang="zh-TW" altLang="en-US"/>
              <a:t>也可以代表成式的流程控制和資料變數。</a:t>
            </a:r>
          </a:p>
          <a:p>
            <a:pPr eaLnBrk="1" hangingPunct="1"/>
            <a:r>
              <a:rPr lang="zh-TW" altLang="en-US"/>
              <a:t>注意前提是必須是</a:t>
            </a:r>
            <a:r>
              <a:rPr lang="en-US" altLang="zh-TW"/>
              <a:t>finite</a:t>
            </a: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投影片圖像版面配置區 1">
            <a:extLst>
              <a:ext uri="{FF2B5EF4-FFF2-40B4-BE49-F238E27FC236}">
                <a16:creationId xmlns:a16="http://schemas.microsoft.com/office/drawing/2014/main" id="{FBC3BA19-41B1-451D-9DB6-58E843DCB6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2979" name="備忘稿版面配置區 2">
            <a:extLst>
              <a:ext uri="{FF2B5EF4-FFF2-40B4-BE49-F238E27FC236}">
                <a16:creationId xmlns:a16="http://schemas.microsoft.com/office/drawing/2014/main" id="{C112A208-2E1B-4B38-AAC1-027C720FD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382980" name="投影片編號版面配置區 3">
            <a:extLst>
              <a:ext uri="{FF2B5EF4-FFF2-40B4-BE49-F238E27FC236}">
                <a16:creationId xmlns:a16="http://schemas.microsoft.com/office/drawing/2014/main" id="{28733628-AAC0-4FC8-9B67-0B9F36788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A4DF2BE-E17F-4FE9-AEBB-3ABB38A74A3D}" type="slidenum">
              <a:rPr lang="en-US" altLang="zh-TW" sz="1300"/>
              <a:pPr>
                <a:spcBef>
                  <a:spcPct val="0"/>
                </a:spcBef>
              </a:pPr>
              <a:t>184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投影片圖像版面配置區 1">
            <a:extLst>
              <a:ext uri="{FF2B5EF4-FFF2-40B4-BE49-F238E27FC236}">
                <a16:creationId xmlns:a16="http://schemas.microsoft.com/office/drawing/2014/main" id="{4E4B2AFC-AE61-4C8E-9C1F-CDF4BC030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備忘稿版面配置區 2">
            <a:extLst>
              <a:ext uri="{FF2B5EF4-FFF2-40B4-BE49-F238E27FC236}">
                <a16:creationId xmlns:a16="http://schemas.microsoft.com/office/drawing/2014/main" id="{F1C5A7CA-2339-41F9-B603-A67A147F9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385028" name="投影片編號版面配置區 3">
            <a:extLst>
              <a:ext uri="{FF2B5EF4-FFF2-40B4-BE49-F238E27FC236}">
                <a16:creationId xmlns:a16="http://schemas.microsoft.com/office/drawing/2014/main" id="{101DBFAC-393F-4F9A-8A29-65696686E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CEC2C19-6D61-4CD8-927B-33CD4C3DCA9F}" type="slidenum">
              <a:rPr lang="en-US" altLang="zh-TW" sz="1300"/>
              <a:pPr>
                <a:spcBef>
                  <a:spcPct val="0"/>
                </a:spcBef>
              </a:pPr>
              <a:t>185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投影片圖像版面配置區 1">
            <a:extLst>
              <a:ext uri="{FF2B5EF4-FFF2-40B4-BE49-F238E27FC236}">
                <a16:creationId xmlns:a16="http://schemas.microsoft.com/office/drawing/2014/main" id="{4A6F1BD0-65D3-4D69-BD05-BABE9BE3C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7075" name="備忘稿版面配置區 2">
            <a:extLst>
              <a:ext uri="{FF2B5EF4-FFF2-40B4-BE49-F238E27FC236}">
                <a16:creationId xmlns:a16="http://schemas.microsoft.com/office/drawing/2014/main" id="{B82CFF7D-2C25-4057-8C65-F33EDF6C9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/>
          </a:p>
        </p:txBody>
      </p:sp>
      <p:sp>
        <p:nvSpPr>
          <p:cNvPr id="387076" name="投影片編號版面配置區 3">
            <a:extLst>
              <a:ext uri="{FF2B5EF4-FFF2-40B4-BE49-F238E27FC236}">
                <a16:creationId xmlns:a16="http://schemas.microsoft.com/office/drawing/2014/main" id="{11D52FAE-1F27-40F3-83B6-2CBDA9926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D7E9DEB-2C07-4F47-ACFA-AEE7623C9C28}" type="slidenum">
              <a:rPr lang="en-US" altLang="zh-TW" sz="1300"/>
              <a:pPr>
                <a:spcBef>
                  <a:spcPct val="0"/>
                </a:spcBef>
              </a:pPr>
              <a:t>186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投影片圖像版面配置區 1">
            <a:extLst>
              <a:ext uri="{FF2B5EF4-FFF2-40B4-BE49-F238E27FC236}">
                <a16:creationId xmlns:a16="http://schemas.microsoft.com/office/drawing/2014/main" id="{6D217BE8-8F49-41E3-B236-3ED1D6C8F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3" name="備忘稿版面配置區 2">
            <a:extLst>
              <a:ext uri="{FF2B5EF4-FFF2-40B4-BE49-F238E27FC236}">
                <a16:creationId xmlns:a16="http://schemas.microsoft.com/office/drawing/2014/main" id="{A64625EA-E05D-4BA3-A613-9C2B6F061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89124" name="投影片編號版面配置區 3">
            <a:extLst>
              <a:ext uri="{FF2B5EF4-FFF2-40B4-BE49-F238E27FC236}">
                <a16:creationId xmlns:a16="http://schemas.microsoft.com/office/drawing/2014/main" id="{DDD36384-7BB5-467E-BC39-01526662A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1F19D16-C8C9-4C03-83D0-D674F0FC4514}" type="slidenum">
              <a:rPr lang="en-US" altLang="zh-TW" sz="1300"/>
              <a:pPr>
                <a:spcBef>
                  <a:spcPct val="0"/>
                </a:spcBef>
              </a:pPr>
              <a:t>187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投影片圖像版面配置區 1">
            <a:extLst>
              <a:ext uri="{FF2B5EF4-FFF2-40B4-BE49-F238E27FC236}">
                <a16:creationId xmlns:a16="http://schemas.microsoft.com/office/drawing/2014/main" id="{69CF8105-3CC0-4319-AB05-46A69BC84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1" name="備忘稿版面配置區 2">
            <a:extLst>
              <a:ext uri="{FF2B5EF4-FFF2-40B4-BE49-F238E27FC236}">
                <a16:creationId xmlns:a16="http://schemas.microsoft.com/office/drawing/2014/main" id="{CD6B621A-00DC-4999-8670-294AF64F0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1172" name="投影片編號版面配置區 3">
            <a:extLst>
              <a:ext uri="{FF2B5EF4-FFF2-40B4-BE49-F238E27FC236}">
                <a16:creationId xmlns:a16="http://schemas.microsoft.com/office/drawing/2014/main" id="{FB21BA1C-B5EA-452B-AD0B-7A364301C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00D0ABB-5E1A-4CD8-B4BD-2C513182F8BA}" type="slidenum">
              <a:rPr lang="en-US" altLang="zh-TW" sz="1300"/>
              <a:pPr>
                <a:spcBef>
                  <a:spcPct val="0"/>
                </a:spcBef>
              </a:pPr>
              <a:t>188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投影片圖像版面配置區 1">
            <a:extLst>
              <a:ext uri="{FF2B5EF4-FFF2-40B4-BE49-F238E27FC236}">
                <a16:creationId xmlns:a16="http://schemas.microsoft.com/office/drawing/2014/main" id="{EC41AB0E-8BC9-4894-9398-39C99BF68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19" name="備忘稿版面配置區 2">
            <a:extLst>
              <a:ext uri="{FF2B5EF4-FFF2-40B4-BE49-F238E27FC236}">
                <a16:creationId xmlns:a16="http://schemas.microsoft.com/office/drawing/2014/main" id="{6F73A8AA-94F9-4E03-8E88-28609697C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3220" name="投影片編號版面配置區 3">
            <a:extLst>
              <a:ext uri="{FF2B5EF4-FFF2-40B4-BE49-F238E27FC236}">
                <a16:creationId xmlns:a16="http://schemas.microsoft.com/office/drawing/2014/main" id="{1F28E3A6-D8FA-4CD9-9F39-42632B994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49CBD86-8498-4A81-9C1F-AE1A11253407}" type="slidenum">
              <a:rPr lang="en-US" altLang="zh-TW" sz="1300"/>
              <a:pPr>
                <a:spcBef>
                  <a:spcPct val="0"/>
                </a:spcBef>
              </a:pPr>
              <a:t>189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投影片圖像版面配置區 1">
            <a:extLst>
              <a:ext uri="{FF2B5EF4-FFF2-40B4-BE49-F238E27FC236}">
                <a16:creationId xmlns:a16="http://schemas.microsoft.com/office/drawing/2014/main" id="{D85F602E-F02D-4294-8F0B-9877AF35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備忘稿版面配置區 2">
            <a:extLst>
              <a:ext uri="{FF2B5EF4-FFF2-40B4-BE49-F238E27FC236}">
                <a16:creationId xmlns:a16="http://schemas.microsoft.com/office/drawing/2014/main" id="{74B2E7FB-70F9-4086-AF62-0DB2A415D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5268" name="投影片編號版面配置區 3">
            <a:extLst>
              <a:ext uri="{FF2B5EF4-FFF2-40B4-BE49-F238E27FC236}">
                <a16:creationId xmlns:a16="http://schemas.microsoft.com/office/drawing/2014/main" id="{3FB8F105-831E-4026-A64A-365A2EA4C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528F133-BBE1-4652-9A18-3D2269D86F42}" type="slidenum">
              <a:rPr lang="en-US" altLang="zh-TW" sz="1300"/>
              <a:pPr>
                <a:spcBef>
                  <a:spcPct val="0"/>
                </a:spcBef>
              </a:pPr>
              <a:t>190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投影片圖像版面配置區 1">
            <a:extLst>
              <a:ext uri="{FF2B5EF4-FFF2-40B4-BE49-F238E27FC236}">
                <a16:creationId xmlns:a16="http://schemas.microsoft.com/office/drawing/2014/main" id="{E9590605-0467-4DE7-B7CF-EEE5A64D7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5" name="備忘稿版面配置區 2">
            <a:extLst>
              <a:ext uri="{FF2B5EF4-FFF2-40B4-BE49-F238E27FC236}">
                <a16:creationId xmlns:a16="http://schemas.microsoft.com/office/drawing/2014/main" id="{DA2649CB-982E-450A-AB0D-EBD8AE333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7316" name="投影片編號版面配置區 3">
            <a:extLst>
              <a:ext uri="{FF2B5EF4-FFF2-40B4-BE49-F238E27FC236}">
                <a16:creationId xmlns:a16="http://schemas.microsoft.com/office/drawing/2014/main" id="{5671BEBA-660D-4E83-87BC-ED8642C8C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816D973-1839-4D7D-83F2-7518027D60B5}" type="slidenum">
              <a:rPr lang="en-US" altLang="zh-TW" sz="1300"/>
              <a:pPr>
                <a:spcBef>
                  <a:spcPct val="0"/>
                </a:spcBef>
              </a:pPr>
              <a:t>191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投影片圖像版面配置區 1">
            <a:extLst>
              <a:ext uri="{FF2B5EF4-FFF2-40B4-BE49-F238E27FC236}">
                <a16:creationId xmlns:a16="http://schemas.microsoft.com/office/drawing/2014/main" id="{ED4154AD-3889-40AB-B99A-025D55C2B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備忘稿版面配置區 2">
            <a:extLst>
              <a:ext uri="{FF2B5EF4-FFF2-40B4-BE49-F238E27FC236}">
                <a16:creationId xmlns:a16="http://schemas.microsoft.com/office/drawing/2014/main" id="{3BA2E53C-7739-4A18-BE9F-C91D298AB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9364" name="投影片編號版面配置區 3">
            <a:extLst>
              <a:ext uri="{FF2B5EF4-FFF2-40B4-BE49-F238E27FC236}">
                <a16:creationId xmlns:a16="http://schemas.microsoft.com/office/drawing/2014/main" id="{0169AFEE-F329-4EFC-83B0-0D7226C9F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7447D7D-BF2F-40A8-9EB2-B444C31FFA44}" type="slidenum">
              <a:rPr lang="en-US" altLang="zh-TW" sz="1300"/>
              <a:pPr>
                <a:spcBef>
                  <a:spcPct val="0"/>
                </a:spcBef>
              </a:pPr>
              <a:t>192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投影片圖像版面配置區 1">
            <a:extLst>
              <a:ext uri="{FF2B5EF4-FFF2-40B4-BE49-F238E27FC236}">
                <a16:creationId xmlns:a16="http://schemas.microsoft.com/office/drawing/2014/main" id="{4BEFABAC-CC48-4C81-88BE-F75C07A9D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備忘稿版面配置區 2">
            <a:extLst>
              <a:ext uri="{FF2B5EF4-FFF2-40B4-BE49-F238E27FC236}">
                <a16:creationId xmlns:a16="http://schemas.microsoft.com/office/drawing/2014/main" id="{1ABE6EB0-114C-4536-A2A4-BE9ABB6A4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1412" name="投影片編號版面配置區 3">
            <a:extLst>
              <a:ext uri="{FF2B5EF4-FFF2-40B4-BE49-F238E27FC236}">
                <a16:creationId xmlns:a16="http://schemas.microsoft.com/office/drawing/2014/main" id="{D14BB86F-D976-4DDC-A56B-8E210E209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1D4F4C9-C365-4EE7-822A-0E8E0365F835}" type="slidenum">
              <a:rPr lang="en-US" altLang="zh-TW" sz="1300"/>
              <a:pPr>
                <a:spcBef>
                  <a:spcPct val="0"/>
                </a:spcBef>
              </a:pPr>
              <a:t>193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投影片圖像版面配置區 1">
            <a:extLst>
              <a:ext uri="{FF2B5EF4-FFF2-40B4-BE49-F238E27FC236}">
                <a16:creationId xmlns:a16="http://schemas.microsoft.com/office/drawing/2014/main" id="{54E2947E-5D4C-4B43-B9A1-6683CFF89B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3459" name="備忘稿版面配置區 2">
            <a:extLst>
              <a:ext uri="{FF2B5EF4-FFF2-40B4-BE49-F238E27FC236}">
                <a16:creationId xmlns:a16="http://schemas.microsoft.com/office/drawing/2014/main" id="{C6CAF4D3-7DD3-4A76-B186-B17C26C47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3460" name="投影片編號版面配置區 3">
            <a:extLst>
              <a:ext uri="{FF2B5EF4-FFF2-40B4-BE49-F238E27FC236}">
                <a16:creationId xmlns:a16="http://schemas.microsoft.com/office/drawing/2014/main" id="{CFA3DECE-AE4B-4C07-88D3-F80BDEDB6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BEDCD58-C621-4A67-99C1-BFDBC7AF2E39}" type="slidenum">
              <a:rPr lang="en-US" altLang="zh-TW" sz="1300"/>
              <a:pPr>
                <a:spcBef>
                  <a:spcPct val="0"/>
                </a:spcBef>
              </a:pPr>
              <a:t>194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投影片圖像版面配置區 1">
            <a:extLst>
              <a:ext uri="{FF2B5EF4-FFF2-40B4-BE49-F238E27FC236}">
                <a16:creationId xmlns:a16="http://schemas.microsoft.com/office/drawing/2014/main" id="{E439990D-E701-4415-9F62-A6AD46CA06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5507" name="備忘稿版面配置區 2">
            <a:extLst>
              <a:ext uri="{FF2B5EF4-FFF2-40B4-BE49-F238E27FC236}">
                <a16:creationId xmlns:a16="http://schemas.microsoft.com/office/drawing/2014/main" id="{01F31927-CAB5-42C9-9BD3-A16369109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5508" name="投影片編號版面配置區 3">
            <a:extLst>
              <a:ext uri="{FF2B5EF4-FFF2-40B4-BE49-F238E27FC236}">
                <a16:creationId xmlns:a16="http://schemas.microsoft.com/office/drawing/2014/main" id="{3B895447-8B90-4E7C-A46A-649AC9A22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7127D22-F030-4474-BBAD-BB6FDF07AA96}" type="slidenum">
              <a:rPr lang="en-US" altLang="zh-TW" sz="1300"/>
              <a:pPr>
                <a:spcBef>
                  <a:spcPct val="0"/>
                </a:spcBef>
              </a:pPr>
              <a:t>195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投影片圖像版面配置區 1">
            <a:extLst>
              <a:ext uri="{FF2B5EF4-FFF2-40B4-BE49-F238E27FC236}">
                <a16:creationId xmlns:a16="http://schemas.microsoft.com/office/drawing/2014/main" id="{E9E4141B-E2E1-4EAD-8148-0BD4D2FCD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備忘稿版面配置區 2">
            <a:extLst>
              <a:ext uri="{FF2B5EF4-FFF2-40B4-BE49-F238E27FC236}">
                <a16:creationId xmlns:a16="http://schemas.microsoft.com/office/drawing/2014/main" id="{060E5180-2B81-4513-BC1C-BC4B27AB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7556" name="投影片編號版面配置區 3">
            <a:extLst>
              <a:ext uri="{FF2B5EF4-FFF2-40B4-BE49-F238E27FC236}">
                <a16:creationId xmlns:a16="http://schemas.microsoft.com/office/drawing/2014/main" id="{3DE8F5D5-0096-4B36-8148-9C837FFCC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D31591B-B674-4AE4-B15C-6B205A8750D3}" type="slidenum">
              <a:rPr lang="en-US" altLang="zh-TW" sz="1300"/>
              <a:pPr>
                <a:spcBef>
                  <a:spcPct val="0"/>
                </a:spcBef>
              </a:pPr>
              <a:t>196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投影片圖像版面配置區 1">
            <a:extLst>
              <a:ext uri="{FF2B5EF4-FFF2-40B4-BE49-F238E27FC236}">
                <a16:creationId xmlns:a16="http://schemas.microsoft.com/office/drawing/2014/main" id="{9EC19689-FEC4-467E-844B-A8DCC3984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備忘稿版面配置區 2">
            <a:extLst>
              <a:ext uri="{FF2B5EF4-FFF2-40B4-BE49-F238E27FC236}">
                <a16:creationId xmlns:a16="http://schemas.microsoft.com/office/drawing/2014/main" id="{7E008C70-4A9A-4EE2-9522-DBF6B63C4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9604" name="投影片編號版面配置區 3">
            <a:extLst>
              <a:ext uri="{FF2B5EF4-FFF2-40B4-BE49-F238E27FC236}">
                <a16:creationId xmlns:a16="http://schemas.microsoft.com/office/drawing/2014/main" id="{0A11F9CF-5F8A-4533-8E98-8326CBF81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D221F96-1B3F-4C68-8FF2-7658570F24C1}" type="slidenum">
              <a:rPr lang="en-US" altLang="zh-TW" sz="1300"/>
              <a:pPr>
                <a:spcBef>
                  <a:spcPct val="0"/>
                </a:spcBef>
              </a:pPr>
              <a:t>197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投影片圖像版面配置區 1">
            <a:extLst>
              <a:ext uri="{FF2B5EF4-FFF2-40B4-BE49-F238E27FC236}">
                <a16:creationId xmlns:a16="http://schemas.microsoft.com/office/drawing/2014/main" id="{3002AB46-8364-46B9-B21E-19E74CA4A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備忘稿版面配置區 2">
            <a:extLst>
              <a:ext uri="{FF2B5EF4-FFF2-40B4-BE49-F238E27FC236}">
                <a16:creationId xmlns:a16="http://schemas.microsoft.com/office/drawing/2014/main" id="{5206494A-58F5-462B-9945-27044DAE9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12676" name="投影片編號版面配置區 3">
            <a:extLst>
              <a:ext uri="{FF2B5EF4-FFF2-40B4-BE49-F238E27FC236}">
                <a16:creationId xmlns:a16="http://schemas.microsoft.com/office/drawing/2014/main" id="{A63F4C7A-7825-4735-B685-DC45FDAE7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89B0720-644F-4E3A-9204-BDF3BEECF2B4}" type="slidenum">
              <a:rPr lang="en-US" altLang="zh-TW" sz="1300"/>
              <a:pPr>
                <a:spcBef>
                  <a:spcPct val="0"/>
                </a:spcBef>
              </a:pPr>
              <a:t>199</a:t>
            </a:fld>
            <a:endParaRPr lang="en-US" altLang="zh-TW" sz="1300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>
            <a:extLst>
              <a:ext uri="{FF2B5EF4-FFF2-40B4-BE49-F238E27FC236}">
                <a16:creationId xmlns:a16="http://schemas.microsoft.com/office/drawing/2014/main" id="{A8EA5671-503A-4A13-AA93-DF1C0768D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AE6FA6A-80FA-4492-ABC3-682B5E80EAE6}" type="slidenum">
              <a:rPr lang="en-US" altLang="zh-TW" sz="1300"/>
              <a:pPr>
                <a:spcBef>
                  <a:spcPct val="0"/>
                </a:spcBef>
              </a:pPr>
              <a:t>203</a:t>
            </a:fld>
            <a:endParaRPr lang="en-US" altLang="zh-TW" sz="1300"/>
          </a:p>
        </p:txBody>
      </p:sp>
      <p:sp>
        <p:nvSpPr>
          <p:cNvPr id="417795" name="Rectangle 2">
            <a:extLst>
              <a:ext uri="{FF2B5EF4-FFF2-40B4-BE49-F238E27FC236}">
                <a16:creationId xmlns:a16="http://schemas.microsoft.com/office/drawing/2014/main" id="{5510AAC6-CE04-4600-B0E6-8759069D9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6" name="Rectangle 3">
            <a:extLst>
              <a:ext uri="{FF2B5EF4-FFF2-40B4-BE49-F238E27FC236}">
                <a16:creationId xmlns:a16="http://schemas.microsoft.com/office/drawing/2014/main" id="{A0D4DE9D-2D8E-410E-92D2-F32531A3D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7">
            <a:extLst>
              <a:ext uri="{FF2B5EF4-FFF2-40B4-BE49-F238E27FC236}">
                <a16:creationId xmlns:a16="http://schemas.microsoft.com/office/drawing/2014/main" id="{82CC365B-781C-4AE6-9384-BB9143131D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A156BDF-8699-4212-9879-BA5EDC7E4BAD}" type="slidenum">
              <a:rPr lang="en-US" altLang="zh-TW" sz="1300"/>
              <a:pPr>
                <a:spcBef>
                  <a:spcPct val="0"/>
                </a:spcBef>
              </a:pPr>
              <a:t>204</a:t>
            </a:fld>
            <a:endParaRPr lang="en-US" altLang="zh-TW" sz="1300"/>
          </a:p>
        </p:txBody>
      </p:sp>
      <p:sp>
        <p:nvSpPr>
          <p:cNvPr id="419843" name="Rectangle 2">
            <a:extLst>
              <a:ext uri="{FF2B5EF4-FFF2-40B4-BE49-F238E27FC236}">
                <a16:creationId xmlns:a16="http://schemas.microsoft.com/office/drawing/2014/main" id="{CDEA3A69-4B6A-406F-BF3F-E14375C5C1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419844" name="Rectangle 3">
            <a:extLst>
              <a:ext uri="{FF2B5EF4-FFF2-40B4-BE49-F238E27FC236}">
                <a16:creationId xmlns:a16="http://schemas.microsoft.com/office/drawing/2014/main" id="{1B7B359A-D3EF-4E15-B6B1-D195DE6B1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7">
            <a:extLst>
              <a:ext uri="{FF2B5EF4-FFF2-40B4-BE49-F238E27FC236}">
                <a16:creationId xmlns:a16="http://schemas.microsoft.com/office/drawing/2014/main" id="{7C4532A0-3345-4FC8-B035-2C0AF9248D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175B043-5A11-494B-B756-51776A469596}" type="slidenum">
              <a:rPr lang="en-US" altLang="zh-TW" sz="1300"/>
              <a:pPr>
                <a:spcBef>
                  <a:spcPct val="0"/>
                </a:spcBef>
              </a:pPr>
              <a:t>205</a:t>
            </a:fld>
            <a:endParaRPr lang="en-US" altLang="zh-TW" sz="1300"/>
          </a:p>
        </p:txBody>
      </p:sp>
      <p:sp>
        <p:nvSpPr>
          <p:cNvPr id="421891" name="Rectangle 2">
            <a:extLst>
              <a:ext uri="{FF2B5EF4-FFF2-40B4-BE49-F238E27FC236}">
                <a16:creationId xmlns:a16="http://schemas.microsoft.com/office/drawing/2014/main" id="{BD6786D3-9C2E-4983-A7B7-B4E69AAD20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2" name="Rectangle 3">
            <a:extLst>
              <a:ext uri="{FF2B5EF4-FFF2-40B4-BE49-F238E27FC236}">
                <a16:creationId xmlns:a16="http://schemas.microsoft.com/office/drawing/2014/main" id="{2CC41FE4-B103-467B-83F2-A18DEB701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/>
              <a:t>此</a:t>
            </a:r>
            <a:r>
              <a:rPr kumimoji="0" lang="en-US" altLang="zh-TW"/>
              <a:t>SLIDE</a:t>
            </a:r>
            <a:r>
              <a:rPr kumimoji="0" lang="zh-TW" altLang="en-US"/>
              <a:t>是關於 </a:t>
            </a:r>
            <a:r>
              <a:rPr lang="en-US" altLang="zh-TW"/>
              <a:t>model checking Framework.</a:t>
            </a:r>
          </a:p>
          <a:p>
            <a:pPr eaLnBrk="1" hangingPunct="1"/>
            <a:r>
              <a:rPr lang="zh-TW" altLang="en-US"/>
              <a:t>一開始我們會建立一個模型 並且 撰寫 一些 利用 </a:t>
            </a:r>
            <a:r>
              <a:rPr lang="en-US" altLang="zh-TW"/>
              <a:t>temporal logic formula </a:t>
            </a:r>
            <a:r>
              <a:rPr lang="zh-TW" altLang="en-US"/>
              <a:t>寫成的 </a:t>
            </a:r>
            <a:r>
              <a:rPr lang="en-US" altLang="zh-TW"/>
              <a:t>properties.</a:t>
            </a:r>
          </a:p>
          <a:p>
            <a:pPr eaLnBrk="1" hangingPunct="1"/>
            <a:r>
              <a:rPr lang="zh-TW" altLang="en-US"/>
              <a:t>然後</a:t>
            </a:r>
            <a:r>
              <a:rPr lang="en-US" altLang="zh-TW"/>
              <a:t>, </a:t>
            </a:r>
            <a:r>
              <a:rPr lang="zh-TW" altLang="en-US"/>
              <a:t>我們會把這些 </a:t>
            </a:r>
            <a:r>
              <a:rPr lang="en-US" altLang="zh-TW"/>
              <a:t>properties </a:t>
            </a:r>
            <a:r>
              <a:rPr lang="zh-TW" altLang="en-US"/>
              <a:t>輸入到 </a:t>
            </a:r>
            <a:r>
              <a:rPr lang="en-US" altLang="zh-TW"/>
              <a:t>model checker</a:t>
            </a:r>
            <a:r>
              <a:rPr lang="zh-TW" altLang="en-US"/>
              <a:t>中</a:t>
            </a:r>
            <a:r>
              <a:rPr lang="en-US" altLang="zh-TW"/>
              <a:t>, </a:t>
            </a:r>
            <a:r>
              <a:rPr lang="zh-TW" altLang="en-US"/>
              <a:t>最後會產生報告說是否和規格有產生反例</a:t>
            </a:r>
            <a:r>
              <a:rPr lang="en-US" altLang="zh-TW"/>
              <a:t>.</a:t>
            </a: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7">
            <a:extLst>
              <a:ext uri="{FF2B5EF4-FFF2-40B4-BE49-F238E27FC236}">
                <a16:creationId xmlns:a16="http://schemas.microsoft.com/office/drawing/2014/main" id="{9CC9F45A-FBB8-4426-A64A-856146C5B9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AA05A1F-906F-43A1-B5AF-656798CEC0AA}" type="slidenum">
              <a:rPr lang="en-US" altLang="zh-TW" sz="1300"/>
              <a:pPr>
                <a:spcBef>
                  <a:spcPct val="0"/>
                </a:spcBef>
              </a:pPr>
              <a:t>206</a:t>
            </a:fld>
            <a:endParaRPr lang="en-US" altLang="zh-TW" sz="1300"/>
          </a:p>
        </p:txBody>
      </p:sp>
      <p:sp>
        <p:nvSpPr>
          <p:cNvPr id="423939" name="Rectangle 2">
            <a:extLst>
              <a:ext uri="{FF2B5EF4-FFF2-40B4-BE49-F238E27FC236}">
                <a16:creationId xmlns:a16="http://schemas.microsoft.com/office/drawing/2014/main" id="{CE9CE02F-B92E-486A-A60B-32D6A1A73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23940" name="Rectangle 3">
            <a:extLst>
              <a:ext uri="{FF2B5EF4-FFF2-40B4-BE49-F238E27FC236}">
                <a16:creationId xmlns:a16="http://schemas.microsoft.com/office/drawing/2014/main" id="{27FCB304-2D88-46A2-AFE0-D22D2202F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7">
            <a:extLst>
              <a:ext uri="{FF2B5EF4-FFF2-40B4-BE49-F238E27FC236}">
                <a16:creationId xmlns:a16="http://schemas.microsoft.com/office/drawing/2014/main" id="{B1CAD95C-287A-49A8-82A0-1C838B54D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E2D383B-A3FB-4BE7-9247-1B62C891341F}" type="slidenum">
              <a:rPr lang="en-US" altLang="zh-TW" sz="1300"/>
              <a:pPr>
                <a:spcBef>
                  <a:spcPct val="0"/>
                </a:spcBef>
              </a:pPr>
              <a:t>207</a:t>
            </a:fld>
            <a:endParaRPr lang="en-US" altLang="zh-TW" sz="1300"/>
          </a:p>
        </p:txBody>
      </p:sp>
      <p:sp>
        <p:nvSpPr>
          <p:cNvPr id="425987" name="Rectangle 2">
            <a:extLst>
              <a:ext uri="{FF2B5EF4-FFF2-40B4-BE49-F238E27FC236}">
                <a16:creationId xmlns:a16="http://schemas.microsoft.com/office/drawing/2014/main" id="{52E0600E-8890-4A90-B84B-79754216D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25988" name="Rectangle 3">
            <a:extLst>
              <a:ext uri="{FF2B5EF4-FFF2-40B4-BE49-F238E27FC236}">
                <a16:creationId xmlns:a16="http://schemas.microsoft.com/office/drawing/2014/main" id="{02BCA583-6B9F-4851-BEFD-59BF1FDD2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7">
            <a:extLst>
              <a:ext uri="{FF2B5EF4-FFF2-40B4-BE49-F238E27FC236}">
                <a16:creationId xmlns:a16="http://schemas.microsoft.com/office/drawing/2014/main" id="{30BCC4F3-9D7D-43FA-9FBC-3AA5AFFF6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9D7B7F4-5F95-4D4D-9485-60A372C1EE4D}" type="slidenum">
              <a:rPr lang="en-US" altLang="zh-TW" sz="1300"/>
              <a:pPr>
                <a:spcBef>
                  <a:spcPct val="0"/>
                </a:spcBef>
              </a:pPr>
              <a:t>208</a:t>
            </a:fld>
            <a:endParaRPr lang="en-US" altLang="zh-TW" sz="1300"/>
          </a:p>
        </p:txBody>
      </p:sp>
      <p:sp>
        <p:nvSpPr>
          <p:cNvPr id="428035" name="Rectangle 2">
            <a:extLst>
              <a:ext uri="{FF2B5EF4-FFF2-40B4-BE49-F238E27FC236}">
                <a16:creationId xmlns:a16="http://schemas.microsoft.com/office/drawing/2014/main" id="{E91BCBAE-9CEC-4B19-A521-AE21A44E99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28036" name="Rectangle 3">
            <a:extLst>
              <a:ext uri="{FF2B5EF4-FFF2-40B4-BE49-F238E27FC236}">
                <a16:creationId xmlns:a16="http://schemas.microsoft.com/office/drawing/2014/main" id="{93D1C195-05FF-4975-9005-C34366E43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7">
            <a:extLst>
              <a:ext uri="{FF2B5EF4-FFF2-40B4-BE49-F238E27FC236}">
                <a16:creationId xmlns:a16="http://schemas.microsoft.com/office/drawing/2014/main" id="{FD3BCDCC-465C-4257-8C17-A4D3806E6C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0928C00-64DF-4C0A-A599-EDAAD957337A}" type="slidenum">
              <a:rPr lang="en-US" altLang="zh-TW" sz="1300"/>
              <a:pPr>
                <a:spcBef>
                  <a:spcPct val="0"/>
                </a:spcBef>
              </a:pPr>
              <a:t>209</a:t>
            </a:fld>
            <a:endParaRPr lang="en-US" altLang="zh-TW" sz="1300"/>
          </a:p>
        </p:txBody>
      </p:sp>
      <p:sp>
        <p:nvSpPr>
          <p:cNvPr id="430083" name="Rectangle 2">
            <a:extLst>
              <a:ext uri="{FF2B5EF4-FFF2-40B4-BE49-F238E27FC236}">
                <a16:creationId xmlns:a16="http://schemas.microsoft.com/office/drawing/2014/main" id="{CEDC2DBF-9811-4FE6-9926-D51F1EF9FD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084" name="Rectangle 3">
            <a:extLst>
              <a:ext uri="{FF2B5EF4-FFF2-40B4-BE49-F238E27FC236}">
                <a16:creationId xmlns:a16="http://schemas.microsoft.com/office/drawing/2014/main" id="{86B6BAD4-6F19-48E5-AAED-1C7A5966E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7">
            <a:extLst>
              <a:ext uri="{FF2B5EF4-FFF2-40B4-BE49-F238E27FC236}">
                <a16:creationId xmlns:a16="http://schemas.microsoft.com/office/drawing/2014/main" id="{FAA34BCB-ECC5-46B8-84CC-C9E9D3A48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6ED28B4-BF50-46F1-9165-52DE2F6E0105}" type="slidenum">
              <a:rPr lang="en-US" altLang="zh-TW" sz="1300"/>
              <a:pPr>
                <a:spcBef>
                  <a:spcPct val="0"/>
                </a:spcBef>
              </a:pPr>
              <a:t>210</a:t>
            </a:fld>
            <a:endParaRPr lang="en-US" altLang="zh-TW" sz="1300"/>
          </a:p>
        </p:txBody>
      </p:sp>
      <p:sp>
        <p:nvSpPr>
          <p:cNvPr id="432131" name="Rectangle 2">
            <a:extLst>
              <a:ext uri="{FF2B5EF4-FFF2-40B4-BE49-F238E27FC236}">
                <a16:creationId xmlns:a16="http://schemas.microsoft.com/office/drawing/2014/main" id="{7020EC3D-B3B5-4C4B-8E2F-0D2C1D86C9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2132" name="Rectangle 3">
            <a:extLst>
              <a:ext uri="{FF2B5EF4-FFF2-40B4-BE49-F238E27FC236}">
                <a16:creationId xmlns:a16="http://schemas.microsoft.com/office/drawing/2014/main" id="{63C74998-F1BF-4B50-BC28-00042B1BE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7">
            <a:extLst>
              <a:ext uri="{FF2B5EF4-FFF2-40B4-BE49-F238E27FC236}">
                <a16:creationId xmlns:a16="http://schemas.microsoft.com/office/drawing/2014/main" id="{11FEF6A3-317C-4304-9E63-5D9535569F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54DAC6E-124A-4421-9E69-F5A78783056A}" type="slidenum">
              <a:rPr lang="en-US" altLang="zh-TW" sz="1300"/>
              <a:pPr>
                <a:spcBef>
                  <a:spcPct val="0"/>
                </a:spcBef>
              </a:pPr>
              <a:t>211</a:t>
            </a:fld>
            <a:endParaRPr lang="en-US" altLang="zh-TW" sz="1300"/>
          </a:p>
        </p:txBody>
      </p:sp>
      <p:sp>
        <p:nvSpPr>
          <p:cNvPr id="434179" name="Rectangle 2">
            <a:extLst>
              <a:ext uri="{FF2B5EF4-FFF2-40B4-BE49-F238E27FC236}">
                <a16:creationId xmlns:a16="http://schemas.microsoft.com/office/drawing/2014/main" id="{6D28E104-4992-423C-BBD3-E67E6D5F55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4180" name="Rectangle 3">
            <a:extLst>
              <a:ext uri="{FF2B5EF4-FFF2-40B4-BE49-F238E27FC236}">
                <a16:creationId xmlns:a16="http://schemas.microsoft.com/office/drawing/2014/main" id="{06BCE854-14FD-465A-A21D-2522BE8D7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7">
            <a:extLst>
              <a:ext uri="{FF2B5EF4-FFF2-40B4-BE49-F238E27FC236}">
                <a16:creationId xmlns:a16="http://schemas.microsoft.com/office/drawing/2014/main" id="{4E3BD3E4-2FFE-4281-B1AA-676DC861A2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096DB35-8467-4123-B495-CDF538DBF86D}" type="slidenum">
              <a:rPr lang="en-US" altLang="zh-TW" sz="1300"/>
              <a:pPr>
                <a:spcBef>
                  <a:spcPct val="0"/>
                </a:spcBef>
              </a:pPr>
              <a:t>212</a:t>
            </a:fld>
            <a:endParaRPr lang="en-US" altLang="zh-TW" sz="1300"/>
          </a:p>
        </p:txBody>
      </p:sp>
      <p:sp>
        <p:nvSpPr>
          <p:cNvPr id="436227" name="Rectangle 2">
            <a:extLst>
              <a:ext uri="{FF2B5EF4-FFF2-40B4-BE49-F238E27FC236}">
                <a16:creationId xmlns:a16="http://schemas.microsoft.com/office/drawing/2014/main" id="{99B4C2A7-EF13-4B0B-AEEC-61B592D2B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6228" name="Rectangle 3">
            <a:extLst>
              <a:ext uri="{FF2B5EF4-FFF2-40B4-BE49-F238E27FC236}">
                <a16:creationId xmlns:a16="http://schemas.microsoft.com/office/drawing/2014/main" id="{F1F8F6ED-2C62-40D0-AB42-7DE679C37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7">
            <a:extLst>
              <a:ext uri="{FF2B5EF4-FFF2-40B4-BE49-F238E27FC236}">
                <a16:creationId xmlns:a16="http://schemas.microsoft.com/office/drawing/2014/main" id="{F2AF3BD8-2529-44F4-96EB-598698486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233288F-98CC-4100-A600-5A9C06C5D842}" type="slidenum">
              <a:rPr lang="en-US" altLang="zh-TW" sz="1300"/>
              <a:pPr>
                <a:spcBef>
                  <a:spcPct val="0"/>
                </a:spcBef>
              </a:pPr>
              <a:t>213</a:t>
            </a:fld>
            <a:endParaRPr lang="en-US" altLang="zh-TW" sz="1300"/>
          </a:p>
        </p:txBody>
      </p:sp>
      <p:sp>
        <p:nvSpPr>
          <p:cNvPr id="438275" name="Rectangle 2">
            <a:extLst>
              <a:ext uri="{FF2B5EF4-FFF2-40B4-BE49-F238E27FC236}">
                <a16:creationId xmlns:a16="http://schemas.microsoft.com/office/drawing/2014/main" id="{26F36717-C663-470D-90D9-79C550DB96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8276" name="Rectangle 3">
            <a:extLst>
              <a:ext uri="{FF2B5EF4-FFF2-40B4-BE49-F238E27FC236}">
                <a16:creationId xmlns:a16="http://schemas.microsoft.com/office/drawing/2014/main" id="{4FA43D8A-5487-422B-A610-2E7A7A48C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7">
            <a:extLst>
              <a:ext uri="{FF2B5EF4-FFF2-40B4-BE49-F238E27FC236}">
                <a16:creationId xmlns:a16="http://schemas.microsoft.com/office/drawing/2014/main" id="{A5DE9A8F-0EC8-46AA-BFC8-909BB9A5E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3D4016-DEBF-4953-B971-5A444C9D96F6}" type="slidenum">
              <a:rPr lang="en-US" altLang="zh-TW" sz="1300"/>
              <a:pPr>
                <a:spcBef>
                  <a:spcPct val="0"/>
                </a:spcBef>
              </a:pPr>
              <a:t>214</a:t>
            </a:fld>
            <a:endParaRPr lang="en-US" altLang="zh-TW" sz="1300"/>
          </a:p>
        </p:txBody>
      </p:sp>
      <p:sp>
        <p:nvSpPr>
          <p:cNvPr id="440323" name="Rectangle 2">
            <a:extLst>
              <a:ext uri="{FF2B5EF4-FFF2-40B4-BE49-F238E27FC236}">
                <a16:creationId xmlns:a16="http://schemas.microsoft.com/office/drawing/2014/main" id="{0AC8EE9F-BAC8-4F76-9C3E-2FD2A634D3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24" name="Rectangle 3">
            <a:extLst>
              <a:ext uri="{FF2B5EF4-FFF2-40B4-BE49-F238E27FC236}">
                <a16:creationId xmlns:a16="http://schemas.microsoft.com/office/drawing/2014/main" id="{525E4F5A-2C7F-479E-8DE5-F7CFBCEE1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>
            <a:extLst>
              <a:ext uri="{FF2B5EF4-FFF2-40B4-BE49-F238E27FC236}">
                <a16:creationId xmlns:a16="http://schemas.microsoft.com/office/drawing/2014/main" id="{C7324F71-CE5A-4B8E-8E06-5983B9797C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687E816-A316-4057-8997-7006B22CE195}" type="slidenum">
              <a:rPr lang="en-US" altLang="zh-TW" sz="1300"/>
              <a:pPr>
                <a:spcBef>
                  <a:spcPct val="0"/>
                </a:spcBef>
              </a:pPr>
              <a:t>215</a:t>
            </a:fld>
            <a:endParaRPr lang="en-US" altLang="zh-TW" sz="1300"/>
          </a:p>
        </p:txBody>
      </p:sp>
      <p:sp>
        <p:nvSpPr>
          <p:cNvPr id="442371" name="Rectangle 2">
            <a:extLst>
              <a:ext uri="{FF2B5EF4-FFF2-40B4-BE49-F238E27FC236}">
                <a16:creationId xmlns:a16="http://schemas.microsoft.com/office/drawing/2014/main" id="{A5D04C26-F5B6-448C-AD49-3989BCF7B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2372" name="Rectangle 3">
            <a:extLst>
              <a:ext uri="{FF2B5EF4-FFF2-40B4-BE49-F238E27FC236}">
                <a16:creationId xmlns:a16="http://schemas.microsoft.com/office/drawing/2014/main" id="{6A39CC4C-1BF4-4B69-B84E-A0BFD1817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7">
            <a:extLst>
              <a:ext uri="{FF2B5EF4-FFF2-40B4-BE49-F238E27FC236}">
                <a16:creationId xmlns:a16="http://schemas.microsoft.com/office/drawing/2014/main" id="{DD3C0D88-2E7A-46D1-9FA8-F3E1D6691E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E9893DD-29E2-4F4A-8746-7ABBF9415502}" type="slidenum">
              <a:rPr lang="en-US" altLang="zh-TW" sz="1300"/>
              <a:pPr>
                <a:spcBef>
                  <a:spcPct val="0"/>
                </a:spcBef>
              </a:pPr>
              <a:t>216</a:t>
            </a:fld>
            <a:endParaRPr lang="en-US" altLang="zh-TW" sz="1300"/>
          </a:p>
        </p:txBody>
      </p:sp>
      <p:sp>
        <p:nvSpPr>
          <p:cNvPr id="444419" name="Rectangle 2">
            <a:extLst>
              <a:ext uri="{FF2B5EF4-FFF2-40B4-BE49-F238E27FC236}">
                <a16:creationId xmlns:a16="http://schemas.microsoft.com/office/drawing/2014/main" id="{EC343136-AEA1-4673-99AA-B80AB63786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4420" name="Rectangle 3">
            <a:extLst>
              <a:ext uri="{FF2B5EF4-FFF2-40B4-BE49-F238E27FC236}">
                <a16:creationId xmlns:a16="http://schemas.microsoft.com/office/drawing/2014/main" id="{22EFB405-29C4-4F80-863D-313F27F64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7">
            <a:extLst>
              <a:ext uri="{FF2B5EF4-FFF2-40B4-BE49-F238E27FC236}">
                <a16:creationId xmlns:a16="http://schemas.microsoft.com/office/drawing/2014/main" id="{F2FF499C-A384-4134-964E-25C9ED20E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D7D517B-2E5A-47FE-8291-95800E202FBE}" type="slidenum">
              <a:rPr lang="en-US" altLang="zh-TW" sz="1300"/>
              <a:pPr>
                <a:spcBef>
                  <a:spcPct val="0"/>
                </a:spcBef>
              </a:pPr>
              <a:t>217</a:t>
            </a:fld>
            <a:endParaRPr lang="en-US" altLang="zh-TW" sz="1300"/>
          </a:p>
        </p:txBody>
      </p:sp>
      <p:sp>
        <p:nvSpPr>
          <p:cNvPr id="446467" name="Rectangle 2">
            <a:extLst>
              <a:ext uri="{FF2B5EF4-FFF2-40B4-BE49-F238E27FC236}">
                <a16:creationId xmlns:a16="http://schemas.microsoft.com/office/drawing/2014/main" id="{7358FC7E-D21F-440F-BCD4-F366C8909E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6468" name="Rectangle 3">
            <a:extLst>
              <a:ext uri="{FF2B5EF4-FFF2-40B4-BE49-F238E27FC236}">
                <a16:creationId xmlns:a16="http://schemas.microsoft.com/office/drawing/2014/main" id="{46794086-FCEC-453E-B662-9BB52EA75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7">
            <a:extLst>
              <a:ext uri="{FF2B5EF4-FFF2-40B4-BE49-F238E27FC236}">
                <a16:creationId xmlns:a16="http://schemas.microsoft.com/office/drawing/2014/main" id="{384ECA02-62C7-4937-ADB9-B877E01C3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31C520B-9B10-4A3B-AC2B-A12B7A16001C}" type="slidenum">
              <a:rPr lang="en-US" altLang="zh-TW" sz="1300"/>
              <a:pPr>
                <a:spcBef>
                  <a:spcPct val="0"/>
                </a:spcBef>
              </a:pPr>
              <a:t>218</a:t>
            </a:fld>
            <a:endParaRPr lang="en-US" altLang="zh-TW" sz="1300"/>
          </a:p>
        </p:txBody>
      </p:sp>
      <p:sp>
        <p:nvSpPr>
          <p:cNvPr id="448515" name="Rectangle 2">
            <a:extLst>
              <a:ext uri="{FF2B5EF4-FFF2-40B4-BE49-F238E27FC236}">
                <a16:creationId xmlns:a16="http://schemas.microsoft.com/office/drawing/2014/main" id="{95E6AFEC-4431-4A52-ADFB-C66FE6C957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8516" name="Rectangle 3">
            <a:extLst>
              <a:ext uri="{FF2B5EF4-FFF2-40B4-BE49-F238E27FC236}">
                <a16:creationId xmlns:a16="http://schemas.microsoft.com/office/drawing/2014/main" id="{53B52C87-78E6-40EA-97B5-747CD09F1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7">
            <a:extLst>
              <a:ext uri="{FF2B5EF4-FFF2-40B4-BE49-F238E27FC236}">
                <a16:creationId xmlns:a16="http://schemas.microsoft.com/office/drawing/2014/main" id="{72262576-0685-4D7E-9717-BBFB9EA903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00889F3-F563-48E1-9C09-84B7DECE6DBC}" type="slidenum">
              <a:rPr lang="en-US" altLang="zh-TW" sz="1300"/>
              <a:pPr>
                <a:spcBef>
                  <a:spcPct val="0"/>
                </a:spcBef>
              </a:pPr>
              <a:t>219</a:t>
            </a:fld>
            <a:endParaRPr lang="en-US" altLang="zh-TW" sz="1300"/>
          </a:p>
        </p:txBody>
      </p:sp>
      <p:sp>
        <p:nvSpPr>
          <p:cNvPr id="450563" name="Rectangle 2">
            <a:extLst>
              <a:ext uri="{FF2B5EF4-FFF2-40B4-BE49-F238E27FC236}">
                <a16:creationId xmlns:a16="http://schemas.microsoft.com/office/drawing/2014/main" id="{A62488C8-33E0-4F3E-949B-7DDC35A8B4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564" name="Rectangle 3">
            <a:extLst>
              <a:ext uri="{FF2B5EF4-FFF2-40B4-BE49-F238E27FC236}">
                <a16:creationId xmlns:a16="http://schemas.microsoft.com/office/drawing/2014/main" id="{33999E73-368A-4BAC-BF3E-80CB5CBB9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7">
            <a:extLst>
              <a:ext uri="{FF2B5EF4-FFF2-40B4-BE49-F238E27FC236}">
                <a16:creationId xmlns:a16="http://schemas.microsoft.com/office/drawing/2014/main" id="{CC0DEC05-796A-48A2-9CB5-A83EE32780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07F8C1-DE7E-495F-8B26-0D204C72DA1D}" type="slidenum">
              <a:rPr lang="en-US" altLang="zh-TW" sz="1300"/>
              <a:pPr>
                <a:spcBef>
                  <a:spcPct val="0"/>
                </a:spcBef>
              </a:pPr>
              <a:t>220</a:t>
            </a:fld>
            <a:endParaRPr lang="en-US" altLang="zh-TW" sz="1300"/>
          </a:p>
        </p:txBody>
      </p:sp>
      <p:sp>
        <p:nvSpPr>
          <p:cNvPr id="452611" name="Rectangle 2">
            <a:extLst>
              <a:ext uri="{FF2B5EF4-FFF2-40B4-BE49-F238E27FC236}">
                <a16:creationId xmlns:a16="http://schemas.microsoft.com/office/drawing/2014/main" id="{D9C62FE2-0826-4694-9B72-A014A2DDA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2612" name="Rectangle 3">
            <a:extLst>
              <a:ext uri="{FF2B5EF4-FFF2-40B4-BE49-F238E27FC236}">
                <a16:creationId xmlns:a16="http://schemas.microsoft.com/office/drawing/2014/main" id="{E6FA846A-E07B-4333-8B8F-3DEC00690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7">
            <a:extLst>
              <a:ext uri="{FF2B5EF4-FFF2-40B4-BE49-F238E27FC236}">
                <a16:creationId xmlns:a16="http://schemas.microsoft.com/office/drawing/2014/main" id="{A8C740AB-4082-4197-9FAF-E478F4F31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EC22535-5750-4CC5-AA8E-8AD7853358D7}" type="slidenum">
              <a:rPr lang="en-US" altLang="zh-TW" sz="1300"/>
              <a:pPr>
                <a:spcBef>
                  <a:spcPct val="0"/>
                </a:spcBef>
              </a:pPr>
              <a:t>221</a:t>
            </a:fld>
            <a:endParaRPr lang="en-US" altLang="zh-TW" sz="1300"/>
          </a:p>
        </p:txBody>
      </p:sp>
      <p:sp>
        <p:nvSpPr>
          <p:cNvPr id="454659" name="Rectangle 2">
            <a:extLst>
              <a:ext uri="{FF2B5EF4-FFF2-40B4-BE49-F238E27FC236}">
                <a16:creationId xmlns:a16="http://schemas.microsoft.com/office/drawing/2014/main" id="{A7396198-C199-4611-BF7A-6E528ACF6D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4660" name="Rectangle 3">
            <a:extLst>
              <a:ext uri="{FF2B5EF4-FFF2-40B4-BE49-F238E27FC236}">
                <a16:creationId xmlns:a16="http://schemas.microsoft.com/office/drawing/2014/main" id="{2525F5ED-DF14-41CD-B470-1BA315F0C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>
            <a:extLst>
              <a:ext uri="{FF2B5EF4-FFF2-40B4-BE49-F238E27FC236}">
                <a16:creationId xmlns:a16="http://schemas.microsoft.com/office/drawing/2014/main" id="{A4D0BB3E-09F2-4116-B5C2-9E0BB31353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B09A78E-F328-4BEB-90F7-3431AF3D075D}" type="slidenum">
              <a:rPr lang="en-US" altLang="zh-TW" sz="1300"/>
              <a:pPr>
                <a:spcBef>
                  <a:spcPct val="0"/>
                </a:spcBef>
              </a:pPr>
              <a:t>222</a:t>
            </a:fld>
            <a:endParaRPr lang="en-US" altLang="zh-TW" sz="1300"/>
          </a:p>
        </p:txBody>
      </p:sp>
      <p:sp>
        <p:nvSpPr>
          <p:cNvPr id="456707" name="Rectangle 2">
            <a:extLst>
              <a:ext uri="{FF2B5EF4-FFF2-40B4-BE49-F238E27FC236}">
                <a16:creationId xmlns:a16="http://schemas.microsoft.com/office/drawing/2014/main" id="{6D76CE82-2888-44AF-9F98-35B497C8F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6708" name="Rectangle 3">
            <a:extLst>
              <a:ext uri="{FF2B5EF4-FFF2-40B4-BE49-F238E27FC236}">
                <a16:creationId xmlns:a16="http://schemas.microsoft.com/office/drawing/2014/main" id="{F56B71C9-ADBF-4773-B7D7-CC863A7B1A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TW" altLang="en-US"/>
              <a:t>此</a:t>
            </a:r>
            <a:r>
              <a:rPr kumimoji="0" lang="en-US" altLang="zh-TW"/>
              <a:t>SLIDE</a:t>
            </a:r>
            <a:r>
              <a:rPr kumimoji="0" lang="zh-TW" altLang="en-US"/>
              <a:t>是關於 </a:t>
            </a:r>
            <a:r>
              <a:rPr lang="en-US" altLang="zh-TW"/>
              <a:t>model checking Framework.</a:t>
            </a:r>
          </a:p>
          <a:p>
            <a:pPr eaLnBrk="1" hangingPunct="1"/>
            <a:r>
              <a:rPr lang="zh-TW" altLang="en-US"/>
              <a:t>一開始我們會建立一個模型 並且 撰寫 一些 利用 </a:t>
            </a:r>
            <a:r>
              <a:rPr lang="en-US" altLang="zh-TW"/>
              <a:t>temporal logic formula </a:t>
            </a:r>
            <a:r>
              <a:rPr lang="zh-TW" altLang="en-US"/>
              <a:t>寫成的 </a:t>
            </a:r>
            <a:r>
              <a:rPr lang="en-US" altLang="zh-TW"/>
              <a:t>properties.</a:t>
            </a:r>
          </a:p>
          <a:p>
            <a:pPr eaLnBrk="1" hangingPunct="1"/>
            <a:r>
              <a:rPr lang="zh-TW" altLang="en-US"/>
              <a:t>然後</a:t>
            </a:r>
            <a:r>
              <a:rPr lang="en-US" altLang="zh-TW"/>
              <a:t>, </a:t>
            </a:r>
            <a:r>
              <a:rPr lang="zh-TW" altLang="en-US"/>
              <a:t>我們會把這些 </a:t>
            </a:r>
            <a:r>
              <a:rPr lang="en-US" altLang="zh-TW"/>
              <a:t>properties </a:t>
            </a:r>
            <a:r>
              <a:rPr lang="zh-TW" altLang="en-US"/>
              <a:t>輸入到 </a:t>
            </a:r>
            <a:r>
              <a:rPr lang="en-US" altLang="zh-TW"/>
              <a:t>model checker</a:t>
            </a:r>
            <a:r>
              <a:rPr lang="zh-TW" altLang="en-US"/>
              <a:t>中</a:t>
            </a:r>
            <a:r>
              <a:rPr lang="en-US" altLang="zh-TW"/>
              <a:t>, </a:t>
            </a:r>
            <a:r>
              <a:rPr lang="zh-TW" altLang="en-US"/>
              <a:t>最後會產生報告說是否和規格有產生反例</a:t>
            </a:r>
            <a:r>
              <a:rPr lang="en-US" altLang="zh-TW"/>
              <a:t>.</a:t>
            </a:r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7">
            <a:extLst>
              <a:ext uri="{FF2B5EF4-FFF2-40B4-BE49-F238E27FC236}">
                <a16:creationId xmlns:a16="http://schemas.microsoft.com/office/drawing/2014/main" id="{BB6EB2DF-9FC8-46DC-8C2A-0B2EFC9513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B76C240-26D5-4B41-A542-397A30C4FA9B}" type="slidenum">
              <a:rPr lang="en-US" altLang="zh-TW" sz="1300"/>
              <a:pPr>
                <a:spcBef>
                  <a:spcPct val="0"/>
                </a:spcBef>
              </a:pPr>
              <a:t>223</a:t>
            </a:fld>
            <a:endParaRPr lang="en-US" altLang="zh-TW" sz="1300"/>
          </a:p>
        </p:txBody>
      </p:sp>
      <p:sp>
        <p:nvSpPr>
          <p:cNvPr id="458755" name="Rectangle 2">
            <a:extLst>
              <a:ext uri="{FF2B5EF4-FFF2-40B4-BE49-F238E27FC236}">
                <a16:creationId xmlns:a16="http://schemas.microsoft.com/office/drawing/2014/main" id="{87E69C62-3A1D-43D7-9099-B95A5C608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8756" name="Rectangle 3">
            <a:extLst>
              <a:ext uri="{FF2B5EF4-FFF2-40B4-BE49-F238E27FC236}">
                <a16:creationId xmlns:a16="http://schemas.microsoft.com/office/drawing/2014/main" id="{EE47F225-7C35-40C7-8075-8302979F5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7">
            <a:extLst>
              <a:ext uri="{FF2B5EF4-FFF2-40B4-BE49-F238E27FC236}">
                <a16:creationId xmlns:a16="http://schemas.microsoft.com/office/drawing/2014/main" id="{89C45B91-077A-42B1-8725-36A8FBDBEB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881DF4-4102-49A7-BFAA-10BA2D851688}" type="slidenum">
              <a:rPr lang="en-US" altLang="zh-TW" sz="1300"/>
              <a:pPr>
                <a:spcBef>
                  <a:spcPct val="0"/>
                </a:spcBef>
              </a:pPr>
              <a:t>224</a:t>
            </a:fld>
            <a:endParaRPr lang="en-US" altLang="zh-TW" sz="1300"/>
          </a:p>
        </p:txBody>
      </p:sp>
      <p:sp>
        <p:nvSpPr>
          <p:cNvPr id="460803" name="Rectangle 2">
            <a:extLst>
              <a:ext uri="{FF2B5EF4-FFF2-40B4-BE49-F238E27FC236}">
                <a16:creationId xmlns:a16="http://schemas.microsoft.com/office/drawing/2014/main" id="{A2F29900-A9A7-46F5-B93B-D945F8A70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0804" name="Rectangle 3">
            <a:extLst>
              <a:ext uri="{FF2B5EF4-FFF2-40B4-BE49-F238E27FC236}">
                <a16:creationId xmlns:a16="http://schemas.microsoft.com/office/drawing/2014/main" id="{125A854D-4C39-4133-8E63-DB6E010F6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7">
            <a:extLst>
              <a:ext uri="{FF2B5EF4-FFF2-40B4-BE49-F238E27FC236}">
                <a16:creationId xmlns:a16="http://schemas.microsoft.com/office/drawing/2014/main" id="{31545E37-898C-4CF1-BDC0-BEF9336C8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3C22EC5-009C-44BB-8624-6DBE1463DE07}" type="slidenum">
              <a:rPr lang="en-US" altLang="zh-TW" sz="1300"/>
              <a:pPr>
                <a:spcBef>
                  <a:spcPct val="0"/>
                </a:spcBef>
              </a:pPr>
              <a:t>225</a:t>
            </a:fld>
            <a:endParaRPr lang="en-US" altLang="zh-TW" sz="1300"/>
          </a:p>
        </p:txBody>
      </p:sp>
      <p:sp>
        <p:nvSpPr>
          <p:cNvPr id="462851" name="Rectangle 2">
            <a:extLst>
              <a:ext uri="{FF2B5EF4-FFF2-40B4-BE49-F238E27FC236}">
                <a16:creationId xmlns:a16="http://schemas.microsoft.com/office/drawing/2014/main" id="{3B39E6C4-6119-4310-8B07-C480297CF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2852" name="Rectangle 3">
            <a:extLst>
              <a:ext uri="{FF2B5EF4-FFF2-40B4-BE49-F238E27FC236}">
                <a16:creationId xmlns:a16="http://schemas.microsoft.com/office/drawing/2014/main" id="{4FBC14B9-AB7B-4640-B038-8B8AAEE17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7">
            <a:extLst>
              <a:ext uri="{FF2B5EF4-FFF2-40B4-BE49-F238E27FC236}">
                <a16:creationId xmlns:a16="http://schemas.microsoft.com/office/drawing/2014/main" id="{97EF1931-019B-4EA5-821B-79DC15A15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404121-7E29-47B5-87D0-D453CB356849}" type="slidenum">
              <a:rPr lang="en-US" altLang="zh-TW" sz="1300"/>
              <a:pPr>
                <a:spcBef>
                  <a:spcPct val="0"/>
                </a:spcBef>
              </a:pPr>
              <a:t>226</a:t>
            </a:fld>
            <a:endParaRPr lang="en-US" altLang="zh-TW" sz="1300"/>
          </a:p>
        </p:txBody>
      </p:sp>
      <p:sp>
        <p:nvSpPr>
          <p:cNvPr id="464899" name="Rectangle 2">
            <a:extLst>
              <a:ext uri="{FF2B5EF4-FFF2-40B4-BE49-F238E27FC236}">
                <a16:creationId xmlns:a16="http://schemas.microsoft.com/office/drawing/2014/main" id="{7B50D24A-B54C-4FAB-8611-C1C43DCC3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4900" name="Rectangle 3">
            <a:extLst>
              <a:ext uri="{FF2B5EF4-FFF2-40B4-BE49-F238E27FC236}">
                <a16:creationId xmlns:a16="http://schemas.microsoft.com/office/drawing/2014/main" id="{DADFDB83-E40D-4E23-A6C0-B2C114AD2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7">
            <a:extLst>
              <a:ext uri="{FF2B5EF4-FFF2-40B4-BE49-F238E27FC236}">
                <a16:creationId xmlns:a16="http://schemas.microsoft.com/office/drawing/2014/main" id="{29ADA9A3-5487-4680-A5AC-6D87FD39A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9AB5AC-C41D-4517-AEAA-7CDC86D27893}" type="slidenum">
              <a:rPr lang="en-US" altLang="zh-TW" sz="1300"/>
              <a:pPr>
                <a:spcBef>
                  <a:spcPct val="0"/>
                </a:spcBef>
              </a:pPr>
              <a:t>227</a:t>
            </a:fld>
            <a:endParaRPr lang="en-US" altLang="zh-TW" sz="1300"/>
          </a:p>
        </p:txBody>
      </p:sp>
      <p:sp>
        <p:nvSpPr>
          <p:cNvPr id="466947" name="Rectangle 2">
            <a:extLst>
              <a:ext uri="{FF2B5EF4-FFF2-40B4-BE49-F238E27FC236}">
                <a16:creationId xmlns:a16="http://schemas.microsoft.com/office/drawing/2014/main" id="{35579480-C493-48AB-9195-1D82B0DBE8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6948" name="Rectangle 3">
            <a:extLst>
              <a:ext uri="{FF2B5EF4-FFF2-40B4-BE49-F238E27FC236}">
                <a16:creationId xmlns:a16="http://schemas.microsoft.com/office/drawing/2014/main" id="{678942B1-57B1-4953-9192-180A8B5D8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7">
            <a:extLst>
              <a:ext uri="{FF2B5EF4-FFF2-40B4-BE49-F238E27FC236}">
                <a16:creationId xmlns:a16="http://schemas.microsoft.com/office/drawing/2014/main" id="{74A177F1-6298-4905-B86A-435C82180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6639612-78A9-40CD-903C-8125D313951E}" type="slidenum">
              <a:rPr lang="en-US" altLang="zh-TW" sz="1300"/>
              <a:pPr>
                <a:spcBef>
                  <a:spcPct val="0"/>
                </a:spcBef>
              </a:pPr>
              <a:t>228</a:t>
            </a:fld>
            <a:endParaRPr lang="en-US" altLang="zh-TW" sz="1300"/>
          </a:p>
        </p:txBody>
      </p:sp>
      <p:sp>
        <p:nvSpPr>
          <p:cNvPr id="468995" name="Rectangle 2">
            <a:extLst>
              <a:ext uri="{FF2B5EF4-FFF2-40B4-BE49-F238E27FC236}">
                <a16:creationId xmlns:a16="http://schemas.microsoft.com/office/drawing/2014/main" id="{5D279AD0-E7D0-435A-A8C6-C163D3F7F9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8996" name="Rectangle 3">
            <a:extLst>
              <a:ext uri="{FF2B5EF4-FFF2-40B4-BE49-F238E27FC236}">
                <a16:creationId xmlns:a16="http://schemas.microsoft.com/office/drawing/2014/main" id="{65E1EAD5-6988-4E47-ADA3-735A11188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7">
            <a:extLst>
              <a:ext uri="{FF2B5EF4-FFF2-40B4-BE49-F238E27FC236}">
                <a16:creationId xmlns:a16="http://schemas.microsoft.com/office/drawing/2014/main" id="{9F83C15E-F58B-4AE3-9204-4B1DED952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2B22E86-0827-4BC4-8F78-1B9145FB8149}" type="slidenum">
              <a:rPr lang="en-US" altLang="zh-TW" sz="1300"/>
              <a:pPr>
                <a:spcBef>
                  <a:spcPct val="0"/>
                </a:spcBef>
              </a:pPr>
              <a:t>229</a:t>
            </a:fld>
            <a:endParaRPr lang="en-US" altLang="zh-TW" sz="1300"/>
          </a:p>
        </p:txBody>
      </p:sp>
      <p:sp>
        <p:nvSpPr>
          <p:cNvPr id="471043" name="Rectangle 2">
            <a:extLst>
              <a:ext uri="{FF2B5EF4-FFF2-40B4-BE49-F238E27FC236}">
                <a16:creationId xmlns:a16="http://schemas.microsoft.com/office/drawing/2014/main" id="{524EEE32-CC17-4F39-8BBB-411147375A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44" name="Rectangle 3">
            <a:extLst>
              <a:ext uri="{FF2B5EF4-FFF2-40B4-BE49-F238E27FC236}">
                <a16:creationId xmlns:a16="http://schemas.microsoft.com/office/drawing/2014/main" id="{2B5A6A0D-089D-46D2-B470-7284DB536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7">
            <a:extLst>
              <a:ext uri="{FF2B5EF4-FFF2-40B4-BE49-F238E27FC236}">
                <a16:creationId xmlns:a16="http://schemas.microsoft.com/office/drawing/2014/main" id="{052DA246-AC0A-47C9-928B-9A9F0D3C9A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337A772-9173-409A-BDDA-AF2E0D393C7C}" type="slidenum">
              <a:rPr lang="en-US" altLang="zh-TW" sz="1300"/>
              <a:pPr>
                <a:spcBef>
                  <a:spcPct val="0"/>
                </a:spcBef>
              </a:pPr>
              <a:t>230</a:t>
            </a:fld>
            <a:endParaRPr lang="en-US" altLang="zh-TW" sz="1300"/>
          </a:p>
        </p:txBody>
      </p:sp>
      <p:sp>
        <p:nvSpPr>
          <p:cNvPr id="473091" name="Rectangle 2">
            <a:extLst>
              <a:ext uri="{FF2B5EF4-FFF2-40B4-BE49-F238E27FC236}">
                <a16:creationId xmlns:a16="http://schemas.microsoft.com/office/drawing/2014/main" id="{1185BD51-0193-4504-A1D0-6BA34FB53F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3092" name="Rectangle 3">
            <a:extLst>
              <a:ext uri="{FF2B5EF4-FFF2-40B4-BE49-F238E27FC236}">
                <a16:creationId xmlns:a16="http://schemas.microsoft.com/office/drawing/2014/main" id="{55707534-BEEF-41ED-8172-C7612FED7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7">
            <a:extLst>
              <a:ext uri="{FF2B5EF4-FFF2-40B4-BE49-F238E27FC236}">
                <a16:creationId xmlns:a16="http://schemas.microsoft.com/office/drawing/2014/main" id="{609B61E8-B97F-4F66-BC69-99FBE1A779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62C3991-DBE0-427B-92B6-DD1A4BFA66EB}" type="slidenum">
              <a:rPr lang="en-US" altLang="zh-TW" sz="1300"/>
              <a:pPr>
                <a:spcBef>
                  <a:spcPct val="0"/>
                </a:spcBef>
              </a:pPr>
              <a:t>231</a:t>
            </a:fld>
            <a:endParaRPr lang="en-US" altLang="zh-TW" sz="1300"/>
          </a:p>
        </p:txBody>
      </p:sp>
      <p:sp>
        <p:nvSpPr>
          <p:cNvPr id="475139" name="Rectangle 2">
            <a:extLst>
              <a:ext uri="{FF2B5EF4-FFF2-40B4-BE49-F238E27FC236}">
                <a16:creationId xmlns:a16="http://schemas.microsoft.com/office/drawing/2014/main" id="{1F6D556C-0A5A-47E3-A971-BEBC04480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475140" name="Rectangle 3">
            <a:extLst>
              <a:ext uri="{FF2B5EF4-FFF2-40B4-BE49-F238E27FC236}">
                <a16:creationId xmlns:a16="http://schemas.microsoft.com/office/drawing/2014/main" id="{B59ECACE-9A0F-4D15-B1EC-4CB1402AA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7">
            <a:extLst>
              <a:ext uri="{FF2B5EF4-FFF2-40B4-BE49-F238E27FC236}">
                <a16:creationId xmlns:a16="http://schemas.microsoft.com/office/drawing/2014/main" id="{A21E2847-2063-44E2-9F24-E06C331684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098A4B6-6116-4F1C-9160-BE4432697163}" type="slidenum">
              <a:rPr lang="en-US" altLang="zh-TW" sz="1300"/>
              <a:pPr>
                <a:spcBef>
                  <a:spcPct val="0"/>
                </a:spcBef>
              </a:pPr>
              <a:t>232</a:t>
            </a:fld>
            <a:endParaRPr lang="en-US" altLang="zh-TW" sz="1300"/>
          </a:p>
        </p:txBody>
      </p:sp>
      <p:sp>
        <p:nvSpPr>
          <p:cNvPr id="477187" name="Rectangle 2">
            <a:extLst>
              <a:ext uri="{FF2B5EF4-FFF2-40B4-BE49-F238E27FC236}">
                <a16:creationId xmlns:a16="http://schemas.microsoft.com/office/drawing/2014/main" id="{D6F2D599-D1B1-42BC-9031-BEFF6F4B29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74700"/>
            <a:ext cx="5099050" cy="3824288"/>
          </a:xfrm>
          <a:ln/>
        </p:spPr>
      </p:sp>
      <p:sp>
        <p:nvSpPr>
          <p:cNvPr id="477188" name="Rectangle 3">
            <a:extLst>
              <a:ext uri="{FF2B5EF4-FFF2-40B4-BE49-F238E27FC236}">
                <a16:creationId xmlns:a16="http://schemas.microsoft.com/office/drawing/2014/main" id="{B84A906D-012B-4B98-ABEA-6B2FA0D32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8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7">
            <a:extLst>
              <a:ext uri="{FF2B5EF4-FFF2-40B4-BE49-F238E27FC236}">
                <a16:creationId xmlns:a16="http://schemas.microsoft.com/office/drawing/2014/main" id="{3C3BAB9B-B4C4-4B5D-B6D0-2FC80EE8BB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018EC20-800F-4CDE-B62C-F9AC652B1D1C}" type="slidenum">
              <a:rPr lang="en-US" altLang="zh-TW" sz="1300"/>
              <a:pPr>
                <a:spcBef>
                  <a:spcPct val="0"/>
                </a:spcBef>
              </a:pPr>
              <a:t>233</a:t>
            </a:fld>
            <a:endParaRPr lang="en-US" altLang="zh-TW" sz="1300"/>
          </a:p>
        </p:txBody>
      </p:sp>
      <p:sp>
        <p:nvSpPr>
          <p:cNvPr id="479235" name="Rectangle 2">
            <a:extLst>
              <a:ext uri="{FF2B5EF4-FFF2-40B4-BE49-F238E27FC236}">
                <a16:creationId xmlns:a16="http://schemas.microsoft.com/office/drawing/2014/main" id="{45DB9C50-B38E-4286-ACAA-9BF027E9A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9236" name="Rectangle 3">
            <a:extLst>
              <a:ext uri="{FF2B5EF4-FFF2-40B4-BE49-F238E27FC236}">
                <a16:creationId xmlns:a16="http://schemas.microsoft.com/office/drawing/2014/main" id="{1010477D-2BC6-4B23-8E1C-79980D6C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7">
            <a:extLst>
              <a:ext uri="{FF2B5EF4-FFF2-40B4-BE49-F238E27FC236}">
                <a16:creationId xmlns:a16="http://schemas.microsoft.com/office/drawing/2014/main" id="{EB8FC57E-7A7E-466E-827C-1920776177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17D5F28-9138-4670-832F-C71408CD5410}" type="slidenum">
              <a:rPr lang="en-US" altLang="zh-TW" sz="1300"/>
              <a:pPr>
                <a:spcBef>
                  <a:spcPct val="0"/>
                </a:spcBef>
              </a:pPr>
              <a:t>234</a:t>
            </a:fld>
            <a:endParaRPr lang="en-US" altLang="zh-TW" sz="1300"/>
          </a:p>
        </p:txBody>
      </p:sp>
      <p:sp>
        <p:nvSpPr>
          <p:cNvPr id="481283" name="Rectangle 2">
            <a:extLst>
              <a:ext uri="{FF2B5EF4-FFF2-40B4-BE49-F238E27FC236}">
                <a16:creationId xmlns:a16="http://schemas.microsoft.com/office/drawing/2014/main" id="{1E5EBFF3-34F8-40DF-A42A-3EA3558F4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4" name="Rectangle 3">
            <a:extLst>
              <a:ext uri="{FF2B5EF4-FFF2-40B4-BE49-F238E27FC236}">
                <a16:creationId xmlns:a16="http://schemas.microsoft.com/office/drawing/2014/main" id="{A013D984-6A18-441C-8288-718B72DEA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7">
            <a:extLst>
              <a:ext uri="{FF2B5EF4-FFF2-40B4-BE49-F238E27FC236}">
                <a16:creationId xmlns:a16="http://schemas.microsoft.com/office/drawing/2014/main" id="{E56C3185-2D99-4620-8E3E-9ADD2525A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25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7328A51-479F-4E99-960F-020EF10C21D7}" type="slidenum">
              <a:rPr lang="en-US" altLang="zh-TW" sz="1300"/>
              <a:pPr>
                <a:spcBef>
                  <a:spcPct val="0"/>
                </a:spcBef>
              </a:pPr>
              <a:t>235</a:t>
            </a:fld>
            <a:endParaRPr lang="en-US" altLang="zh-TW" sz="1300"/>
          </a:p>
        </p:txBody>
      </p:sp>
      <p:sp>
        <p:nvSpPr>
          <p:cNvPr id="483331" name="Rectangle 2">
            <a:extLst>
              <a:ext uri="{FF2B5EF4-FFF2-40B4-BE49-F238E27FC236}">
                <a16:creationId xmlns:a16="http://schemas.microsoft.com/office/drawing/2014/main" id="{B9A8D8D6-F4EE-4523-AF8F-96F06DDE18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2" name="Rectangle 3">
            <a:extLst>
              <a:ext uri="{FF2B5EF4-FFF2-40B4-BE49-F238E27FC236}">
                <a16:creationId xmlns:a16="http://schemas.microsoft.com/office/drawing/2014/main" id="{0C566FDE-CB25-423E-8296-BCCA8CC81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2FF10F59-6AEB-4B4A-A6D7-0880A0D0F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A181F52-7343-48A1-BC6A-66FDC1AAB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F6D3966-5218-4225-8E80-A351C7D2E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1EF6707-8CE0-4E32-9A23-4D8346F359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901E721-3CD4-42D3-AD92-07219BC3B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FDC4C3-37A2-4B30-8BDF-EF938E0512D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255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5C092F-29F3-49DF-BB63-61562E8C6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BB321-DAB2-448D-B74F-71A1794EE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1F0499-A45F-4D4E-B8E9-A8C7050B0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05BAC-EFF4-460C-9D15-A36C274E3AE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417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C0F400-B9F0-4F4C-ADF7-98A53E7D0B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BD56F6-2818-4C74-A5D6-6F47C2E135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A1019E-D305-489E-A938-8FF014AEF6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AEF3F-38F9-458F-8E0D-BFA098188A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137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93F37-1589-481B-BC4F-2E03ADC92D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6CFD6D-1C84-4C68-AD43-02F7CEEB48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33B78B-F504-466E-AC04-0604246804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4F467-8718-401C-A804-88E65E9244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0202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E9CE6A-711A-4580-9C90-27B2694DC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98496AC-46E5-4F5B-82BF-E64C27F349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663D9DA-427D-4B0A-85A8-95265EB37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8A57E-E1AF-4CF2-ACC9-66491920972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986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8DD457E-87C3-4103-B4FC-5F59E9DBAC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DB8E41-350D-4AF4-B129-367CC50266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8E90A1-80D6-4A74-A93F-DA594EFCC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FDA04-AE57-4C30-BE56-1CF144493BA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016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28E3491-47D7-4899-A3A1-F6744673E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60B7EE-9906-4922-BD2C-FF6A185684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65B6033-8673-4B2E-8AE2-439FA75659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B73A1-E00A-4E49-8314-4D497FD8E98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568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39E10-01E7-40C8-8909-9B3D3459E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F820A-AC4E-45DE-8525-B838E18BD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F80FB-76D0-42AB-BED3-CD1FEBC75A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B75B1-8F6C-40CA-BF69-250C26C74E0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596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FDD7EF-415F-4260-B454-6E7B84ABBB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6FD16-51A1-4DFB-82D4-6259402C4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2A2AEA-AFF9-4C65-8AA0-8731784C7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179D8-D16A-4D4B-8A9B-A0807979AE8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55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2F3F8B-B446-4066-AC4C-AC4CBE3E6F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03D2F9-A10E-4D1E-B793-E18C49A02A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4EED10-7BFE-42EB-87AC-42EABF81A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052FB-75DD-4312-A995-80F0F8C2A67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1644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F7B361-75DF-49BF-8B58-3E06D8A75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40F50F-7F8A-49BF-943D-A045571D7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0615F4-768E-4BA8-8A97-CAFCFA3C5D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95C29-4D76-432C-B9E7-F4B76FC64E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7231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4E9E3-64E6-4670-A6AC-9700CD9C1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BDECE-F75E-4156-ACC8-78FBB99ED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3AF20C-86BE-4520-B5D4-FFFECE4C5F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E77175-9321-4039-854A-5C8DE1419A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451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0EA739E-125F-449E-B523-54C622B6E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E1C32E5-39CC-4D9C-8BDC-B6E07F6037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42C0D4-89B7-4344-86D2-CF73774A9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E1C6A-CBC9-41C9-B910-FF8318E2E6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5233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79DA2E-0569-4135-B062-ECDC67B5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CBAB8A-2B80-4F81-9D2D-D85C2E29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F276AA-4DE8-4850-AB32-8B9921ED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BAB316-F9CB-4A12-91C5-BD469569B1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13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647C53-8105-4EF8-8B8A-EC0C61710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4C7940-4BA3-41AA-9279-F79FFBEFF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7AC6F8D1-EE86-4BC3-A2F5-7A0B90C0FD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j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299924A-DCDB-492B-8561-153DEC9BD7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j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93B6E52B-5066-4EE7-9DB2-3ADF02ECBB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A12D44CA-88F5-4A2C-A9E4-2819DA57446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4251B996-D541-4912-957F-C939471F2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8ACCFC69-A054-4377-9C85-5C9EFAD08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  <p:sldLayoutId id="2147484076" r:id="rId13"/>
    <p:sldLayoutId id="214748407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kumimoji="1" sz="26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kumimoji="1" sz="22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kumimoji="1"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6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6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6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6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6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6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6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6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6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6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6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6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6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6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6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B4FFFF36-AD62-40CA-8CBA-F2F978D9C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442FA-2B78-463E-8052-97248815C49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094E1CE-CEE9-40A6-AF3D-E2F9489C24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2192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zh-TW" sz="4800" dirty="0"/>
              <a:t>Theory of Static Analysis</a:t>
            </a:r>
            <a:br>
              <a:rPr lang="en-US" altLang="zh-TW" sz="4800" dirty="0"/>
            </a:br>
            <a:r>
              <a:rPr lang="en-US" altLang="zh-TW" sz="4800" i="1" dirty="0"/>
              <a:t>- </a:t>
            </a:r>
            <a:r>
              <a:rPr lang="en-US" altLang="zh-TW" sz="4000" i="1" dirty="0"/>
              <a:t>Temporal Logics &amp; Model Checking</a:t>
            </a:r>
            <a:br>
              <a:rPr lang="en-US" altLang="zh-TW" sz="4800" i="1" dirty="0"/>
            </a:br>
            <a:endParaRPr lang="en-US" altLang="zh-TW" sz="4000" i="1" dirty="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3B9F31A-2366-45CD-B46C-3A4A0CDA58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標楷體" panose="03000509000000000000" pitchFamily="65" charset="-120"/>
              </a:rPr>
              <a:t>Farn Wang</a:t>
            </a:r>
          </a:p>
          <a:p>
            <a:pPr eaLnBrk="1" hangingPunct="1"/>
            <a:r>
              <a:rPr lang="en-US" altLang="zh-TW">
                <a:ea typeface="標楷體" panose="03000509000000000000" pitchFamily="65" charset="-120"/>
              </a:rPr>
              <a:t>Dept. of Electrical Engineering</a:t>
            </a:r>
          </a:p>
          <a:p>
            <a:pPr eaLnBrk="1" hangingPunct="1"/>
            <a:r>
              <a:rPr lang="en-US" altLang="zh-TW"/>
              <a:t>National Taiwan University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編號版面配置區 5">
            <a:extLst>
              <a:ext uri="{FF2B5EF4-FFF2-40B4-BE49-F238E27FC236}">
                <a16:creationId xmlns:a16="http://schemas.microsoft.com/office/drawing/2014/main" id="{F1F20FE6-1561-403E-A5E7-9F4BFA2001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36D006-2078-48C5-B3DB-725E70E25E1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4D530FBC-7978-407B-AF16-2CF935917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1143000"/>
          </a:xfrm>
          <a:noFill/>
        </p:spPr>
        <p:txBody>
          <a:bodyPr/>
          <a:lstStyle/>
          <a:p>
            <a:r>
              <a:rPr lang="en-US" altLang="zh-TW" sz="4000">
                <a:latin typeface="Arial" panose="020B0604020202020204" pitchFamily="34" charset="0"/>
              </a:rPr>
              <a:t>Specifications, descriptions, </a:t>
            </a:r>
            <a:br>
              <a:rPr lang="en-US" altLang="zh-TW" sz="4000">
                <a:latin typeface="Arial" panose="020B0604020202020204" pitchFamily="34" charset="0"/>
              </a:rPr>
            </a:br>
            <a:r>
              <a:rPr lang="en-US" altLang="zh-TW" sz="4000">
                <a:latin typeface="Arial" panose="020B0604020202020204" pitchFamily="34" charset="0"/>
              </a:rPr>
              <a:t>&amp; verification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2AA967B-CA15-493C-8D76-19432FAC40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TW" sz="2800"/>
              <a:t>specification (property):</a:t>
            </a:r>
          </a:p>
          <a:p>
            <a:pPr lvl="1"/>
            <a:r>
              <a:rPr lang="en-US" altLang="zh-TW" sz="2400"/>
              <a:t>The user’s requirement</a:t>
            </a:r>
          </a:p>
          <a:p>
            <a:r>
              <a:rPr lang="en-US" altLang="zh-TW" sz="2800"/>
              <a:t>description (implementation, model): </a:t>
            </a:r>
          </a:p>
          <a:p>
            <a:pPr lvl="1"/>
            <a:r>
              <a:rPr lang="en-US" altLang="zh-TW" sz="2400"/>
              <a:t>The user’s description of the systems</a:t>
            </a:r>
          </a:p>
          <a:p>
            <a:pPr lvl="1"/>
            <a:r>
              <a:rPr lang="en-US" altLang="zh-TW" sz="2400"/>
              <a:t>No strict line between description and specification. </a:t>
            </a:r>
          </a:p>
          <a:p>
            <a:r>
              <a:rPr lang="en-US" altLang="zh-TW" sz="2800"/>
              <a:t>verification: </a:t>
            </a:r>
          </a:p>
          <a:p>
            <a:pPr lvl="1"/>
            <a:r>
              <a:rPr lang="en-US" altLang="zh-TW" sz="2400"/>
              <a:t>Does the description satisfy the specification 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投影片編號版面配置區 5">
            <a:extLst>
              <a:ext uri="{FF2B5EF4-FFF2-40B4-BE49-F238E27FC236}">
                <a16:creationId xmlns:a16="http://schemas.microsoft.com/office/drawing/2014/main" id="{026D0432-FD0D-40F2-9665-B0E877DBA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F782D8-0B22-4291-BE0A-BDE5CB878DA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EC73FFD-A036-47C4-A85D-99C8810D2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000">
                <a:latin typeface="Arial" panose="020B0604020202020204" pitchFamily="34" charset="0"/>
              </a:rPr>
              <a:t>Formal specification </a:t>
            </a:r>
            <a:br>
              <a:rPr lang="en-US" altLang="zh-TW" sz="4000">
                <a:latin typeface="Arial" panose="020B0604020202020204" pitchFamily="34" charset="0"/>
              </a:rPr>
            </a:br>
            <a:r>
              <a:rPr lang="en-US" altLang="zh-TW" sz="4000">
                <a:latin typeface="Arial" panose="020B0604020202020204" pitchFamily="34" charset="0"/>
              </a:rPr>
              <a:t>&amp; automated verification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E455537-11DF-4DF9-BB79-43157E0BE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TW"/>
              <a:t>formal specificaton:</a:t>
            </a:r>
          </a:p>
          <a:p>
            <a:pPr lvl="1"/>
            <a:r>
              <a:rPr lang="en-US" altLang="zh-TW"/>
              <a:t>specification with rigorous mathematical notations</a:t>
            </a:r>
          </a:p>
          <a:p>
            <a:r>
              <a:rPr lang="en-US" altLang="zh-TW"/>
              <a:t>automated verification:</a:t>
            </a:r>
          </a:p>
          <a:p>
            <a:pPr lvl="1"/>
            <a:r>
              <a:rPr lang="en-US" altLang="zh-TW"/>
              <a:t>verification with support from computer tools.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編號版面配置區 5">
            <a:extLst>
              <a:ext uri="{FF2B5EF4-FFF2-40B4-BE49-F238E27FC236}">
                <a16:creationId xmlns:a16="http://schemas.microsoft.com/office/drawing/2014/main" id="{77F637A7-797A-47D8-A58B-A41A1DF6B2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A5EF28-CA5F-4BA2-B172-0ED539BC5A8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43A0735-D5B8-4FAB-9658-C0BCB764D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>
                <a:latin typeface="Arial" panose="020B0604020202020204" pitchFamily="34" charset="0"/>
              </a:rPr>
              <a:t>Why formal specifications ?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38AD43B-2DA7-44DF-A559-3E1A30141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/>
              <a:t>to make the engineers/users understand the system to design through rigorous mathematical notations.  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avoid ambiguity/confusion/misunderstanding in communication/discussion/reading. 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specify the system precisely. 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generate mathematical models for automated analysis.  </a:t>
            </a:r>
          </a:p>
          <a:p>
            <a:pPr>
              <a:lnSpc>
                <a:spcPct val="90000"/>
              </a:lnSpc>
            </a:pPr>
            <a:endParaRPr lang="en-US" altLang="zh-TW" sz="2800"/>
          </a:p>
          <a:p>
            <a:pPr>
              <a:lnSpc>
                <a:spcPct val="90000"/>
              </a:lnSpc>
            </a:pP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But according to Goedel’s incompleteness theorem, it is impossible to come up with a complete specification.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編號版面配置區 5">
            <a:extLst>
              <a:ext uri="{FF2B5EF4-FFF2-40B4-BE49-F238E27FC236}">
                <a16:creationId xmlns:a16="http://schemas.microsoft.com/office/drawing/2014/main" id="{463FA8C4-ABD5-40D9-B296-D15593A8FD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B8A3DF-F998-4ECC-8B59-C43CEEA66CC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0BC26F5-AC92-4CFD-A51E-4D013E18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>
                <a:latin typeface="Arial" panose="020B0604020202020204" pitchFamily="34" charset="0"/>
              </a:rPr>
              <a:t>Why automated verification ?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1D0D8EE-FD57-401A-B1B3-C20EE106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/>
              <a:t>to somehow be able to verify complexer &amp; larger systems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liberate human from the labor-intensive verification tasks</a:t>
            </a:r>
          </a:p>
          <a:p>
            <a:pPr lvl="1">
              <a:lnSpc>
                <a:spcPct val="90000"/>
              </a:lnSpc>
            </a:pPr>
            <a:r>
              <a:rPr lang="en-US" altLang="zh-TW" sz="2400"/>
              <a:t>to set free the creativity of human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avoid the huge cost of fixing early bugs in late cycles. </a:t>
            </a:r>
          </a:p>
          <a:p>
            <a:pPr>
              <a:lnSpc>
                <a:spcPct val="90000"/>
              </a:lnSpc>
            </a:pPr>
            <a:r>
              <a:rPr lang="en-US" altLang="zh-TW" sz="2800"/>
              <a:t>to compete with the core verification technology of the future.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投影片編號版面配置區 5">
            <a:extLst>
              <a:ext uri="{FF2B5EF4-FFF2-40B4-BE49-F238E27FC236}">
                <a16:creationId xmlns:a16="http://schemas.microsoft.com/office/drawing/2014/main" id="{4FB6ECF4-A1AC-4C1D-85C5-981AAED490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2A3568-6314-47CB-9CDA-EAA6C22C2F2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4F7A2B4E-F3F5-472E-9E25-8208DC071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Specification &amp; Verification ?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4A7D2B79-6A40-4C0C-9222-0C493B369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35938" cy="4114800"/>
          </a:xfrm>
        </p:spPr>
        <p:txBody>
          <a:bodyPr/>
          <a:lstStyle/>
          <a:p>
            <a:r>
              <a:rPr lang="en-US" altLang="zh-TW" sz="2800">
                <a:solidFill>
                  <a:srgbClr val="0000CC"/>
                </a:solidFill>
              </a:rPr>
              <a:t>Specification </a:t>
            </a:r>
            <a:r>
              <a:rPr lang="en-US" altLang="zh-TW" sz="2800">
                <a:solidFill>
                  <a:srgbClr val="0000CC"/>
                </a:solidFill>
                <a:sym typeface="Wingdings" panose="05000000000000000000" pitchFamily="2" charset="2"/>
              </a:rPr>
              <a:t> </a:t>
            </a:r>
            <a:r>
              <a:rPr lang="en-US" altLang="zh-TW" sz="2800">
                <a:solidFill>
                  <a:srgbClr val="0000CC"/>
                </a:solidFill>
              </a:rPr>
              <a:t>Complete &amp; sound.</a:t>
            </a:r>
          </a:p>
          <a:p>
            <a:r>
              <a:rPr lang="en-US" altLang="zh-TW" sz="2800">
                <a:solidFill>
                  <a:srgbClr val="0000CC"/>
                </a:solidFill>
              </a:rPr>
              <a:t>Verfication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CC"/>
                </a:solidFill>
                <a:sym typeface="Wingdings" panose="05000000000000000000" pitchFamily="2" charset="2"/>
              </a:rPr>
              <a:t> </a:t>
            </a:r>
            <a:r>
              <a:rPr lang="en-US" altLang="zh-TW" sz="2400">
                <a:solidFill>
                  <a:srgbClr val="0000CC"/>
                </a:solidFill>
              </a:rPr>
              <a:t>Reducing bugs in a system.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CC"/>
                </a:solidFill>
                <a:sym typeface="Wingdings" panose="05000000000000000000" pitchFamily="2" charset="2"/>
              </a:rPr>
              <a:t> </a:t>
            </a:r>
            <a:r>
              <a:rPr lang="en-US" altLang="zh-TW" sz="2400">
                <a:solidFill>
                  <a:srgbClr val="0000CC"/>
                </a:solidFill>
              </a:rPr>
              <a:t>Making sure there are very few bugs.</a:t>
            </a:r>
          </a:p>
          <a:p>
            <a:pPr>
              <a:buFontTx/>
              <a:buNone/>
            </a:pPr>
            <a:endParaRPr lang="en-US" altLang="zh-TW" sz="2800">
              <a:solidFill>
                <a:srgbClr val="0000CC"/>
              </a:solidFill>
            </a:endParaRPr>
          </a:p>
          <a:p>
            <a:pPr algn="ctr"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ea typeface="標楷體" panose="03000509000000000000" pitchFamily="65" charset="-120"/>
              </a:rPr>
              <a:t>Very difficult!</a:t>
            </a:r>
          </a:p>
          <a:p>
            <a:pPr algn="ctr"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ea typeface="標楷體" panose="03000509000000000000" pitchFamily="65" charset="-120"/>
              </a:rPr>
              <a:t>Competitiveness of high-tech industry!</a:t>
            </a:r>
          </a:p>
          <a:p>
            <a:pPr algn="ctr"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ea typeface="標楷體" panose="03000509000000000000" pitchFamily="65" charset="-120"/>
              </a:rPr>
              <a:t>A way to survive for the students!</a:t>
            </a:r>
          </a:p>
          <a:p>
            <a:pPr algn="ctr">
              <a:buFontTx/>
              <a:buNone/>
            </a:pPr>
            <a:r>
              <a:rPr lang="en-US" altLang="zh-TW" sz="2800" i="1">
                <a:solidFill>
                  <a:srgbClr val="FF0000"/>
                </a:solidFill>
                <a:ea typeface="標楷體" panose="03000509000000000000" pitchFamily="65" charset="-120"/>
              </a:rPr>
              <a:t>A way to survive for Taiwan!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4">
            <a:extLst>
              <a:ext uri="{FF2B5EF4-FFF2-40B4-BE49-F238E27FC236}">
                <a16:creationId xmlns:a16="http://schemas.microsoft.com/office/drawing/2014/main" id="{25ECE3B6-FD05-47D4-92C8-6B332B403E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08D77A-C32D-4A65-A1C4-D2323824142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2DB1293-7CAA-41DE-98F6-5740D40C4E4F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4788"/>
            <a:ext cx="9144000" cy="6653212"/>
          </a:xfrm>
          <a:noFill/>
        </p:spPr>
      </p:pic>
      <p:sp>
        <p:nvSpPr>
          <p:cNvPr id="18436" name="Text Box 5">
            <a:extLst>
              <a:ext uri="{FF2B5EF4-FFF2-40B4-BE49-F238E27FC236}">
                <a16:creationId xmlns:a16="http://schemas.microsoft.com/office/drawing/2014/main" id="{C5A0020A-69DC-4C46-BBC9-EFB2227FF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791200"/>
            <a:ext cx="6858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chemeClr val="bg1"/>
                </a:solidFill>
                <a:latin typeface="Comic Sans MS" panose="030F0702030302020204" pitchFamily="66" charset="0"/>
              </a:rPr>
              <a:t>2,500,000+1,500,000 lines of codes (most in Ada)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編號版面配置區 4">
            <a:extLst>
              <a:ext uri="{FF2B5EF4-FFF2-40B4-BE49-F238E27FC236}">
                <a16:creationId xmlns:a16="http://schemas.microsoft.com/office/drawing/2014/main" id="{1156D5DD-A9E0-4F07-8736-92E222426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7F7F2E-21D2-48F0-950A-B6737ED0B2C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AEC28722-9CFA-45FA-B36C-D11FB5B9DC42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3663"/>
            <a:ext cx="9144000" cy="6767512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編號版面配置區 5">
            <a:extLst>
              <a:ext uri="{FF2B5EF4-FFF2-40B4-BE49-F238E27FC236}">
                <a16:creationId xmlns:a16="http://schemas.microsoft.com/office/drawing/2014/main" id="{1C398868-1F09-4C23-AA9E-A0B5A74AF5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D006E4-0E94-434D-B257-6D4CD125A12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F2E9EAB-8E00-4479-ADAA-0DB1A4F81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/>
              <a:t>Bugs in complex software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E0F6D51-5209-407D-AB81-059CA3287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TW"/>
              <a:t>They take effects only with special event sequences.  </a:t>
            </a:r>
          </a:p>
          <a:p>
            <a:pPr lvl="1"/>
            <a:r>
              <a:rPr lang="en-US" altLang="zh-TW"/>
              <a:t>the number of event sequences is factorial and super astronomical!</a:t>
            </a:r>
          </a:p>
          <a:p>
            <a:r>
              <a:rPr lang="en-US" altLang="zh-TW"/>
              <a:t>It is impossible to check all traces with test/simulation.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編號版面配置區 6">
            <a:extLst>
              <a:ext uri="{FF2B5EF4-FFF2-40B4-BE49-F238E27FC236}">
                <a16:creationId xmlns:a16="http://schemas.microsoft.com/office/drawing/2014/main" id="{AA44B588-8C58-4E5B-B28B-F949837258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A06A82-1CF3-4D02-8578-91F1ADBD992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B475DC7-2CC5-4E8B-8D10-D387F45A8D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57600" y="1219200"/>
            <a:ext cx="6300788" cy="4824413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Testing (real wall for real cars)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Expensive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Low coverage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Late in development cycles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l"/>
            </a:pPr>
            <a:endParaRPr lang="en-US" altLang="zh-TW" sz="2400">
              <a:ea typeface="標楷體" panose="03000509000000000000" pitchFamily="65" charset="-12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Simulation(virtual wall for virtual cars)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Economic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Low coverage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Don’t know what you haven’t seen.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l"/>
            </a:pPr>
            <a:endParaRPr lang="en-US" altLang="zh-TW" sz="2400">
              <a:ea typeface="標楷體" panose="03000509000000000000" pitchFamily="65" charset="-12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Formal Verification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ea typeface="標楷體" panose="03000509000000000000" pitchFamily="65" charset="-120"/>
              </a:rPr>
              <a:t>   (virtual car checked)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Expensive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Functional completeness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en-US" altLang="zh-TW" sz="1800">
                <a:ea typeface="標楷體" panose="03000509000000000000" pitchFamily="65" charset="-120"/>
              </a:rPr>
              <a:t>100% coverage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Automated!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en-US" altLang="zh-TW" sz="1800">
                <a:ea typeface="標楷體" panose="03000509000000000000" pitchFamily="65" charset="-120"/>
              </a:rPr>
              <a:t>With algorithms and proofs.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EC734249-0409-4DC6-A20A-E2576CA6F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50250" cy="1143000"/>
          </a:xfrm>
        </p:spPr>
        <p:txBody>
          <a:bodyPr/>
          <a:lstStyle/>
          <a:p>
            <a:r>
              <a:rPr lang="en-US" altLang="zh-TW" sz="4000">
                <a:latin typeface="Albertus Extra Bold" pitchFamily="34" charset="0"/>
              </a:rPr>
              <a:t>Three technologies in verification</a:t>
            </a:r>
          </a:p>
        </p:txBody>
      </p:sp>
      <p:sp>
        <p:nvSpPr>
          <p:cNvPr id="24581" name="Text Box 16">
            <a:extLst>
              <a:ext uri="{FF2B5EF4-FFF2-40B4-BE49-F238E27FC236}">
                <a16:creationId xmlns:a16="http://schemas.microsoft.com/office/drawing/2014/main" id="{757741D4-9EA6-469C-8CB6-99F1BD6A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133600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sp>
        <p:nvSpPr>
          <p:cNvPr id="24582" name="Oval 2">
            <a:extLst>
              <a:ext uri="{FF2B5EF4-FFF2-40B4-BE49-F238E27FC236}">
                <a16:creationId xmlns:a16="http://schemas.microsoft.com/office/drawing/2014/main" id="{B5242AD3-02A4-43BF-89EC-2E3FC1F2C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8" y="4175125"/>
            <a:ext cx="1296987" cy="720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83" name="AutoShape 4" descr="水平磚塊">
            <a:extLst>
              <a:ext uri="{FF2B5EF4-FFF2-40B4-BE49-F238E27FC236}">
                <a16:creationId xmlns:a16="http://schemas.microsoft.com/office/drawing/2014/main" id="{91125B98-885D-4F6A-BCB6-734D06F0F2B3}"/>
              </a:ext>
            </a:extLst>
          </p:cNvPr>
          <p:cNvSpPr>
            <a:spLocks noChangeArrowheads="1"/>
          </p:cNvSpPr>
          <p:nvPr/>
        </p:nvSpPr>
        <p:spPr bwMode="auto">
          <a:xfrm rot="-6345295">
            <a:off x="460375" y="3046413"/>
            <a:ext cx="682625" cy="7080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58 w 21600"/>
              <a:gd name="T13" fmla="*/ 4058 h 21600"/>
              <a:gd name="T14" fmla="*/ 17542 w 21600"/>
              <a:gd name="T15" fmla="*/ 1754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515" y="21600"/>
                </a:lnTo>
                <a:lnTo>
                  <a:pt x="17085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24584" name="Picture 6" descr="collision">
            <a:extLst>
              <a:ext uri="{FF2B5EF4-FFF2-40B4-BE49-F238E27FC236}">
                <a16:creationId xmlns:a16="http://schemas.microsoft.com/office/drawing/2014/main" id="{A20C0F62-23C4-46BA-8905-BA89E8706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1503363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5" name="Rectangle 7">
            <a:extLst>
              <a:ext uri="{FF2B5EF4-FFF2-40B4-BE49-F238E27FC236}">
                <a16:creationId xmlns:a16="http://schemas.microsoft.com/office/drawing/2014/main" id="{25C3E40A-2734-4B0A-AC11-5278E9FA57C7}"/>
              </a:ext>
            </a:extLst>
          </p:cNvPr>
          <p:cNvSpPr>
            <a:spLocks noChangeArrowheads="1"/>
          </p:cNvSpPr>
          <p:nvPr/>
        </p:nvSpPr>
        <p:spPr bwMode="auto">
          <a:xfrm rot="-530509">
            <a:off x="1020763" y="3240088"/>
            <a:ext cx="1654175" cy="358775"/>
          </a:xfrm>
          <a:prstGeom prst="rect">
            <a:avLst/>
          </a:prstGeom>
          <a:solidFill>
            <a:srgbClr val="A50021"/>
          </a:solidFill>
          <a:ln w="38100">
            <a:solidFill>
              <a:srgbClr val="A5002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86" name="AutoShape 8">
            <a:extLst>
              <a:ext uri="{FF2B5EF4-FFF2-40B4-BE49-F238E27FC236}">
                <a16:creationId xmlns:a16="http://schemas.microsoft.com/office/drawing/2014/main" id="{D07C8180-81A0-4833-884D-6FBFA09F2692}"/>
              </a:ext>
            </a:extLst>
          </p:cNvPr>
          <p:cNvSpPr>
            <a:spLocks noChangeArrowheads="1"/>
          </p:cNvSpPr>
          <p:nvPr/>
        </p:nvSpPr>
        <p:spPr bwMode="auto">
          <a:xfrm rot="10222675">
            <a:off x="1303338" y="2882900"/>
            <a:ext cx="1285875" cy="355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587" name="Line 9">
            <a:extLst>
              <a:ext uri="{FF2B5EF4-FFF2-40B4-BE49-F238E27FC236}">
                <a16:creationId xmlns:a16="http://schemas.microsoft.com/office/drawing/2014/main" id="{942A4D37-95A3-443E-96BB-063A65F63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1188" y="2878138"/>
            <a:ext cx="21590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8" name="Line 10">
            <a:extLst>
              <a:ext uri="{FF2B5EF4-FFF2-40B4-BE49-F238E27FC236}">
                <a16:creationId xmlns:a16="http://schemas.microsoft.com/office/drawing/2014/main" id="{AFD2D7F4-B90A-48BE-BDE3-0B3445028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7088" y="32385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9" name="Line 11">
            <a:extLst>
              <a:ext uri="{FF2B5EF4-FFF2-40B4-BE49-F238E27FC236}">
                <a16:creationId xmlns:a16="http://schemas.microsoft.com/office/drawing/2014/main" id="{7D1CA032-7D3D-4643-B3DB-5EED46E25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363" y="3309938"/>
            <a:ext cx="21590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90" name="Oval 12">
            <a:extLst>
              <a:ext uri="{FF2B5EF4-FFF2-40B4-BE49-F238E27FC236}">
                <a16:creationId xmlns:a16="http://schemas.microsoft.com/office/drawing/2014/main" id="{721304DB-4653-461E-AE7C-BB759E0F3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63" y="3525838"/>
            <a:ext cx="287337" cy="2873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91" name="Oval 13">
            <a:extLst>
              <a:ext uri="{FF2B5EF4-FFF2-40B4-BE49-F238E27FC236}">
                <a16:creationId xmlns:a16="http://schemas.microsoft.com/office/drawing/2014/main" id="{15BD7B68-18F6-4B9E-AC1C-4AD5ED97C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8" y="3381375"/>
            <a:ext cx="287337" cy="28733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92" name="Rectangle 14" descr="水平磚塊">
            <a:extLst>
              <a:ext uri="{FF2B5EF4-FFF2-40B4-BE49-F238E27FC236}">
                <a16:creationId xmlns:a16="http://schemas.microsoft.com/office/drawing/2014/main" id="{F1B61D14-64A6-43AE-824C-9D001C12A85C}"/>
              </a:ext>
            </a:extLst>
          </p:cNvPr>
          <p:cNvSpPr>
            <a:spLocks noChangeArrowheads="1"/>
          </p:cNvSpPr>
          <p:nvPr/>
        </p:nvSpPr>
        <p:spPr bwMode="auto">
          <a:xfrm rot="-933875">
            <a:off x="152400" y="3165475"/>
            <a:ext cx="288925" cy="717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93" name="Freeform 15">
            <a:extLst>
              <a:ext uri="{FF2B5EF4-FFF2-40B4-BE49-F238E27FC236}">
                <a16:creationId xmlns:a16="http://schemas.microsoft.com/office/drawing/2014/main" id="{9A2D6B03-AE5E-4133-8B71-5010D2B20B6D}"/>
              </a:ext>
            </a:extLst>
          </p:cNvPr>
          <p:cNvSpPr>
            <a:spLocks/>
          </p:cNvSpPr>
          <p:nvPr/>
        </p:nvSpPr>
        <p:spPr bwMode="auto">
          <a:xfrm>
            <a:off x="2749550" y="3024188"/>
            <a:ext cx="1728788" cy="382587"/>
          </a:xfrm>
          <a:custGeom>
            <a:avLst/>
            <a:gdLst>
              <a:gd name="T0" fmla="*/ 0 w 1089"/>
              <a:gd name="T1" fmla="*/ 2147483646 h 241"/>
              <a:gd name="T2" fmla="*/ 2147483646 w 1089"/>
              <a:gd name="T3" fmla="*/ 2147483646 h 241"/>
              <a:gd name="T4" fmla="*/ 2147483646 w 1089"/>
              <a:gd name="T5" fmla="*/ 2147483646 h 241"/>
              <a:gd name="T6" fmla="*/ 2147483646 w 1089"/>
              <a:gd name="T7" fmla="*/ 2147483646 h 241"/>
              <a:gd name="T8" fmla="*/ 2147483646 w 1089"/>
              <a:gd name="T9" fmla="*/ 2147483646 h 241"/>
              <a:gd name="T10" fmla="*/ 2147483646 w 1089"/>
              <a:gd name="T11" fmla="*/ 2147483646 h 241"/>
              <a:gd name="T12" fmla="*/ 2147483646 w 1089"/>
              <a:gd name="T13" fmla="*/ 2147483646 h 241"/>
              <a:gd name="T14" fmla="*/ 2147483646 w 1089"/>
              <a:gd name="T15" fmla="*/ 2147483646 h 24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89"/>
              <a:gd name="T25" fmla="*/ 0 h 241"/>
              <a:gd name="T26" fmla="*/ 1089 w 1089"/>
              <a:gd name="T27" fmla="*/ 241 h 24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89" h="241">
                <a:moveTo>
                  <a:pt x="0" y="151"/>
                </a:moveTo>
                <a:cubicBezTo>
                  <a:pt x="11" y="75"/>
                  <a:pt x="22" y="0"/>
                  <a:pt x="45" y="15"/>
                </a:cubicBezTo>
                <a:cubicBezTo>
                  <a:pt x="68" y="30"/>
                  <a:pt x="98" y="241"/>
                  <a:pt x="136" y="241"/>
                </a:cubicBezTo>
                <a:cubicBezTo>
                  <a:pt x="174" y="241"/>
                  <a:pt x="204" y="30"/>
                  <a:pt x="272" y="15"/>
                </a:cubicBezTo>
                <a:cubicBezTo>
                  <a:pt x="340" y="0"/>
                  <a:pt x="476" y="151"/>
                  <a:pt x="544" y="151"/>
                </a:cubicBezTo>
                <a:cubicBezTo>
                  <a:pt x="612" y="151"/>
                  <a:pt x="612" y="30"/>
                  <a:pt x="680" y="15"/>
                </a:cubicBezTo>
                <a:cubicBezTo>
                  <a:pt x="748" y="0"/>
                  <a:pt x="885" y="60"/>
                  <a:pt x="953" y="60"/>
                </a:cubicBezTo>
                <a:cubicBezTo>
                  <a:pt x="1021" y="60"/>
                  <a:pt x="1055" y="37"/>
                  <a:pt x="1089" y="15"/>
                </a:cubicBezTo>
              </a:path>
            </a:pathLst>
          </a:custGeom>
          <a:noFill/>
          <a:ln w="57150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24594" name="Group 17">
            <a:extLst>
              <a:ext uri="{FF2B5EF4-FFF2-40B4-BE49-F238E27FC236}">
                <a16:creationId xmlns:a16="http://schemas.microsoft.com/office/drawing/2014/main" id="{757EB6BB-4AE2-457E-8ABE-9CF04479FA29}"/>
              </a:ext>
            </a:extLst>
          </p:cNvPr>
          <p:cNvGrpSpPr>
            <a:grpSpLocks/>
          </p:cNvGrpSpPr>
          <p:nvPr/>
        </p:nvGrpSpPr>
        <p:grpSpPr bwMode="auto">
          <a:xfrm rot="2403517">
            <a:off x="2389188" y="4462463"/>
            <a:ext cx="404812" cy="350837"/>
            <a:chOff x="839" y="3113"/>
            <a:chExt cx="118" cy="221"/>
          </a:xfrm>
        </p:grpSpPr>
        <p:sp>
          <p:nvSpPr>
            <p:cNvPr id="24641" name="AutoShape 18" descr="水平磚塊">
              <a:extLst>
                <a:ext uri="{FF2B5EF4-FFF2-40B4-BE49-F238E27FC236}">
                  <a16:creationId xmlns:a16="http://schemas.microsoft.com/office/drawing/2014/main" id="{7A7360B8-BB9F-4634-A7F7-5DFB90D110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345295">
              <a:off x="833" y="3186"/>
              <a:ext cx="196" cy="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078 w 21600"/>
                <a:gd name="T13" fmla="*/ 4154 h 21600"/>
                <a:gd name="T14" fmla="*/ 17522 w 21600"/>
                <a:gd name="T15" fmla="*/ 174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515" y="21600"/>
                  </a:lnTo>
                  <a:lnTo>
                    <a:pt x="1708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42" name="Rectangle 19" descr="水平磚塊">
              <a:extLst>
                <a:ext uri="{FF2B5EF4-FFF2-40B4-BE49-F238E27FC236}">
                  <a16:creationId xmlns:a16="http://schemas.microsoft.com/office/drawing/2014/main" id="{CA520940-B866-4332-B8A2-17F2E9D280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33875">
              <a:off x="839" y="3113"/>
              <a:ext cx="61" cy="22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grpSp>
        <p:nvGrpSpPr>
          <p:cNvPr id="24595" name="Group 20">
            <a:extLst>
              <a:ext uri="{FF2B5EF4-FFF2-40B4-BE49-F238E27FC236}">
                <a16:creationId xmlns:a16="http://schemas.microsoft.com/office/drawing/2014/main" id="{3090FA7C-05D3-4F56-AF16-21406F3DBDD1}"/>
              </a:ext>
            </a:extLst>
          </p:cNvPr>
          <p:cNvGrpSpPr>
            <a:grpSpLocks/>
          </p:cNvGrpSpPr>
          <p:nvPr/>
        </p:nvGrpSpPr>
        <p:grpSpPr bwMode="auto">
          <a:xfrm rot="2935095">
            <a:off x="2749550" y="4319588"/>
            <a:ext cx="473075" cy="327025"/>
            <a:chOff x="1017" y="3022"/>
            <a:chExt cx="298" cy="206"/>
          </a:xfrm>
        </p:grpSpPr>
        <p:sp>
          <p:nvSpPr>
            <p:cNvPr id="24637" name="Rectangle 21">
              <a:extLst>
                <a:ext uri="{FF2B5EF4-FFF2-40B4-BE49-F238E27FC236}">
                  <a16:creationId xmlns:a16="http://schemas.microsoft.com/office/drawing/2014/main" id="{BBC4D0D0-0D7F-4E01-A81C-344F2AA92E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0509">
              <a:off x="1020" y="3067"/>
              <a:ext cx="295" cy="90"/>
            </a:xfrm>
            <a:prstGeom prst="rect">
              <a:avLst/>
            </a:prstGeom>
            <a:solidFill>
              <a:srgbClr val="A50021"/>
            </a:solidFill>
            <a:ln w="38100">
              <a:solidFill>
                <a:srgbClr val="A5002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38" name="AutoShape 22">
              <a:extLst>
                <a:ext uri="{FF2B5EF4-FFF2-40B4-BE49-F238E27FC236}">
                  <a16:creationId xmlns:a16="http://schemas.microsoft.com/office/drawing/2014/main" id="{2A2B0CC8-2DCF-445D-A013-8DCB926D93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2675">
              <a:off x="1061" y="3022"/>
              <a:ext cx="230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696 h 21600"/>
                <a:gd name="T14" fmla="*/ 17092 w 21600"/>
                <a:gd name="T15" fmla="*/ 169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39" name="Oval 23">
              <a:extLst>
                <a:ext uri="{FF2B5EF4-FFF2-40B4-BE49-F238E27FC236}">
                  <a16:creationId xmlns:a16="http://schemas.microsoft.com/office/drawing/2014/main" id="{6F22DA1A-6834-4B0F-B1C7-5F6FBA53C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3113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40" name="Oval 24">
              <a:extLst>
                <a:ext uri="{FF2B5EF4-FFF2-40B4-BE49-F238E27FC236}">
                  <a16:creationId xmlns:a16="http://schemas.microsoft.com/office/drawing/2014/main" id="{7C6DD894-CD59-4D1F-8D5D-D0C45AAC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" y="3158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sp>
        <p:nvSpPr>
          <p:cNvPr id="24596" name="Oval 25">
            <a:extLst>
              <a:ext uri="{FF2B5EF4-FFF2-40B4-BE49-F238E27FC236}">
                <a16:creationId xmlns:a16="http://schemas.microsoft.com/office/drawing/2014/main" id="{9738A889-086A-4A90-B504-DB6FBBF35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4822825"/>
            <a:ext cx="1296987" cy="720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597" name="AutoShape 26" descr="水平磚塊">
            <a:extLst>
              <a:ext uri="{FF2B5EF4-FFF2-40B4-BE49-F238E27FC236}">
                <a16:creationId xmlns:a16="http://schemas.microsoft.com/office/drawing/2014/main" id="{6924D874-1E36-4598-BB2A-1D2DB9F8CDBF}"/>
              </a:ext>
            </a:extLst>
          </p:cNvPr>
          <p:cNvSpPr>
            <a:spLocks noChangeArrowheads="1"/>
          </p:cNvSpPr>
          <p:nvPr/>
        </p:nvSpPr>
        <p:spPr bwMode="auto">
          <a:xfrm rot="-6345295">
            <a:off x="3008313" y="4922838"/>
            <a:ext cx="311150" cy="254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58 w 21600"/>
              <a:gd name="T13" fmla="*/ 4058 h 21600"/>
              <a:gd name="T14" fmla="*/ 17542 w 21600"/>
              <a:gd name="T15" fmla="*/ 1754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515" y="21600"/>
                </a:lnTo>
                <a:lnTo>
                  <a:pt x="17085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598" name="Rectangle 27" descr="水平磚塊">
            <a:extLst>
              <a:ext uri="{FF2B5EF4-FFF2-40B4-BE49-F238E27FC236}">
                <a16:creationId xmlns:a16="http://schemas.microsoft.com/office/drawing/2014/main" id="{E77BF6CE-A4CC-42B5-A642-10D319DE8459}"/>
              </a:ext>
            </a:extLst>
          </p:cNvPr>
          <p:cNvSpPr>
            <a:spLocks noChangeArrowheads="1"/>
          </p:cNvSpPr>
          <p:nvPr/>
        </p:nvSpPr>
        <p:spPr bwMode="auto">
          <a:xfrm rot="-933875">
            <a:off x="2714625" y="4965700"/>
            <a:ext cx="298450" cy="3508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grpSp>
        <p:nvGrpSpPr>
          <p:cNvPr id="24599" name="Group 28">
            <a:extLst>
              <a:ext uri="{FF2B5EF4-FFF2-40B4-BE49-F238E27FC236}">
                <a16:creationId xmlns:a16="http://schemas.microsoft.com/office/drawing/2014/main" id="{81475E3E-828E-48CD-AA39-E4035F47E4F8}"/>
              </a:ext>
            </a:extLst>
          </p:cNvPr>
          <p:cNvGrpSpPr>
            <a:grpSpLocks/>
          </p:cNvGrpSpPr>
          <p:nvPr/>
        </p:nvGrpSpPr>
        <p:grpSpPr bwMode="auto">
          <a:xfrm rot="1892087">
            <a:off x="3036888" y="5254625"/>
            <a:ext cx="473075" cy="327025"/>
            <a:chOff x="1017" y="3022"/>
            <a:chExt cx="298" cy="206"/>
          </a:xfrm>
        </p:grpSpPr>
        <p:sp>
          <p:nvSpPr>
            <p:cNvPr id="24633" name="Rectangle 29">
              <a:extLst>
                <a:ext uri="{FF2B5EF4-FFF2-40B4-BE49-F238E27FC236}">
                  <a16:creationId xmlns:a16="http://schemas.microsoft.com/office/drawing/2014/main" id="{7C630DAA-8D86-4626-AAD3-B1FCA0F640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0509">
              <a:off x="1020" y="3067"/>
              <a:ext cx="295" cy="90"/>
            </a:xfrm>
            <a:prstGeom prst="rect">
              <a:avLst/>
            </a:prstGeom>
            <a:solidFill>
              <a:srgbClr val="A50021"/>
            </a:solidFill>
            <a:ln w="38100">
              <a:solidFill>
                <a:srgbClr val="A5002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34" name="AutoShape 30">
              <a:extLst>
                <a:ext uri="{FF2B5EF4-FFF2-40B4-BE49-F238E27FC236}">
                  <a16:creationId xmlns:a16="http://schemas.microsoft.com/office/drawing/2014/main" id="{F81B409F-2D0D-45C0-8A3A-7A8354B76B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2675">
              <a:off x="1061" y="3022"/>
              <a:ext cx="230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696 h 21600"/>
                <a:gd name="T14" fmla="*/ 17092 w 21600"/>
                <a:gd name="T15" fmla="*/ 169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35" name="Oval 31">
              <a:extLst>
                <a:ext uri="{FF2B5EF4-FFF2-40B4-BE49-F238E27FC236}">
                  <a16:creationId xmlns:a16="http://schemas.microsoft.com/office/drawing/2014/main" id="{E13BB3AC-7541-47BD-A876-20CC1370A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3113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36" name="Oval 32">
              <a:extLst>
                <a:ext uri="{FF2B5EF4-FFF2-40B4-BE49-F238E27FC236}">
                  <a16:creationId xmlns:a16="http://schemas.microsoft.com/office/drawing/2014/main" id="{7A9276AC-206E-4B03-B060-D067E9840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" y="3158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sp>
        <p:nvSpPr>
          <p:cNvPr id="24600" name="Oval 33">
            <a:extLst>
              <a:ext uri="{FF2B5EF4-FFF2-40B4-BE49-F238E27FC236}">
                <a16:creationId xmlns:a16="http://schemas.microsoft.com/office/drawing/2014/main" id="{7B835BAD-FAE5-428D-9386-848AC4B4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4967288"/>
            <a:ext cx="1296987" cy="720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4601" name="Rectangle 34" descr="水平磚塊">
            <a:extLst>
              <a:ext uri="{FF2B5EF4-FFF2-40B4-BE49-F238E27FC236}">
                <a16:creationId xmlns:a16="http://schemas.microsoft.com/office/drawing/2014/main" id="{023520F7-CEB4-4F86-8714-4092B6563F4A}"/>
              </a:ext>
            </a:extLst>
          </p:cNvPr>
          <p:cNvSpPr>
            <a:spLocks noChangeArrowheads="1"/>
          </p:cNvSpPr>
          <p:nvPr/>
        </p:nvSpPr>
        <p:spPr bwMode="auto">
          <a:xfrm rot="-933875">
            <a:off x="517525" y="5254625"/>
            <a:ext cx="242888" cy="3508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grpSp>
        <p:nvGrpSpPr>
          <p:cNvPr id="24602" name="Group 35">
            <a:extLst>
              <a:ext uri="{FF2B5EF4-FFF2-40B4-BE49-F238E27FC236}">
                <a16:creationId xmlns:a16="http://schemas.microsoft.com/office/drawing/2014/main" id="{1A9A05FF-DBFA-482C-A76B-7A9293D2BA34}"/>
              </a:ext>
            </a:extLst>
          </p:cNvPr>
          <p:cNvGrpSpPr>
            <a:grpSpLocks/>
          </p:cNvGrpSpPr>
          <p:nvPr/>
        </p:nvGrpSpPr>
        <p:grpSpPr bwMode="auto">
          <a:xfrm>
            <a:off x="1165225" y="5038725"/>
            <a:ext cx="473075" cy="327025"/>
            <a:chOff x="1017" y="3022"/>
            <a:chExt cx="298" cy="206"/>
          </a:xfrm>
        </p:grpSpPr>
        <p:sp>
          <p:nvSpPr>
            <p:cNvPr id="24629" name="Rectangle 36">
              <a:extLst>
                <a:ext uri="{FF2B5EF4-FFF2-40B4-BE49-F238E27FC236}">
                  <a16:creationId xmlns:a16="http://schemas.microsoft.com/office/drawing/2014/main" id="{A862E463-846F-4FA5-9048-542AD42F32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0509">
              <a:off x="1020" y="3067"/>
              <a:ext cx="295" cy="90"/>
            </a:xfrm>
            <a:prstGeom prst="rect">
              <a:avLst/>
            </a:prstGeom>
            <a:solidFill>
              <a:srgbClr val="A50021"/>
            </a:solidFill>
            <a:ln w="38100">
              <a:solidFill>
                <a:srgbClr val="A5002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30" name="AutoShape 37">
              <a:extLst>
                <a:ext uri="{FF2B5EF4-FFF2-40B4-BE49-F238E27FC236}">
                  <a16:creationId xmlns:a16="http://schemas.microsoft.com/office/drawing/2014/main" id="{B429467B-D411-43C1-9575-03111DEE50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2675">
              <a:off x="1061" y="3022"/>
              <a:ext cx="230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696 h 21600"/>
                <a:gd name="T14" fmla="*/ 17092 w 21600"/>
                <a:gd name="T15" fmla="*/ 169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31" name="Oval 38">
              <a:extLst>
                <a:ext uri="{FF2B5EF4-FFF2-40B4-BE49-F238E27FC236}">
                  <a16:creationId xmlns:a16="http://schemas.microsoft.com/office/drawing/2014/main" id="{BFB14A67-5618-4040-8EA4-BDF4CBA8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3113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32" name="Oval 39">
              <a:extLst>
                <a:ext uri="{FF2B5EF4-FFF2-40B4-BE49-F238E27FC236}">
                  <a16:creationId xmlns:a16="http://schemas.microsoft.com/office/drawing/2014/main" id="{3766C36B-F666-477F-8E87-878AEB313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" y="3158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sp>
        <p:nvSpPr>
          <p:cNvPr id="24603" name="Oval 40">
            <a:extLst>
              <a:ext uri="{FF2B5EF4-FFF2-40B4-BE49-F238E27FC236}">
                <a16:creationId xmlns:a16="http://schemas.microsoft.com/office/drawing/2014/main" id="{8C9597DC-4F77-48AA-9EC7-D02F4769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318000"/>
            <a:ext cx="1296987" cy="720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grpSp>
        <p:nvGrpSpPr>
          <p:cNvPr id="24604" name="Group 41">
            <a:extLst>
              <a:ext uri="{FF2B5EF4-FFF2-40B4-BE49-F238E27FC236}">
                <a16:creationId xmlns:a16="http://schemas.microsoft.com/office/drawing/2014/main" id="{C1C75066-D1A7-4F36-AF12-EF68FFBF6F87}"/>
              </a:ext>
            </a:extLst>
          </p:cNvPr>
          <p:cNvGrpSpPr>
            <a:grpSpLocks/>
          </p:cNvGrpSpPr>
          <p:nvPr/>
        </p:nvGrpSpPr>
        <p:grpSpPr bwMode="auto">
          <a:xfrm>
            <a:off x="1093788" y="4535488"/>
            <a:ext cx="187325" cy="350837"/>
            <a:chOff x="839" y="3113"/>
            <a:chExt cx="118" cy="221"/>
          </a:xfrm>
        </p:grpSpPr>
        <p:sp>
          <p:nvSpPr>
            <p:cNvPr id="24627" name="AutoShape 42" descr="水平磚塊">
              <a:extLst>
                <a:ext uri="{FF2B5EF4-FFF2-40B4-BE49-F238E27FC236}">
                  <a16:creationId xmlns:a16="http://schemas.microsoft.com/office/drawing/2014/main" id="{189A8A86-9075-42F0-BA9E-F9F5F4709E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345295">
              <a:off x="833" y="3186"/>
              <a:ext cx="196" cy="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078 w 21600"/>
                <a:gd name="T13" fmla="*/ 4154 h 21600"/>
                <a:gd name="T14" fmla="*/ 17522 w 21600"/>
                <a:gd name="T15" fmla="*/ 174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515" y="21600"/>
                  </a:lnTo>
                  <a:lnTo>
                    <a:pt x="1708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8" name="Rectangle 43" descr="水平磚塊">
              <a:extLst>
                <a:ext uri="{FF2B5EF4-FFF2-40B4-BE49-F238E27FC236}">
                  <a16:creationId xmlns:a16="http://schemas.microsoft.com/office/drawing/2014/main" id="{0B897AA9-721A-4DDA-977C-55B46D130F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33875">
              <a:off x="839" y="3113"/>
              <a:ext cx="61" cy="22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grpSp>
        <p:nvGrpSpPr>
          <p:cNvPr id="24605" name="Group 44">
            <a:extLst>
              <a:ext uri="{FF2B5EF4-FFF2-40B4-BE49-F238E27FC236}">
                <a16:creationId xmlns:a16="http://schemas.microsoft.com/office/drawing/2014/main" id="{D69D1F59-9F79-4AA7-8EDA-DE81C7606C62}"/>
              </a:ext>
            </a:extLst>
          </p:cNvPr>
          <p:cNvGrpSpPr>
            <a:grpSpLocks/>
          </p:cNvGrpSpPr>
          <p:nvPr/>
        </p:nvGrpSpPr>
        <p:grpSpPr bwMode="auto">
          <a:xfrm rot="-2676615">
            <a:off x="1382713" y="4462463"/>
            <a:ext cx="473075" cy="327025"/>
            <a:chOff x="1017" y="3022"/>
            <a:chExt cx="298" cy="206"/>
          </a:xfrm>
        </p:grpSpPr>
        <p:sp>
          <p:nvSpPr>
            <p:cNvPr id="24623" name="Rectangle 45">
              <a:extLst>
                <a:ext uri="{FF2B5EF4-FFF2-40B4-BE49-F238E27FC236}">
                  <a16:creationId xmlns:a16="http://schemas.microsoft.com/office/drawing/2014/main" id="{13EA2930-4BBD-4D69-83DC-05CD177FF2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0509">
              <a:off x="1020" y="3067"/>
              <a:ext cx="295" cy="90"/>
            </a:xfrm>
            <a:prstGeom prst="rect">
              <a:avLst/>
            </a:prstGeom>
            <a:solidFill>
              <a:srgbClr val="A50021"/>
            </a:solidFill>
            <a:ln w="38100">
              <a:solidFill>
                <a:srgbClr val="A5002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24" name="AutoShape 46">
              <a:extLst>
                <a:ext uri="{FF2B5EF4-FFF2-40B4-BE49-F238E27FC236}">
                  <a16:creationId xmlns:a16="http://schemas.microsoft.com/office/drawing/2014/main" id="{2551D7A8-26B9-493F-9DE3-517F32780A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2675">
              <a:off x="1061" y="3022"/>
              <a:ext cx="230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696 h 21600"/>
                <a:gd name="T14" fmla="*/ 17092 w 21600"/>
                <a:gd name="T15" fmla="*/ 169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5" name="Oval 47">
              <a:extLst>
                <a:ext uri="{FF2B5EF4-FFF2-40B4-BE49-F238E27FC236}">
                  <a16:creationId xmlns:a16="http://schemas.microsoft.com/office/drawing/2014/main" id="{070D2AEC-F803-40B9-A224-290524C96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3113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26" name="Oval 48">
              <a:extLst>
                <a:ext uri="{FF2B5EF4-FFF2-40B4-BE49-F238E27FC236}">
                  <a16:creationId xmlns:a16="http://schemas.microsoft.com/office/drawing/2014/main" id="{044871AF-2627-4A87-8151-A3FB80975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" y="3158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sp>
        <p:nvSpPr>
          <p:cNvPr id="24606" name="Oval 49">
            <a:extLst>
              <a:ext uri="{FF2B5EF4-FFF2-40B4-BE49-F238E27FC236}">
                <a16:creationId xmlns:a16="http://schemas.microsoft.com/office/drawing/2014/main" id="{59987211-D808-4593-B07D-70B5E2B4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5183188"/>
            <a:ext cx="1296987" cy="720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grpSp>
        <p:nvGrpSpPr>
          <p:cNvPr id="24607" name="Group 50">
            <a:extLst>
              <a:ext uri="{FF2B5EF4-FFF2-40B4-BE49-F238E27FC236}">
                <a16:creationId xmlns:a16="http://schemas.microsoft.com/office/drawing/2014/main" id="{7D98F0D6-67A9-42A3-8937-921661E08431}"/>
              </a:ext>
            </a:extLst>
          </p:cNvPr>
          <p:cNvGrpSpPr>
            <a:grpSpLocks/>
          </p:cNvGrpSpPr>
          <p:nvPr/>
        </p:nvGrpSpPr>
        <p:grpSpPr bwMode="auto">
          <a:xfrm>
            <a:off x="1525588" y="5400675"/>
            <a:ext cx="187325" cy="350838"/>
            <a:chOff x="839" y="3113"/>
            <a:chExt cx="118" cy="221"/>
          </a:xfrm>
        </p:grpSpPr>
        <p:sp>
          <p:nvSpPr>
            <p:cNvPr id="24621" name="AutoShape 51" descr="水平磚塊">
              <a:extLst>
                <a:ext uri="{FF2B5EF4-FFF2-40B4-BE49-F238E27FC236}">
                  <a16:creationId xmlns:a16="http://schemas.microsoft.com/office/drawing/2014/main" id="{F148F0FC-BF0C-430E-8065-4229E17C8B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345295">
              <a:off x="833" y="3186"/>
              <a:ext cx="196" cy="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078 w 21600"/>
                <a:gd name="T13" fmla="*/ 4154 h 21600"/>
                <a:gd name="T14" fmla="*/ 17522 w 21600"/>
                <a:gd name="T15" fmla="*/ 174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515" y="21600"/>
                  </a:lnTo>
                  <a:lnTo>
                    <a:pt x="1708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22" name="Rectangle 52" descr="水平磚塊">
              <a:extLst>
                <a:ext uri="{FF2B5EF4-FFF2-40B4-BE49-F238E27FC236}">
                  <a16:creationId xmlns:a16="http://schemas.microsoft.com/office/drawing/2014/main" id="{D6AFA95F-C290-4684-85ED-DCC6E1DEFF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33875">
              <a:off x="839" y="3113"/>
              <a:ext cx="61" cy="22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grpSp>
        <p:nvGrpSpPr>
          <p:cNvPr id="24608" name="Group 53">
            <a:extLst>
              <a:ext uri="{FF2B5EF4-FFF2-40B4-BE49-F238E27FC236}">
                <a16:creationId xmlns:a16="http://schemas.microsoft.com/office/drawing/2014/main" id="{7ACC6A35-18B6-4260-A3FF-6E31194B9B71}"/>
              </a:ext>
            </a:extLst>
          </p:cNvPr>
          <p:cNvGrpSpPr>
            <a:grpSpLocks/>
          </p:cNvGrpSpPr>
          <p:nvPr/>
        </p:nvGrpSpPr>
        <p:grpSpPr bwMode="auto">
          <a:xfrm>
            <a:off x="1814513" y="5327650"/>
            <a:ext cx="473075" cy="327025"/>
            <a:chOff x="1017" y="3022"/>
            <a:chExt cx="298" cy="206"/>
          </a:xfrm>
        </p:grpSpPr>
        <p:sp>
          <p:nvSpPr>
            <p:cNvPr id="24617" name="Rectangle 54">
              <a:extLst>
                <a:ext uri="{FF2B5EF4-FFF2-40B4-BE49-F238E27FC236}">
                  <a16:creationId xmlns:a16="http://schemas.microsoft.com/office/drawing/2014/main" id="{A95A1802-0977-41AE-A9D3-B92283238F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0509">
              <a:off x="1020" y="3067"/>
              <a:ext cx="295" cy="90"/>
            </a:xfrm>
            <a:prstGeom prst="rect">
              <a:avLst/>
            </a:prstGeom>
            <a:solidFill>
              <a:srgbClr val="A50021"/>
            </a:solidFill>
            <a:ln w="38100">
              <a:solidFill>
                <a:srgbClr val="A5002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18" name="AutoShape 55">
              <a:extLst>
                <a:ext uri="{FF2B5EF4-FFF2-40B4-BE49-F238E27FC236}">
                  <a16:creationId xmlns:a16="http://schemas.microsoft.com/office/drawing/2014/main" id="{5C434A36-21FC-464C-91AE-FD6B2512B3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222675">
              <a:off x="1061" y="3022"/>
              <a:ext cx="230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8 w 21600"/>
                <a:gd name="T13" fmla="*/ 4696 h 21600"/>
                <a:gd name="T14" fmla="*/ 17092 w 21600"/>
                <a:gd name="T15" fmla="*/ 169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619" name="Oval 56">
              <a:extLst>
                <a:ext uri="{FF2B5EF4-FFF2-40B4-BE49-F238E27FC236}">
                  <a16:creationId xmlns:a16="http://schemas.microsoft.com/office/drawing/2014/main" id="{0BE20695-8EA9-4D98-A5C9-45804B245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3113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4620" name="Oval 57">
              <a:extLst>
                <a:ext uri="{FF2B5EF4-FFF2-40B4-BE49-F238E27FC236}">
                  <a16:creationId xmlns:a16="http://schemas.microsoft.com/office/drawing/2014/main" id="{22D60225-936B-4072-8798-97432A0EE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" y="3158"/>
              <a:ext cx="51" cy="7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  <p:sp>
        <p:nvSpPr>
          <p:cNvPr id="24609" name="Freeform 58">
            <a:extLst>
              <a:ext uri="{FF2B5EF4-FFF2-40B4-BE49-F238E27FC236}">
                <a16:creationId xmlns:a16="http://schemas.microsoft.com/office/drawing/2014/main" id="{2A26B386-43CB-4DFF-BBA1-FB4AA4076FD1}"/>
              </a:ext>
            </a:extLst>
          </p:cNvPr>
          <p:cNvSpPr>
            <a:spLocks/>
          </p:cNvSpPr>
          <p:nvPr/>
        </p:nvSpPr>
        <p:spPr bwMode="auto">
          <a:xfrm>
            <a:off x="806450" y="5183188"/>
            <a:ext cx="360363" cy="309562"/>
          </a:xfrm>
          <a:custGeom>
            <a:avLst/>
            <a:gdLst>
              <a:gd name="T0" fmla="*/ 0 w 1089"/>
              <a:gd name="T1" fmla="*/ 2147483646 h 241"/>
              <a:gd name="T2" fmla="*/ 2147483646 w 1089"/>
              <a:gd name="T3" fmla="*/ 2147483646 h 241"/>
              <a:gd name="T4" fmla="*/ 2147483646 w 1089"/>
              <a:gd name="T5" fmla="*/ 2147483646 h 241"/>
              <a:gd name="T6" fmla="*/ 2147483646 w 1089"/>
              <a:gd name="T7" fmla="*/ 2147483646 h 241"/>
              <a:gd name="T8" fmla="*/ 2147483646 w 1089"/>
              <a:gd name="T9" fmla="*/ 2147483646 h 241"/>
              <a:gd name="T10" fmla="*/ 2147483646 w 1089"/>
              <a:gd name="T11" fmla="*/ 2147483646 h 241"/>
              <a:gd name="T12" fmla="*/ 2147483646 w 1089"/>
              <a:gd name="T13" fmla="*/ 2147483646 h 241"/>
              <a:gd name="T14" fmla="*/ 2147483646 w 1089"/>
              <a:gd name="T15" fmla="*/ 2147483646 h 24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89"/>
              <a:gd name="T25" fmla="*/ 0 h 241"/>
              <a:gd name="T26" fmla="*/ 1089 w 1089"/>
              <a:gd name="T27" fmla="*/ 241 h 24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89" h="241">
                <a:moveTo>
                  <a:pt x="0" y="151"/>
                </a:moveTo>
                <a:cubicBezTo>
                  <a:pt x="11" y="75"/>
                  <a:pt x="22" y="0"/>
                  <a:pt x="45" y="15"/>
                </a:cubicBezTo>
                <a:cubicBezTo>
                  <a:pt x="68" y="30"/>
                  <a:pt x="98" y="241"/>
                  <a:pt x="136" y="241"/>
                </a:cubicBezTo>
                <a:cubicBezTo>
                  <a:pt x="174" y="241"/>
                  <a:pt x="204" y="30"/>
                  <a:pt x="272" y="15"/>
                </a:cubicBezTo>
                <a:cubicBezTo>
                  <a:pt x="340" y="0"/>
                  <a:pt x="476" y="151"/>
                  <a:pt x="544" y="151"/>
                </a:cubicBezTo>
                <a:cubicBezTo>
                  <a:pt x="612" y="151"/>
                  <a:pt x="612" y="30"/>
                  <a:pt x="680" y="15"/>
                </a:cubicBezTo>
                <a:cubicBezTo>
                  <a:pt x="748" y="0"/>
                  <a:pt x="885" y="60"/>
                  <a:pt x="953" y="60"/>
                </a:cubicBezTo>
                <a:cubicBezTo>
                  <a:pt x="1021" y="60"/>
                  <a:pt x="1055" y="37"/>
                  <a:pt x="1089" y="15"/>
                </a:cubicBezTo>
              </a:path>
            </a:pathLst>
          </a:custGeom>
          <a:noFill/>
          <a:ln w="3175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0" name="Line 59">
            <a:extLst>
              <a:ext uri="{FF2B5EF4-FFF2-40B4-BE49-F238E27FC236}">
                <a16:creationId xmlns:a16="http://schemas.microsoft.com/office/drawing/2014/main" id="{A5C4FF15-1754-4772-BED0-E95296C005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7388" y="4535488"/>
            <a:ext cx="360362" cy="71437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1" name="Line 60">
            <a:extLst>
              <a:ext uri="{FF2B5EF4-FFF2-40B4-BE49-F238E27FC236}">
                <a16:creationId xmlns:a16="http://schemas.microsoft.com/office/drawing/2014/main" id="{817D2798-DCD8-4044-9742-70648BBA8A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9188" y="5327650"/>
            <a:ext cx="360362" cy="144463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2" name="Line 61">
            <a:extLst>
              <a:ext uri="{FF2B5EF4-FFF2-40B4-BE49-F238E27FC236}">
                <a16:creationId xmlns:a16="http://schemas.microsoft.com/office/drawing/2014/main" id="{3E8A9E4A-84A6-4EA9-A38B-95238AAAAA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9325" y="4751388"/>
            <a:ext cx="287338" cy="360362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3" name="Line 62">
            <a:extLst>
              <a:ext uri="{FF2B5EF4-FFF2-40B4-BE49-F238E27FC236}">
                <a16:creationId xmlns:a16="http://schemas.microsoft.com/office/drawing/2014/main" id="{91004581-FD09-4636-BE53-E379E10903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5450" y="4679950"/>
            <a:ext cx="0" cy="287338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4" name="Line 63">
            <a:extLst>
              <a:ext uri="{FF2B5EF4-FFF2-40B4-BE49-F238E27FC236}">
                <a16:creationId xmlns:a16="http://schemas.microsoft.com/office/drawing/2014/main" id="{250B2CDB-0726-4390-9316-FED934130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5225" y="5399088"/>
            <a:ext cx="360363" cy="73025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5" name="Line 64">
            <a:extLst>
              <a:ext uri="{FF2B5EF4-FFF2-40B4-BE49-F238E27FC236}">
                <a16:creationId xmlns:a16="http://schemas.microsoft.com/office/drawing/2014/main" id="{4907EA16-49B6-4124-8648-971945619D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12925" y="4822825"/>
            <a:ext cx="71438" cy="504825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616" name="Line 65">
            <a:extLst>
              <a:ext uri="{FF2B5EF4-FFF2-40B4-BE49-F238E27FC236}">
                <a16:creationId xmlns:a16="http://schemas.microsoft.com/office/drawing/2014/main" id="{C08D5D39-0FAF-43B4-8641-CEB709A8DC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00263" y="4679950"/>
            <a:ext cx="288925" cy="576263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7">
            <a:extLst>
              <a:ext uri="{FF2B5EF4-FFF2-40B4-BE49-F238E27FC236}">
                <a16:creationId xmlns:a16="http://schemas.microsoft.com/office/drawing/2014/main" id="{004723C0-C495-4AEA-A9EC-8FCED6A6A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9AA839-7928-4E37-A0F2-448CCB292E9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18E80E9-33D7-4AF7-8F20-BCC9B0108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Arial" panose="020B0604020202020204" pitchFamily="34" charset="0"/>
                <a:ea typeface="標楷體" panose="03000509000000000000" pitchFamily="65" charset="-120"/>
              </a:rPr>
              <a:t>Sum of the 3 angles = 180 ?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D16BDE8-45EB-4973-8093-88AE98DF9B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57600" y="1295400"/>
            <a:ext cx="6011863" cy="50847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Testing 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</a:rPr>
              <a:t>(check all 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  <a:sym typeface="Symbol" panose="05050102010706020507" pitchFamily="18" charset="2"/>
              </a:rPr>
              <a:t>s you see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</a:rPr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Expensive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Low coverage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Late in development cycles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Simulation 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</a:rPr>
              <a:t>(check all 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  <a:sym typeface="Symbol" panose="05050102010706020507" pitchFamily="18" charset="2"/>
              </a:rPr>
              <a:t>s you draw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</a:rPr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Economic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Low coverage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Don’t know what you haven’t seen.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TW" sz="2400">
                <a:ea typeface="標楷體" panose="03000509000000000000" pitchFamily="65" charset="-120"/>
              </a:rPr>
              <a:t>Formal Verification</a:t>
            </a:r>
            <a:r>
              <a:rPr lang="en-US" altLang="zh-TW" sz="2400">
                <a:solidFill>
                  <a:srgbClr val="A50021"/>
                </a:solidFill>
                <a:ea typeface="標楷體" panose="03000509000000000000" pitchFamily="65" charset="-120"/>
              </a:rPr>
              <a:t>(we prove it.)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Expensive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Functional completeness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en-US" altLang="zh-TW" sz="1800">
                <a:ea typeface="標楷體" panose="03000509000000000000" pitchFamily="65" charset="-120"/>
              </a:rPr>
              <a:t>100% coverage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zh-TW" sz="2000">
                <a:ea typeface="標楷體" panose="03000509000000000000" pitchFamily="65" charset="-120"/>
              </a:rPr>
              <a:t>Automated!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en-US" altLang="zh-TW" sz="1800">
                <a:ea typeface="標楷體" panose="03000509000000000000" pitchFamily="65" charset="-120"/>
              </a:rPr>
              <a:t>With algorithms and proofs.</a:t>
            </a:r>
          </a:p>
        </p:txBody>
      </p:sp>
      <p:pic>
        <p:nvPicPr>
          <p:cNvPr id="26629" name="Picture 4" descr="steeple1">
            <a:extLst>
              <a:ext uri="{FF2B5EF4-FFF2-40B4-BE49-F238E27FC236}">
                <a16:creationId xmlns:a16="http://schemas.microsoft.com/office/drawing/2014/main" id="{7B944239-D0B7-402F-9F55-6E8D7860C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595313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AutoShape 6">
            <a:extLst>
              <a:ext uri="{FF2B5EF4-FFF2-40B4-BE49-F238E27FC236}">
                <a16:creationId xmlns:a16="http://schemas.microsoft.com/office/drawing/2014/main" id="{678BBC25-CFD6-4FC0-8C90-D38F28B42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4608513"/>
            <a:ext cx="1920875" cy="1081087"/>
          </a:xfrm>
          <a:prstGeom prst="triangle">
            <a:avLst>
              <a:gd name="adj" fmla="val 75056"/>
            </a:avLst>
          </a:prstGeom>
          <a:solidFill>
            <a:schemeClr val="accent1"/>
          </a:solidFill>
          <a:ln w="571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072EB2C8-A4B7-4C85-AE84-C0E19D0E6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8" y="4608513"/>
            <a:ext cx="309721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6632" name="Arc 8">
            <a:extLst>
              <a:ext uri="{FF2B5EF4-FFF2-40B4-BE49-F238E27FC236}">
                <a16:creationId xmlns:a16="http://schemas.microsoft.com/office/drawing/2014/main" id="{5DEA8A64-978E-48C1-8CC6-828DE44DCC26}"/>
              </a:ext>
            </a:extLst>
          </p:cNvPr>
          <p:cNvSpPr>
            <a:spLocks/>
          </p:cNvSpPr>
          <p:nvPr/>
        </p:nvSpPr>
        <p:spPr bwMode="auto">
          <a:xfrm>
            <a:off x="1376363" y="4608513"/>
            <a:ext cx="288925" cy="287337"/>
          </a:xfrm>
          <a:custGeom>
            <a:avLst/>
            <a:gdLst>
              <a:gd name="T0" fmla="*/ 2147483646 w 21600"/>
              <a:gd name="T1" fmla="*/ 2147483646 h 21654"/>
              <a:gd name="T2" fmla="*/ 2147483646 w 21600"/>
              <a:gd name="T3" fmla="*/ 0 h 21654"/>
              <a:gd name="T4" fmla="*/ 2147483646 w 21600"/>
              <a:gd name="T5" fmla="*/ 2147483646 h 21654"/>
              <a:gd name="T6" fmla="*/ 0 60000 65536"/>
              <a:gd name="T7" fmla="*/ 0 60000 65536"/>
              <a:gd name="T8" fmla="*/ 0 60000 65536"/>
              <a:gd name="T9" fmla="*/ 0 w 21600"/>
              <a:gd name="T10" fmla="*/ 0 h 21654"/>
              <a:gd name="T11" fmla="*/ 21600 w 21600"/>
              <a:gd name="T12" fmla="*/ 21654 h 216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54" fill="none" extrusionOk="0">
                <a:moveTo>
                  <a:pt x="10918" y="21653"/>
                </a:moveTo>
                <a:cubicBezTo>
                  <a:pt x="4168" y="17813"/>
                  <a:pt x="0" y="10645"/>
                  <a:pt x="0" y="2880"/>
                </a:cubicBezTo>
                <a:cubicBezTo>
                  <a:pt x="-1" y="1916"/>
                  <a:pt x="64" y="954"/>
                  <a:pt x="192" y="-1"/>
                </a:cubicBezTo>
              </a:path>
              <a:path w="21600" h="21654" stroke="0" extrusionOk="0">
                <a:moveTo>
                  <a:pt x="10918" y="21653"/>
                </a:moveTo>
                <a:cubicBezTo>
                  <a:pt x="4168" y="17813"/>
                  <a:pt x="0" y="10645"/>
                  <a:pt x="0" y="2880"/>
                </a:cubicBezTo>
                <a:cubicBezTo>
                  <a:pt x="-1" y="1916"/>
                  <a:pt x="64" y="954"/>
                  <a:pt x="192" y="-1"/>
                </a:cubicBezTo>
                <a:lnTo>
                  <a:pt x="21600" y="2880"/>
                </a:lnTo>
                <a:lnTo>
                  <a:pt x="10918" y="21653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3" name="Arc 9">
            <a:extLst>
              <a:ext uri="{FF2B5EF4-FFF2-40B4-BE49-F238E27FC236}">
                <a16:creationId xmlns:a16="http://schemas.microsoft.com/office/drawing/2014/main" id="{7B98F0F3-4A95-4ED8-A525-B5ACC188D884}"/>
              </a:ext>
            </a:extLst>
          </p:cNvPr>
          <p:cNvSpPr>
            <a:spLocks/>
          </p:cNvSpPr>
          <p:nvPr/>
        </p:nvSpPr>
        <p:spPr bwMode="auto">
          <a:xfrm rot="10800000">
            <a:off x="657225" y="5400675"/>
            <a:ext cx="288925" cy="287338"/>
          </a:xfrm>
          <a:custGeom>
            <a:avLst/>
            <a:gdLst>
              <a:gd name="T0" fmla="*/ 2147483646 w 21600"/>
              <a:gd name="T1" fmla="*/ 2147483646 h 21654"/>
              <a:gd name="T2" fmla="*/ 2147483646 w 21600"/>
              <a:gd name="T3" fmla="*/ 0 h 21654"/>
              <a:gd name="T4" fmla="*/ 2147483646 w 21600"/>
              <a:gd name="T5" fmla="*/ 2147483646 h 21654"/>
              <a:gd name="T6" fmla="*/ 0 60000 65536"/>
              <a:gd name="T7" fmla="*/ 0 60000 65536"/>
              <a:gd name="T8" fmla="*/ 0 60000 65536"/>
              <a:gd name="T9" fmla="*/ 0 w 21600"/>
              <a:gd name="T10" fmla="*/ 0 h 21654"/>
              <a:gd name="T11" fmla="*/ 21600 w 21600"/>
              <a:gd name="T12" fmla="*/ 21654 h 216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54" fill="none" extrusionOk="0">
                <a:moveTo>
                  <a:pt x="10918" y="21653"/>
                </a:moveTo>
                <a:cubicBezTo>
                  <a:pt x="4168" y="17813"/>
                  <a:pt x="0" y="10645"/>
                  <a:pt x="0" y="2880"/>
                </a:cubicBezTo>
                <a:cubicBezTo>
                  <a:pt x="-1" y="1916"/>
                  <a:pt x="64" y="954"/>
                  <a:pt x="192" y="-1"/>
                </a:cubicBezTo>
              </a:path>
              <a:path w="21600" h="21654" stroke="0" extrusionOk="0">
                <a:moveTo>
                  <a:pt x="10918" y="21653"/>
                </a:moveTo>
                <a:cubicBezTo>
                  <a:pt x="4168" y="17813"/>
                  <a:pt x="0" y="10645"/>
                  <a:pt x="0" y="2880"/>
                </a:cubicBezTo>
                <a:cubicBezTo>
                  <a:pt x="-1" y="1916"/>
                  <a:pt x="64" y="954"/>
                  <a:pt x="192" y="-1"/>
                </a:cubicBezTo>
                <a:lnTo>
                  <a:pt x="21600" y="2880"/>
                </a:lnTo>
                <a:lnTo>
                  <a:pt x="10918" y="21653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4" name="Arc 10">
            <a:extLst>
              <a:ext uri="{FF2B5EF4-FFF2-40B4-BE49-F238E27FC236}">
                <a16:creationId xmlns:a16="http://schemas.microsoft.com/office/drawing/2014/main" id="{C9469C5C-B585-4FA5-BF44-113E9AAD8C75}"/>
              </a:ext>
            </a:extLst>
          </p:cNvPr>
          <p:cNvSpPr>
            <a:spLocks/>
          </p:cNvSpPr>
          <p:nvPr/>
        </p:nvSpPr>
        <p:spPr bwMode="auto">
          <a:xfrm rot="-5400000">
            <a:off x="1953419" y="4607719"/>
            <a:ext cx="284162" cy="285750"/>
          </a:xfrm>
          <a:custGeom>
            <a:avLst/>
            <a:gdLst>
              <a:gd name="T0" fmla="*/ 2147483646 w 21202"/>
              <a:gd name="T1" fmla="*/ 2147483646 h 21583"/>
              <a:gd name="T2" fmla="*/ 0 w 21202"/>
              <a:gd name="T3" fmla="*/ 2147483646 h 21583"/>
              <a:gd name="T4" fmla="*/ 2147483646 w 21202"/>
              <a:gd name="T5" fmla="*/ 0 h 21583"/>
              <a:gd name="T6" fmla="*/ 0 60000 65536"/>
              <a:gd name="T7" fmla="*/ 0 60000 65536"/>
              <a:gd name="T8" fmla="*/ 0 60000 65536"/>
              <a:gd name="T9" fmla="*/ 0 w 21202"/>
              <a:gd name="T10" fmla="*/ 0 h 21583"/>
              <a:gd name="T11" fmla="*/ 21202 w 21202"/>
              <a:gd name="T12" fmla="*/ 21583 h 215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202" h="21583" fill="none" extrusionOk="0">
                <a:moveTo>
                  <a:pt x="20349" y="21583"/>
                </a:moveTo>
                <a:cubicBezTo>
                  <a:pt x="10340" y="21188"/>
                  <a:pt x="1915" y="13962"/>
                  <a:pt x="0" y="4129"/>
                </a:cubicBezTo>
              </a:path>
              <a:path w="21202" h="21583" stroke="0" extrusionOk="0">
                <a:moveTo>
                  <a:pt x="20349" y="21583"/>
                </a:moveTo>
                <a:cubicBezTo>
                  <a:pt x="10340" y="21188"/>
                  <a:pt x="1915" y="13962"/>
                  <a:pt x="0" y="4129"/>
                </a:cubicBezTo>
                <a:lnTo>
                  <a:pt x="21202" y="0"/>
                </a:lnTo>
                <a:lnTo>
                  <a:pt x="20349" y="21583"/>
                </a:lnTo>
                <a:close/>
              </a:path>
            </a:pathLst>
          </a:custGeom>
          <a:noFill/>
          <a:ln w="57150" cmpd="thinThick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5" name="Arc 11">
            <a:extLst>
              <a:ext uri="{FF2B5EF4-FFF2-40B4-BE49-F238E27FC236}">
                <a16:creationId xmlns:a16="http://schemas.microsoft.com/office/drawing/2014/main" id="{48E54C94-9FC8-4D15-A0A1-29B437875558}"/>
              </a:ext>
            </a:extLst>
          </p:cNvPr>
          <p:cNvSpPr>
            <a:spLocks/>
          </p:cNvSpPr>
          <p:nvPr/>
        </p:nvSpPr>
        <p:spPr bwMode="auto">
          <a:xfrm rot="5400000">
            <a:off x="2024856" y="5399882"/>
            <a:ext cx="284163" cy="285750"/>
          </a:xfrm>
          <a:custGeom>
            <a:avLst/>
            <a:gdLst>
              <a:gd name="T0" fmla="*/ 2147483646 w 21202"/>
              <a:gd name="T1" fmla="*/ 2147483646 h 21583"/>
              <a:gd name="T2" fmla="*/ 0 w 21202"/>
              <a:gd name="T3" fmla="*/ 2147483646 h 21583"/>
              <a:gd name="T4" fmla="*/ 2147483646 w 21202"/>
              <a:gd name="T5" fmla="*/ 0 h 21583"/>
              <a:gd name="T6" fmla="*/ 0 60000 65536"/>
              <a:gd name="T7" fmla="*/ 0 60000 65536"/>
              <a:gd name="T8" fmla="*/ 0 60000 65536"/>
              <a:gd name="T9" fmla="*/ 0 w 21202"/>
              <a:gd name="T10" fmla="*/ 0 h 21583"/>
              <a:gd name="T11" fmla="*/ 21202 w 21202"/>
              <a:gd name="T12" fmla="*/ 21583 h 215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202" h="21583" fill="none" extrusionOk="0">
                <a:moveTo>
                  <a:pt x="20349" y="21583"/>
                </a:moveTo>
                <a:cubicBezTo>
                  <a:pt x="10340" y="21188"/>
                  <a:pt x="1915" y="13962"/>
                  <a:pt x="0" y="4129"/>
                </a:cubicBezTo>
              </a:path>
              <a:path w="21202" h="21583" stroke="0" extrusionOk="0">
                <a:moveTo>
                  <a:pt x="20349" y="21583"/>
                </a:moveTo>
                <a:cubicBezTo>
                  <a:pt x="10340" y="21188"/>
                  <a:pt x="1915" y="13962"/>
                  <a:pt x="0" y="4129"/>
                </a:cubicBezTo>
                <a:lnTo>
                  <a:pt x="21202" y="0"/>
                </a:lnTo>
                <a:lnTo>
                  <a:pt x="20349" y="21583"/>
                </a:lnTo>
                <a:close/>
              </a:path>
            </a:pathLst>
          </a:custGeom>
          <a:noFill/>
          <a:ln w="57150" cmpd="thinThick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6" name="AutoShape 12">
            <a:extLst>
              <a:ext uri="{FF2B5EF4-FFF2-40B4-BE49-F238E27FC236}">
                <a16:creationId xmlns:a16="http://schemas.microsoft.com/office/drawing/2014/main" id="{A5CE620F-281A-45B7-9677-38017986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95625"/>
            <a:ext cx="841375" cy="360363"/>
          </a:xfrm>
          <a:prstGeom prst="triangle">
            <a:avLst>
              <a:gd name="adj" fmla="val 7665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6637" name="AutoShape 13">
            <a:extLst>
              <a:ext uri="{FF2B5EF4-FFF2-40B4-BE49-F238E27FC236}">
                <a16:creationId xmlns:a16="http://schemas.microsoft.com/office/drawing/2014/main" id="{82D1AEE3-8E84-4E3F-ABB8-054125518E4B}"/>
              </a:ext>
            </a:extLst>
          </p:cNvPr>
          <p:cNvSpPr>
            <a:spLocks noChangeArrowheads="1"/>
          </p:cNvSpPr>
          <p:nvPr/>
        </p:nvSpPr>
        <p:spPr bwMode="auto">
          <a:xfrm rot="-2024520">
            <a:off x="944563" y="2951163"/>
            <a:ext cx="649287" cy="358775"/>
          </a:xfrm>
          <a:prstGeom prst="triangle">
            <a:avLst>
              <a:gd name="adj" fmla="val 3245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6638" name="AutoShape 14">
            <a:extLst>
              <a:ext uri="{FF2B5EF4-FFF2-40B4-BE49-F238E27FC236}">
                <a16:creationId xmlns:a16="http://schemas.microsoft.com/office/drawing/2014/main" id="{07003460-6BCA-402C-8D85-EF42350C71A4}"/>
              </a:ext>
            </a:extLst>
          </p:cNvPr>
          <p:cNvSpPr>
            <a:spLocks noChangeArrowheads="1"/>
          </p:cNvSpPr>
          <p:nvPr/>
        </p:nvSpPr>
        <p:spPr bwMode="auto">
          <a:xfrm rot="-4972499">
            <a:off x="1604169" y="3155157"/>
            <a:ext cx="409575" cy="433387"/>
          </a:xfrm>
          <a:prstGeom prst="triangle">
            <a:avLst>
              <a:gd name="adj" fmla="val 7665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6639" name="AutoShape 15">
            <a:extLst>
              <a:ext uri="{FF2B5EF4-FFF2-40B4-BE49-F238E27FC236}">
                <a16:creationId xmlns:a16="http://schemas.microsoft.com/office/drawing/2014/main" id="{46820D33-FBCE-4654-AE0B-5397DE1443E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41550" y="2951163"/>
            <a:ext cx="265113" cy="935037"/>
          </a:xfrm>
          <a:prstGeom prst="triangle">
            <a:avLst>
              <a:gd name="adj" fmla="val 2943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27C21E24-22A9-4A80-9ADD-154E6E9AD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2735263"/>
            <a:ext cx="104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5400">
                <a:solidFill>
                  <a:srgbClr val="0000FF"/>
                </a:solidFill>
                <a:latin typeface="Comic Sans MS" panose="030F0702030302020204" pitchFamily="66" charset="0"/>
              </a:rPr>
              <a:t>.....</a:t>
            </a:r>
          </a:p>
        </p:txBody>
      </p:sp>
      <p:pic>
        <p:nvPicPr>
          <p:cNvPr id="26641" name="Picture 17" descr="steeple4">
            <a:extLst>
              <a:ext uri="{FF2B5EF4-FFF2-40B4-BE49-F238E27FC236}">
                <a16:creationId xmlns:a16="http://schemas.microsoft.com/office/drawing/2014/main" id="{76561CD7-9375-4229-9D83-11BE8E45C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1295400"/>
            <a:ext cx="5048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2" name="Picture 18" descr="steeple3">
            <a:extLst>
              <a:ext uri="{FF2B5EF4-FFF2-40B4-BE49-F238E27FC236}">
                <a16:creationId xmlns:a16="http://schemas.microsoft.com/office/drawing/2014/main" id="{279F6EAC-4463-40CB-B8B3-DAF61858B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5762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3" name="Picture 19" descr="steeple5">
            <a:extLst>
              <a:ext uri="{FF2B5EF4-FFF2-40B4-BE49-F238E27FC236}">
                <a16:creationId xmlns:a16="http://schemas.microsoft.com/office/drawing/2014/main" id="{A7E0DA4F-9D64-4F24-AD99-4EC8931E0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425" y="1295400"/>
            <a:ext cx="6381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Text Box 20">
            <a:extLst>
              <a:ext uri="{FF2B5EF4-FFF2-40B4-BE49-F238E27FC236}">
                <a16:creationId xmlns:a16="http://schemas.microsoft.com/office/drawing/2014/main" id="{D9EAE8D5-EE6C-4B7F-B708-367220E9D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1295400"/>
            <a:ext cx="104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5400">
                <a:solidFill>
                  <a:srgbClr val="0000FF"/>
                </a:solidFill>
                <a:latin typeface="Comic Sans MS" panose="030F0702030302020204" pitchFamily="66" charset="0"/>
              </a:rPr>
              <a:t>.....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>
            <a:extLst>
              <a:ext uri="{FF2B5EF4-FFF2-40B4-BE49-F238E27FC236}">
                <a16:creationId xmlns:a16="http://schemas.microsoft.com/office/drawing/2014/main" id="{67ED5DAD-AE56-4F25-85CA-961D48280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zh-TW"/>
              <a:t>Model-checking</a:t>
            </a:r>
            <a:br>
              <a:rPr lang="en-US" altLang="zh-TW"/>
            </a:br>
            <a:r>
              <a:rPr lang="en-US" altLang="zh-TW"/>
              <a:t>- a general framework for verification of hw/sw systems</a:t>
            </a:r>
            <a:endParaRPr lang="zh-TW" altLang="en-US"/>
          </a:p>
        </p:txBody>
      </p:sp>
      <p:sp>
        <p:nvSpPr>
          <p:cNvPr id="28675" name="投影片編號版面配置區 3">
            <a:extLst>
              <a:ext uri="{FF2B5EF4-FFF2-40B4-BE49-F238E27FC236}">
                <a16:creationId xmlns:a16="http://schemas.microsoft.com/office/drawing/2014/main" id="{871CBAD5-A648-4133-866E-25E783FAC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B77E00-ED21-4541-8890-D6E5B0AA833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676" name="Oval 3">
            <a:extLst>
              <a:ext uri="{FF2B5EF4-FFF2-40B4-BE49-F238E27FC236}">
                <a16:creationId xmlns:a16="http://schemas.microsoft.com/office/drawing/2014/main" id="{674CC08C-58CC-48CB-A2B6-48A00B1F8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1800"/>
            <a:ext cx="1447800" cy="990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Checker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1C3C39EB-1B59-4C2D-BB54-34E2C9A70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286000"/>
            <a:ext cx="3124200" cy="2286000"/>
          </a:xfrm>
          <a:prstGeom prst="rect">
            <a:avLst/>
          </a:prstGeom>
          <a:solidFill>
            <a:srgbClr val="66FFFF">
              <a:alpha val="70195"/>
            </a:srgb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Ctr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Answer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Yes</a:t>
            </a:r>
            <a:r>
              <a:rPr lang="en-US" altLang="zh-TW" sz="2800" b="1"/>
              <a:t> if the model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is equivalent to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the specification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No</a:t>
            </a:r>
            <a:r>
              <a:rPr lang="en-US" altLang="zh-TW" sz="2800" b="1"/>
              <a:t> if not. </a:t>
            </a:r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C15E70F8-AF43-46A1-9B8B-AA8E699E0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505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948E44AE-E79C-498E-B389-73D22583D7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4114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1A7FD3A1-5E1A-426F-9F59-2FE4535CA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429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8681" name="Text Box 73">
            <a:extLst>
              <a:ext uri="{FF2B5EF4-FFF2-40B4-BE49-F238E27FC236}">
                <a16:creationId xmlns:a16="http://schemas.microsoft.com/office/drawing/2014/main" id="{223B7373-8380-4BC3-A46F-AB3277942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71800"/>
            <a:ext cx="2281238" cy="1016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6000"/>
              <a:t>model</a:t>
            </a:r>
          </a:p>
        </p:txBody>
      </p:sp>
      <p:sp>
        <p:nvSpPr>
          <p:cNvPr id="28682" name="Text Box 130">
            <a:extLst>
              <a:ext uri="{FF2B5EF4-FFF2-40B4-BE49-F238E27FC236}">
                <a16:creationId xmlns:a16="http://schemas.microsoft.com/office/drawing/2014/main" id="{44BF31D2-F7ED-4F5A-9FDE-2E08393AF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648200"/>
            <a:ext cx="4419600" cy="10160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6000"/>
              <a:t>specification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EB76B361-5241-4FD5-B016-0532434B4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Models &amp; Specifications </a:t>
            </a:r>
            <a:br>
              <a:rPr lang="en-US" altLang="zh-TW"/>
            </a:br>
            <a:r>
              <a:rPr lang="en-US" altLang="zh-TW"/>
              <a:t>- formalism </a:t>
            </a:r>
            <a:endParaRPr lang="zh-TW" altLang="en-US"/>
          </a:p>
        </p:txBody>
      </p:sp>
      <p:sp>
        <p:nvSpPr>
          <p:cNvPr id="30723" name="內容版面配置區 2">
            <a:extLst>
              <a:ext uri="{FF2B5EF4-FFF2-40B4-BE49-F238E27FC236}">
                <a16:creationId xmlns:a16="http://schemas.microsoft.com/office/drawing/2014/main" id="{87F1B9ED-DBA1-4EEB-9D2D-3E8516644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752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Whenever a baby cries, it is hungry.</a:t>
            </a:r>
          </a:p>
          <a:p>
            <a:r>
              <a:rPr lang="en-US" altLang="zh-TW"/>
              <a:t>Logics: </a:t>
            </a:r>
            <a:r>
              <a:rPr lang="en-US" altLang="zh-TW">
                <a:sym typeface="Euclid Math One" pitchFamily="18" charset="2"/>
              </a:rPr>
              <a:t>(crying </a:t>
            </a:r>
            <a:r>
              <a:rPr lang="en-US" altLang="zh-TW">
                <a:sym typeface="Wingdings" panose="05000000000000000000" pitchFamily="2" charset="2"/>
              </a:rPr>
              <a:t> hungry) </a:t>
            </a:r>
          </a:p>
          <a:p>
            <a:r>
              <a:rPr lang="en-US" altLang="zh-TW">
                <a:sym typeface="Wingdings" panose="05000000000000000000" pitchFamily="2" charset="2"/>
              </a:rPr>
              <a:t>Graphs: </a:t>
            </a:r>
            <a:endParaRPr lang="en-US" altLang="zh-TW"/>
          </a:p>
        </p:txBody>
      </p:sp>
      <p:sp>
        <p:nvSpPr>
          <p:cNvPr id="30724" name="投影片編號版面配置區 3">
            <a:extLst>
              <a:ext uri="{FF2B5EF4-FFF2-40B4-BE49-F238E27FC236}">
                <a16:creationId xmlns:a16="http://schemas.microsoft.com/office/drawing/2014/main" id="{6CF7E95A-420C-4C24-96C9-FEF0AB829E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A57C56-A576-4BD3-9E14-B3619083469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3D74B6E-726E-4B24-83AD-F22E97DF4609}"/>
              </a:ext>
            </a:extLst>
          </p:cNvPr>
          <p:cNvSpPr/>
          <p:nvPr/>
        </p:nvSpPr>
        <p:spPr>
          <a:xfrm>
            <a:off x="2667000" y="2971800"/>
            <a:ext cx="19050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crying</a:t>
            </a:r>
          </a:p>
          <a:p>
            <a:pPr algn="ctr" eaLnBrk="1" hangingPunct="1">
              <a:defRPr/>
            </a:pPr>
            <a:r>
              <a:rPr lang="en-US" altLang="zh-TW" sz="2400" dirty="0"/>
              <a:t>hungry</a:t>
            </a:r>
            <a:endParaRPr lang="zh-TW" altLang="en-US" sz="24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D2A2409-395E-40A3-B669-30C676E9B278}"/>
              </a:ext>
            </a:extLst>
          </p:cNvPr>
          <p:cNvSpPr/>
          <p:nvPr/>
        </p:nvSpPr>
        <p:spPr>
          <a:xfrm>
            <a:off x="4038600" y="4953000"/>
            <a:ext cx="19812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ym typeface="Symbol"/>
              </a:rPr>
              <a:t></a:t>
            </a:r>
            <a:r>
              <a:rPr lang="en-US" altLang="zh-TW" sz="2400" dirty="0"/>
              <a:t>crying</a:t>
            </a:r>
          </a:p>
          <a:p>
            <a:pPr algn="ctr" eaLnBrk="1" hangingPunct="1">
              <a:defRPr/>
            </a:pPr>
            <a:r>
              <a:rPr lang="en-US" altLang="zh-TW" sz="2400" dirty="0">
                <a:sym typeface="Symbol"/>
              </a:rPr>
              <a:t></a:t>
            </a:r>
            <a:r>
              <a:rPr lang="en-US" altLang="zh-TW" sz="2400" dirty="0"/>
              <a:t>hungry</a:t>
            </a:r>
            <a:endParaRPr lang="zh-TW" altLang="en-US" sz="24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347150E-5446-4CC3-984F-8017A5B32FCB}"/>
              </a:ext>
            </a:extLst>
          </p:cNvPr>
          <p:cNvSpPr/>
          <p:nvPr/>
        </p:nvSpPr>
        <p:spPr>
          <a:xfrm>
            <a:off x="5867400" y="2971800"/>
            <a:ext cx="19812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>
                <a:sym typeface="Symbol"/>
              </a:rPr>
              <a:t></a:t>
            </a:r>
            <a:r>
              <a:rPr lang="en-US" altLang="zh-TW" sz="2400" dirty="0"/>
              <a:t>crying</a:t>
            </a:r>
          </a:p>
          <a:p>
            <a:pPr algn="ctr" eaLnBrk="1" hangingPunct="1">
              <a:defRPr/>
            </a:pPr>
            <a:r>
              <a:rPr lang="en-US" altLang="zh-TW" sz="2400" dirty="0"/>
              <a:t>hungry</a:t>
            </a:r>
            <a:endParaRPr lang="zh-TW" altLang="en-US" sz="2400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73A3B74-D3A0-4A62-BBDB-E81FA41CECF5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4572000" y="3543300"/>
            <a:ext cx="12954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8700092-EB3D-4858-A911-3FFB80768C92}"/>
              </a:ext>
            </a:extLst>
          </p:cNvPr>
          <p:cNvCxnSpPr>
            <a:stCxn id="8" idx="4"/>
            <a:endCxn id="7" idx="7"/>
          </p:cNvCxnSpPr>
          <p:nvPr/>
        </p:nvCxnSpPr>
        <p:spPr>
          <a:xfrm rot="5400000">
            <a:off x="5791200" y="4052888"/>
            <a:ext cx="1004888" cy="1128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5C5E23B-362B-4E50-9D5C-B21F91D8DBFD}"/>
              </a:ext>
            </a:extLst>
          </p:cNvPr>
          <p:cNvCxnSpPr>
            <a:stCxn id="7" idx="1"/>
            <a:endCxn id="5" idx="4"/>
          </p:cNvCxnSpPr>
          <p:nvPr/>
        </p:nvCxnSpPr>
        <p:spPr>
          <a:xfrm rot="16200000" flipV="1">
            <a:off x="3471863" y="4262437"/>
            <a:ext cx="1004888" cy="709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弧形 18">
            <a:extLst>
              <a:ext uri="{FF2B5EF4-FFF2-40B4-BE49-F238E27FC236}">
                <a16:creationId xmlns:a16="http://schemas.microsoft.com/office/drawing/2014/main" id="{CBBBCA31-7DA6-4025-9BD1-ABE0E5A520BC}"/>
              </a:ext>
            </a:extLst>
          </p:cNvPr>
          <p:cNvSpPr/>
          <p:nvPr/>
        </p:nvSpPr>
        <p:spPr>
          <a:xfrm flipH="1">
            <a:off x="3886200" y="3048000"/>
            <a:ext cx="2743200" cy="914400"/>
          </a:xfrm>
          <a:prstGeom prst="arc">
            <a:avLst>
              <a:gd name="adj1" fmla="val 12168121"/>
              <a:gd name="adj2" fmla="val 20434298"/>
            </a:avLst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5D19E179-F438-423C-A017-1DB185550A65}"/>
              </a:ext>
            </a:extLst>
          </p:cNvPr>
          <p:cNvSpPr/>
          <p:nvPr/>
        </p:nvSpPr>
        <p:spPr>
          <a:xfrm flipH="1">
            <a:off x="4419600" y="2286000"/>
            <a:ext cx="2743200" cy="2971800"/>
          </a:xfrm>
          <a:prstGeom prst="arc">
            <a:avLst>
              <a:gd name="adj1" fmla="val 5633601"/>
              <a:gd name="adj2" fmla="val 10019290"/>
            </a:avLst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A2535CEC-82E5-4C8D-BAB6-25992455117E}"/>
              </a:ext>
            </a:extLst>
          </p:cNvPr>
          <p:cNvSpPr/>
          <p:nvPr/>
        </p:nvSpPr>
        <p:spPr>
          <a:xfrm rot="5400000" flipH="1">
            <a:off x="3200400" y="2590800"/>
            <a:ext cx="2743200" cy="2743200"/>
          </a:xfrm>
          <a:prstGeom prst="arc">
            <a:avLst>
              <a:gd name="adj1" fmla="val 5633601"/>
              <a:gd name="adj2" fmla="val 9688812"/>
            </a:avLst>
          </a:prstGeom>
          <a:ln w="381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AA67D604-651E-4B55-A753-0C9E24292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Models &amp; Specifications</a:t>
            </a:r>
            <a:br>
              <a:rPr lang="en-US" altLang="zh-TW"/>
            </a:br>
            <a:r>
              <a:rPr lang="en-US" altLang="zh-TW"/>
              <a:t>- fairness assumptions</a:t>
            </a:r>
            <a:endParaRPr lang="zh-TW" altLang="en-US"/>
          </a:p>
        </p:txBody>
      </p:sp>
      <p:sp>
        <p:nvSpPr>
          <p:cNvPr id="32771" name="內容版面配置區 2">
            <a:extLst>
              <a:ext uri="{FF2B5EF4-FFF2-40B4-BE49-F238E27FC236}">
                <a16:creationId xmlns:a16="http://schemas.microsoft.com/office/drawing/2014/main" id="{943CF695-0076-4CAF-999C-21831E6F18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Some properties are almost impossible to verify without assumptions.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Example: </a:t>
            </a:r>
            <a:r>
              <a:rPr lang="en-US" altLang="zh-TW">
                <a:sym typeface="Euclid Math One" pitchFamily="18" charset="2"/>
              </a:rPr>
              <a:t>(start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kumimoji="0" lang="en-US" altLang="zh-TW">
                <a:latin typeface="新細明體" panose="02020500000000000000" pitchFamily="18" charset="-120"/>
              </a:rPr>
              <a:t>◇ </a:t>
            </a:r>
            <a:r>
              <a:rPr kumimoji="0" lang="en-US" altLang="zh-TW"/>
              <a:t>finish)</a:t>
            </a:r>
            <a:endParaRPr lang="en-US" altLang="zh-TW"/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To verify that a program halts, we assume </a:t>
            </a:r>
          </a:p>
          <a:p>
            <a:r>
              <a:rPr lang="en-US" altLang="zh-TW"/>
              <a:t>CPU does not burn out. </a:t>
            </a:r>
          </a:p>
          <a:p>
            <a:r>
              <a:rPr lang="en-US" altLang="zh-TW"/>
              <a:t>OS gives the program a </a:t>
            </a:r>
            <a:r>
              <a:rPr lang="en-US" altLang="zh-TW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</a:t>
            </a:r>
            <a:r>
              <a:rPr lang="en-US" altLang="zh-TW"/>
              <a:t> share of CPU time.  </a:t>
            </a:r>
          </a:p>
          <a:p>
            <a:r>
              <a:rPr lang="en-US" altLang="zh-TW"/>
              <a:t>All the drivers do not stuck. </a:t>
            </a:r>
          </a:p>
          <a:p>
            <a:r>
              <a:rPr lang="en-US" altLang="zh-TW"/>
              <a:t>………</a:t>
            </a:r>
          </a:p>
        </p:txBody>
      </p:sp>
      <p:sp>
        <p:nvSpPr>
          <p:cNvPr id="32772" name="投影片編號版面配置區 3">
            <a:extLst>
              <a:ext uri="{FF2B5EF4-FFF2-40B4-BE49-F238E27FC236}">
                <a16:creationId xmlns:a16="http://schemas.microsoft.com/office/drawing/2014/main" id="{D6A7D289-04BF-42CA-8BDD-0E31EFCD9A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27D13E-BDA8-435D-9255-C5DC62A249B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6BF741CE-4BD3-4C32-9436-2BA554CD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Model-checking</a:t>
            </a:r>
            <a:br>
              <a:rPr lang="en-US" altLang="zh-TW"/>
            </a:br>
            <a:r>
              <a:rPr lang="en-US" altLang="zh-TW"/>
              <a:t>- frameworks in our lecture </a:t>
            </a:r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176B1A35-3CC8-40D3-9D2D-D7BDD3E73D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76400"/>
          <a:ext cx="83058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09600">
                <a:tc rowSpan="3" gridSpan="3">
                  <a:txBody>
                    <a:bodyPr/>
                    <a:lstStyle/>
                    <a:p>
                      <a:r>
                        <a:rPr lang="en-US" altLang="zh-TW" sz="2400" dirty="0"/>
                        <a:t>                 </a:t>
                      </a:r>
                      <a:r>
                        <a:rPr lang="en-US" altLang="zh-TW" sz="3200" b="0" dirty="0"/>
                        <a:t>Spec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en-US" altLang="zh-TW" sz="3200" b="0" dirty="0"/>
                        <a:t> Model</a:t>
                      </a:r>
                      <a:endParaRPr lang="zh-TW" altLang="en-US" sz="3200" b="0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Logics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3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traces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Trees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Linear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Branching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3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 rowSpan="4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zh-TW" dirty="0"/>
                        <a:t>traces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baseline="0" dirty="0">
                        <a:latin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b="1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TW" dirty="0"/>
                        <a:t>Trees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 rowSpan="4">
                  <a:txBody>
                    <a:bodyPr/>
                    <a:lstStyle/>
                    <a:p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sz="2000" dirty="0"/>
                        <a:t>Logics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zh-TW" dirty="0"/>
                        <a:t>Linear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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TW" dirty="0"/>
                        <a:t>Branching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F=</a:t>
                      </a:r>
                      <a:r>
                        <a:rPr lang="en-US" altLang="zh-TW" dirty="0">
                          <a:sym typeface="Symbol"/>
                        </a:rPr>
                        <a:t>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</a:t>
                      </a:r>
                      <a:r>
                        <a:rPr lang="en-US" altLang="zh-TW" dirty="0">
                          <a:sym typeface="Symbol"/>
                        </a:rPr>
                        <a:t>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baseline="0" dirty="0">
                          <a:latin typeface="Wingdings" pitchFamily="2" charset="2"/>
                          <a:sym typeface="Wingdings 2"/>
                        </a:rPr>
                        <a:t>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4940" name="投影片編號版面配置區 3">
            <a:extLst>
              <a:ext uri="{FF2B5EF4-FFF2-40B4-BE49-F238E27FC236}">
                <a16:creationId xmlns:a16="http://schemas.microsoft.com/office/drawing/2014/main" id="{9BBF454D-E263-4A4F-B412-C32F04D30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C5EDF-B8D1-4681-BBD7-D7AB499BE01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grpSp>
        <p:nvGrpSpPr>
          <p:cNvPr id="34941" name="Group 17">
            <a:extLst>
              <a:ext uri="{FF2B5EF4-FFF2-40B4-BE49-F238E27FC236}">
                <a16:creationId xmlns:a16="http://schemas.microsoft.com/office/drawing/2014/main" id="{B8BC9177-CD46-4CE8-8374-12C4AD112F74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752600"/>
            <a:ext cx="2209800" cy="381000"/>
            <a:chOff x="878" y="1112"/>
            <a:chExt cx="808" cy="1032"/>
          </a:xfrm>
        </p:grpSpPr>
        <p:sp>
          <p:nvSpPr>
            <p:cNvPr id="35000" name="AutoShape 18">
              <a:extLst>
                <a:ext uri="{FF2B5EF4-FFF2-40B4-BE49-F238E27FC236}">
                  <a16:creationId xmlns:a16="http://schemas.microsoft.com/office/drawing/2014/main" id="{AFCAC0AD-35EB-4FDD-B6DC-3C1D9C904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1" name="AutoShape 19">
              <a:extLst>
                <a:ext uri="{FF2B5EF4-FFF2-40B4-BE49-F238E27FC236}">
                  <a16:creationId xmlns:a16="http://schemas.microsoft.com/office/drawing/2014/main" id="{66B4D9F7-1455-443D-A90A-10F5F8958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2" name="AutoShape 20">
              <a:extLst>
                <a:ext uri="{FF2B5EF4-FFF2-40B4-BE49-F238E27FC236}">
                  <a16:creationId xmlns:a16="http://schemas.microsoft.com/office/drawing/2014/main" id="{14D2C6DC-B2E5-4424-B884-E05C73D49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3" name="AutoShape 21">
              <a:extLst>
                <a:ext uri="{FF2B5EF4-FFF2-40B4-BE49-F238E27FC236}">
                  <a16:creationId xmlns:a16="http://schemas.microsoft.com/office/drawing/2014/main" id="{6C610C3E-E039-462D-BACE-0ABBFF47D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4" name="AutoShape 22">
              <a:extLst>
                <a:ext uri="{FF2B5EF4-FFF2-40B4-BE49-F238E27FC236}">
                  <a16:creationId xmlns:a16="http://schemas.microsoft.com/office/drawing/2014/main" id="{A0344B37-2F39-4608-8E72-4D53D2243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5" name="AutoShape 23">
              <a:extLst>
                <a:ext uri="{FF2B5EF4-FFF2-40B4-BE49-F238E27FC236}">
                  <a16:creationId xmlns:a16="http://schemas.microsoft.com/office/drawing/2014/main" id="{B572F2CE-ACCB-4BFA-8E42-D6D12C435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6" name="AutoShape 24">
              <a:extLst>
                <a:ext uri="{FF2B5EF4-FFF2-40B4-BE49-F238E27FC236}">
                  <a16:creationId xmlns:a16="http://schemas.microsoft.com/office/drawing/2014/main" id="{60F149B7-2FFC-4886-810B-2B532F6B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7" name="AutoShape 25">
              <a:extLst>
                <a:ext uri="{FF2B5EF4-FFF2-40B4-BE49-F238E27FC236}">
                  <a16:creationId xmlns:a16="http://schemas.microsoft.com/office/drawing/2014/main" id="{044C45E4-E1B2-477C-8719-018270BDA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8" name="AutoShape 26">
              <a:extLst>
                <a:ext uri="{FF2B5EF4-FFF2-40B4-BE49-F238E27FC236}">
                  <a16:creationId xmlns:a16="http://schemas.microsoft.com/office/drawing/2014/main" id="{DE30C025-AF7F-4065-88CD-9FBC44B1C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09" name="AutoShape 27">
              <a:extLst>
                <a:ext uri="{FF2B5EF4-FFF2-40B4-BE49-F238E27FC236}">
                  <a16:creationId xmlns:a16="http://schemas.microsoft.com/office/drawing/2014/main" id="{BB6354EF-F478-480F-BEB0-BDA9554DD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0" name="AutoShape 28">
              <a:extLst>
                <a:ext uri="{FF2B5EF4-FFF2-40B4-BE49-F238E27FC236}">
                  <a16:creationId xmlns:a16="http://schemas.microsoft.com/office/drawing/2014/main" id="{717DFDE9-2CF4-44F6-A08D-D67D1FF90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1" name="AutoShape 29">
              <a:extLst>
                <a:ext uri="{FF2B5EF4-FFF2-40B4-BE49-F238E27FC236}">
                  <a16:creationId xmlns:a16="http://schemas.microsoft.com/office/drawing/2014/main" id="{B11219DB-B3C8-45F4-A2D1-0FB8C11FF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2" name="AutoShape 30">
              <a:extLst>
                <a:ext uri="{FF2B5EF4-FFF2-40B4-BE49-F238E27FC236}">
                  <a16:creationId xmlns:a16="http://schemas.microsoft.com/office/drawing/2014/main" id="{C1F5D73B-311B-4BE4-AB28-B359A7D2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3" name="AutoShape 31">
              <a:extLst>
                <a:ext uri="{FF2B5EF4-FFF2-40B4-BE49-F238E27FC236}">
                  <a16:creationId xmlns:a16="http://schemas.microsoft.com/office/drawing/2014/main" id="{141137FB-CC35-43CB-950F-4D73E3557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4" name="AutoShape 32">
              <a:extLst>
                <a:ext uri="{FF2B5EF4-FFF2-40B4-BE49-F238E27FC236}">
                  <a16:creationId xmlns:a16="http://schemas.microsoft.com/office/drawing/2014/main" id="{81FE716A-17AB-4760-B375-E1DA9BEA2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15" name="Line 33">
              <a:extLst>
                <a:ext uri="{FF2B5EF4-FFF2-40B4-BE49-F238E27FC236}">
                  <a16:creationId xmlns:a16="http://schemas.microsoft.com/office/drawing/2014/main" id="{4E647977-DAAD-4CBF-93E4-44FBDEAD2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16" name="Line 34">
              <a:extLst>
                <a:ext uri="{FF2B5EF4-FFF2-40B4-BE49-F238E27FC236}">
                  <a16:creationId xmlns:a16="http://schemas.microsoft.com/office/drawing/2014/main" id="{7AFFB167-9869-44A6-9D9E-4CEDBAA82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17" name="Line 35">
              <a:extLst>
                <a:ext uri="{FF2B5EF4-FFF2-40B4-BE49-F238E27FC236}">
                  <a16:creationId xmlns:a16="http://schemas.microsoft.com/office/drawing/2014/main" id="{5512D12F-09C4-477C-A108-708B9395B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18" name="Line 36">
              <a:extLst>
                <a:ext uri="{FF2B5EF4-FFF2-40B4-BE49-F238E27FC236}">
                  <a16:creationId xmlns:a16="http://schemas.microsoft.com/office/drawing/2014/main" id="{8A05393B-BEBD-4F8F-B8FA-D06B536F3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19" name="Line 37">
              <a:extLst>
                <a:ext uri="{FF2B5EF4-FFF2-40B4-BE49-F238E27FC236}">
                  <a16:creationId xmlns:a16="http://schemas.microsoft.com/office/drawing/2014/main" id="{4FC264E3-0864-4FA1-88F1-DF81CD271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0" name="Line 38">
              <a:extLst>
                <a:ext uri="{FF2B5EF4-FFF2-40B4-BE49-F238E27FC236}">
                  <a16:creationId xmlns:a16="http://schemas.microsoft.com/office/drawing/2014/main" id="{7D1C578F-8C5F-41B3-AF7E-DE30381A4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1" name="Line 39">
              <a:extLst>
                <a:ext uri="{FF2B5EF4-FFF2-40B4-BE49-F238E27FC236}">
                  <a16:creationId xmlns:a16="http://schemas.microsoft.com/office/drawing/2014/main" id="{DF57F647-F125-47D1-A128-4035BBF55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2" name="Line 40">
              <a:extLst>
                <a:ext uri="{FF2B5EF4-FFF2-40B4-BE49-F238E27FC236}">
                  <a16:creationId xmlns:a16="http://schemas.microsoft.com/office/drawing/2014/main" id="{BF82A3B3-413A-454B-9C2D-C5AA1FBAE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3" name="Line 41">
              <a:extLst>
                <a:ext uri="{FF2B5EF4-FFF2-40B4-BE49-F238E27FC236}">
                  <a16:creationId xmlns:a16="http://schemas.microsoft.com/office/drawing/2014/main" id="{A8DDA1E2-54F4-4264-9785-E597AB8B5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4" name="Line 42">
              <a:extLst>
                <a:ext uri="{FF2B5EF4-FFF2-40B4-BE49-F238E27FC236}">
                  <a16:creationId xmlns:a16="http://schemas.microsoft.com/office/drawing/2014/main" id="{7C40E433-DF40-463F-AC80-4EDE7BC34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5" name="Line 43">
              <a:extLst>
                <a:ext uri="{FF2B5EF4-FFF2-40B4-BE49-F238E27FC236}">
                  <a16:creationId xmlns:a16="http://schemas.microsoft.com/office/drawing/2014/main" id="{B009FE58-CC9A-4697-826A-1D9B3E004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6" name="Line 44">
              <a:extLst>
                <a:ext uri="{FF2B5EF4-FFF2-40B4-BE49-F238E27FC236}">
                  <a16:creationId xmlns:a16="http://schemas.microsoft.com/office/drawing/2014/main" id="{DC611280-A9E8-4733-8918-3B1541D499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7" name="Line 45">
              <a:extLst>
                <a:ext uri="{FF2B5EF4-FFF2-40B4-BE49-F238E27FC236}">
                  <a16:creationId xmlns:a16="http://schemas.microsoft.com/office/drawing/2014/main" id="{E4CBFD07-16FF-4C87-982C-D839071AB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8" name="Line 46">
              <a:extLst>
                <a:ext uri="{FF2B5EF4-FFF2-40B4-BE49-F238E27FC236}">
                  <a16:creationId xmlns:a16="http://schemas.microsoft.com/office/drawing/2014/main" id="{D06D4C9A-E280-48DA-949E-F3F3B93E8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29" name="Line 47">
              <a:extLst>
                <a:ext uri="{FF2B5EF4-FFF2-40B4-BE49-F238E27FC236}">
                  <a16:creationId xmlns:a16="http://schemas.microsoft.com/office/drawing/2014/main" id="{45509BC8-EE68-4A8D-8DC5-AFC45C172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30" name="Line 48">
              <a:extLst>
                <a:ext uri="{FF2B5EF4-FFF2-40B4-BE49-F238E27FC236}">
                  <a16:creationId xmlns:a16="http://schemas.microsoft.com/office/drawing/2014/main" id="{E92351B6-943F-4468-9C3A-5DC77778E2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31" name="Line 49">
              <a:extLst>
                <a:ext uri="{FF2B5EF4-FFF2-40B4-BE49-F238E27FC236}">
                  <a16:creationId xmlns:a16="http://schemas.microsoft.com/office/drawing/2014/main" id="{51C88AD3-BC05-4B5B-A307-73AF6704D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32" name="AutoShape 50">
              <a:extLst>
                <a:ext uri="{FF2B5EF4-FFF2-40B4-BE49-F238E27FC236}">
                  <a16:creationId xmlns:a16="http://schemas.microsoft.com/office/drawing/2014/main" id="{E3E4E0D8-E787-4169-A04F-533146677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33" name="AutoShape 51">
              <a:extLst>
                <a:ext uri="{FF2B5EF4-FFF2-40B4-BE49-F238E27FC236}">
                  <a16:creationId xmlns:a16="http://schemas.microsoft.com/office/drawing/2014/main" id="{54D8DDC1-F3AC-4F50-AB53-9461CE34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34" name="AutoShape 52">
              <a:extLst>
                <a:ext uri="{FF2B5EF4-FFF2-40B4-BE49-F238E27FC236}">
                  <a16:creationId xmlns:a16="http://schemas.microsoft.com/office/drawing/2014/main" id="{79DDA95C-2DB6-488C-9D90-7DFD2240B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35" name="AutoShape 53">
              <a:extLst>
                <a:ext uri="{FF2B5EF4-FFF2-40B4-BE49-F238E27FC236}">
                  <a16:creationId xmlns:a16="http://schemas.microsoft.com/office/drawing/2014/main" id="{4E9E8BCD-0526-4E17-BC87-74A94C036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36" name="AutoShape 54">
              <a:extLst>
                <a:ext uri="{FF2B5EF4-FFF2-40B4-BE49-F238E27FC236}">
                  <a16:creationId xmlns:a16="http://schemas.microsoft.com/office/drawing/2014/main" id="{BA10E129-44AC-4993-87C3-064113EA2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37" name="Line 55">
              <a:extLst>
                <a:ext uri="{FF2B5EF4-FFF2-40B4-BE49-F238E27FC236}">
                  <a16:creationId xmlns:a16="http://schemas.microsoft.com/office/drawing/2014/main" id="{EA2D4D23-F73C-4780-A56D-DB9994889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38" name="Line 56">
              <a:extLst>
                <a:ext uri="{FF2B5EF4-FFF2-40B4-BE49-F238E27FC236}">
                  <a16:creationId xmlns:a16="http://schemas.microsoft.com/office/drawing/2014/main" id="{915DD858-1B9B-4C71-98FF-B32DDC5D1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39" name="Line 57">
              <a:extLst>
                <a:ext uri="{FF2B5EF4-FFF2-40B4-BE49-F238E27FC236}">
                  <a16:creationId xmlns:a16="http://schemas.microsoft.com/office/drawing/2014/main" id="{A2D22F33-D102-4AA1-9BBD-CCAC59E68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0" name="Line 58">
              <a:extLst>
                <a:ext uri="{FF2B5EF4-FFF2-40B4-BE49-F238E27FC236}">
                  <a16:creationId xmlns:a16="http://schemas.microsoft.com/office/drawing/2014/main" id="{C77FF145-3131-4106-90A2-070B4B60F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1" name="Line 59">
              <a:extLst>
                <a:ext uri="{FF2B5EF4-FFF2-40B4-BE49-F238E27FC236}">
                  <a16:creationId xmlns:a16="http://schemas.microsoft.com/office/drawing/2014/main" id="{639033AE-8F9C-4300-9523-69C9D107D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2" name="Line 60">
              <a:extLst>
                <a:ext uri="{FF2B5EF4-FFF2-40B4-BE49-F238E27FC236}">
                  <a16:creationId xmlns:a16="http://schemas.microsoft.com/office/drawing/2014/main" id="{2715A61A-8B26-455F-A140-74EA40C24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3" name="Line 61">
              <a:extLst>
                <a:ext uri="{FF2B5EF4-FFF2-40B4-BE49-F238E27FC236}">
                  <a16:creationId xmlns:a16="http://schemas.microsoft.com/office/drawing/2014/main" id="{4CDD7EE6-2DDC-4EF0-B9A2-1CD4F91F6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4" name="Line 62">
              <a:extLst>
                <a:ext uri="{FF2B5EF4-FFF2-40B4-BE49-F238E27FC236}">
                  <a16:creationId xmlns:a16="http://schemas.microsoft.com/office/drawing/2014/main" id="{139BA651-FB80-4E95-B411-AE19D9D2E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5" name="AutoShape 63">
              <a:extLst>
                <a:ext uri="{FF2B5EF4-FFF2-40B4-BE49-F238E27FC236}">
                  <a16:creationId xmlns:a16="http://schemas.microsoft.com/office/drawing/2014/main" id="{8B367344-E815-4BAA-9E1C-CD937879AF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46" name="AutoShape 64">
              <a:extLst>
                <a:ext uri="{FF2B5EF4-FFF2-40B4-BE49-F238E27FC236}">
                  <a16:creationId xmlns:a16="http://schemas.microsoft.com/office/drawing/2014/main" id="{3C87CF6E-7E98-497F-904D-E9029F17E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47" name="Line 65">
              <a:extLst>
                <a:ext uri="{FF2B5EF4-FFF2-40B4-BE49-F238E27FC236}">
                  <a16:creationId xmlns:a16="http://schemas.microsoft.com/office/drawing/2014/main" id="{751E10F8-13E6-4797-BA3A-7DDE034D1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8" name="Line 66">
              <a:extLst>
                <a:ext uri="{FF2B5EF4-FFF2-40B4-BE49-F238E27FC236}">
                  <a16:creationId xmlns:a16="http://schemas.microsoft.com/office/drawing/2014/main" id="{DC3AEA49-E1CA-48FB-B3F3-B20908AC6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49" name="AutoShape 67">
              <a:extLst>
                <a:ext uri="{FF2B5EF4-FFF2-40B4-BE49-F238E27FC236}">
                  <a16:creationId xmlns:a16="http://schemas.microsoft.com/office/drawing/2014/main" id="{87BF7000-5B4F-4CF0-B4C1-A315D46BD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50" name="Line 68">
              <a:extLst>
                <a:ext uri="{FF2B5EF4-FFF2-40B4-BE49-F238E27FC236}">
                  <a16:creationId xmlns:a16="http://schemas.microsoft.com/office/drawing/2014/main" id="{45432BAF-D764-46A2-86AC-B86CB3F8B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51" name="AutoShape 69">
              <a:extLst>
                <a:ext uri="{FF2B5EF4-FFF2-40B4-BE49-F238E27FC236}">
                  <a16:creationId xmlns:a16="http://schemas.microsoft.com/office/drawing/2014/main" id="{FEECBF15-6E06-4936-850D-12DE58CE9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5052" name="Line 70">
              <a:extLst>
                <a:ext uri="{FF2B5EF4-FFF2-40B4-BE49-F238E27FC236}">
                  <a16:creationId xmlns:a16="http://schemas.microsoft.com/office/drawing/2014/main" id="{1240EA7E-FCB1-4AF4-8F42-9E8CA1C63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53" name="Freeform 71">
              <a:extLst>
                <a:ext uri="{FF2B5EF4-FFF2-40B4-BE49-F238E27FC236}">
                  <a16:creationId xmlns:a16="http://schemas.microsoft.com/office/drawing/2014/main" id="{6EC393CB-CEA4-4458-8CDF-1B2BB99A9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054" name="Freeform 72">
              <a:extLst>
                <a:ext uri="{FF2B5EF4-FFF2-40B4-BE49-F238E27FC236}">
                  <a16:creationId xmlns:a16="http://schemas.microsoft.com/office/drawing/2014/main" id="{576C3024-0416-446C-BB2C-C02CDC86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4942" name="Group 17">
            <a:extLst>
              <a:ext uri="{FF2B5EF4-FFF2-40B4-BE49-F238E27FC236}">
                <a16:creationId xmlns:a16="http://schemas.microsoft.com/office/drawing/2014/main" id="{1C0C9F51-5C41-41B2-A3DC-8A67CBC8AC0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304800" y="3429000"/>
            <a:ext cx="1295400" cy="838200"/>
            <a:chOff x="878" y="1112"/>
            <a:chExt cx="808" cy="1032"/>
          </a:xfrm>
        </p:grpSpPr>
        <p:sp>
          <p:nvSpPr>
            <p:cNvPr id="34945" name="AutoShape 18">
              <a:extLst>
                <a:ext uri="{FF2B5EF4-FFF2-40B4-BE49-F238E27FC236}">
                  <a16:creationId xmlns:a16="http://schemas.microsoft.com/office/drawing/2014/main" id="{05A9D06F-BFF4-493B-91B2-844B8D15C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46" name="AutoShape 19">
              <a:extLst>
                <a:ext uri="{FF2B5EF4-FFF2-40B4-BE49-F238E27FC236}">
                  <a16:creationId xmlns:a16="http://schemas.microsoft.com/office/drawing/2014/main" id="{11B2D949-2E1D-45F5-80AB-F7D7FEC7A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47" name="AutoShape 20">
              <a:extLst>
                <a:ext uri="{FF2B5EF4-FFF2-40B4-BE49-F238E27FC236}">
                  <a16:creationId xmlns:a16="http://schemas.microsoft.com/office/drawing/2014/main" id="{B0AC927E-00E9-467D-A4ED-8CB5C72DF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48" name="AutoShape 21">
              <a:extLst>
                <a:ext uri="{FF2B5EF4-FFF2-40B4-BE49-F238E27FC236}">
                  <a16:creationId xmlns:a16="http://schemas.microsoft.com/office/drawing/2014/main" id="{12AB728C-C5BD-4AE9-B0D3-94F1D2EC8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49" name="AutoShape 22">
              <a:extLst>
                <a:ext uri="{FF2B5EF4-FFF2-40B4-BE49-F238E27FC236}">
                  <a16:creationId xmlns:a16="http://schemas.microsoft.com/office/drawing/2014/main" id="{D8B46DB0-FB4D-40AC-B456-FF3E6E67C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0" name="AutoShape 23">
              <a:extLst>
                <a:ext uri="{FF2B5EF4-FFF2-40B4-BE49-F238E27FC236}">
                  <a16:creationId xmlns:a16="http://schemas.microsoft.com/office/drawing/2014/main" id="{63ACF193-7FE5-4F72-8BC4-565A3AD75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1" name="AutoShape 24">
              <a:extLst>
                <a:ext uri="{FF2B5EF4-FFF2-40B4-BE49-F238E27FC236}">
                  <a16:creationId xmlns:a16="http://schemas.microsoft.com/office/drawing/2014/main" id="{24BF5B0B-2751-42DE-884C-511B296D1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2" name="AutoShape 25">
              <a:extLst>
                <a:ext uri="{FF2B5EF4-FFF2-40B4-BE49-F238E27FC236}">
                  <a16:creationId xmlns:a16="http://schemas.microsoft.com/office/drawing/2014/main" id="{931462E5-9B85-49A8-AEC2-B531F95EA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3" name="AutoShape 26">
              <a:extLst>
                <a:ext uri="{FF2B5EF4-FFF2-40B4-BE49-F238E27FC236}">
                  <a16:creationId xmlns:a16="http://schemas.microsoft.com/office/drawing/2014/main" id="{800865B7-71C5-4A52-8FB8-879033E9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4" name="AutoShape 27">
              <a:extLst>
                <a:ext uri="{FF2B5EF4-FFF2-40B4-BE49-F238E27FC236}">
                  <a16:creationId xmlns:a16="http://schemas.microsoft.com/office/drawing/2014/main" id="{923D98F0-E9A1-4FE3-92AD-E099A2BC8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5" name="AutoShape 28">
              <a:extLst>
                <a:ext uri="{FF2B5EF4-FFF2-40B4-BE49-F238E27FC236}">
                  <a16:creationId xmlns:a16="http://schemas.microsoft.com/office/drawing/2014/main" id="{E833F8E8-6F4A-4680-80F8-5867E0BDF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6" name="AutoShape 29">
              <a:extLst>
                <a:ext uri="{FF2B5EF4-FFF2-40B4-BE49-F238E27FC236}">
                  <a16:creationId xmlns:a16="http://schemas.microsoft.com/office/drawing/2014/main" id="{862DA0E2-6747-4C41-9AC1-1E953E76C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7" name="AutoShape 30">
              <a:extLst>
                <a:ext uri="{FF2B5EF4-FFF2-40B4-BE49-F238E27FC236}">
                  <a16:creationId xmlns:a16="http://schemas.microsoft.com/office/drawing/2014/main" id="{982A5FC4-592E-48C5-8AC2-6D725FE1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8" name="AutoShape 31">
              <a:extLst>
                <a:ext uri="{FF2B5EF4-FFF2-40B4-BE49-F238E27FC236}">
                  <a16:creationId xmlns:a16="http://schemas.microsoft.com/office/drawing/2014/main" id="{E4E393BB-C903-4025-8BDE-061A149E2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59" name="AutoShape 32">
              <a:extLst>
                <a:ext uri="{FF2B5EF4-FFF2-40B4-BE49-F238E27FC236}">
                  <a16:creationId xmlns:a16="http://schemas.microsoft.com/office/drawing/2014/main" id="{B1015AAC-C505-4213-9506-10DFB23C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60" name="Line 33">
              <a:extLst>
                <a:ext uri="{FF2B5EF4-FFF2-40B4-BE49-F238E27FC236}">
                  <a16:creationId xmlns:a16="http://schemas.microsoft.com/office/drawing/2014/main" id="{E53ADE81-F5D9-4B31-826B-4BBAB4DC9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1" name="Line 34">
              <a:extLst>
                <a:ext uri="{FF2B5EF4-FFF2-40B4-BE49-F238E27FC236}">
                  <a16:creationId xmlns:a16="http://schemas.microsoft.com/office/drawing/2014/main" id="{D867E432-D201-4657-B655-034F5B2CD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2" name="Line 35">
              <a:extLst>
                <a:ext uri="{FF2B5EF4-FFF2-40B4-BE49-F238E27FC236}">
                  <a16:creationId xmlns:a16="http://schemas.microsoft.com/office/drawing/2014/main" id="{6731BDC6-F729-414B-8794-28CF7C7DA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3" name="Line 36">
              <a:extLst>
                <a:ext uri="{FF2B5EF4-FFF2-40B4-BE49-F238E27FC236}">
                  <a16:creationId xmlns:a16="http://schemas.microsoft.com/office/drawing/2014/main" id="{971E07BE-0D68-4AE1-BDC5-0AEB471F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4" name="Line 37">
              <a:extLst>
                <a:ext uri="{FF2B5EF4-FFF2-40B4-BE49-F238E27FC236}">
                  <a16:creationId xmlns:a16="http://schemas.microsoft.com/office/drawing/2014/main" id="{20A514E4-E7EA-4065-AD95-8B3419401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5" name="Line 38">
              <a:extLst>
                <a:ext uri="{FF2B5EF4-FFF2-40B4-BE49-F238E27FC236}">
                  <a16:creationId xmlns:a16="http://schemas.microsoft.com/office/drawing/2014/main" id="{875A9CE1-79B8-4F60-9429-FE7B18D67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6" name="Line 39">
              <a:extLst>
                <a:ext uri="{FF2B5EF4-FFF2-40B4-BE49-F238E27FC236}">
                  <a16:creationId xmlns:a16="http://schemas.microsoft.com/office/drawing/2014/main" id="{BC081BB4-9500-4F24-BB4B-31D350A4D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7" name="Line 40">
              <a:extLst>
                <a:ext uri="{FF2B5EF4-FFF2-40B4-BE49-F238E27FC236}">
                  <a16:creationId xmlns:a16="http://schemas.microsoft.com/office/drawing/2014/main" id="{3B1826C5-8556-4D8B-8611-F4985A4A8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8" name="Line 41">
              <a:extLst>
                <a:ext uri="{FF2B5EF4-FFF2-40B4-BE49-F238E27FC236}">
                  <a16:creationId xmlns:a16="http://schemas.microsoft.com/office/drawing/2014/main" id="{65232971-6DF5-437B-8AB3-A2442C4C4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69" name="Line 42">
              <a:extLst>
                <a:ext uri="{FF2B5EF4-FFF2-40B4-BE49-F238E27FC236}">
                  <a16:creationId xmlns:a16="http://schemas.microsoft.com/office/drawing/2014/main" id="{C9F936A5-8DD0-41B3-B11A-D8974562E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0" name="Line 43">
              <a:extLst>
                <a:ext uri="{FF2B5EF4-FFF2-40B4-BE49-F238E27FC236}">
                  <a16:creationId xmlns:a16="http://schemas.microsoft.com/office/drawing/2014/main" id="{9F1EEFAF-1E1A-496A-929B-74AF0DFD3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1" name="Line 44">
              <a:extLst>
                <a:ext uri="{FF2B5EF4-FFF2-40B4-BE49-F238E27FC236}">
                  <a16:creationId xmlns:a16="http://schemas.microsoft.com/office/drawing/2014/main" id="{719AB196-3464-43C4-860F-533C70220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2" name="Line 45">
              <a:extLst>
                <a:ext uri="{FF2B5EF4-FFF2-40B4-BE49-F238E27FC236}">
                  <a16:creationId xmlns:a16="http://schemas.microsoft.com/office/drawing/2014/main" id="{CDB7EA90-865A-4842-B25E-AB5DE95C0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3" name="Line 46">
              <a:extLst>
                <a:ext uri="{FF2B5EF4-FFF2-40B4-BE49-F238E27FC236}">
                  <a16:creationId xmlns:a16="http://schemas.microsoft.com/office/drawing/2014/main" id="{6976D684-B2AD-44B2-9F0F-E26F6AA82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4" name="Line 47">
              <a:extLst>
                <a:ext uri="{FF2B5EF4-FFF2-40B4-BE49-F238E27FC236}">
                  <a16:creationId xmlns:a16="http://schemas.microsoft.com/office/drawing/2014/main" id="{795C3208-4ED9-45C4-BC55-AEF216434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5" name="Line 48">
              <a:extLst>
                <a:ext uri="{FF2B5EF4-FFF2-40B4-BE49-F238E27FC236}">
                  <a16:creationId xmlns:a16="http://schemas.microsoft.com/office/drawing/2014/main" id="{4AB2CE5E-4815-48AA-9E23-1507B3F7EF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6" name="Line 49">
              <a:extLst>
                <a:ext uri="{FF2B5EF4-FFF2-40B4-BE49-F238E27FC236}">
                  <a16:creationId xmlns:a16="http://schemas.microsoft.com/office/drawing/2014/main" id="{BF12427D-339D-4C33-93A1-7F02112E4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77" name="AutoShape 50">
              <a:extLst>
                <a:ext uri="{FF2B5EF4-FFF2-40B4-BE49-F238E27FC236}">
                  <a16:creationId xmlns:a16="http://schemas.microsoft.com/office/drawing/2014/main" id="{06AE3F25-4F9E-496B-817B-540C10879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78" name="AutoShape 51">
              <a:extLst>
                <a:ext uri="{FF2B5EF4-FFF2-40B4-BE49-F238E27FC236}">
                  <a16:creationId xmlns:a16="http://schemas.microsoft.com/office/drawing/2014/main" id="{E1457AC9-E465-4C17-A0EC-C3A8D5116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79" name="AutoShape 52">
              <a:extLst>
                <a:ext uri="{FF2B5EF4-FFF2-40B4-BE49-F238E27FC236}">
                  <a16:creationId xmlns:a16="http://schemas.microsoft.com/office/drawing/2014/main" id="{346768B6-C04B-4F5E-9399-B907EA5D0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80" name="AutoShape 53">
              <a:extLst>
                <a:ext uri="{FF2B5EF4-FFF2-40B4-BE49-F238E27FC236}">
                  <a16:creationId xmlns:a16="http://schemas.microsoft.com/office/drawing/2014/main" id="{8959B288-CC6C-4899-A819-2D188D6CE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81" name="AutoShape 54">
              <a:extLst>
                <a:ext uri="{FF2B5EF4-FFF2-40B4-BE49-F238E27FC236}">
                  <a16:creationId xmlns:a16="http://schemas.microsoft.com/office/drawing/2014/main" id="{1B2E911E-47A7-4EDA-8E00-D340BEAED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82" name="Line 55">
              <a:extLst>
                <a:ext uri="{FF2B5EF4-FFF2-40B4-BE49-F238E27FC236}">
                  <a16:creationId xmlns:a16="http://schemas.microsoft.com/office/drawing/2014/main" id="{5C3EC248-CFEA-4073-BB8A-A9B0B173D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3" name="Line 56">
              <a:extLst>
                <a:ext uri="{FF2B5EF4-FFF2-40B4-BE49-F238E27FC236}">
                  <a16:creationId xmlns:a16="http://schemas.microsoft.com/office/drawing/2014/main" id="{D6A73831-7E55-4252-8F41-E67524B5C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4" name="Line 57">
              <a:extLst>
                <a:ext uri="{FF2B5EF4-FFF2-40B4-BE49-F238E27FC236}">
                  <a16:creationId xmlns:a16="http://schemas.microsoft.com/office/drawing/2014/main" id="{B20F9B7A-A4E5-4B8D-9182-F18AC7CC8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5" name="Line 58">
              <a:extLst>
                <a:ext uri="{FF2B5EF4-FFF2-40B4-BE49-F238E27FC236}">
                  <a16:creationId xmlns:a16="http://schemas.microsoft.com/office/drawing/2014/main" id="{D7F08727-9159-495D-81B0-1EBEF892E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6" name="Line 59">
              <a:extLst>
                <a:ext uri="{FF2B5EF4-FFF2-40B4-BE49-F238E27FC236}">
                  <a16:creationId xmlns:a16="http://schemas.microsoft.com/office/drawing/2014/main" id="{2DC7FCCE-A84F-49AE-BFF4-AA4EEFF17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7" name="Line 60">
              <a:extLst>
                <a:ext uri="{FF2B5EF4-FFF2-40B4-BE49-F238E27FC236}">
                  <a16:creationId xmlns:a16="http://schemas.microsoft.com/office/drawing/2014/main" id="{7A111322-88CF-4C6D-AF22-D923CBF868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8" name="Line 61">
              <a:extLst>
                <a:ext uri="{FF2B5EF4-FFF2-40B4-BE49-F238E27FC236}">
                  <a16:creationId xmlns:a16="http://schemas.microsoft.com/office/drawing/2014/main" id="{11215242-40A9-40C2-9BAC-0153B115D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89" name="Line 62">
              <a:extLst>
                <a:ext uri="{FF2B5EF4-FFF2-40B4-BE49-F238E27FC236}">
                  <a16:creationId xmlns:a16="http://schemas.microsoft.com/office/drawing/2014/main" id="{B9C798A8-4658-4032-B27D-4BB1FCFAD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0" name="AutoShape 63">
              <a:extLst>
                <a:ext uri="{FF2B5EF4-FFF2-40B4-BE49-F238E27FC236}">
                  <a16:creationId xmlns:a16="http://schemas.microsoft.com/office/drawing/2014/main" id="{9B14DB81-C4C7-45A8-8CE7-1123182DD8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91" name="AutoShape 64">
              <a:extLst>
                <a:ext uri="{FF2B5EF4-FFF2-40B4-BE49-F238E27FC236}">
                  <a16:creationId xmlns:a16="http://schemas.microsoft.com/office/drawing/2014/main" id="{A9A8EE44-D4E4-409E-A8D0-F46EE0C57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92" name="Line 65">
              <a:extLst>
                <a:ext uri="{FF2B5EF4-FFF2-40B4-BE49-F238E27FC236}">
                  <a16:creationId xmlns:a16="http://schemas.microsoft.com/office/drawing/2014/main" id="{D9F0F229-0F77-4FD0-B3B2-5C3CF6C42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3" name="Line 66">
              <a:extLst>
                <a:ext uri="{FF2B5EF4-FFF2-40B4-BE49-F238E27FC236}">
                  <a16:creationId xmlns:a16="http://schemas.microsoft.com/office/drawing/2014/main" id="{427D8023-E1AA-45E4-8167-92675D0FA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4" name="AutoShape 67">
              <a:extLst>
                <a:ext uri="{FF2B5EF4-FFF2-40B4-BE49-F238E27FC236}">
                  <a16:creationId xmlns:a16="http://schemas.microsoft.com/office/drawing/2014/main" id="{71966D4C-21FE-4191-92A4-A493F4D61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95" name="Line 68">
              <a:extLst>
                <a:ext uri="{FF2B5EF4-FFF2-40B4-BE49-F238E27FC236}">
                  <a16:creationId xmlns:a16="http://schemas.microsoft.com/office/drawing/2014/main" id="{E56EB33A-90E9-4816-A548-4DEA5F44D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6" name="AutoShape 69">
              <a:extLst>
                <a:ext uri="{FF2B5EF4-FFF2-40B4-BE49-F238E27FC236}">
                  <a16:creationId xmlns:a16="http://schemas.microsoft.com/office/drawing/2014/main" id="{C534616D-259A-409F-AC24-8B66BAD6E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34997" name="Line 70">
              <a:extLst>
                <a:ext uri="{FF2B5EF4-FFF2-40B4-BE49-F238E27FC236}">
                  <a16:creationId xmlns:a16="http://schemas.microsoft.com/office/drawing/2014/main" id="{E2345D41-E442-4BB7-80DE-AD16437DB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8" name="Freeform 71">
              <a:extLst>
                <a:ext uri="{FF2B5EF4-FFF2-40B4-BE49-F238E27FC236}">
                  <a16:creationId xmlns:a16="http://schemas.microsoft.com/office/drawing/2014/main" id="{9A5CA739-F526-491B-BFF2-8500D4779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999" name="Freeform 72">
              <a:extLst>
                <a:ext uri="{FF2B5EF4-FFF2-40B4-BE49-F238E27FC236}">
                  <a16:creationId xmlns:a16="http://schemas.microsoft.com/office/drawing/2014/main" id="{CEA80E36-6155-4114-B8E1-AD48C25D1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cxnSp>
        <p:nvCxnSpPr>
          <p:cNvPr id="119" name="直線接點 118">
            <a:extLst>
              <a:ext uri="{FF2B5EF4-FFF2-40B4-BE49-F238E27FC236}">
                <a16:creationId xmlns:a16="http://schemas.microsoft.com/office/drawing/2014/main" id="{BB3B39F0-C15D-471A-B911-6B3C1DF0923D}"/>
              </a:ext>
            </a:extLst>
          </p:cNvPr>
          <p:cNvCxnSpPr/>
          <p:nvPr/>
        </p:nvCxnSpPr>
        <p:spPr>
          <a:xfrm>
            <a:off x="533400" y="1676400"/>
            <a:ext cx="2667000" cy="13716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3">
            <a:extLst>
              <a:ext uri="{FF2B5EF4-FFF2-40B4-BE49-F238E27FC236}">
                <a16:creationId xmlns:a16="http://schemas.microsoft.com/office/drawing/2014/main" id="{75CC9311-0265-4FE2-A943-1713F74EF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28600"/>
            <a:ext cx="2057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atin typeface="+mn-lt"/>
                <a:sym typeface="Wingdings 2"/>
              </a:rPr>
              <a:t>F: set of fairness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atin typeface="+mn-lt"/>
                <a:sym typeface="Wingdings 2"/>
              </a:rPr>
              <a:t>    assumptions.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b="1" dirty="0">
                <a:latin typeface="Wingdings" pitchFamily="2" charset="2"/>
                <a:sym typeface="Wingdings 2"/>
              </a:rPr>
              <a:t></a:t>
            </a:r>
            <a:r>
              <a:rPr lang="en-US" altLang="zh-TW" dirty="0">
                <a:latin typeface="+mn-lt"/>
                <a:sym typeface="Wingdings 2"/>
              </a:rPr>
              <a:t>: known;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b="1" dirty="0">
                <a:latin typeface="Wingdings" pitchFamily="2" charset="2"/>
                <a:sym typeface="Wingdings 2"/>
              </a:rPr>
              <a:t></a:t>
            </a:r>
            <a:r>
              <a:rPr lang="en-US" altLang="zh-TW" dirty="0">
                <a:latin typeface="+mn-lt"/>
                <a:sym typeface="Wingdings 2"/>
              </a:rPr>
              <a:t>: discussed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atin typeface="+mn-lt"/>
                <a:sym typeface="Wingdings 2"/>
              </a:rPr>
              <a:t>     in the lecture</a:t>
            </a:r>
            <a:endParaRPr lang="zh-TW" alt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編號版面配置區 5">
            <a:extLst>
              <a:ext uri="{FF2B5EF4-FFF2-40B4-BE49-F238E27FC236}">
                <a16:creationId xmlns:a16="http://schemas.microsoft.com/office/drawing/2014/main" id="{E670D555-B15F-48C9-A5EB-99B32250C8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7FBB20-D5AB-4C86-B4FB-E26B82B012B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4823F8A-FDCA-482D-830F-F382435E0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11364BE-775B-446A-AD58-D7C5EF195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 state-transition system that captures</a:t>
            </a:r>
          </a:p>
          <a:p>
            <a:pPr lvl="1" eaLnBrk="1" hangingPunct="1"/>
            <a:r>
              <a:rPr lang="en-US" altLang="zh-TW"/>
              <a:t>What is true of a state</a:t>
            </a:r>
          </a:p>
          <a:p>
            <a:pPr lvl="1" eaLnBrk="1" hangingPunct="1"/>
            <a:r>
              <a:rPr lang="en-US" altLang="zh-TW"/>
              <a:t>What can be viewed as an </a:t>
            </a:r>
            <a:r>
              <a:rPr lang="en-US" altLang="zh-TW">
                <a:solidFill>
                  <a:srgbClr val="FF0000"/>
                </a:solidFill>
              </a:rPr>
              <a:t>atomic move</a:t>
            </a:r>
          </a:p>
          <a:p>
            <a:pPr lvl="1" eaLnBrk="1" hangingPunct="1"/>
            <a:r>
              <a:rPr lang="en-US" altLang="zh-TW"/>
              <a:t>The succession of states</a:t>
            </a:r>
          </a:p>
          <a:p>
            <a:pPr eaLnBrk="1" hangingPunct="1"/>
            <a:r>
              <a:rPr lang="en-US" altLang="zh-TW"/>
              <a:t>Static representation that can be unrolled to a tree of execution traces, on which temporal properties are verified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編號版面配置區 5">
            <a:extLst>
              <a:ext uri="{FF2B5EF4-FFF2-40B4-BE49-F238E27FC236}">
                <a16:creationId xmlns:a16="http://schemas.microsoft.com/office/drawing/2014/main" id="{8C450CAF-60CE-406D-B9F4-401DF07093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D86E87-D5E1-4FEE-92F7-BC826EB35BF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1587692-E04D-4B0E-ADB2-1604E2360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62D26EA-6480-416F-BF35-38EC517A2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Saul Kripke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Born in 1940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Professor, Princeton University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Distinguished Professor, CUNY</a:t>
            </a:r>
          </a:p>
          <a:p>
            <a:pPr eaLnBrk="1" hangingPunct="1"/>
            <a:r>
              <a:rPr lang="en-US" altLang="zh-TW" sz="2600"/>
              <a:t>Kripke semantics</a:t>
            </a:r>
          </a:p>
          <a:p>
            <a:pPr eaLnBrk="1" hangingPunct="1"/>
            <a:r>
              <a:rPr lang="en-US" altLang="zh-TW" sz="2600"/>
              <a:t>Naming &amp; Necessity in the philosophy of languages</a:t>
            </a:r>
          </a:p>
          <a:p>
            <a:pPr eaLnBrk="1" hangingPunct="1"/>
            <a:r>
              <a:rPr lang="en-US" altLang="zh-TW" sz="2600"/>
              <a:t>Interpretation fo the philosophy of Wittgenstein</a:t>
            </a:r>
          </a:p>
          <a:p>
            <a:pPr eaLnBrk="1" hangingPunct="1"/>
            <a:r>
              <a:rPr lang="en-US" altLang="zh-TW" sz="2600"/>
              <a:t>Theory of truth</a:t>
            </a:r>
          </a:p>
        </p:txBody>
      </p:sp>
      <p:pic>
        <p:nvPicPr>
          <p:cNvPr id="38917" name="Picture 4" descr="kripke">
            <a:extLst>
              <a:ext uri="{FF2B5EF4-FFF2-40B4-BE49-F238E27FC236}">
                <a16:creationId xmlns:a16="http://schemas.microsoft.com/office/drawing/2014/main" id="{30412D9B-19D4-4E15-8CA5-AF5ADB232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914400"/>
            <a:ext cx="210661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4165" name="AutoShape 5">
            <a:extLst>
              <a:ext uri="{FF2B5EF4-FFF2-40B4-BE49-F238E27FC236}">
                <a16:creationId xmlns:a16="http://schemas.microsoft.com/office/drawing/2014/main" id="{17EADD31-66E2-4811-8B8E-4E0A4E496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5562600" cy="4114800"/>
          </a:xfrm>
          <a:prstGeom prst="wave">
            <a:avLst>
              <a:gd name="adj1" fmla="val 6106"/>
              <a:gd name="adj2" fmla="val 0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800"/>
          </a:p>
        </p:txBody>
      </p:sp>
      <p:sp>
        <p:nvSpPr>
          <p:cNvPr id="1244166" name="Text Box 6">
            <a:extLst>
              <a:ext uri="{FF2B5EF4-FFF2-40B4-BE49-F238E27FC236}">
                <a16:creationId xmlns:a16="http://schemas.microsoft.com/office/drawing/2014/main" id="{49126E59-CAEE-4755-B227-32EB77D21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4953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800"/>
              <a:t>wrote his first essay on Kripke structure at 16</a:t>
            </a:r>
          </a:p>
        </p:txBody>
      </p:sp>
      <p:sp>
        <p:nvSpPr>
          <p:cNvPr id="1244167" name="Text Box 7">
            <a:extLst>
              <a:ext uri="{FF2B5EF4-FFF2-40B4-BE49-F238E27FC236}">
                <a16:creationId xmlns:a16="http://schemas.microsoft.com/office/drawing/2014/main" id="{CB3F1DCD-55BF-418D-9C5B-5DF34F68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267200"/>
            <a:ext cx="4953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800"/>
              <a:t>taught a graduate logic course at MIT since sophomore year at Harvard. </a:t>
            </a:r>
          </a:p>
        </p:txBody>
      </p:sp>
      <p:sp>
        <p:nvSpPr>
          <p:cNvPr id="1244168" name="Text Box 8">
            <a:extLst>
              <a:ext uri="{FF2B5EF4-FFF2-40B4-BE49-F238E27FC236}">
                <a16:creationId xmlns:a16="http://schemas.microsoft.com/office/drawing/2014/main" id="{7623F24D-2E1A-45EB-BAAF-298C5999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6576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800"/>
              <a:t>invited to teach at Princeton</a:t>
            </a:r>
          </a:p>
        </p:txBody>
      </p:sp>
      <p:sp>
        <p:nvSpPr>
          <p:cNvPr id="1244169" name="AutoShape 9">
            <a:extLst>
              <a:ext uri="{FF2B5EF4-FFF2-40B4-BE49-F238E27FC236}">
                <a16:creationId xmlns:a16="http://schemas.microsoft.com/office/drawing/2014/main" id="{51D359A6-5BC1-49F4-920A-048D2B9AB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52400"/>
            <a:ext cx="3581400" cy="2438400"/>
          </a:xfrm>
          <a:prstGeom prst="wedgeRoundRectCallout">
            <a:avLst>
              <a:gd name="adj1" fmla="val 91579"/>
              <a:gd name="adj2" fmla="val 2128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i="1"/>
              <a:t>I’m honored by your proposal, by my mum says I have to finish high-school first.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441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4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4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4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4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4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24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165" grpId="0" build="allAtOnce" animBg="1"/>
      <p:bldP spid="1244166" grpId="0"/>
      <p:bldP spid="1244167" grpId="0"/>
      <p:bldP spid="1244168" grpId="0"/>
      <p:bldP spid="12441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編號版面配置區 5">
            <a:extLst>
              <a:ext uri="{FF2B5EF4-FFF2-40B4-BE49-F238E27FC236}">
                <a16:creationId xmlns:a16="http://schemas.microsoft.com/office/drawing/2014/main" id="{D05D45B3-D335-407C-80AA-FA1D260CB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746E20-DAA8-4EF7-8BE5-E5E16DC1BAC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094F551-892A-4666-862E-BAE1A86F1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A5BA494-B390-48CA-BAA4-5CA77D80C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>
                <a:solidFill>
                  <a:schemeClr val="tx2"/>
                </a:solidFill>
              </a:rPr>
              <a:t>A = (</a:t>
            </a:r>
            <a:r>
              <a:rPr lang="en-US" altLang="zh-TW" sz="2600"/>
              <a:t>S</a:t>
            </a:r>
            <a:r>
              <a:rPr lang="en-US" altLang="zh-TW" sz="2600">
                <a:solidFill>
                  <a:schemeClr val="tx2"/>
                </a:solidFill>
              </a:rPr>
              <a:t>, </a:t>
            </a:r>
            <a:r>
              <a:rPr lang="en-US" altLang="zh-TW" sz="2600"/>
              <a:t>S</a:t>
            </a:r>
            <a:r>
              <a:rPr lang="en-US" altLang="zh-TW" sz="2600" baseline="-25000"/>
              <a:t>0</a:t>
            </a:r>
            <a:r>
              <a:rPr lang="en-US" altLang="zh-TW" sz="2600">
                <a:solidFill>
                  <a:schemeClr val="tx2"/>
                </a:solidFill>
              </a:rPr>
              <a:t>, </a:t>
            </a:r>
            <a:r>
              <a:rPr lang="en-US" altLang="zh-TW" sz="2600"/>
              <a:t>R</a:t>
            </a:r>
            <a:r>
              <a:rPr lang="en-US" altLang="zh-TW" sz="2600">
                <a:solidFill>
                  <a:schemeClr val="tx2"/>
                </a:solidFill>
              </a:rPr>
              <a:t>, L)</a:t>
            </a:r>
            <a:endParaRPr lang="en-US" altLang="zh-TW" sz="2600"/>
          </a:p>
          <a:p>
            <a:pPr eaLnBrk="1" hangingPunct="1"/>
            <a:r>
              <a:rPr lang="en-US" altLang="zh-TW" sz="2600"/>
              <a:t>S </a:t>
            </a:r>
          </a:p>
          <a:p>
            <a:pPr lvl="1" eaLnBrk="1" hangingPunct="1"/>
            <a:r>
              <a:rPr lang="en-US" altLang="zh-TW" sz="2200"/>
              <a:t>a set of all states of the system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0 </a:t>
            </a:r>
            <a:r>
              <a:rPr lang="en-US" altLang="zh-TW" sz="2600">
                <a:sym typeface="Symbol" panose="05050102010706020507" pitchFamily="18" charset="2"/>
              </a:rPr>
              <a:t> S</a:t>
            </a:r>
            <a:r>
              <a:rPr lang="en-US" altLang="zh-TW" sz="2600"/>
              <a:t> </a:t>
            </a:r>
          </a:p>
          <a:p>
            <a:pPr lvl="1" eaLnBrk="1" hangingPunct="1"/>
            <a:r>
              <a:rPr lang="en-US" altLang="zh-TW" sz="2200"/>
              <a:t>a set of initial states</a:t>
            </a:r>
          </a:p>
          <a:p>
            <a:pPr eaLnBrk="1" hangingPunct="1"/>
            <a:r>
              <a:rPr lang="en-US" altLang="zh-TW" sz="2600"/>
              <a:t>R </a:t>
            </a:r>
            <a:r>
              <a:rPr lang="en-US" altLang="zh-TW" sz="2600">
                <a:sym typeface="Symbol" panose="05050102010706020507" pitchFamily="18" charset="2"/>
              </a:rPr>
              <a:t> SS</a:t>
            </a:r>
            <a:r>
              <a:rPr lang="en-US" altLang="zh-TW" sz="2600"/>
              <a:t> </a:t>
            </a:r>
          </a:p>
          <a:p>
            <a:pPr lvl="1" eaLnBrk="1" hangingPunct="1"/>
            <a:r>
              <a:rPr lang="en-US" altLang="zh-TW" sz="2200"/>
              <a:t>a transition relation between states</a:t>
            </a:r>
          </a:p>
          <a:p>
            <a:pPr eaLnBrk="1" hangingPunct="1"/>
            <a:r>
              <a:rPr lang="en-US" altLang="zh-TW" sz="2600"/>
              <a:t>L : S </a:t>
            </a:r>
            <a:r>
              <a:rPr lang="en-US" altLang="zh-TW" sz="2200" b="1">
                <a:latin typeface="Symbol" panose="05050102010706020507" pitchFamily="18" charset="2"/>
                <a:sym typeface="Euclid Extra" pitchFamily="18" charset="2"/>
              </a:rPr>
              <a:t></a:t>
            </a:r>
            <a:r>
              <a:rPr lang="en-US" altLang="zh-TW" sz="260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zh-TW" sz="2600"/>
              <a:t>2</a:t>
            </a:r>
            <a:r>
              <a:rPr lang="en-US" altLang="zh-TW" sz="2600" baseline="30000"/>
              <a:t>P</a:t>
            </a:r>
            <a:r>
              <a:rPr lang="en-US" altLang="zh-TW" sz="2600"/>
              <a:t> </a:t>
            </a:r>
          </a:p>
          <a:p>
            <a:pPr lvl="1" eaLnBrk="1" hangingPunct="1"/>
            <a:r>
              <a:rPr lang="en-US" altLang="zh-TW" sz="2200"/>
              <a:t>a function that associates each state with set of propositions true in that state</a:t>
            </a:r>
          </a:p>
        </p:txBody>
      </p:sp>
      <p:sp>
        <p:nvSpPr>
          <p:cNvPr id="1242116" name="AutoShape 4">
            <a:extLst>
              <a:ext uri="{FF2B5EF4-FFF2-40B4-BE49-F238E27FC236}">
                <a16:creationId xmlns:a16="http://schemas.microsoft.com/office/drawing/2014/main" id="{6A4E2413-8533-48F8-89CB-F2AE560B3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00200"/>
            <a:ext cx="3276600" cy="3581400"/>
          </a:xfrm>
          <a:prstGeom prst="wedgeRectCallout">
            <a:avLst>
              <a:gd name="adj1" fmla="val -153352"/>
              <a:gd name="adj2" fmla="val 435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74638" indent="-2746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400" i="1"/>
              <a:t>L</a:t>
            </a:r>
            <a:r>
              <a:rPr lang="en-US" altLang="zh-TW" sz="2400"/>
              <a:t> allows us to describe the truth/falsehood of a proposition in the various states of a system.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400"/>
              <a:t>The propositions refer to valuations of the state variables.</a:t>
            </a:r>
          </a:p>
        </p:txBody>
      </p:sp>
      <p:sp>
        <p:nvSpPr>
          <p:cNvPr id="1242117" name="AutoShape 5">
            <a:extLst>
              <a:ext uri="{FF2B5EF4-FFF2-40B4-BE49-F238E27FC236}">
                <a16:creationId xmlns:a16="http://schemas.microsoft.com/office/drawing/2014/main" id="{28CFE0F6-00D9-49A0-B69D-28D42FDA7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"/>
            <a:ext cx="5562600" cy="1295400"/>
          </a:xfrm>
          <a:prstGeom prst="wedgeEllipseCallout">
            <a:avLst>
              <a:gd name="adj1" fmla="val -96074"/>
              <a:gd name="adj2" fmla="val 309778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Euclid Math Two" pitchFamily="18" charset="2"/>
              </a:rPr>
              <a:t>To extend to integer programs,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Euclid Math Two" pitchFamily="18" charset="2"/>
              </a:rPr>
              <a:t>L:S</a:t>
            </a:r>
            <a:r>
              <a:rPr lang="en-US" altLang="zh-TW" sz="2400">
                <a:sym typeface="Symbol" panose="05050102010706020507" pitchFamily="18" charset="2"/>
              </a:rPr>
              <a:t></a:t>
            </a:r>
            <a:r>
              <a:rPr lang="en-US" altLang="zh-TW" sz="2400">
                <a:sym typeface="Euclid Math Two" pitchFamily="18" charset="2"/>
              </a:rPr>
              <a:t>P</a:t>
            </a:r>
            <a:r>
              <a:rPr lang="en-US" altLang="zh-TW" sz="2400">
                <a:sym typeface="Wingdings" panose="05000000000000000000" pitchFamily="2" charset="2"/>
              </a:rPr>
              <a:t></a:t>
            </a:r>
            <a:r>
              <a:rPr lang="en-US" altLang="zh-TW" sz="2400">
                <a:sym typeface="Euclid Math Two" pitchFamily="18" charset="2"/>
              </a:rPr>
              <a:t>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2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2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2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2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2116" grpId="0" animBg="1"/>
      <p:bldP spid="12421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編號版面配置區 6">
            <a:extLst>
              <a:ext uri="{FF2B5EF4-FFF2-40B4-BE49-F238E27FC236}">
                <a16:creationId xmlns:a16="http://schemas.microsoft.com/office/drawing/2014/main" id="{EC9171D4-B7A9-477E-8F09-5CB1B61F4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C7500E-08E5-4B1C-A485-CC877AADF97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4751E65-1EA8-4721-AC67-BB37AA186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Model</a:t>
            </a:r>
            <a:br>
              <a:rPr lang="en-US" altLang="zh-TW" sz="3800"/>
            </a:br>
            <a:r>
              <a:rPr lang="en-US" altLang="zh-TW" sz="3800"/>
              <a:t> - syntax 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F81B016-D547-4DE0-B3B8-552ABD25CC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 eaLnBrk="1" hangingPunct="1"/>
            <a:r>
              <a:rPr lang="en-US" altLang="zh-TW" sz="2800"/>
              <a:t>Set of states </a:t>
            </a:r>
            <a:r>
              <a:rPr lang="en-US" altLang="zh-TW" sz="2800">
                <a:solidFill>
                  <a:schemeClr val="tx2"/>
                </a:solidFill>
              </a:rPr>
              <a:t>S=</a:t>
            </a:r>
            <a:r>
              <a:rPr lang="en-US" altLang="zh-TW" sz="2800"/>
              <a:t>{q</a:t>
            </a:r>
            <a:r>
              <a:rPr lang="en-US" altLang="zh-TW" sz="2800" baseline="-25000"/>
              <a:t>1</a:t>
            </a:r>
            <a:r>
              <a:rPr lang="en-US" altLang="zh-TW" sz="2800"/>
              <a:t>,q</a:t>
            </a:r>
            <a:r>
              <a:rPr lang="en-US" altLang="zh-TW" sz="2800" baseline="-25000"/>
              <a:t>2</a:t>
            </a:r>
            <a:r>
              <a:rPr lang="en-US" altLang="zh-TW" sz="2800"/>
              <a:t>,q</a:t>
            </a:r>
            <a:r>
              <a:rPr lang="en-US" altLang="zh-TW" sz="2800" baseline="-25000"/>
              <a:t>3</a:t>
            </a:r>
            <a:r>
              <a:rPr lang="en-US" altLang="zh-TW" sz="2800"/>
              <a:t>}</a:t>
            </a:r>
          </a:p>
          <a:p>
            <a:pPr eaLnBrk="1" hangingPunct="1"/>
            <a:r>
              <a:rPr lang="en-US" altLang="zh-TW" sz="2800"/>
              <a:t>Set of initial states </a:t>
            </a:r>
            <a:r>
              <a:rPr lang="en-US" altLang="zh-TW" sz="2800">
                <a:solidFill>
                  <a:schemeClr val="tx2"/>
                </a:solidFill>
              </a:rPr>
              <a:t>S</a:t>
            </a:r>
            <a:r>
              <a:rPr lang="en-US" altLang="zh-TW" sz="2800" baseline="-25000">
                <a:solidFill>
                  <a:schemeClr val="tx2"/>
                </a:solidFill>
              </a:rPr>
              <a:t>0</a:t>
            </a:r>
            <a:r>
              <a:rPr lang="en-US" altLang="zh-TW" sz="2800">
                <a:solidFill>
                  <a:schemeClr val="tx2"/>
                </a:solidFill>
              </a:rPr>
              <a:t>=</a:t>
            </a:r>
            <a:r>
              <a:rPr lang="en-US" altLang="zh-TW" sz="2800"/>
              <a:t>{q</a:t>
            </a:r>
            <a:r>
              <a:rPr lang="en-US" altLang="zh-TW" sz="2800" baseline="-25000"/>
              <a:t>1</a:t>
            </a:r>
            <a:r>
              <a:rPr lang="en-US" altLang="zh-TW" sz="2800"/>
              <a:t>}</a:t>
            </a:r>
          </a:p>
          <a:p>
            <a:pPr eaLnBrk="1" hangingPunct="1"/>
            <a:r>
              <a:rPr lang="en-US" altLang="zh-TW" sz="2800"/>
              <a:t>R ={(q</a:t>
            </a:r>
            <a:r>
              <a:rPr lang="en-US" altLang="zh-TW" sz="2800" baseline="-25000"/>
              <a:t>1</a:t>
            </a:r>
            <a:r>
              <a:rPr lang="en-US" altLang="zh-TW" sz="2800"/>
              <a:t>,q</a:t>
            </a:r>
            <a:r>
              <a:rPr lang="en-US" altLang="zh-TW" sz="2800" baseline="-25000"/>
              <a:t>2</a:t>
            </a:r>
            <a:r>
              <a:rPr lang="en-US" altLang="zh-TW" sz="2800"/>
              <a:t>),(q</a:t>
            </a:r>
            <a:r>
              <a:rPr lang="en-US" altLang="zh-TW" sz="2800" baseline="-25000"/>
              <a:t>2</a:t>
            </a:r>
            <a:r>
              <a:rPr lang="en-US" altLang="zh-TW" sz="2800"/>
              <a:t>,q</a:t>
            </a:r>
            <a:r>
              <a:rPr lang="en-US" altLang="zh-TW" sz="2800" baseline="-25000"/>
              <a:t>2</a:t>
            </a:r>
            <a:r>
              <a:rPr lang="en-US" altLang="zh-TW" sz="280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          (q</a:t>
            </a:r>
            <a:r>
              <a:rPr lang="en-US" altLang="zh-TW" sz="2800" baseline="-25000"/>
              <a:t>1</a:t>
            </a:r>
            <a:r>
              <a:rPr lang="en-US" altLang="zh-TW" sz="2800"/>
              <a:t>,q</a:t>
            </a:r>
            <a:r>
              <a:rPr lang="en-US" altLang="zh-TW" sz="2800" baseline="-25000"/>
              <a:t>3</a:t>
            </a:r>
            <a:r>
              <a:rPr lang="en-US" altLang="zh-TW" sz="2800"/>
              <a:t>),(q</a:t>
            </a:r>
            <a:r>
              <a:rPr lang="en-US" altLang="zh-TW" sz="2800" baseline="-25000"/>
              <a:t>3</a:t>
            </a:r>
            <a:r>
              <a:rPr lang="en-US" altLang="zh-TW" sz="2800"/>
              <a:t>, q</a:t>
            </a:r>
            <a:r>
              <a:rPr lang="en-US" altLang="zh-TW" sz="2800" baseline="-25000"/>
              <a:t>1</a:t>
            </a:r>
            <a:r>
              <a:rPr lang="en-US" altLang="zh-TW" sz="2800"/>
              <a:t>),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          (q</a:t>
            </a:r>
            <a:r>
              <a:rPr lang="en-US" altLang="zh-TW" sz="2800" baseline="-25000"/>
              <a:t>3</a:t>
            </a:r>
            <a:r>
              <a:rPr lang="en-US" altLang="zh-TW" sz="2800"/>
              <a:t>,q</a:t>
            </a:r>
            <a:r>
              <a:rPr lang="en-US" altLang="zh-TW" sz="2800" baseline="-25000"/>
              <a:t>2</a:t>
            </a:r>
            <a:r>
              <a:rPr lang="en-US" altLang="zh-TW" sz="2800"/>
              <a:t>)}</a:t>
            </a:r>
          </a:p>
          <a:p>
            <a:pPr eaLnBrk="1" hangingPunct="1"/>
            <a:endParaRPr lang="en-US" altLang="zh-TW" sz="2800"/>
          </a:p>
          <a:p>
            <a:pPr eaLnBrk="1" hangingPunct="1"/>
            <a:r>
              <a:rPr lang="en-US" altLang="zh-TW" sz="2800"/>
              <a:t>Set of atomic propositions </a:t>
            </a:r>
            <a:r>
              <a:rPr lang="en-US" altLang="zh-TW" sz="2800">
                <a:solidFill>
                  <a:schemeClr val="tx2"/>
                </a:solidFill>
              </a:rPr>
              <a:t>AP=</a:t>
            </a:r>
            <a:r>
              <a:rPr lang="en-US" altLang="zh-TW" sz="2800"/>
              <a:t>{a,b} </a:t>
            </a:r>
          </a:p>
          <a:p>
            <a:pPr eaLnBrk="1" hangingPunct="1"/>
            <a:r>
              <a:rPr lang="en-US" altLang="zh-TW" sz="2800"/>
              <a:t>L(q</a:t>
            </a:r>
            <a:r>
              <a:rPr lang="en-US" altLang="zh-TW" sz="2800" baseline="-25000"/>
              <a:t>1</a:t>
            </a:r>
            <a:r>
              <a:rPr lang="en-US" altLang="zh-TW" sz="2800"/>
              <a:t>)={a}, L(q</a:t>
            </a:r>
            <a:r>
              <a:rPr lang="en-US" altLang="zh-TW" sz="2800" baseline="-25000"/>
              <a:t>2</a:t>
            </a:r>
            <a:r>
              <a:rPr lang="en-US" altLang="zh-TW" sz="2800"/>
              <a:t>)={a,b}, L(q</a:t>
            </a:r>
            <a:r>
              <a:rPr lang="en-US" altLang="zh-TW" sz="2800" baseline="-25000"/>
              <a:t>3</a:t>
            </a:r>
            <a:r>
              <a:rPr lang="en-US" altLang="zh-TW" sz="2800"/>
              <a:t>)={b}</a:t>
            </a:r>
          </a:p>
        </p:txBody>
      </p:sp>
      <p:grpSp>
        <p:nvGrpSpPr>
          <p:cNvPr id="43013" name="群組 21">
            <a:extLst>
              <a:ext uri="{FF2B5EF4-FFF2-40B4-BE49-F238E27FC236}">
                <a16:creationId xmlns:a16="http://schemas.microsoft.com/office/drawing/2014/main" id="{130D3B8F-D4A8-4DF9-8253-AF6A983F4CF9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990600"/>
            <a:ext cx="4176712" cy="3355975"/>
            <a:chOff x="4967288" y="2349500"/>
            <a:chExt cx="4176712" cy="3355975"/>
          </a:xfrm>
        </p:grpSpPr>
        <p:sp>
          <p:nvSpPr>
            <p:cNvPr id="43014" name="Text Box 15">
              <a:extLst>
                <a:ext uri="{FF2B5EF4-FFF2-40B4-BE49-F238E27FC236}">
                  <a16:creationId xmlns:a16="http://schemas.microsoft.com/office/drawing/2014/main" id="{2ED3B1E6-C0AB-48F0-AB28-CDA703C32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8213" y="5248275"/>
              <a:ext cx="5857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tx2"/>
                  </a:solidFill>
                  <a:latin typeface="Comic Sans MS" panose="030F0702030302020204" pitchFamily="66" charset="0"/>
                </a:rPr>
                <a:t>q</a:t>
              </a:r>
              <a:r>
                <a:rPr kumimoji="0" lang="en-US" altLang="zh-TW" sz="2400" baseline="-25000">
                  <a:solidFill>
                    <a:schemeClr val="tx2"/>
                  </a:solidFill>
                  <a:latin typeface="Comic Sans MS" panose="030F0702030302020204" pitchFamily="66" charset="0"/>
                </a:rPr>
                <a:t>3</a:t>
              </a:r>
            </a:p>
          </p:txBody>
        </p:sp>
        <p:sp>
          <p:nvSpPr>
            <p:cNvPr id="43015" name="Oval 4">
              <a:extLst>
                <a:ext uri="{FF2B5EF4-FFF2-40B4-BE49-F238E27FC236}">
                  <a16:creationId xmlns:a16="http://schemas.microsoft.com/office/drawing/2014/main" id="{4801B623-F2F7-4F6D-A360-45F2A044F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5588" y="2768600"/>
              <a:ext cx="911225" cy="8255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3016" name="Oval 5">
              <a:extLst>
                <a:ext uri="{FF2B5EF4-FFF2-40B4-BE49-F238E27FC236}">
                  <a16:creationId xmlns:a16="http://schemas.microsoft.com/office/drawing/2014/main" id="{ACF9966B-AC17-4EE9-A37D-F6F98062B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4559300"/>
              <a:ext cx="911225" cy="8255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3017" name="Oval 6">
              <a:extLst>
                <a:ext uri="{FF2B5EF4-FFF2-40B4-BE49-F238E27FC236}">
                  <a16:creationId xmlns:a16="http://schemas.microsoft.com/office/drawing/2014/main" id="{F6A7FBA2-F1AE-4500-AC1B-D154E12FB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2250" y="4559300"/>
              <a:ext cx="911225" cy="8255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3018" name="Line 7">
              <a:extLst>
                <a:ext uri="{FF2B5EF4-FFF2-40B4-BE49-F238E27FC236}">
                  <a16:creationId xmlns:a16="http://schemas.microsoft.com/office/drawing/2014/main" id="{9F772207-AE89-4F09-AA1E-602662FA8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5063" y="3525838"/>
              <a:ext cx="650875" cy="1101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19" name="Line 8">
              <a:extLst>
                <a:ext uri="{FF2B5EF4-FFF2-40B4-BE49-F238E27FC236}">
                  <a16:creationId xmlns:a16="http://schemas.microsoft.com/office/drawing/2014/main" id="{D665DEE9-763C-479D-B2F5-CB2C93C3E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6463" y="3594100"/>
              <a:ext cx="715962" cy="11033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20" name="Line 9">
              <a:extLst>
                <a:ext uri="{FF2B5EF4-FFF2-40B4-BE49-F238E27FC236}">
                  <a16:creationId xmlns:a16="http://schemas.microsoft.com/office/drawing/2014/main" id="{0DDC6737-8152-4DCA-B4E7-5496A59A6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51725" y="3455988"/>
              <a:ext cx="715963" cy="1103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21" name="Freeform 10">
              <a:extLst>
                <a:ext uri="{FF2B5EF4-FFF2-40B4-BE49-F238E27FC236}">
                  <a16:creationId xmlns:a16="http://schemas.microsoft.com/office/drawing/2014/main" id="{91F2A4A1-3EAC-4A5F-9C3B-0737A4E2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4467225"/>
              <a:ext cx="531812" cy="1009650"/>
            </a:xfrm>
            <a:custGeom>
              <a:avLst/>
              <a:gdLst>
                <a:gd name="T0" fmla="*/ 2147483646 w 392"/>
                <a:gd name="T1" fmla="*/ 2147483646 h 704"/>
                <a:gd name="T2" fmla="*/ 2147483646 w 392"/>
                <a:gd name="T3" fmla="*/ 2147483646 h 704"/>
                <a:gd name="T4" fmla="*/ 2147483646 w 392"/>
                <a:gd name="T5" fmla="*/ 2147483646 h 704"/>
                <a:gd name="T6" fmla="*/ 2147483646 w 392"/>
                <a:gd name="T7" fmla="*/ 2147483646 h 7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2"/>
                <a:gd name="T13" fmla="*/ 0 h 704"/>
                <a:gd name="T14" fmla="*/ 392 w 392"/>
                <a:gd name="T15" fmla="*/ 704 h 7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2" h="704">
                  <a:moveTo>
                    <a:pt x="392" y="448"/>
                  </a:moveTo>
                  <a:cubicBezTo>
                    <a:pt x="252" y="576"/>
                    <a:pt x="112" y="704"/>
                    <a:pt x="56" y="640"/>
                  </a:cubicBezTo>
                  <a:cubicBezTo>
                    <a:pt x="0" y="576"/>
                    <a:pt x="0" y="128"/>
                    <a:pt x="56" y="64"/>
                  </a:cubicBezTo>
                  <a:cubicBezTo>
                    <a:pt x="112" y="0"/>
                    <a:pt x="252" y="128"/>
                    <a:pt x="392" y="25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22" name="Text Box 11">
              <a:extLst>
                <a:ext uri="{FF2B5EF4-FFF2-40B4-BE49-F238E27FC236}">
                  <a16:creationId xmlns:a16="http://schemas.microsoft.com/office/drawing/2014/main" id="{3950470E-2FDF-4EC0-B982-6B9ED0BC6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0225" y="2962275"/>
              <a:ext cx="455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accent2"/>
                  </a:solidFill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43023" name="Text Box 12">
              <a:extLst>
                <a:ext uri="{FF2B5EF4-FFF2-40B4-BE49-F238E27FC236}">
                  <a16:creationId xmlns:a16="http://schemas.microsoft.com/office/drawing/2014/main" id="{E00FFCCF-D5AE-46FC-8570-1452E129EE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4363" y="4765675"/>
              <a:ext cx="5857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rIns="5400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accent2"/>
                  </a:solidFill>
                  <a:latin typeface="Comic Sans MS" panose="030F0702030302020204" pitchFamily="66" charset="0"/>
                </a:rPr>
                <a:t>a,b</a:t>
              </a:r>
            </a:p>
          </p:txBody>
        </p:sp>
        <p:sp>
          <p:nvSpPr>
            <p:cNvPr id="43024" name="Text Box 13">
              <a:extLst>
                <a:ext uri="{FF2B5EF4-FFF2-40B4-BE49-F238E27FC236}">
                  <a16:creationId xmlns:a16="http://schemas.microsoft.com/office/drawing/2014/main" id="{1634F6C0-EE88-4804-9943-CFC0E855D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8" y="4765675"/>
              <a:ext cx="4556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accent2"/>
                  </a:solidFill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3025" name="Text Box 14">
              <a:extLst>
                <a:ext uri="{FF2B5EF4-FFF2-40B4-BE49-F238E27FC236}">
                  <a16:creationId xmlns:a16="http://schemas.microsoft.com/office/drawing/2014/main" id="{F56CE614-8247-4363-A48E-57F7AE0AE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0150" y="2492375"/>
              <a:ext cx="5857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tx2"/>
                  </a:solidFill>
                  <a:latin typeface="Comic Sans MS" panose="030F0702030302020204" pitchFamily="66" charset="0"/>
                </a:rPr>
                <a:t>q</a:t>
              </a:r>
              <a:r>
                <a:rPr kumimoji="0" lang="en-US" altLang="zh-TW" sz="2400" baseline="-25000">
                  <a:solidFill>
                    <a:schemeClr val="tx2"/>
                  </a:solidFill>
                  <a:latin typeface="Comic Sans MS" panose="030F0702030302020204" pitchFamily="66" charset="0"/>
                </a:rPr>
                <a:t>1</a:t>
              </a:r>
            </a:p>
          </p:txBody>
        </p:sp>
        <p:sp>
          <p:nvSpPr>
            <p:cNvPr id="43026" name="Text Box 16">
              <a:extLst>
                <a:ext uri="{FF2B5EF4-FFF2-40B4-BE49-F238E27FC236}">
                  <a16:creationId xmlns:a16="http://schemas.microsoft.com/office/drawing/2014/main" id="{0C3E7BB6-92A7-4831-9BAC-2EC39FC76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9975" y="5248275"/>
              <a:ext cx="5857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2400">
                  <a:solidFill>
                    <a:schemeClr val="tx2"/>
                  </a:solidFill>
                  <a:latin typeface="Comic Sans MS" panose="030F0702030302020204" pitchFamily="66" charset="0"/>
                </a:rPr>
                <a:t>q</a:t>
              </a:r>
              <a:r>
                <a:rPr kumimoji="0" lang="en-US" altLang="zh-TW" sz="2400" baseline="-25000">
                  <a:solidFill>
                    <a:schemeClr val="tx2"/>
                  </a:solidFill>
                  <a:latin typeface="Comic Sans MS" panose="030F0702030302020204" pitchFamily="66" charset="0"/>
                </a:rPr>
                <a:t>2</a:t>
              </a:r>
            </a:p>
          </p:txBody>
        </p:sp>
        <p:sp>
          <p:nvSpPr>
            <p:cNvPr id="43027" name="Line 17">
              <a:extLst>
                <a:ext uri="{FF2B5EF4-FFF2-40B4-BE49-F238E27FC236}">
                  <a16:creationId xmlns:a16="http://schemas.microsoft.com/office/drawing/2014/main" id="{3054AA8E-862E-4F33-BA1C-763754934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88100" y="5040313"/>
              <a:ext cx="1414463" cy="47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28" name="Line 18">
              <a:extLst>
                <a:ext uri="{FF2B5EF4-FFF2-40B4-BE49-F238E27FC236}">
                  <a16:creationId xmlns:a16="http://schemas.microsoft.com/office/drawing/2014/main" id="{CD6357F8-C3BA-4812-8AF6-ABC7865BD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2950" y="2349500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編號版面配置區 5">
            <a:extLst>
              <a:ext uri="{FF2B5EF4-FFF2-40B4-BE49-F238E27FC236}">
                <a16:creationId xmlns:a16="http://schemas.microsoft.com/office/drawing/2014/main" id="{2F4B0981-95D1-4B95-A3C7-14AEF04277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3871E8-77CB-413E-8865-3A9EEBE9B71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36718D-5322-4137-81AF-3958E85E8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 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601FB719-3E3F-4F83-AEFD-8CCF3AA9E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Given a Kripke structure A = (S, S</a:t>
            </a:r>
            <a:r>
              <a:rPr lang="en-US" altLang="zh-TW" baseline="-25000"/>
              <a:t>0</a:t>
            </a:r>
            <a:r>
              <a:rPr lang="en-US" altLang="zh-TW"/>
              <a:t>, R, L),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</a:t>
            </a:r>
            <a:r>
              <a:rPr lang="en-US" altLang="zh-TW">
                <a:solidFill>
                  <a:srgbClr val="FF0000"/>
                </a:solidFill>
              </a:rPr>
              <a:t>run</a:t>
            </a:r>
            <a:r>
              <a:rPr lang="en-US" altLang="zh-TW"/>
              <a:t> is a finite or infinite sequence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/>
              <a:t>s</a:t>
            </a:r>
            <a:r>
              <a:rPr lang="en-US" altLang="zh-TW" baseline="-25000"/>
              <a:t>0</a:t>
            </a:r>
            <a:r>
              <a:rPr lang="en-US" altLang="zh-TW"/>
              <a:t>s</a:t>
            </a:r>
            <a:r>
              <a:rPr lang="en-US" altLang="zh-TW" baseline="-25000"/>
              <a:t>1</a:t>
            </a:r>
            <a:r>
              <a:rPr lang="en-US" altLang="zh-TW"/>
              <a:t>s</a:t>
            </a:r>
            <a:r>
              <a:rPr lang="en-US" altLang="zh-TW" baseline="-25000"/>
              <a:t>2</a:t>
            </a:r>
            <a:r>
              <a:rPr lang="en-US" altLang="zh-TW"/>
              <a:t> </a:t>
            </a:r>
            <a:r>
              <a:rPr lang="en-US" altLang="zh-TW">
                <a:latin typeface="Tahoma" panose="020B0604030504040204" pitchFamily="34" charset="0"/>
              </a:rPr>
              <a:t>…</a:t>
            </a:r>
            <a:r>
              <a:rPr lang="en-US" altLang="zh-TW"/>
              <a:t> s</a:t>
            </a:r>
            <a:r>
              <a:rPr lang="en-US" altLang="zh-TW" baseline="-25000"/>
              <a:t>k</a:t>
            </a:r>
            <a:r>
              <a:rPr lang="en-US" altLang="zh-TW"/>
              <a:t> </a:t>
            </a:r>
            <a:r>
              <a:rPr lang="en-US" altLang="zh-TW">
                <a:latin typeface="Tahoma" panose="020B0604030504040204" pitchFamily="34" charset="0"/>
              </a:rPr>
              <a:t>…</a:t>
            </a: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such that </a:t>
            </a:r>
          </a:p>
          <a:p>
            <a:pPr eaLnBrk="1" hangingPunct="1"/>
            <a:r>
              <a:rPr lang="en-US" altLang="zh-TW"/>
              <a:t>s</a:t>
            </a:r>
            <a:r>
              <a:rPr lang="en-US" altLang="zh-TW" baseline="-25000"/>
              <a:t>0 </a:t>
            </a:r>
            <a:r>
              <a:rPr lang="en-US" altLang="zh-TW">
                <a:sym typeface="Symbol" panose="05050102010706020507" pitchFamily="18" charset="2"/>
              </a:rPr>
              <a:t></a:t>
            </a:r>
            <a:r>
              <a:rPr lang="en-US" altLang="zh-TW"/>
              <a:t>S</a:t>
            </a:r>
            <a:r>
              <a:rPr lang="en-US" altLang="zh-TW" baseline="-25000"/>
              <a:t>0 </a:t>
            </a:r>
          </a:p>
          <a:p>
            <a:pPr eaLnBrk="1" hangingPunct="1"/>
            <a:r>
              <a:rPr lang="en-US" altLang="zh-TW"/>
              <a:t>for each k</a:t>
            </a:r>
            <a:r>
              <a:rPr lang="en-US" altLang="zh-TW">
                <a:sym typeface="Symbol" panose="05050102010706020507" pitchFamily="18" charset="2"/>
              </a:rPr>
              <a:t></a:t>
            </a:r>
            <a:r>
              <a:rPr lang="en-US" altLang="zh-TW">
                <a:sym typeface="Euclid Math Two" pitchFamily="18" charset="2"/>
              </a:rPr>
              <a:t>, if s</a:t>
            </a:r>
            <a:r>
              <a:rPr lang="en-US" altLang="zh-TW" baseline="-25000">
                <a:sym typeface="Euclid Math Two" pitchFamily="18" charset="2"/>
              </a:rPr>
              <a:t>k+1</a:t>
            </a:r>
            <a:r>
              <a:rPr lang="en-US" altLang="zh-TW">
                <a:sym typeface="Euclid Math Two" pitchFamily="18" charset="2"/>
              </a:rPr>
              <a:t>exists, </a:t>
            </a:r>
          </a:p>
          <a:p>
            <a:pPr lvl="1" eaLnBrk="1" hangingPunct="1"/>
            <a:r>
              <a:rPr lang="en-US" altLang="zh-TW">
                <a:sym typeface="Euclid Math Two" pitchFamily="18" charset="2"/>
              </a:rPr>
              <a:t>s</a:t>
            </a:r>
            <a:r>
              <a:rPr lang="en-US" altLang="zh-TW" baseline="-25000">
                <a:sym typeface="Euclid Math Two" pitchFamily="18" charset="2"/>
              </a:rPr>
              <a:t>k+1</a:t>
            </a:r>
            <a:r>
              <a:rPr lang="en-US" altLang="zh-TW">
                <a:sym typeface="Symbol" panose="05050102010706020507" pitchFamily="18" charset="2"/>
              </a:rPr>
              <a:t></a:t>
            </a:r>
            <a:r>
              <a:rPr lang="en-US" altLang="zh-TW"/>
              <a:t>S</a:t>
            </a:r>
            <a:r>
              <a:rPr lang="en-US" altLang="zh-TW" baseline="-25000"/>
              <a:t> </a:t>
            </a:r>
            <a:r>
              <a:rPr lang="en-US" altLang="zh-TW"/>
              <a:t>and </a:t>
            </a:r>
          </a:p>
          <a:p>
            <a:pPr lvl="1" eaLnBrk="1" hangingPunct="1"/>
            <a:r>
              <a:rPr lang="en-US" altLang="zh-TW"/>
              <a:t>R(</a:t>
            </a:r>
            <a:r>
              <a:rPr lang="en-US" altLang="zh-TW">
                <a:sym typeface="Euclid Math Two" pitchFamily="18" charset="2"/>
              </a:rPr>
              <a:t>s</a:t>
            </a:r>
            <a:r>
              <a:rPr lang="en-US" altLang="zh-TW" baseline="-25000">
                <a:sym typeface="Euclid Math Two" pitchFamily="18" charset="2"/>
              </a:rPr>
              <a:t>k</a:t>
            </a:r>
            <a:r>
              <a:rPr lang="en-US" altLang="zh-TW"/>
              <a:t>, </a:t>
            </a:r>
            <a:r>
              <a:rPr lang="en-US" altLang="zh-TW">
                <a:sym typeface="Euclid Math Two" pitchFamily="18" charset="2"/>
              </a:rPr>
              <a:t>s</a:t>
            </a:r>
            <a:r>
              <a:rPr lang="en-US" altLang="zh-TW" baseline="-25000">
                <a:sym typeface="Euclid Math Two" pitchFamily="18" charset="2"/>
              </a:rPr>
              <a:t>k+1</a:t>
            </a:r>
            <a:r>
              <a:rPr lang="en-US" altLang="zh-TW">
                <a:sym typeface="Euclid Math Two" pitchFamily="18" charset="2"/>
              </a:rPr>
              <a:t>) is true.</a:t>
            </a:r>
            <a:r>
              <a:rPr lang="en-US" altLang="zh-TW" baseline="-25000">
                <a:sym typeface="Euclid Math Two" pitchFamily="18" charset="2"/>
              </a:rPr>
              <a:t> </a:t>
            </a:r>
            <a:endParaRPr lang="en-US" altLang="zh-TW"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編號版面配置區 5">
            <a:extLst>
              <a:ext uri="{FF2B5EF4-FFF2-40B4-BE49-F238E27FC236}">
                <a16:creationId xmlns:a16="http://schemas.microsoft.com/office/drawing/2014/main" id="{C517ACFA-ED1E-4D50-B1E2-70749735C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200BA3-ECEA-4E18-98A4-948BFF42153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72959D0-B25B-40B8-838F-FF13C175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Control and data variables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C32F54C-6F4F-4A14-98C2-856615536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State = valuation of control and data vars.</a:t>
            </a:r>
          </a:p>
          <a:p>
            <a:pPr eaLnBrk="1" hangingPunct="1"/>
            <a:r>
              <a:rPr lang="en-US" altLang="zh-TW"/>
              <a:t>In our example</a:t>
            </a:r>
          </a:p>
          <a:p>
            <a:pPr lvl="1" eaLnBrk="1" hangingPunct="1"/>
            <a:r>
              <a:rPr lang="en-US" altLang="zh-TW" i="1">
                <a:solidFill>
                  <a:srgbClr val="FF0000"/>
                </a:solidFill>
              </a:rPr>
              <a:t>pc0, pc1</a:t>
            </a:r>
            <a:r>
              <a:rPr lang="en-US" altLang="zh-TW"/>
              <a:t> are control variables.</a:t>
            </a:r>
          </a:p>
          <a:p>
            <a:pPr lvl="1" eaLnBrk="1" hangingPunct="1"/>
            <a:r>
              <a:rPr lang="en-US" altLang="zh-TW" i="1">
                <a:solidFill>
                  <a:srgbClr val="FF0000"/>
                </a:solidFill>
              </a:rPr>
              <a:t>turn</a:t>
            </a:r>
            <a:r>
              <a:rPr lang="en-US" altLang="zh-TW"/>
              <a:t> is a shared data variable.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state examples: (pc0=1,pc1=2,turn=0), (pc0=2,pc1=2,turn=1), ….</a:t>
            </a:r>
          </a:p>
          <a:p>
            <a:pPr eaLnBrk="1" hangingPunct="1"/>
            <a:r>
              <a:rPr lang="en-US" altLang="zh-TW"/>
              <a:t>To generate a finite state transition system</a:t>
            </a:r>
          </a:p>
          <a:p>
            <a:pPr lvl="1" eaLnBrk="1" hangingPunct="1"/>
            <a:r>
              <a:rPr lang="en-US" altLang="zh-TW"/>
              <a:t>Data variables must have finite types, and </a:t>
            </a:r>
          </a:p>
          <a:p>
            <a:pPr lvl="1" eaLnBrk="1" hangingPunct="1"/>
            <a:r>
              <a:rPr lang="en-US" altLang="zh-TW"/>
              <a:t>Finitely many control locations 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編號版面配置區 5">
            <a:extLst>
              <a:ext uri="{FF2B5EF4-FFF2-40B4-BE49-F238E27FC236}">
                <a16:creationId xmlns:a16="http://schemas.microsoft.com/office/drawing/2014/main" id="{35471EFE-2C00-49FD-81FF-F22D8861C9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334223-771B-4CED-B211-79A199C74CE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D67E232-E095-4DD1-86AF-903C344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Program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Kripke structure </a:t>
            </a:r>
            <a:br>
              <a:rPr lang="en-US" altLang="zh-TW"/>
            </a:br>
            <a:r>
              <a:rPr lang="en-US" altLang="zh-TW" sz="3600"/>
              <a:t>- Data variables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AE32F5F-72EA-4E6C-931A-88757E6B8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Data variables often do not have finite types</a:t>
            </a:r>
          </a:p>
          <a:p>
            <a:pPr eaLnBrk="1" hangingPunct="1"/>
            <a:r>
              <a:rPr lang="en-US" altLang="zh-TW"/>
              <a:t>integer, </a:t>
            </a:r>
            <a:r>
              <a:rPr lang="en-US" altLang="zh-TW">
                <a:latin typeface="Times New Roman" panose="02020603050405020304" pitchFamily="18" charset="0"/>
              </a:rPr>
              <a:t>…</a:t>
            </a:r>
            <a:endParaRPr lang="en-US" altLang="zh-TW"/>
          </a:p>
          <a:p>
            <a:pPr eaLnBrk="1" hangingPunct="1"/>
            <a:r>
              <a:rPr lang="en-US" altLang="zh-TW"/>
              <a:t>Usually </a:t>
            </a:r>
            <a:r>
              <a:rPr lang="en-US" altLang="zh-TW">
                <a:solidFill>
                  <a:srgbClr val="FF0000"/>
                </a:solidFill>
              </a:rPr>
              <a:t>abstracted</a:t>
            </a:r>
            <a:r>
              <a:rPr lang="en-US" altLang="zh-TW"/>
              <a:t> into a finite type.</a:t>
            </a:r>
          </a:p>
          <a:p>
            <a:pPr eaLnBrk="1" hangingPunct="1"/>
            <a:r>
              <a:rPr lang="en-US" altLang="zh-TW"/>
              <a:t>An integer variable can be abstracted to {-,0,+}</a:t>
            </a:r>
          </a:p>
          <a:p>
            <a:pPr eaLnBrk="1" hangingPunct="1"/>
            <a:r>
              <a:rPr lang="en-US" altLang="zh-TW"/>
              <a:t>Just store the information about the sign of the variable. (coming up with these abstractions is a whole new problem).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編號版面配置區 5">
            <a:extLst>
              <a:ext uri="{FF2B5EF4-FFF2-40B4-BE49-F238E27FC236}">
                <a16:creationId xmlns:a16="http://schemas.microsoft.com/office/drawing/2014/main" id="{0BE85DC8-F088-4E54-AE8F-513F0E1561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2A3EDE-3A0C-4EEE-BD2C-368C21099AD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CC71220-C7C0-4002-BA90-A337DF64E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Program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Kripke structure </a:t>
            </a:r>
            <a:br>
              <a:rPr lang="en-US" altLang="zh-TW"/>
            </a:br>
            <a:r>
              <a:rPr lang="en-US" altLang="zh-TW" sz="3600"/>
              <a:t>- Control Locations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5E3E4DF-0E42-4C44-B4B5-01F6FAD74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Isn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t the control locations of a program always finite ?</a:t>
            </a:r>
          </a:p>
          <a:p>
            <a:pPr eaLnBrk="1" hangingPunct="1"/>
            <a:r>
              <a:rPr lang="en-US" altLang="zh-TW"/>
              <a:t>NO, because your program may be a concurrent program with unboundedly many processes or threads (</a:t>
            </a:r>
            <a:r>
              <a:rPr lang="en-US" altLang="zh-TW">
                <a:solidFill>
                  <a:srgbClr val="FF0000"/>
                </a:solidFill>
              </a:rPr>
              <a:t>parameterized system</a:t>
            </a:r>
            <a:r>
              <a:rPr lang="en-US" altLang="zh-TW"/>
              <a:t>).</a:t>
            </a:r>
          </a:p>
          <a:p>
            <a:pPr eaLnBrk="1" hangingPunct="1"/>
            <a:r>
              <a:rPr lang="en-US" altLang="zh-TW"/>
              <a:t>Can employ control abstractions (such as symmetry reduction)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編號版面配置區 5">
            <a:extLst>
              <a:ext uri="{FF2B5EF4-FFF2-40B4-BE49-F238E27FC236}">
                <a16:creationId xmlns:a16="http://schemas.microsoft.com/office/drawing/2014/main" id="{A0E77203-CECC-4186-BEA6-4660D056D0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715729-9D46-446A-A775-983C51A9AEC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12B242C-8C3F-4BEE-96B3-2C3C83884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Program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Kripke structure </a:t>
            </a:r>
            <a:br>
              <a:rPr lang="en-US" altLang="zh-TW"/>
            </a:br>
            <a:r>
              <a:rPr lang="en-US" altLang="zh-TW" sz="3600"/>
              <a:t>- States and Transitions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B1BDC47-E089-4885-9C14-6ACDAF5EB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Each component makes a move at every step.</a:t>
            </a:r>
          </a:p>
          <a:p>
            <a:pPr eaLnBrk="1" hangingPunct="1"/>
            <a:r>
              <a:rPr lang="en-US" altLang="zh-TW"/>
              <a:t>Digital circuits are most often </a:t>
            </a:r>
            <a:r>
              <a:rPr lang="en-US" altLang="zh-TW" i="1"/>
              <a:t>synchronous</a:t>
            </a:r>
            <a:r>
              <a:rPr lang="en-US" altLang="zh-TW"/>
              <a:t>.</a:t>
            </a:r>
          </a:p>
          <a:p>
            <a:pPr lvl="1" eaLnBrk="1" hangingPunct="1"/>
            <a:r>
              <a:rPr lang="en-US" altLang="zh-TW"/>
              <a:t>Common clock driving the system.</a:t>
            </a:r>
          </a:p>
          <a:p>
            <a:pPr lvl="1" eaLnBrk="1" hangingPunct="1"/>
            <a:r>
              <a:rPr lang="en-US" altLang="zh-TW"/>
              <a:t>Contents of flip-flops define the states.</a:t>
            </a:r>
          </a:p>
          <a:p>
            <a:pPr lvl="1" eaLnBrk="1" hangingPunct="1"/>
            <a:r>
              <a:rPr lang="en-US" altLang="zh-TW"/>
              <a:t>On every clock pulse, the content of every flip-flop (potentially) changes.</a:t>
            </a:r>
          </a:p>
          <a:p>
            <a:pPr eaLnBrk="1" hangingPunct="1"/>
            <a:r>
              <a:rPr lang="en-US" altLang="zh-TW"/>
              <a:t>This change is captured by the transition relation.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編號版面配置區 5">
            <a:extLst>
              <a:ext uri="{FF2B5EF4-FFF2-40B4-BE49-F238E27FC236}">
                <a16:creationId xmlns:a16="http://schemas.microsoft.com/office/drawing/2014/main" id="{03289041-2139-4069-B5D9-E69739B8C4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2221E0-6967-406A-AD5E-6075497D369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2484D20-C20C-4637-9856-FB955BE3E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Program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en-US" altLang="zh-TW"/>
              <a:t>Kripke structure </a:t>
            </a:r>
            <a:br>
              <a:rPr lang="en-US" altLang="zh-TW"/>
            </a:br>
            <a:r>
              <a:rPr lang="en-US" altLang="zh-TW" sz="3600"/>
              <a:t>- States and Transitions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828C451-887F-4B21-A3AB-285985681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Define V={v</a:t>
            </a:r>
            <a:r>
              <a:rPr lang="en-US" altLang="zh-TW" baseline="-25000"/>
              <a:t>1</a:t>
            </a:r>
            <a:r>
              <a:rPr lang="en-US" altLang="zh-TW"/>
              <a:t>,…,v</a:t>
            </a:r>
            <a:r>
              <a:rPr lang="en-US" altLang="zh-TW" baseline="-25000"/>
              <a:t>n</a:t>
            </a:r>
            <a:r>
              <a:rPr lang="en-US" altLang="zh-TW"/>
              <a:t>}, boolean variables representing state of flip-flops in the circuit.</a:t>
            </a:r>
          </a:p>
          <a:p>
            <a:pPr eaLnBrk="1" hangingPunct="1"/>
            <a:r>
              <a:rPr lang="en-US" altLang="zh-TW"/>
              <a:t>Set of states represented by boolean formula over v</a:t>
            </a:r>
            <a:r>
              <a:rPr lang="en-US" altLang="zh-TW" baseline="-25000"/>
              <a:t>1</a:t>
            </a:r>
            <a:r>
              <a:rPr lang="en-US" altLang="zh-TW"/>
              <a:t>,…,v</a:t>
            </a:r>
            <a:r>
              <a:rPr lang="en-US" altLang="zh-TW" baseline="-25000"/>
              <a:t>n</a:t>
            </a:r>
            <a:r>
              <a:rPr lang="en-US" altLang="zh-TW"/>
              <a:t>.</a:t>
            </a:r>
          </a:p>
          <a:p>
            <a:pPr eaLnBrk="1" hangingPunct="1"/>
            <a:r>
              <a:rPr lang="en-US" altLang="zh-TW"/>
              <a:t>To define transitions, define a fresh set of variables V’={v’</a:t>
            </a:r>
            <a:r>
              <a:rPr lang="en-US" altLang="zh-TW" baseline="-25000"/>
              <a:t>1</a:t>
            </a:r>
            <a:r>
              <a:rPr lang="en-US" altLang="zh-TW"/>
              <a:t>,…,v’</a:t>
            </a:r>
            <a:r>
              <a:rPr lang="en-US" altLang="zh-TW" baseline="-25000"/>
              <a:t>n</a:t>
            </a:r>
            <a:r>
              <a:rPr lang="en-US" altLang="zh-TW"/>
              <a:t>} . These are the next state variables.</a:t>
            </a:r>
          </a:p>
          <a:p>
            <a:pPr eaLnBrk="1" hangingPunct="1"/>
            <a:r>
              <a:rPr lang="en-US" altLang="zh-TW"/>
              <a:t>The transitions are now represented by a relation R(V,V’)</a:t>
            </a:r>
            <a:r>
              <a:rPr lang="en-US" altLang="zh-TW">
                <a:sym typeface="Symbol" panose="05050102010706020507" pitchFamily="18" charset="2"/>
              </a:rPr>
              <a:t></a:t>
            </a:r>
            <a:r>
              <a:rPr lang="en-US" altLang="zh-TW"/>
              <a:t>V</a:t>
            </a:r>
            <a:r>
              <a:rPr lang="en-US" altLang="zh-TW">
                <a:sym typeface="Symbol" panose="05050102010706020507" pitchFamily="18" charset="2"/>
              </a:rPr>
              <a:t></a:t>
            </a:r>
            <a:r>
              <a:rPr lang="en-US" altLang="zh-TW"/>
              <a:t>V’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編號版面配置區 5">
            <a:extLst>
              <a:ext uri="{FF2B5EF4-FFF2-40B4-BE49-F238E27FC236}">
                <a16:creationId xmlns:a16="http://schemas.microsoft.com/office/drawing/2014/main" id="{280A3E0F-4E67-4838-BD30-A34D4C19BF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132086-163C-4031-A79F-57D695A42B9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CE9D65C-E06D-4398-B5B4-BAB3E9564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</a:t>
            </a:r>
            <a:br>
              <a:rPr lang="en-US" altLang="zh-TW"/>
            </a:br>
            <a:r>
              <a:rPr lang="en-US" altLang="zh-TW" sz="3600"/>
              <a:t>- Transition Relation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0CED5415-3B03-4B1B-998E-0F34B4175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(s,s’)</a:t>
            </a:r>
            <a:r>
              <a:rPr lang="en-US" altLang="zh-TW">
                <a:latin typeface="Lucida Sans Unicode" panose="020B0602030504020204" pitchFamily="34" charset="0"/>
                <a:cs typeface="Lucida Sans Unicode" panose="020B0602030504020204" pitchFamily="34" charset="0"/>
              </a:rPr>
              <a:t>∈</a:t>
            </a:r>
            <a:r>
              <a:rPr lang="en-US" altLang="zh-TW"/>
              <a:t>R(V,V’) implies s </a:t>
            </a:r>
            <a:r>
              <a:rPr lang="en-US" altLang="zh-TW">
                <a:sym typeface="Wingdings" panose="05000000000000000000" pitchFamily="2" charset="2"/>
              </a:rPr>
              <a:t> s’</a:t>
            </a:r>
            <a:endParaRPr lang="en-US" altLang="zh-TW"/>
          </a:p>
          <a:p>
            <a:pPr eaLnBrk="1" hangingPunct="1"/>
            <a:r>
              <a:rPr lang="en-US" altLang="zh-TW"/>
              <a:t>Now,  R(V,V’)=</a:t>
            </a:r>
            <a:r>
              <a:rPr lang="en-US" altLang="zh-TW">
                <a:sym typeface="Symbol" panose="05050102010706020507" pitchFamily="18" charset="2"/>
              </a:rPr>
              <a:t></a:t>
            </a:r>
            <a:r>
              <a:rPr lang="en-US" altLang="zh-TW" baseline="-25000">
                <a:sym typeface="Symbol" panose="05050102010706020507" pitchFamily="18" charset="2"/>
              </a:rPr>
              <a:t>i</a:t>
            </a:r>
            <a:r>
              <a:rPr lang="en-US" altLang="zh-TW" baseline="-25000">
                <a:latin typeface="Lucida Sans Unicode" panose="020B0602030504020204" pitchFamily="34" charset="0"/>
                <a:cs typeface="Lucida Sans Unicode" panose="020B0602030504020204" pitchFamily="34" charset="0"/>
              </a:rPr>
              <a:t>∈</a:t>
            </a:r>
            <a:r>
              <a:rPr lang="en-US" altLang="zh-TW" baseline="-25000">
                <a:sym typeface="Symbol" panose="05050102010706020507" pitchFamily="18" charset="2"/>
              </a:rPr>
              <a:t>{1,…,n}</a:t>
            </a:r>
            <a:r>
              <a:rPr lang="en-US" altLang="zh-TW">
                <a:sym typeface="Symbol" panose="05050102010706020507" pitchFamily="18" charset="2"/>
              </a:rPr>
              <a:t> </a:t>
            </a:r>
            <a:r>
              <a:rPr lang="en-US" altLang="zh-TW"/>
              <a:t>R</a:t>
            </a:r>
            <a:r>
              <a:rPr lang="en-US" altLang="zh-TW" baseline="-25000"/>
              <a:t>i</a:t>
            </a:r>
            <a:r>
              <a:rPr lang="en-US" altLang="zh-TW"/>
              <a:t>(V,V’), where                captures the changes in state variable v</a:t>
            </a:r>
            <a:r>
              <a:rPr lang="en-US" altLang="zh-TW" baseline="-25000"/>
              <a:t>i</a:t>
            </a:r>
          </a:p>
          <a:p>
            <a:pPr eaLnBrk="1" hangingPunct="1"/>
            <a:r>
              <a:rPr lang="en-US" altLang="zh-TW"/>
              <a:t>Define R</a:t>
            </a:r>
            <a:r>
              <a:rPr lang="en-US" altLang="zh-TW" baseline="-25000"/>
              <a:t>i</a:t>
            </a:r>
            <a:r>
              <a:rPr lang="en-US" altLang="zh-TW"/>
              <a:t>(V,V’) =(v’</a:t>
            </a:r>
            <a:r>
              <a:rPr lang="en-US" altLang="zh-TW" baseline="-25000"/>
              <a:t>i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f</a:t>
            </a:r>
            <a:r>
              <a:rPr lang="en-US" altLang="zh-TW" baseline="-25000"/>
              <a:t>i</a:t>
            </a:r>
            <a:r>
              <a:rPr lang="en-US" altLang="zh-TW"/>
              <a:t>(V)) where f</a:t>
            </a:r>
            <a:r>
              <a:rPr lang="en-US" altLang="zh-TW" baseline="-25000"/>
              <a:t>i</a:t>
            </a:r>
            <a:r>
              <a:rPr lang="en-US" altLang="zh-TW"/>
              <a:t>(V) is a boolean function defining the value of flip-flop </a:t>
            </a:r>
            <a:r>
              <a:rPr lang="en-US" altLang="zh-TW" i="1"/>
              <a:t>i</a:t>
            </a:r>
            <a:r>
              <a:rPr lang="en-US" altLang="zh-TW"/>
              <a:t> in next state.</a:t>
            </a:r>
          </a:p>
          <a:p>
            <a:pPr eaLnBrk="1" hangingPunct="1"/>
            <a:r>
              <a:rPr lang="en-US" altLang="zh-TW"/>
              <a:t>Given a synchronous circuit, we then need to define f</a:t>
            </a:r>
            <a:r>
              <a:rPr lang="en-US" altLang="zh-TW" baseline="-25000"/>
              <a:t>i</a:t>
            </a:r>
            <a:r>
              <a:rPr lang="en-US" altLang="zh-TW"/>
              <a:t>(V) for each </a:t>
            </a:r>
            <a:r>
              <a:rPr lang="en-US" altLang="zh-TW" i="1"/>
              <a:t>i</a:t>
            </a:r>
            <a:r>
              <a:rPr lang="en-US" altLang="zh-TW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編號版面配置區 5">
            <a:extLst>
              <a:ext uri="{FF2B5EF4-FFF2-40B4-BE49-F238E27FC236}">
                <a16:creationId xmlns:a16="http://schemas.microsoft.com/office/drawing/2014/main" id="{11341C75-462D-4D1E-A017-513FEF2F0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A571FC-6D2D-4026-B0DE-7A2FA0526C2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305D2CD-3488-4E4C-8C4D-22D4DE9FD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Transition relation</a:t>
            </a:r>
            <a:br>
              <a:rPr lang="en-US" altLang="zh-TW"/>
            </a:br>
            <a:r>
              <a:rPr lang="en-US" altLang="zh-TW"/>
              <a:t>- A synchronous mod 8 counter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8E61C125-BDAA-43E3-A74B-9A2916B3E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V={v</a:t>
            </a:r>
            <a:r>
              <a:rPr lang="en-US" altLang="zh-TW" baseline="-25000"/>
              <a:t>2</a:t>
            </a:r>
            <a:r>
              <a:rPr lang="en-US" altLang="zh-TW"/>
              <a:t>,v</a:t>
            </a:r>
            <a:r>
              <a:rPr lang="en-US" altLang="zh-TW" baseline="-25000"/>
              <a:t>1</a:t>
            </a:r>
            <a:r>
              <a:rPr lang="en-US" altLang="zh-TW"/>
              <a:t>,v</a:t>
            </a:r>
            <a:r>
              <a:rPr lang="en-US" altLang="zh-TW" baseline="-25000"/>
              <a:t>0</a:t>
            </a:r>
            <a:r>
              <a:rPr lang="en-US" altLang="zh-TW"/>
              <a:t>}, where v</a:t>
            </a:r>
            <a:r>
              <a:rPr lang="en-US" altLang="zh-TW" baseline="-25000"/>
              <a:t>0</a:t>
            </a:r>
            <a:r>
              <a:rPr lang="en-US" altLang="zh-TW"/>
              <a:t> is the least significant bit.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The transitions can be enumerated as: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000</a:t>
            </a:r>
            <a:r>
              <a:rPr lang="en-US" altLang="zh-TW">
                <a:sym typeface="Wingdings" panose="05000000000000000000" pitchFamily="2" charset="2"/>
              </a:rPr>
              <a:t>001010……</a:t>
            </a:r>
            <a:endParaRPr lang="en-US" altLang="zh-TW"/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Alternatively define how each of the three bits are changed on every clock cycle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v’</a:t>
            </a:r>
            <a:r>
              <a:rPr lang="en-US" altLang="zh-TW" baseline="-25000"/>
              <a:t>0</a:t>
            </a:r>
            <a:r>
              <a:rPr lang="en-US" altLang="zh-TW"/>
              <a:t> =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/>
              <a:t>v</a:t>
            </a:r>
            <a:r>
              <a:rPr lang="en-US" altLang="zh-TW" baseline="-25000"/>
              <a:t>0 </a:t>
            </a:r>
            <a:r>
              <a:rPr lang="en-US" altLang="zh-TW"/>
              <a:t>(the least significant bit)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v’</a:t>
            </a:r>
            <a:r>
              <a:rPr lang="en-US" altLang="zh-TW" baseline="-25000"/>
              <a:t>1</a:t>
            </a:r>
            <a:r>
              <a:rPr lang="en-US" altLang="zh-TW"/>
              <a:t>=v</a:t>
            </a:r>
            <a:r>
              <a:rPr lang="en-US" altLang="zh-TW" baseline="-25000"/>
              <a:t>0</a:t>
            </a:r>
            <a:r>
              <a:rPr lang="en-US" altLang="zh-TW">
                <a:sym typeface="Symbol" panose="05050102010706020507" pitchFamily="18" charset="2"/>
              </a:rPr>
              <a:t></a:t>
            </a:r>
            <a:r>
              <a:rPr lang="en-US" altLang="zh-TW"/>
              <a:t>v</a:t>
            </a:r>
            <a:r>
              <a:rPr lang="en-US" altLang="zh-TW" baseline="-25000"/>
              <a:t>1</a:t>
            </a:r>
            <a:r>
              <a:rPr lang="en-US" altLang="zh-TW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v’</a:t>
            </a:r>
            <a:r>
              <a:rPr lang="en-US" altLang="zh-TW" baseline="-25000"/>
              <a:t>2</a:t>
            </a:r>
            <a:r>
              <a:rPr lang="en-US" altLang="zh-TW"/>
              <a:t>=(v</a:t>
            </a:r>
            <a:r>
              <a:rPr lang="en-US" altLang="zh-TW" baseline="-25000"/>
              <a:t>0</a:t>
            </a:r>
            <a:r>
              <a:rPr lang="en-US" altLang="zh-TW">
                <a:sym typeface="Symbol" panose="05050102010706020507" pitchFamily="18" charset="2"/>
              </a:rPr>
              <a:t></a:t>
            </a:r>
            <a:r>
              <a:rPr lang="en-US" altLang="zh-TW"/>
              <a:t>v1)</a:t>
            </a:r>
            <a:r>
              <a:rPr lang="en-US" altLang="zh-TW">
                <a:sym typeface="Symbol" panose="05050102010706020507" pitchFamily="18" charset="2"/>
              </a:rPr>
              <a:t></a:t>
            </a:r>
            <a:r>
              <a:rPr lang="en-US" altLang="zh-TW"/>
              <a:t>v</a:t>
            </a:r>
            <a:r>
              <a:rPr lang="en-US" altLang="zh-TW" baseline="-25000"/>
              <a:t>2</a:t>
            </a:r>
            <a:r>
              <a:rPr lang="en-US" altLang="zh-TW"/>
              <a:t> (the most significant bit)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編號版面配置區 5">
            <a:extLst>
              <a:ext uri="{FF2B5EF4-FFF2-40B4-BE49-F238E27FC236}">
                <a16:creationId xmlns:a16="http://schemas.microsoft.com/office/drawing/2014/main" id="{229B2D24-096A-484E-B66B-D3B81E529F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99273A-C64B-46C1-B296-292B1D7FFF7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56323AE-F43C-47E7-ABB8-AFA155527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example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A6400CD-9FE9-4126-8B17-D1A3323B0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Suppose there is a program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initially x==1 &amp;&amp; y==1;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while (true)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  x = (x+y) % 2;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where x and y range over </a:t>
            </a:r>
            <a:r>
              <a:rPr lang="en-US" altLang="zh-TW" i="1"/>
              <a:t>D</a:t>
            </a:r>
            <a:r>
              <a:rPr lang="en-US" altLang="zh-TW"/>
              <a:t>={0,1}</a:t>
            </a: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98A7D4C9-4DED-4BF8-88FB-09619BF4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40386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編號版面配置區 5">
            <a:extLst>
              <a:ext uri="{FF2B5EF4-FFF2-40B4-BE49-F238E27FC236}">
                <a16:creationId xmlns:a16="http://schemas.microsoft.com/office/drawing/2014/main" id="{AFFF5FE4-9464-4157-821A-5C607191DF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3D796F-BDC0-43FE-8316-0B488485825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D9DA1139-D503-44AF-8A83-D8B5D030D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example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F884A1E-5972-4D7B-8609-062297905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Suppose there is a program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initially x==1 &amp;&amp; y==1;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while (true)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  x = (x+y) % 2;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where x and y range over </a:t>
            </a:r>
            <a:r>
              <a:rPr lang="en-US" altLang="zh-TW" i="1"/>
              <a:t>D</a:t>
            </a:r>
            <a:r>
              <a:rPr lang="en-US" altLang="zh-TW"/>
              <a:t>={0,1}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000"/>
          </a:p>
        </p:txBody>
      </p:sp>
      <p:sp>
        <p:nvSpPr>
          <p:cNvPr id="63493" name="Rectangle 4">
            <a:extLst>
              <a:ext uri="{FF2B5EF4-FFF2-40B4-BE49-F238E27FC236}">
                <a16:creationId xmlns:a16="http://schemas.microsoft.com/office/drawing/2014/main" id="{695FB4A2-F3D4-4319-B05C-9E1EBA893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35814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grpSp>
        <p:nvGrpSpPr>
          <p:cNvPr id="63494" name="Group 4">
            <a:extLst>
              <a:ext uri="{FF2B5EF4-FFF2-40B4-BE49-F238E27FC236}">
                <a16:creationId xmlns:a16="http://schemas.microsoft.com/office/drawing/2014/main" id="{CA40C19D-3014-4F3A-8DED-E7E37F481F9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590800"/>
            <a:ext cx="4343400" cy="2362200"/>
            <a:chOff x="1056" y="2160"/>
            <a:chExt cx="3792" cy="1728"/>
          </a:xfrm>
        </p:grpSpPr>
        <p:sp>
          <p:nvSpPr>
            <p:cNvPr id="63495" name="Oval 5">
              <a:extLst>
                <a:ext uri="{FF2B5EF4-FFF2-40B4-BE49-F238E27FC236}">
                  <a16:creationId xmlns:a16="http://schemas.microsoft.com/office/drawing/2014/main" id="{A3E6D012-5CF0-4B21-9037-96A93DE9F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8"/>
              <a:ext cx="576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1,1</a:t>
              </a:r>
            </a:p>
          </p:txBody>
        </p:sp>
        <p:sp>
          <p:nvSpPr>
            <p:cNvPr id="63496" name="Oval 6">
              <a:extLst>
                <a:ext uri="{FF2B5EF4-FFF2-40B4-BE49-F238E27FC236}">
                  <a16:creationId xmlns:a16="http://schemas.microsoft.com/office/drawing/2014/main" id="{5F6D9F12-FF7F-4086-8A4E-E3DC5BBD9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80"/>
              <a:ext cx="576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0,1</a:t>
              </a:r>
            </a:p>
          </p:txBody>
        </p:sp>
        <p:sp>
          <p:nvSpPr>
            <p:cNvPr id="63497" name="Oval 7">
              <a:extLst>
                <a:ext uri="{FF2B5EF4-FFF2-40B4-BE49-F238E27FC236}">
                  <a16:creationId xmlns:a16="http://schemas.microsoft.com/office/drawing/2014/main" id="{0298787C-2A47-4D85-B36B-2E0C91142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96"/>
              <a:ext cx="576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0,0</a:t>
              </a:r>
            </a:p>
          </p:txBody>
        </p:sp>
        <p:sp>
          <p:nvSpPr>
            <p:cNvPr id="63498" name="Oval 8">
              <a:extLst>
                <a:ext uri="{FF2B5EF4-FFF2-40B4-BE49-F238E27FC236}">
                  <a16:creationId xmlns:a16="http://schemas.microsoft.com/office/drawing/2014/main" id="{E104DAB3-31B5-4CC8-81F5-BC263CD22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" y="3256"/>
              <a:ext cx="576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1,0</a:t>
              </a:r>
            </a:p>
          </p:txBody>
        </p:sp>
        <p:cxnSp>
          <p:nvCxnSpPr>
            <p:cNvPr id="63499" name="AutoShape 9">
              <a:extLst>
                <a:ext uri="{FF2B5EF4-FFF2-40B4-BE49-F238E27FC236}">
                  <a16:creationId xmlns:a16="http://schemas.microsoft.com/office/drawing/2014/main" id="{C9184CC9-BA69-4A7E-A33C-956A914EA93B}"/>
                </a:ext>
              </a:extLst>
            </p:cNvPr>
            <p:cNvCxnSpPr>
              <a:cxnSpLocks noChangeShapeType="1"/>
              <a:stCxn id="63495" idx="7"/>
              <a:endCxn id="63496" idx="1"/>
            </p:cNvCxnSpPr>
            <p:nvPr/>
          </p:nvCxnSpPr>
          <p:spPr bwMode="auto">
            <a:xfrm rot="-5400000">
              <a:off x="2472" y="2540"/>
              <a:ext cx="48" cy="840"/>
            </a:xfrm>
            <a:prstGeom prst="curvedConnector3">
              <a:avLst>
                <a:gd name="adj1" fmla="val 5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0" name="AutoShape 10">
              <a:extLst>
                <a:ext uri="{FF2B5EF4-FFF2-40B4-BE49-F238E27FC236}">
                  <a16:creationId xmlns:a16="http://schemas.microsoft.com/office/drawing/2014/main" id="{B42DAABC-8150-4DA0-B4C4-855426DEFF38}"/>
                </a:ext>
              </a:extLst>
            </p:cNvPr>
            <p:cNvCxnSpPr>
              <a:cxnSpLocks noChangeShapeType="1"/>
              <a:stCxn id="63496" idx="3"/>
              <a:endCxn id="63495" idx="5"/>
            </p:cNvCxnSpPr>
            <p:nvPr/>
          </p:nvCxnSpPr>
          <p:spPr bwMode="auto">
            <a:xfrm rot="5400000">
              <a:off x="2472" y="2812"/>
              <a:ext cx="48" cy="840"/>
            </a:xfrm>
            <a:prstGeom prst="curvedConnector3">
              <a:avLst>
                <a:gd name="adj1" fmla="val 5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01" name="Line 11">
              <a:extLst>
                <a:ext uri="{FF2B5EF4-FFF2-40B4-BE49-F238E27FC236}">
                  <a16:creationId xmlns:a16="http://schemas.microsoft.com/office/drawing/2014/main" id="{B72CDB7E-899A-4438-9A81-C3FDD3ACC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cxnSp>
          <p:nvCxnSpPr>
            <p:cNvPr id="63502" name="AutoShape 12">
              <a:extLst>
                <a:ext uri="{FF2B5EF4-FFF2-40B4-BE49-F238E27FC236}">
                  <a16:creationId xmlns:a16="http://schemas.microsoft.com/office/drawing/2014/main" id="{17A29E59-F4EC-4A5A-AA8F-921C32506DBB}"/>
                </a:ext>
              </a:extLst>
            </p:cNvPr>
            <p:cNvCxnSpPr>
              <a:cxnSpLocks noChangeShapeType="1"/>
              <a:stCxn id="63497" idx="7"/>
              <a:endCxn id="63497" idx="5"/>
            </p:cNvCxnSpPr>
            <p:nvPr/>
          </p:nvCxnSpPr>
          <p:spPr bwMode="auto">
            <a:xfrm rot="5400000" flipV="1">
              <a:off x="3909" y="2687"/>
              <a:ext cx="272" cy="1"/>
            </a:xfrm>
            <a:prstGeom prst="curvedConnector5">
              <a:avLst>
                <a:gd name="adj1" fmla="val -73528"/>
                <a:gd name="adj2" fmla="val 63600014"/>
                <a:gd name="adj3" fmla="val 17352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503" name="AutoShape 13">
              <a:extLst>
                <a:ext uri="{FF2B5EF4-FFF2-40B4-BE49-F238E27FC236}">
                  <a16:creationId xmlns:a16="http://schemas.microsoft.com/office/drawing/2014/main" id="{CF34E3C5-26ED-4C92-B684-894BD2C45B63}"/>
                </a:ext>
              </a:extLst>
            </p:cNvPr>
            <p:cNvCxnSpPr>
              <a:cxnSpLocks noChangeShapeType="1"/>
              <a:stCxn id="63498" idx="1"/>
              <a:endCxn id="63498" idx="3"/>
            </p:cNvCxnSpPr>
            <p:nvPr/>
          </p:nvCxnSpPr>
          <p:spPr bwMode="auto">
            <a:xfrm rot="5400000" flipV="1">
              <a:off x="4041" y="3447"/>
              <a:ext cx="272" cy="1"/>
            </a:xfrm>
            <a:prstGeom prst="curvedConnector5">
              <a:avLst>
                <a:gd name="adj1" fmla="val -73528"/>
                <a:gd name="adj2" fmla="val -63600014"/>
                <a:gd name="adj3" fmla="val 17352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04" name="Rectangle 14">
              <a:extLst>
                <a:ext uri="{FF2B5EF4-FFF2-40B4-BE49-F238E27FC236}">
                  <a16:creationId xmlns:a16="http://schemas.microsoft.com/office/drawing/2014/main" id="{E05C1E88-5000-44A4-A4F5-B8426E506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3792" cy="17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編號版面配置區 5">
            <a:extLst>
              <a:ext uri="{FF2B5EF4-FFF2-40B4-BE49-F238E27FC236}">
                <a16:creationId xmlns:a16="http://schemas.microsoft.com/office/drawing/2014/main" id="{FC476A1F-3383-4983-9589-58E3AEDC05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C8938E-9D1B-43FC-A218-90F566B39A5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F32C7AA-AA33-4AFB-93CF-6D8739436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example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DC731CA-A513-4830-A8B9-29644FBD5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Suppose there is a program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initially x==1 &amp;&amp; y==1;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while (true)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  x = (x+y) % 2;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where x and y range over </a:t>
            </a:r>
            <a:r>
              <a:rPr lang="en-US" altLang="zh-TW" i="1"/>
              <a:t>D</a:t>
            </a:r>
            <a:r>
              <a:rPr lang="en-US" altLang="zh-TW"/>
              <a:t>={0,1}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000"/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A114C296-D56A-44E3-83BE-C2DBFB5D0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37338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5542" name="文字方塊 17">
            <a:extLst>
              <a:ext uri="{FF2B5EF4-FFF2-40B4-BE49-F238E27FC236}">
                <a16:creationId xmlns:a16="http://schemas.microsoft.com/office/drawing/2014/main" id="{6190CC7F-788F-48FF-B22C-A4AE1925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133600"/>
            <a:ext cx="46482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S</a:t>
            </a:r>
            <a:r>
              <a:rPr lang="en-US" altLang="zh-TW" sz="2400">
                <a:solidFill>
                  <a:srgbClr val="0000FF"/>
                </a:solidFill>
              </a:rPr>
              <a:t>=</a:t>
            </a:r>
            <a:r>
              <a:rPr lang="en-US" altLang="zh-TW" sz="2400" i="1">
                <a:solidFill>
                  <a:srgbClr val="0000FF"/>
                </a:solidFill>
              </a:rPr>
              <a:t>D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i="1">
                <a:solidFill>
                  <a:srgbClr val="0000FF"/>
                </a:solidFill>
              </a:rPr>
              <a:t>D</a:t>
            </a:r>
            <a:r>
              <a:rPr lang="en-US" altLang="zh-TW" sz="2400">
                <a:solidFill>
                  <a:srgbClr val="0000FF"/>
                </a:solidFill>
              </a:rPr>
              <a:t> ={(0,0),(0,1),(1,0),(1,1)}</a:t>
            </a:r>
            <a:endParaRPr lang="en-US" altLang="zh-TW" sz="2400" i="1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S</a:t>
            </a:r>
            <a:r>
              <a:rPr lang="en-US" altLang="zh-TW" sz="2400" i="1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={(1,1)}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R</a:t>
            </a:r>
            <a:r>
              <a:rPr lang="en-US" altLang="zh-TW" sz="2400">
                <a:solidFill>
                  <a:srgbClr val="0000FF"/>
                </a:solidFill>
              </a:rPr>
              <a:t>={((1,1),(0,1)),((0,1),(1,1)),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      ((1,0),(1,0)),((0,0),(0,0))}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L((1,1))={x=1,y=1},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L((0,1))={x=0,y=1},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L((1,0))={x=1,y=0},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L((0,0))={x=0,y=0}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編號版面配置區 5">
            <a:extLst>
              <a:ext uri="{FF2B5EF4-FFF2-40B4-BE49-F238E27FC236}">
                <a16:creationId xmlns:a16="http://schemas.microsoft.com/office/drawing/2014/main" id="{83B5FE02-346A-4B0E-9557-548A33FFA2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FCDBFF-FCE2-4761-89A3-743E16B92A0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628E37D-F047-4F35-8322-E337D8AF0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example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67EE6478-DC8D-447C-BD2E-92A232704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Suppose there is a program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initially x==1 &amp;&amp; y==1;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while (true)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  x = (x+y) % 2;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where x and y range over </a:t>
            </a:r>
            <a:r>
              <a:rPr lang="en-US" altLang="zh-TW" i="1"/>
              <a:t>D</a:t>
            </a:r>
            <a:r>
              <a:rPr lang="en-US" altLang="zh-TW"/>
              <a:t>={0,1}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000"/>
          </a:p>
        </p:txBody>
      </p:sp>
      <p:sp>
        <p:nvSpPr>
          <p:cNvPr id="67589" name="Rectangle 4">
            <a:extLst>
              <a:ext uri="{FF2B5EF4-FFF2-40B4-BE49-F238E27FC236}">
                <a16:creationId xmlns:a16="http://schemas.microsoft.com/office/drawing/2014/main" id="{4217581C-1CE9-4A1A-A28B-5174BC5CC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37338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7590" name="文字方塊 17">
            <a:extLst>
              <a:ext uri="{FF2B5EF4-FFF2-40B4-BE49-F238E27FC236}">
                <a16:creationId xmlns:a16="http://schemas.microsoft.com/office/drawing/2014/main" id="{2FD979CD-1787-422C-A84E-38DE85A81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133600"/>
            <a:ext cx="46482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S</a:t>
            </a:r>
            <a:r>
              <a:rPr lang="en-US" altLang="zh-TW" sz="2400">
                <a:solidFill>
                  <a:srgbClr val="0000FF"/>
                </a:solidFill>
              </a:rPr>
              <a:t>=</a:t>
            </a:r>
            <a:r>
              <a:rPr lang="en-US" altLang="zh-TW" sz="2400" i="1">
                <a:solidFill>
                  <a:srgbClr val="0000FF"/>
                </a:solidFill>
              </a:rPr>
              <a:t>D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i="1">
                <a:solidFill>
                  <a:srgbClr val="0000FF"/>
                </a:solidFill>
              </a:rPr>
              <a:t>D</a:t>
            </a:r>
            <a:r>
              <a:rPr lang="en-US" altLang="zh-TW" sz="2400">
                <a:solidFill>
                  <a:srgbClr val="0000FF"/>
                </a:solidFill>
              </a:rPr>
              <a:t> ={a,b,c,d}</a:t>
            </a:r>
            <a:endParaRPr lang="en-US" altLang="zh-TW" sz="2400" i="1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S</a:t>
            </a:r>
            <a:r>
              <a:rPr lang="en-US" altLang="zh-TW" sz="2400" i="1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={a}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0000FF"/>
                </a:solidFill>
              </a:rPr>
              <a:t>R</a:t>
            </a:r>
            <a:r>
              <a:rPr lang="en-US" altLang="zh-TW" sz="2400">
                <a:solidFill>
                  <a:srgbClr val="0000FF"/>
                </a:solidFill>
              </a:rPr>
              <a:t>={(a,b),(b,a),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      (c,c),(d,d)}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L(a)={x=1,y=1},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L(b)={x=0,y=1},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L(c)={x=1,y=0},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L(d)={x=0,y=0}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編號版面配置區 5">
            <a:extLst>
              <a:ext uri="{FF2B5EF4-FFF2-40B4-BE49-F238E27FC236}">
                <a16:creationId xmlns:a16="http://schemas.microsoft.com/office/drawing/2014/main" id="{8EE516B6-48CB-4976-B814-C9113249F2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9DD753-B65C-4DD6-8315-66C93C30525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306AB40-C249-4D11-BC06-F29A21C05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Workout </a:t>
            </a:r>
            <a:br>
              <a:rPr lang="en-US" altLang="zh-TW" sz="3800"/>
            </a:br>
            <a:r>
              <a:rPr lang="en-US" altLang="zh-TW" sz="3800"/>
              <a:t> - Kripke Structure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5DC315BA-A037-44AF-A14B-0FEE3EECE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Suppose there is a program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initially x==1 &amp;&amp; y==1;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while (true)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/>
              <a:t>  x = (x+y) % 3;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where x and y range over </a:t>
            </a:r>
            <a:r>
              <a:rPr lang="en-US" altLang="zh-TW" i="1"/>
              <a:t>D</a:t>
            </a:r>
            <a:r>
              <a:rPr lang="en-US" altLang="zh-TW"/>
              <a:t>=[0,2]</a:t>
            </a:r>
          </a:p>
        </p:txBody>
      </p:sp>
      <p:sp>
        <p:nvSpPr>
          <p:cNvPr id="69637" name="Rectangle 4">
            <a:extLst>
              <a:ext uri="{FF2B5EF4-FFF2-40B4-BE49-F238E27FC236}">
                <a16:creationId xmlns:a16="http://schemas.microsoft.com/office/drawing/2014/main" id="{EEEB8A71-A165-4C42-A38B-395472CD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4343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編號版面配置區 4">
            <a:extLst>
              <a:ext uri="{FF2B5EF4-FFF2-40B4-BE49-F238E27FC236}">
                <a16:creationId xmlns:a16="http://schemas.microsoft.com/office/drawing/2014/main" id="{E0AF0C69-5F4D-45F1-B23E-B0E36E6D25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065086-30E2-4503-9E0F-FCB60274703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3748C96-7AE3-4CA0-B3C6-560545E4C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an example</a:t>
            </a:r>
          </a:p>
        </p:txBody>
      </p:sp>
      <p:sp>
        <p:nvSpPr>
          <p:cNvPr id="71684" name="Text Box 3">
            <a:extLst>
              <a:ext uri="{FF2B5EF4-FFF2-40B4-BE49-F238E27FC236}">
                <a16:creationId xmlns:a16="http://schemas.microsoft.com/office/drawing/2014/main" id="{4247AF17-09A4-4BC9-B63E-74672289F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1792288"/>
            <a:ext cx="246856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/>
              <a:t>Initially x=0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/>
              <a:t>While (true)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/>
              <a:t>  x:=1-x;</a:t>
            </a:r>
          </a:p>
        </p:txBody>
      </p:sp>
      <p:sp>
        <p:nvSpPr>
          <p:cNvPr id="71685" name="Line 4">
            <a:extLst>
              <a:ext uri="{FF2B5EF4-FFF2-40B4-BE49-F238E27FC236}">
                <a16:creationId xmlns:a16="http://schemas.microsoft.com/office/drawing/2014/main" id="{3433AE1E-A248-4A1B-8369-19E3E50A4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860800"/>
            <a:ext cx="5048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6" name="Rectangle 5">
            <a:extLst>
              <a:ext uri="{FF2B5EF4-FFF2-40B4-BE49-F238E27FC236}">
                <a16:creationId xmlns:a16="http://schemas.microsoft.com/office/drawing/2014/main" id="{4E2F98B5-0B00-4964-95FB-E2BDB02C7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364038"/>
            <a:ext cx="1584325" cy="93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X=0</a:t>
            </a:r>
          </a:p>
        </p:txBody>
      </p:sp>
      <p:sp>
        <p:nvSpPr>
          <p:cNvPr id="71687" name="Line 6">
            <a:extLst>
              <a:ext uri="{FF2B5EF4-FFF2-40B4-BE49-F238E27FC236}">
                <a16:creationId xmlns:a16="http://schemas.microsoft.com/office/drawing/2014/main" id="{F85CCACA-80BE-49CD-A7C3-534C62B2E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4581525"/>
            <a:ext cx="2089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8" name="Line 7">
            <a:extLst>
              <a:ext uri="{FF2B5EF4-FFF2-40B4-BE49-F238E27FC236}">
                <a16:creationId xmlns:a16="http://schemas.microsoft.com/office/drawing/2014/main" id="{6874AFB3-38D8-4626-80E2-E187AF454D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5157788"/>
            <a:ext cx="2089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1689" name="Rectangle 8">
            <a:extLst>
              <a:ext uri="{FF2B5EF4-FFF2-40B4-BE49-F238E27FC236}">
                <a16:creationId xmlns:a16="http://schemas.microsoft.com/office/drawing/2014/main" id="{4047DBDA-4D43-47CE-A8D9-A568EEDF9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365625"/>
            <a:ext cx="1584325" cy="93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X=1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編號版面配置區 5">
            <a:extLst>
              <a:ext uri="{FF2B5EF4-FFF2-40B4-BE49-F238E27FC236}">
                <a16:creationId xmlns:a16="http://schemas.microsoft.com/office/drawing/2014/main" id="{B9E6BE4E-1DB9-4B6D-8DAB-F4F6E475A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5E8770-BC07-4F75-BC2F-0F30657C23D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519F2BC-6F99-418B-BCB6-1968D8D86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example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73E48B5-0420-495F-A693-3D40FD356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2-bit counter operates at bit-level.</a:t>
            </a:r>
          </a:p>
        </p:txBody>
      </p:sp>
      <p:sp>
        <p:nvSpPr>
          <p:cNvPr id="73733" name="Oval 4">
            <a:extLst>
              <a:ext uri="{FF2B5EF4-FFF2-40B4-BE49-F238E27FC236}">
                <a16:creationId xmlns:a16="http://schemas.microsoft.com/office/drawing/2014/main" id="{F759DA78-A042-486F-A078-F85F76C07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565400"/>
            <a:ext cx="1079500" cy="10080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00</a:t>
            </a:r>
          </a:p>
        </p:txBody>
      </p:sp>
      <p:sp>
        <p:nvSpPr>
          <p:cNvPr id="73734" name="Oval 5">
            <a:extLst>
              <a:ext uri="{FF2B5EF4-FFF2-40B4-BE49-F238E27FC236}">
                <a16:creationId xmlns:a16="http://schemas.microsoft.com/office/drawing/2014/main" id="{65ADB19C-9EEF-4284-B56D-392869C9E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636838"/>
            <a:ext cx="1079500" cy="10080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73735" name="Oval 6">
            <a:extLst>
              <a:ext uri="{FF2B5EF4-FFF2-40B4-BE49-F238E27FC236}">
                <a16:creationId xmlns:a16="http://schemas.microsoft.com/office/drawing/2014/main" id="{B21A64EF-49CE-42A8-9F3B-690FF4D04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652963"/>
            <a:ext cx="1079500" cy="10080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3736" name="Oval 7">
            <a:extLst>
              <a:ext uri="{FF2B5EF4-FFF2-40B4-BE49-F238E27FC236}">
                <a16:creationId xmlns:a16="http://schemas.microsoft.com/office/drawing/2014/main" id="{D1BE95A6-8B89-4578-91FF-3CED2390B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581525"/>
            <a:ext cx="1079500" cy="10080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73737" name="Line 8">
            <a:extLst>
              <a:ext uri="{FF2B5EF4-FFF2-40B4-BE49-F238E27FC236}">
                <a16:creationId xmlns:a16="http://schemas.microsoft.com/office/drawing/2014/main" id="{90738FF7-9323-428B-BF09-462A802734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3573463"/>
            <a:ext cx="71438" cy="10080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8" name="Line 9">
            <a:extLst>
              <a:ext uri="{FF2B5EF4-FFF2-40B4-BE49-F238E27FC236}">
                <a16:creationId xmlns:a16="http://schemas.microsoft.com/office/drawing/2014/main" id="{0B65C40C-D3CC-4EA2-B7B8-8658379CE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5084763"/>
            <a:ext cx="1439862" cy="730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9" name="Line 10">
            <a:extLst>
              <a:ext uri="{FF2B5EF4-FFF2-40B4-BE49-F238E27FC236}">
                <a16:creationId xmlns:a16="http://schemas.microsoft.com/office/drawing/2014/main" id="{F9EFA7B6-55FA-4A21-8F79-D77F4A2F09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8263" y="3644900"/>
            <a:ext cx="215900" cy="10080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40" name="Line 11">
            <a:extLst>
              <a:ext uri="{FF2B5EF4-FFF2-40B4-BE49-F238E27FC236}">
                <a16:creationId xmlns:a16="http://schemas.microsoft.com/office/drawing/2014/main" id="{44528F5C-231E-4A19-8972-26D54B715E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3575" y="3068638"/>
            <a:ext cx="1584325" cy="730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41" name="Text Box 12">
            <a:extLst>
              <a:ext uri="{FF2B5EF4-FFF2-40B4-BE49-F238E27FC236}">
                <a16:creationId xmlns:a16="http://schemas.microsoft.com/office/drawing/2014/main" id="{0CD0F8DE-CBC4-4377-9BEB-EB44C26E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85273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  <a:r>
              <a:rPr lang="en-US" altLang="zh-TW" sz="2400" baseline="-25000">
                <a:latin typeface="Times New Roman" panose="02020603050405020304" pitchFamily="18" charset="0"/>
              </a:rPr>
              <a:t>1</a:t>
            </a:r>
            <a:r>
              <a:rPr lang="en-US" altLang="zh-TW" sz="2400">
                <a:latin typeface="Times New Roman" panose="02020603050405020304" pitchFamily="18" charset="0"/>
              </a:rPr>
              <a:t>, b</a:t>
            </a:r>
            <a:r>
              <a:rPr lang="en-US" altLang="zh-TW" sz="2400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3742" name="Line 13">
            <a:extLst>
              <a:ext uri="{FF2B5EF4-FFF2-40B4-BE49-F238E27FC236}">
                <a16:creationId xmlns:a16="http://schemas.microsoft.com/office/drawing/2014/main" id="{D52844E7-D124-4F20-8FFE-1784B4148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6096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編號版面配置區 5">
            <a:extLst>
              <a:ext uri="{FF2B5EF4-FFF2-40B4-BE49-F238E27FC236}">
                <a16:creationId xmlns:a16="http://schemas.microsoft.com/office/drawing/2014/main" id="{89AECD34-182B-409D-B7A7-C2BF1F073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7BD40E-891C-459D-A676-79A20F1C3DB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C61D35E-F878-4079-A630-F70874891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</a:t>
            </a:r>
            <a:br>
              <a:rPr lang="en-US" altLang="zh-TW" sz="3800"/>
            </a:br>
            <a:r>
              <a:rPr lang="en-US" altLang="zh-TW" sz="3800"/>
              <a:t> - workout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99B43A3-8302-49CF-A55B-3922556AD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Write a simple program for the Kripke structures in the last page. </a:t>
            </a: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51318ED5-A655-4086-B981-B6BA7D90C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67000"/>
            <a:ext cx="55626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編號版面配置區 5">
            <a:extLst>
              <a:ext uri="{FF2B5EF4-FFF2-40B4-BE49-F238E27FC236}">
                <a16:creationId xmlns:a16="http://schemas.microsoft.com/office/drawing/2014/main" id="{29C353D9-2558-40DA-8D3A-30EA8FB73C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C57DD3-4E8E-4B19-9B7D-8D7691137ED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77827" name="Text Box 25">
            <a:extLst>
              <a:ext uri="{FF2B5EF4-FFF2-40B4-BE49-F238E27FC236}">
                <a16:creationId xmlns:a16="http://schemas.microsoft.com/office/drawing/2014/main" id="{172ABE42-7135-4A78-9090-CC9FD1982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8305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chemeClr val="tx2"/>
                </a:solidFill>
                <a:latin typeface="Garamond" panose="02020404030301010803" pitchFamily="18" charset="0"/>
              </a:rPr>
              <a:t>Kripke Structure</a:t>
            </a:r>
            <a:br>
              <a:rPr lang="en-US" altLang="zh-TW" sz="400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altLang="zh-TW" sz="4000">
                <a:solidFill>
                  <a:schemeClr val="tx2"/>
                </a:solidFill>
                <a:latin typeface="Garamond" panose="02020404030301010803" pitchFamily="18" charset="0"/>
              </a:rPr>
              <a:t> - </a:t>
            </a:r>
            <a:r>
              <a:rPr kumimoji="0" lang="en-US" altLang="zh-TW" sz="4000">
                <a:latin typeface="Garamond" panose="02020404030301010803" pitchFamily="18" charset="0"/>
              </a:rPr>
              <a:t>difference from automata</a:t>
            </a:r>
          </a:p>
        </p:txBody>
      </p:sp>
      <p:sp>
        <p:nvSpPr>
          <p:cNvPr id="77828" name="Rectangle 26">
            <a:extLst>
              <a:ext uri="{FF2B5EF4-FFF2-40B4-BE49-F238E27FC236}">
                <a16:creationId xmlns:a16="http://schemas.microsoft.com/office/drawing/2014/main" id="{03E2E02D-573F-4D06-B976-A663F9B64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FF0000"/>
                </a:solidFill>
              </a:rPr>
              <a:t>Kripke structures: (S,S</a:t>
            </a:r>
            <a:r>
              <a:rPr lang="en-US" altLang="zh-TW" baseline="-25000">
                <a:solidFill>
                  <a:srgbClr val="FF0000"/>
                </a:solidFill>
              </a:rPr>
              <a:t>0</a:t>
            </a:r>
            <a:r>
              <a:rPr lang="en-US" altLang="zh-TW">
                <a:solidFill>
                  <a:srgbClr val="FF0000"/>
                </a:solidFill>
              </a:rPr>
              <a:t>,R,L)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({p,q},{p},{(p,q),(q,p)},{L(p)=a,L(q)=b})</a:t>
            </a:r>
          </a:p>
          <a:p>
            <a:pPr eaLnBrk="1" hangingPunct="1"/>
            <a:r>
              <a:rPr lang="en-US" altLang="zh-TW"/>
              <a:t>no arc labels</a:t>
            </a:r>
          </a:p>
        </p:txBody>
      </p:sp>
      <p:grpSp>
        <p:nvGrpSpPr>
          <p:cNvPr id="77829" name="Group 31">
            <a:extLst>
              <a:ext uri="{FF2B5EF4-FFF2-40B4-BE49-F238E27FC236}">
                <a16:creationId xmlns:a16="http://schemas.microsoft.com/office/drawing/2014/main" id="{F4A90FFA-1ED2-466D-B3D5-568904622CCD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143000"/>
            <a:ext cx="914400" cy="1828800"/>
            <a:chOff x="960" y="1776"/>
            <a:chExt cx="576" cy="1152"/>
          </a:xfrm>
        </p:grpSpPr>
        <p:sp>
          <p:nvSpPr>
            <p:cNvPr id="77840" name="Oval 27">
              <a:extLst>
                <a:ext uri="{FF2B5EF4-FFF2-40B4-BE49-F238E27FC236}">
                  <a16:creationId xmlns:a16="http://schemas.microsoft.com/office/drawing/2014/main" id="{4F682C09-E92C-4492-9AA1-3F6FEDC31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776"/>
              <a:ext cx="480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p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a</a:t>
              </a:r>
            </a:p>
          </p:txBody>
        </p:sp>
        <p:sp>
          <p:nvSpPr>
            <p:cNvPr id="77841" name="Oval 28">
              <a:extLst>
                <a:ext uri="{FF2B5EF4-FFF2-40B4-BE49-F238E27FC236}">
                  <a16:creationId xmlns:a16="http://schemas.microsoft.com/office/drawing/2014/main" id="{8467D34C-F00B-4ACE-AD6C-34A8E14D6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480" cy="3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q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/>
                <a:t>b</a:t>
              </a:r>
            </a:p>
          </p:txBody>
        </p:sp>
        <p:cxnSp>
          <p:nvCxnSpPr>
            <p:cNvPr id="77842" name="AutoShape 29">
              <a:extLst>
                <a:ext uri="{FF2B5EF4-FFF2-40B4-BE49-F238E27FC236}">
                  <a16:creationId xmlns:a16="http://schemas.microsoft.com/office/drawing/2014/main" id="{DEE0A6C7-AA19-48B7-94E6-076962495AE6}"/>
                </a:ext>
              </a:extLst>
            </p:cNvPr>
            <p:cNvCxnSpPr>
              <a:cxnSpLocks noChangeShapeType="1"/>
              <a:stCxn id="77840" idx="2"/>
              <a:endCxn id="77841" idx="2"/>
            </p:cNvCxnSpPr>
            <p:nvPr/>
          </p:nvCxnSpPr>
          <p:spPr bwMode="auto">
            <a:xfrm rot="10800000" flipH="1" flipV="1">
              <a:off x="960" y="1968"/>
              <a:ext cx="96" cy="768"/>
            </a:xfrm>
            <a:prstGeom prst="bentConnector3">
              <a:avLst>
                <a:gd name="adj1" fmla="val -1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43" name="AutoShape 30">
              <a:extLst>
                <a:ext uri="{FF2B5EF4-FFF2-40B4-BE49-F238E27FC236}">
                  <a16:creationId xmlns:a16="http://schemas.microsoft.com/office/drawing/2014/main" id="{F228F757-3B50-45FE-90C1-3C78D5E0C14D}"/>
                </a:ext>
              </a:extLst>
            </p:cNvPr>
            <p:cNvCxnSpPr>
              <a:cxnSpLocks noChangeShapeType="1"/>
              <a:stCxn id="77841" idx="6"/>
              <a:endCxn id="77840" idx="6"/>
            </p:cNvCxnSpPr>
            <p:nvPr/>
          </p:nvCxnSpPr>
          <p:spPr bwMode="auto">
            <a:xfrm flipH="1" flipV="1">
              <a:off x="1440" y="1968"/>
              <a:ext cx="96" cy="768"/>
            </a:xfrm>
            <a:prstGeom prst="bentConnector3">
              <a:avLst>
                <a:gd name="adj1" fmla="val -1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7830" name="Rectangle 32">
            <a:extLst>
              <a:ext uri="{FF2B5EF4-FFF2-40B4-BE49-F238E27FC236}">
                <a16:creationId xmlns:a16="http://schemas.microsoft.com/office/drawing/2014/main" id="{C5BBB1D5-274B-481D-A39A-A77EA9027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14800"/>
            <a:ext cx="6324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FF0000"/>
                </a:solidFill>
              </a:rPr>
              <a:t>automata: (S,S</a:t>
            </a:r>
            <a:r>
              <a:rPr lang="en-US" altLang="zh-TW" baseline="-25000">
                <a:solidFill>
                  <a:srgbClr val="FF0000"/>
                </a:solidFill>
              </a:rPr>
              <a:t>0</a:t>
            </a:r>
            <a:r>
              <a:rPr lang="en-US" altLang="zh-TW">
                <a:solidFill>
                  <a:srgbClr val="FF0000"/>
                </a:solidFill>
              </a:rPr>
              <a:t>,</a:t>
            </a:r>
            <a:r>
              <a:rPr lang="el-GR" altLang="zh-TW">
                <a:solidFill>
                  <a:srgbClr val="FF0000"/>
                </a:solidFill>
                <a:cs typeface="Arial" panose="020B0604020202020204" pitchFamily="34" charset="0"/>
              </a:rPr>
              <a:t>δ</a:t>
            </a:r>
            <a:r>
              <a:rPr lang="en-US" altLang="zh-TW">
                <a:solidFill>
                  <a:srgbClr val="FF0000"/>
                </a:solidFill>
                <a:cs typeface="Arial" panose="020B0604020202020204" pitchFamily="34" charset="0"/>
              </a:rPr>
              <a:t>,F)</a:t>
            </a:r>
            <a:endParaRPr lang="el-GR" altLang="zh-TW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({i,p,q},{i},{</a:t>
            </a:r>
            <a:r>
              <a:rPr lang="el-GR" altLang="zh-TW">
                <a:cs typeface="Arial" panose="020B0604020202020204" pitchFamily="34" charset="0"/>
              </a:rPr>
              <a:t>δ</a:t>
            </a:r>
            <a:r>
              <a:rPr lang="en-US" altLang="zh-TW"/>
              <a:t>(i,a)={p}, </a:t>
            </a:r>
            <a:r>
              <a:rPr lang="el-GR" altLang="zh-TW">
                <a:cs typeface="Arial" panose="020B0604020202020204" pitchFamily="34" charset="0"/>
              </a:rPr>
              <a:t>δ</a:t>
            </a:r>
            <a:r>
              <a:rPr lang="en-US" altLang="zh-TW"/>
              <a:t>(q,a)={p}, </a:t>
            </a:r>
            <a:r>
              <a:rPr lang="el-GR" altLang="zh-TW">
                <a:cs typeface="Arial" panose="020B0604020202020204" pitchFamily="34" charset="0"/>
              </a:rPr>
              <a:t>δ</a:t>
            </a:r>
            <a:r>
              <a:rPr lang="en-US" altLang="zh-TW"/>
              <a:t>(p,b)={q}}, {q})</a:t>
            </a:r>
          </a:p>
          <a:p>
            <a:pPr eaLnBrk="1" hangingPunct="1"/>
            <a:r>
              <a:rPr lang="en-US" altLang="zh-TW"/>
              <a:t>arc labels, final states</a:t>
            </a:r>
          </a:p>
        </p:txBody>
      </p:sp>
      <p:sp>
        <p:nvSpPr>
          <p:cNvPr id="77831" name="Oval 34">
            <a:extLst>
              <a:ext uri="{FF2B5EF4-FFF2-40B4-BE49-F238E27FC236}">
                <a16:creationId xmlns:a16="http://schemas.microsoft.com/office/drawing/2014/main" id="{3ED1F363-6169-4F2D-8598-1A6D0DDD5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86200"/>
            <a:ext cx="7620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p</a:t>
            </a:r>
          </a:p>
        </p:txBody>
      </p:sp>
      <p:sp>
        <p:nvSpPr>
          <p:cNvPr id="77832" name="Oval 35">
            <a:extLst>
              <a:ext uri="{FF2B5EF4-FFF2-40B4-BE49-F238E27FC236}">
                <a16:creationId xmlns:a16="http://schemas.microsoft.com/office/drawing/2014/main" id="{4853F757-E769-497D-A656-C3D49A06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105400"/>
            <a:ext cx="7620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q</a:t>
            </a:r>
          </a:p>
        </p:txBody>
      </p:sp>
      <p:cxnSp>
        <p:nvCxnSpPr>
          <p:cNvPr id="77833" name="AutoShape 36">
            <a:extLst>
              <a:ext uri="{FF2B5EF4-FFF2-40B4-BE49-F238E27FC236}">
                <a16:creationId xmlns:a16="http://schemas.microsoft.com/office/drawing/2014/main" id="{D77F054E-305D-4080-974D-CC9A9D45F52D}"/>
              </a:ext>
            </a:extLst>
          </p:cNvPr>
          <p:cNvCxnSpPr>
            <a:cxnSpLocks noChangeShapeType="1"/>
            <a:stCxn id="77831" idx="2"/>
            <a:endCxn id="77832" idx="2"/>
          </p:cNvCxnSpPr>
          <p:nvPr/>
        </p:nvCxnSpPr>
        <p:spPr bwMode="auto">
          <a:xfrm rot="10800000" flipH="1" flipV="1">
            <a:off x="7467600" y="4191000"/>
            <a:ext cx="152400" cy="1219200"/>
          </a:xfrm>
          <a:prstGeom prst="bentConnector3">
            <a:avLst>
              <a:gd name="adj1" fmla="val -1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4" name="AutoShape 37">
            <a:extLst>
              <a:ext uri="{FF2B5EF4-FFF2-40B4-BE49-F238E27FC236}">
                <a16:creationId xmlns:a16="http://schemas.microsoft.com/office/drawing/2014/main" id="{EBFD065F-429B-4636-862A-0EEB4BF1D1E2}"/>
              </a:ext>
            </a:extLst>
          </p:cNvPr>
          <p:cNvCxnSpPr>
            <a:cxnSpLocks noChangeShapeType="1"/>
            <a:stCxn id="77832" idx="6"/>
            <a:endCxn id="77831" idx="6"/>
          </p:cNvCxnSpPr>
          <p:nvPr/>
        </p:nvCxnSpPr>
        <p:spPr bwMode="auto">
          <a:xfrm flipH="1" flipV="1">
            <a:off x="8229600" y="4191000"/>
            <a:ext cx="152400" cy="1219200"/>
          </a:xfrm>
          <a:prstGeom prst="bentConnector3">
            <a:avLst>
              <a:gd name="adj1" fmla="val -1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35" name="Oval 38">
            <a:extLst>
              <a:ext uri="{FF2B5EF4-FFF2-40B4-BE49-F238E27FC236}">
                <a16:creationId xmlns:a16="http://schemas.microsoft.com/office/drawing/2014/main" id="{36A641EE-7F5E-4FC5-8049-5A379E687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7620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i</a:t>
            </a:r>
          </a:p>
        </p:txBody>
      </p:sp>
      <p:cxnSp>
        <p:nvCxnSpPr>
          <p:cNvPr id="77836" name="AutoShape 40">
            <a:extLst>
              <a:ext uri="{FF2B5EF4-FFF2-40B4-BE49-F238E27FC236}">
                <a16:creationId xmlns:a16="http://schemas.microsoft.com/office/drawing/2014/main" id="{88D524D6-BA89-4195-95EE-6E7F88E8B027}"/>
              </a:ext>
            </a:extLst>
          </p:cNvPr>
          <p:cNvCxnSpPr>
            <a:cxnSpLocks noChangeShapeType="1"/>
            <a:stCxn id="77835" idx="6"/>
            <a:endCxn id="77831" idx="0"/>
          </p:cNvCxnSpPr>
          <p:nvPr/>
        </p:nvCxnSpPr>
        <p:spPr bwMode="auto">
          <a:xfrm>
            <a:off x="6400800" y="3581400"/>
            <a:ext cx="1447800" cy="304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37" name="Text Box 41">
            <a:extLst>
              <a:ext uri="{FF2B5EF4-FFF2-40B4-BE49-F238E27FC236}">
                <a16:creationId xmlns:a16="http://schemas.microsoft.com/office/drawing/2014/main" id="{FD700518-4009-4582-91D6-972E6BD6B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200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77838" name="Text Box 42">
            <a:extLst>
              <a:ext uri="{FF2B5EF4-FFF2-40B4-BE49-F238E27FC236}">
                <a16:creationId xmlns:a16="http://schemas.microsoft.com/office/drawing/2014/main" id="{3A35754E-FED8-4E29-8B2D-ABC02D841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572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77839" name="Text Box 43">
            <a:extLst>
              <a:ext uri="{FF2B5EF4-FFF2-40B4-BE49-F238E27FC236}">
                <a16:creationId xmlns:a16="http://schemas.microsoft.com/office/drawing/2014/main" id="{E4DCE29D-0552-4103-8726-DBACD3DD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572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菱形 44">
            <a:extLst>
              <a:ext uri="{FF2B5EF4-FFF2-40B4-BE49-F238E27FC236}">
                <a16:creationId xmlns:a16="http://schemas.microsoft.com/office/drawing/2014/main" id="{5339F20A-A018-430B-817D-F599BE5CC2E8}"/>
              </a:ext>
            </a:extLst>
          </p:cNvPr>
          <p:cNvSpPr/>
          <p:nvPr/>
        </p:nvSpPr>
        <p:spPr>
          <a:xfrm>
            <a:off x="2895600" y="3581400"/>
            <a:ext cx="304800" cy="304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1C9DDF35-B507-4BEA-B024-C323950CE82B}"/>
              </a:ext>
            </a:extLst>
          </p:cNvPr>
          <p:cNvSpPr/>
          <p:nvPr/>
        </p:nvSpPr>
        <p:spPr>
          <a:xfrm>
            <a:off x="2971800" y="2286000"/>
            <a:ext cx="304800" cy="304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2" name="直角三角形 31">
            <a:extLst>
              <a:ext uri="{FF2B5EF4-FFF2-40B4-BE49-F238E27FC236}">
                <a16:creationId xmlns:a16="http://schemas.microsoft.com/office/drawing/2014/main" id="{1A9258C5-E3A8-4DE6-955B-96D61E50EC12}"/>
              </a:ext>
            </a:extLst>
          </p:cNvPr>
          <p:cNvSpPr/>
          <p:nvPr/>
        </p:nvSpPr>
        <p:spPr>
          <a:xfrm flipH="1" flipV="1">
            <a:off x="914400" y="3581400"/>
            <a:ext cx="381000" cy="91440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B23FB508-F0F6-4023-B020-3992A59C782F}"/>
              </a:ext>
            </a:extLst>
          </p:cNvPr>
          <p:cNvSpPr/>
          <p:nvPr/>
        </p:nvSpPr>
        <p:spPr>
          <a:xfrm flipV="1">
            <a:off x="2667000" y="3581400"/>
            <a:ext cx="381000" cy="91440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4" name="直角三角形 33">
            <a:extLst>
              <a:ext uri="{FF2B5EF4-FFF2-40B4-BE49-F238E27FC236}">
                <a16:creationId xmlns:a16="http://schemas.microsoft.com/office/drawing/2014/main" id="{AEDE3743-2145-4787-9A20-380B66EDE21C}"/>
              </a:ext>
            </a:extLst>
          </p:cNvPr>
          <p:cNvSpPr/>
          <p:nvPr/>
        </p:nvSpPr>
        <p:spPr>
          <a:xfrm flipH="1">
            <a:off x="914400" y="1447800"/>
            <a:ext cx="381000" cy="91440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77464FC7-14BC-4B5A-A852-5674088430CB}"/>
              </a:ext>
            </a:extLst>
          </p:cNvPr>
          <p:cNvSpPr/>
          <p:nvPr/>
        </p:nvSpPr>
        <p:spPr>
          <a:xfrm>
            <a:off x="2667000" y="1447800"/>
            <a:ext cx="381000" cy="91440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79880" name="投影片編號版面配置區 5">
            <a:extLst>
              <a:ext uri="{FF2B5EF4-FFF2-40B4-BE49-F238E27FC236}">
                <a16:creationId xmlns:a16="http://schemas.microsoft.com/office/drawing/2014/main" id="{721A6829-52EB-4492-9338-CF9BF92A6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B070F4-3712-4579-B868-DA57E0C1D19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79881" name="Rectangle 2">
            <a:extLst>
              <a:ext uri="{FF2B5EF4-FFF2-40B4-BE49-F238E27FC236}">
                <a16:creationId xmlns:a16="http://schemas.microsoft.com/office/drawing/2014/main" id="{F419753E-B738-40A3-B759-078FD354F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TW" sz="3800"/>
              <a:t>Automata &amp; Kripke structure </a:t>
            </a:r>
          </a:p>
        </p:txBody>
      </p:sp>
      <p:sp>
        <p:nvSpPr>
          <p:cNvPr id="79882" name="Oval 4">
            <a:extLst>
              <a:ext uri="{FF2B5EF4-FFF2-40B4-BE49-F238E27FC236}">
                <a16:creationId xmlns:a16="http://schemas.microsoft.com/office/drawing/2014/main" id="{75806F5D-3461-4537-80B1-0DA4F17C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066800"/>
            <a:ext cx="8382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time</a:t>
            </a:r>
          </a:p>
        </p:txBody>
      </p:sp>
      <p:sp>
        <p:nvSpPr>
          <p:cNvPr id="79883" name="Oval 5">
            <a:extLst>
              <a:ext uri="{FF2B5EF4-FFF2-40B4-BE49-F238E27FC236}">
                <a16:creationId xmlns:a16="http://schemas.microsoft.com/office/drawing/2014/main" id="{117AB5A0-8EE7-45F0-A77F-9CDFEA43E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990600"/>
            <a:ext cx="8382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set</a:t>
            </a:r>
          </a:p>
        </p:txBody>
      </p:sp>
      <p:sp>
        <p:nvSpPr>
          <p:cNvPr id="79884" name="Oval 6">
            <a:extLst>
              <a:ext uri="{FF2B5EF4-FFF2-40B4-BE49-F238E27FC236}">
                <a16:creationId xmlns:a16="http://schemas.microsoft.com/office/drawing/2014/main" id="{74E50781-A771-4F91-B949-19165D9B7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029200"/>
            <a:ext cx="8382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run</a:t>
            </a:r>
          </a:p>
        </p:txBody>
      </p:sp>
      <p:sp>
        <p:nvSpPr>
          <p:cNvPr id="79885" name="Oval 7">
            <a:extLst>
              <a:ext uri="{FF2B5EF4-FFF2-40B4-BE49-F238E27FC236}">
                <a16:creationId xmlns:a16="http://schemas.microsoft.com/office/drawing/2014/main" id="{15559752-6C8D-423B-91E2-A5B3164B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953000"/>
            <a:ext cx="1143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dummy</a:t>
            </a:r>
          </a:p>
        </p:txBody>
      </p:sp>
      <p:sp>
        <p:nvSpPr>
          <p:cNvPr id="79886" name="Oval 8">
            <a:extLst>
              <a:ext uri="{FF2B5EF4-FFF2-40B4-BE49-F238E27FC236}">
                <a16:creationId xmlns:a16="http://schemas.microsoft.com/office/drawing/2014/main" id="{833D3686-868A-4E4C-A031-30C95BBB9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667000"/>
            <a:ext cx="12192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freeze</a:t>
            </a:r>
          </a:p>
        </p:txBody>
      </p:sp>
      <p:sp>
        <p:nvSpPr>
          <p:cNvPr id="79887" name="Oval 9">
            <a:extLst>
              <a:ext uri="{FF2B5EF4-FFF2-40B4-BE49-F238E27FC236}">
                <a16:creationId xmlns:a16="http://schemas.microsoft.com/office/drawing/2014/main" id="{F02F84A5-13FA-46C4-8D92-220ED9B8D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667000"/>
            <a:ext cx="8382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chr</a:t>
            </a:r>
          </a:p>
        </p:txBody>
      </p:sp>
      <p:sp>
        <p:nvSpPr>
          <p:cNvPr id="79888" name="Line 10">
            <a:extLst>
              <a:ext uri="{FF2B5EF4-FFF2-40B4-BE49-F238E27FC236}">
                <a16:creationId xmlns:a16="http://schemas.microsoft.com/office/drawing/2014/main" id="{D9D87B48-265A-41F3-B3CF-A47BC7297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82880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89" name="Line 11">
            <a:extLst>
              <a:ext uri="{FF2B5EF4-FFF2-40B4-BE49-F238E27FC236}">
                <a16:creationId xmlns:a16="http://schemas.microsoft.com/office/drawing/2014/main" id="{CE20EB4D-8A11-4FCC-B849-9F4F6EF55B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752600"/>
            <a:ext cx="6858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0" name="Line 12">
            <a:extLst>
              <a:ext uri="{FF2B5EF4-FFF2-40B4-BE49-F238E27FC236}">
                <a16:creationId xmlns:a16="http://schemas.microsoft.com/office/drawing/2014/main" id="{B37500D4-6C3A-42F1-8099-095C7359A9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1371600"/>
            <a:ext cx="1295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1" name="Line 13">
            <a:extLst>
              <a:ext uri="{FF2B5EF4-FFF2-40B4-BE49-F238E27FC236}">
                <a16:creationId xmlns:a16="http://schemas.microsoft.com/office/drawing/2014/main" id="{424DFE4B-FE3C-4B75-97D2-F12E6CB81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05200"/>
            <a:ext cx="7620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2" name="Line 14">
            <a:extLst>
              <a:ext uri="{FF2B5EF4-FFF2-40B4-BE49-F238E27FC236}">
                <a16:creationId xmlns:a16="http://schemas.microsoft.com/office/drawing/2014/main" id="{07BF290E-C6DE-48D8-B5FC-07205BA75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3352800"/>
            <a:ext cx="9906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3" name="Line 15">
            <a:extLst>
              <a:ext uri="{FF2B5EF4-FFF2-40B4-BE49-F238E27FC236}">
                <a16:creationId xmlns:a16="http://schemas.microsoft.com/office/drawing/2014/main" id="{928C1097-132A-4418-A766-28A2DBDF0B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3600" y="3048000"/>
            <a:ext cx="11430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4" name="Line 16">
            <a:extLst>
              <a:ext uri="{FF2B5EF4-FFF2-40B4-BE49-F238E27FC236}">
                <a16:creationId xmlns:a16="http://schemas.microsoft.com/office/drawing/2014/main" id="{2E5732FE-28B3-41B1-AD61-C25F861A9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505200"/>
            <a:ext cx="3048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5" name="Line 17">
            <a:extLst>
              <a:ext uri="{FF2B5EF4-FFF2-40B4-BE49-F238E27FC236}">
                <a16:creationId xmlns:a16="http://schemas.microsoft.com/office/drawing/2014/main" id="{A8712EC6-1CA5-4AD8-92EE-E443A7525C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4102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6" name="Arc 18">
            <a:extLst>
              <a:ext uri="{FF2B5EF4-FFF2-40B4-BE49-F238E27FC236}">
                <a16:creationId xmlns:a16="http://schemas.microsoft.com/office/drawing/2014/main" id="{5FD1BD62-27D7-4C52-A9A1-E81E023121C4}"/>
              </a:ext>
            </a:extLst>
          </p:cNvPr>
          <p:cNvSpPr>
            <a:spLocks/>
          </p:cNvSpPr>
          <p:nvPr/>
        </p:nvSpPr>
        <p:spPr bwMode="auto">
          <a:xfrm>
            <a:off x="5487988" y="5688013"/>
            <a:ext cx="838200" cy="790575"/>
          </a:xfrm>
          <a:custGeom>
            <a:avLst/>
            <a:gdLst>
              <a:gd name="T0" fmla="*/ 2147483646 w 43200"/>
              <a:gd name="T1" fmla="*/ 2147483646 h 41325"/>
              <a:gd name="T2" fmla="*/ 2147483646 w 43200"/>
              <a:gd name="T3" fmla="*/ 0 h 41325"/>
              <a:gd name="T4" fmla="*/ 2147483646 w 43200"/>
              <a:gd name="T5" fmla="*/ 2147483646 h 41325"/>
              <a:gd name="T6" fmla="*/ 0 60000 65536"/>
              <a:gd name="T7" fmla="*/ 0 60000 65536"/>
              <a:gd name="T8" fmla="*/ 0 60000 65536"/>
              <a:gd name="T9" fmla="*/ 0 w 43200"/>
              <a:gd name="T10" fmla="*/ 0 h 41325"/>
              <a:gd name="T11" fmla="*/ 43200 w 43200"/>
              <a:gd name="T12" fmla="*/ 41325 h 41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1325" fill="none" extrusionOk="0">
                <a:moveTo>
                  <a:pt x="38803" y="6662"/>
                </a:moveTo>
                <a:cubicBezTo>
                  <a:pt x="41655" y="10420"/>
                  <a:pt x="43200" y="15007"/>
                  <a:pt x="43200" y="19725"/>
                </a:cubicBezTo>
                <a:cubicBezTo>
                  <a:pt x="43200" y="31654"/>
                  <a:pt x="33529" y="41325"/>
                  <a:pt x="21600" y="41325"/>
                </a:cubicBezTo>
                <a:cubicBezTo>
                  <a:pt x="9670" y="41325"/>
                  <a:pt x="0" y="31654"/>
                  <a:pt x="0" y="19725"/>
                </a:cubicBezTo>
                <a:cubicBezTo>
                  <a:pt x="-1" y="11200"/>
                  <a:pt x="5013" y="3474"/>
                  <a:pt x="12797" y="0"/>
                </a:cubicBezTo>
              </a:path>
              <a:path w="43200" h="41325" stroke="0" extrusionOk="0">
                <a:moveTo>
                  <a:pt x="38803" y="6662"/>
                </a:moveTo>
                <a:cubicBezTo>
                  <a:pt x="41655" y="10420"/>
                  <a:pt x="43200" y="15007"/>
                  <a:pt x="43200" y="19725"/>
                </a:cubicBezTo>
                <a:cubicBezTo>
                  <a:pt x="43200" y="31654"/>
                  <a:pt x="33529" y="41325"/>
                  <a:pt x="21600" y="41325"/>
                </a:cubicBezTo>
                <a:cubicBezTo>
                  <a:pt x="9670" y="41325"/>
                  <a:pt x="0" y="31654"/>
                  <a:pt x="0" y="19725"/>
                </a:cubicBezTo>
                <a:cubicBezTo>
                  <a:pt x="-1" y="11200"/>
                  <a:pt x="5013" y="3474"/>
                  <a:pt x="12797" y="0"/>
                </a:cubicBezTo>
                <a:lnTo>
                  <a:pt x="21600" y="19725"/>
                </a:lnTo>
                <a:lnTo>
                  <a:pt x="38803" y="6662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9897" name="Text Box 19">
            <a:extLst>
              <a:ext uri="{FF2B5EF4-FFF2-40B4-BE49-F238E27FC236}">
                <a16:creationId xmlns:a16="http://schemas.microsoft.com/office/drawing/2014/main" id="{6E97D5CF-7556-4ECB-AC95-BBDF7D7A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828800"/>
            <a:ext cx="30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9898" name="Text Box 20">
            <a:extLst>
              <a:ext uri="{FF2B5EF4-FFF2-40B4-BE49-F238E27FC236}">
                <a16:creationId xmlns:a16="http://schemas.microsoft.com/office/drawing/2014/main" id="{8A342785-23A2-4BA2-BB8C-9BA1E1369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990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9899" name="Text Box 21">
            <a:extLst>
              <a:ext uri="{FF2B5EF4-FFF2-40B4-BE49-F238E27FC236}">
                <a16:creationId xmlns:a16="http://schemas.microsoft.com/office/drawing/2014/main" id="{FBA9AFF4-4028-426C-BD3F-297231D38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05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9900" name="Text Box 22">
            <a:extLst>
              <a:ext uri="{FF2B5EF4-FFF2-40B4-BE49-F238E27FC236}">
                <a16:creationId xmlns:a16="http://schemas.microsoft.com/office/drawing/2014/main" id="{09D6D393-4DB4-464B-AACA-C5C835553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514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9901" name="Text Box 23">
            <a:extLst>
              <a:ext uri="{FF2B5EF4-FFF2-40B4-BE49-F238E27FC236}">
                <a16:creationId xmlns:a16="http://schemas.microsoft.com/office/drawing/2014/main" id="{94E4D7D0-2C49-481F-86C4-42258A214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334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9902" name="Text Box 24">
            <a:extLst>
              <a:ext uri="{FF2B5EF4-FFF2-40B4-BE49-F238E27FC236}">
                <a16:creationId xmlns:a16="http://schemas.microsoft.com/office/drawing/2014/main" id="{FD1FAD7B-FF6F-4A88-A1AE-BB34FE9CF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9903" name="Text Box 25">
            <a:extLst>
              <a:ext uri="{FF2B5EF4-FFF2-40B4-BE49-F238E27FC236}">
                <a16:creationId xmlns:a16="http://schemas.microsoft.com/office/drawing/2014/main" id="{B3976F16-0596-48FE-9257-5A06B0157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114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9904" name="Text Box 26">
            <a:extLst>
              <a:ext uri="{FF2B5EF4-FFF2-40B4-BE49-F238E27FC236}">
                <a16:creationId xmlns:a16="http://schemas.microsoft.com/office/drawing/2014/main" id="{A4D93DFD-539D-4074-838F-3F7BF89B0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not b</a:t>
            </a:r>
          </a:p>
        </p:txBody>
      </p:sp>
      <p:sp>
        <p:nvSpPr>
          <p:cNvPr id="79905" name="Line 27">
            <a:extLst>
              <a:ext uri="{FF2B5EF4-FFF2-40B4-BE49-F238E27FC236}">
                <a16:creationId xmlns:a16="http://schemas.microsoft.com/office/drawing/2014/main" id="{D298CD43-815D-45AA-9FAB-C18F3900A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066800"/>
            <a:ext cx="685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D022127-FF12-4674-B734-0002079B30D5}"/>
              </a:ext>
            </a:extLst>
          </p:cNvPr>
          <p:cNvSpPr/>
          <p:nvPr/>
        </p:nvSpPr>
        <p:spPr>
          <a:xfrm>
            <a:off x="762000" y="1752600"/>
            <a:ext cx="2438400" cy="25146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1BB2A9EE-EA2C-4C6D-B76F-C7D13AAF81B4}"/>
              </a:ext>
            </a:extLst>
          </p:cNvPr>
          <p:cNvSpPr/>
          <p:nvPr/>
        </p:nvSpPr>
        <p:spPr>
          <a:xfrm>
            <a:off x="914400" y="1905000"/>
            <a:ext cx="2133600" cy="2209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65E80D6A-84F4-4D88-A33A-8D9CBCC747B9}"/>
              </a:ext>
            </a:extLst>
          </p:cNvPr>
          <p:cNvCxnSpPr/>
          <p:nvPr/>
        </p:nvCxnSpPr>
        <p:spPr>
          <a:xfrm rot="16200000" flipV="1">
            <a:off x="1293813" y="2363787"/>
            <a:ext cx="687388" cy="684213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70B569F1-06AB-4893-82B6-B25FC28708DD}"/>
              </a:ext>
            </a:extLst>
          </p:cNvPr>
          <p:cNvCxnSpPr/>
          <p:nvPr/>
        </p:nvCxnSpPr>
        <p:spPr>
          <a:xfrm rot="5400000" flipH="1" flipV="1">
            <a:off x="1981200" y="2590800"/>
            <a:ext cx="457200" cy="45720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10" name="Text Box 20">
            <a:extLst>
              <a:ext uri="{FF2B5EF4-FFF2-40B4-BE49-F238E27FC236}">
                <a16:creationId xmlns:a16="http://schemas.microsoft.com/office/drawing/2014/main" id="{09565FD5-5965-4E55-9EA4-DDC6E6C2A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9911" name="Text Box 22">
            <a:extLst>
              <a:ext uri="{FF2B5EF4-FFF2-40B4-BE49-F238E27FC236}">
                <a16:creationId xmlns:a16="http://schemas.microsoft.com/office/drawing/2014/main" id="{5E3B7B09-FE52-46F1-A046-AC21D7C16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276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80468DFD-8BF9-4120-8951-951B14D3B033}"/>
              </a:ext>
            </a:extLst>
          </p:cNvPr>
          <p:cNvCxnSpPr/>
          <p:nvPr/>
        </p:nvCxnSpPr>
        <p:spPr>
          <a:xfrm rot="10800000" flipV="1">
            <a:off x="1066800" y="3048000"/>
            <a:ext cx="914400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CD41A2B-AD98-4B88-8F58-66448584F198}"/>
              </a:ext>
            </a:extLst>
          </p:cNvPr>
          <p:cNvSpPr txBox="1"/>
          <p:nvPr/>
        </p:nvSpPr>
        <p:spPr>
          <a:xfrm>
            <a:off x="1447800" y="2133600"/>
            <a:ext cx="11461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b="1" dirty="0">
                <a:solidFill>
                  <a:schemeClr val="accent5">
                    <a:lumMod val="50000"/>
                  </a:schemeClr>
                </a:solidFill>
              </a:rPr>
              <a:t>ROLEKS</a:t>
            </a:r>
            <a:endParaRPr lang="zh-TW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投影片編號版面配置區 5">
            <a:extLst>
              <a:ext uri="{FF2B5EF4-FFF2-40B4-BE49-F238E27FC236}">
                <a16:creationId xmlns:a16="http://schemas.microsoft.com/office/drawing/2014/main" id="{80FF1F53-F331-4E1D-B817-EBD8C07FC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30700E-8534-40FB-98AE-698B5400B0C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8E50729B-1B82-4E17-A630-714572810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Concurrent programs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255530C-0B3D-4955-8C49-F66EBC363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 set programs running independently, communicating from time to time, thereby performing a common task.</a:t>
            </a:r>
          </a:p>
          <a:p>
            <a:pPr eaLnBrk="1" hangingPunct="1"/>
            <a:r>
              <a:rPr lang="en-US" altLang="zh-TW" i="1"/>
              <a:t>Flavors of Concurrency</a:t>
            </a:r>
          </a:p>
          <a:p>
            <a:pPr lvl="1" eaLnBrk="1" hangingPunct="1"/>
            <a:r>
              <a:rPr lang="en-US" altLang="zh-TW"/>
              <a:t>Synchronous execution</a:t>
            </a:r>
          </a:p>
          <a:p>
            <a:pPr lvl="1" eaLnBrk="1" hangingPunct="1"/>
            <a:r>
              <a:rPr lang="en-US" altLang="zh-TW"/>
              <a:t>Asynchronous / interleaved execution</a:t>
            </a:r>
          </a:p>
          <a:p>
            <a:pPr lvl="2" eaLnBrk="1" hangingPunct="1"/>
            <a:r>
              <a:rPr lang="en-US" altLang="zh-TW"/>
              <a:t>Communication via shared variables</a:t>
            </a:r>
          </a:p>
          <a:p>
            <a:pPr lvl="2" eaLnBrk="1" hangingPunct="1"/>
            <a:r>
              <a:rPr lang="en-US" altLang="zh-TW"/>
              <a:t>Message passing communication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編號版面配置區 5">
            <a:extLst>
              <a:ext uri="{FF2B5EF4-FFF2-40B4-BE49-F238E27FC236}">
                <a16:creationId xmlns:a16="http://schemas.microsoft.com/office/drawing/2014/main" id="{99C5259E-F782-4524-8A42-5DEE2F436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612E2C-689F-4C5F-A56B-D5B323730CF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98940D1-B358-4379-824D-8737E22E9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 </a:t>
            </a:r>
            <a:br>
              <a:rPr lang="en-US" altLang="zh-TW" sz="3800"/>
            </a:br>
            <a:r>
              <a:rPr lang="en-US" altLang="zh-TW" sz="3800"/>
              <a:t>- for a concurrent system 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6F02B4AE-B837-4A07-867F-FA96A3462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Programs (as opposed to circuits) are typically considered asynchronous.</a:t>
            </a:r>
          </a:p>
          <a:p>
            <a:pPr eaLnBrk="1" hangingPunct="1"/>
            <a:r>
              <a:rPr lang="en-US" altLang="zh-TW"/>
              <a:t>An asynchronous concurrent system is a collection of sequential programs                   running in parallel with only one pgm. making a move at every time step.</a:t>
            </a:r>
          </a:p>
          <a:p>
            <a:pPr lvl="1" eaLnBrk="1" hangingPunct="1"/>
            <a:r>
              <a:rPr lang="en-US" altLang="zh-TW"/>
              <a:t>How do the sequential programs communicate ?</a:t>
            </a:r>
          </a:p>
          <a:p>
            <a:pPr lvl="1" eaLnBrk="1" hangingPunct="1"/>
            <a:r>
              <a:rPr lang="en-US" altLang="zh-TW"/>
              <a:t>What are the behaviors of the concurrent system ?</a:t>
            </a:r>
          </a:p>
        </p:txBody>
      </p:sp>
      <p:graphicFrame>
        <p:nvGraphicFramePr>
          <p:cNvPr id="83973" name="Object 4">
            <a:extLst>
              <a:ext uri="{FF2B5EF4-FFF2-40B4-BE49-F238E27FC236}">
                <a16:creationId xmlns:a16="http://schemas.microsoft.com/office/drawing/2014/main" id="{6249809F-748F-4E92-916A-980550BD0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3141663"/>
          <a:ext cx="1008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6" name="Equation" r:id="rId4" imgW="457200" imgH="228600" progId="Equation.DSMT4">
                  <p:embed/>
                </p:oleObj>
              </mc:Choice>
              <mc:Fallback>
                <p:oleObj name="Equation" r:id="rId4" imgW="4572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3141663"/>
                        <a:ext cx="1008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編號版面配置區 5">
            <a:extLst>
              <a:ext uri="{FF2B5EF4-FFF2-40B4-BE49-F238E27FC236}">
                <a16:creationId xmlns:a16="http://schemas.microsoft.com/office/drawing/2014/main" id="{77F76BD9-1548-4342-855C-CA5082EB2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17DF3E-D73A-49D7-86B4-06EC55ECE7E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69966048-75A7-4B5F-BD8E-B179B8432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Kripke Structure </a:t>
            </a:r>
            <a:br>
              <a:rPr lang="en-US" altLang="zh-TW" sz="3800"/>
            </a:br>
            <a:r>
              <a:rPr lang="en-US" altLang="zh-TW" sz="3800"/>
              <a:t>- for a concurrent system 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3B6627A8-F0CE-44A8-9740-22BEAA840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Behaviors of each sequential program   captured by its operational semantic.</a:t>
            </a:r>
          </a:p>
          <a:p>
            <a:pPr eaLnBrk="1" hangingPunct="1"/>
            <a:r>
              <a:rPr lang="en-US" altLang="zh-TW"/>
              <a:t>The programs    need not be terminating.</a:t>
            </a:r>
          </a:p>
          <a:p>
            <a:pPr eaLnBrk="1" hangingPunct="1"/>
            <a:r>
              <a:rPr lang="en-US" altLang="zh-TW"/>
              <a:t>Behaviors (Traces) of           formed by </a:t>
            </a:r>
            <a:r>
              <a:rPr lang="en-US" altLang="zh-TW">
                <a:solidFill>
                  <a:srgbClr val="FF0000"/>
                </a:solidFill>
              </a:rPr>
              <a:t>interleaving</a:t>
            </a:r>
            <a:r>
              <a:rPr lang="en-US" altLang="zh-TW"/>
              <a:t> the transitions of the programs.</a:t>
            </a:r>
          </a:p>
          <a:p>
            <a:pPr eaLnBrk="1" hangingPunct="1"/>
            <a:r>
              <a:rPr lang="en-US" altLang="zh-TW"/>
              <a:t>Consider two non-communicating programs.</a:t>
            </a:r>
          </a:p>
        </p:txBody>
      </p:sp>
      <p:graphicFrame>
        <p:nvGraphicFramePr>
          <p:cNvPr id="86021" name="Object 4">
            <a:extLst>
              <a:ext uri="{FF2B5EF4-FFF2-40B4-BE49-F238E27FC236}">
                <a16:creationId xmlns:a16="http://schemas.microsoft.com/office/drawing/2014/main" id="{9E6B26BF-D886-4983-B5D1-375603842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0600" y="1700213"/>
          <a:ext cx="3270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0" name="Equation" r:id="rId4" imgW="152334" imgH="228501" progId="Equation.DSMT4">
                  <p:embed/>
                </p:oleObj>
              </mc:Choice>
              <mc:Fallback>
                <p:oleObj name="Equation" r:id="rId4" imgW="152334" imgH="22850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600" y="1700213"/>
                        <a:ext cx="3270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5">
            <a:extLst>
              <a:ext uri="{FF2B5EF4-FFF2-40B4-BE49-F238E27FC236}">
                <a16:creationId xmlns:a16="http://schemas.microsoft.com/office/drawing/2014/main" id="{85CA4DB3-FBA0-4AF1-849D-D8EC9711D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8350" y="2651125"/>
          <a:ext cx="327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1" name="Equation" r:id="rId6" imgW="152334" imgH="228501" progId="Equation.DSMT4">
                  <p:embed/>
                </p:oleObj>
              </mc:Choice>
              <mc:Fallback>
                <p:oleObj name="Equation" r:id="rId6" imgW="152334" imgH="22850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651125"/>
                        <a:ext cx="3270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6">
            <a:extLst>
              <a:ext uri="{FF2B5EF4-FFF2-40B4-BE49-F238E27FC236}">
                <a16:creationId xmlns:a16="http://schemas.microsoft.com/office/drawing/2014/main" id="{6E3C16D4-38AD-45D9-B2A3-573464CAC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213100"/>
          <a:ext cx="1008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2" name="Equation" r:id="rId7" imgW="457200" imgH="228600" progId="Equation.DSMT4">
                  <p:embed/>
                </p:oleObj>
              </mc:Choice>
              <mc:Fallback>
                <p:oleObj name="Equation" r:id="rId7" imgW="4572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213100"/>
                        <a:ext cx="10080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編號版面配置區 4">
            <a:extLst>
              <a:ext uri="{FF2B5EF4-FFF2-40B4-BE49-F238E27FC236}">
                <a16:creationId xmlns:a16="http://schemas.microsoft.com/office/drawing/2014/main" id="{CF608443-645D-47D7-A46E-9489B807A4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6CAA38-C95B-4278-B78F-EC685806E6F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7D93BC43-E156-463C-9B54-C44FC3E3B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Concurrent systems</a:t>
            </a:r>
            <a:br>
              <a:rPr lang="en-US" altLang="zh-TW" sz="3800"/>
            </a:br>
            <a:r>
              <a:rPr lang="en-US" altLang="zh-TW" sz="3800"/>
              <a:t>- Interleaving semantics </a:t>
            </a:r>
          </a:p>
        </p:txBody>
      </p:sp>
      <p:sp>
        <p:nvSpPr>
          <p:cNvPr id="88068" name="Text Box 25">
            <a:extLst>
              <a:ext uri="{FF2B5EF4-FFF2-40B4-BE49-F238E27FC236}">
                <a16:creationId xmlns:a16="http://schemas.microsoft.com/office/drawing/2014/main" id="{FFED3392-EBD6-495D-B0A3-724A8053E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403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800">
                <a:solidFill>
                  <a:srgbClr val="0000FF"/>
                </a:solidFill>
                <a:latin typeface="Albertus Extra Bold" pitchFamily="34" charset="0"/>
                <a:cs typeface="Arial" panose="020B0604020202020204" pitchFamily="34" charset="0"/>
              </a:rPr>
              <a:t>state-transition graphs</a:t>
            </a:r>
          </a:p>
        </p:txBody>
      </p:sp>
      <p:sp>
        <p:nvSpPr>
          <p:cNvPr id="88069" name="Line 11">
            <a:extLst>
              <a:ext uri="{FF2B5EF4-FFF2-40B4-BE49-F238E27FC236}">
                <a16:creationId xmlns:a16="http://schemas.microsoft.com/office/drawing/2014/main" id="{15A8D7C5-1DDB-4264-B427-FB2795368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048000"/>
            <a:ext cx="76200" cy="685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88070" name="AutoShape 19">
            <a:extLst>
              <a:ext uri="{FF2B5EF4-FFF2-40B4-BE49-F238E27FC236}">
                <a16:creationId xmlns:a16="http://schemas.microsoft.com/office/drawing/2014/main" id="{15F27D78-3FC8-4999-AD12-DF9CB487F523}"/>
              </a:ext>
            </a:extLst>
          </p:cNvPr>
          <p:cNvCxnSpPr>
            <a:cxnSpLocks noChangeShapeType="1"/>
            <a:stCxn id="88072" idx="3"/>
            <a:endCxn id="88072" idx="1"/>
          </p:cNvCxnSpPr>
          <p:nvPr/>
        </p:nvCxnSpPr>
        <p:spPr bwMode="auto">
          <a:xfrm rot="5400000" flipH="1">
            <a:off x="1258888" y="4057650"/>
            <a:ext cx="458788" cy="1587"/>
          </a:xfrm>
          <a:prstGeom prst="curvedConnector5">
            <a:avLst>
              <a:gd name="adj1" fmla="val -49912"/>
              <a:gd name="adj2" fmla="val 39699824"/>
              <a:gd name="adj3" fmla="val 149912"/>
            </a:avLst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1" name="Text Box 26">
            <a:extLst>
              <a:ext uri="{FF2B5EF4-FFF2-40B4-BE49-F238E27FC236}">
                <a16:creationId xmlns:a16="http://schemas.microsoft.com/office/drawing/2014/main" id="{453024BE-85BE-49DA-9D16-9994DCBC5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2004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>
                <a:latin typeface="Times New Roman" panose="02020603050405020304" pitchFamily="18" charset="0"/>
              </a:rPr>
              <a:t>x=0;</a:t>
            </a:r>
          </a:p>
        </p:txBody>
      </p:sp>
      <p:sp>
        <p:nvSpPr>
          <p:cNvPr id="88072" name="Oval 8">
            <a:extLst>
              <a:ext uri="{FF2B5EF4-FFF2-40B4-BE49-F238E27FC236}">
                <a16:creationId xmlns:a16="http://schemas.microsoft.com/office/drawing/2014/main" id="{2EC16240-8526-41C9-99DA-07A5799E3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733800"/>
            <a:ext cx="792163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</a:t>
            </a:r>
          </a:p>
        </p:txBody>
      </p:sp>
      <p:sp>
        <p:nvSpPr>
          <p:cNvPr id="88073" name="Text Box 26">
            <a:extLst>
              <a:ext uri="{FF2B5EF4-FFF2-40B4-BE49-F238E27FC236}">
                <a16:creationId xmlns:a16="http://schemas.microsoft.com/office/drawing/2014/main" id="{ED18A6A1-90D7-40E0-A425-CC3A5D4B5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862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>
                <a:latin typeface="Times New Roman" panose="02020603050405020304" pitchFamily="18" charset="0"/>
              </a:rPr>
              <a:t>x=1;</a:t>
            </a:r>
          </a:p>
        </p:txBody>
      </p:sp>
      <p:sp>
        <p:nvSpPr>
          <p:cNvPr id="88074" name="Line 11">
            <a:extLst>
              <a:ext uri="{FF2B5EF4-FFF2-40B4-BE49-F238E27FC236}">
                <a16:creationId xmlns:a16="http://schemas.microsoft.com/office/drawing/2014/main" id="{A243577C-0B61-4C09-A223-462325DEB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6713" y="3028950"/>
            <a:ext cx="76200" cy="68580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88075" name="AutoShape 19">
            <a:extLst>
              <a:ext uri="{FF2B5EF4-FFF2-40B4-BE49-F238E27FC236}">
                <a16:creationId xmlns:a16="http://schemas.microsoft.com/office/drawing/2014/main" id="{CD114C8A-1CA4-49CB-B4AB-AAC5EB10F1E6}"/>
              </a:ext>
            </a:extLst>
          </p:cNvPr>
          <p:cNvCxnSpPr>
            <a:cxnSpLocks noChangeShapeType="1"/>
            <a:stCxn id="88077" idx="5"/>
            <a:endCxn id="88077" idx="7"/>
          </p:cNvCxnSpPr>
          <p:nvPr/>
        </p:nvCxnSpPr>
        <p:spPr bwMode="auto">
          <a:xfrm rot="5400000" flipH="1">
            <a:off x="3048000" y="4038600"/>
            <a:ext cx="458788" cy="1588"/>
          </a:xfrm>
          <a:prstGeom prst="curvedConnector5">
            <a:avLst>
              <a:gd name="adj1" fmla="val -49912"/>
              <a:gd name="adj2" fmla="val -35881009"/>
              <a:gd name="adj3" fmla="val 149912"/>
            </a:avLst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76" name="Text Box 26">
            <a:extLst>
              <a:ext uri="{FF2B5EF4-FFF2-40B4-BE49-F238E27FC236}">
                <a16:creationId xmlns:a16="http://schemas.microsoft.com/office/drawing/2014/main" id="{E0838AF8-B6AA-487E-AA2A-F7EA396EA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3" y="310515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>
                <a:latin typeface="Times New Roman" panose="02020603050405020304" pitchFamily="18" charset="0"/>
              </a:rPr>
              <a:t>y=0;</a:t>
            </a:r>
          </a:p>
        </p:txBody>
      </p:sp>
      <p:sp>
        <p:nvSpPr>
          <p:cNvPr id="88077" name="Oval 8">
            <a:extLst>
              <a:ext uri="{FF2B5EF4-FFF2-40B4-BE49-F238E27FC236}">
                <a16:creationId xmlns:a16="http://schemas.microsoft.com/office/drawing/2014/main" id="{8AEAF4A6-6C3E-446D-A3ED-B9274F1FD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913" y="3714750"/>
            <a:ext cx="792162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b</a:t>
            </a:r>
          </a:p>
        </p:txBody>
      </p:sp>
      <p:sp>
        <p:nvSpPr>
          <p:cNvPr id="88078" name="Text Box 26">
            <a:extLst>
              <a:ext uri="{FF2B5EF4-FFF2-40B4-BE49-F238E27FC236}">
                <a16:creationId xmlns:a16="http://schemas.microsoft.com/office/drawing/2014/main" id="{F5B7B85A-D5C2-455A-9014-AC59D1D94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72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>
                <a:latin typeface="Times New Roman" panose="02020603050405020304" pitchFamily="18" charset="0"/>
              </a:rPr>
              <a:t>y=1;</a:t>
            </a:r>
          </a:p>
        </p:txBody>
      </p:sp>
      <p:sp>
        <p:nvSpPr>
          <p:cNvPr id="88079" name="Oval 8">
            <a:extLst>
              <a:ext uri="{FF2B5EF4-FFF2-40B4-BE49-F238E27FC236}">
                <a16:creationId xmlns:a16="http://schemas.microsoft.com/office/drawing/2014/main" id="{42D386A8-6751-4A9E-BB48-03B2DB30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438400"/>
            <a:ext cx="20574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a@(1),b@(2),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[x=0,y=0]</a:t>
            </a:r>
          </a:p>
        </p:txBody>
      </p:sp>
      <p:sp>
        <p:nvSpPr>
          <p:cNvPr id="88080" name="Oval 8">
            <a:extLst>
              <a:ext uri="{FF2B5EF4-FFF2-40B4-BE49-F238E27FC236}">
                <a16:creationId xmlns:a16="http://schemas.microsoft.com/office/drawing/2014/main" id="{30F9743A-D1EC-4A7A-BEE3-CBEFD476D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038600"/>
            <a:ext cx="19812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a@(1),b@(2),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[x=1,y=0]</a:t>
            </a:r>
          </a:p>
        </p:txBody>
      </p:sp>
      <p:sp>
        <p:nvSpPr>
          <p:cNvPr id="88081" name="Oval 8">
            <a:extLst>
              <a:ext uri="{FF2B5EF4-FFF2-40B4-BE49-F238E27FC236}">
                <a16:creationId xmlns:a16="http://schemas.microsoft.com/office/drawing/2014/main" id="{41917934-A710-4D99-9035-02925CB8A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343400"/>
            <a:ext cx="17526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a@(1),b@(2),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[x=0,y=1]</a:t>
            </a:r>
          </a:p>
        </p:txBody>
      </p:sp>
      <p:sp>
        <p:nvSpPr>
          <p:cNvPr id="88082" name="Oval 8">
            <a:extLst>
              <a:ext uri="{FF2B5EF4-FFF2-40B4-BE49-F238E27FC236}">
                <a16:creationId xmlns:a16="http://schemas.microsoft.com/office/drawing/2014/main" id="{3207CBAB-6551-415C-9D96-7DA88C681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638800"/>
            <a:ext cx="1905000" cy="6477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a@(1),b@(2),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[x=1,y=1]</a:t>
            </a:r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9BEB55B0-BF36-479E-AB2F-4C979C580D76}"/>
              </a:ext>
            </a:extLst>
          </p:cNvPr>
          <p:cNvCxnSpPr>
            <a:stCxn id="88079" idx="5"/>
            <a:endCxn id="88081" idx="0"/>
          </p:cNvCxnSpPr>
          <p:nvPr/>
        </p:nvCxnSpPr>
        <p:spPr>
          <a:xfrm rot="16200000" flipH="1">
            <a:off x="7002463" y="3535362"/>
            <a:ext cx="1352550" cy="263525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F4FF4AA7-8A09-4848-9209-C2B56E60A666}"/>
              </a:ext>
            </a:extLst>
          </p:cNvPr>
          <p:cNvCxnSpPr>
            <a:stCxn id="88079" idx="3"/>
            <a:endCxn id="88080" idx="0"/>
          </p:cNvCxnSpPr>
          <p:nvPr/>
        </p:nvCxnSpPr>
        <p:spPr>
          <a:xfrm rot="5400000">
            <a:off x="5341938" y="3287712"/>
            <a:ext cx="1047750" cy="454025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BB4D4F74-D5D8-41AE-A7AB-EB0626808B39}"/>
              </a:ext>
            </a:extLst>
          </p:cNvPr>
          <p:cNvCxnSpPr>
            <a:stCxn id="88080" idx="4"/>
            <a:endCxn id="88082" idx="1"/>
          </p:cNvCxnSpPr>
          <p:nvPr/>
        </p:nvCxnSpPr>
        <p:spPr>
          <a:xfrm rot="16200000" flipH="1">
            <a:off x="5292725" y="5032375"/>
            <a:ext cx="1047750" cy="35560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D5C48D35-075D-4685-A9B6-B210F986E418}"/>
              </a:ext>
            </a:extLst>
          </p:cNvPr>
          <p:cNvCxnSpPr>
            <a:stCxn id="88081" idx="4"/>
            <a:endCxn id="88082" idx="7"/>
          </p:cNvCxnSpPr>
          <p:nvPr/>
        </p:nvCxnSpPr>
        <p:spPr>
          <a:xfrm rot="5400000">
            <a:off x="7204075" y="5127625"/>
            <a:ext cx="742950" cy="469900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87" name="AutoShape 19">
            <a:extLst>
              <a:ext uri="{FF2B5EF4-FFF2-40B4-BE49-F238E27FC236}">
                <a16:creationId xmlns:a16="http://schemas.microsoft.com/office/drawing/2014/main" id="{1AA4E931-B7F2-4D3C-9B59-D6C2D4ED21B1}"/>
              </a:ext>
            </a:extLst>
          </p:cNvPr>
          <p:cNvCxnSpPr>
            <a:cxnSpLocks noChangeShapeType="1"/>
            <a:stCxn id="88080" idx="3"/>
            <a:endCxn id="88080" idx="1"/>
          </p:cNvCxnSpPr>
          <p:nvPr/>
        </p:nvCxnSpPr>
        <p:spPr bwMode="auto">
          <a:xfrm rot="5400000" flipH="1">
            <a:off x="4708525" y="4362450"/>
            <a:ext cx="458788" cy="1588"/>
          </a:xfrm>
          <a:prstGeom prst="curvedConnector5">
            <a:avLst>
              <a:gd name="adj1" fmla="val -49912"/>
              <a:gd name="adj2" fmla="val 35472306"/>
              <a:gd name="adj3" fmla="val 149912"/>
            </a:avLst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8" name="AutoShape 19">
            <a:extLst>
              <a:ext uri="{FF2B5EF4-FFF2-40B4-BE49-F238E27FC236}">
                <a16:creationId xmlns:a16="http://schemas.microsoft.com/office/drawing/2014/main" id="{59E7546E-9DC4-4DE9-A4A5-D0D330EB48A5}"/>
              </a:ext>
            </a:extLst>
          </p:cNvPr>
          <p:cNvCxnSpPr>
            <a:cxnSpLocks noChangeShapeType="1"/>
            <a:stCxn id="88081" idx="5"/>
            <a:endCxn id="88081" idx="7"/>
          </p:cNvCxnSpPr>
          <p:nvPr/>
        </p:nvCxnSpPr>
        <p:spPr bwMode="auto">
          <a:xfrm rot="5400000" flipH="1">
            <a:off x="8201025" y="4667250"/>
            <a:ext cx="458788" cy="1588"/>
          </a:xfrm>
          <a:prstGeom prst="curvedConnector5">
            <a:avLst>
              <a:gd name="adj1" fmla="val -49912"/>
              <a:gd name="adj2" fmla="val -35661042"/>
              <a:gd name="adj3" fmla="val 149912"/>
            </a:avLst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9" name="AutoShape 19">
            <a:extLst>
              <a:ext uri="{FF2B5EF4-FFF2-40B4-BE49-F238E27FC236}">
                <a16:creationId xmlns:a16="http://schemas.microsoft.com/office/drawing/2014/main" id="{95F2F517-006A-4CF3-B5AD-1941FE013916}"/>
              </a:ext>
            </a:extLst>
          </p:cNvPr>
          <p:cNvCxnSpPr>
            <a:cxnSpLocks noChangeShapeType="1"/>
            <a:stCxn id="88082" idx="5"/>
            <a:endCxn id="88082" idx="6"/>
          </p:cNvCxnSpPr>
          <p:nvPr/>
        </p:nvCxnSpPr>
        <p:spPr bwMode="auto">
          <a:xfrm rot="5400000" flipH="1" flipV="1">
            <a:off x="7366000" y="5937250"/>
            <a:ext cx="228600" cy="279400"/>
          </a:xfrm>
          <a:prstGeom prst="curvedConnector4">
            <a:avLst>
              <a:gd name="adj1" fmla="val -141250"/>
              <a:gd name="adj2" fmla="val 181940"/>
            </a:avLst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90" name="AutoShape 19">
            <a:extLst>
              <a:ext uri="{FF2B5EF4-FFF2-40B4-BE49-F238E27FC236}">
                <a16:creationId xmlns:a16="http://schemas.microsoft.com/office/drawing/2014/main" id="{0309D80E-9FDC-49E3-968A-D003AFB92ADF}"/>
              </a:ext>
            </a:extLst>
          </p:cNvPr>
          <p:cNvCxnSpPr>
            <a:cxnSpLocks noChangeShapeType="1"/>
            <a:stCxn id="88082" idx="2"/>
            <a:endCxn id="88082" idx="3"/>
          </p:cNvCxnSpPr>
          <p:nvPr/>
        </p:nvCxnSpPr>
        <p:spPr bwMode="auto">
          <a:xfrm rot="10800000" flipH="1" flipV="1">
            <a:off x="5715000" y="5962650"/>
            <a:ext cx="279400" cy="228600"/>
          </a:xfrm>
          <a:prstGeom prst="curvedConnector4">
            <a:avLst>
              <a:gd name="adj1" fmla="val -81940"/>
              <a:gd name="adj2" fmla="val 241250"/>
            </a:avLst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091" name="Text Box 25">
            <a:extLst>
              <a:ext uri="{FF2B5EF4-FFF2-40B4-BE49-F238E27FC236}">
                <a16:creationId xmlns:a16="http://schemas.microsoft.com/office/drawing/2014/main" id="{C50DFEBC-50C2-4C70-BA5F-26FD0BA69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676400"/>
            <a:ext cx="548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800">
                <a:solidFill>
                  <a:srgbClr val="00B050"/>
                </a:solidFill>
                <a:latin typeface="Albertus Extra Bold" pitchFamily="34" charset="0"/>
                <a:cs typeface="Arial" panose="020B0604020202020204" pitchFamily="34" charset="0"/>
              </a:rPr>
              <a:t>Semantics as Kripke structure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DCC6C42-9E8C-46F4-85D8-5E7D9336E733}"/>
              </a:ext>
            </a:extLst>
          </p:cNvPr>
          <p:cNvCxnSpPr>
            <a:stCxn id="88079" idx="4"/>
            <a:endCxn id="88082" idx="0"/>
          </p:cNvCxnSpPr>
          <p:nvPr/>
        </p:nvCxnSpPr>
        <p:spPr>
          <a:xfrm rot="5400000">
            <a:off x="5467350" y="4286250"/>
            <a:ext cx="2552700" cy="1524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乘號 29">
            <a:extLst>
              <a:ext uri="{FF2B5EF4-FFF2-40B4-BE49-F238E27FC236}">
                <a16:creationId xmlns:a16="http://schemas.microsoft.com/office/drawing/2014/main" id="{2927F3AD-32A6-4997-87A1-7903C953015F}"/>
              </a:ext>
            </a:extLst>
          </p:cNvPr>
          <p:cNvSpPr/>
          <p:nvPr/>
        </p:nvSpPr>
        <p:spPr>
          <a:xfrm>
            <a:off x="6400800" y="3200400"/>
            <a:ext cx="914400" cy="9144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88094" name="文字方塊 30">
            <a:extLst>
              <a:ext uri="{FF2B5EF4-FFF2-40B4-BE49-F238E27FC236}">
                <a16:creationId xmlns:a16="http://schemas.microsoft.com/office/drawing/2014/main" id="{BE7CC923-E915-4988-973F-31141B78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257800"/>
            <a:ext cx="1576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S1={x=0,x=1}</a:t>
            </a:r>
            <a:endParaRPr lang="zh-TW" altLang="en-US" sz="1800"/>
          </a:p>
        </p:txBody>
      </p:sp>
      <p:sp>
        <p:nvSpPr>
          <p:cNvPr id="88095" name="文字方塊 31">
            <a:extLst>
              <a:ext uri="{FF2B5EF4-FFF2-40B4-BE49-F238E27FC236}">
                <a16:creationId xmlns:a16="http://schemas.microsoft.com/office/drawing/2014/main" id="{312DE298-5F4A-4C32-A198-E2E8825E0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257800"/>
            <a:ext cx="1576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S2={y=0,y=1}</a:t>
            </a:r>
            <a:endParaRPr lang="zh-TW" altLang="en-US"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編號版面配置區 5">
            <a:extLst>
              <a:ext uri="{FF2B5EF4-FFF2-40B4-BE49-F238E27FC236}">
                <a16:creationId xmlns:a16="http://schemas.microsoft.com/office/drawing/2014/main" id="{E3F7E07E-C660-4767-B8D2-8D636CED1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E08F3A-81AA-4933-87AF-C388CF1D599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676D054D-3F98-4797-8B5D-BC2FA17BE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936625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Structures</a:t>
            </a:r>
            <a:br>
              <a:rPr lang="en-US" altLang="zh-TW" sz="3800"/>
            </a:br>
            <a:r>
              <a:rPr lang="en-US" altLang="zh-TW" sz="3800"/>
              <a:t>- composition for a concurrent system 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4515527-6830-4B71-BA41-81C2DAE4A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5410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Given </a:t>
            </a:r>
            <a:r>
              <a:rPr lang="en-US" altLang="zh-TW" sz="2800" i="1">
                <a:sym typeface="Symbol" panose="05050102010706020507" pitchFamily="18" charset="2"/>
              </a:rPr>
              <a:t>A</a:t>
            </a:r>
            <a:r>
              <a:rPr lang="en-US" altLang="zh-TW" sz="2800" i="1" baseline="-25000">
                <a:sym typeface="Symbol" panose="05050102010706020507" pitchFamily="18" charset="2"/>
              </a:rPr>
              <a:t>i</a:t>
            </a:r>
            <a:r>
              <a:rPr lang="en-US" altLang="zh-TW" sz="2800">
                <a:sym typeface="Symbol" panose="05050102010706020507" pitchFamily="18" charset="2"/>
              </a:rPr>
              <a:t>=S</a:t>
            </a:r>
            <a:r>
              <a:rPr lang="en-US" altLang="zh-TW" sz="2800" i="1" baseline="-25000">
                <a:sym typeface="Symbol" panose="05050102010706020507" pitchFamily="18" charset="2"/>
              </a:rPr>
              <a:t>i</a:t>
            </a:r>
            <a:r>
              <a:rPr lang="en-US" altLang="zh-TW" sz="2800"/>
              <a:t>, S</a:t>
            </a:r>
            <a:r>
              <a:rPr lang="en-US" altLang="zh-TW" sz="2800" i="1" baseline="-25000">
                <a:sym typeface="Symbol" panose="05050102010706020507" pitchFamily="18" charset="2"/>
              </a:rPr>
              <a:t>i,</a:t>
            </a:r>
            <a:r>
              <a:rPr lang="en-US" altLang="zh-TW" sz="2800" i="1" baseline="-25000"/>
              <a:t>0</a:t>
            </a:r>
            <a:r>
              <a:rPr lang="en-US" altLang="zh-TW" sz="2800"/>
              <a:t>, </a:t>
            </a:r>
            <a:r>
              <a:rPr lang="en-US" altLang="zh-TW" sz="2800" i="1"/>
              <a:t>R</a:t>
            </a:r>
            <a:r>
              <a:rPr lang="en-US" altLang="zh-TW" sz="2800" i="1" baseline="-25000">
                <a:sym typeface="Symbol" panose="05050102010706020507" pitchFamily="18" charset="2"/>
              </a:rPr>
              <a:t>i</a:t>
            </a:r>
            <a:r>
              <a:rPr lang="en-US" altLang="zh-TW" sz="2800"/>
              <a:t>, </a:t>
            </a:r>
            <a:r>
              <a:rPr lang="en-US" altLang="zh-TW" sz="2800" i="1">
                <a:sym typeface="Symbol" panose="05050102010706020507" pitchFamily="18" charset="2"/>
              </a:rPr>
              <a:t>L</a:t>
            </a:r>
            <a:r>
              <a:rPr lang="en-US" altLang="zh-TW" sz="2800" i="1" baseline="-25000">
                <a:sym typeface="Symbol" panose="05050102010706020507" pitchFamily="18" charset="2"/>
              </a:rPr>
              <a:t>i</a:t>
            </a:r>
            <a:r>
              <a:rPr lang="en-US" altLang="zh-TW" sz="2800">
                <a:sym typeface="Symbol" panose="05050102010706020507" pitchFamily="18" charset="2"/>
              </a:rPr>
              <a:t>, 1 </a:t>
            </a:r>
            <a:r>
              <a:rPr lang="en-US" altLang="zh-TW" sz="2800" i="1">
                <a:sym typeface="Symbol" panose="05050102010706020507" pitchFamily="18" charset="2"/>
              </a:rPr>
              <a:t>i </a:t>
            </a:r>
            <a:r>
              <a:rPr lang="en-US" altLang="zh-TW" sz="2800">
                <a:sym typeface="Symbol" panose="05050102010706020507" pitchFamily="18" charset="2"/>
              </a:rPr>
              <a:t></a:t>
            </a:r>
            <a:r>
              <a:rPr lang="en-US" altLang="zh-TW" sz="2800" i="1">
                <a:sym typeface="Symbol" panose="05050102010706020507" pitchFamily="18" charset="2"/>
              </a:rPr>
              <a:t> n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Cartesian Product </a:t>
            </a:r>
            <a:r>
              <a:rPr lang="en-US" altLang="zh-TW" sz="2800">
                <a:sym typeface="Symbol" panose="05050102010706020507" pitchFamily="18" charset="2"/>
              </a:rPr>
              <a:t>of </a:t>
            </a:r>
            <a:r>
              <a:rPr lang="en-US" altLang="zh-TW" sz="2800" i="1">
                <a:sym typeface="Symbol" panose="05050102010706020507" pitchFamily="18" charset="2"/>
              </a:rPr>
              <a:t>A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/>
              <a:t>, </a:t>
            </a:r>
            <a:r>
              <a:rPr lang="en-US" altLang="zh-TW" sz="2800" i="1">
                <a:sym typeface="Symbol" panose="05050102010706020507" pitchFamily="18" charset="2"/>
              </a:rPr>
              <a:t>A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/>
              <a:t>, </a:t>
            </a:r>
            <a:r>
              <a:rPr lang="en-US" altLang="zh-TW" sz="2800" i="1">
                <a:sym typeface="Symbol" panose="05050102010706020507" pitchFamily="18" charset="2"/>
              </a:rPr>
              <a:t>...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/>
              <a:t>, </a:t>
            </a:r>
            <a:r>
              <a:rPr lang="en-US" altLang="zh-TW" sz="2800" i="1">
                <a:sym typeface="Symbol" panose="05050102010706020507" pitchFamily="18" charset="2"/>
              </a:rPr>
              <a:t>A</a:t>
            </a:r>
            <a:r>
              <a:rPr lang="en-US" altLang="zh-TW" sz="2800" i="1" baseline="-25000">
                <a:sym typeface="Symbol" panose="05050102010706020507" pitchFamily="18" charset="2"/>
              </a:rPr>
              <a:t>n </a:t>
            </a:r>
            <a:r>
              <a:rPr lang="en-US" altLang="zh-TW" sz="2800"/>
              <a:t>,</a:t>
            </a:r>
            <a:endParaRPr lang="en-US" altLang="zh-TW" sz="28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=</a:t>
            </a:r>
            <a:r>
              <a:rPr lang="en-US" altLang="zh-TW" sz="2800" i="1">
                <a:solidFill>
                  <a:schemeClr val="hlink"/>
                </a:solidFill>
              </a:rPr>
              <a:t>S</a:t>
            </a:r>
            <a:r>
              <a:rPr lang="en-US" altLang="zh-TW" sz="2800">
                <a:solidFill>
                  <a:schemeClr val="hlink"/>
                </a:solidFill>
              </a:rPr>
              <a:t>, </a:t>
            </a:r>
            <a:r>
              <a:rPr lang="en-US" altLang="zh-TW" sz="2800" i="1">
                <a:solidFill>
                  <a:schemeClr val="hlink"/>
                </a:solidFill>
              </a:rPr>
              <a:t>S</a:t>
            </a:r>
            <a:r>
              <a:rPr lang="en-US" altLang="zh-TW" sz="2800" i="1" baseline="-25000">
                <a:solidFill>
                  <a:schemeClr val="hlink"/>
                </a:solidFill>
              </a:rPr>
              <a:t>0</a:t>
            </a:r>
            <a:r>
              <a:rPr lang="en-US" altLang="zh-TW" sz="2800">
                <a:solidFill>
                  <a:schemeClr val="hlink"/>
                </a:solidFill>
              </a:rPr>
              <a:t>, R, </a:t>
            </a:r>
            <a:r>
              <a:rPr lang="en-US" altLang="zh-TW" sz="2800" i="1">
                <a:solidFill>
                  <a:schemeClr val="hlink"/>
                </a:solidFill>
                <a:sym typeface="Symbol" panose="05050102010706020507" pitchFamily="18" charset="2"/>
              </a:rPr>
              <a:t>L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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chemeClr val="hlink"/>
                </a:solidFill>
              </a:rPr>
              <a:t>S</a:t>
            </a:r>
            <a:r>
              <a:rPr lang="en-US" altLang="zh-TW" sz="2800" i="1"/>
              <a:t> </a:t>
            </a:r>
            <a:r>
              <a:rPr lang="en-US" altLang="zh-TW" sz="2800">
                <a:sym typeface="Symbol" panose="05050102010706020507" pitchFamily="18" charset="2"/>
              </a:rPr>
              <a:t>: 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...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chemeClr val="hlink"/>
                </a:solidFill>
              </a:rPr>
              <a:t>S</a:t>
            </a:r>
            <a:r>
              <a:rPr lang="en-US" altLang="zh-TW" sz="2800" i="1" baseline="-25000">
                <a:solidFill>
                  <a:schemeClr val="hlink"/>
                </a:solidFill>
              </a:rPr>
              <a:t>0</a:t>
            </a:r>
            <a:r>
              <a:rPr lang="en-US" altLang="zh-TW" sz="2800" i="1" baseline="-25000"/>
              <a:t> </a:t>
            </a:r>
            <a:r>
              <a:rPr lang="en-US" altLang="zh-TW" sz="2800">
                <a:sym typeface="Symbol" panose="05050102010706020507" pitchFamily="18" charset="2"/>
              </a:rPr>
              <a:t>: 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 i="1" baseline="-25000">
                <a:sym typeface="Symbol" panose="05050102010706020507" pitchFamily="18" charset="2"/>
              </a:rPr>
              <a:t>,</a:t>
            </a:r>
            <a:r>
              <a:rPr lang="en-US" altLang="zh-TW" sz="2800" i="1" baseline="-25000"/>
              <a:t>0 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 i="1" baseline="-25000">
                <a:sym typeface="Symbol" panose="05050102010706020507" pitchFamily="18" charset="2"/>
              </a:rPr>
              <a:t>,</a:t>
            </a:r>
            <a:r>
              <a:rPr lang="en-US" altLang="zh-TW" sz="2800" i="1" baseline="-25000"/>
              <a:t>0 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/>
              <a:t>...</a:t>
            </a:r>
            <a:r>
              <a:rPr lang="en-US" altLang="zh-TW" sz="2800" i="1" baseline="-25000"/>
              <a:t> 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n,</a:t>
            </a:r>
            <a:r>
              <a:rPr lang="en-US" altLang="zh-TW" sz="2800" i="1" baseline="-25000"/>
              <a:t>0</a:t>
            </a:r>
            <a:endParaRPr lang="en-US" altLang="zh-TW" sz="28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chemeClr val="hlink"/>
                </a:solidFill>
                <a:sym typeface="Symbol" panose="05050102010706020507" pitchFamily="18" charset="2"/>
              </a:rPr>
              <a:t>R</a:t>
            </a:r>
            <a:r>
              <a:rPr lang="en-US" altLang="zh-TW" sz="2800">
                <a:sym typeface="Symbol" panose="05050102010706020507" pitchFamily="18" charset="2"/>
              </a:rPr>
              <a:t>([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/>
              <a:t>,...</a:t>
            </a:r>
            <a:r>
              <a:rPr lang="en-US" altLang="zh-TW" sz="2800" i="1"/>
              <a:t>,s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baseline="-25000">
                <a:sym typeface="Symbol" panose="05050102010706020507" pitchFamily="18" charset="2"/>
              </a:rPr>
              <a:t>1</a:t>
            </a:r>
            <a:r>
              <a:rPr lang="en-US" altLang="zh-TW" sz="2800"/>
              <a:t>, </a:t>
            </a:r>
            <a:r>
              <a:rPr lang="en-US" altLang="zh-TW" sz="2800" i="1">
                <a:solidFill>
                  <a:srgbClr val="33CC33"/>
                </a:solidFill>
              </a:rPr>
              <a:t>s</a:t>
            </a:r>
            <a:r>
              <a:rPr lang="en-US" altLang="zh-TW" sz="2800" i="1" baseline="-25000">
                <a:solidFill>
                  <a:srgbClr val="33CC33"/>
                </a:solidFill>
                <a:sym typeface="Symbol" panose="05050102010706020507" pitchFamily="18" charset="2"/>
              </a:rPr>
              <a:t>j</a:t>
            </a:r>
            <a:r>
              <a:rPr lang="en-US" altLang="zh-TW" sz="2800" i="1" baseline="-25000">
                <a:sym typeface="Symbol" panose="05050102010706020507" pitchFamily="18" charset="2"/>
              </a:rPr>
              <a:t> </a:t>
            </a:r>
            <a:r>
              <a:rPr lang="en-US" altLang="zh-TW" sz="2800"/>
              <a:t>,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baseline="-25000">
                <a:sym typeface="Symbol" panose="05050102010706020507" pitchFamily="18" charset="2"/>
              </a:rPr>
              <a:t>+1</a:t>
            </a:r>
            <a:r>
              <a:rPr lang="en-US" altLang="zh-TW" sz="2800"/>
              <a:t>,...,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],[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/>
              <a:t>,...</a:t>
            </a:r>
            <a:r>
              <a:rPr lang="en-US" altLang="zh-TW" sz="2800" i="1"/>
              <a:t>,s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baseline="-25000">
                <a:sym typeface="Symbol" panose="05050102010706020507" pitchFamily="18" charset="2"/>
              </a:rPr>
              <a:t>1</a:t>
            </a:r>
            <a:r>
              <a:rPr lang="en-US" altLang="zh-TW" sz="2800"/>
              <a:t>,</a:t>
            </a:r>
            <a:r>
              <a:rPr lang="en-US" altLang="zh-TW" sz="2800">
                <a:solidFill>
                  <a:srgbClr val="0000CC"/>
                </a:solidFill>
              </a:rPr>
              <a:t> </a:t>
            </a:r>
            <a:r>
              <a:rPr lang="en-US" altLang="zh-TW" sz="2800" i="1">
                <a:solidFill>
                  <a:srgbClr val="33CC33"/>
                </a:solidFill>
              </a:rPr>
              <a:t>s’</a:t>
            </a:r>
            <a:r>
              <a:rPr lang="en-US" altLang="zh-TW" sz="2800" i="1" baseline="-25000">
                <a:solidFill>
                  <a:srgbClr val="33CC33"/>
                </a:solidFill>
                <a:sym typeface="Symbol" panose="05050102010706020507" pitchFamily="18" charset="2"/>
              </a:rPr>
              <a:t>j</a:t>
            </a:r>
            <a:r>
              <a:rPr lang="en-US" altLang="zh-TW" sz="2800" i="1" baseline="-25000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/>
              <a:t>,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baseline="-25000">
                <a:sym typeface="Symbol" panose="05050102010706020507" pitchFamily="18" charset="2"/>
              </a:rPr>
              <a:t>+1</a:t>
            </a:r>
            <a:r>
              <a:rPr lang="en-US" altLang="zh-TW" sz="2800"/>
              <a:t>,...,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]) </a:t>
            </a:r>
          </a:p>
          <a:p>
            <a:pPr lvl="1" eaLnBrk="1" hangingPunct="1"/>
            <a:r>
              <a:rPr lang="en-US" altLang="zh-TW" sz="2800" i="1">
                <a:sym typeface="Symbol" panose="05050102010706020507" pitchFamily="18" charset="2"/>
              </a:rPr>
              <a:t>(s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i="1">
                <a:sym typeface="Symbol" panose="05050102010706020507" pitchFamily="18" charset="2"/>
              </a:rPr>
              <a:t>,s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  <a:r>
              <a:rPr lang="en-US" altLang="zh-TW" sz="2800" i="1">
                <a:sym typeface="Symbol" panose="05050102010706020507" pitchFamily="18" charset="2"/>
              </a:rPr>
              <a:t>’)</a:t>
            </a:r>
            <a:r>
              <a:rPr lang="en-US" altLang="zh-TW" sz="2800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∈</a:t>
            </a:r>
            <a:r>
              <a:rPr lang="en-US" altLang="zh-TW" sz="2800" i="1">
                <a:sym typeface="Symbol" panose="05050102010706020507" pitchFamily="18" charset="2"/>
              </a:rPr>
              <a:t>R</a:t>
            </a:r>
            <a:r>
              <a:rPr lang="en-US" altLang="zh-TW" sz="2800" i="1" baseline="-25000">
                <a:sym typeface="Symbol" panose="05050102010706020507" pitchFamily="18" charset="2"/>
              </a:rPr>
              <a:t>j</a:t>
            </a:r>
          </a:p>
          <a:p>
            <a:pPr lvl="1" eaLnBrk="1" hangingPunct="1"/>
            <a:r>
              <a:rPr lang="en-US" altLang="zh-TW" sz="2800" i="1">
                <a:sym typeface="Symbol" panose="05050102010706020507" pitchFamily="18" charset="2"/>
              </a:rPr>
              <a:t>According to the interleaving semantics, one process transition at a moment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chemeClr val="hlink"/>
                </a:solidFill>
                <a:sym typeface="Symbol" panose="05050102010706020507" pitchFamily="18" charset="2"/>
              </a:rPr>
              <a:t>L</a:t>
            </a:r>
            <a:r>
              <a:rPr lang="en-US" altLang="zh-TW" sz="2800">
                <a:sym typeface="Symbol" panose="05050102010706020507" pitchFamily="18" charset="2"/>
              </a:rPr>
              <a:t>([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/>
              <a:t>,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 i="1" baseline="-25000"/>
              <a:t> </a:t>
            </a:r>
            <a:r>
              <a:rPr lang="en-US" altLang="zh-TW" sz="2800"/>
              <a:t>, ...</a:t>
            </a:r>
            <a:r>
              <a:rPr lang="en-US" altLang="zh-TW" sz="2800" i="1" baseline="-25000"/>
              <a:t> </a:t>
            </a:r>
            <a:r>
              <a:rPr lang="en-US" altLang="zh-TW" sz="2800"/>
              <a:t>,</a:t>
            </a:r>
            <a:r>
              <a:rPr lang="en-US" altLang="zh-TW" sz="2800" i="1" baseline="-25000"/>
              <a:t> 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])= </a:t>
            </a:r>
            <a:r>
              <a:rPr lang="en-US" altLang="zh-TW" sz="2800" i="1">
                <a:sym typeface="Symbol" panose="05050102010706020507" pitchFamily="18" charset="2"/>
              </a:rPr>
              <a:t>L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(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)  </a:t>
            </a:r>
            <a:r>
              <a:rPr lang="en-US" altLang="zh-TW" sz="2800" i="1">
                <a:sym typeface="Symbol" panose="05050102010706020507" pitchFamily="18" charset="2"/>
              </a:rPr>
              <a:t>L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(</a:t>
            </a:r>
            <a:r>
              <a:rPr lang="en-US" altLang="zh-TW" sz="2800" i="1"/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)  ...  </a:t>
            </a:r>
            <a:r>
              <a:rPr lang="en-US" altLang="zh-TW" sz="2800" i="1">
                <a:sym typeface="Symbol" panose="05050102010706020507" pitchFamily="18" charset="2"/>
              </a:rPr>
              <a:t>L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(</a:t>
            </a:r>
            <a:r>
              <a:rPr lang="en-US" altLang="zh-TW" sz="2800" i="1"/>
              <a:t>s</a:t>
            </a:r>
            <a:r>
              <a:rPr lang="en-US" altLang="zh-TW" sz="2800" i="1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</a:t>
            </a:r>
            <a:r>
              <a:rPr lang="en-US" altLang="zh-TW" sz="2800" i="1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編號版面配置區 5">
            <a:extLst>
              <a:ext uri="{FF2B5EF4-FFF2-40B4-BE49-F238E27FC236}">
                <a16:creationId xmlns:a16="http://schemas.microsoft.com/office/drawing/2014/main" id="{EC0EC1D3-9CD8-4B08-92FB-706B9F38FF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6F6FDA-4FAC-4650-889C-079F7922F7A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A0E3A85-2AC3-4513-83A5-32744601A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04800"/>
            <a:ext cx="8139112" cy="1492250"/>
          </a:xfrm>
        </p:spPr>
        <p:txBody>
          <a:bodyPr/>
          <a:lstStyle/>
          <a:p>
            <a:pPr eaLnBrk="1" hangingPunct="1"/>
            <a:r>
              <a:rPr lang="en-US" altLang="zh-TW"/>
              <a:t>Kripke Structures</a:t>
            </a:r>
            <a:br>
              <a:rPr lang="en-US" altLang="zh-TW"/>
            </a:br>
            <a:r>
              <a:rPr lang="en-US" altLang="zh-TW"/>
              <a:t>- Cartesian product method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AE69D92-7202-474A-8FCF-625B1AEB5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600"/>
              <a:t>Construct all the vectors of component process states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600"/>
              <a:t>Eliminate all those inconsistent vectors according to invariance condition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600"/>
              <a:t>Draw arcs from vectors to vectors according to process transitons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i="1">
                <a:solidFill>
                  <a:srgbClr val="FF6600"/>
                </a:solidFill>
              </a:rPr>
              <a:t>Very often creates many unreachable states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標題 1">
            <a:extLst>
              <a:ext uri="{FF2B5EF4-FFF2-40B4-BE49-F238E27FC236}">
                <a16:creationId xmlns:a16="http://schemas.microsoft.com/office/drawing/2014/main" id="{835D46A8-1E90-4641-AEAD-AE6F4854A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</a:t>
            </a:r>
            <a:br>
              <a:rPr lang="en-US" altLang="zh-TW"/>
            </a:br>
            <a:r>
              <a:rPr lang="en-US" altLang="zh-TW" sz="3600"/>
              <a:t>- Practical algorithm for construction</a:t>
            </a:r>
            <a:endParaRPr lang="zh-TW" altLang="en-US" sz="3600"/>
          </a:p>
        </p:txBody>
      </p:sp>
      <p:sp>
        <p:nvSpPr>
          <p:cNvPr id="94211" name="內容版面配置區 2">
            <a:extLst>
              <a:ext uri="{FF2B5EF4-FFF2-40B4-BE49-F238E27FC236}">
                <a16:creationId xmlns:a16="http://schemas.microsoft.com/office/drawing/2014/main" id="{AA2FCC64-3921-49ED-8345-ED46E626AA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200"/>
              <a:t>Given </a:t>
            </a:r>
            <a:r>
              <a:rPr lang="en-US" altLang="zh-TW" sz="3200" i="1">
                <a:sym typeface="Symbol" panose="05050102010706020507" pitchFamily="18" charset="2"/>
              </a:rPr>
              <a:t>A</a:t>
            </a:r>
            <a:r>
              <a:rPr lang="en-US" altLang="zh-TW" sz="3200">
                <a:sym typeface="Symbol" panose="05050102010706020507" pitchFamily="18" charset="2"/>
              </a:rPr>
              <a:t>=S</a:t>
            </a:r>
            <a:r>
              <a:rPr lang="en-US" altLang="zh-TW" sz="3200"/>
              <a:t>, S</a:t>
            </a:r>
            <a:r>
              <a:rPr lang="en-US" altLang="zh-TW" sz="3200" i="1" baseline="-25000"/>
              <a:t>0</a:t>
            </a:r>
            <a:r>
              <a:rPr lang="en-US" altLang="zh-TW" sz="3200"/>
              <a:t>, </a:t>
            </a:r>
            <a:r>
              <a:rPr lang="en-US" altLang="zh-TW" sz="3200" i="1"/>
              <a:t>R</a:t>
            </a:r>
            <a:r>
              <a:rPr lang="en-US" altLang="zh-TW" sz="3200"/>
              <a:t>, </a:t>
            </a:r>
            <a:r>
              <a:rPr lang="en-US" altLang="zh-TW" sz="3200" i="1">
                <a:sym typeface="Symbol" panose="05050102010706020507" pitchFamily="18" charset="2"/>
              </a:rPr>
              <a:t>L</a:t>
            </a:r>
            <a:r>
              <a:rPr lang="en-US" altLang="zh-TW" sz="3200">
                <a:sym typeface="Symbol" panose="05050102010706020507" pitchFamily="18" charset="2"/>
              </a:rPr>
              <a:t></a:t>
            </a:r>
          </a:p>
          <a:p>
            <a:pPr eaLnBrk="1" hangingPunct="1"/>
            <a:r>
              <a:rPr lang="en-US" altLang="zh-TW"/>
              <a:t>Usually only </a:t>
            </a:r>
            <a:r>
              <a:rPr lang="en-US" altLang="zh-TW" sz="2800"/>
              <a:t>S</a:t>
            </a:r>
            <a:r>
              <a:rPr lang="en-US" altLang="zh-TW" sz="2800" baseline="-25000"/>
              <a:t>0</a:t>
            </a:r>
            <a:r>
              <a:rPr lang="en-US" altLang="zh-TW" sz="2800"/>
              <a:t>, R, </a:t>
            </a:r>
            <a:r>
              <a:rPr lang="en-US" altLang="zh-TW" sz="2800">
                <a:sym typeface="Symbol" panose="05050102010706020507" pitchFamily="18" charset="2"/>
              </a:rPr>
              <a:t>L are given.  </a:t>
            </a: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We may want to construct S.</a:t>
            </a: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Usually S is too big to construct.  </a:t>
            </a:r>
            <a:endParaRPr lang="zh-TW" altLang="en-US"/>
          </a:p>
        </p:txBody>
      </p:sp>
      <p:sp>
        <p:nvSpPr>
          <p:cNvPr id="94212" name="投影片編號版面配置區 3">
            <a:extLst>
              <a:ext uri="{FF2B5EF4-FFF2-40B4-BE49-F238E27FC236}">
                <a16:creationId xmlns:a16="http://schemas.microsoft.com/office/drawing/2014/main" id="{C54058D8-CB81-4BEC-B52A-EC489A58DB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39F207-95C1-4750-86DE-925410E9846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編號版面配置區 5">
            <a:extLst>
              <a:ext uri="{FF2B5EF4-FFF2-40B4-BE49-F238E27FC236}">
                <a16:creationId xmlns:a16="http://schemas.microsoft.com/office/drawing/2014/main" id="{E757E6C4-ECA9-406B-9AA9-CB0931B48C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3A1933-4533-4017-B59F-5155697B5CF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63CA4B9-AB86-4F60-AFBB-4910C0208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80400" cy="1439863"/>
          </a:xfrm>
        </p:spPr>
        <p:txBody>
          <a:bodyPr/>
          <a:lstStyle/>
          <a:p>
            <a:pPr eaLnBrk="1" hangingPunct="1"/>
            <a:r>
              <a:rPr lang="en-US" altLang="zh-TW"/>
              <a:t>Kripke Structures</a:t>
            </a:r>
            <a:br>
              <a:rPr lang="en-US" altLang="zh-TW"/>
            </a:br>
            <a:r>
              <a:rPr lang="en-US" altLang="zh-TW"/>
              <a:t>- on-the-fly method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83C345A7-2B04-4A64-98BC-8FA31DD38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/>
              <a:t>Starting from the initial states (or goal states in backward analysis)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/>
              <a:t>Step by step, add states that is reachable from those already reached, until no more new reachable states are generated.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TW" i="1">
                <a:solidFill>
                  <a:srgbClr val="FF6600"/>
                </a:solidFill>
              </a:rPr>
              <a:t>Tedious but may result in much smaller reachable state-space reprsentation.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投影片編號版面配置區 5">
            <a:extLst>
              <a:ext uri="{FF2B5EF4-FFF2-40B4-BE49-F238E27FC236}">
                <a16:creationId xmlns:a16="http://schemas.microsoft.com/office/drawing/2014/main" id="{3A69DDA5-C21B-4556-990C-9DFA9BCAA3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353505-BAB0-4F86-A5FF-85126CB5EA9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3CEA4F0B-C247-46D8-B72C-900369F70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History of Temporal Logic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BE45FDEB-F0C6-4248-85B6-8D2490943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600"/>
              <a:t>Designed by philosophers to study the way that time is used in natural language arguments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Reviewed by Prior [PR57, PR67]</a:t>
            </a:r>
          </a:p>
          <a:p>
            <a:pPr eaLnBrk="1" hangingPunct="1">
              <a:lnSpc>
                <a:spcPct val="90000"/>
              </a:lnSpc>
            </a:pPr>
            <a:endParaRPr lang="en-US" altLang="zh-TW" sz="2600"/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Brought to Computer Science by Pnueli [PN77]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Has proved to be useful for specification of </a:t>
            </a:r>
            <a:r>
              <a:rPr lang="en-US" altLang="zh-TW" sz="2600">
                <a:solidFill>
                  <a:schemeClr val="tx2"/>
                </a:solidFill>
              </a:rPr>
              <a:t>concurrent systems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編號版面配置區 5">
            <a:extLst>
              <a:ext uri="{FF2B5EF4-FFF2-40B4-BE49-F238E27FC236}">
                <a16:creationId xmlns:a16="http://schemas.microsoft.com/office/drawing/2014/main" id="{73CF4B67-2AA3-495D-825D-37C4CF92E9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2C7837-B4F2-4C8B-9370-EBC065CDBDB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1653472B-23B8-40BC-995E-C954EC7C7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Framework</a:t>
            </a:r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47328AC-85D0-4A91-8E2C-EC1A67370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600"/>
              <a:t>Temporal Logic is a class of </a:t>
            </a:r>
            <a:r>
              <a:rPr lang="en-US" altLang="zh-TW" sz="2600">
                <a:solidFill>
                  <a:schemeClr val="tx2"/>
                </a:solidFill>
              </a:rPr>
              <a:t>Modal Logic</a:t>
            </a:r>
          </a:p>
          <a:p>
            <a:pPr eaLnBrk="1" hangingPunct="1"/>
            <a:r>
              <a:rPr lang="en-US" altLang="zh-TW" sz="2600"/>
              <a:t>Allows qualitatively describing and reasoning about changes of the truth values over time</a:t>
            </a:r>
          </a:p>
          <a:p>
            <a:pPr eaLnBrk="1" hangingPunct="1"/>
            <a:r>
              <a:rPr lang="en-US" altLang="zh-TW" sz="2600"/>
              <a:t>Usually implicit time representation</a:t>
            </a:r>
          </a:p>
          <a:p>
            <a:pPr eaLnBrk="1" hangingPunct="1"/>
            <a:r>
              <a:rPr lang="en-US" altLang="zh-TW" sz="2600"/>
              <a:t>Provides variety of </a:t>
            </a:r>
            <a:r>
              <a:rPr lang="en-US" altLang="zh-TW" sz="2600">
                <a:solidFill>
                  <a:schemeClr val="tx2"/>
                </a:solidFill>
              </a:rPr>
              <a:t>temporal operators</a:t>
            </a:r>
            <a:r>
              <a:rPr lang="en-US" altLang="zh-TW" sz="2600"/>
              <a:t> (</a:t>
            </a:r>
            <a:r>
              <a:rPr lang="en-US" altLang="zh-TW" sz="2600" i="1"/>
              <a:t>sometimes, always</a:t>
            </a:r>
            <a:r>
              <a:rPr lang="en-US" altLang="zh-TW" sz="2600"/>
              <a:t>)</a:t>
            </a:r>
          </a:p>
          <a:p>
            <a:pPr eaLnBrk="1" hangingPunct="1"/>
            <a:r>
              <a:rPr lang="en-US" altLang="zh-TW" sz="2600"/>
              <a:t>Different views of time (branching vs. linear, discrete vs. continuous, past vs. future, etc.)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編號版面配置區 5">
            <a:extLst>
              <a:ext uri="{FF2B5EF4-FFF2-40B4-BE49-F238E27FC236}">
                <a16:creationId xmlns:a16="http://schemas.microsoft.com/office/drawing/2014/main" id="{3E8B89ED-F5C1-48AB-8D0C-944E58F32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1E4ADD-6D51-4648-B66F-AFFA0F48B59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64E0CBAB-5789-4D76-8579-589E535B0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Outline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C3625005-C694-4A27-B37F-22BE83C95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700"/>
              <a:t>Linear</a:t>
            </a:r>
          </a:p>
          <a:p>
            <a:pPr lvl="1" eaLnBrk="1" hangingPunct="1"/>
            <a:r>
              <a:rPr lang="en-US" altLang="zh-TW" sz="2900"/>
              <a:t>LPTL (Linear time Propositional Temporal Logics)</a:t>
            </a:r>
          </a:p>
          <a:p>
            <a:pPr eaLnBrk="1" hangingPunct="1"/>
            <a:r>
              <a:rPr lang="en-US" altLang="zh-TW" sz="2700"/>
              <a:t>Branching</a:t>
            </a:r>
          </a:p>
          <a:p>
            <a:pPr lvl="1" eaLnBrk="1" hangingPunct="1"/>
            <a:r>
              <a:rPr lang="en-US" altLang="zh-TW" sz="2900"/>
              <a:t>CTL (Computation Tree Logics)</a:t>
            </a:r>
          </a:p>
          <a:p>
            <a:pPr lvl="1" eaLnBrk="1" hangingPunct="1"/>
            <a:r>
              <a:rPr lang="en-US" altLang="zh-TW" sz="2900"/>
              <a:t>CTL* (the full branching temporal logics)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編號版面配置區 5">
            <a:extLst>
              <a:ext uri="{FF2B5EF4-FFF2-40B4-BE49-F238E27FC236}">
                <a16:creationId xmlns:a16="http://schemas.microsoft.com/office/drawing/2014/main" id="{FCF6B30A-235C-4AAF-8D6C-DA58A0FF5D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4B399E-8723-4FC2-B249-CEC453CA5E4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9852E5EC-E76B-4E08-9099-F5D62CB74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BNF, syntax definitions</a:t>
            </a:r>
            <a:br>
              <a:rPr lang="en-US" altLang="zh-TW" sz="3800"/>
            </a:br>
            <a:r>
              <a:rPr lang="en-US" altLang="zh-TW" sz="3800"/>
              <a:t>Note!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00164F55-0E32-4B1B-8E66-057AC229A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Be sure how to read BNF 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used for define syntax of context-free language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important for the definition of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200"/>
              <a:t>automata predicates and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200"/>
              <a:t>temporal logics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Used throughout the lectures!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In exam: violate the syntax rules </a:t>
            </a:r>
            <a:r>
              <a:rPr lang="en-US" altLang="zh-TW" sz="2600">
                <a:sym typeface="Wingdings" panose="05000000000000000000" pitchFamily="2" charset="2"/>
              </a:rPr>
              <a:t> </a:t>
            </a:r>
            <a:r>
              <a:rPr lang="en-US" altLang="zh-TW" sz="2600">
                <a:solidFill>
                  <a:srgbClr val="FF0000"/>
                </a:solidFill>
                <a:sym typeface="Wingdings" panose="05000000000000000000" pitchFamily="2" charset="2"/>
              </a:rPr>
              <a:t>no</a:t>
            </a:r>
            <a:r>
              <a:rPr lang="en-US" altLang="zh-TW" sz="2600">
                <a:solidFill>
                  <a:srgbClr val="FF0000"/>
                </a:solidFill>
              </a:rPr>
              <a:t> credit.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600">
              <a:solidFill>
                <a:srgbClr val="FF0000"/>
              </a:solidFill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    A ::= c | x | (M) | A</a:t>
            </a:r>
            <a:r>
              <a:rPr lang="en-US" altLang="zh-TW" sz="2600" baseline="-25000"/>
              <a:t>1</a:t>
            </a:r>
            <a:r>
              <a:rPr lang="en-US" altLang="zh-TW" sz="2600"/>
              <a:t>+A</a:t>
            </a:r>
            <a:r>
              <a:rPr lang="en-US" altLang="zh-TW" sz="2600" baseline="-25000"/>
              <a:t>2</a:t>
            </a:r>
            <a:r>
              <a:rPr lang="en-US" altLang="zh-TW" sz="2600"/>
              <a:t> | A</a:t>
            </a:r>
            <a:r>
              <a:rPr lang="en-US" altLang="zh-TW" sz="2600" baseline="-25000"/>
              <a:t>1</a:t>
            </a:r>
            <a:r>
              <a:rPr lang="en-US" altLang="zh-TW" sz="2600"/>
              <a:t>–A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    M ::=  c | x | (A) | M</a:t>
            </a:r>
            <a:r>
              <a:rPr lang="en-US" altLang="zh-TW" sz="2600" baseline="-25000"/>
              <a:t>1</a:t>
            </a:r>
            <a:r>
              <a:rPr lang="en-US" altLang="zh-TW" sz="2600"/>
              <a:t>*M</a:t>
            </a:r>
            <a:r>
              <a:rPr lang="en-US" altLang="zh-TW" sz="2600" baseline="-25000"/>
              <a:t>2</a:t>
            </a:r>
            <a:r>
              <a:rPr lang="en-US" altLang="zh-TW" sz="2600"/>
              <a:t> | M</a:t>
            </a:r>
            <a:r>
              <a:rPr lang="en-US" altLang="zh-TW" sz="2600" baseline="-25000"/>
              <a:t>1</a:t>
            </a:r>
            <a:r>
              <a:rPr lang="en-US" altLang="zh-TW" sz="2600"/>
              <a:t>/M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c is an integer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x is a variable name.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投影片編號版面配置區 5">
            <a:extLst>
              <a:ext uri="{FF2B5EF4-FFF2-40B4-BE49-F238E27FC236}">
                <a16:creationId xmlns:a16="http://schemas.microsoft.com/office/drawing/2014/main" id="{5BCB10A8-30D3-4D4F-B974-422CAF71D6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279F70-734A-4899-AD12-2FF671EC79D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9B80CBC1-C630-4A2C-AE3F-F01B67836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BNF, syntax definitions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349C28EC-A97A-4F1C-B200-A843EA4EF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05400" cy="2057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A ::= c | x | (M) | A</a:t>
            </a:r>
            <a:r>
              <a:rPr lang="en-US" altLang="zh-TW" sz="2600" baseline="-25000"/>
              <a:t>1</a:t>
            </a:r>
            <a:r>
              <a:rPr lang="en-US" altLang="zh-TW" sz="2600"/>
              <a:t>+A</a:t>
            </a:r>
            <a:r>
              <a:rPr lang="en-US" altLang="zh-TW" sz="2600" baseline="-25000"/>
              <a:t>2</a:t>
            </a:r>
            <a:r>
              <a:rPr lang="en-US" altLang="zh-TW" sz="2600"/>
              <a:t> | A</a:t>
            </a:r>
            <a:r>
              <a:rPr lang="en-US" altLang="zh-TW" sz="2600" baseline="-25000"/>
              <a:t>1</a:t>
            </a:r>
            <a:r>
              <a:rPr lang="en-US" altLang="zh-TW" sz="2600"/>
              <a:t>–A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M ::=  c | x | (A) | M</a:t>
            </a:r>
            <a:r>
              <a:rPr lang="en-US" altLang="zh-TW" sz="2600" baseline="-25000"/>
              <a:t>1</a:t>
            </a:r>
            <a:r>
              <a:rPr lang="en-US" altLang="zh-TW" sz="2600"/>
              <a:t>*M</a:t>
            </a:r>
            <a:r>
              <a:rPr lang="en-US" altLang="zh-TW" sz="2600" baseline="-25000"/>
              <a:t>2</a:t>
            </a:r>
            <a:r>
              <a:rPr lang="en-US" altLang="zh-TW" sz="2600"/>
              <a:t> | M</a:t>
            </a:r>
            <a:r>
              <a:rPr lang="en-US" altLang="zh-TW" sz="2600" baseline="-25000"/>
              <a:t>1</a:t>
            </a:r>
            <a:r>
              <a:rPr lang="en-US" altLang="zh-TW" sz="2600"/>
              <a:t>/M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c is an integer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x is a variable name. </a:t>
            </a:r>
          </a:p>
        </p:txBody>
      </p:sp>
      <p:grpSp>
        <p:nvGrpSpPr>
          <p:cNvPr id="106501" name="群組 14">
            <a:extLst>
              <a:ext uri="{FF2B5EF4-FFF2-40B4-BE49-F238E27FC236}">
                <a16:creationId xmlns:a16="http://schemas.microsoft.com/office/drawing/2014/main" id="{FDE267F5-A22E-41D7-B65F-2CC279311030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514600"/>
            <a:ext cx="2540000" cy="763588"/>
            <a:chOff x="5473326" y="1524000"/>
            <a:chExt cx="2540748" cy="763915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5E1D3EE3-DE48-49BF-822D-69D73E81935E}"/>
                </a:ext>
              </a:extLst>
            </p:cNvPr>
            <p:cNvSpPr/>
            <p:nvPr/>
          </p:nvSpPr>
          <p:spPr>
            <a:xfrm>
              <a:off x="6400699" y="1524000"/>
              <a:ext cx="609780" cy="5336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A</a:t>
              </a:r>
            </a:p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+</a:t>
              </a:r>
              <a:endParaRPr lang="zh-TW" altLang="en-US">
                <a:solidFill>
                  <a:srgbClr val="FFFFFF"/>
                </a:solidFill>
              </a:endParaRP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2E20DE15-D9AD-475C-AE23-DAE46A4B3BA7}"/>
                </a:ext>
              </a:extLst>
            </p:cNvPr>
            <p:cNvCxnSpPr>
              <a:stCxn id="5" idx="2"/>
              <a:endCxn id="25" idx="7"/>
            </p:cNvCxnSpPr>
            <p:nvPr/>
          </p:nvCxnSpPr>
          <p:spPr>
            <a:xfrm rot="10800000" flipV="1">
              <a:off x="5473326" y="1790814"/>
              <a:ext cx="927373" cy="4971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A10C9D33-A015-448B-B42E-BBCE46C63FBE}"/>
                </a:ext>
              </a:extLst>
            </p:cNvPr>
            <p:cNvCxnSpPr>
              <a:stCxn id="5" idx="6"/>
              <a:endCxn id="21" idx="1"/>
            </p:cNvCxnSpPr>
            <p:nvPr/>
          </p:nvCxnSpPr>
          <p:spPr>
            <a:xfrm>
              <a:off x="7010479" y="1790814"/>
              <a:ext cx="1003595" cy="4971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2" name="群組 15">
            <a:extLst>
              <a:ext uri="{FF2B5EF4-FFF2-40B4-BE49-F238E27FC236}">
                <a16:creationId xmlns:a16="http://schemas.microsoft.com/office/drawing/2014/main" id="{746D9EAC-0FA5-4DAF-A49B-13B9C678BCC9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3810000"/>
            <a:ext cx="1371600" cy="762000"/>
            <a:chOff x="6019801" y="1371600"/>
            <a:chExt cx="1371599" cy="7620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D8BA1004-06CB-47DC-9E49-F509DDAF2120}"/>
                </a:ext>
              </a:extLst>
            </p:cNvPr>
            <p:cNvSpPr/>
            <p:nvPr/>
          </p:nvSpPr>
          <p:spPr>
            <a:xfrm>
              <a:off x="6400801" y="1371600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M</a:t>
              </a:r>
            </a:p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*</a:t>
              </a:r>
              <a:endParaRPr lang="zh-TW" altLang="en-US">
                <a:solidFill>
                  <a:srgbClr val="FFFFFF"/>
                </a:solidFill>
              </a:endParaRPr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06AD8DD-34EC-4A5D-B3E1-0D8C3DE6D953}"/>
                </a:ext>
              </a:extLst>
            </p:cNvPr>
            <p:cNvCxnSpPr>
              <a:stCxn id="17" idx="3"/>
            </p:cNvCxnSpPr>
            <p:nvPr/>
          </p:nvCxnSpPr>
          <p:spPr>
            <a:xfrm rot="5400000">
              <a:off x="6101557" y="1745457"/>
              <a:ext cx="306387" cy="469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6E4969A-0F86-485F-BB54-F133AD85A81D}"/>
                </a:ext>
              </a:extLst>
            </p:cNvPr>
            <p:cNvCxnSpPr/>
            <p:nvPr/>
          </p:nvCxnSpPr>
          <p:spPr>
            <a:xfrm>
              <a:off x="6934200" y="1828800"/>
              <a:ext cx="45720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3" name="群組 19">
            <a:extLst>
              <a:ext uri="{FF2B5EF4-FFF2-40B4-BE49-F238E27FC236}">
                <a16:creationId xmlns:a16="http://schemas.microsoft.com/office/drawing/2014/main" id="{34A0CCCE-5B0D-4D53-BF36-EA93388485F0}"/>
              </a:ext>
            </a:extLst>
          </p:cNvPr>
          <p:cNvGrpSpPr>
            <a:grpSpLocks/>
          </p:cNvGrpSpPr>
          <p:nvPr/>
        </p:nvGrpSpPr>
        <p:grpSpPr bwMode="auto">
          <a:xfrm>
            <a:off x="6794500" y="3200400"/>
            <a:ext cx="1371600" cy="762000"/>
            <a:chOff x="6019801" y="1371600"/>
            <a:chExt cx="1371599" cy="762000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73876EF3-6E03-48A3-98A0-AC3F065553B4}"/>
                </a:ext>
              </a:extLst>
            </p:cNvPr>
            <p:cNvSpPr/>
            <p:nvPr/>
          </p:nvSpPr>
          <p:spPr>
            <a:xfrm>
              <a:off x="6400801" y="1371600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A</a:t>
              </a:r>
            </a:p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-</a:t>
              </a:r>
              <a:endParaRPr lang="zh-TW" altLang="en-US">
                <a:solidFill>
                  <a:srgbClr val="FFFFFF"/>
                </a:solidFill>
              </a:endParaRPr>
            </a:p>
          </p:txBody>
        </p: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5C78CD51-61FC-44D8-971D-8489834C351D}"/>
                </a:ext>
              </a:extLst>
            </p:cNvPr>
            <p:cNvCxnSpPr>
              <a:stCxn id="21" idx="3"/>
            </p:cNvCxnSpPr>
            <p:nvPr/>
          </p:nvCxnSpPr>
          <p:spPr>
            <a:xfrm rot="5400000">
              <a:off x="6101557" y="1745457"/>
              <a:ext cx="306387" cy="469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F63DAB38-31E9-4B43-B1E5-8549567F1305}"/>
                </a:ext>
              </a:extLst>
            </p:cNvPr>
            <p:cNvCxnSpPr/>
            <p:nvPr/>
          </p:nvCxnSpPr>
          <p:spPr>
            <a:xfrm>
              <a:off x="6934200" y="1828800"/>
              <a:ext cx="45720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4" name="群組 23">
            <a:extLst>
              <a:ext uri="{FF2B5EF4-FFF2-40B4-BE49-F238E27FC236}">
                <a16:creationId xmlns:a16="http://schemas.microsoft.com/office/drawing/2014/main" id="{877A9CF4-9D53-4E47-8BB2-A54847EA370D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200400"/>
            <a:ext cx="927100" cy="687388"/>
            <a:chOff x="6082926" y="1371600"/>
            <a:chExt cx="927474" cy="687715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A9C4078A-33F2-4183-9FF9-59CB4294AC9A}"/>
                </a:ext>
              </a:extLst>
            </p:cNvPr>
            <p:cNvSpPr/>
            <p:nvPr/>
          </p:nvSpPr>
          <p:spPr>
            <a:xfrm>
              <a:off x="6400554" y="1371600"/>
              <a:ext cx="609846" cy="5336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A</a:t>
              </a:r>
            </a:p>
            <a:p>
              <a:pPr algn="ctr" eaLnBrk="1" hangingPunct="1">
                <a:defRPr/>
              </a:pPr>
              <a:r>
                <a:rPr lang="en-US" altLang="zh-TW">
                  <a:solidFill>
                    <a:srgbClr val="FFFFFF"/>
                  </a:solidFill>
                </a:rPr>
                <a:t>( )</a:t>
              </a:r>
              <a:endParaRPr lang="zh-TW" altLang="en-US">
                <a:solidFill>
                  <a:srgbClr val="FFFFFF"/>
                </a:solidFill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CC8CF150-C946-4418-B51D-F369857D9D13}"/>
                </a:ext>
              </a:extLst>
            </p:cNvPr>
            <p:cNvCxnSpPr>
              <a:stCxn id="25" idx="3"/>
              <a:endCxn id="17" idx="7"/>
            </p:cNvCxnSpPr>
            <p:nvPr/>
          </p:nvCxnSpPr>
          <p:spPr>
            <a:xfrm rot="5400000">
              <a:off x="6170265" y="1740091"/>
              <a:ext cx="231885" cy="4065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5" name="群組 32">
            <a:extLst>
              <a:ext uri="{FF2B5EF4-FFF2-40B4-BE49-F238E27FC236}">
                <a16:creationId xmlns:a16="http://schemas.microsoft.com/office/drawing/2014/main" id="{7D6781B0-E94E-456A-9E2D-EBE143A44D53}"/>
              </a:ext>
            </a:extLst>
          </p:cNvPr>
          <p:cNvGrpSpPr>
            <a:grpSpLocks/>
          </p:cNvGrpSpPr>
          <p:nvPr/>
        </p:nvGrpSpPr>
        <p:grpSpPr bwMode="auto">
          <a:xfrm>
            <a:off x="8089900" y="3886200"/>
            <a:ext cx="609600" cy="685800"/>
            <a:chOff x="6400800" y="1524000"/>
            <a:chExt cx="609600" cy="685800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6B5EE325-3329-4EA7-826D-91D710107194}"/>
                </a:ext>
              </a:extLst>
            </p:cNvPr>
            <p:cNvSpPr/>
            <p:nvPr/>
          </p:nvSpPr>
          <p:spPr>
            <a:xfrm>
              <a:off x="6400800" y="1524000"/>
              <a:ext cx="6096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</a:t>
              </a:r>
              <a:endParaRPr lang="zh-TW" altLang="en-US" dirty="0"/>
            </a:p>
          </p:txBody>
        </p: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7ACD3E0B-C8B0-4C55-83D7-8D77C81F796A}"/>
                </a:ext>
              </a:extLst>
            </p:cNvPr>
            <p:cNvCxnSpPr>
              <a:stCxn id="34" idx="4"/>
              <a:endCxn id="53" idx="0"/>
            </p:cNvCxnSpPr>
            <p:nvPr/>
          </p:nvCxnSpPr>
          <p:spPr>
            <a:xfrm rot="5400000">
              <a:off x="6546850" y="2051050"/>
              <a:ext cx="304800" cy="12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6" name="群組 35">
            <a:extLst>
              <a:ext uri="{FF2B5EF4-FFF2-40B4-BE49-F238E27FC236}">
                <a16:creationId xmlns:a16="http://schemas.microsoft.com/office/drawing/2014/main" id="{B6FA8984-0215-4BEA-BF0E-2864788D00D6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3886200"/>
            <a:ext cx="609600" cy="685800"/>
            <a:chOff x="6400800" y="1524000"/>
            <a:chExt cx="609600" cy="685800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0674F629-9628-4C47-BADE-613AFEC06E5C}"/>
                </a:ext>
              </a:extLst>
            </p:cNvPr>
            <p:cNvSpPr/>
            <p:nvPr/>
          </p:nvSpPr>
          <p:spPr>
            <a:xfrm>
              <a:off x="6400800" y="1524000"/>
              <a:ext cx="6096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</a:t>
              </a:r>
              <a:endParaRPr lang="zh-TW" altLang="en-US" dirty="0"/>
            </a:p>
          </p:txBody>
        </p: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6CABD18B-A7FB-4389-9127-442016C5D0A4}"/>
                </a:ext>
              </a:extLst>
            </p:cNvPr>
            <p:cNvCxnSpPr>
              <a:stCxn id="37" idx="4"/>
              <a:endCxn id="52" idx="0"/>
            </p:cNvCxnSpPr>
            <p:nvPr/>
          </p:nvCxnSpPr>
          <p:spPr>
            <a:xfrm rot="5400000">
              <a:off x="6546850" y="2051050"/>
              <a:ext cx="304800" cy="12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7" name="群組 43">
            <a:extLst>
              <a:ext uri="{FF2B5EF4-FFF2-40B4-BE49-F238E27FC236}">
                <a16:creationId xmlns:a16="http://schemas.microsoft.com/office/drawing/2014/main" id="{E0D3BAC3-B59A-4A00-9158-442F15A06335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4572000"/>
            <a:ext cx="609600" cy="609600"/>
            <a:chOff x="6400800" y="1524000"/>
            <a:chExt cx="609600" cy="609600"/>
          </a:xfrm>
        </p:grpSpPr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AF53F98C-8E83-47A1-8308-CB3F284C9E75}"/>
                </a:ext>
              </a:extLst>
            </p:cNvPr>
            <p:cNvSpPr/>
            <p:nvPr/>
          </p:nvSpPr>
          <p:spPr>
            <a:xfrm>
              <a:off x="6400800" y="1524000"/>
              <a:ext cx="6096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M</a:t>
              </a:r>
              <a:endParaRPr lang="zh-TW" altLang="en-US" dirty="0"/>
            </a:p>
          </p:txBody>
        </p: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2EB2BA2A-2DAC-4992-94C6-BE9E2A1E3C40}"/>
                </a:ext>
              </a:extLst>
            </p:cNvPr>
            <p:cNvCxnSpPr>
              <a:stCxn id="45" idx="4"/>
              <a:endCxn id="51" idx="0"/>
            </p:cNvCxnSpPr>
            <p:nvPr/>
          </p:nvCxnSpPr>
          <p:spPr>
            <a:xfrm rot="5400000">
              <a:off x="6584950" y="2012950"/>
              <a:ext cx="228600" cy="12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508" name="群組 46">
            <a:extLst>
              <a:ext uri="{FF2B5EF4-FFF2-40B4-BE49-F238E27FC236}">
                <a16:creationId xmlns:a16="http://schemas.microsoft.com/office/drawing/2014/main" id="{E4798AA9-6AE0-4C63-9A1A-6E6C26AA1694}"/>
              </a:ext>
            </a:extLst>
          </p:cNvPr>
          <p:cNvGrpSpPr>
            <a:grpSpLocks/>
          </p:cNvGrpSpPr>
          <p:nvPr/>
        </p:nvGrpSpPr>
        <p:grpSpPr bwMode="auto">
          <a:xfrm>
            <a:off x="2451100" y="4495800"/>
            <a:ext cx="609600" cy="685800"/>
            <a:chOff x="6400800" y="1524000"/>
            <a:chExt cx="609600" cy="685800"/>
          </a:xfrm>
        </p:grpSpPr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127329E9-CFA0-46E0-BD84-EFBB3B57E8DC}"/>
                </a:ext>
              </a:extLst>
            </p:cNvPr>
            <p:cNvSpPr/>
            <p:nvPr/>
          </p:nvSpPr>
          <p:spPr>
            <a:xfrm>
              <a:off x="6400800" y="1524000"/>
              <a:ext cx="6096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M</a:t>
              </a:r>
              <a:endParaRPr lang="zh-TW" altLang="en-US" dirty="0"/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D91BC97-6AC8-4DDE-B3A8-713C006CFB36}"/>
                </a:ext>
              </a:extLst>
            </p:cNvPr>
            <p:cNvCxnSpPr>
              <a:stCxn id="48" idx="4"/>
              <a:endCxn id="50" idx="0"/>
            </p:cNvCxnSpPr>
            <p:nvPr/>
          </p:nvCxnSpPr>
          <p:spPr>
            <a:xfrm rot="5400000">
              <a:off x="6546850" y="2051050"/>
              <a:ext cx="304800" cy="127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矩形 49">
            <a:extLst>
              <a:ext uri="{FF2B5EF4-FFF2-40B4-BE49-F238E27FC236}">
                <a16:creationId xmlns:a16="http://schemas.microsoft.com/office/drawing/2014/main" id="{B7D2C47B-2955-4EFC-9BF5-38728C7EF8A8}"/>
              </a:ext>
            </a:extLst>
          </p:cNvPr>
          <p:cNvSpPr/>
          <p:nvPr/>
        </p:nvSpPr>
        <p:spPr>
          <a:xfrm>
            <a:off x="24384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5CFF46A-8A8B-4F32-9EFB-2D3544AE9F76}"/>
              </a:ext>
            </a:extLst>
          </p:cNvPr>
          <p:cNvSpPr/>
          <p:nvPr/>
        </p:nvSpPr>
        <p:spPr>
          <a:xfrm>
            <a:off x="41910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x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BCDC020-523D-414E-A1D1-F3DDF13E6B29}"/>
              </a:ext>
            </a:extLst>
          </p:cNvPr>
          <p:cNvSpPr/>
          <p:nvPr/>
        </p:nvSpPr>
        <p:spPr>
          <a:xfrm>
            <a:off x="62484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B137B16-D039-42F6-8E84-463850AB6E10}"/>
              </a:ext>
            </a:extLst>
          </p:cNvPr>
          <p:cNvSpPr/>
          <p:nvPr/>
        </p:nvSpPr>
        <p:spPr>
          <a:xfrm>
            <a:off x="80772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6513" name="文字方塊 72">
            <a:extLst>
              <a:ext uri="{FF2B5EF4-FFF2-40B4-BE49-F238E27FC236}">
                <a16:creationId xmlns:a16="http://schemas.microsoft.com/office/drawing/2014/main" id="{C7BCCDE8-5873-4E76-9EFA-75967EF76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334000"/>
            <a:ext cx="228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/>
              <a:t>(3*x)+y-3</a:t>
            </a:r>
            <a:endParaRPr lang="zh-TW" altLang="en-US" sz="4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編號版面配置區 5">
            <a:extLst>
              <a:ext uri="{FF2B5EF4-FFF2-40B4-BE49-F238E27FC236}">
                <a16:creationId xmlns:a16="http://schemas.microsoft.com/office/drawing/2014/main" id="{8E3644A1-F3B2-495B-96F2-A3A516A41F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EEE1FD-3F39-47DE-BE07-DE959A93AF4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1463BF5E-798A-424A-9EA8-6FF19A24F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BNF, syntax definitions</a:t>
            </a:r>
            <a:br>
              <a:rPr lang="en-US" altLang="zh-TW" sz="3800"/>
            </a:br>
            <a:r>
              <a:rPr lang="en-US" altLang="zh-TW" sz="3800"/>
              <a:t>- derivation trees (from top down)</a:t>
            </a: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F6EB3B6F-BF51-4266-9106-9772C9F2C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05400" cy="2971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A ::= c | x | (M) | A</a:t>
            </a:r>
            <a:r>
              <a:rPr lang="en-US" altLang="zh-TW" sz="2600" baseline="-25000"/>
              <a:t>1</a:t>
            </a:r>
            <a:r>
              <a:rPr lang="en-US" altLang="zh-TW" sz="2600"/>
              <a:t>+A</a:t>
            </a:r>
            <a:r>
              <a:rPr lang="en-US" altLang="zh-TW" sz="2600" baseline="-25000"/>
              <a:t>2</a:t>
            </a:r>
            <a:r>
              <a:rPr lang="en-US" altLang="zh-TW" sz="2600"/>
              <a:t> | A</a:t>
            </a:r>
            <a:r>
              <a:rPr lang="en-US" altLang="zh-TW" sz="2600" baseline="-25000"/>
              <a:t>1</a:t>
            </a:r>
            <a:r>
              <a:rPr lang="en-US" altLang="zh-TW" sz="2600"/>
              <a:t>–A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M ::=  c | x | (A) | M</a:t>
            </a:r>
            <a:r>
              <a:rPr lang="en-US" altLang="zh-TW" sz="2600" baseline="-25000"/>
              <a:t>1</a:t>
            </a:r>
            <a:r>
              <a:rPr lang="en-US" altLang="zh-TW" sz="2600"/>
              <a:t>*M</a:t>
            </a:r>
            <a:r>
              <a:rPr lang="en-US" altLang="zh-TW" sz="2600" baseline="-25000"/>
              <a:t>2</a:t>
            </a:r>
            <a:r>
              <a:rPr lang="en-US" altLang="zh-TW" sz="2600"/>
              <a:t> | M</a:t>
            </a:r>
            <a:r>
              <a:rPr lang="en-US" altLang="zh-TW" sz="2600" baseline="-25000"/>
              <a:t>1</a:t>
            </a:r>
            <a:r>
              <a:rPr lang="en-US" altLang="zh-TW" sz="2600"/>
              <a:t>/M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c is an integer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x is a variable name.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used in string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generation.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C1E291B-87A8-4AC3-8F44-E245FC512131}"/>
              </a:ext>
            </a:extLst>
          </p:cNvPr>
          <p:cNvSpPr/>
          <p:nvPr/>
        </p:nvSpPr>
        <p:spPr>
          <a:xfrm>
            <a:off x="5651500" y="25146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+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8D75A6C-A236-4DDD-A8B7-0EC2E13CED1F}"/>
              </a:ext>
            </a:extLst>
          </p:cNvPr>
          <p:cNvCxnSpPr>
            <a:stCxn id="5" idx="2"/>
            <a:endCxn id="25" idx="7"/>
          </p:cNvCxnSpPr>
          <p:nvPr/>
        </p:nvCxnSpPr>
        <p:spPr>
          <a:xfrm rot="10800000" flipV="1">
            <a:off x="4724400" y="2781300"/>
            <a:ext cx="927100" cy="496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FCADB04-BF1F-4EF4-BD99-EC2A5B85216D}"/>
              </a:ext>
            </a:extLst>
          </p:cNvPr>
          <p:cNvCxnSpPr>
            <a:stCxn id="5" idx="6"/>
            <a:endCxn id="21" idx="1"/>
          </p:cNvCxnSpPr>
          <p:nvPr/>
        </p:nvCxnSpPr>
        <p:spPr>
          <a:xfrm>
            <a:off x="6261100" y="2781300"/>
            <a:ext cx="1003300" cy="496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461FC64C-222A-4ADE-ACE2-E46F599B0B08}"/>
              </a:ext>
            </a:extLst>
          </p:cNvPr>
          <p:cNvSpPr/>
          <p:nvPr/>
        </p:nvSpPr>
        <p:spPr>
          <a:xfrm>
            <a:off x="3365500" y="38100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M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*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52B5722-CAD7-4ED1-AD1A-A0744A9D8AFF}"/>
              </a:ext>
            </a:extLst>
          </p:cNvPr>
          <p:cNvCxnSpPr>
            <a:stCxn id="17" idx="3"/>
          </p:cNvCxnSpPr>
          <p:nvPr/>
        </p:nvCxnSpPr>
        <p:spPr>
          <a:xfrm rot="5400000">
            <a:off x="3066256" y="4183857"/>
            <a:ext cx="306387" cy="469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8EE67184-E969-447A-BC1E-AEDF6C1C410A}"/>
              </a:ext>
            </a:extLst>
          </p:cNvPr>
          <p:cNvCxnSpPr/>
          <p:nvPr/>
        </p:nvCxnSpPr>
        <p:spPr>
          <a:xfrm>
            <a:off x="3898900" y="4267200"/>
            <a:ext cx="4572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506BA99D-5B78-4BC2-93B2-5C36052B3C50}"/>
              </a:ext>
            </a:extLst>
          </p:cNvPr>
          <p:cNvSpPr/>
          <p:nvPr/>
        </p:nvSpPr>
        <p:spPr>
          <a:xfrm>
            <a:off x="7175500" y="32004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-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D46277F6-1839-4A56-858E-5F3066FFB81E}"/>
              </a:ext>
            </a:extLst>
          </p:cNvPr>
          <p:cNvCxnSpPr>
            <a:stCxn id="21" idx="3"/>
          </p:cNvCxnSpPr>
          <p:nvPr/>
        </p:nvCxnSpPr>
        <p:spPr>
          <a:xfrm rot="5400000">
            <a:off x="6876256" y="3574257"/>
            <a:ext cx="306387" cy="469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D5EE00C-0840-40FC-98B1-F52B5564F16C}"/>
              </a:ext>
            </a:extLst>
          </p:cNvPr>
          <p:cNvCxnSpPr/>
          <p:nvPr/>
        </p:nvCxnSpPr>
        <p:spPr>
          <a:xfrm>
            <a:off x="7708900" y="3657600"/>
            <a:ext cx="4572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97994F7A-E57F-436C-9F36-9E03B960B1B0}"/>
              </a:ext>
            </a:extLst>
          </p:cNvPr>
          <p:cNvSpPr/>
          <p:nvPr/>
        </p:nvSpPr>
        <p:spPr>
          <a:xfrm>
            <a:off x="4203700" y="32004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( )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2BD984B-9DB4-4B37-892F-31D26B4E7F04}"/>
              </a:ext>
            </a:extLst>
          </p:cNvPr>
          <p:cNvCxnSpPr>
            <a:stCxn id="25" idx="3"/>
            <a:endCxn id="17" idx="7"/>
          </p:cNvCxnSpPr>
          <p:nvPr/>
        </p:nvCxnSpPr>
        <p:spPr>
          <a:xfrm rot="5400000">
            <a:off x="3973512" y="3568701"/>
            <a:ext cx="231775" cy="406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>
            <a:extLst>
              <a:ext uri="{FF2B5EF4-FFF2-40B4-BE49-F238E27FC236}">
                <a16:creationId xmlns:a16="http://schemas.microsoft.com/office/drawing/2014/main" id="{6E691EA3-27EC-404E-BF1B-7C27C5062AF3}"/>
              </a:ext>
            </a:extLst>
          </p:cNvPr>
          <p:cNvSpPr/>
          <p:nvPr/>
        </p:nvSpPr>
        <p:spPr>
          <a:xfrm>
            <a:off x="8089900" y="38862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A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9EB9675F-BB4E-41A5-99C2-10BFDD0A6EF7}"/>
              </a:ext>
            </a:extLst>
          </p:cNvPr>
          <p:cNvCxnSpPr>
            <a:stCxn id="34" idx="4"/>
            <a:endCxn id="53" idx="0"/>
          </p:cNvCxnSpPr>
          <p:nvPr/>
        </p:nvCxnSpPr>
        <p:spPr>
          <a:xfrm rot="5400000">
            <a:off x="8235950" y="44132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51EADD6D-E68F-4403-9A93-26DD9452F8BF}"/>
              </a:ext>
            </a:extLst>
          </p:cNvPr>
          <p:cNvSpPr/>
          <p:nvPr/>
        </p:nvSpPr>
        <p:spPr>
          <a:xfrm>
            <a:off x="6261100" y="38862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A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C711A1DF-21F9-43A2-9FD3-D2F963C9CA48}"/>
              </a:ext>
            </a:extLst>
          </p:cNvPr>
          <p:cNvCxnSpPr>
            <a:stCxn id="37" idx="4"/>
            <a:endCxn id="52" idx="0"/>
          </p:cNvCxnSpPr>
          <p:nvPr/>
        </p:nvCxnSpPr>
        <p:spPr>
          <a:xfrm rot="5400000">
            <a:off x="6407150" y="44132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>
            <a:extLst>
              <a:ext uri="{FF2B5EF4-FFF2-40B4-BE49-F238E27FC236}">
                <a16:creationId xmlns:a16="http://schemas.microsoft.com/office/drawing/2014/main" id="{822C8A98-AC35-42D4-9CCA-67250EE47296}"/>
              </a:ext>
            </a:extLst>
          </p:cNvPr>
          <p:cNvSpPr/>
          <p:nvPr/>
        </p:nvSpPr>
        <p:spPr>
          <a:xfrm>
            <a:off x="4203700" y="45720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M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B4CB940C-4D4E-4B30-834D-1E167E1A2DF6}"/>
              </a:ext>
            </a:extLst>
          </p:cNvPr>
          <p:cNvCxnSpPr>
            <a:stCxn id="45" idx="4"/>
            <a:endCxn id="51" idx="0"/>
          </p:cNvCxnSpPr>
          <p:nvPr/>
        </p:nvCxnSpPr>
        <p:spPr>
          <a:xfrm rot="5400000">
            <a:off x="4387850" y="5060950"/>
            <a:ext cx="2286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橢圓 47">
            <a:extLst>
              <a:ext uri="{FF2B5EF4-FFF2-40B4-BE49-F238E27FC236}">
                <a16:creationId xmlns:a16="http://schemas.microsoft.com/office/drawing/2014/main" id="{CF3223BF-D55C-4B13-8202-95E4876DE606}"/>
              </a:ext>
            </a:extLst>
          </p:cNvPr>
          <p:cNvSpPr/>
          <p:nvPr/>
        </p:nvSpPr>
        <p:spPr>
          <a:xfrm>
            <a:off x="2451100" y="44958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M</a:t>
            </a:r>
            <a:endParaRPr lang="zh-TW" altLang="en-US" dirty="0"/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7BCA0BC7-957C-499E-9D98-118680304A13}"/>
              </a:ext>
            </a:extLst>
          </p:cNvPr>
          <p:cNvCxnSpPr>
            <a:stCxn id="48" idx="4"/>
            <a:endCxn id="50" idx="0"/>
          </p:cNvCxnSpPr>
          <p:nvPr/>
        </p:nvCxnSpPr>
        <p:spPr>
          <a:xfrm rot="5400000">
            <a:off x="2597150" y="50228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FA6236CA-D177-4C79-A7D0-DD83A9E4B177}"/>
              </a:ext>
            </a:extLst>
          </p:cNvPr>
          <p:cNvSpPr/>
          <p:nvPr/>
        </p:nvSpPr>
        <p:spPr>
          <a:xfrm>
            <a:off x="24384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C02759C-AD0C-4978-917D-D2D0857F5856}"/>
              </a:ext>
            </a:extLst>
          </p:cNvPr>
          <p:cNvSpPr/>
          <p:nvPr/>
        </p:nvSpPr>
        <p:spPr>
          <a:xfrm>
            <a:off x="41910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x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1F8230A-AAC6-46E5-BF8E-E8F695401086}"/>
              </a:ext>
            </a:extLst>
          </p:cNvPr>
          <p:cNvSpPr/>
          <p:nvPr/>
        </p:nvSpPr>
        <p:spPr>
          <a:xfrm>
            <a:off x="62484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C751666-29FB-4F66-BB84-AA5A7706C6D1}"/>
              </a:ext>
            </a:extLst>
          </p:cNvPr>
          <p:cNvSpPr/>
          <p:nvPr/>
        </p:nvSpPr>
        <p:spPr>
          <a:xfrm>
            <a:off x="80772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8572" name="文字方塊 72">
            <a:extLst>
              <a:ext uri="{FF2B5EF4-FFF2-40B4-BE49-F238E27FC236}">
                <a16:creationId xmlns:a16="http://schemas.microsoft.com/office/drawing/2014/main" id="{93B90DBE-2756-419F-A849-611C9069B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334000"/>
            <a:ext cx="228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/>
              <a:t>(3*x)+y-3</a:t>
            </a:r>
            <a:endParaRPr lang="zh-TW" altLang="en-US" sz="4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投影片編號版面配置區 5">
            <a:extLst>
              <a:ext uri="{FF2B5EF4-FFF2-40B4-BE49-F238E27FC236}">
                <a16:creationId xmlns:a16="http://schemas.microsoft.com/office/drawing/2014/main" id="{7C627394-5C01-49AB-9696-C7119E09D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C8F0E0-0313-4573-BF20-27253999185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C42DAD96-099F-48F6-BBE6-346CAFA20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BNF, syntax definitions</a:t>
            </a:r>
            <a:br>
              <a:rPr lang="en-US" altLang="zh-TW" sz="3800"/>
            </a:br>
            <a:r>
              <a:rPr lang="en-US" altLang="zh-TW" sz="3800"/>
              <a:t>- parsing trees (from bottom up)</a:t>
            </a: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5B7A2CE-8474-4644-ADED-0A5CB7DD3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05400" cy="2590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A ::= c | x | (M) | A</a:t>
            </a:r>
            <a:r>
              <a:rPr lang="en-US" altLang="zh-TW" sz="2600" baseline="-25000"/>
              <a:t>1</a:t>
            </a:r>
            <a:r>
              <a:rPr lang="en-US" altLang="zh-TW" sz="2600"/>
              <a:t>+A</a:t>
            </a:r>
            <a:r>
              <a:rPr lang="en-US" altLang="zh-TW" sz="2600" baseline="-25000"/>
              <a:t>2</a:t>
            </a:r>
            <a:r>
              <a:rPr lang="en-US" altLang="zh-TW" sz="2600"/>
              <a:t> | A</a:t>
            </a:r>
            <a:r>
              <a:rPr lang="en-US" altLang="zh-TW" sz="2600" baseline="-25000"/>
              <a:t>1</a:t>
            </a:r>
            <a:r>
              <a:rPr lang="en-US" altLang="zh-TW" sz="2600"/>
              <a:t>–A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M ::=  c | x | (A) | M</a:t>
            </a:r>
            <a:r>
              <a:rPr lang="en-US" altLang="zh-TW" sz="2600" baseline="-25000"/>
              <a:t>1</a:t>
            </a:r>
            <a:r>
              <a:rPr lang="en-US" altLang="zh-TW" sz="2600"/>
              <a:t>*M</a:t>
            </a:r>
            <a:r>
              <a:rPr lang="en-US" altLang="zh-TW" sz="2600" baseline="-25000"/>
              <a:t>2</a:t>
            </a:r>
            <a:r>
              <a:rPr lang="en-US" altLang="zh-TW" sz="2600"/>
              <a:t> | M</a:t>
            </a:r>
            <a:r>
              <a:rPr lang="en-US" altLang="zh-TW" sz="2600" baseline="-25000"/>
              <a:t>1</a:t>
            </a:r>
            <a:r>
              <a:rPr lang="en-US" altLang="zh-TW" sz="2600"/>
              <a:t>/M</a:t>
            </a:r>
            <a:r>
              <a:rPr lang="en-US" altLang="zh-TW" sz="2600" baseline="-25000"/>
              <a:t>2</a:t>
            </a:r>
            <a:r>
              <a:rPr lang="en-US" altLang="zh-TW" sz="260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c is an integer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x is a variable name.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used in compiler. 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04FA4FE-55CA-4ED6-803B-FE9FC47A4FB0}"/>
              </a:ext>
            </a:extLst>
          </p:cNvPr>
          <p:cNvSpPr/>
          <p:nvPr/>
        </p:nvSpPr>
        <p:spPr>
          <a:xfrm>
            <a:off x="5651500" y="25146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+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DAD390D-2FB3-4708-BCA5-96460FB1F821}"/>
              </a:ext>
            </a:extLst>
          </p:cNvPr>
          <p:cNvCxnSpPr>
            <a:stCxn id="5" idx="2"/>
            <a:endCxn id="25" idx="7"/>
          </p:cNvCxnSpPr>
          <p:nvPr/>
        </p:nvCxnSpPr>
        <p:spPr>
          <a:xfrm rot="10800000" flipV="1">
            <a:off x="4724400" y="2781300"/>
            <a:ext cx="927100" cy="496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51E632E-9793-45F6-85A4-E787B8EC1386}"/>
              </a:ext>
            </a:extLst>
          </p:cNvPr>
          <p:cNvCxnSpPr>
            <a:stCxn id="5" idx="6"/>
            <a:endCxn id="21" idx="1"/>
          </p:cNvCxnSpPr>
          <p:nvPr/>
        </p:nvCxnSpPr>
        <p:spPr>
          <a:xfrm>
            <a:off x="6261100" y="2781300"/>
            <a:ext cx="1003300" cy="4968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D45FCB26-D623-43CC-B82B-F89AE4AEDC15}"/>
              </a:ext>
            </a:extLst>
          </p:cNvPr>
          <p:cNvSpPr/>
          <p:nvPr/>
        </p:nvSpPr>
        <p:spPr>
          <a:xfrm>
            <a:off x="3365500" y="38100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M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*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18B4554-A980-4D2E-B9A0-72EBCC1D4A92}"/>
              </a:ext>
            </a:extLst>
          </p:cNvPr>
          <p:cNvCxnSpPr>
            <a:stCxn id="17" idx="3"/>
          </p:cNvCxnSpPr>
          <p:nvPr/>
        </p:nvCxnSpPr>
        <p:spPr>
          <a:xfrm rot="5400000">
            <a:off x="3066256" y="4183857"/>
            <a:ext cx="306387" cy="469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011BED5-5C39-4CE4-81C8-A1187B252E96}"/>
              </a:ext>
            </a:extLst>
          </p:cNvPr>
          <p:cNvCxnSpPr/>
          <p:nvPr/>
        </p:nvCxnSpPr>
        <p:spPr>
          <a:xfrm>
            <a:off x="3898900" y="4267200"/>
            <a:ext cx="4572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1FF08E65-1451-44F9-B879-BF64B754C9F6}"/>
              </a:ext>
            </a:extLst>
          </p:cNvPr>
          <p:cNvSpPr/>
          <p:nvPr/>
        </p:nvSpPr>
        <p:spPr>
          <a:xfrm>
            <a:off x="7175500" y="32004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-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EECD0BC-1575-4B47-AA6C-F3D30844FBBD}"/>
              </a:ext>
            </a:extLst>
          </p:cNvPr>
          <p:cNvCxnSpPr>
            <a:stCxn id="21" idx="3"/>
          </p:cNvCxnSpPr>
          <p:nvPr/>
        </p:nvCxnSpPr>
        <p:spPr>
          <a:xfrm rot="5400000">
            <a:off x="6876256" y="3574257"/>
            <a:ext cx="306387" cy="469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9E7CDC1-D4C9-45A6-B053-77F75EB93982}"/>
              </a:ext>
            </a:extLst>
          </p:cNvPr>
          <p:cNvCxnSpPr/>
          <p:nvPr/>
        </p:nvCxnSpPr>
        <p:spPr>
          <a:xfrm>
            <a:off x="7708900" y="3657600"/>
            <a:ext cx="4572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0D6A1D4C-DBC5-4CB0-9CAF-915741FDCD0D}"/>
              </a:ext>
            </a:extLst>
          </p:cNvPr>
          <p:cNvSpPr/>
          <p:nvPr/>
        </p:nvSpPr>
        <p:spPr>
          <a:xfrm>
            <a:off x="4203700" y="3200400"/>
            <a:ext cx="6096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A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rgbClr val="FFFFFF"/>
                </a:solidFill>
              </a:rPr>
              <a:t>( )</a:t>
            </a: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3C844721-A688-4A10-9F82-A94C687BDDED}"/>
              </a:ext>
            </a:extLst>
          </p:cNvPr>
          <p:cNvCxnSpPr>
            <a:stCxn id="25" idx="3"/>
            <a:endCxn id="17" idx="7"/>
          </p:cNvCxnSpPr>
          <p:nvPr/>
        </p:nvCxnSpPr>
        <p:spPr>
          <a:xfrm rot="5400000">
            <a:off x="3973512" y="3568701"/>
            <a:ext cx="231775" cy="406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>
            <a:extLst>
              <a:ext uri="{FF2B5EF4-FFF2-40B4-BE49-F238E27FC236}">
                <a16:creationId xmlns:a16="http://schemas.microsoft.com/office/drawing/2014/main" id="{0D797842-0E0C-440D-B63D-6218720B6947}"/>
              </a:ext>
            </a:extLst>
          </p:cNvPr>
          <p:cNvSpPr/>
          <p:nvPr/>
        </p:nvSpPr>
        <p:spPr>
          <a:xfrm>
            <a:off x="8089900" y="38862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A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1F4B5384-37DA-461D-8C00-76B50C12F899}"/>
              </a:ext>
            </a:extLst>
          </p:cNvPr>
          <p:cNvCxnSpPr>
            <a:stCxn id="34" idx="4"/>
            <a:endCxn id="53" idx="0"/>
          </p:cNvCxnSpPr>
          <p:nvPr/>
        </p:nvCxnSpPr>
        <p:spPr>
          <a:xfrm rot="5400000">
            <a:off x="8235950" y="44132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9124D562-A39B-4640-BEE6-64974EDB9E7C}"/>
              </a:ext>
            </a:extLst>
          </p:cNvPr>
          <p:cNvSpPr/>
          <p:nvPr/>
        </p:nvSpPr>
        <p:spPr>
          <a:xfrm>
            <a:off x="6261100" y="38862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A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A6861844-7008-46D5-92FC-2AE3F968E255}"/>
              </a:ext>
            </a:extLst>
          </p:cNvPr>
          <p:cNvCxnSpPr>
            <a:stCxn id="37" idx="4"/>
            <a:endCxn id="52" idx="0"/>
          </p:cNvCxnSpPr>
          <p:nvPr/>
        </p:nvCxnSpPr>
        <p:spPr>
          <a:xfrm rot="5400000">
            <a:off x="6407150" y="44132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>
            <a:extLst>
              <a:ext uri="{FF2B5EF4-FFF2-40B4-BE49-F238E27FC236}">
                <a16:creationId xmlns:a16="http://schemas.microsoft.com/office/drawing/2014/main" id="{1FE6B44A-984A-4460-9805-A7CB7C527D91}"/>
              </a:ext>
            </a:extLst>
          </p:cNvPr>
          <p:cNvSpPr/>
          <p:nvPr/>
        </p:nvSpPr>
        <p:spPr>
          <a:xfrm>
            <a:off x="4203700" y="45720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M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6BAD2B8-3B37-4D6A-B812-87CDCA016908}"/>
              </a:ext>
            </a:extLst>
          </p:cNvPr>
          <p:cNvCxnSpPr>
            <a:stCxn id="45" idx="4"/>
            <a:endCxn id="51" idx="0"/>
          </p:cNvCxnSpPr>
          <p:nvPr/>
        </p:nvCxnSpPr>
        <p:spPr>
          <a:xfrm rot="5400000">
            <a:off x="4387850" y="5060950"/>
            <a:ext cx="2286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橢圓 47">
            <a:extLst>
              <a:ext uri="{FF2B5EF4-FFF2-40B4-BE49-F238E27FC236}">
                <a16:creationId xmlns:a16="http://schemas.microsoft.com/office/drawing/2014/main" id="{C93363B8-EF4C-43F3-B150-8223D7E0395B}"/>
              </a:ext>
            </a:extLst>
          </p:cNvPr>
          <p:cNvSpPr/>
          <p:nvPr/>
        </p:nvSpPr>
        <p:spPr>
          <a:xfrm>
            <a:off x="2451100" y="4495800"/>
            <a:ext cx="6096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M</a:t>
            </a:r>
            <a:endParaRPr lang="zh-TW" altLang="en-US" dirty="0"/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813F037-A0BD-43AB-96D9-C52808D9B5C8}"/>
              </a:ext>
            </a:extLst>
          </p:cNvPr>
          <p:cNvCxnSpPr>
            <a:stCxn id="48" idx="4"/>
            <a:endCxn id="50" idx="0"/>
          </p:cNvCxnSpPr>
          <p:nvPr/>
        </p:nvCxnSpPr>
        <p:spPr>
          <a:xfrm rot="5400000">
            <a:off x="2597150" y="5022850"/>
            <a:ext cx="3048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39127B06-5B58-4067-8A6D-8C40E2646549}"/>
              </a:ext>
            </a:extLst>
          </p:cNvPr>
          <p:cNvSpPr/>
          <p:nvPr/>
        </p:nvSpPr>
        <p:spPr>
          <a:xfrm>
            <a:off x="24384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1ACC985-23F9-4EE6-AB89-769B49895D10}"/>
              </a:ext>
            </a:extLst>
          </p:cNvPr>
          <p:cNvSpPr/>
          <p:nvPr/>
        </p:nvSpPr>
        <p:spPr>
          <a:xfrm>
            <a:off x="4191000" y="51816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x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0226D13-FAA6-47C7-83D2-6017F4B296DD}"/>
              </a:ext>
            </a:extLst>
          </p:cNvPr>
          <p:cNvSpPr/>
          <p:nvPr/>
        </p:nvSpPr>
        <p:spPr>
          <a:xfrm>
            <a:off x="62484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B006644-842D-4171-9860-61B573CFB51D}"/>
              </a:ext>
            </a:extLst>
          </p:cNvPr>
          <p:cNvSpPr/>
          <p:nvPr/>
        </p:nvSpPr>
        <p:spPr>
          <a:xfrm>
            <a:off x="8077200" y="4572000"/>
            <a:ext cx="609600" cy="533400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0620" name="文字方塊 72">
            <a:extLst>
              <a:ext uri="{FF2B5EF4-FFF2-40B4-BE49-F238E27FC236}">
                <a16:creationId xmlns:a16="http://schemas.microsoft.com/office/drawing/2014/main" id="{D2E8AA54-EEDF-4D61-8F43-AF1047102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334000"/>
            <a:ext cx="228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/>
              <a:t>(3*x)+y-3</a:t>
            </a:r>
            <a:endParaRPr lang="zh-TW" altLang="en-US" sz="4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編號版面配置區 5">
            <a:extLst>
              <a:ext uri="{FF2B5EF4-FFF2-40B4-BE49-F238E27FC236}">
                <a16:creationId xmlns:a16="http://schemas.microsoft.com/office/drawing/2014/main" id="{D275CB44-C09F-4494-9BAD-68297BB25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6C192-DD97-4CC3-9F7D-8BFB325968D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D6F1F6AB-F2DC-43F9-9768-C44669D4E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Temporal Logics</a:t>
            </a:r>
            <a:r>
              <a:rPr lang="zh-TW" altLang="en-US"/>
              <a:t>：</a:t>
            </a:r>
            <a:r>
              <a:rPr lang="en-US" altLang="zh-TW"/>
              <a:t>Catalog</a:t>
            </a: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891B9A2-5CBB-4D8D-8128-AAE8067C7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905000"/>
            <a:ext cx="6248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 propositional	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   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first-order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		    global   	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   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compositional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	   branching 	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  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 linear-time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		     points	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   intervals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		  discrete   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  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 continuous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			past	</a:t>
            </a:r>
            <a:r>
              <a:rPr lang="en-US" altLang="zh-TW" b="1">
                <a:ea typeface="細明體" panose="02020509000000000000" pitchFamily="49" charset="-120"/>
                <a:sym typeface="Symbol" panose="05050102010706020507" pitchFamily="18" charset="2"/>
              </a:rPr>
              <a:t>  </a:t>
            </a:r>
            <a:r>
              <a:rPr lang="en-US" altLang="zh-TW">
                <a:ea typeface="細明體" panose="02020509000000000000" pitchFamily="49" charset="-120"/>
                <a:sym typeface="Symbol" panose="05050102010706020507" pitchFamily="18" charset="2"/>
              </a:rPr>
              <a:t> future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編號版面配置區 5">
            <a:extLst>
              <a:ext uri="{FF2B5EF4-FFF2-40B4-BE49-F238E27FC236}">
                <a16:creationId xmlns:a16="http://schemas.microsoft.com/office/drawing/2014/main" id="{0BB3974D-221D-4F05-ACFA-37463A0871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40B2B5-9B9D-4915-B82F-8326028E8E2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F47D30D0-BB06-4157-886C-64077737A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Temporal Logics</a:t>
            </a:r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6BEB7993-252F-4D92-91DF-318460634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3600"/>
              <a:t>Linear</a:t>
            </a:r>
          </a:p>
          <a:p>
            <a:pPr lvl="1" eaLnBrk="1" hangingPunct="1"/>
            <a:r>
              <a:rPr lang="en-US" altLang="zh-TW" sz="2800"/>
              <a:t>LPTL (Linear time Propositional Temporal Logics)</a:t>
            </a:r>
          </a:p>
          <a:p>
            <a:pPr lvl="2" eaLnBrk="1" hangingPunct="1"/>
            <a:r>
              <a:rPr lang="en-US" altLang="zh-TW" sz="2400"/>
              <a:t>LTL, PTL, PLTL</a:t>
            </a:r>
          </a:p>
          <a:p>
            <a:pPr eaLnBrk="1" hangingPunct="1"/>
            <a:r>
              <a:rPr lang="en-US" altLang="zh-TW" sz="3600"/>
              <a:t>Branching</a:t>
            </a:r>
          </a:p>
          <a:p>
            <a:pPr lvl="1" eaLnBrk="1" hangingPunct="1"/>
            <a:r>
              <a:rPr lang="en-US" altLang="zh-TW" sz="2800"/>
              <a:t>CTL (Computation Tree Logics)</a:t>
            </a:r>
          </a:p>
          <a:p>
            <a:pPr lvl="1" eaLnBrk="1" hangingPunct="1"/>
            <a:r>
              <a:rPr lang="en-US" altLang="zh-TW" sz="2800"/>
              <a:t>CTL* (the full branching temporal logics)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編號版面配置區 5">
            <a:extLst>
              <a:ext uri="{FF2B5EF4-FFF2-40B4-BE49-F238E27FC236}">
                <a16:creationId xmlns:a16="http://schemas.microsoft.com/office/drawing/2014/main" id="{5A625C95-4005-4A27-AF4E-6DAACAE864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3897FB-5FE3-432A-B7C2-330B97FF18C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590BAD85-9E78-4F00-8D87-3E43CDC6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Amir Pnueli</a:t>
            </a:r>
            <a:br>
              <a:rPr lang="en-US" altLang="zh-TW" sz="3800"/>
            </a:br>
            <a:r>
              <a:rPr lang="en-US" altLang="zh-TW" sz="3800"/>
              <a:t>1941</a:t>
            </a:r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7142697-1F2E-4665-8F0E-B7EA691F3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648200" cy="4530725"/>
          </a:xfrm>
        </p:spPr>
        <p:txBody>
          <a:bodyPr/>
          <a:lstStyle/>
          <a:p>
            <a:pPr eaLnBrk="1" hangingPunct="1"/>
            <a:r>
              <a:rPr lang="en-US" altLang="zh-TW"/>
              <a:t>Professor, Weizmann Institute </a:t>
            </a:r>
          </a:p>
          <a:p>
            <a:pPr eaLnBrk="1" hangingPunct="1"/>
            <a:r>
              <a:rPr lang="en-US" altLang="zh-TW"/>
              <a:t>Professor, NYU</a:t>
            </a:r>
          </a:p>
          <a:p>
            <a:pPr eaLnBrk="1" hangingPunct="1"/>
            <a:r>
              <a:rPr lang="en-US" altLang="zh-TW"/>
              <a:t>Turing Award, 1996</a:t>
            </a:r>
          </a:p>
        </p:txBody>
      </p:sp>
      <p:pic>
        <p:nvPicPr>
          <p:cNvPr id="116741" name="Picture 4" descr="DSC00977">
            <a:extLst>
              <a:ext uri="{FF2B5EF4-FFF2-40B4-BE49-F238E27FC236}">
                <a16:creationId xmlns:a16="http://schemas.microsoft.com/office/drawing/2014/main" id="{7156DFBA-7E8A-4995-ADF8-CBFAE181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505200"/>
            <a:ext cx="35052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2" name="Picture 5" descr="DSC00992">
            <a:extLst>
              <a:ext uri="{FF2B5EF4-FFF2-40B4-BE49-F238E27FC236}">
                <a16:creationId xmlns:a16="http://schemas.microsoft.com/office/drawing/2014/main" id="{A95009B1-9030-40BD-81E2-AC60161BF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838200"/>
            <a:ext cx="35052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3" name="AutoShape 6">
            <a:extLst>
              <a:ext uri="{FF2B5EF4-FFF2-40B4-BE49-F238E27FC236}">
                <a16:creationId xmlns:a16="http://schemas.microsoft.com/office/drawing/2014/main" id="{D87F9C63-CE22-4B83-B35C-FB73DC07D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343400"/>
            <a:ext cx="3505200" cy="1295400"/>
          </a:xfrm>
          <a:prstGeom prst="wedgeRectCallout">
            <a:avLst>
              <a:gd name="adj1" fmla="val 69477"/>
              <a:gd name="adj2" fmla="val 253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Presentation of a gift at ATVA /FORTE 2005, Taipei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編號版面配置區 5">
            <a:extLst>
              <a:ext uri="{FF2B5EF4-FFF2-40B4-BE49-F238E27FC236}">
                <a16:creationId xmlns:a16="http://schemas.microsoft.com/office/drawing/2014/main" id="{E289DF1D-4675-4145-BCE6-E56A03B32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D4117B-31A9-4B36-97C7-24B276F4B98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129FCE6D-4765-4E52-A277-E2C2D3DD5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 eaLnBrk="1" hangingPunct="1"/>
            <a:r>
              <a:rPr lang="en-US" altLang="zh-TW" sz="3800"/>
              <a:t>LPTL (PTL, LTL)</a:t>
            </a:r>
            <a:br>
              <a:rPr lang="en-US" altLang="zh-TW" sz="3800"/>
            </a:br>
            <a:r>
              <a:rPr lang="en-US" altLang="zh-TW" sz="3600"/>
              <a:t>Linear-Time Propositional Temporal Logic</a:t>
            </a:r>
          </a:p>
        </p:txBody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384FEF53-A7AF-4569-8457-0323D8D50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Conventional notation</a:t>
            </a:r>
            <a:r>
              <a:rPr lang="zh-TW" altLang="en-US"/>
              <a:t>：</a:t>
            </a:r>
          </a:p>
          <a:p>
            <a:pPr eaLnBrk="1" hangingPunct="1"/>
            <a:r>
              <a:rPr lang="en-US" altLang="zh-TW"/>
              <a:t>propositions : </a:t>
            </a:r>
            <a:r>
              <a:rPr lang="en-US" altLang="zh-TW" b="1" i="1"/>
              <a:t>p, q, r, …</a:t>
            </a:r>
          </a:p>
          <a:p>
            <a:pPr eaLnBrk="1" hangingPunct="1"/>
            <a:r>
              <a:rPr lang="en-US" altLang="zh-TW"/>
              <a:t>sets : </a:t>
            </a:r>
            <a:r>
              <a:rPr lang="en-US" altLang="zh-TW" b="1" i="1"/>
              <a:t>A, B, C, D, …</a:t>
            </a:r>
          </a:p>
          <a:p>
            <a:pPr eaLnBrk="1" hangingPunct="1"/>
            <a:r>
              <a:rPr lang="en-US" altLang="zh-TW"/>
              <a:t>states : </a:t>
            </a:r>
            <a:r>
              <a:rPr lang="en-US" altLang="zh-TW" b="1" i="1"/>
              <a:t>s</a:t>
            </a:r>
          </a:p>
          <a:p>
            <a:pPr eaLnBrk="1" hangingPunct="1"/>
            <a:r>
              <a:rPr lang="en-US" altLang="zh-TW"/>
              <a:t>state sequences : </a:t>
            </a:r>
            <a:r>
              <a:rPr lang="en-US" altLang="zh-TW" b="1" i="1"/>
              <a:t>S</a:t>
            </a:r>
          </a:p>
          <a:p>
            <a:pPr eaLnBrk="1" hangingPunct="1"/>
            <a:r>
              <a:rPr lang="en-US" altLang="zh-TW"/>
              <a:t>formulas : </a:t>
            </a:r>
            <a:r>
              <a:rPr lang="en-US" altLang="zh-TW" b="1" i="1"/>
              <a:t>φ,ψ</a:t>
            </a:r>
            <a:endParaRPr lang="en-US" altLang="zh-TW"/>
          </a:p>
          <a:p>
            <a:pPr eaLnBrk="1" hangingPunct="1"/>
            <a:r>
              <a:rPr lang="en-US" altLang="zh-TW"/>
              <a:t>Set of natural number</a:t>
            </a:r>
            <a:r>
              <a:rPr lang="zh-TW" altLang="en-US"/>
              <a:t>：</a:t>
            </a:r>
            <a:r>
              <a:rPr lang="en-US" altLang="zh-TW" i="1"/>
              <a:t>N</a:t>
            </a:r>
            <a:r>
              <a:rPr lang="en-US" altLang="zh-TW" b="1" i="1"/>
              <a:t> = {0, 1, 2, 3, …}</a:t>
            </a:r>
          </a:p>
          <a:p>
            <a:pPr eaLnBrk="1" hangingPunct="1"/>
            <a:r>
              <a:rPr lang="en-US" altLang="zh-TW"/>
              <a:t>Set of real number</a:t>
            </a:r>
            <a:r>
              <a:rPr lang="zh-TW" altLang="en-US"/>
              <a:t>：</a:t>
            </a:r>
            <a:r>
              <a:rPr lang="en-US" altLang="zh-TW" i="1"/>
              <a:t>R</a:t>
            </a:r>
            <a:endParaRPr lang="en-US" altLang="zh-TW" b="1" i="1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編號版面配置區 5">
            <a:extLst>
              <a:ext uri="{FF2B5EF4-FFF2-40B4-BE49-F238E27FC236}">
                <a16:creationId xmlns:a16="http://schemas.microsoft.com/office/drawing/2014/main" id="{4EEB3278-194B-4076-8E03-F96F279B67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78F682-8BB8-4155-8C7D-69FC41D0E23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22386453-93E7-4A24-ADB0-6B6DC3C3D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LPTL</a:t>
            </a: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9A7E070A-4647-4914-A817-3569C836F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Given </a:t>
            </a:r>
            <a:r>
              <a:rPr lang="en-US" altLang="zh-TW" b="1" i="1"/>
              <a:t>P</a:t>
            </a:r>
            <a:r>
              <a:rPr lang="en-US" altLang="zh-TW"/>
              <a:t> : a set of propositions,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Linear-time structure : </a:t>
            </a:r>
            <a:r>
              <a:rPr lang="en-US" altLang="zh-TW" i="1"/>
              <a:t>state sequence</a:t>
            </a: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	 </a:t>
            </a:r>
            <a:r>
              <a:rPr lang="en-US" altLang="zh-TW" b="1" i="1"/>
              <a:t>S= s</a:t>
            </a:r>
            <a:r>
              <a:rPr lang="en-US" altLang="zh-TW" b="1" i="1" baseline="-25000"/>
              <a:t>0 </a:t>
            </a:r>
            <a:r>
              <a:rPr lang="en-US" altLang="zh-TW" b="1" i="1"/>
              <a:t>s</a:t>
            </a:r>
            <a:r>
              <a:rPr lang="en-US" altLang="zh-TW" b="1" i="1" baseline="-25000"/>
              <a:t>1 </a:t>
            </a:r>
            <a:r>
              <a:rPr lang="en-US" altLang="zh-TW" b="1" i="1"/>
              <a:t>s</a:t>
            </a:r>
            <a:r>
              <a:rPr lang="en-US" altLang="zh-TW" b="1" i="1" baseline="-25000"/>
              <a:t>2 </a:t>
            </a:r>
            <a:r>
              <a:rPr lang="en-US" altLang="zh-TW" b="1" i="1"/>
              <a:t>s</a:t>
            </a:r>
            <a:r>
              <a:rPr lang="en-US" altLang="zh-TW" b="1" i="1" baseline="-25000"/>
              <a:t>3 </a:t>
            </a:r>
            <a:r>
              <a:rPr lang="en-US" altLang="zh-TW" b="1" i="1"/>
              <a:t>s</a:t>
            </a:r>
            <a:r>
              <a:rPr lang="en-US" altLang="zh-TW" b="1" i="1" baseline="-25000"/>
              <a:t>4</a:t>
            </a:r>
            <a:r>
              <a:rPr lang="en-US" altLang="zh-TW" b="1"/>
              <a:t>...</a:t>
            </a:r>
            <a:r>
              <a:rPr lang="en-US" altLang="zh-TW" b="1" i="1"/>
              <a:t> s</a:t>
            </a:r>
            <a:r>
              <a:rPr lang="en-US" altLang="zh-TW" b="1" i="1" baseline="-25000"/>
              <a:t>k</a:t>
            </a:r>
            <a:r>
              <a:rPr lang="en-US" altLang="zh-TW" b="1" i="1"/>
              <a:t>…</a:t>
            </a:r>
            <a:r>
              <a:rPr lang="en-US" altLang="zh-TW" b="1"/>
              <a:t>...</a:t>
            </a: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/>
              <a:t>s</a:t>
            </a:r>
            <a:r>
              <a:rPr lang="en-US" altLang="zh-TW" b="1" i="1" baseline="-25000"/>
              <a:t>k  </a:t>
            </a:r>
            <a:r>
              <a:rPr lang="en-US" altLang="zh-TW"/>
              <a:t>is a function of P where </a:t>
            </a:r>
            <a:r>
              <a:rPr lang="en-US" altLang="zh-TW" b="1" i="1"/>
              <a:t>P</a:t>
            </a:r>
            <a:r>
              <a:rPr lang="en-US" altLang="zh-TW" b="1" i="1">
                <a:sym typeface="ZapfDingbats" pitchFamily="82" charset="2"/>
              </a:rPr>
              <a:t>|-&gt;</a:t>
            </a:r>
            <a:r>
              <a:rPr lang="en-US" altLang="zh-TW" b="1" i="1"/>
              <a:t>{true,false}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/>
              <a:t>or s</a:t>
            </a:r>
            <a:r>
              <a:rPr lang="en-US" altLang="zh-TW" b="1" i="1" baseline="-25000"/>
              <a:t>k  </a:t>
            </a:r>
            <a:r>
              <a:rPr lang="en-US" altLang="zh-TW">
                <a:latin typeface="Lucida Sans Unicode" panose="020B0602030504020204" pitchFamily="34" charset="0"/>
                <a:cs typeface="Lucida Sans Unicode" panose="020B0602030504020204" pitchFamily="34" charset="0"/>
              </a:rPr>
              <a:t>∈2</a:t>
            </a:r>
            <a:r>
              <a:rPr lang="en-US" altLang="zh-TW" baseline="30000">
                <a:latin typeface="Lucida Sans Unicode" panose="020B0602030504020204" pitchFamily="34" charset="0"/>
                <a:cs typeface="Lucida Sans Unicode" panose="020B0602030504020204" pitchFamily="34" charset="0"/>
              </a:rPr>
              <a:t>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latin typeface="Lucida Sans Unicode" panose="020B0602030504020204" pitchFamily="34" charset="0"/>
                <a:cs typeface="Lucida Sans Unicode" panose="020B0602030504020204" pitchFamily="34" charset="0"/>
              </a:rPr>
              <a:t>example: P={a,b}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latin typeface="Lucida Sans Unicode" panose="020B0602030504020204" pitchFamily="34" charset="0"/>
                <a:cs typeface="Lucida Sans Unicode" panose="020B0602030504020204" pitchFamily="34" charset="0"/>
              </a:rPr>
              <a:t>{a}{a,b}{a}{a}{b}…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latin typeface="Lucida Sans Unicode" panose="020B0602030504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baseline="-25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編號版面配置區 5">
            <a:extLst>
              <a:ext uri="{FF2B5EF4-FFF2-40B4-BE49-F238E27FC236}">
                <a16:creationId xmlns:a16="http://schemas.microsoft.com/office/drawing/2014/main" id="{A436B04E-D6EC-48AC-A19A-7B32CA05E0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836E7E-6F40-4D58-B0EA-06FE157A867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B321DA0-A904-4424-85C0-56CB5735A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>
                <a:latin typeface="Albertus Extra Bold" pitchFamily="34" charset="0"/>
              </a:rPr>
              <a:t>Syntax definitions</a:t>
            </a:r>
            <a:br>
              <a:rPr lang="en-US" altLang="zh-TW" sz="3800">
                <a:latin typeface="Albertus Extra Bold" pitchFamily="34" charset="0"/>
              </a:rPr>
            </a:br>
            <a:r>
              <a:rPr lang="en-US" altLang="zh-TW" sz="3800">
                <a:latin typeface="Albertus Extra Bold" pitchFamily="34" charset="0"/>
              </a:rPr>
              <a:t>Note!</a:t>
            </a:r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118382AE-B4D9-4E97-8C9A-ED1D2D2F8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Be sure how to read BNF 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used for define syntax of context-free language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important for the definition of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200"/>
              <a:t>automata predicates and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200"/>
              <a:t>temporal logics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Used throughout the lectures!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600"/>
              <a:t>In exam: violate the syntax rules </a:t>
            </a:r>
            <a:r>
              <a:rPr lang="en-US" altLang="zh-TW" sz="2600">
                <a:sym typeface="Wingdings" panose="05000000000000000000" pitchFamily="2" charset="2"/>
              </a:rPr>
              <a:t> </a:t>
            </a:r>
            <a:r>
              <a:rPr lang="en-US" altLang="zh-TW" sz="2600" b="1">
                <a:solidFill>
                  <a:srgbClr val="FF0000"/>
                </a:solidFill>
                <a:latin typeface="Albertus Extra Bold" pitchFamily="34" charset="0"/>
                <a:sym typeface="Wingdings" panose="05000000000000000000" pitchFamily="2" charset="2"/>
              </a:rPr>
              <a:t>no</a:t>
            </a:r>
            <a:r>
              <a:rPr lang="en-US" altLang="zh-TW" sz="2600" b="1">
                <a:solidFill>
                  <a:srgbClr val="FF0000"/>
                </a:solidFill>
                <a:latin typeface="Albertus Extra Bold" pitchFamily="34" charset="0"/>
              </a:rPr>
              <a:t> credit.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600" b="1">
              <a:solidFill>
                <a:srgbClr val="FF0000"/>
              </a:solidFill>
              <a:latin typeface="Albertus Extra Bold" pitchFamily="34" charset="0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    A ::= (M) | A1 + A2  | A1 – A2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    M ::= (A) | M1 * M2 | M1 / M2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編號版面配置區 5">
            <a:extLst>
              <a:ext uri="{FF2B5EF4-FFF2-40B4-BE49-F238E27FC236}">
                <a16:creationId xmlns:a16="http://schemas.microsoft.com/office/drawing/2014/main" id="{2A649F9B-1BF3-48CB-8A71-1FCF2F33ED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6F949C-9EDE-4F4D-BF1C-C49B9C14D11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181C5CDF-33FD-4B49-B26A-F35984DFB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C020F0A7-F4F3-4A6F-BE81-0ECC5DF0D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/>
              <a:t>ψ </a:t>
            </a:r>
            <a:r>
              <a:rPr lang="en-US" altLang="zh-TW"/>
              <a:t>::= </a:t>
            </a:r>
            <a:r>
              <a:rPr lang="en-US" altLang="zh-TW" b="1"/>
              <a:t>true |</a:t>
            </a:r>
            <a:r>
              <a:rPr lang="en-US" altLang="zh-TW"/>
              <a:t> </a:t>
            </a:r>
            <a:r>
              <a:rPr lang="en-US" altLang="zh-TW" b="1"/>
              <a:t>p |</a:t>
            </a:r>
            <a:r>
              <a:rPr lang="en-US" altLang="zh-TW"/>
              <a:t> </a:t>
            </a:r>
            <a:r>
              <a:rPr lang="en-US" altLang="zh-TW" b="1">
                <a:sym typeface="Symbol" panose="05050102010706020507" pitchFamily="18" charset="2"/>
              </a:rPr>
              <a:t></a:t>
            </a:r>
            <a:r>
              <a:rPr lang="en-US" altLang="zh-TW" b="1"/>
              <a:t>ψ</a:t>
            </a:r>
            <a:r>
              <a:rPr lang="en-US" altLang="zh-TW" b="1">
                <a:sym typeface="Symbol" panose="05050102010706020507" pitchFamily="18" charset="2"/>
              </a:rPr>
              <a:t> |</a:t>
            </a:r>
            <a:r>
              <a:rPr lang="en-US" altLang="zh-TW" b="1"/>
              <a:t>ψ</a:t>
            </a:r>
            <a:r>
              <a:rPr lang="en-US" altLang="zh-TW" b="1" baseline="-25000">
                <a:sym typeface="Symbol" panose="05050102010706020507" pitchFamily="18" charset="2"/>
              </a:rPr>
              <a:t>1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b="1"/>
              <a:t>ψ</a:t>
            </a:r>
            <a:r>
              <a:rPr lang="en-US" altLang="zh-TW" b="1" baseline="-25000">
                <a:sym typeface="Symbol" panose="05050102010706020507" pitchFamily="18" charset="2"/>
              </a:rPr>
              <a:t>2</a:t>
            </a:r>
            <a:r>
              <a:rPr lang="en-US" altLang="zh-TW" b="1">
                <a:sym typeface="Symbol" panose="05050102010706020507" pitchFamily="18" charset="2"/>
              </a:rPr>
              <a:t> | </a:t>
            </a:r>
            <a:r>
              <a:rPr lang="en-US" altLang="zh-TW" b="1">
                <a:sym typeface="Wingdings 2" panose="05020102010507070707" pitchFamily="18" charset="2"/>
              </a:rPr>
              <a:t></a:t>
            </a:r>
            <a:r>
              <a:rPr lang="en-US" altLang="zh-TW" b="1"/>
              <a:t>ψ</a:t>
            </a:r>
            <a:r>
              <a:rPr lang="en-US" altLang="zh-TW" b="1">
                <a:sym typeface="Wingdings 2" panose="05020102010507070707" pitchFamily="18" charset="2"/>
              </a:rPr>
              <a:t> |</a:t>
            </a:r>
            <a:r>
              <a:rPr lang="en-US" altLang="zh-TW" b="1"/>
              <a:t>ψ</a:t>
            </a:r>
            <a:r>
              <a:rPr lang="en-US" altLang="zh-TW" b="1" baseline="-25000">
                <a:sym typeface="Wingdings 2" panose="05020102010507070707" pitchFamily="18" charset="2"/>
              </a:rPr>
              <a:t>1</a:t>
            </a:r>
            <a:r>
              <a:rPr lang="en-US" altLang="zh-TW">
                <a:ea typeface="MS UI Gothic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zh-TW" b="1"/>
              <a:t>ψ</a:t>
            </a:r>
            <a:r>
              <a:rPr lang="en-US" altLang="zh-TW" b="1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latin typeface="新細明體" panose="02020500000000000000" pitchFamily="18" charset="-120"/>
              </a:rPr>
              <a:t>abbreviation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/>
              <a:t>			false		</a:t>
            </a:r>
            <a:r>
              <a:rPr lang="en-US" altLang="zh-TW" b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00"/>
                </a:solidFill>
              </a:rPr>
              <a:t> true</a:t>
            </a:r>
            <a:r>
              <a:rPr lang="en-US" altLang="zh-TW" b="1"/>
              <a:t>	</a:t>
            </a: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/>
              <a:t>			ψ</a:t>
            </a:r>
            <a:r>
              <a:rPr lang="en-US" altLang="zh-TW" b="1" baseline="-25000"/>
              <a:t>1 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 b="1"/>
              <a:t>ψ</a:t>
            </a:r>
            <a:r>
              <a:rPr lang="en-US" altLang="zh-TW" b="1" baseline="-25000"/>
              <a:t>2</a:t>
            </a:r>
            <a:r>
              <a:rPr lang="en-US" altLang="zh-TW" b="1"/>
              <a:t>	</a:t>
            </a:r>
            <a:r>
              <a:rPr lang="en-US" altLang="zh-TW" b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>
                <a:solidFill>
                  <a:srgbClr val="000000"/>
                </a:solidFill>
              </a:rPr>
              <a:t> ((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/>
              <a:t>ψ</a:t>
            </a:r>
            <a:r>
              <a:rPr lang="en-US" altLang="zh-TW" b="1" baseline="-25000"/>
              <a:t>1</a:t>
            </a:r>
            <a:r>
              <a:rPr lang="en-US" altLang="zh-TW" b="1"/>
              <a:t>)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</a:t>
            </a:r>
            <a:r>
              <a:rPr lang="en-US" altLang="zh-TW" b="1">
                <a:solidFill>
                  <a:srgbClr val="000000"/>
                </a:solidFill>
              </a:rPr>
              <a:t> (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/>
              <a:t>ψ</a:t>
            </a:r>
            <a:r>
              <a:rPr lang="en-US" altLang="zh-TW" b="1" baseline="-25000"/>
              <a:t>2</a:t>
            </a:r>
            <a:r>
              <a:rPr lang="en-US" altLang="zh-TW" b="1"/>
              <a:t>))</a:t>
            </a:r>
            <a:endParaRPr lang="en-US" altLang="zh-TW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			</a:t>
            </a:r>
            <a:r>
              <a:rPr lang="en-US" altLang="zh-TW" b="1"/>
              <a:t>ψ</a:t>
            </a:r>
            <a:r>
              <a:rPr lang="en-US" altLang="zh-TW" b="1" baseline="-25000"/>
              <a:t>1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/>
              <a:t>ψ</a:t>
            </a:r>
            <a:r>
              <a:rPr lang="en-US" altLang="zh-TW" b="1" baseline="-25000"/>
              <a:t>2</a:t>
            </a:r>
            <a:r>
              <a:rPr lang="en-US" altLang="zh-TW"/>
              <a:t>	</a:t>
            </a:r>
            <a:r>
              <a:rPr lang="en-US" altLang="zh-TW" b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 b="1">
                <a:solidFill>
                  <a:srgbClr val="000000"/>
                </a:solidFill>
              </a:rPr>
              <a:t>(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/>
              <a:t>ψ</a:t>
            </a:r>
            <a:r>
              <a:rPr lang="en-US" altLang="zh-TW" b="1" baseline="-25000"/>
              <a:t>1</a:t>
            </a:r>
            <a:r>
              <a:rPr lang="en-US" altLang="zh-TW" b="1"/>
              <a:t>)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</a:t>
            </a:r>
            <a:r>
              <a:rPr lang="en-US" altLang="zh-TW" b="1"/>
              <a:t>ψ</a:t>
            </a:r>
            <a:r>
              <a:rPr lang="en-US" altLang="zh-TW" b="1" baseline="-25000"/>
              <a:t>2</a:t>
            </a:r>
            <a:r>
              <a:rPr lang="en-US" altLang="zh-TW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				</a:t>
            </a:r>
            <a:r>
              <a:rPr lang="en-US" altLang="zh-TW" b="1"/>
              <a:t>ψ </a:t>
            </a:r>
            <a:r>
              <a:rPr lang="en-US" altLang="zh-TW"/>
              <a:t>	</a:t>
            </a:r>
            <a:r>
              <a:rPr lang="en-US" altLang="zh-TW" b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 b="1">
                <a:solidFill>
                  <a:srgbClr val="0000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true</a:t>
            </a:r>
            <a:r>
              <a:rPr lang="en-US" altLang="zh-TW">
                <a:solidFill>
                  <a:srgbClr val="000000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r>
              <a:rPr lang="en-US" altLang="zh-TW">
                <a:ea typeface="MS UI Gothic" panose="020B0600070205080204" pitchFamily="34" charset="-128"/>
              </a:rPr>
              <a:t>U</a:t>
            </a:r>
            <a:r>
              <a:rPr lang="en-US" altLang="zh-TW" b="1"/>
              <a:t>ψ </a:t>
            </a:r>
            <a:r>
              <a:rPr lang="en-US" altLang="zh-TW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				</a:t>
            </a:r>
            <a:r>
              <a:rPr lang="en-US" altLang="zh-TW" b="1"/>
              <a:t>ψ	</a:t>
            </a:r>
            <a:r>
              <a:rPr lang="en-US" altLang="zh-TW" b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/>
              <a:t>ψ </a:t>
            </a:r>
            <a:r>
              <a:rPr lang="en-US" altLang="zh-TW"/>
              <a:t>	</a:t>
            </a:r>
            <a:r>
              <a:rPr lang="en-US" altLang="zh-TW" b="1"/>
              <a:t>	</a:t>
            </a:r>
          </a:p>
        </p:txBody>
      </p:sp>
      <p:sp>
        <p:nvSpPr>
          <p:cNvPr id="124933" name="AutoShape 4">
            <a:extLst>
              <a:ext uri="{FF2B5EF4-FFF2-40B4-BE49-F238E27FC236}">
                <a16:creationId xmlns:a16="http://schemas.microsoft.com/office/drawing/2014/main" id="{63FB7BF9-8BEB-4CA7-A10B-7AF21819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4800"/>
            <a:ext cx="2590800" cy="914400"/>
          </a:xfrm>
          <a:prstGeom prst="wedgeRectCallout">
            <a:avLst>
              <a:gd name="adj1" fmla="val -110356"/>
              <a:gd name="adj2" fmla="val 13090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syntax definition in BNF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編號版面配置區 5">
            <a:extLst>
              <a:ext uri="{FF2B5EF4-FFF2-40B4-BE49-F238E27FC236}">
                <a16:creationId xmlns:a16="http://schemas.microsoft.com/office/drawing/2014/main" id="{CC3FE5B6-3B8B-46EE-AD76-EFA926ABD1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8FF132-F44A-4FA4-8C1E-C2390756AED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AF30CF81-3A34-4AD8-A09A-D2E6C4C0B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266706AA-2E93-4844-B3D1-F20D63F09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915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>
                <a:sym typeface="Symbol" panose="05050102010706020507" pitchFamily="18" charset="2"/>
              </a:rPr>
              <a:t>Exam.		Symbol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>
                <a:sym typeface="Symbol" panose="05050102010706020507" pitchFamily="18" charset="2"/>
              </a:rPr>
              <a:t>			in CMU</a:t>
            </a:r>
            <a:endParaRPr lang="en-US" altLang="zh-TW" sz="25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500" b="1">
              <a:sym typeface="Wingdings 2" panose="050201020105070707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>
                <a:sym typeface="Wingdings 2" panose="05020102010507070707" pitchFamily="18" charset="2"/>
              </a:rPr>
              <a:t>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X</a:t>
            </a:r>
            <a:r>
              <a:rPr lang="en-US" altLang="zh-TW" sz="2500" b="1" i="1">
                <a:sym typeface="Wingdings 2" panose="05020102010507070707" pitchFamily="18" charset="2"/>
              </a:rPr>
              <a:t>p		p is </a:t>
            </a:r>
            <a:r>
              <a:rPr lang="en-US" altLang="zh-TW" sz="2100" b="1">
                <a:sym typeface="Wingdings 2" panose="05020102010507070707" pitchFamily="18" charset="2"/>
              </a:rPr>
              <a:t>true on </a:t>
            </a:r>
            <a:r>
              <a:rPr lang="en-US" altLang="zh-TW" sz="2500" b="1">
                <a:solidFill>
                  <a:srgbClr val="0000FF"/>
                </a:solidFill>
                <a:sym typeface="Wingdings 2" panose="05020102010507070707" pitchFamily="18" charset="2"/>
              </a:rPr>
              <a:t>next</a:t>
            </a:r>
            <a:r>
              <a:rPr lang="en-US" altLang="zh-TW" sz="2100" b="1">
                <a:sym typeface="Wingdings 2" panose="05020102010507070707" pitchFamily="18" charset="2"/>
              </a:rPr>
              <a:t> state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 sz="2100" b="1">
                <a:sym typeface="Wingdings 2" panose="05020102010507070707" pitchFamily="18" charset="2"/>
              </a:rPr>
              <a:t>					</a:t>
            </a:r>
            <a:endParaRPr lang="en-US" altLang="zh-TW" sz="2500" b="1">
              <a:sym typeface="Wingdings 2" panose="050201020105070707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2800">
                <a:ea typeface="MS UI Gothic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	p</a:t>
            </a:r>
            <a:r>
              <a:rPr lang="en-US" altLang="zh-TW" sz="2800">
                <a:ea typeface="MS UI Gothic" panose="020B0600070205080204" pitchFamily="34" charset="-128"/>
              </a:rPr>
              <a:t>U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	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p 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					true </a:t>
            </a:r>
            <a:r>
              <a:rPr lang="en-US" altLang="zh-TW" sz="2500" b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until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  <a:endParaRPr lang="en-US" altLang="zh-TW" sz="25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>
                <a:sym typeface="Wingdings 2" panose="05020102010507070707" pitchFamily="18" charset="2"/>
              </a:rPr>
              <a:t>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F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From now on, there will be a 					state where</a:t>
            </a:r>
            <a:r>
              <a:rPr lang="en-US" altLang="zh-TW" sz="2500" b="1" i="1">
                <a:sym typeface="Wingdings 2" panose="05020102010507070707" pitchFamily="18" charset="2"/>
              </a:rPr>
              <a:t> p </a:t>
            </a:r>
            <a:r>
              <a:rPr lang="en-US" altLang="zh-TW" sz="2500" b="1">
                <a:sym typeface="Wingdings 2" panose="05020102010507070707" pitchFamily="18" charset="2"/>
              </a:rPr>
              <a:t>is </a:t>
            </a:r>
            <a:r>
              <a:rPr lang="en-US" altLang="zh-TW" sz="2500" b="1">
                <a:solidFill>
                  <a:srgbClr val="0000FF"/>
                </a:solidFill>
                <a:sym typeface="Wingdings 2" panose="05020102010507070707" pitchFamily="18" charset="2"/>
              </a:rPr>
              <a:t>eventually 					(sometimes)</a:t>
            </a:r>
            <a:r>
              <a:rPr lang="en-US" altLang="zh-TW" sz="2500" b="1">
                <a:sym typeface="Wingdings 2" panose="05020102010507070707" pitchFamily="18" charset="2"/>
              </a:rPr>
              <a:t> true</a:t>
            </a:r>
            <a:r>
              <a:rPr lang="en-US" altLang="zh-TW" sz="2500" b="1" i="1">
                <a:sym typeface="Wingdings 2" panose="050201020105070707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>
                <a:sym typeface="Wingdings 2" panose="05020102010507070707" pitchFamily="18" charset="2"/>
              </a:rPr>
              <a:t>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G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100" b="1">
                <a:sym typeface="Wingdings 2" panose="05020102010507070707" pitchFamily="18" charset="2"/>
              </a:rPr>
              <a:t>From now on, </a:t>
            </a:r>
            <a:r>
              <a:rPr lang="en-US" altLang="zh-TW" sz="2100" b="1" i="1">
                <a:sym typeface="Wingdings 2" panose="05020102010507070707" pitchFamily="18" charset="2"/>
              </a:rPr>
              <a:t>p</a:t>
            </a:r>
            <a:r>
              <a:rPr lang="en-US" altLang="zh-TW" sz="2100" b="1">
                <a:sym typeface="Wingdings 2" panose="05020102010507070707" pitchFamily="18" charset="2"/>
              </a:rPr>
              <a:t> is </a:t>
            </a:r>
            <a:r>
              <a:rPr lang="en-US" altLang="zh-TW" sz="2100" b="1">
                <a:solidFill>
                  <a:srgbClr val="0000FF"/>
                </a:solidFill>
                <a:sym typeface="Wingdings 2" panose="05020102010507070707" pitchFamily="18" charset="2"/>
              </a:rPr>
              <a:t>always</a:t>
            </a:r>
            <a:r>
              <a:rPr lang="en-US" altLang="zh-TW" sz="2100" b="1">
                <a:sym typeface="Wingdings 2" panose="05020102010507070707" pitchFamily="18" charset="2"/>
              </a:rPr>
              <a:t> true</a:t>
            </a:r>
            <a:endParaRPr lang="en-US" altLang="zh-TW" sz="2100" b="1">
              <a:solidFill>
                <a:srgbClr val="0000FF"/>
              </a:solidFill>
              <a:sym typeface="Wingdings 2" panose="05020102010507070707" pitchFamily="18" charset="2"/>
            </a:endParaRPr>
          </a:p>
        </p:txBody>
      </p:sp>
      <p:sp>
        <p:nvSpPr>
          <p:cNvPr id="126981" name="Line 4">
            <a:extLst>
              <a:ext uri="{FF2B5EF4-FFF2-40B4-BE49-F238E27FC236}">
                <a16:creationId xmlns:a16="http://schemas.microsoft.com/office/drawing/2014/main" id="{C836FEAB-1947-42A2-A950-C9C427E97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362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投影片編號版面配置區 5">
            <a:extLst>
              <a:ext uri="{FF2B5EF4-FFF2-40B4-BE49-F238E27FC236}">
                <a16:creationId xmlns:a16="http://schemas.microsoft.com/office/drawing/2014/main" id="{2AE0527F-5FE5-4652-892F-E022844639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0EAC24-F6CE-4E8F-A2E0-C9ED13F35AA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198690C0-897D-489D-80D4-F13EC027D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48AF7C15-493F-40E7-9627-B599239C7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0906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>
                <a:sym typeface="Wingdings 2" panose="05020102010507070707" pitchFamily="18" charset="2"/>
              </a:rPr>
              <a:t></a:t>
            </a:r>
            <a:r>
              <a:rPr lang="en-US" altLang="zh-TW" b="1" i="1">
                <a:sym typeface="Wingdings 2" panose="05020102010507070707" pitchFamily="18" charset="2"/>
              </a:rPr>
              <a:t>p		</a:t>
            </a:r>
            <a:r>
              <a:rPr lang="en-US" altLang="zh-TW" b="1">
                <a:sym typeface="Wingdings 2" panose="05020102010507070707" pitchFamily="18" charset="2"/>
              </a:rPr>
              <a:t>X</a:t>
            </a:r>
            <a:r>
              <a:rPr lang="en-US" altLang="zh-TW" b="1" i="1">
                <a:sym typeface="Wingdings 2" panose="05020102010507070707" pitchFamily="18" charset="2"/>
              </a:rPr>
              <a:t>p		p is </a:t>
            </a:r>
            <a:r>
              <a:rPr lang="en-US" altLang="zh-TW" sz="2600" b="1">
                <a:sym typeface="Wingdings 2" panose="05020102010507070707" pitchFamily="18" charset="2"/>
              </a:rPr>
              <a:t>true on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next</a:t>
            </a:r>
            <a:r>
              <a:rPr lang="en-US" altLang="zh-TW" sz="2600" b="1">
                <a:sym typeface="Wingdings 2" panose="05020102010507070707" pitchFamily="18" charset="2"/>
              </a:rPr>
              <a:t> state</a:t>
            </a:r>
            <a:endParaRPr lang="en-US" altLang="zh-TW"/>
          </a:p>
        </p:txBody>
      </p:sp>
      <p:sp>
        <p:nvSpPr>
          <p:cNvPr id="129029" name="Oval 4">
            <a:extLst>
              <a:ext uri="{FF2B5EF4-FFF2-40B4-BE49-F238E27FC236}">
                <a16:creationId xmlns:a16="http://schemas.microsoft.com/office/drawing/2014/main" id="{1BE57DB1-46ED-4577-B07D-73AC0F860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581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29030" name="Oval 5">
            <a:extLst>
              <a:ext uri="{FF2B5EF4-FFF2-40B4-BE49-F238E27FC236}">
                <a16:creationId xmlns:a16="http://schemas.microsoft.com/office/drawing/2014/main" id="{580482E2-6F74-4563-A72E-F810A19F5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1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MS LineDraw" pitchFamily="49" charset="2"/>
            </a:endParaRPr>
          </a:p>
        </p:txBody>
      </p:sp>
      <p:sp>
        <p:nvSpPr>
          <p:cNvPr id="129031" name="Oval 6">
            <a:extLst>
              <a:ext uri="{FF2B5EF4-FFF2-40B4-BE49-F238E27FC236}">
                <a16:creationId xmlns:a16="http://schemas.microsoft.com/office/drawing/2014/main" id="{B98366FC-82FD-4BB9-B168-EA59370DA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81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29032" name="Oval 7">
            <a:extLst>
              <a:ext uri="{FF2B5EF4-FFF2-40B4-BE49-F238E27FC236}">
                <a16:creationId xmlns:a16="http://schemas.microsoft.com/office/drawing/2014/main" id="{4C17358B-6AAF-4072-BED3-AA873EEF7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MS LineDraw" pitchFamily="49" charset="2"/>
            </a:endParaRPr>
          </a:p>
        </p:txBody>
      </p:sp>
      <p:sp>
        <p:nvSpPr>
          <p:cNvPr id="129033" name="Oval 8">
            <a:extLst>
              <a:ext uri="{FF2B5EF4-FFF2-40B4-BE49-F238E27FC236}">
                <a16:creationId xmlns:a16="http://schemas.microsoft.com/office/drawing/2014/main" id="{22958E47-6084-4C54-956F-EADA31538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81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  <a:endParaRPr lang="en-US" altLang="zh-TW" sz="2400" b="1" i="1">
              <a:latin typeface="Times New Roman" panose="02020603050405020304" pitchFamily="18" charset="0"/>
              <a:sym typeface="Wingdings 2" panose="05020102010507070707" pitchFamily="18" charset="2"/>
            </a:endParaRPr>
          </a:p>
        </p:txBody>
      </p:sp>
      <p:sp>
        <p:nvSpPr>
          <p:cNvPr id="129034" name="Line 9">
            <a:extLst>
              <a:ext uri="{FF2B5EF4-FFF2-40B4-BE49-F238E27FC236}">
                <a16:creationId xmlns:a16="http://schemas.microsoft.com/office/drawing/2014/main" id="{EEBE40F8-85A3-4213-9419-F18FC0BAD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35" name="Line 10">
            <a:extLst>
              <a:ext uri="{FF2B5EF4-FFF2-40B4-BE49-F238E27FC236}">
                <a16:creationId xmlns:a16="http://schemas.microsoft.com/office/drawing/2014/main" id="{975E7D07-3744-4813-9E2A-3BEE9F32F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36" name="Line 11">
            <a:extLst>
              <a:ext uri="{FF2B5EF4-FFF2-40B4-BE49-F238E27FC236}">
                <a16:creationId xmlns:a16="http://schemas.microsoft.com/office/drawing/2014/main" id="{E71D6D36-4714-4E19-8646-EAC870304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37" name="Line 12">
            <a:extLst>
              <a:ext uri="{FF2B5EF4-FFF2-40B4-BE49-F238E27FC236}">
                <a16:creationId xmlns:a16="http://schemas.microsoft.com/office/drawing/2014/main" id="{BF84A080-6AC5-453D-8D70-66C30842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38" name="Line 13">
            <a:extLst>
              <a:ext uri="{FF2B5EF4-FFF2-40B4-BE49-F238E27FC236}">
                <a16:creationId xmlns:a16="http://schemas.microsoft.com/office/drawing/2014/main" id="{2BC2BAA4-10C6-4D25-844B-8158D8BD9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39" name="Line 14">
            <a:extLst>
              <a:ext uri="{FF2B5EF4-FFF2-40B4-BE49-F238E27FC236}">
                <a16:creationId xmlns:a16="http://schemas.microsoft.com/office/drawing/2014/main" id="{019221A6-13E4-4D11-8A69-3D4FD866A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86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40" name="Line 15">
            <a:extLst>
              <a:ext uri="{FF2B5EF4-FFF2-40B4-BE49-F238E27FC236}">
                <a16:creationId xmlns:a16="http://schemas.microsoft.com/office/drawing/2014/main" id="{91B67450-0327-4459-892F-E2207FBE6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8862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41" name="Line 16">
            <a:extLst>
              <a:ext uri="{FF2B5EF4-FFF2-40B4-BE49-F238E27FC236}">
                <a16:creationId xmlns:a16="http://schemas.microsoft.com/office/drawing/2014/main" id="{A6704C63-13E9-4AA2-ADBB-E25D01562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886200"/>
            <a:ext cx="9144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42" name="Text Box 17">
            <a:extLst>
              <a:ext uri="{FF2B5EF4-FFF2-40B4-BE49-F238E27FC236}">
                <a16:creationId xmlns:a16="http://schemas.microsoft.com/office/drawing/2014/main" id="{5357B4AB-66C3-4579-95C8-319066B55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648200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>
                <a:latin typeface="Times New Roman" panose="02020603050405020304" pitchFamily="18" charset="0"/>
              </a:rPr>
              <a:t>? </a:t>
            </a:r>
            <a:r>
              <a:rPr lang="en-US" altLang="zh-TW" sz="3200">
                <a:latin typeface="Times New Roman" panose="02020603050405020304" pitchFamily="18" charset="0"/>
              </a:rPr>
              <a:t>: don’t care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編號版面配置區 5">
            <a:extLst>
              <a:ext uri="{FF2B5EF4-FFF2-40B4-BE49-F238E27FC236}">
                <a16:creationId xmlns:a16="http://schemas.microsoft.com/office/drawing/2014/main" id="{7F2F3FB0-2F61-4E1C-994F-C03EAB0BC4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1E9A0B-ED34-404F-83E6-C02BEC6106C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1F702405-1091-4997-9E44-996A5D9D0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33DA5AE5-F509-4FF4-8781-C3BAB97FC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9154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2400">
                <a:ea typeface="MS UI Gothic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	p</a:t>
            </a:r>
            <a:r>
              <a:rPr lang="en-US" altLang="zh-TW" sz="2400">
                <a:ea typeface="MS UI Gothic" panose="020B0600070205080204" pitchFamily="34" charset="-128"/>
              </a:rPr>
              <a:t>U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	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p 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					true </a:t>
            </a:r>
            <a:r>
              <a:rPr lang="en-US" altLang="zh-TW" sz="2500" b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until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  <a:endParaRPr lang="en-US" altLang="zh-TW" sz="2100" b="1">
              <a:solidFill>
                <a:srgbClr val="0000FF"/>
              </a:solidFill>
            </a:endParaRPr>
          </a:p>
        </p:txBody>
      </p:sp>
      <p:sp>
        <p:nvSpPr>
          <p:cNvPr id="131077" name="Oval 4">
            <a:extLst>
              <a:ext uri="{FF2B5EF4-FFF2-40B4-BE49-F238E27FC236}">
                <a16:creationId xmlns:a16="http://schemas.microsoft.com/office/drawing/2014/main" id="{80D0E93B-5302-4F1B-B9F9-9D13F982B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956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1078" name="Oval 5">
            <a:extLst>
              <a:ext uri="{FF2B5EF4-FFF2-40B4-BE49-F238E27FC236}">
                <a16:creationId xmlns:a16="http://schemas.microsoft.com/office/drawing/2014/main" id="{E50E63F0-0C6B-4130-878C-E15239AD9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95600"/>
            <a:ext cx="1066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</a:rPr>
              <a:t> p,q</a:t>
            </a:r>
          </a:p>
        </p:txBody>
      </p:sp>
      <p:sp>
        <p:nvSpPr>
          <p:cNvPr id="131079" name="Oval 6">
            <a:extLst>
              <a:ext uri="{FF2B5EF4-FFF2-40B4-BE49-F238E27FC236}">
                <a16:creationId xmlns:a16="http://schemas.microsoft.com/office/drawing/2014/main" id="{3B05AE9B-DB0E-4AA6-A56C-0B841E1F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956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1080" name="Oval 7">
            <a:extLst>
              <a:ext uri="{FF2B5EF4-FFF2-40B4-BE49-F238E27FC236}">
                <a16:creationId xmlns:a16="http://schemas.microsoft.com/office/drawing/2014/main" id="{9AB75044-E145-43A1-89C4-64F1FA81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956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  <a:endParaRPr lang="en-US" altLang="zh-TW" sz="2400" b="1" i="1">
              <a:latin typeface="Times New Roman" panose="02020603050405020304" pitchFamily="18" charset="0"/>
              <a:sym typeface="Wingdings 2" panose="05020102010507070707" pitchFamily="18" charset="2"/>
            </a:endParaRPr>
          </a:p>
        </p:txBody>
      </p:sp>
      <p:sp>
        <p:nvSpPr>
          <p:cNvPr id="131081" name="Line 8">
            <a:extLst>
              <a:ext uri="{FF2B5EF4-FFF2-40B4-BE49-F238E27FC236}">
                <a16:creationId xmlns:a16="http://schemas.microsoft.com/office/drawing/2014/main" id="{FDC4FCDA-A40B-4FA5-B608-149407844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2" name="Line 9">
            <a:extLst>
              <a:ext uri="{FF2B5EF4-FFF2-40B4-BE49-F238E27FC236}">
                <a16:creationId xmlns:a16="http://schemas.microsoft.com/office/drawing/2014/main" id="{FC2F9FFC-D405-4E9D-8C7A-393733575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3" name="Line 10">
            <a:extLst>
              <a:ext uri="{FF2B5EF4-FFF2-40B4-BE49-F238E27FC236}">
                <a16:creationId xmlns:a16="http://schemas.microsoft.com/office/drawing/2014/main" id="{9B945144-D2A8-45E8-A731-694A62FDD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4" name="Line 11">
            <a:extLst>
              <a:ext uri="{FF2B5EF4-FFF2-40B4-BE49-F238E27FC236}">
                <a16:creationId xmlns:a16="http://schemas.microsoft.com/office/drawing/2014/main" id="{C2262652-82D6-4CE0-82EA-1880C2F6D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5" name="Line 12">
            <a:extLst>
              <a:ext uri="{FF2B5EF4-FFF2-40B4-BE49-F238E27FC236}">
                <a16:creationId xmlns:a16="http://schemas.microsoft.com/office/drawing/2014/main" id="{EC2D7AFD-1A82-498F-88F0-D6CE1BBB3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6" name="Line 13">
            <a:extLst>
              <a:ext uri="{FF2B5EF4-FFF2-40B4-BE49-F238E27FC236}">
                <a16:creationId xmlns:a16="http://schemas.microsoft.com/office/drawing/2014/main" id="{50289FEE-4A89-4E64-940C-BC625BED1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2004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87" name="Oval 14">
            <a:extLst>
              <a:ext uri="{FF2B5EF4-FFF2-40B4-BE49-F238E27FC236}">
                <a16:creationId xmlns:a16="http://schemas.microsoft.com/office/drawing/2014/main" id="{A2060F75-7BE3-417D-A707-2EC87AF46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733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1088" name="Oval 15">
            <a:extLst>
              <a:ext uri="{FF2B5EF4-FFF2-40B4-BE49-F238E27FC236}">
                <a16:creationId xmlns:a16="http://schemas.microsoft.com/office/drawing/2014/main" id="{CC96EDA6-AB22-4003-921A-C02112E6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33800"/>
            <a:ext cx="1066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</a:rPr>
              <a:t>p,q</a:t>
            </a:r>
            <a:endParaRPr lang="en-US" altLang="zh-TW" sz="2400">
              <a:solidFill>
                <a:srgbClr val="FFCC00"/>
              </a:solidFill>
              <a:latin typeface="MS LineDraw" pitchFamily="49" charset="2"/>
            </a:endParaRPr>
          </a:p>
        </p:txBody>
      </p:sp>
      <p:sp>
        <p:nvSpPr>
          <p:cNvPr id="131089" name="Oval 16">
            <a:extLst>
              <a:ext uri="{FF2B5EF4-FFF2-40B4-BE49-F238E27FC236}">
                <a16:creationId xmlns:a16="http://schemas.microsoft.com/office/drawing/2014/main" id="{31971851-FB9F-4A8E-8E1E-6287C0B27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1090" name="Oval 17">
            <a:extLst>
              <a:ext uri="{FF2B5EF4-FFF2-40B4-BE49-F238E27FC236}">
                <a16:creationId xmlns:a16="http://schemas.microsoft.com/office/drawing/2014/main" id="{E563A1EA-F955-4422-9C29-40A53294E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733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  <a:endParaRPr lang="en-US" altLang="zh-TW" sz="2400" b="1" i="1">
              <a:latin typeface="Times New Roman" panose="02020603050405020304" pitchFamily="18" charset="0"/>
              <a:sym typeface="Wingdings 2" panose="05020102010507070707" pitchFamily="18" charset="2"/>
            </a:endParaRPr>
          </a:p>
        </p:txBody>
      </p:sp>
      <p:sp>
        <p:nvSpPr>
          <p:cNvPr id="131091" name="Line 18">
            <a:extLst>
              <a:ext uri="{FF2B5EF4-FFF2-40B4-BE49-F238E27FC236}">
                <a16:creationId xmlns:a16="http://schemas.microsoft.com/office/drawing/2014/main" id="{47717867-658E-4BE1-9F88-9BB78A82F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2" name="Line 19">
            <a:extLst>
              <a:ext uri="{FF2B5EF4-FFF2-40B4-BE49-F238E27FC236}">
                <a16:creationId xmlns:a16="http://schemas.microsoft.com/office/drawing/2014/main" id="{569BD722-16F5-47C4-ACF9-7C16387B5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3" name="Line 20">
            <a:extLst>
              <a:ext uri="{FF2B5EF4-FFF2-40B4-BE49-F238E27FC236}">
                <a16:creationId xmlns:a16="http://schemas.microsoft.com/office/drawing/2014/main" id="{3AEB26A2-959F-4E87-851C-D1783816E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4" name="Line 21">
            <a:extLst>
              <a:ext uri="{FF2B5EF4-FFF2-40B4-BE49-F238E27FC236}">
                <a16:creationId xmlns:a16="http://schemas.microsoft.com/office/drawing/2014/main" id="{AED92477-E49F-4C84-9676-6CCF25E9F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5" name="Line 22">
            <a:extLst>
              <a:ext uri="{FF2B5EF4-FFF2-40B4-BE49-F238E27FC236}">
                <a16:creationId xmlns:a16="http://schemas.microsoft.com/office/drawing/2014/main" id="{EF84114A-01BE-4EAD-AB17-88EE7173A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6" name="Line 23">
            <a:extLst>
              <a:ext uri="{FF2B5EF4-FFF2-40B4-BE49-F238E27FC236}">
                <a16:creationId xmlns:a16="http://schemas.microsoft.com/office/drawing/2014/main" id="{8FA211C5-5B73-4865-98AB-DFCB3B127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0386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097" name="AutoShape 24">
            <a:extLst>
              <a:ext uri="{FF2B5EF4-FFF2-40B4-BE49-F238E27FC236}">
                <a16:creationId xmlns:a16="http://schemas.microsoft.com/office/drawing/2014/main" id="{AC4688C6-5FDD-447A-89B0-861C96B16DE1}"/>
              </a:ext>
            </a:extLst>
          </p:cNvPr>
          <p:cNvSpPr>
            <a:spLocks/>
          </p:cNvSpPr>
          <p:nvPr/>
        </p:nvSpPr>
        <p:spPr bwMode="auto">
          <a:xfrm rot="5400000">
            <a:off x="2667000" y="2438400"/>
            <a:ext cx="457200" cy="4419600"/>
          </a:xfrm>
          <a:prstGeom prst="rightBrace">
            <a:avLst>
              <a:gd name="adj1" fmla="val 80556"/>
              <a:gd name="adj2" fmla="val 50000"/>
            </a:avLst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b="1">
              <a:latin typeface="MS LineDraw" pitchFamily="49" charset="2"/>
            </a:endParaRPr>
          </a:p>
        </p:txBody>
      </p:sp>
      <p:sp>
        <p:nvSpPr>
          <p:cNvPr id="131098" name="Oval 25">
            <a:extLst>
              <a:ext uri="{FF2B5EF4-FFF2-40B4-BE49-F238E27FC236}">
                <a16:creationId xmlns:a16="http://schemas.microsoft.com/office/drawing/2014/main" id="{BEF6CB9A-3BA7-4F50-B6ED-6721B93F9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956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?</a:t>
            </a:r>
          </a:p>
        </p:txBody>
      </p:sp>
      <p:sp>
        <p:nvSpPr>
          <p:cNvPr id="131099" name="Oval 26">
            <a:extLst>
              <a:ext uri="{FF2B5EF4-FFF2-40B4-BE49-F238E27FC236}">
                <a16:creationId xmlns:a16="http://schemas.microsoft.com/office/drawing/2014/main" id="{6F732E9A-3C28-479B-9D52-7BA89058E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733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?</a:t>
            </a:r>
          </a:p>
        </p:txBody>
      </p:sp>
      <p:sp>
        <p:nvSpPr>
          <p:cNvPr id="131100" name="Line 27">
            <a:extLst>
              <a:ext uri="{FF2B5EF4-FFF2-40B4-BE49-F238E27FC236}">
                <a16:creationId xmlns:a16="http://schemas.microsoft.com/office/drawing/2014/main" id="{515A452B-1FB6-40FA-9AD9-59CFA8743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2004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01" name="Line 28">
            <a:extLst>
              <a:ext uri="{FF2B5EF4-FFF2-40B4-BE49-F238E27FC236}">
                <a16:creationId xmlns:a16="http://schemas.microsoft.com/office/drawing/2014/main" id="{402887A6-F92C-4733-B7D0-33DCBA443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2004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02" name="Line 29">
            <a:extLst>
              <a:ext uri="{FF2B5EF4-FFF2-40B4-BE49-F238E27FC236}">
                <a16:creationId xmlns:a16="http://schemas.microsoft.com/office/drawing/2014/main" id="{3480A0F8-10B0-4D7D-BA45-C53D6B559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4038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03" name="Line 30">
            <a:extLst>
              <a:ext uri="{FF2B5EF4-FFF2-40B4-BE49-F238E27FC236}">
                <a16:creationId xmlns:a16="http://schemas.microsoft.com/office/drawing/2014/main" id="{C3AA5CE8-294C-4544-A257-26CA809E4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0386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04" name="Text Box 31">
            <a:extLst>
              <a:ext uri="{FF2B5EF4-FFF2-40B4-BE49-F238E27FC236}">
                <a16:creationId xmlns:a16="http://schemas.microsoft.com/office/drawing/2014/main" id="{631E1006-6F67-4831-944B-0DB464CB0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724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 true</a:t>
            </a:r>
            <a:endParaRPr lang="en-US" altLang="zh-TW" sz="2400" i="1">
              <a:latin typeface="Times New Roman" panose="02020603050405020304" pitchFamily="18" charset="0"/>
            </a:endParaRPr>
          </a:p>
        </p:txBody>
      </p:sp>
      <p:sp>
        <p:nvSpPr>
          <p:cNvPr id="131105" name="Text Box 32">
            <a:extLst>
              <a:ext uri="{FF2B5EF4-FFF2-40B4-BE49-F238E27FC236}">
                <a16:creationId xmlns:a16="http://schemas.microsoft.com/office/drawing/2014/main" id="{63D67CFB-C08D-47EF-8A2B-611F43957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343400"/>
            <a:ext cx="11430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 don’t care</a:t>
            </a:r>
            <a:endParaRPr lang="en-US" altLang="zh-TW" sz="2400" i="1">
              <a:latin typeface="Times New Roman" panose="02020603050405020304" pitchFamily="18" charset="0"/>
            </a:endParaRPr>
          </a:p>
        </p:txBody>
      </p:sp>
      <p:sp>
        <p:nvSpPr>
          <p:cNvPr id="131106" name="Oval 33">
            <a:extLst>
              <a:ext uri="{FF2B5EF4-FFF2-40B4-BE49-F238E27FC236}">
                <a16:creationId xmlns:a16="http://schemas.microsoft.com/office/drawing/2014/main" id="{AF6A44D5-FDB1-4AC2-9865-3492C7C31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638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q</a:t>
            </a:r>
          </a:p>
        </p:txBody>
      </p:sp>
      <p:sp>
        <p:nvSpPr>
          <p:cNvPr id="131107" name="Oval 34">
            <a:extLst>
              <a:ext uri="{FF2B5EF4-FFF2-40B4-BE49-F238E27FC236}">
                <a16:creationId xmlns:a16="http://schemas.microsoft.com/office/drawing/2014/main" id="{3B4CD55A-56A0-489F-BF0C-BBD94B257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638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?</a:t>
            </a:r>
          </a:p>
        </p:txBody>
      </p:sp>
      <p:sp>
        <p:nvSpPr>
          <p:cNvPr id="131108" name="Oval 35">
            <a:extLst>
              <a:ext uri="{FF2B5EF4-FFF2-40B4-BE49-F238E27FC236}">
                <a16:creationId xmlns:a16="http://schemas.microsoft.com/office/drawing/2014/main" id="{ACF973A2-F501-4F68-86BE-35F12E77B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6388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?</a:t>
            </a:r>
            <a:endParaRPr lang="en-US" altLang="zh-TW" sz="2400" b="1" i="1">
              <a:latin typeface="Times New Roman" panose="02020603050405020304" pitchFamily="18" charset="0"/>
              <a:sym typeface="Wingdings 2" panose="05020102010507070707" pitchFamily="18" charset="2"/>
            </a:endParaRPr>
          </a:p>
        </p:txBody>
      </p:sp>
      <p:sp>
        <p:nvSpPr>
          <p:cNvPr id="131109" name="Line 36">
            <a:extLst>
              <a:ext uri="{FF2B5EF4-FFF2-40B4-BE49-F238E27FC236}">
                <a16:creationId xmlns:a16="http://schemas.microsoft.com/office/drawing/2014/main" id="{AB727E20-5C1A-435E-B032-55C5572A8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943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10" name="Line 37">
            <a:extLst>
              <a:ext uri="{FF2B5EF4-FFF2-40B4-BE49-F238E27FC236}">
                <a16:creationId xmlns:a16="http://schemas.microsoft.com/office/drawing/2014/main" id="{6EE5CA6B-7FFF-4C5A-ACCB-BB48EB3B1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943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11" name="Line 38">
            <a:extLst>
              <a:ext uri="{FF2B5EF4-FFF2-40B4-BE49-F238E27FC236}">
                <a16:creationId xmlns:a16="http://schemas.microsoft.com/office/drawing/2014/main" id="{AB1D6F8C-59F1-4A0B-8E45-F02A7A95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943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1112" name="Line 39">
            <a:extLst>
              <a:ext uri="{FF2B5EF4-FFF2-40B4-BE49-F238E27FC236}">
                <a16:creationId xmlns:a16="http://schemas.microsoft.com/office/drawing/2014/main" id="{2A40F50A-DAAF-4029-B1AF-081993DC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943600"/>
            <a:ext cx="44958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投影片編號版面配置區 5">
            <a:extLst>
              <a:ext uri="{FF2B5EF4-FFF2-40B4-BE49-F238E27FC236}">
                <a16:creationId xmlns:a16="http://schemas.microsoft.com/office/drawing/2014/main" id="{3420CBAA-F564-4577-9B42-F3DFF125C8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AADA97-F1F4-4E1C-B383-C444A2728FF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E6559BA8-B806-41DA-9AEC-F0BCB7BBC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F878C7E3-60C0-4A89-94EC-61664D461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915400" cy="121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500" b="1">
                <a:sym typeface="Wingdings 2" panose="05020102010507070707" pitchFamily="18" charset="2"/>
              </a:rPr>
              <a:t>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F</a:t>
            </a:r>
            <a:r>
              <a:rPr lang="en-US" altLang="zh-TW" sz="2500" b="1" i="1">
                <a:sym typeface="Wingdings 2" panose="05020102010507070707" pitchFamily="18" charset="2"/>
              </a:rPr>
              <a:t>p		</a:t>
            </a:r>
            <a:r>
              <a:rPr lang="en-US" altLang="zh-TW" sz="2500" b="1">
                <a:sym typeface="Wingdings 2" panose="05020102010507070707" pitchFamily="18" charset="2"/>
              </a:rPr>
              <a:t>From now on, there will be a 					state where</a:t>
            </a:r>
            <a:r>
              <a:rPr lang="en-US" altLang="zh-TW" sz="2500" b="1" i="1">
                <a:sym typeface="Wingdings 2" panose="05020102010507070707" pitchFamily="18" charset="2"/>
              </a:rPr>
              <a:t> p </a:t>
            </a:r>
            <a:r>
              <a:rPr lang="en-US" altLang="zh-TW" sz="2500" b="1">
                <a:sym typeface="Wingdings 2" panose="05020102010507070707" pitchFamily="18" charset="2"/>
              </a:rPr>
              <a:t>is </a:t>
            </a:r>
            <a:r>
              <a:rPr lang="en-US" altLang="zh-TW" sz="2500" b="1">
                <a:solidFill>
                  <a:srgbClr val="0000FF"/>
                </a:solidFill>
                <a:sym typeface="Wingdings 2" panose="05020102010507070707" pitchFamily="18" charset="2"/>
              </a:rPr>
              <a:t>eventually 					(sometimes)</a:t>
            </a:r>
            <a:r>
              <a:rPr lang="en-US" altLang="zh-TW" sz="2500" b="1">
                <a:sym typeface="Wingdings 2" panose="05020102010507070707" pitchFamily="18" charset="2"/>
              </a:rPr>
              <a:t> true</a:t>
            </a:r>
            <a:r>
              <a:rPr lang="en-US" altLang="zh-TW" sz="2500" b="1" i="1">
                <a:sym typeface="Wingdings 2" panose="05020102010507070707" pitchFamily="18" charset="2"/>
              </a:rPr>
              <a:t> </a:t>
            </a:r>
            <a:endParaRPr lang="en-US" altLang="zh-TW" sz="2500" b="1">
              <a:sym typeface="Wingdings 2" panose="050201020105070707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500"/>
          </a:p>
        </p:txBody>
      </p:sp>
      <p:sp>
        <p:nvSpPr>
          <p:cNvPr id="133125" name="Oval 4">
            <a:extLst>
              <a:ext uri="{FF2B5EF4-FFF2-40B4-BE49-F238E27FC236}">
                <a16:creationId xmlns:a16="http://schemas.microsoft.com/office/drawing/2014/main" id="{01B8A552-8B8A-4AC9-A211-E67D24A52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33126" name="Oval 5">
            <a:extLst>
              <a:ext uri="{FF2B5EF4-FFF2-40B4-BE49-F238E27FC236}">
                <a16:creationId xmlns:a16="http://schemas.microsoft.com/office/drawing/2014/main" id="{83332035-379D-490C-AF56-C693FE85B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0480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27" name="Oval 6">
            <a:extLst>
              <a:ext uri="{FF2B5EF4-FFF2-40B4-BE49-F238E27FC236}">
                <a16:creationId xmlns:a16="http://schemas.microsoft.com/office/drawing/2014/main" id="{5455D003-A3F7-4E50-A44E-332643457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0480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33128" name="Oval 7">
            <a:extLst>
              <a:ext uri="{FF2B5EF4-FFF2-40B4-BE49-F238E27FC236}">
                <a16:creationId xmlns:a16="http://schemas.microsoft.com/office/drawing/2014/main" id="{9AFE8336-70D2-490C-ADA0-A1BA2742B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0480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MS LineDraw" pitchFamily="49" charset="2"/>
            </a:endParaRPr>
          </a:p>
        </p:txBody>
      </p:sp>
      <p:sp>
        <p:nvSpPr>
          <p:cNvPr id="133129" name="Oval 8">
            <a:extLst>
              <a:ext uri="{FF2B5EF4-FFF2-40B4-BE49-F238E27FC236}">
                <a16:creationId xmlns:a16="http://schemas.microsoft.com/office/drawing/2014/main" id="{961AF24B-F60A-4A7C-BBC8-090D34AED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0480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133130" name="Line 9">
            <a:extLst>
              <a:ext uri="{FF2B5EF4-FFF2-40B4-BE49-F238E27FC236}">
                <a16:creationId xmlns:a16="http://schemas.microsoft.com/office/drawing/2014/main" id="{2A4DF743-D315-4E3E-A38A-425E54B70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1" name="Line 10">
            <a:extLst>
              <a:ext uri="{FF2B5EF4-FFF2-40B4-BE49-F238E27FC236}">
                <a16:creationId xmlns:a16="http://schemas.microsoft.com/office/drawing/2014/main" id="{86CD15F3-C3F2-42DA-9F80-6AB8E19FE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2" name="Line 11">
            <a:extLst>
              <a:ext uri="{FF2B5EF4-FFF2-40B4-BE49-F238E27FC236}">
                <a16:creationId xmlns:a16="http://schemas.microsoft.com/office/drawing/2014/main" id="{3F1A73E1-3AEA-4583-8EA2-FE35FE25F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3" name="Line 12">
            <a:extLst>
              <a:ext uri="{FF2B5EF4-FFF2-40B4-BE49-F238E27FC236}">
                <a16:creationId xmlns:a16="http://schemas.microsoft.com/office/drawing/2014/main" id="{282129AA-01A6-4049-9E5D-BB6369F2B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4" name="Line 13">
            <a:extLst>
              <a:ext uri="{FF2B5EF4-FFF2-40B4-BE49-F238E27FC236}">
                <a16:creationId xmlns:a16="http://schemas.microsoft.com/office/drawing/2014/main" id="{6CA120D9-CC01-4E42-AA4F-2C16ED976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5" name="Line 14">
            <a:extLst>
              <a:ext uri="{FF2B5EF4-FFF2-40B4-BE49-F238E27FC236}">
                <a16:creationId xmlns:a16="http://schemas.microsoft.com/office/drawing/2014/main" id="{D77107FB-1B49-4E0D-88DC-FCF595832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352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6" name="Line 15">
            <a:extLst>
              <a:ext uri="{FF2B5EF4-FFF2-40B4-BE49-F238E27FC236}">
                <a16:creationId xmlns:a16="http://schemas.microsoft.com/office/drawing/2014/main" id="{CBD12CFA-AF38-411D-B2CE-E92ACCDCB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3528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7" name="Line 16">
            <a:extLst>
              <a:ext uri="{FF2B5EF4-FFF2-40B4-BE49-F238E27FC236}">
                <a16:creationId xmlns:a16="http://schemas.microsoft.com/office/drawing/2014/main" id="{D5C9E936-B579-4B5D-9AA1-85814F37A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352800"/>
            <a:ext cx="9144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38" name="Text Box 17">
            <a:extLst>
              <a:ext uri="{FF2B5EF4-FFF2-40B4-BE49-F238E27FC236}">
                <a16:creationId xmlns:a16="http://schemas.microsoft.com/office/drawing/2014/main" id="{C75586F5-73CE-42CF-BC99-73D75EB52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89154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>
                <a:latin typeface="Times New Roman" panose="02020603050405020304" pitchFamily="18" charset="0"/>
                <a:sym typeface="Wingdings 2" panose="05020102010507070707" pitchFamily="18" charset="2"/>
              </a:rPr>
              <a:t></a:t>
            </a:r>
            <a:r>
              <a:rPr lang="en-US" altLang="zh-TW" sz="3200" i="1">
                <a:latin typeface="Times New Roman" panose="02020603050405020304" pitchFamily="18" charset="0"/>
                <a:sym typeface="Wingdings 2" panose="05020102010507070707" pitchFamily="18" charset="2"/>
              </a:rPr>
              <a:t>p		</a:t>
            </a:r>
            <a:r>
              <a:rPr lang="en-US" altLang="zh-TW" sz="3200">
                <a:latin typeface="Times New Roman" panose="02020603050405020304" pitchFamily="18" charset="0"/>
                <a:sym typeface="Wingdings 2" panose="05020102010507070707" pitchFamily="18" charset="2"/>
              </a:rPr>
              <a:t>G</a:t>
            </a:r>
            <a:r>
              <a:rPr lang="en-US" altLang="zh-TW" sz="3200" i="1">
                <a:latin typeface="Times New Roman" panose="02020603050405020304" pitchFamily="18" charset="0"/>
                <a:sym typeface="Wingdings 2" panose="05020102010507070707" pitchFamily="18" charset="2"/>
              </a:rPr>
              <a:t>p		 </a:t>
            </a:r>
            <a:r>
              <a:rPr lang="en-US" altLang="zh-TW" sz="2500" b="1">
                <a:sym typeface="Wingdings 2" panose="05020102010507070707" pitchFamily="18" charset="2"/>
              </a:rPr>
              <a:t>From now on, </a:t>
            </a:r>
            <a:r>
              <a:rPr lang="en-US" altLang="zh-TW" sz="2500" b="1" i="1">
                <a:sym typeface="Wingdings 2" panose="05020102010507070707" pitchFamily="18" charset="2"/>
              </a:rPr>
              <a:t>p</a:t>
            </a:r>
            <a:r>
              <a:rPr lang="en-US" altLang="zh-TW" sz="2500" b="1">
                <a:sym typeface="Wingdings 2" panose="05020102010507070707" pitchFamily="18" charset="2"/>
              </a:rPr>
              <a:t> is </a:t>
            </a:r>
            <a:r>
              <a:rPr lang="en-US" altLang="zh-TW" sz="2500" b="1">
                <a:solidFill>
                  <a:srgbClr val="0000FF"/>
                </a:solidFill>
                <a:sym typeface="Wingdings 2" panose="05020102010507070707" pitchFamily="18" charset="2"/>
              </a:rPr>
              <a:t>always</a:t>
            </a:r>
            <a:r>
              <a:rPr lang="en-US" altLang="zh-TW" sz="2500" b="1">
                <a:sym typeface="Wingdings 2" panose="05020102010507070707" pitchFamily="18" charset="2"/>
              </a:rPr>
              <a:t> true</a:t>
            </a:r>
            <a:endParaRPr lang="en-US" altLang="zh-TW" sz="2500">
              <a:solidFill>
                <a:srgbClr val="0000FF"/>
              </a:solidFill>
              <a:latin typeface="Times New Roman" panose="02020603050405020304" pitchFamily="18" charset="0"/>
              <a:sym typeface="Wingdings 2" panose="050201020105070707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zh-TW" sz="2500">
              <a:latin typeface="MS LineDraw" pitchFamily="49" charset="2"/>
            </a:endParaRPr>
          </a:p>
        </p:txBody>
      </p:sp>
      <p:sp>
        <p:nvSpPr>
          <p:cNvPr id="133139" name="Oval 18">
            <a:extLst>
              <a:ext uri="{FF2B5EF4-FFF2-40B4-BE49-F238E27FC236}">
                <a16:creationId xmlns:a16="http://schemas.microsoft.com/office/drawing/2014/main" id="{2D62FD4D-5677-46E9-8D2B-57213602E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86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40" name="Oval 19">
            <a:extLst>
              <a:ext uri="{FF2B5EF4-FFF2-40B4-BE49-F238E27FC236}">
                <a16:creationId xmlns:a16="http://schemas.microsoft.com/office/drawing/2014/main" id="{70C0ED03-12B7-4FC3-89AC-A4752997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86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41" name="Oval 20">
            <a:extLst>
              <a:ext uri="{FF2B5EF4-FFF2-40B4-BE49-F238E27FC236}">
                <a16:creationId xmlns:a16="http://schemas.microsoft.com/office/drawing/2014/main" id="{972D421C-68FD-4CC0-89BB-1C32F56D6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86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42" name="Oval 21">
            <a:extLst>
              <a:ext uri="{FF2B5EF4-FFF2-40B4-BE49-F238E27FC236}">
                <a16:creationId xmlns:a16="http://schemas.microsoft.com/office/drawing/2014/main" id="{1D0B0AC9-7F18-461E-9C3D-75581DF3C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486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43" name="Oval 22">
            <a:extLst>
              <a:ext uri="{FF2B5EF4-FFF2-40B4-BE49-F238E27FC236}">
                <a16:creationId xmlns:a16="http://schemas.microsoft.com/office/drawing/2014/main" id="{0371EDF2-11F9-4E0A-93DE-ACEB5FCD5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6096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CC00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p</a:t>
            </a:r>
          </a:p>
        </p:txBody>
      </p:sp>
      <p:sp>
        <p:nvSpPr>
          <p:cNvPr id="133144" name="Line 23">
            <a:extLst>
              <a:ext uri="{FF2B5EF4-FFF2-40B4-BE49-F238E27FC236}">
                <a16:creationId xmlns:a16="http://schemas.microsoft.com/office/drawing/2014/main" id="{418FC78C-B355-4F11-A559-DC55D2985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45" name="Line 24">
            <a:extLst>
              <a:ext uri="{FF2B5EF4-FFF2-40B4-BE49-F238E27FC236}">
                <a16:creationId xmlns:a16="http://schemas.microsoft.com/office/drawing/2014/main" id="{D791CBF8-64F2-4BEA-90E0-9C9506119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46" name="Line 25">
            <a:extLst>
              <a:ext uri="{FF2B5EF4-FFF2-40B4-BE49-F238E27FC236}">
                <a16:creationId xmlns:a16="http://schemas.microsoft.com/office/drawing/2014/main" id="{D4944707-9AF9-4972-BA50-3C3C1E206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47" name="Line 26">
            <a:extLst>
              <a:ext uri="{FF2B5EF4-FFF2-40B4-BE49-F238E27FC236}">
                <a16:creationId xmlns:a16="http://schemas.microsoft.com/office/drawing/2014/main" id="{FC70F716-B93A-4CB6-A7AA-F7D02152C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48" name="Line 27">
            <a:extLst>
              <a:ext uri="{FF2B5EF4-FFF2-40B4-BE49-F238E27FC236}">
                <a16:creationId xmlns:a16="http://schemas.microsoft.com/office/drawing/2014/main" id="{332E887A-61CA-4A4D-B12D-63C3459FD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49" name="Line 28">
            <a:extLst>
              <a:ext uri="{FF2B5EF4-FFF2-40B4-BE49-F238E27FC236}">
                <a16:creationId xmlns:a16="http://schemas.microsoft.com/office/drawing/2014/main" id="{E435AF42-92C9-4AC0-92AA-34398595A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79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50" name="Line 29">
            <a:extLst>
              <a:ext uri="{FF2B5EF4-FFF2-40B4-BE49-F238E27FC236}">
                <a16:creationId xmlns:a16="http://schemas.microsoft.com/office/drawing/2014/main" id="{9BD79F35-050C-4614-A5B2-B38359DBF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791200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51" name="Line 30">
            <a:extLst>
              <a:ext uri="{FF2B5EF4-FFF2-40B4-BE49-F238E27FC236}">
                <a16:creationId xmlns:a16="http://schemas.microsoft.com/office/drawing/2014/main" id="{8769A7E8-150A-4BC1-B281-BB4D68E93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791200"/>
            <a:ext cx="9144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152" name="Line 31">
            <a:extLst>
              <a:ext uri="{FF2B5EF4-FFF2-40B4-BE49-F238E27FC236}">
                <a16:creationId xmlns:a16="http://schemas.microsoft.com/office/drawing/2014/main" id="{24488EBE-52DB-47E2-BB7E-92DAAD4EE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投影片編號版面配置區 5">
            <a:extLst>
              <a:ext uri="{FF2B5EF4-FFF2-40B4-BE49-F238E27FC236}">
                <a16:creationId xmlns:a16="http://schemas.microsoft.com/office/drawing/2014/main" id="{A09EFF3F-02F6-434E-AB68-A3B919DCE5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ABFC17-5B08-4E5B-AB94-24951A20AD2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A7DA4BDE-375F-4EE2-9811-AEB14A9FC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syntax</a:t>
            </a: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974D32FE-9B37-46ED-8BE7-FEF881119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915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Two operators for </a:t>
            </a:r>
            <a:r>
              <a:rPr lang="en-US" altLang="zh-TW" dirty="0">
                <a:solidFill>
                  <a:srgbClr val="0000FF"/>
                </a:solidFill>
              </a:rPr>
              <a:t>Fairness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ym typeface="Wingdings 2" panose="05020102010507070707" pitchFamily="18" charset="2"/>
              </a:rPr>
              <a:t></a:t>
            </a:r>
            <a:r>
              <a:rPr lang="en-US" altLang="zh-TW" b="1" baseline="30000" dirty="0">
                <a:sym typeface="Symbol" panose="05050102010706020507" pitchFamily="18" charset="2"/>
              </a:rPr>
              <a:t></a:t>
            </a:r>
            <a:r>
              <a:rPr lang="en-US" altLang="zh-TW" b="1" i="1" dirty="0">
                <a:sym typeface="Symbol" panose="05050102010706020507" pitchFamily="18" charset="2"/>
              </a:rPr>
              <a:t>p  </a:t>
            </a:r>
            <a:r>
              <a:rPr lang="en-US" altLang="zh-TW" b="1" dirty="0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	 </a:t>
            </a:r>
            <a:r>
              <a:rPr lang="en-US" altLang="zh-TW" b="1" dirty="0">
                <a:sym typeface="Wingdings 2" panose="05020102010507070707" pitchFamily="18" charset="2"/>
              </a:rPr>
              <a:t></a:t>
            </a:r>
            <a:r>
              <a:rPr lang="en-US" altLang="zh-TW" b="1" i="1" dirty="0"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p	</a:t>
            </a:r>
            <a:r>
              <a:rPr lang="zh-TW" altLang="en-US" b="1" dirty="0"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；</a:t>
            </a:r>
            <a:r>
              <a:rPr lang="en-US" altLang="zh-TW" b="1" i="1" dirty="0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p </a:t>
            </a:r>
            <a:r>
              <a:rPr lang="en-US" altLang="zh-TW" b="1" dirty="0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 will happen infinitely 				   many times</a:t>
            </a:r>
            <a:r>
              <a:rPr lang="en-US" altLang="zh-TW" b="1" dirty="0">
                <a:sym typeface="Symbol" panose="05050102010706020507" pitchFamily="18" charset="2"/>
              </a:rPr>
              <a:t>					   	    	   </a:t>
            </a:r>
            <a:r>
              <a:rPr lang="en-US" altLang="zh-TW" b="1" dirty="0">
                <a:solidFill>
                  <a:schemeClr val="hlink"/>
                </a:solidFill>
                <a:sym typeface="Symbol" panose="05050102010706020507" pitchFamily="18" charset="2"/>
              </a:rPr>
              <a:t>infinitely often</a:t>
            </a:r>
            <a:endParaRPr lang="en-US" altLang="zh-TW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lang="en-US" altLang="zh-TW" b="1" baseline="30000" dirty="0">
                <a:sym typeface="Symbol" panose="05050102010706020507" pitchFamily="18" charset="2"/>
              </a:rPr>
              <a:t></a:t>
            </a:r>
            <a:r>
              <a:rPr lang="en-US" altLang="zh-TW" b="1" i="1" dirty="0">
                <a:sym typeface="Symbol" panose="05050102010706020507" pitchFamily="18" charset="2"/>
              </a:rPr>
              <a:t>p </a:t>
            </a:r>
            <a:r>
              <a:rPr lang="en-US" altLang="zh-TW" sz="1900" b="1" i="1" dirty="0">
                <a:sym typeface="Symbol" panose="05050102010706020507" pitchFamily="18" charset="2"/>
              </a:rPr>
              <a:t> </a:t>
            </a:r>
            <a:r>
              <a:rPr lang="en-US" altLang="zh-TW" b="1" dirty="0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   </a:t>
            </a:r>
            <a:r>
              <a:rPr lang="en-US" altLang="zh-TW" b="1" dirty="0">
                <a:sym typeface="Wingdings 2" panose="05020102010507070707" pitchFamily="18" charset="2"/>
              </a:rPr>
              <a:t></a:t>
            </a:r>
            <a:r>
              <a:rPr lang="en-US" altLang="zh-TW" b="1" i="1" dirty="0"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 p	</a:t>
            </a:r>
            <a:r>
              <a:rPr lang="zh-TW" altLang="en-US" b="1" dirty="0">
                <a:sym typeface="Symbol" panose="05050102010706020507" pitchFamily="18" charset="2"/>
              </a:rPr>
              <a:t>；</a:t>
            </a:r>
            <a:r>
              <a:rPr lang="en-US" altLang="zh-TW" b="1" i="1" dirty="0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p </a:t>
            </a:r>
            <a:r>
              <a:rPr lang="en-US" altLang="zh-TW" b="1" dirty="0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will be always true					   after some time in the 					   future</a:t>
            </a:r>
            <a:r>
              <a:rPr lang="en-US" altLang="zh-TW" b="1" i="1" dirty="0"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				   				   </a:t>
            </a:r>
            <a:r>
              <a:rPr lang="en-US" altLang="zh-TW" b="1" dirty="0">
                <a:solidFill>
                  <a:schemeClr val="hlink"/>
                </a:solidFill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almost everywhere</a:t>
            </a:r>
            <a:endParaRPr lang="en-US" altLang="zh-TW" b="1" i="1" dirty="0">
              <a:ea typeface="華康儷楷書" panose="03000509000000000000" pitchFamily="65" charset="-120"/>
              <a:cs typeface="華康儷楷書" panose="03000509000000000000" pitchFamily="65" charset="-12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投影片編號版面配置區 5">
            <a:extLst>
              <a:ext uri="{FF2B5EF4-FFF2-40B4-BE49-F238E27FC236}">
                <a16:creationId xmlns:a16="http://schemas.microsoft.com/office/drawing/2014/main" id="{7BC57361-BF99-4F67-8F67-AA6478AF6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BD85B3-01CD-4689-BC0A-7C018F0AE73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3566B976-B831-4AED-8C8D-9FC4BCC7C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B9B8107F-B96B-4332-9A90-ADD7C56C7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1600200"/>
            <a:ext cx="411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rgbClr val="0000FF"/>
                </a:solidFill>
              </a:rPr>
              <a:t>suffix path :</a:t>
            </a:r>
            <a:endParaRPr lang="en-US" altLang="zh-TW"/>
          </a:p>
        </p:txBody>
      </p:sp>
      <p:sp>
        <p:nvSpPr>
          <p:cNvPr id="139269" name="Text Box 4">
            <a:extLst>
              <a:ext uri="{FF2B5EF4-FFF2-40B4-BE49-F238E27FC236}">
                <a16:creationId xmlns:a16="http://schemas.microsoft.com/office/drawing/2014/main" id="{5CC3CA13-E4E0-44A0-A872-94457ACD3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828800"/>
            <a:ext cx="548640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(0)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(1)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(2)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(3)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(k)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k+1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k+2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990099"/>
                </a:solidFill>
                <a:latin typeface="Times New Roman" panose="02020603050405020304" pitchFamily="18" charset="0"/>
              </a:rPr>
              <a:t>k+3 </a:t>
            </a:r>
            <a:r>
              <a:rPr lang="en-US" altLang="zh-TW" sz="3200" i="1">
                <a:solidFill>
                  <a:srgbClr val="990099"/>
                </a:solidFill>
                <a:latin typeface="Times New Roman" panose="02020603050405020304" pitchFamily="18" charset="0"/>
              </a:rPr>
              <a:t>…......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投影片編號版面配置區 5">
            <a:extLst>
              <a:ext uri="{FF2B5EF4-FFF2-40B4-BE49-F238E27FC236}">
                <a16:creationId xmlns:a16="http://schemas.microsoft.com/office/drawing/2014/main" id="{FD64EE60-5C27-41EC-86D2-74063B2E42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8BDA4B-9070-4A2F-8E14-2C4FE065985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F9841E5B-445D-4CCC-B867-7324840DC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725C7B1-E377-4D13-B85C-E2EBE1D0B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01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Given a state sequence</a:t>
            </a:r>
            <a:r>
              <a:rPr lang="en-US" altLang="zh-TW" sz="2600" b="1"/>
              <a:t>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	 </a:t>
            </a:r>
            <a:r>
              <a:rPr lang="en-US" altLang="zh-TW" sz="2600" b="1" i="1"/>
              <a:t>S= s</a:t>
            </a:r>
            <a:r>
              <a:rPr lang="en-US" altLang="zh-TW" sz="2600" b="1" i="1" baseline="-25000"/>
              <a:t>0 </a:t>
            </a:r>
            <a:r>
              <a:rPr lang="en-US" altLang="zh-TW" sz="2600" b="1" i="1"/>
              <a:t>s</a:t>
            </a:r>
            <a:r>
              <a:rPr lang="en-US" altLang="zh-TW" sz="2600" b="1" i="1" baseline="-25000"/>
              <a:t>1 </a:t>
            </a:r>
            <a:r>
              <a:rPr lang="en-US" altLang="zh-TW" sz="2600" b="1" i="1"/>
              <a:t>s</a:t>
            </a:r>
            <a:r>
              <a:rPr lang="en-US" altLang="zh-TW" sz="2600" b="1" i="1" baseline="-25000"/>
              <a:t>2 </a:t>
            </a:r>
            <a:r>
              <a:rPr lang="en-US" altLang="zh-TW" sz="2600" b="1" i="1"/>
              <a:t>s</a:t>
            </a:r>
            <a:r>
              <a:rPr lang="en-US" altLang="zh-TW" sz="2600" b="1" i="1" baseline="-25000"/>
              <a:t>3 </a:t>
            </a:r>
            <a:r>
              <a:rPr lang="en-US" altLang="zh-TW" sz="2600" b="1" i="1"/>
              <a:t>s</a:t>
            </a:r>
            <a:r>
              <a:rPr lang="en-US" altLang="zh-TW" sz="2600" b="1" i="1" baseline="-25000"/>
              <a:t>4</a:t>
            </a:r>
            <a:r>
              <a:rPr lang="en-US" altLang="zh-TW" sz="2600" b="1"/>
              <a:t>...</a:t>
            </a:r>
            <a:r>
              <a:rPr lang="en-US" altLang="zh-TW" sz="2600" b="1" i="1"/>
              <a:t> s</a:t>
            </a:r>
            <a:r>
              <a:rPr lang="en-US" altLang="zh-TW" sz="2600" b="1" i="1" baseline="-25000"/>
              <a:t>k</a:t>
            </a:r>
            <a:r>
              <a:rPr lang="en-US" altLang="zh-TW" sz="2600" b="1" i="1"/>
              <a:t>…</a:t>
            </a:r>
            <a:r>
              <a:rPr lang="en-US" altLang="zh-TW" sz="2600" b="1"/>
              <a:t>...</a:t>
            </a:r>
            <a:endParaRPr lang="en-US" altLang="zh-TW" sz="26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We define 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ψ (</a:t>
            </a:r>
            <a:r>
              <a:rPr lang="en-US" altLang="zh-TW" sz="2600">
                <a:solidFill>
                  <a:srgbClr val="000000"/>
                </a:solidFill>
              </a:rPr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solidFill>
                  <a:srgbClr val="0000FF"/>
                </a:solidFill>
              </a:rPr>
              <a:t>satisfies </a:t>
            </a:r>
            <a:r>
              <a:rPr lang="en-US" altLang="zh-TW" sz="2600"/>
              <a:t>ψ</a:t>
            </a:r>
            <a:r>
              <a:rPr lang="zh-TW" altLang="en-US" sz="2600"/>
              <a:t>）</a:t>
            </a:r>
            <a:r>
              <a:rPr lang="en-US" altLang="zh-TW" sz="2600"/>
              <a:t>inductively as</a:t>
            </a:r>
            <a:r>
              <a:rPr lang="zh-TW" altLang="en-US" sz="2600"/>
              <a:t>：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true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p  </a:t>
            </a:r>
            <a:r>
              <a:rPr lang="en-US" altLang="zh-TW" sz="2600">
                <a:sym typeface="Symbol" panose="05050102010706020507" pitchFamily="18" charset="2"/>
              </a:rPr>
              <a:t></a:t>
            </a:r>
            <a:r>
              <a:rPr lang="en-US" altLang="zh-TW" sz="2600"/>
              <a:t>  s</a:t>
            </a:r>
            <a:r>
              <a:rPr lang="en-US" altLang="zh-TW" sz="2600" baseline="-25000"/>
              <a:t>0</a:t>
            </a:r>
            <a:r>
              <a:rPr lang="en-US" altLang="zh-TW" sz="2600"/>
              <a:t>(p)=true, or equivalently p </a:t>
            </a:r>
            <a:r>
              <a:rPr lang="en-US" altLang="zh-TW" sz="2600">
                <a:sym typeface="Symbol" panose="05050102010706020507" pitchFamily="18" charset="2"/>
              </a:rPr>
              <a:t> </a:t>
            </a:r>
            <a:r>
              <a:rPr lang="en-US" altLang="zh-TW" sz="2600"/>
              <a:t>s</a:t>
            </a:r>
            <a:r>
              <a:rPr lang="en-US" altLang="zh-TW" sz="2600" baseline="-25000"/>
              <a:t>0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</a:t>
            </a:r>
            <a:r>
              <a:rPr lang="en-US" altLang="zh-TW" sz="2600">
                <a:sym typeface="Symbol" panose="05050102010706020507" pitchFamily="18" charset="2"/>
              </a:rPr>
              <a:t></a:t>
            </a:r>
            <a:r>
              <a:rPr lang="en-US" altLang="zh-TW" sz="2600"/>
              <a:t>ψ </a:t>
            </a:r>
            <a:r>
              <a:rPr lang="en-US" altLang="zh-TW" sz="2600">
                <a:sym typeface="Symbol" panose="05050102010706020507" pitchFamily="18" charset="2"/>
              </a:rPr>
              <a:t></a:t>
            </a:r>
            <a:r>
              <a:rPr lang="en-US" altLang="zh-TW" sz="2600"/>
              <a:t> S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 is false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</a:t>
            </a:r>
            <a:r>
              <a:rPr lang="en-US" altLang="zh-TW" sz="2600" baseline="-25000">
                <a:sym typeface="Symbol" panose="05050102010706020507" pitchFamily="18" charset="2"/>
              </a:rPr>
              <a:t>1</a:t>
            </a:r>
            <a:r>
              <a:rPr lang="en-US" altLang="zh-TW" sz="2600">
                <a:sym typeface="Symbol" panose="05050102010706020507" pitchFamily="18" charset="2"/>
              </a:rPr>
              <a:t></a:t>
            </a:r>
            <a:r>
              <a:rPr lang="en-US" altLang="zh-TW" sz="2600"/>
              <a:t>ψ</a:t>
            </a:r>
            <a:r>
              <a:rPr lang="en-US" altLang="zh-TW" sz="2600" baseline="-25000">
                <a:sym typeface="Symbol" panose="05050102010706020507" pitchFamily="18" charset="2"/>
              </a:rPr>
              <a:t>2 </a:t>
            </a:r>
            <a:r>
              <a:rPr lang="en-US" altLang="zh-TW" sz="2600"/>
              <a:t> </a:t>
            </a:r>
            <a:r>
              <a:rPr lang="en-US" altLang="zh-TW" sz="2600">
                <a:sym typeface="Symbol" panose="05050102010706020507" pitchFamily="18" charset="2"/>
              </a:rPr>
              <a:t></a:t>
            </a:r>
            <a:r>
              <a:rPr lang="en-US" altLang="zh-TW" sz="2600"/>
              <a:t> 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</a:t>
            </a:r>
            <a:r>
              <a:rPr lang="en-US" altLang="zh-TW" sz="2600" baseline="-25000">
                <a:sym typeface="Symbol" panose="05050102010706020507" pitchFamily="18" charset="2"/>
              </a:rPr>
              <a:t>1</a:t>
            </a:r>
            <a:r>
              <a:rPr lang="en-US" altLang="zh-TW" sz="2600">
                <a:sym typeface="Symbol" panose="05050102010706020507" pitchFamily="18" charset="2"/>
              </a:rPr>
              <a:t> or</a:t>
            </a:r>
            <a:r>
              <a:rPr lang="en-US" altLang="zh-TW" sz="2600" baseline="-25000">
                <a:sym typeface="Symbol" panose="05050102010706020507" pitchFamily="18" charset="2"/>
              </a:rPr>
              <a:t>  </a:t>
            </a:r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</a:t>
            </a:r>
            <a:r>
              <a:rPr lang="en-US" altLang="zh-TW" sz="2600" baseline="-25000">
                <a:sym typeface="Symbol" panose="05050102010706020507" pitchFamily="18" charset="2"/>
              </a:rPr>
              <a:t>2 </a:t>
            </a:r>
          </a:p>
          <a:p>
            <a:pPr eaLnBrk="1" hangingPunct="1"/>
            <a:r>
              <a:rPr lang="en-US" altLang="zh-TW" sz="2600"/>
              <a:t>S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</a:t>
            </a:r>
            <a:r>
              <a:rPr lang="en-US" altLang="zh-TW" sz="2600">
                <a:sym typeface="Wingdings 2" panose="05020102010507070707" pitchFamily="18" charset="2"/>
              </a:rPr>
              <a:t></a:t>
            </a:r>
            <a:r>
              <a:rPr lang="en-US" altLang="zh-TW" sz="2600"/>
              <a:t>ψ</a:t>
            </a:r>
            <a:r>
              <a:rPr lang="en-US" altLang="zh-TW" sz="2600">
                <a:sym typeface="Wingdings 2" panose="050201020105070707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</a:t>
            </a:r>
            <a:r>
              <a:rPr lang="en-US" altLang="zh-TW" sz="2600"/>
              <a:t> S</a:t>
            </a:r>
            <a:r>
              <a:rPr lang="en-US" altLang="zh-TW" sz="2600" baseline="30000"/>
              <a:t>(1)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</a:t>
            </a:r>
            <a:endParaRPr lang="en-US" altLang="zh-TW" sz="2600"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 sz="2600"/>
              <a:t>S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 ψ</a:t>
            </a:r>
            <a:r>
              <a:rPr lang="en-US" altLang="zh-TW" sz="2600" baseline="-25000">
                <a:sym typeface="Wingdings 2" panose="05020102010507070707" pitchFamily="18" charset="2"/>
              </a:rPr>
              <a:t>1</a:t>
            </a:r>
            <a:r>
              <a:rPr lang="en-US" altLang="zh-TW" sz="2400">
                <a:ea typeface="MS UI Gothic" panose="020B0600070205080204" pitchFamily="34" charset="-128"/>
              </a:rPr>
              <a:t>U</a:t>
            </a:r>
            <a:r>
              <a:rPr lang="en-US" altLang="zh-TW" sz="2600"/>
              <a:t>ψ</a:t>
            </a:r>
            <a:r>
              <a:rPr lang="en-US" altLang="zh-TW" sz="26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600">
                <a:sym typeface="Wingdings 2" panose="050201020105070707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</a:t>
            </a:r>
            <a:r>
              <a:rPr lang="en-US" altLang="zh-TW" sz="2600"/>
              <a:t> </a:t>
            </a:r>
            <a:r>
              <a:rPr lang="en-US" altLang="zh-TW" sz="2600">
                <a:sym typeface="Symbol" panose="05050102010706020507" pitchFamily="18" charset="2"/>
              </a:rPr>
              <a:t></a:t>
            </a:r>
            <a:r>
              <a:rPr lang="en-US" altLang="zh-TW" sz="2600"/>
              <a:t>k</a:t>
            </a:r>
            <a:r>
              <a:rPr lang="en-US" altLang="zh-TW" sz="2600">
                <a:sym typeface="Symbol" panose="05050102010706020507" pitchFamily="18" charset="2"/>
              </a:rPr>
              <a:t></a:t>
            </a:r>
            <a:r>
              <a:rPr lang="en-US" altLang="zh-TW" sz="2600"/>
              <a:t>0(S</a:t>
            </a:r>
            <a:r>
              <a:rPr lang="en-US" altLang="zh-TW" sz="2600" baseline="30000"/>
              <a:t>(k)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ψ</a:t>
            </a:r>
            <a:r>
              <a:rPr lang="en-US" altLang="zh-TW" sz="26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600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600">
                <a:sym typeface="Symbol" panose="05050102010706020507" pitchFamily="18" charset="2"/>
              </a:rPr>
              <a:t>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0</a:t>
            </a:r>
            <a:r>
              <a:rPr lang="en-US" altLang="zh-TW" sz="2600">
                <a:sym typeface="Symbol" panose="05050102010706020507" pitchFamily="18" charset="2"/>
              </a:rPr>
              <a:t>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j&lt;k(</a:t>
            </a:r>
            <a:r>
              <a:rPr lang="en-US" altLang="zh-TW" sz="2600"/>
              <a:t>S</a:t>
            </a:r>
            <a:r>
              <a:rPr lang="en-US" altLang="zh-TW" sz="2600" baseline="30000"/>
              <a:t>(j)</a:t>
            </a:r>
            <a:r>
              <a:rPr lang="en-US" altLang="zh-TW" sz="2600" baseline="-25000"/>
              <a:t>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ψ</a:t>
            </a:r>
            <a:r>
              <a:rPr lang="en-US" altLang="zh-TW" sz="26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1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))</a:t>
            </a:r>
            <a:r>
              <a:rPr lang="en-US" altLang="zh-TW" sz="26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endParaRPr lang="en-US" altLang="zh-TW" sz="2600"/>
          </a:p>
          <a:p>
            <a:pPr eaLnBrk="1" hangingPunct="1"/>
            <a:endParaRPr lang="en-US" altLang="zh-TW" sz="2600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投影片編號版面配置區 5">
            <a:extLst>
              <a:ext uri="{FF2B5EF4-FFF2-40B4-BE49-F238E27FC236}">
                <a16:creationId xmlns:a16="http://schemas.microsoft.com/office/drawing/2014/main" id="{40C625BD-0FF1-49BD-8CDF-79CC641C78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6C9385-0730-4E95-995E-755D805BF17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FFD8C7FB-7EA3-41D7-9E21-04FFF0A4F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90AA15FB-37E8-4FAD-A9E8-8FEF39314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7848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600"/>
              <a:t>If a state sequence </a:t>
            </a:r>
            <a:r>
              <a:rPr lang="en-US" altLang="zh-TW" sz="2600" i="1">
                <a:solidFill>
                  <a:srgbClr val="0000FF"/>
                </a:solidFill>
              </a:rPr>
              <a:t>S</a:t>
            </a:r>
            <a:r>
              <a:rPr lang="en-US" altLang="zh-TW" sz="2600"/>
              <a:t> satisfies</a:t>
            </a:r>
            <a:r>
              <a:rPr lang="en-US" altLang="zh-TW" sz="2600" i="1">
                <a:solidFill>
                  <a:srgbClr val="0000FF"/>
                </a:solidFill>
              </a:rPr>
              <a:t> </a:t>
            </a:r>
            <a:r>
              <a:rPr lang="en-US" altLang="zh-TW" sz="2600"/>
              <a:t>φ</a:t>
            </a:r>
            <a:r>
              <a:rPr lang="en-US" altLang="zh-TW" sz="2600">
                <a:solidFill>
                  <a:srgbClr val="0000FF"/>
                </a:solidFill>
              </a:rPr>
              <a:t> (S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φ</a:t>
            </a:r>
            <a:r>
              <a:rPr lang="en-US" altLang="zh-TW" sz="2600">
                <a:solidFill>
                  <a:srgbClr val="0000FF"/>
                </a:solidFill>
              </a:rPr>
              <a:t>)</a:t>
            </a:r>
            <a:r>
              <a:rPr lang="en-US" altLang="zh-TW" sz="2600" i="1"/>
              <a:t> </a:t>
            </a:r>
            <a:endParaRPr lang="en-US" altLang="zh-TW" sz="26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		then </a:t>
            </a:r>
            <a:r>
              <a:rPr lang="en-US" altLang="zh-TW" sz="2600" i="1"/>
              <a:t>S </a:t>
            </a:r>
            <a:r>
              <a:rPr lang="en-US" altLang="zh-TW" sz="2600"/>
              <a:t>is a </a:t>
            </a:r>
            <a:r>
              <a:rPr lang="en-US" altLang="zh-TW" sz="2600">
                <a:solidFill>
                  <a:srgbClr val="0000FF"/>
                </a:solidFill>
              </a:rPr>
              <a:t>model</a:t>
            </a:r>
            <a:r>
              <a:rPr lang="en-US" altLang="zh-TW" sz="2600"/>
              <a:t> of φ</a:t>
            </a:r>
            <a:r>
              <a:rPr lang="en-US" altLang="zh-TW" sz="2600" i="1"/>
              <a:t>.</a:t>
            </a:r>
            <a:endParaRPr lang="en-US" altLang="zh-TW" sz="2600"/>
          </a:p>
          <a:p>
            <a:pPr eaLnBrk="1" hangingPunct="1">
              <a:lnSpc>
                <a:spcPct val="170000"/>
              </a:lnSpc>
            </a:pPr>
            <a:r>
              <a:rPr lang="en-US" altLang="zh-TW" sz="2600"/>
              <a:t>If there is a state sequence </a:t>
            </a:r>
            <a:r>
              <a:rPr lang="en-US" altLang="zh-TW" sz="2600" i="1"/>
              <a:t>S sat</a:t>
            </a:r>
            <a:r>
              <a:rPr lang="en-US" altLang="zh-TW" sz="2600"/>
              <a:t>φ</a:t>
            </a:r>
            <a:r>
              <a:rPr lang="en-US" altLang="zh-TW" sz="2600" i="1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		then φ</a:t>
            </a:r>
            <a:r>
              <a:rPr lang="en-US" altLang="zh-TW" sz="2600" i="1"/>
              <a:t> </a:t>
            </a:r>
            <a:r>
              <a:rPr lang="en-US" altLang="zh-TW" sz="2600"/>
              <a:t>is </a:t>
            </a:r>
            <a:r>
              <a:rPr lang="en-US" altLang="zh-TW" sz="2600" i="1">
                <a:solidFill>
                  <a:srgbClr val="0000FF"/>
                </a:solidFill>
              </a:rPr>
              <a:t>satisfiable</a:t>
            </a:r>
            <a:r>
              <a:rPr lang="en-US" altLang="zh-TW" sz="260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          else φ</a:t>
            </a:r>
            <a:r>
              <a:rPr lang="en-US" altLang="zh-TW" sz="2600" i="1"/>
              <a:t> is </a:t>
            </a:r>
            <a:r>
              <a:rPr lang="en-US" altLang="zh-TW" sz="2600" i="1">
                <a:solidFill>
                  <a:srgbClr val="0000FF"/>
                </a:solidFill>
              </a:rPr>
              <a:t>unsatisfiable</a:t>
            </a:r>
            <a:r>
              <a:rPr lang="en-US" altLang="zh-TW" sz="2600"/>
              <a:t>.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TW" sz="2600"/>
              <a:t>If for all state sequence </a:t>
            </a:r>
            <a:r>
              <a:rPr lang="en-US" altLang="zh-TW" sz="2600" i="1"/>
              <a:t>S </a:t>
            </a:r>
            <a:r>
              <a:rPr lang="en-US" altLang="zh-TW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 i="1"/>
              <a:t> </a:t>
            </a:r>
            <a:r>
              <a:rPr lang="en-US" altLang="zh-TW" sz="2600"/>
              <a:t>φ</a:t>
            </a:r>
            <a:r>
              <a:rPr lang="zh-TW" altLang="en-US" sz="2600" i="1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TW" altLang="en-US" sz="2600"/>
              <a:t>		</a:t>
            </a:r>
            <a:r>
              <a:rPr lang="en-US" altLang="zh-TW" sz="2600"/>
              <a:t>then φ</a:t>
            </a:r>
            <a:r>
              <a:rPr lang="en-US" altLang="zh-TW" sz="2600" i="1"/>
              <a:t> </a:t>
            </a:r>
            <a:r>
              <a:rPr lang="en-US" altLang="zh-TW" sz="2600"/>
              <a:t>is </a:t>
            </a:r>
            <a:r>
              <a:rPr lang="en-US" altLang="zh-TW" sz="2600" i="1">
                <a:solidFill>
                  <a:srgbClr val="0000FF"/>
                </a:solidFill>
              </a:rPr>
              <a:t>valid</a:t>
            </a:r>
            <a:r>
              <a:rPr lang="en-US" altLang="zh-TW" sz="2600"/>
              <a:t>.</a:t>
            </a:r>
            <a:r>
              <a:rPr lang="zh-TW" altLang="en-US" sz="2600"/>
              <a:t>（</a:t>
            </a:r>
            <a:r>
              <a:rPr lang="zh-TW" altLang="en-US" sz="26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600"/>
              <a:t>φ</a:t>
            </a:r>
            <a:r>
              <a:rPr lang="zh-TW" altLang="en-US" sz="2600"/>
              <a:t>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A formula φ characterizes its set of models. 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標題 1">
            <a:extLst>
              <a:ext uri="{FF2B5EF4-FFF2-40B4-BE49-F238E27FC236}">
                <a16:creationId xmlns:a16="http://schemas.microsoft.com/office/drawing/2014/main" id="{0A016175-A976-45AD-B0F0-B5EBF1D05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LTL </a:t>
            </a:r>
            <a:br>
              <a:rPr lang="en-US" altLang="zh-TW"/>
            </a:br>
            <a:r>
              <a:rPr lang="en-US" altLang="zh-TW"/>
              <a:t>- examples</a:t>
            </a:r>
            <a:endParaRPr lang="zh-TW" altLang="en-US"/>
          </a:p>
        </p:txBody>
      </p:sp>
      <p:sp>
        <p:nvSpPr>
          <p:cNvPr id="145411" name="內容版面配置區 2">
            <a:extLst>
              <a:ext uri="{FF2B5EF4-FFF2-40B4-BE49-F238E27FC236}">
                <a16:creationId xmlns:a16="http://schemas.microsoft.com/office/drawing/2014/main" id="{B94B2111-9432-4305-A4C2-8988524F2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686800" cy="4530725"/>
          </a:xfrm>
        </p:spPr>
        <p:txBody>
          <a:bodyPr/>
          <a:lstStyle/>
          <a:p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lang="en-US" altLang="zh-TW" dirty="0">
                <a:sym typeface="Euclid Math One" pitchFamily="18" charset="2"/>
              </a:rPr>
              <a:t>(start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kumimoji="0" lang="en-US" altLang="zh-TW" dirty="0">
                <a:latin typeface="新細明體" panose="02020500000000000000" pitchFamily="18" charset="-120"/>
              </a:rPr>
              <a:t>◇ </a:t>
            </a:r>
            <a:r>
              <a:rPr kumimoji="0" lang="en-US" altLang="zh-TW" dirty="0"/>
              <a:t>finish) </a:t>
            </a:r>
            <a:r>
              <a:rPr kumimoji="0" lang="zh-TW" altLang="en-US" dirty="0"/>
              <a:t>人要永遠有始有終</a:t>
            </a:r>
            <a:endParaRPr kumimoji="0" lang="en-US" altLang="zh-TW" dirty="0"/>
          </a:p>
          <a:p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kumimoji="0" lang="en-US" altLang="zh-TW" dirty="0">
                <a:latin typeface="新細明體" panose="02020500000000000000" pitchFamily="18" charset="-120"/>
              </a:rPr>
              <a:t>◇ comet-hit-earth</a:t>
            </a:r>
          </a:p>
          <a:p>
            <a:r>
              <a:rPr lang="en-US" altLang="zh-TW" dirty="0">
                <a:sym typeface="Euclid Math One" pitchFamily="18" charset="2"/>
              </a:rPr>
              <a:t>(</a:t>
            </a: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lang="en-US" altLang="zh-TW" dirty="0">
                <a:sym typeface="Euclid Math One" pitchFamily="18" charset="2"/>
              </a:rPr>
              <a:t>earth)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kumimoji="0" lang="en-US" altLang="zh-TW" dirty="0">
                <a:latin typeface="新細明體" panose="02020500000000000000" pitchFamily="18" charset="-120"/>
              </a:rPr>
              <a:t>◇comet-hit-earth</a:t>
            </a:r>
          </a:p>
          <a:p>
            <a:r>
              <a:rPr kumimoji="0" lang="en-US" altLang="zh-TW" dirty="0">
                <a:latin typeface="新細明體" panose="02020500000000000000" pitchFamily="18" charset="-120"/>
              </a:rPr>
              <a:t>(</a:t>
            </a: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kumimoji="0" lang="en-US" altLang="zh-TW" dirty="0">
                <a:latin typeface="新細明體" panose="02020500000000000000" pitchFamily="18" charset="-120"/>
              </a:rPr>
              <a:t>◇ buy-lottery-ticket)</a:t>
            </a:r>
            <a:r>
              <a:rPr kumimoji="0" lang="en-US" altLang="zh-TW" dirty="0">
                <a:latin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kumimoji="0" lang="en-US" altLang="zh-TW" dirty="0">
                <a:latin typeface="新細明體" panose="02020500000000000000" pitchFamily="18" charset="-120"/>
              </a:rPr>
              <a:t>◇ win-lottery</a:t>
            </a:r>
          </a:p>
          <a:p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lang="en-US" altLang="zh-TW" dirty="0">
                <a:sym typeface="Euclid Math One" pitchFamily="18" charset="2"/>
              </a:rPr>
              <a:t>(power-on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kumimoji="0" lang="en-US" altLang="zh-TW" dirty="0">
                <a:latin typeface="新細明體" panose="02020500000000000000" pitchFamily="18" charset="-120"/>
              </a:rPr>
              <a:t>◇ </a:t>
            </a:r>
            <a:r>
              <a:rPr kumimoji="0" lang="en-US" altLang="zh-TW" dirty="0"/>
              <a:t>boot-success)</a:t>
            </a:r>
          </a:p>
          <a:p>
            <a:r>
              <a:rPr kumimoji="0" lang="en-US" altLang="zh-TW" dirty="0">
                <a:latin typeface="新細明體" panose="02020500000000000000" pitchFamily="18" charset="-120"/>
              </a:rPr>
              <a:t>(</a:t>
            </a: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kumimoji="0" lang="en-US" altLang="zh-TW" dirty="0">
                <a:latin typeface="新細明體" panose="02020500000000000000" pitchFamily="18" charset="-120"/>
              </a:rPr>
              <a:t> power-on)</a:t>
            </a:r>
            <a:r>
              <a:rPr kumimoji="0" lang="en-US" altLang="zh-TW" dirty="0">
                <a:latin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kumimoji="0" lang="en-US" altLang="zh-TW" dirty="0">
                <a:latin typeface="新細明體" panose="02020500000000000000" pitchFamily="18" charset="-120"/>
              </a:rPr>
              <a:t>◇ </a:t>
            </a:r>
            <a:r>
              <a:rPr kumimoji="0" lang="en-US" altLang="zh-TW" dirty="0"/>
              <a:t>boot-success</a:t>
            </a:r>
          </a:p>
          <a:p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kumimoji="0" lang="en-US" altLang="zh-TW" dirty="0">
                <a:latin typeface="新細明體" panose="02020500000000000000" pitchFamily="18" charset="-120"/>
              </a:rPr>
              <a:t>((</a:t>
            </a:r>
            <a:r>
              <a:rPr lang="en-US" altLang="zh-TW" b="1" dirty="0">
                <a:sym typeface="Wingdings 2" panose="05020102010507070707" pitchFamily="18" charset="2"/>
              </a:rPr>
              <a:t></a:t>
            </a:r>
            <a:r>
              <a:rPr lang="en-US" altLang="zh-TW" dirty="0">
                <a:sym typeface="Euclid Math One" pitchFamily="18" charset="2"/>
              </a:rPr>
              <a:t> </a:t>
            </a:r>
            <a:r>
              <a:rPr kumimoji="0" lang="en-US" altLang="zh-TW" dirty="0">
                <a:latin typeface="新細明體" panose="02020500000000000000" pitchFamily="18" charset="-120"/>
              </a:rPr>
              <a:t>power-on)</a:t>
            </a:r>
            <a:r>
              <a:rPr kumimoji="0" lang="en-US" altLang="zh-TW" dirty="0">
                <a:latin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kumimoji="0" lang="en-US" altLang="zh-TW" dirty="0">
                <a:latin typeface="新細明體" panose="02020500000000000000" pitchFamily="18" charset="-120"/>
              </a:rPr>
              <a:t>◇ </a:t>
            </a:r>
            <a:r>
              <a:rPr kumimoji="0" lang="en-US" altLang="zh-TW" dirty="0"/>
              <a:t>boot-success)</a:t>
            </a:r>
          </a:p>
          <a:p>
            <a:r>
              <a:rPr lang="en-US" altLang="zh-TW" sz="2800" b="1" dirty="0">
                <a:sym typeface="Wingdings 2" panose="05020102010507070707" pitchFamily="18" charset="2"/>
              </a:rPr>
              <a:t></a:t>
            </a:r>
            <a:r>
              <a:rPr kumimoji="0" lang="en-US" altLang="zh-TW" sz="2800" dirty="0">
                <a:latin typeface="新細明體" panose="02020500000000000000" pitchFamily="18" charset="-120"/>
              </a:rPr>
              <a:t> (((</a:t>
            </a:r>
            <a:r>
              <a:rPr lang="en-US" altLang="zh-TW" sz="2800" b="1" dirty="0">
                <a:sym typeface="Wingdings 2" panose="05020102010507070707" pitchFamily="18" charset="2"/>
              </a:rPr>
              <a:t></a:t>
            </a:r>
            <a:r>
              <a:rPr lang="en-US" altLang="zh-TW" sz="2800" dirty="0">
                <a:sym typeface="Euclid Math One" pitchFamily="18" charset="2"/>
              </a:rPr>
              <a:t> </a:t>
            </a:r>
            <a:r>
              <a:rPr kumimoji="0" lang="en-US" altLang="zh-TW" sz="2800" dirty="0">
                <a:latin typeface="新細明體" panose="02020500000000000000" pitchFamily="18" charset="-120"/>
              </a:rPr>
              <a:t>power-on)</a:t>
            </a:r>
            <a:r>
              <a:rPr kumimoji="0" lang="en-US" altLang="zh-TW" sz="2800" dirty="0">
                <a:latin typeface="新細明體" panose="02020500000000000000" pitchFamily="18" charset="-120"/>
                <a:sym typeface="Symbol" panose="05050102010706020507" pitchFamily="18" charset="2"/>
              </a:rPr>
              <a:t></a:t>
            </a:r>
            <a:r>
              <a:rPr lang="en-US" altLang="zh-TW" sz="2800" dirty="0">
                <a:sym typeface="Euclid Math One" pitchFamily="18" charset="2"/>
              </a:rPr>
              <a:t> </a:t>
            </a:r>
            <a:r>
              <a:rPr lang="en-US" altLang="zh-TW" sz="2800" b="1" dirty="0">
                <a:sym typeface="Wingdings 2" panose="05020102010507070707" pitchFamily="18" charset="2"/>
              </a:rPr>
              <a:t></a:t>
            </a:r>
            <a:r>
              <a:rPr kumimoji="0" lang="en-US" altLang="zh-TW" sz="2800" dirty="0">
                <a:latin typeface="新細明體" panose="02020500000000000000" pitchFamily="18" charset="-120"/>
              </a:rPr>
              <a:t>◇boot-CPU)</a:t>
            </a:r>
            <a:r>
              <a:rPr kumimoji="0" lang="en-US" altLang="zh-TW" sz="2800" dirty="0">
                <a:latin typeface="新細明體" panose="02020500000000000000" pitchFamily="18" charset="-120"/>
                <a:sym typeface="Wingdings" panose="05000000000000000000" pitchFamily="2" charset="2"/>
              </a:rPr>
              <a:t></a:t>
            </a:r>
            <a:r>
              <a:rPr kumimoji="0" lang="en-US" altLang="zh-TW" sz="2800" dirty="0">
                <a:latin typeface="新細明體" panose="02020500000000000000" pitchFamily="18" charset="-120"/>
              </a:rPr>
              <a:t>◇ </a:t>
            </a:r>
            <a:r>
              <a:rPr kumimoji="0" lang="en-US" altLang="zh-TW" sz="2800" dirty="0"/>
              <a:t>boot-success)</a:t>
            </a:r>
          </a:p>
          <a:p>
            <a:endParaRPr kumimoji="0" lang="en-US" altLang="zh-TW" dirty="0"/>
          </a:p>
          <a:p>
            <a:endParaRPr kumimoji="0" lang="en-US" altLang="zh-TW" dirty="0">
              <a:latin typeface="新細明體" panose="02020500000000000000" pitchFamily="18" charset="-120"/>
            </a:endParaRPr>
          </a:p>
          <a:p>
            <a:endParaRPr kumimoji="0" lang="en-US" altLang="zh-TW" dirty="0">
              <a:latin typeface="新細明體" panose="02020500000000000000" pitchFamily="18" charset="-120"/>
            </a:endParaRPr>
          </a:p>
          <a:p>
            <a:endParaRPr kumimoji="0" lang="en-US" altLang="zh-TW" dirty="0">
              <a:latin typeface="新細明體" panose="02020500000000000000" pitchFamily="18" charset="-120"/>
            </a:endParaRPr>
          </a:p>
          <a:p>
            <a:endParaRPr kumimoji="0" lang="en-US" altLang="zh-TW" dirty="0">
              <a:latin typeface="新細明體" panose="02020500000000000000" pitchFamily="18" charset="-120"/>
            </a:endParaRPr>
          </a:p>
          <a:p>
            <a:endParaRPr lang="en-US" altLang="zh-TW" dirty="0"/>
          </a:p>
        </p:txBody>
      </p:sp>
      <p:sp>
        <p:nvSpPr>
          <p:cNvPr id="145412" name="投影片編號版面配置區 3">
            <a:extLst>
              <a:ext uri="{FF2B5EF4-FFF2-40B4-BE49-F238E27FC236}">
                <a16:creationId xmlns:a16="http://schemas.microsoft.com/office/drawing/2014/main" id="{09EEB1AA-C7A1-4C24-9EBD-8B5105DE0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511034-80D6-46D4-8F6B-D9E01088E43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投影片編號版面配置區 5">
            <a:extLst>
              <a:ext uri="{FF2B5EF4-FFF2-40B4-BE49-F238E27FC236}">
                <a16:creationId xmlns:a16="http://schemas.microsoft.com/office/drawing/2014/main" id="{BF66101E-067B-443D-94AA-693D7338D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8141F0-A288-4FAA-AE7F-E457A69A615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0B60FCD5-12D2-4CDD-92AD-C36C81511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Branching Temporal Logics</a:t>
            </a:r>
          </a:p>
        </p:txBody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6E7DCAE1-87D9-40AA-AF5D-EB16498EF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153400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Basic assumption of tree-like structure</a:t>
            </a:r>
          </a:p>
        </p:txBody>
      </p:sp>
      <p:sp>
        <p:nvSpPr>
          <p:cNvPr id="147461" name="Line 4">
            <a:extLst>
              <a:ext uri="{FF2B5EF4-FFF2-40B4-BE49-F238E27FC236}">
                <a16:creationId xmlns:a16="http://schemas.microsoft.com/office/drawing/2014/main" id="{33A9C8FC-59FD-459F-8366-D8A997D68D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9250" y="31178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2" name="Line 5">
            <a:extLst>
              <a:ext uri="{FF2B5EF4-FFF2-40B4-BE49-F238E27FC236}">
                <a16:creationId xmlns:a16="http://schemas.microsoft.com/office/drawing/2014/main" id="{FC2DE3E6-2233-4737-94F5-DE72439AE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1250" y="31178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3" name="Line 6">
            <a:extLst>
              <a:ext uri="{FF2B5EF4-FFF2-40B4-BE49-F238E27FC236}">
                <a16:creationId xmlns:a16="http://schemas.microsoft.com/office/drawing/2014/main" id="{D3C570C2-8EB2-4D60-9A14-8F1910897C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038600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4" name="Line 7">
            <a:extLst>
              <a:ext uri="{FF2B5EF4-FFF2-40B4-BE49-F238E27FC236}">
                <a16:creationId xmlns:a16="http://schemas.microsoft.com/office/drawing/2014/main" id="{478CA6EE-F1A7-4441-B9E7-DADE0FF04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038600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5" name="Line 8">
            <a:extLst>
              <a:ext uri="{FF2B5EF4-FFF2-40B4-BE49-F238E27FC236}">
                <a16:creationId xmlns:a16="http://schemas.microsoft.com/office/drawing/2014/main" id="{05E7724F-98CF-4FBA-A24B-362CD998F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038600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6" name="Line 9">
            <a:extLst>
              <a:ext uri="{FF2B5EF4-FFF2-40B4-BE49-F238E27FC236}">
                <a16:creationId xmlns:a16="http://schemas.microsoft.com/office/drawing/2014/main" id="{F5BDD2D3-4D38-4D48-970D-CEFCD06B63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029200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7" name="Line 10">
            <a:extLst>
              <a:ext uri="{FF2B5EF4-FFF2-40B4-BE49-F238E27FC236}">
                <a16:creationId xmlns:a16="http://schemas.microsoft.com/office/drawing/2014/main" id="{CE839266-0799-4762-AE09-3EA5F15876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1054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8" name="Line 11">
            <a:extLst>
              <a:ext uri="{FF2B5EF4-FFF2-40B4-BE49-F238E27FC236}">
                <a16:creationId xmlns:a16="http://schemas.microsoft.com/office/drawing/2014/main" id="{1A0407D8-50BD-4EF8-BEB7-619741E9A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1054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69" name="Line 12">
            <a:extLst>
              <a:ext uri="{FF2B5EF4-FFF2-40B4-BE49-F238E27FC236}">
                <a16:creationId xmlns:a16="http://schemas.microsoft.com/office/drawing/2014/main" id="{B40B5892-CA91-4BE1-B34B-2F08A97844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1054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70" name="Line 13">
            <a:extLst>
              <a:ext uri="{FF2B5EF4-FFF2-40B4-BE49-F238E27FC236}">
                <a16:creationId xmlns:a16="http://schemas.microsoft.com/office/drawing/2014/main" id="{9430BAE7-E7D8-40F4-9E19-18772049E0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5638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71" name="Line 14">
            <a:extLst>
              <a:ext uri="{FF2B5EF4-FFF2-40B4-BE49-F238E27FC236}">
                <a16:creationId xmlns:a16="http://schemas.microsoft.com/office/drawing/2014/main" id="{A589946D-7B23-4D71-9B30-E62734FC2F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5638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72" name="Line 15">
            <a:extLst>
              <a:ext uri="{FF2B5EF4-FFF2-40B4-BE49-F238E27FC236}">
                <a16:creationId xmlns:a16="http://schemas.microsoft.com/office/drawing/2014/main" id="{FFE6DFDC-FBD8-4087-8994-C49E14DB6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562600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73" name="Line 16">
            <a:extLst>
              <a:ext uri="{FF2B5EF4-FFF2-40B4-BE49-F238E27FC236}">
                <a16:creationId xmlns:a16="http://schemas.microsoft.com/office/drawing/2014/main" id="{18595DC0-721D-4E8E-A0FC-1ACA8B042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5715000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74" name="Oval 17">
            <a:extLst>
              <a:ext uri="{FF2B5EF4-FFF2-40B4-BE49-F238E27FC236}">
                <a16:creationId xmlns:a16="http://schemas.microsoft.com/office/drawing/2014/main" id="{F6E6ABEC-518F-40D1-9E3B-24F5CE62B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667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75" name="Oval 18">
            <a:extLst>
              <a:ext uri="{FF2B5EF4-FFF2-40B4-BE49-F238E27FC236}">
                <a16:creationId xmlns:a16="http://schemas.microsoft.com/office/drawing/2014/main" id="{1DC733F6-F432-4E38-8B83-1CD452285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648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76" name="Oval 19">
            <a:extLst>
              <a:ext uri="{FF2B5EF4-FFF2-40B4-BE49-F238E27FC236}">
                <a16:creationId xmlns:a16="http://schemas.microsoft.com/office/drawing/2014/main" id="{0E4BE1BE-A9D8-4187-985A-4ED49A134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581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77" name="Oval 20">
            <a:extLst>
              <a:ext uri="{FF2B5EF4-FFF2-40B4-BE49-F238E27FC236}">
                <a16:creationId xmlns:a16="http://schemas.microsoft.com/office/drawing/2014/main" id="{6A62853C-8849-4034-9880-E6EE6314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648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78" name="Oval 21">
            <a:extLst>
              <a:ext uri="{FF2B5EF4-FFF2-40B4-BE49-F238E27FC236}">
                <a16:creationId xmlns:a16="http://schemas.microsoft.com/office/drawing/2014/main" id="{B7D441F0-B713-41A2-B68F-1A83FE895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72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79" name="Oval 22">
            <a:extLst>
              <a:ext uri="{FF2B5EF4-FFF2-40B4-BE49-F238E27FC236}">
                <a16:creationId xmlns:a16="http://schemas.microsoft.com/office/drawing/2014/main" id="{8F2FAD7C-9712-4F1F-A5AD-DE4B32E2F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81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80" name="Text Box 23">
            <a:extLst>
              <a:ext uri="{FF2B5EF4-FFF2-40B4-BE49-F238E27FC236}">
                <a16:creationId xmlns:a16="http://schemas.microsoft.com/office/drawing/2014/main" id="{6C2D2B47-A397-4F3A-9C65-2E7CCB1B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67000"/>
            <a:ext cx="44196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z="3200">
                <a:latin typeface="Times New Roman" panose="02020603050405020304" pitchFamily="18" charset="0"/>
              </a:rPr>
              <a:t>Every </a:t>
            </a:r>
            <a:r>
              <a:rPr lang="en-US" altLang="zh-TW" sz="3200">
                <a:solidFill>
                  <a:srgbClr val="0000FF"/>
                </a:solidFill>
                <a:latin typeface="Times New Roman" panose="02020603050405020304" pitchFamily="18" charset="0"/>
              </a:rPr>
              <a:t>node</a:t>
            </a:r>
            <a:r>
              <a:rPr lang="en-US" altLang="zh-TW" sz="3200">
                <a:latin typeface="Times New Roman" panose="02020603050405020304" pitchFamily="18" charset="0"/>
              </a:rPr>
              <a:t> is a function of P</a:t>
            </a:r>
            <a:r>
              <a:rPr lang="en-US" altLang="zh-TW" sz="3200">
                <a:latin typeface="新細明體" panose="02020500000000000000" pitchFamily="18" charset="-120"/>
              </a:rPr>
              <a:t>→</a:t>
            </a:r>
            <a:r>
              <a:rPr lang="en-US" altLang="zh-TW" sz="3200">
                <a:latin typeface="Times New Roman" panose="02020603050405020304" pitchFamily="18" charset="0"/>
              </a:rPr>
              <a:t>{true,false}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z="2400">
                <a:latin typeface="Times New Roman" panose="02020603050405020304" pitchFamily="18" charset="0"/>
              </a:rPr>
              <a:t>Every state may have many  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</a:rPr>
              <a:t>successors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投影片編號版面配置區 5">
            <a:extLst>
              <a:ext uri="{FF2B5EF4-FFF2-40B4-BE49-F238E27FC236}">
                <a16:creationId xmlns:a16="http://schemas.microsoft.com/office/drawing/2014/main" id="{196B4C37-B241-4FC3-9256-5E3FB550DE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61A399-CE84-4973-A73E-D870B5A3B9F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0EF05FFF-D0FA-4B54-9933-7DD04B990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200">
                <a:solidFill>
                  <a:schemeClr val="tx2"/>
                </a:solidFill>
                <a:latin typeface="Garamond" panose="02020404030301010803" pitchFamily="18" charset="0"/>
              </a:rPr>
              <a:t>Branching Temporal Logics</a:t>
            </a:r>
          </a:p>
        </p:txBody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A5A52BA3-7054-46D9-940D-E7679E2B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81200"/>
            <a:ext cx="815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Basic assumption of tree-like structure</a:t>
            </a:r>
          </a:p>
        </p:txBody>
      </p:sp>
      <p:sp>
        <p:nvSpPr>
          <p:cNvPr id="149509" name="Line 4">
            <a:extLst>
              <a:ext uri="{FF2B5EF4-FFF2-40B4-BE49-F238E27FC236}">
                <a16:creationId xmlns:a16="http://schemas.microsoft.com/office/drawing/2014/main" id="{9F1124E5-182C-4D96-BB41-CFC76B135D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9250" y="31178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0" name="Line 5">
            <a:extLst>
              <a:ext uri="{FF2B5EF4-FFF2-40B4-BE49-F238E27FC236}">
                <a16:creationId xmlns:a16="http://schemas.microsoft.com/office/drawing/2014/main" id="{8E263E69-A36E-4BB7-A37E-976D02C42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1250" y="31178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1" name="Line 6">
            <a:extLst>
              <a:ext uri="{FF2B5EF4-FFF2-40B4-BE49-F238E27FC236}">
                <a16:creationId xmlns:a16="http://schemas.microsoft.com/office/drawing/2014/main" id="{21254FBC-ED41-4BBA-B7FC-4CEEB01AAA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038600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2" name="Line 7">
            <a:extLst>
              <a:ext uri="{FF2B5EF4-FFF2-40B4-BE49-F238E27FC236}">
                <a16:creationId xmlns:a16="http://schemas.microsoft.com/office/drawing/2014/main" id="{77B24FCF-D9CC-4530-9B6F-F84985A0F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038600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3" name="Line 8">
            <a:extLst>
              <a:ext uri="{FF2B5EF4-FFF2-40B4-BE49-F238E27FC236}">
                <a16:creationId xmlns:a16="http://schemas.microsoft.com/office/drawing/2014/main" id="{D948D7EF-BABC-4641-B1CB-63853DD2E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038600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4" name="Line 9">
            <a:extLst>
              <a:ext uri="{FF2B5EF4-FFF2-40B4-BE49-F238E27FC236}">
                <a16:creationId xmlns:a16="http://schemas.microsoft.com/office/drawing/2014/main" id="{3A9E9A65-059D-418E-AE0A-CE97E98B9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029200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5" name="Line 10">
            <a:extLst>
              <a:ext uri="{FF2B5EF4-FFF2-40B4-BE49-F238E27FC236}">
                <a16:creationId xmlns:a16="http://schemas.microsoft.com/office/drawing/2014/main" id="{309C2E3B-847F-4CA4-8CAD-80683D2D8F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1054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6" name="Line 11">
            <a:extLst>
              <a:ext uri="{FF2B5EF4-FFF2-40B4-BE49-F238E27FC236}">
                <a16:creationId xmlns:a16="http://schemas.microsoft.com/office/drawing/2014/main" id="{006CC040-AA1C-4F7F-924A-5E0BB5DEA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1054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7" name="Line 12">
            <a:extLst>
              <a:ext uri="{FF2B5EF4-FFF2-40B4-BE49-F238E27FC236}">
                <a16:creationId xmlns:a16="http://schemas.microsoft.com/office/drawing/2014/main" id="{D721493F-6E8C-4FD2-9386-CCE7BF1D9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1054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8" name="Line 13">
            <a:extLst>
              <a:ext uri="{FF2B5EF4-FFF2-40B4-BE49-F238E27FC236}">
                <a16:creationId xmlns:a16="http://schemas.microsoft.com/office/drawing/2014/main" id="{571DD08D-4DF6-4F41-9F07-9EDD6258AA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5638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19" name="Line 14">
            <a:extLst>
              <a:ext uri="{FF2B5EF4-FFF2-40B4-BE49-F238E27FC236}">
                <a16:creationId xmlns:a16="http://schemas.microsoft.com/office/drawing/2014/main" id="{59547F38-F8ED-4AA9-9C2E-6127FB6D13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5638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20" name="Line 15">
            <a:extLst>
              <a:ext uri="{FF2B5EF4-FFF2-40B4-BE49-F238E27FC236}">
                <a16:creationId xmlns:a16="http://schemas.microsoft.com/office/drawing/2014/main" id="{8EA3407E-4194-49DF-AE57-5E3A67A20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562600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21" name="Line 16">
            <a:extLst>
              <a:ext uri="{FF2B5EF4-FFF2-40B4-BE49-F238E27FC236}">
                <a16:creationId xmlns:a16="http://schemas.microsoft.com/office/drawing/2014/main" id="{13D9A2D7-C4B7-4494-9CFB-BAE361DA7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5715000"/>
            <a:ext cx="152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9522" name="Oval 17">
            <a:extLst>
              <a:ext uri="{FF2B5EF4-FFF2-40B4-BE49-F238E27FC236}">
                <a16:creationId xmlns:a16="http://schemas.microsoft.com/office/drawing/2014/main" id="{73530FC9-CCB3-40B7-82B4-9A484AC7E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667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3" name="Oval 18">
            <a:extLst>
              <a:ext uri="{FF2B5EF4-FFF2-40B4-BE49-F238E27FC236}">
                <a16:creationId xmlns:a16="http://schemas.microsoft.com/office/drawing/2014/main" id="{AC8C2E28-39B6-4F23-9595-7A5F78354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648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4" name="Oval 19">
            <a:extLst>
              <a:ext uri="{FF2B5EF4-FFF2-40B4-BE49-F238E27FC236}">
                <a16:creationId xmlns:a16="http://schemas.microsoft.com/office/drawing/2014/main" id="{65458C9C-937D-45AE-A52B-5C188EC6F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581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5" name="Oval 20">
            <a:extLst>
              <a:ext uri="{FF2B5EF4-FFF2-40B4-BE49-F238E27FC236}">
                <a16:creationId xmlns:a16="http://schemas.microsoft.com/office/drawing/2014/main" id="{3A66382D-4F99-4CE5-AAEA-71690CCB6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648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6" name="Oval 21">
            <a:extLst>
              <a:ext uri="{FF2B5EF4-FFF2-40B4-BE49-F238E27FC236}">
                <a16:creationId xmlns:a16="http://schemas.microsoft.com/office/drawing/2014/main" id="{5D4727E7-1089-41E4-80BF-119216927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72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7" name="Oval 22">
            <a:extLst>
              <a:ext uri="{FF2B5EF4-FFF2-40B4-BE49-F238E27FC236}">
                <a16:creationId xmlns:a16="http://schemas.microsoft.com/office/drawing/2014/main" id="{1607C838-F56E-4A75-B00F-040E5C2D9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81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8" name="Text Box 23">
            <a:extLst>
              <a:ext uri="{FF2B5EF4-FFF2-40B4-BE49-F238E27FC236}">
                <a16:creationId xmlns:a16="http://schemas.microsoft.com/office/drawing/2014/main" id="{38BDF4D6-E368-42C8-9B78-B08890191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67000"/>
            <a:ext cx="4419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z="2600">
                <a:latin typeface="Times New Roman" panose="02020603050405020304" pitchFamily="18" charset="0"/>
              </a:rPr>
              <a:t>Every </a:t>
            </a:r>
            <a:r>
              <a:rPr lang="en-US" altLang="zh-TW" sz="2600">
                <a:solidFill>
                  <a:srgbClr val="0000FF"/>
                </a:solidFill>
                <a:latin typeface="Times New Roman" panose="02020603050405020304" pitchFamily="18" charset="0"/>
              </a:rPr>
              <a:t>path </a:t>
            </a:r>
            <a:r>
              <a:rPr lang="en-US" altLang="zh-TW" sz="2600">
                <a:latin typeface="Times New Roman" panose="02020603050405020304" pitchFamily="18" charset="0"/>
              </a:rPr>
              <a:t>is isomorphic as </a:t>
            </a:r>
            <a:r>
              <a:rPr lang="en-US" altLang="zh-TW" sz="2600" b="1" i="1">
                <a:latin typeface="Times New Roman" panose="02020603050405020304" pitchFamily="18" charset="0"/>
              </a:rPr>
              <a:t>N</a:t>
            </a:r>
            <a:endParaRPr lang="en-US" altLang="zh-TW" sz="2600">
              <a:latin typeface="Times New Roman" panose="02020603050405020304" pitchFamily="18" charset="0"/>
            </a:endParaRPr>
          </a:p>
          <a:p>
            <a:pPr lvl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z="2200">
                <a:latin typeface="Times New Roman" panose="02020603050405020304" pitchFamily="18" charset="0"/>
              </a:rPr>
              <a:t>Correspond to a </a:t>
            </a: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state sequence</a:t>
            </a:r>
          </a:p>
        </p:txBody>
      </p:sp>
      <p:sp>
        <p:nvSpPr>
          <p:cNvPr id="149529" name="Text Box 24">
            <a:extLst>
              <a:ext uri="{FF2B5EF4-FFF2-40B4-BE49-F238E27FC236}">
                <a16:creationId xmlns:a16="http://schemas.microsoft.com/office/drawing/2014/main" id="{ACE5F45C-CD38-45D5-9130-78846D9E0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210050"/>
            <a:ext cx="41148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latin typeface="Times New Roman" panose="02020603050405020304" pitchFamily="18" charset="0"/>
              </a:rPr>
              <a:t>Path :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0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1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latin typeface="Times New Roman" panose="02020603050405020304" pitchFamily="18" charset="0"/>
              </a:rPr>
              <a:t>……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       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0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1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latin typeface="Times New Roman" panose="02020603050405020304" pitchFamily="18" charset="0"/>
              </a:rPr>
              <a:t>……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       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1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latin typeface="Times New Roman" panose="02020603050405020304" pitchFamily="18" charset="0"/>
              </a:rPr>
              <a:t>……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       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4  </a:t>
            </a: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latin typeface="Times New Roman" panose="02020603050405020304" pitchFamily="18" charset="0"/>
              </a:rPr>
              <a:t>……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投影片編號版面配置區 5">
            <a:extLst>
              <a:ext uri="{FF2B5EF4-FFF2-40B4-BE49-F238E27FC236}">
                <a16:creationId xmlns:a16="http://schemas.microsoft.com/office/drawing/2014/main" id="{327649F1-48AA-4BD6-B6D9-AAB685E03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38147A-DA95-46DB-B7AF-D278CC04920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24E1947B-434A-455D-B818-FE0F457A7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Branching Temporal Logic</a:t>
            </a:r>
          </a:p>
        </p:txBody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6607ACCB-1AC9-4457-AEBA-22CCE71DC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It can accommodate infinite and dense state successors</a:t>
            </a:r>
          </a:p>
          <a:p>
            <a:pPr eaLnBrk="1" hangingPunct="1"/>
            <a:r>
              <a:rPr lang="en-US" altLang="zh-TW"/>
              <a:t>In CTL and CTL*, it can’t tell</a:t>
            </a:r>
          </a:p>
          <a:p>
            <a:pPr lvl="1" eaLnBrk="1" hangingPunct="1"/>
            <a:r>
              <a:rPr lang="en-US" altLang="zh-TW"/>
              <a:t>Finite and infinite</a:t>
            </a:r>
          </a:p>
          <a:p>
            <a:pPr lvl="2" eaLnBrk="1" hangingPunct="1"/>
            <a:r>
              <a:rPr lang="en-US" altLang="zh-TW"/>
              <a:t>Is there infinite transitions</a:t>
            </a:r>
            <a:r>
              <a:rPr lang="zh-TW" altLang="en-US"/>
              <a:t>？</a:t>
            </a:r>
          </a:p>
          <a:p>
            <a:pPr lvl="1" eaLnBrk="1" hangingPunct="1"/>
            <a:r>
              <a:rPr lang="en-US" altLang="zh-TW"/>
              <a:t>Dense and discrete</a:t>
            </a:r>
          </a:p>
          <a:p>
            <a:pPr lvl="2" eaLnBrk="1" hangingPunct="1"/>
            <a:r>
              <a:rPr lang="en-US" altLang="zh-TW"/>
              <a:t>Is there countable</a:t>
            </a:r>
            <a:r>
              <a:rPr lang="zh-TW" altLang="en-US"/>
              <a:t>（</a:t>
            </a:r>
            <a:r>
              <a:rPr lang="zh-TW" altLang="en-US">
                <a:sym typeface="Symbol" panose="05050102010706020507" pitchFamily="18" charset="2"/>
              </a:rPr>
              <a:t></a:t>
            </a:r>
            <a:r>
              <a:rPr lang="zh-TW" altLang="en-US"/>
              <a:t>）</a:t>
            </a:r>
            <a:r>
              <a:rPr lang="en-US" altLang="zh-TW"/>
              <a:t>transitions</a:t>
            </a:r>
            <a:r>
              <a:rPr lang="zh-TW" altLang="en-US"/>
              <a:t>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投影片編號版面配置區 5">
            <a:extLst>
              <a:ext uri="{FF2B5EF4-FFF2-40B4-BE49-F238E27FC236}">
                <a16:creationId xmlns:a16="http://schemas.microsoft.com/office/drawing/2014/main" id="{77C231CE-8829-4BE0-9CE1-5865990B7C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92DEE5-CF36-49D8-8159-8059D8CA098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98B6477C-6852-46C1-AC0A-5C7679990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Branching Temporal Logic</a:t>
            </a:r>
          </a:p>
        </p:txBody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A581E7C7-8B6C-4E78-B019-891B78BB1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32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Get by flattening a finite state machine</a:t>
            </a:r>
          </a:p>
        </p:txBody>
      </p:sp>
      <p:sp>
        <p:nvSpPr>
          <p:cNvPr id="153605" name="Oval 4">
            <a:extLst>
              <a:ext uri="{FF2B5EF4-FFF2-40B4-BE49-F238E27FC236}">
                <a16:creationId xmlns:a16="http://schemas.microsoft.com/office/drawing/2014/main" id="{25594C2B-4A0A-4459-9D34-085DC4EA9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06" name="Oval 5">
            <a:extLst>
              <a:ext uri="{FF2B5EF4-FFF2-40B4-BE49-F238E27FC236}">
                <a16:creationId xmlns:a16="http://schemas.microsoft.com/office/drawing/2014/main" id="{3977AE4E-BE95-4ACB-95D1-E400F59A2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953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07" name="Oval 6">
            <a:extLst>
              <a:ext uri="{FF2B5EF4-FFF2-40B4-BE49-F238E27FC236}">
                <a16:creationId xmlns:a16="http://schemas.microsoft.com/office/drawing/2014/main" id="{55177BEF-FA61-45EB-B01B-66BA77EB3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962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08" name="Arc 7">
            <a:extLst>
              <a:ext uri="{FF2B5EF4-FFF2-40B4-BE49-F238E27FC236}">
                <a16:creationId xmlns:a16="http://schemas.microsoft.com/office/drawing/2014/main" id="{83B84DB7-63D9-4A2C-ABC6-9783BE0F7D14}"/>
              </a:ext>
            </a:extLst>
          </p:cNvPr>
          <p:cNvSpPr>
            <a:spLocks/>
          </p:cNvSpPr>
          <p:nvPr/>
        </p:nvSpPr>
        <p:spPr bwMode="auto">
          <a:xfrm>
            <a:off x="1371600" y="3357563"/>
            <a:ext cx="1143000" cy="681037"/>
          </a:xfrm>
          <a:custGeom>
            <a:avLst/>
            <a:gdLst>
              <a:gd name="T0" fmla="*/ 0 w 21557"/>
              <a:gd name="T1" fmla="*/ 0 h 21600"/>
              <a:gd name="T2" fmla="*/ 2147483646 w 21557"/>
              <a:gd name="T3" fmla="*/ 2147483646 h 21600"/>
              <a:gd name="T4" fmla="*/ 0 w 21557"/>
              <a:gd name="T5" fmla="*/ 2147483646 h 21600"/>
              <a:gd name="T6" fmla="*/ 0 60000 65536"/>
              <a:gd name="T7" fmla="*/ 0 60000 65536"/>
              <a:gd name="T8" fmla="*/ 0 60000 65536"/>
              <a:gd name="T9" fmla="*/ 0 w 21557"/>
              <a:gd name="T10" fmla="*/ 0 h 21600"/>
              <a:gd name="T11" fmla="*/ 21557 w 2155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57" h="21600" fill="none" extrusionOk="0">
                <a:moveTo>
                  <a:pt x="-1" y="0"/>
                </a:moveTo>
                <a:cubicBezTo>
                  <a:pt x="11398" y="0"/>
                  <a:pt x="20835" y="8857"/>
                  <a:pt x="21556" y="20234"/>
                </a:cubicBezTo>
              </a:path>
              <a:path w="21557" h="21600" stroke="0" extrusionOk="0">
                <a:moveTo>
                  <a:pt x="-1" y="0"/>
                </a:moveTo>
                <a:cubicBezTo>
                  <a:pt x="11398" y="0"/>
                  <a:pt x="20835" y="8857"/>
                  <a:pt x="21556" y="2023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09" name="Arc 8">
            <a:extLst>
              <a:ext uri="{FF2B5EF4-FFF2-40B4-BE49-F238E27FC236}">
                <a16:creationId xmlns:a16="http://schemas.microsoft.com/office/drawing/2014/main" id="{FFF9B80E-39A4-4B34-B81E-57C6424C1831}"/>
              </a:ext>
            </a:extLst>
          </p:cNvPr>
          <p:cNvSpPr>
            <a:spLocks/>
          </p:cNvSpPr>
          <p:nvPr/>
        </p:nvSpPr>
        <p:spPr bwMode="auto">
          <a:xfrm flipV="1">
            <a:off x="1447800" y="4572000"/>
            <a:ext cx="1143000" cy="757238"/>
          </a:xfrm>
          <a:custGeom>
            <a:avLst/>
            <a:gdLst>
              <a:gd name="T0" fmla="*/ 0 w 21557"/>
              <a:gd name="T1" fmla="*/ 0 h 21600"/>
              <a:gd name="T2" fmla="*/ 2147483646 w 21557"/>
              <a:gd name="T3" fmla="*/ 2147483646 h 21600"/>
              <a:gd name="T4" fmla="*/ 0 w 21557"/>
              <a:gd name="T5" fmla="*/ 2147483646 h 21600"/>
              <a:gd name="T6" fmla="*/ 0 60000 65536"/>
              <a:gd name="T7" fmla="*/ 0 60000 65536"/>
              <a:gd name="T8" fmla="*/ 0 60000 65536"/>
              <a:gd name="T9" fmla="*/ 0 w 21557"/>
              <a:gd name="T10" fmla="*/ 0 h 21600"/>
              <a:gd name="T11" fmla="*/ 21557 w 2155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57" h="21600" fill="none" extrusionOk="0">
                <a:moveTo>
                  <a:pt x="-1" y="0"/>
                </a:moveTo>
                <a:cubicBezTo>
                  <a:pt x="11398" y="0"/>
                  <a:pt x="20835" y="8857"/>
                  <a:pt x="21556" y="20234"/>
                </a:cubicBezTo>
              </a:path>
              <a:path w="21557" h="21600" stroke="0" extrusionOk="0">
                <a:moveTo>
                  <a:pt x="-1" y="0"/>
                </a:moveTo>
                <a:cubicBezTo>
                  <a:pt x="11398" y="0"/>
                  <a:pt x="20835" y="8857"/>
                  <a:pt x="21556" y="20234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10" name="Arc 9">
            <a:extLst>
              <a:ext uri="{FF2B5EF4-FFF2-40B4-BE49-F238E27FC236}">
                <a16:creationId xmlns:a16="http://schemas.microsoft.com/office/drawing/2014/main" id="{16110737-70B3-41B0-85A4-3BDA978AACC1}"/>
              </a:ext>
            </a:extLst>
          </p:cNvPr>
          <p:cNvSpPr>
            <a:spLocks/>
          </p:cNvSpPr>
          <p:nvPr/>
        </p:nvSpPr>
        <p:spPr bwMode="auto">
          <a:xfrm>
            <a:off x="1295400" y="3581400"/>
            <a:ext cx="266700" cy="1447800"/>
          </a:xfrm>
          <a:custGeom>
            <a:avLst/>
            <a:gdLst>
              <a:gd name="T0" fmla="*/ 2147483646 w 22533"/>
              <a:gd name="T1" fmla="*/ 0 h 43200"/>
              <a:gd name="T2" fmla="*/ 0 w 22533"/>
              <a:gd name="T3" fmla="*/ 2147483646 h 43200"/>
              <a:gd name="T4" fmla="*/ 2147483646 w 22533"/>
              <a:gd name="T5" fmla="*/ 2147483646 h 43200"/>
              <a:gd name="T6" fmla="*/ 0 60000 65536"/>
              <a:gd name="T7" fmla="*/ 0 60000 65536"/>
              <a:gd name="T8" fmla="*/ 0 60000 65536"/>
              <a:gd name="T9" fmla="*/ 0 w 22533"/>
              <a:gd name="T10" fmla="*/ 0 h 43200"/>
              <a:gd name="T11" fmla="*/ 22533 w 2253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33" h="43200" fill="none" extrusionOk="0">
                <a:moveTo>
                  <a:pt x="932" y="0"/>
                </a:moveTo>
                <a:cubicBezTo>
                  <a:pt x="12862" y="0"/>
                  <a:pt x="22533" y="9670"/>
                  <a:pt x="22533" y="21600"/>
                </a:cubicBezTo>
                <a:cubicBezTo>
                  <a:pt x="22533" y="33529"/>
                  <a:pt x="12862" y="43200"/>
                  <a:pt x="933" y="43200"/>
                </a:cubicBezTo>
                <a:cubicBezTo>
                  <a:pt x="621" y="43200"/>
                  <a:pt x="310" y="43193"/>
                  <a:pt x="0" y="43179"/>
                </a:cubicBezTo>
              </a:path>
              <a:path w="22533" h="43200" stroke="0" extrusionOk="0">
                <a:moveTo>
                  <a:pt x="932" y="0"/>
                </a:moveTo>
                <a:cubicBezTo>
                  <a:pt x="12862" y="0"/>
                  <a:pt x="22533" y="9670"/>
                  <a:pt x="22533" y="21600"/>
                </a:cubicBezTo>
                <a:cubicBezTo>
                  <a:pt x="22533" y="33529"/>
                  <a:pt x="12862" y="43200"/>
                  <a:pt x="933" y="43200"/>
                </a:cubicBezTo>
                <a:cubicBezTo>
                  <a:pt x="621" y="43200"/>
                  <a:pt x="310" y="43193"/>
                  <a:pt x="0" y="43179"/>
                </a:cubicBezTo>
                <a:lnTo>
                  <a:pt x="933" y="21600"/>
                </a:lnTo>
                <a:lnTo>
                  <a:pt x="932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11" name="Arc 10">
            <a:extLst>
              <a:ext uri="{FF2B5EF4-FFF2-40B4-BE49-F238E27FC236}">
                <a16:creationId xmlns:a16="http://schemas.microsoft.com/office/drawing/2014/main" id="{98F346D4-2338-447F-B9D8-9C04C9BB36EA}"/>
              </a:ext>
            </a:extLst>
          </p:cNvPr>
          <p:cNvSpPr>
            <a:spLocks/>
          </p:cNvSpPr>
          <p:nvPr/>
        </p:nvSpPr>
        <p:spPr bwMode="auto">
          <a:xfrm rot="10800000">
            <a:off x="609600" y="3657600"/>
            <a:ext cx="266700" cy="1447800"/>
          </a:xfrm>
          <a:custGeom>
            <a:avLst/>
            <a:gdLst>
              <a:gd name="T0" fmla="*/ 2147483646 w 22533"/>
              <a:gd name="T1" fmla="*/ 0 h 43200"/>
              <a:gd name="T2" fmla="*/ 0 w 22533"/>
              <a:gd name="T3" fmla="*/ 2147483646 h 43200"/>
              <a:gd name="T4" fmla="*/ 2147483646 w 22533"/>
              <a:gd name="T5" fmla="*/ 2147483646 h 43200"/>
              <a:gd name="T6" fmla="*/ 0 60000 65536"/>
              <a:gd name="T7" fmla="*/ 0 60000 65536"/>
              <a:gd name="T8" fmla="*/ 0 60000 65536"/>
              <a:gd name="T9" fmla="*/ 0 w 22533"/>
              <a:gd name="T10" fmla="*/ 0 h 43200"/>
              <a:gd name="T11" fmla="*/ 22533 w 2253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33" h="43200" fill="none" extrusionOk="0">
                <a:moveTo>
                  <a:pt x="932" y="0"/>
                </a:moveTo>
                <a:cubicBezTo>
                  <a:pt x="12862" y="0"/>
                  <a:pt x="22533" y="9670"/>
                  <a:pt x="22533" y="21600"/>
                </a:cubicBezTo>
                <a:cubicBezTo>
                  <a:pt x="22533" y="33529"/>
                  <a:pt x="12862" y="43200"/>
                  <a:pt x="933" y="43200"/>
                </a:cubicBezTo>
                <a:cubicBezTo>
                  <a:pt x="621" y="43200"/>
                  <a:pt x="310" y="43193"/>
                  <a:pt x="0" y="43179"/>
                </a:cubicBezTo>
              </a:path>
              <a:path w="22533" h="43200" stroke="0" extrusionOk="0">
                <a:moveTo>
                  <a:pt x="932" y="0"/>
                </a:moveTo>
                <a:cubicBezTo>
                  <a:pt x="12862" y="0"/>
                  <a:pt x="22533" y="9670"/>
                  <a:pt x="22533" y="21600"/>
                </a:cubicBezTo>
                <a:cubicBezTo>
                  <a:pt x="22533" y="33529"/>
                  <a:pt x="12862" y="43200"/>
                  <a:pt x="933" y="43200"/>
                </a:cubicBezTo>
                <a:cubicBezTo>
                  <a:pt x="621" y="43200"/>
                  <a:pt x="310" y="43193"/>
                  <a:pt x="0" y="43179"/>
                </a:cubicBezTo>
                <a:lnTo>
                  <a:pt x="933" y="21600"/>
                </a:lnTo>
                <a:lnTo>
                  <a:pt x="932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12" name="Oval 11">
            <a:extLst>
              <a:ext uri="{FF2B5EF4-FFF2-40B4-BE49-F238E27FC236}">
                <a16:creationId xmlns:a16="http://schemas.microsoft.com/office/drawing/2014/main" id="{B3DBA48F-695B-4818-8E58-92271D979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667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3" name="Oval 12">
            <a:extLst>
              <a:ext uri="{FF2B5EF4-FFF2-40B4-BE49-F238E27FC236}">
                <a16:creationId xmlns:a16="http://schemas.microsoft.com/office/drawing/2014/main" id="{6074ED34-3884-4369-9440-EA14089E4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4" name="Oval 13">
            <a:extLst>
              <a:ext uri="{FF2B5EF4-FFF2-40B4-BE49-F238E27FC236}">
                <a16:creationId xmlns:a16="http://schemas.microsoft.com/office/drawing/2014/main" id="{AC0C668A-760B-46A2-A407-E6FC545A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581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5" name="Oval 14">
            <a:extLst>
              <a:ext uri="{FF2B5EF4-FFF2-40B4-BE49-F238E27FC236}">
                <a16:creationId xmlns:a16="http://schemas.microsoft.com/office/drawing/2014/main" id="{D08B500E-1C62-4A0F-84F9-9B26B9FA7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72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6" name="Oval 15">
            <a:extLst>
              <a:ext uri="{FF2B5EF4-FFF2-40B4-BE49-F238E27FC236}">
                <a16:creationId xmlns:a16="http://schemas.microsoft.com/office/drawing/2014/main" id="{B6D3A5B0-2ACB-4293-AB10-7A842E9A7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5626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7" name="Oval 16">
            <a:extLst>
              <a:ext uri="{FF2B5EF4-FFF2-40B4-BE49-F238E27FC236}">
                <a16:creationId xmlns:a16="http://schemas.microsoft.com/office/drawing/2014/main" id="{35C723E8-C56B-4356-BE32-C6FF7ED62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5626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8" name="Oval 17">
            <a:extLst>
              <a:ext uri="{FF2B5EF4-FFF2-40B4-BE49-F238E27FC236}">
                <a16:creationId xmlns:a16="http://schemas.microsoft.com/office/drawing/2014/main" id="{4191D5F4-A606-4708-B338-EC808352C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572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9" name="Oval 18">
            <a:extLst>
              <a:ext uri="{FF2B5EF4-FFF2-40B4-BE49-F238E27FC236}">
                <a16:creationId xmlns:a16="http://schemas.microsoft.com/office/drawing/2014/main" id="{E0CC436B-38D4-46ED-B7AE-93BC90A61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5626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20" name="Line 19">
            <a:extLst>
              <a:ext uri="{FF2B5EF4-FFF2-40B4-BE49-F238E27FC236}">
                <a16:creationId xmlns:a16="http://schemas.microsoft.com/office/drawing/2014/main" id="{EB452983-F61E-40A1-ACD2-5C1F5BF30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2004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1" name="Line 20">
            <a:extLst>
              <a:ext uri="{FF2B5EF4-FFF2-40B4-BE49-F238E27FC236}">
                <a16:creationId xmlns:a16="http://schemas.microsoft.com/office/drawing/2014/main" id="{C201E0A8-FEE6-40A0-B4CE-190FC61B73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200400"/>
            <a:ext cx="762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2" name="Line 21">
            <a:extLst>
              <a:ext uri="{FF2B5EF4-FFF2-40B4-BE49-F238E27FC236}">
                <a16:creationId xmlns:a16="http://schemas.microsoft.com/office/drawing/2014/main" id="{51B389A8-8685-4364-B323-E006CC00D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267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3" name="Line 22">
            <a:extLst>
              <a:ext uri="{FF2B5EF4-FFF2-40B4-BE49-F238E27FC236}">
                <a16:creationId xmlns:a16="http://schemas.microsoft.com/office/drawing/2014/main" id="{0ED165CA-8D59-47A5-90F3-ADC899E2AD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51816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4" name="Line 23">
            <a:extLst>
              <a:ext uri="{FF2B5EF4-FFF2-40B4-BE49-F238E27FC236}">
                <a16:creationId xmlns:a16="http://schemas.microsoft.com/office/drawing/2014/main" id="{ECB6A78C-E4B8-43BF-B441-5C38CFFB2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1816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5" name="Line 24">
            <a:extLst>
              <a:ext uri="{FF2B5EF4-FFF2-40B4-BE49-F238E27FC236}">
                <a16:creationId xmlns:a16="http://schemas.microsoft.com/office/drawing/2014/main" id="{8AA9511D-C901-4104-96AB-654791CD2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267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6" name="Line 25">
            <a:extLst>
              <a:ext uri="{FF2B5EF4-FFF2-40B4-BE49-F238E27FC236}">
                <a16:creationId xmlns:a16="http://schemas.microsoft.com/office/drawing/2014/main" id="{43F6398C-E3E0-40B7-9F56-65A6C0A52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5257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7" name="Line 26">
            <a:extLst>
              <a:ext uri="{FF2B5EF4-FFF2-40B4-BE49-F238E27FC236}">
                <a16:creationId xmlns:a16="http://schemas.microsoft.com/office/drawing/2014/main" id="{C32BA9AD-660E-40C6-963A-ABF3B4856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6248400"/>
            <a:ext cx="0" cy="609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8" name="Line 27">
            <a:extLst>
              <a:ext uri="{FF2B5EF4-FFF2-40B4-BE49-F238E27FC236}">
                <a16:creationId xmlns:a16="http://schemas.microsoft.com/office/drawing/2014/main" id="{FDCE5191-0BE0-4CA5-A7C0-8527EBAC1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61722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629" name="Line 28">
            <a:extLst>
              <a:ext uri="{FF2B5EF4-FFF2-40B4-BE49-F238E27FC236}">
                <a16:creationId xmlns:a16="http://schemas.microsoft.com/office/drawing/2014/main" id="{8DFC734E-2DD1-47E6-B431-171CF7DE9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61722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投影片編號版面配置區 5">
            <a:extLst>
              <a:ext uri="{FF2B5EF4-FFF2-40B4-BE49-F238E27FC236}">
                <a16:creationId xmlns:a16="http://schemas.microsoft.com/office/drawing/2014/main" id="{46EED091-2014-4810-8583-2A7B37D56A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0DABBF-4D0D-44B4-BFFB-16D2E40B76F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6897DEE0-ED62-4CC9-8355-1B257AC7E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</a:t>
            </a:r>
            <a:r>
              <a:rPr lang="en-US" altLang="zh-TW" sz="3400"/>
              <a:t>(Computation Tree Logic)</a:t>
            </a:r>
            <a:endParaRPr lang="en-US" altLang="zh-TW"/>
          </a:p>
        </p:txBody>
      </p:sp>
      <p:sp>
        <p:nvSpPr>
          <p:cNvPr id="155652" name="Rectangle 4">
            <a:extLst>
              <a:ext uri="{FF2B5EF4-FFF2-40B4-BE49-F238E27FC236}">
                <a16:creationId xmlns:a16="http://schemas.microsoft.com/office/drawing/2014/main" id="{001E8485-C30B-4093-A7BF-104C7EF0B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4600" y="1143000"/>
            <a:ext cx="4953000" cy="1600200"/>
          </a:xfrm>
          <a:solidFill>
            <a:srgbClr val="66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Edmund M. Clarke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Professor, CS &amp; ECE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Carnegie Mellon University</a:t>
            </a:r>
          </a:p>
        </p:txBody>
      </p:sp>
      <p:pic>
        <p:nvPicPr>
          <p:cNvPr id="155653" name="Picture 6" descr="allen">
            <a:extLst>
              <a:ext uri="{FF2B5EF4-FFF2-40B4-BE49-F238E27FC236}">
                <a16:creationId xmlns:a16="http://schemas.microsoft.com/office/drawing/2014/main" id="{C3961C9E-4B43-47D8-89CF-0855274EC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667000"/>
            <a:ext cx="14478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4" name="Rectangle 8">
            <a:extLst>
              <a:ext uri="{FF2B5EF4-FFF2-40B4-BE49-F238E27FC236}">
                <a16:creationId xmlns:a16="http://schemas.microsoft.com/office/drawing/2014/main" id="{B2D17F9C-E5A4-4AE4-BA3D-39BB32B87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895600"/>
            <a:ext cx="6019800" cy="1600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E. Allen Emerson</a:t>
            </a:r>
          </a:p>
          <a:p>
            <a:pPr algn="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Professor, CS</a:t>
            </a:r>
          </a:p>
          <a:p>
            <a:pPr algn="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The University of Texas at Austin</a:t>
            </a:r>
          </a:p>
        </p:txBody>
      </p:sp>
      <p:pic>
        <p:nvPicPr>
          <p:cNvPr id="155655" name="Picture 7" descr="lei-s">
            <a:extLst>
              <a:ext uri="{FF2B5EF4-FFF2-40B4-BE49-F238E27FC236}">
                <a16:creationId xmlns:a16="http://schemas.microsoft.com/office/drawing/2014/main" id="{9219A752-6EE8-44DC-8798-D3DCCDF7D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43400"/>
            <a:ext cx="2057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6" name="Picture 5" descr="Ed_Clarke_color1">
            <a:extLst>
              <a:ext uri="{FF2B5EF4-FFF2-40B4-BE49-F238E27FC236}">
                <a16:creationId xmlns:a16="http://schemas.microsoft.com/office/drawing/2014/main" id="{0A47D947-80AF-454A-8C12-2A1C447B7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152400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7" name="Rectangle 9">
            <a:extLst>
              <a:ext uri="{FF2B5EF4-FFF2-40B4-BE49-F238E27FC236}">
                <a16:creationId xmlns:a16="http://schemas.microsoft.com/office/drawing/2014/main" id="{933F0D0D-8A72-4C91-8A3F-A156CF249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24400"/>
            <a:ext cx="4953000" cy="1600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Chin-Laung Lei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Professor, EE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National Taiwan University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投影片編號版面配置區 5">
            <a:extLst>
              <a:ext uri="{FF2B5EF4-FFF2-40B4-BE49-F238E27FC236}">
                <a16:creationId xmlns:a16="http://schemas.microsoft.com/office/drawing/2014/main" id="{11A0ABB4-A915-4856-9E56-DA0AA582A4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DD5906-09FF-439E-808C-B121905E0E1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7B2AEF1A-5742-4837-8EBC-A1ABAF241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</a:t>
            </a:r>
            <a:r>
              <a:rPr lang="en-US" altLang="zh-TW" sz="3400"/>
              <a:t>(Computation Tree Logic)</a:t>
            </a:r>
            <a:br>
              <a:rPr lang="en-US" altLang="zh-TW" sz="3400"/>
            </a:br>
            <a:r>
              <a:rPr lang="en-US" altLang="zh-TW" sz="3400"/>
              <a:t> - </a:t>
            </a:r>
            <a:r>
              <a:rPr lang="en-US" altLang="zh-TW"/>
              <a:t>syntax</a:t>
            </a:r>
          </a:p>
        </p:txBody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C0C3C3BF-16B1-476C-BCBC-34D19BE5F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φ::= true | p |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/>
              <a:t>φ</a:t>
            </a:r>
            <a:r>
              <a:rPr lang="en-US" altLang="zh-TW">
                <a:sym typeface="Symbol" panose="05050102010706020507" pitchFamily="18" charset="2"/>
              </a:rPr>
              <a:t> | </a:t>
            </a:r>
            <a:r>
              <a:rPr lang="en-US" altLang="zh-TW"/>
              <a:t>φ</a:t>
            </a:r>
            <a:r>
              <a:rPr lang="en-US" altLang="zh-TW" baseline="-25000">
                <a:sym typeface="Symbol" panose="05050102010706020507" pitchFamily="18" charset="2"/>
              </a:rPr>
              <a:t>1</a:t>
            </a:r>
            <a:r>
              <a:rPr lang="en-US" altLang="zh-TW">
                <a:sym typeface="Symbol" panose="05050102010706020507" pitchFamily="18" charset="2"/>
              </a:rPr>
              <a:t></a:t>
            </a:r>
            <a:r>
              <a:rPr lang="en-US" altLang="zh-TW"/>
              <a:t>φ</a:t>
            </a:r>
            <a:r>
              <a:rPr lang="en-US" altLang="zh-TW" baseline="-25000">
                <a:sym typeface="Symbol" panose="05050102010706020507" pitchFamily="18" charset="2"/>
              </a:rPr>
              <a:t>2</a:t>
            </a:r>
            <a:r>
              <a:rPr lang="en-US" altLang="zh-TW">
                <a:sym typeface="Symbol" panose="05050102010706020507" pitchFamily="18" charset="2"/>
              </a:rPr>
              <a:t> | </a:t>
            </a:r>
            <a:r>
              <a:rPr lang="en-US" altLang="zh-TW">
                <a:sym typeface="Wingdings 2" panose="05020102010507070707" pitchFamily="18" charset="2"/>
              </a:rPr>
              <a:t></a:t>
            </a:r>
            <a:r>
              <a:rPr lang="en-US" altLang="zh-TW"/>
              <a:t>φ</a:t>
            </a:r>
            <a:r>
              <a:rPr lang="en-US" altLang="zh-TW">
                <a:sym typeface="Wingdings 2" panose="050201020105070707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| </a:t>
            </a:r>
            <a:r>
              <a:rPr lang="en-US" altLang="zh-TW">
                <a:sym typeface="Wingdings 2" panose="05020102010507070707" pitchFamily="18" charset="2"/>
              </a:rPr>
              <a:t></a:t>
            </a:r>
            <a:r>
              <a:rPr lang="en-US" altLang="zh-TW"/>
              <a:t>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		</a:t>
            </a:r>
            <a:r>
              <a:rPr lang="en-US" altLang="zh-TW">
                <a:sym typeface="Wingdings 2" panose="05020102010507070707" pitchFamily="18" charset="2"/>
              </a:rPr>
              <a:t>|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/>
              <a:t>φ</a:t>
            </a:r>
            <a:r>
              <a:rPr lang="en-US" altLang="zh-TW" baseline="-25000">
                <a:sym typeface="Wingdings 2" panose="05020102010507070707" pitchFamily="18" charset="2"/>
              </a:rPr>
              <a:t>1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/>
              <a:t>φ</a:t>
            </a:r>
            <a:r>
              <a:rPr lang="en-US" altLang="zh-TW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>
                <a:sym typeface="Wingdings 2" panose="05020102010507070707" pitchFamily="18" charset="2"/>
              </a:rPr>
              <a:t>| 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/>
              <a:t>φ</a:t>
            </a:r>
            <a:r>
              <a:rPr lang="en-US" altLang="zh-TW" baseline="-25000">
                <a:sym typeface="Wingdings 2" panose="05020102010507070707" pitchFamily="18" charset="2"/>
              </a:rPr>
              <a:t>1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/>
              <a:t>φ</a:t>
            </a:r>
            <a:r>
              <a:rPr lang="en-US" altLang="zh-TW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/>
              <a:t>abbreviation</a:t>
            </a:r>
            <a:r>
              <a:rPr lang="zh-TW" altLang="en-US"/>
              <a:t>：</a:t>
            </a:r>
            <a:endParaRPr lang="zh-TW" altLang="en-US" baseline="-25000"/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TW" altLang="en-US"/>
              <a:t>			</a:t>
            </a:r>
            <a:r>
              <a:rPr lang="en-US" altLang="zh-TW"/>
              <a:t>false	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00"/>
                </a:solidFill>
              </a:rPr>
              <a:t> true</a:t>
            </a:r>
            <a:r>
              <a:rPr lang="en-US" altLang="zh-TW"/>
              <a:t>	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/>
              <a:t>			φ</a:t>
            </a:r>
            <a:r>
              <a:rPr lang="en-US" altLang="zh-TW" baseline="-25000"/>
              <a:t>1 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/>
              <a:t>φ</a:t>
            </a:r>
            <a:r>
              <a:rPr lang="en-US" altLang="zh-TW" baseline="-25000"/>
              <a:t>2</a:t>
            </a:r>
            <a:r>
              <a:rPr lang="en-US" altLang="zh-TW"/>
              <a:t>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00"/>
                </a:solidFill>
              </a:rPr>
              <a:t> ((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/>
              <a:t>φ</a:t>
            </a:r>
            <a:r>
              <a:rPr lang="en-US" altLang="zh-TW" baseline="-25000"/>
              <a:t>1</a:t>
            </a:r>
            <a:r>
              <a:rPr lang="en-US" altLang="zh-TW"/>
              <a:t>)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</a:t>
            </a:r>
            <a:r>
              <a:rPr lang="en-US" altLang="zh-TW">
                <a:solidFill>
                  <a:srgbClr val="000000"/>
                </a:solidFill>
              </a:rPr>
              <a:t> (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/>
              <a:t>φ</a:t>
            </a:r>
            <a:r>
              <a:rPr lang="en-US" altLang="zh-TW" baseline="-25000"/>
              <a:t>2</a:t>
            </a:r>
            <a:r>
              <a:rPr lang="en-US" altLang="zh-TW"/>
              <a:t>))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/>
              <a:t>			φ</a:t>
            </a:r>
            <a:r>
              <a:rPr lang="en-US" altLang="zh-TW" baseline="-25000"/>
              <a:t>1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zh-TW"/>
              <a:t>φ</a:t>
            </a:r>
            <a:r>
              <a:rPr lang="en-US" altLang="zh-TW" baseline="-25000"/>
              <a:t>2</a:t>
            </a:r>
            <a:r>
              <a:rPr lang="en-US" altLang="zh-TW"/>
              <a:t>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/>
              <a:t>φ</a:t>
            </a:r>
            <a:r>
              <a:rPr lang="en-US" altLang="zh-TW" baseline="-25000"/>
              <a:t>1</a:t>
            </a:r>
            <a:r>
              <a:rPr lang="en-US" altLang="zh-TW"/>
              <a:t>)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</a:t>
            </a:r>
            <a:r>
              <a:rPr lang="en-US" altLang="zh-TW"/>
              <a:t>φ</a:t>
            </a:r>
            <a:r>
              <a:rPr lang="en-US" altLang="zh-TW" baseline="-25000"/>
              <a:t>2</a:t>
            </a:r>
            <a:r>
              <a:rPr lang="en-US" altLang="zh-TW"/>
              <a:t>	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			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/>
              <a:t>φ	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true</a:t>
            </a:r>
            <a:r>
              <a:rPr lang="en-US" altLang="zh-TW">
                <a:solidFill>
                  <a:srgbClr val="000000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r>
              <a:rPr lang="en-US" altLang="zh-TW">
                <a:solidFill>
                  <a:srgbClr val="0000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/>
              <a:t>φ	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			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/>
              <a:t>φ	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/>
              <a:t>φ	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			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/>
              <a:t>φ	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true</a:t>
            </a:r>
            <a:r>
              <a:rPr lang="en-US" altLang="zh-TW">
                <a:solidFill>
                  <a:srgbClr val="000000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r>
              <a:rPr lang="en-US" altLang="zh-TW">
                <a:solidFill>
                  <a:srgbClr val="0000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/>
              <a:t>φ	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			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/>
              <a:t>φ		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  <a:sym typeface="Symbol" panose="05050102010706020507" pitchFamily="18" charset="2"/>
              </a:rPr>
              <a:t></a:t>
            </a:r>
            <a:r>
              <a:rPr lang="en-US" altLang="zh-TW"/>
              <a:t>	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/>
              <a:t>φ			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投影片編號版面配置區 5">
            <a:extLst>
              <a:ext uri="{FF2B5EF4-FFF2-40B4-BE49-F238E27FC236}">
                <a16:creationId xmlns:a16="http://schemas.microsoft.com/office/drawing/2014/main" id="{E72460C6-DBBA-416C-B46A-D227A30E2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60C6BB-40F6-4C85-BCBB-0612B7D34F0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9E4E46C9-635F-4EA2-9947-A037FABFB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 </a:t>
            </a:r>
          </a:p>
        </p:txBody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4A981952-975B-434F-B9B8-A7E7E4448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763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example	symbol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			in CMU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ym typeface="Wingdings 2" panose="05020102010507070707" pitchFamily="18" charset="2"/>
              </a:rPr>
              <a:t></a:t>
            </a:r>
            <a:r>
              <a:rPr lang="en-US" altLang="zh-TW" i="1">
                <a:sym typeface="Wingdings 2" panose="05020102010507070707" pitchFamily="18" charset="2"/>
              </a:rPr>
              <a:t>p		</a:t>
            </a:r>
            <a:r>
              <a:rPr lang="en-US" altLang="zh-TW">
                <a:sym typeface="Wingdings 2" panose="05020102010507070707" pitchFamily="18" charset="2"/>
              </a:rPr>
              <a:t>EX</a:t>
            </a:r>
            <a:r>
              <a:rPr lang="en-US" altLang="zh-TW" i="1">
                <a:sym typeface="Wingdings 2" panose="05020102010507070707" pitchFamily="18" charset="2"/>
              </a:rPr>
              <a:t>p		</a:t>
            </a:r>
            <a:r>
              <a:rPr lang="en-US" altLang="zh-TW" sz="2600">
                <a:sym typeface="Wingdings 2" panose="05020102010507070707" pitchFamily="18" charset="2"/>
              </a:rPr>
              <a:t>there exists a path where </a:t>
            </a:r>
            <a:r>
              <a:rPr lang="en-US" altLang="zh-TW" sz="2600" i="1">
                <a:sym typeface="Wingdings 2" panose="05020102010507070707" pitchFamily="18" charset="2"/>
              </a:rPr>
              <a:t>p</a:t>
            </a:r>
            <a:r>
              <a:rPr lang="en-US" altLang="zh-TW" sz="2600">
                <a:sym typeface="Wingdings 2" panose="05020102010507070707" pitchFamily="18" charset="2"/>
              </a:rPr>
              <a:t> is 					true on next state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 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p</a:t>
            </a:r>
            <a:r>
              <a:rPr lang="en-US" altLang="zh-TW">
                <a:sym typeface="Wingdings 2" panose="05020102010507070707" pitchFamily="18" charset="2"/>
              </a:rPr>
              <a:t>E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 there is a 						path where</a:t>
            </a:r>
            <a:r>
              <a:rPr lang="en-US" altLang="zh-TW" sz="2600" i="1">
                <a:ea typeface="華康儷楷書" panose="03000509000000000000" pitchFamily="65" charset="-120"/>
                <a:cs typeface="華康儷楷書" panose="03000509000000000000" pitchFamily="65" charset="-120"/>
              </a:rPr>
              <a:t> p 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						true until</a:t>
            </a:r>
            <a:r>
              <a:rPr lang="en-US" altLang="zh-TW" sz="2600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ym typeface="Wingdings 2" panose="05020102010507070707" pitchFamily="18" charset="2"/>
              </a:rPr>
              <a:t></a:t>
            </a:r>
            <a:r>
              <a:rPr lang="en-US" altLang="zh-TW" i="1">
                <a:sym typeface="Wingdings 2" panose="05020102010507070707" pitchFamily="18" charset="2"/>
              </a:rPr>
              <a:t>p		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A</a:t>
            </a:r>
            <a:r>
              <a:rPr lang="en-US" altLang="zh-TW">
                <a:sym typeface="Wingdings 2" panose="05020102010507070707" pitchFamily="18" charset="2"/>
              </a:rPr>
              <a:t>X</a:t>
            </a:r>
            <a:r>
              <a:rPr lang="en-US" altLang="zh-TW" i="1">
                <a:sym typeface="Wingdings 2" panose="05020102010507070707" pitchFamily="18" charset="2"/>
              </a:rPr>
              <a:t>p		</a:t>
            </a:r>
            <a:r>
              <a:rPr lang="en-US" altLang="zh-TW" sz="2600">
                <a:sym typeface="Wingdings 2" panose="05020102010507070707" pitchFamily="18" charset="2"/>
              </a:rPr>
              <a:t>for all path where </a:t>
            </a:r>
            <a:r>
              <a:rPr lang="en-US" altLang="zh-TW" sz="2600" i="1">
                <a:sym typeface="Wingdings 2" panose="05020102010507070707" pitchFamily="18" charset="2"/>
              </a:rPr>
              <a:t>p</a:t>
            </a:r>
            <a:r>
              <a:rPr lang="en-US" altLang="zh-TW" sz="2600">
                <a:sym typeface="Wingdings 2" panose="05020102010507070707" pitchFamily="18" charset="2"/>
              </a:rPr>
              <a:t> is true on 					next state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 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p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AU</a:t>
            </a:r>
            <a:r>
              <a:rPr lang="en-US" altLang="zh-TW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 for all path where</a:t>
            </a:r>
            <a:r>
              <a:rPr lang="en-US" altLang="zh-TW" sz="2600" i="1">
                <a:ea typeface="華康儷楷書" panose="03000509000000000000" pitchFamily="65" charset="-120"/>
                <a:cs typeface="華康儷楷書" panose="03000509000000000000" pitchFamily="65" charset="-120"/>
              </a:rPr>
              <a:t> 				p 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true until</a:t>
            </a:r>
            <a:r>
              <a:rPr lang="en-US" altLang="zh-TW" sz="2600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  <a:endParaRPr lang="en-US" altLang="zh-TW" sz="2600">
              <a:latin typeface="新細明體" panose="02020500000000000000" pitchFamily="18" charset="-120"/>
            </a:endParaRPr>
          </a:p>
        </p:txBody>
      </p:sp>
      <p:sp>
        <p:nvSpPr>
          <p:cNvPr id="159749" name="Line 4">
            <a:extLst>
              <a:ext uri="{FF2B5EF4-FFF2-40B4-BE49-F238E27FC236}">
                <a16:creationId xmlns:a16="http://schemas.microsoft.com/office/drawing/2014/main" id="{5B6B1964-FA37-40D3-B736-E737C2E6C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819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投影片編號版面配置區 5">
            <a:extLst>
              <a:ext uri="{FF2B5EF4-FFF2-40B4-BE49-F238E27FC236}">
                <a16:creationId xmlns:a16="http://schemas.microsoft.com/office/drawing/2014/main" id="{7E1DC9FB-4FB2-4A3D-ABE3-2EB1246C7B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F0213B-AEF1-48AC-9C62-A620A19CB77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C87D3A25-6429-4517-831E-102CCAE73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5F9161BC-821F-44AB-B804-84B100E26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914400"/>
          </a:xfrm>
        </p:spPr>
        <p:txBody>
          <a:bodyPr/>
          <a:lstStyle/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 b="1">
                <a:sym typeface="Symbol" panose="05050102010706020507" pitchFamily="18" charset="2"/>
              </a:rPr>
              <a:t></a:t>
            </a:r>
            <a:r>
              <a:rPr lang="en-US" altLang="zh-TW" b="1">
                <a:sym typeface="Wingdings 2" panose="05020102010507070707" pitchFamily="18" charset="2"/>
              </a:rPr>
              <a:t></a:t>
            </a:r>
            <a:r>
              <a:rPr lang="en-US" altLang="zh-TW" b="1" i="1">
                <a:sym typeface="Wingdings 2" panose="05020102010507070707" pitchFamily="18" charset="2"/>
              </a:rPr>
              <a:t>p		</a:t>
            </a:r>
            <a:r>
              <a:rPr lang="en-US" altLang="zh-TW" b="1">
                <a:sym typeface="Wingdings 2" panose="05020102010507070707" pitchFamily="18" charset="2"/>
              </a:rPr>
              <a:t>EX</a:t>
            </a:r>
            <a:r>
              <a:rPr lang="en-US" altLang="zh-TW" b="1" i="1">
                <a:sym typeface="Wingdings 2" panose="05020102010507070707" pitchFamily="18" charset="2"/>
              </a:rPr>
              <a:t>p		</a:t>
            </a:r>
            <a:r>
              <a:rPr lang="en-US" altLang="zh-TW" sz="2600" b="1">
                <a:sym typeface="Wingdings 2" panose="05020102010507070707" pitchFamily="18" charset="2"/>
              </a:rPr>
              <a:t>there exists a path where </a:t>
            </a:r>
            <a:r>
              <a:rPr lang="en-US" altLang="zh-TW" sz="2600" b="1" i="1">
                <a:sym typeface="Wingdings 2" panose="05020102010507070707" pitchFamily="18" charset="2"/>
              </a:rPr>
              <a:t>p</a:t>
            </a:r>
            <a:r>
              <a:rPr lang="en-US" altLang="zh-TW" sz="2600" b="1">
                <a:sym typeface="Wingdings 2" panose="05020102010507070707" pitchFamily="18" charset="2"/>
              </a:rPr>
              <a:t> 					is true on next state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endParaRPr lang="en-US" altLang="zh-TW"/>
          </a:p>
        </p:txBody>
      </p:sp>
      <p:sp>
        <p:nvSpPr>
          <p:cNvPr id="161797" name="Oval 4">
            <a:extLst>
              <a:ext uri="{FF2B5EF4-FFF2-40B4-BE49-F238E27FC236}">
                <a16:creationId xmlns:a16="http://schemas.microsoft.com/office/drawing/2014/main" id="{04E7E37E-8289-4504-A93F-4FA992596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438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8" name="Oval 5">
            <a:extLst>
              <a:ext uri="{FF2B5EF4-FFF2-40B4-BE49-F238E27FC236}">
                <a16:creationId xmlns:a16="http://schemas.microsoft.com/office/drawing/2014/main" id="{243A0233-FD3A-4C3D-B2D8-487C0B5A5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9" name="Oval 6">
            <a:extLst>
              <a:ext uri="{FF2B5EF4-FFF2-40B4-BE49-F238E27FC236}">
                <a16:creationId xmlns:a16="http://schemas.microsoft.com/office/drawing/2014/main" id="{A086BD44-B088-4B87-8AC2-3C9240F8F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3528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0" name="Oval 7">
            <a:extLst>
              <a:ext uri="{FF2B5EF4-FFF2-40B4-BE49-F238E27FC236}">
                <a16:creationId xmlns:a16="http://schemas.microsoft.com/office/drawing/2014/main" id="{14285691-53B7-4E0D-AF85-16D2C6ABD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1" name="Oval 8">
            <a:extLst>
              <a:ext uri="{FF2B5EF4-FFF2-40B4-BE49-F238E27FC236}">
                <a16:creationId xmlns:a16="http://schemas.microsoft.com/office/drawing/2014/main" id="{7596307A-0FD4-4621-B4F0-BE7606974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2" name="Oval 9">
            <a:extLst>
              <a:ext uri="{FF2B5EF4-FFF2-40B4-BE49-F238E27FC236}">
                <a16:creationId xmlns:a16="http://schemas.microsoft.com/office/drawing/2014/main" id="{10A7DAB4-566E-43DA-9DA0-B0D1EB620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3" name="Oval 10">
            <a:extLst>
              <a:ext uri="{FF2B5EF4-FFF2-40B4-BE49-F238E27FC236}">
                <a16:creationId xmlns:a16="http://schemas.microsoft.com/office/drawing/2014/main" id="{DC647B1B-E843-48EE-9823-6585DA4CB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4" name="Oval 11">
            <a:extLst>
              <a:ext uri="{FF2B5EF4-FFF2-40B4-BE49-F238E27FC236}">
                <a16:creationId xmlns:a16="http://schemas.microsoft.com/office/drawing/2014/main" id="{4F9C3208-B5EE-4FAF-B2D9-87A147442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05" name="Line 12">
            <a:extLst>
              <a:ext uri="{FF2B5EF4-FFF2-40B4-BE49-F238E27FC236}">
                <a16:creationId xmlns:a16="http://schemas.microsoft.com/office/drawing/2014/main" id="{B457FA4A-C440-41DD-A162-0D0AB4421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06" name="Line 13">
            <a:extLst>
              <a:ext uri="{FF2B5EF4-FFF2-40B4-BE49-F238E27FC236}">
                <a16:creationId xmlns:a16="http://schemas.microsoft.com/office/drawing/2014/main" id="{D096DF93-3E3F-44CA-9889-3EFABBF84F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2971800"/>
            <a:ext cx="7620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07" name="Line 14">
            <a:extLst>
              <a:ext uri="{FF2B5EF4-FFF2-40B4-BE49-F238E27FC236}">
                <a16:creationId xmlns:a16="http://schemas.microsoft.com/office/drawing/2014/main" id="{6C667B1A-E3DA-4E06-BBCD-587549B96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08" name="Line 15">
            <a:extLst>
              <a:ext uri="{FF2B5EF4-FFF2-40B4-BE49-F238E27FC236}">
                <a16:creationId xmlns:a16="http://schemas.microsoft.com/office/drawing/2014/main" id="{DE56BB9A-3C17-4294-B3A2-FF54DC278B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49530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09" name="Line 16">
            <a:extLst>
              <a:ext uri="{FF2B5EF4-FFF2-40B4-BE49-F238E27FC236}">
                <a16:creationId xmlns:a16="http://schemas.microsoft.com/office/drawing/2014/main" id="{DAE195A3-5090-4C09-BC15-3B3DC5D49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9530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10" name="Line 17">
            <a:extLst>
              <a:ext uri="{FF2B5EF4-FFF2-40B4-BE49-F238E27FC236}">
                <a16:creationId xmlns:a16="http://schemas.microsoft.com/office/drawing/2014/main" id="{F7EBCC90-3398-404F-8FE6-B9933D7C4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11" name="Line 18">
            <a:extLst>
              <a:ext uri="{FF2B5EF4-FFF2-40B4-BE49-F238E27FC236}">
                <a16:creationId xmlns:a16="http://schemas.microsoft.com/office/drawing/2014/main" id="{D5D9580D-CDBF-4BFE-AA9C-3BCDFFF05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029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12" name="Line 19">
            <a:extLst>
              <a:ext uri="{FF2B5EF4-FFF2-40B4-BE49-F238E27FC236}">
                <a16:creationId xmlns:a16="http://schemas.microsoft.com/office/drawing/2014/main" id="{E7C15432-C11D-4AE7-B37B-9B98844AE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019800"/>
            <a:ext cx="0" cy="609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13" name="Line 20">
            <a:extLst>
              <a:ext uri="{FF2B5EF4-FFF2-40B4-BE49-F238E27FC236}">
                <a16:creationId xmlns:a16="http://schemas.microsoft.com/office/drawing/2014/main" id="{E72584A3-D2BD-4113-8E85-E85697385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1814" name="Line 21">
            <a:extLst>
              <a:ext uri="{FF2B5EF4-FFF2-40B4-BE49-F238E27FC236}">
                <a16:creationId xmlns:a16="http://schemas.microsoft.com/office/drawing/2014/main" id="{9A41A473-689C-4FDE-BC68-AE8D6CCAF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投影片編號版面配置區 5">
            <a:extLst>
              <a:ext uri="{FF2B5EF4-FFF2-40B4-BE49-F238E27FC236}">
                <a16:creationId xmlns:a16="http://schemas.microsoft.com/office/drawing/2014/main" id="{9BA74E32-5D2F-4AA8-BE34-7E440A956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E694C-4C1F-4257-AD8A-413D77B3D04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17DC179-3BD3-4891-BC6A-1BCAF098C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 </a:t>
            </a:r>
          </a:p>
        </p:txBody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ABA14F0A-E50E-4CD7-BE1D-30C2324EC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4582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 b="1">
                <a:sym typeface="Symbol" panose="05050102010706020507" pitchFamily="18" charset="2"/>
              </a:rPr>
              <a:t></a:t>
            </a:r>
            <a:r>
              <a:rPr lang="en-US" altLang="zh-TW" sz="26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2600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600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r>
              <a:rPr lang="en-US" altLang="zh-TW" sz="26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p</a:t>
            </a:r>
            <a:r>
              <a:rPr lang="en-US" altLang="zh-TW" sz="2600" b="1">
                <a:sym typeface="Wingdings 2" panose="05020102010507070707" pitchFamily="18" charset="2"/>
              </a:rPr>
              <a:t>E</a:t>
            </a:r>
            <a:r>
              <a:rPr lang="en-US" altLang="zh-TW" sz="2600" b="1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6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	</a:t>
            </a:r>
            <a:r>
              <a:rPr lang="en-US" altLang="zh-TW" sz="19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	</a:t>
            </a:r>
            <a:r>
              <a:rPr lang="en-US" altLang="zh-TW" sz="2000" b="1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 there is a path where</a:t>
            </a:r>
            <a:r>
              <a:rPr lang="en-US" altLang="zh-TW" sz="20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p 					</a:t>
            </a:r>
            <a:r>
              <a:rPr lang="en-US" altLang="zh-TW" sz="20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true until</a:t>
            </a:r>
            <a:r>
              <a:rPr lang="en-US" altLang="zh-TW" sz="20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</a:t>
            </a:r>
            <a:r>
              <a:rPr lang="en-US" altLang="zh-TW" sz="20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</a:p>
        </p:txBody>
      </p:sp>
      <p:sp>
        <p:nvSpPr>
          <p:cNvPr id="163845" name="Oval 4">
            <a:extLst>
              <a:ext uri="{FF2B5EF4-FFF2-40B4-BE49-F238E27FC236}">
                <a16:creationId xmlns:a16="http://schemas.microsoft.com/office/drawing/2014/main" id="{062E8F68-C248-4B45-BC2F-4DE911ED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438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6" name="Oval 5">
            <a:extLst>
              <a:ext uri="{FF2B5EF4-FFF2-40B4-BE49-F238E27FC236}">
                <a16:creationId xmlns:a16="http://schemas.microsoft.com/office/drawing/2014/main" id="{2FC4BDC1-D273-4FF5-A96C-B7D9EDBE2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7" name="Oval 6">
            <a:extLst>
              <a:ext uri="{FF2B5EF4-FFF2-40B4-BE49-F238E27FC236}">
                <a16:creationId xmlns:a16="http://schemas.microsoft.com/office/drawing/2014/main" id="{3DF6A80F-DD79-4A2C-8E31-EC6EB7EDB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3528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8" name="Oval 7">
            <a:extLst>
              <a:ext uri="{FF2B5EF4-FFF2-40B4-BE49-F238E27FC236}">
                <a16:creationId xmlns:a16="http://schemas.microsoft.com/office/drawing/2014/main" id="{43422D9D-CDD9-4620-8318-AA5228A1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343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9" name="Oval 8">
            <a:extLst>
              <a:ext uri="{FF2B5EF4-FFF2-40B4-BE49-F238E27FC236}">
                <a16:creationId xmlns:a16="http://schemas.microsoft.com/office/drawing/2014/main" id="{9BCB649A-BC0A-484C-9386-6647E3C75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0" name="Oval 9">
            <a:extLst>
              <a:ext uri="{FF2B5EF4-FFF2-40B4-BE49-F238E27FC236}">
                <a16:creationId xmlns:a16="http://schemas.microsoft.com/office/drawing/2014/main" id="{B843A622-9167-41A7-BE41-4114C6E1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3340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1" name="Oval 10">
            <a:extLst>
              <a:ext uri="{FF2B5EF4-FFF2-40B4-BE49-F238E27FC236}">
                <a16:creationId xmlns:a16="http://schemas.microsoft.com/office/drawing/2014/main" id="{1F70CCCE-D857-4209-8088-6F68F47E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2" name="Oval 11">
            <a:extLst>
              <a:ext uri="{FF2B5EF4-FFF2-40B4-BE49-F238E27FC236}">
                <a16:creationId xmlns:a16="http://schemas.microsoft.com/office/drawing/2014/main" id="{4738CECC-30EA-4687-A249-AA0B79662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3" name="Line 12">
            <a:extLst>
              <a:ext uri="{FF2B5EF4-FFF2-40B4-BE49-F238E27FC236}">
                <a16:creationId xmlns:a16="http://schemas.microsoft.com/office/drawing/2014/main" id="{B6936AAE-5057-4A17-96CA-262648773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971800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4" name="Line 13">
            <a:extLst>
              <a:ext uri="{FF2B5EF4-FFF2-40B4-BE49-F238E27FC236}">
                <a16:creationId xmlns:a16="http://schemas.microsoft.com/office/drawing/2014/main" id="{CD963F20-0B54-4666-B222-BF365C13D5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971800"/>
            <a:ext cx="7620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5" name="Line 14">
            <a:extLst>
              <a:ext uri="{FF2B5EF4-FFF2-40B4-BE49-F238E27FC236}">
                <a16:creationId xmlns:a16="http://schemas.microsoft.com/office/drawing/2014/main" id="{EBB1490F-2729-4996-B5B0-17928BB7A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0" cy="304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6" name="Line 15">
            <a:extLst>
              <a:ext uri="{FF2B5EF4-FFF2-40B4-BE49-F238E27FC236}">
                <a16:creationId xmlns:a16="http://schemas.microsoft.com/office/drawing/2014/main" id="{59858399-509E-4E99-9C4F-C1F71AA476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49530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7" name="Line 16">
            <a:extLst>
              <a:ext uri="{FF2B5EF4-FFF2-40B4-BE49-F238E27FC236}">
                <a16:creationId xmlns:a16="http://schemas.microsoft.com/office/drawing/2014/main" id="{22A0CAF4-1E69-437C-AD6C-8578312AE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953000"/>
            <a:ext cx="3810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8" name="Line 17">
            <a:extLst>
              <a:ext uri="{FF2B5EF4-FFF2-40B4-BE49-F238E27FC236}">
                <a16:creationId xmlns:a16="http://schemas.microsoft.com/office/drawing/2014/main" id="{DF1F3D62-D983-4DA4-80E0-CD7C6EF47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59" name="Line 18">
            <a:extLst>
              <a:ext uri="{FF2B5EF4-FFF2-40B4-BE49-F238E27FC236}">
                <a16:creationId xmlns:a16="http://schemas.microsoft.com/office/drawing/2014/main" id="{97581D71-9ACE-4D33-B7B7-4780916E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029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60" name="Line 19">
            <a:extLst>
              <a:ext uri="{FF2B5EF4-FFF2-40B4-BE49-F238E27FC236}">
                <a16:creationId xmlns:a16="http://schemas.microsoft.com/office/drawing/2014/main" id="{69449D5A-57D5-410C-840E-64147FF12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019800"/>
            <a:ext cx="0" cy="609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61" name="Line 20">
            <a:extLst>
              <a:ext uri="{FF2B5EF4-FFF2-40B4-BE49-F238E27FC236}">
                <a16:creationId xmlns:a16="http://schemas.microsoft.com/office/drawing/2014/main" id="{63ED8EB5-C06A-4E76-B68C-A3D7B35BD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862" name="Line 21">
            <a:extLst>
              <a:ext uri="{FF2B5EF4-FFF2-40B4-BE49-F238E27FC236}">
                <a16:creationId xmlns:a16="http://schemas.microsoft.com/office/drawing/2014/main" id="{139E0550-EDA5-4023-824F-2DAFC6D28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投影片編號版面配置區 5">
            <a:extLst>
              <a:ext uri="{FF2B5EF4-FFF2-40B4-BE49-F238E27FC236}">
                <a16:creationId xmlns:a16="http://schemas.microsoft.com/office/drawing/2014/main" id="{8172B17F-9EAC-464F-A87D-C2DA6F622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6C3954-E04F-4F7A-861E-40C6B635C33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BC203398-3487-4697-9A1E-87520AABB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4411E267-74D9-4E31-9171-07FEA7BD4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400" b="1">
                <a:sym typeface="Symbol" panose="05050102010706020507" pitchFamily="18" charset="2"/>
              </a:rPr>
              <a:t></a:t>
            </a:r>
            <a:r>
              <a:rPr lang="en-US" altLang="zh-TW" sz="3400" b="1">
                <a:sym typeface="Wingdings 2" panose="05020102010507070707" pitchFamily="18" charset="2"/>
              </a:rPr>
              <a:t></a:t>
            </a:r>
            <a:r>
              <a:rPr lang="en-US" altLang="zh-TW" sz="3400" b="1" i="1">
                <a:sym typeface="Wingdings 2" panose="05020102010507070707" pitchFamily="18" charset="2"/>
              </a:rPr>
              <a:t>p	</a:t>
            </a:r>
            <a:r>
              <a:rPr lang="en-US" altLang="zh-TW" sz="3400" b="1">
                <a:sym typeface="Wingdings 2" panose="05020102010507070707" pitchFamily="18" charset="2"/>
              </a:rPr>
              <a:t>AX</a:t>
            </a:r>
            <a:r>
              <a:rPr lang="en-US" altLang="zh-TW" sz="3400" b="1" i="1">
                <a:sym typeface="Wingdings 2" panose="05020102010507070707" pitchFamily="18" charset="2"/>
              </a:rPr>
              <a:t>p		</a:t>
            </a:r>
            <a:r>
              <a:rPr lang="en-US" altLang="zh-TW" sz="2600" b="1">
                <a:sym typeface="Wingdings 2" panose="05020102010507070707" pitchFamily="18" charset="2"/>
              </a:rPr>
              <a:t>for all path where </a:t>
            </a:r>
            <a:r>
              <a:rPr lang="en-US" altLang="zh-TW" sz="2600" b="1" i="1">
                <a:sym typeface="Wingdings 2" panose="05020102010507070707" pitchFamily="18" charset="2"/>
              </a:rPr>
              <a:t>p</a:t>
            </a:r>
            <a:r>
              <a:rPr lang="en-US" altLang="zh-TW" sz="2600" b="1">
                <a:sym typeface="Wingdings 2" panose="05020102010507070707" pitchFamily="18" charset="2"/>
              </a:rPr>
              <a:t> is true on 				next state</a:t>
            </a:r>
          </a:p>
        </p:txBody>
      </p:sp>
      <p:sp>
        <p:nvSpPr>
          <p:cNvPr id="165893" name="Oval 4">
            <a:extLst>
              <a:ext uri="{FF2B5EF4-FFF2-40B4-BE49-F238E27FC236}">
                <a16:creationId xmlns:a16="http://schemas.microsoft.com/office/drawing/2014/main" id="{7449D440-1C5C-405E-AD40-19A2AB62B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438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4" name="Oval 5">
            <a:extLst>
              <a:ext uri="{FF2B5EF4-FFF2-40B4-BE49-F238E27FC236}">
                <a16:creationId xmlns:a16="http://schemas.microsoft.com/office/drawing/2014/main" id="{040AECFB-304C-4F2C-82F4-3B36E8AF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5" name="Oval 6">
            <a:extLst>
              <a:ext uri="{FF2B5EF4-FFF2-40B4-BE49-F238E27FC236}">
                <a16:creationId xmlns:a16="http://schemas.microsoft.com/office/drawing/2014/main" id="{75061081-ED28-4166-B54E-9755BA8F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6" name="Oval 7">
            <a:extLst>
              <a:ext uri="{FF2B5EF4-FFF2-40B4-BE49-F238E27FC236}">
                <a16:creationId xmlns:a16="http://schemas.microsoft.com/office/drawing/2014/main" id="{B6DC2A07-F417-4830-979B-146B37608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7" name="Oval 8">
            <a:extLst>
              <a:ext uri="{FF2B5EF4-FFF2-40B4-BE49-F238E27FC236}">
                <a16:creationId xmlns:a16="http://schemas.microsoft.com/office/drawing/2014/main" id="{3B274E6F-F6E3-4553-9045-6225EDD0D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8" name="Oval 9">
            <a:extLst>
              <a:ext uri="{FF2B5EF4-FFF2-40B4-BE49-F238E27FC236}">
                <a16:creationId xmlns:a16="http://schemas.microsoft.com/office/drawing/2014/main" id="{2A67E757-FD48-43E0-B028-EF7555D7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899" name="Oval 10">
            <a:extLst>
              <a:ext uri="{FF2B5EF4-FFF2-40B4-BE49-F238E27FC236}">
                <a16:creationId xmlns:a16="http://schemas.microsoft.com/office/drawing/2014/main" id="{88F88C79-F7FD-4B38-8B26-912D3B932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0" name="Oval 11">
            <a:extLst>
              <a:ext uri="{FF2B5EF4-FFF2-40B4-BE49-F238E27FC236}">
                <a16:creationId xmlns:a16="http://schemas.microsoft.com/office/drawing/2014/main" id="{8553AFD2-DD16-4D4E-8506-BCB88311B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1" name="Line 12">
            <a:extLst>
              <a:ext uri="{FF2B5EF4-FFF2-40B4-BE49-F238E27FC236}">
                <a16:creationId xmlns:a16="http://schemas.microsoft.com/office/drawing/2014/main" id="{AE4BEA5D-87E2-4E19-B88C-18044CD1F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6858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2" name="Line 13">
            <a:extLst>
              <a:ext uri="{FF2B5EF4-FFF2-40B4-BE49-F238E27FC236}">
                <a16:creationId xmlns:a16="http://schemas.microsoft.com/office/drawing/2014/main" id="{6224C550-F1A9-48D6-A673-B3EFD80CDC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2971800"/>
            <a:ext cx="7620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3" name="Line 14">
            <a:extLst>
              <a:ext uri="{FF2B5EF4-FFF2-40B4-BE49-F238E27FC236}">
                <a16:creationId xmlns:a16="http://schemas.microsoft.com/office/drawing/2014/main" id="{416E4301-D3F2-44E8-B1B2-B4E77A81A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4" name="Line 15">
            <a:extLst>
              <a:ext uri="{FF2B5EF4-FFF2-40B4-BE49-F238E27FC236}">
                <a16:creationId xmlns:a16="http://schemas.microsoft.com/office/drawing/2014/main" id="{0409DD50-1D9C-44F7-B9CC-F13C2BF36E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49530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5" name="Line 16">
            <a:extLst>
              <a:ext uri="{FF2B5EF4-FFF2-40B4-BE49-F238E27FC236}">
                <a16:creationId xmlns:a16="http://schemas.microsoft.com/office/drawing/2014/main" id="{3E1B89B9-3BA4-40A1-B6D5-47E518C5E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9530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6" name="Line 17">
            <a:extLst>
              <a:ext uri="{FF2B5EF4-FFF2-40B4-BE49-F238E27FC236}">
                <a16:creationId xmlns:a16="http://schemas.microsoft.com/office/drawing/2014/main" id="{B518C884-BC31-4AFF-9B48-6D44FDA36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7" name="Line 18">
            <a:extLst>
              <a:ext uri="{FF2B5EF4-FFF2-40B4-BE49-F238E27FC236}">
                <a16:creationId xmlns:a16="http://schemas.microsoft.com/office/drawing/2014/main" id="{B0FC9913-A52A-4DD8-B8E9-2782F2256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029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8" name="Line 19">
            <a:extLst>
              <a:ext uri="{FF2B5EF4-FFF2-40B4-BE49-F238E27FC236}">
                <a16:creationId xmlns:a16="http://schemas.microsoft.com/office/drawing/2014/main" id="{87C7925B-6942-4FCF-9290-6223D220C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019800"/>
            <a:ext cx="0" cy="609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09" name="Line 20">
            <a:extLst>
              <a:ext uri="{FF2B5EF4-FFF2-40B4-BE49-F238E27FC236}">
                <a16:creationId xmlns:a16="http://schemas.microsoft.com/office/drawing/2014/main" id="{5ABE4CDA-97D9-4C0B-8292-90A830A12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5910" name="Line 21">
            <a:extLst>
              <a:ext uri="{FF2B5EF4-FFF2-40B4-BE49-F238E27FC236}">
                <a16:creationId xmlns:a16="http://schemas.microsoft.com/office/drawing/2014/main" id="{FF987FCC-BE48-4C6B-9ECC-013798B2A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投影片編號版面配置區 5">
            <a:extLst>
              <a:ext uri="{FF2B5EF4-FFF2-40B4-BE49-F238E27FC236}">
                <a16:creationId xmlns:a16="http://schemas.microsoft.com/office/drawing/2014/main" id="{1F43DE42-B65A-484D-9C65-031AFC881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4A2702-1F01-4F32-B05E-F2FE9EC3D04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EF6B4E06-69E9-49E5-BEAD-AD1780F2D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2F34E56C-12BF-4B2B-8AF9-0100F7DCB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b="1">
                <a:sym typeface="Symbol" panose="05050102010706020507" pitchFamily="18" charset="2"/>
              </a:rPr>
              <a:t>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p</a:t>
            </a:r>
            <a:r>
              <a:rPr lang="en-US" altLang="zh-TW" sz="2500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500" i="1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p</a:t>
            </a:r>
            <a:r>
              <a:rPr lang="en-US" altLang="zh-TW" sz="2500" b="1">
                <a:ea typeface="華康儷楷書" panose="03000509000000000000" pitchFamily="65" charset="-120"/>
                <a:cs typeface="華康儷楷書" panose="03000509000000000000" pitchFamily="65" charset="-120"/>
              </a:rPr>
              <a:t>AU</a:t>
            </a:r>
            <a:r>
              <a:rPr lang="en-US" altLang="zh-TW" sz="25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q 	</a:t>
            </a:r>
            <a:r>
              <a:rPr lang="en-US" altLang="zh-TW" sz="2100" b="1">
                <a:ea typeface="華康儷楷書" panose="03000509000000000000" pitchFamily="65" charset="-120"/>
                <a:cs typeface="華康儷楷書" panose="03000509000000000000" pitchFamily="65" charset="-120"/>
              </a:rPr>
              <a:t>from now on, for all path 					where</a:t>
            </a:r>
            <a:r>
              <a:rPr lang="en-US" altLang="zh-TW" sz="21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	p </a:t>
            </a:r>
            <a:r>
              <a:rPr lang="en-US" altLang="zh-TW" sz="21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always true until</a:t>
            </a:r>
            <a:r>
              <a:rPr lang="en-US" altLang="zh-TW" sz="21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 q 				</a:t>
            </a:r>
            <a:r>
              <a:rPr lang="en-US" altLang="zh-TW" sz="2100" b="1">
                <a:ea typeface="華康儷楷書" panose="03000509000000000000" pitchFamily="65" charset="-120"/>
                <a:cs typeface="華康儷楷書" panose="03000509000000000000" pitchFamily="65" charset="-120"/>
              </a:rPr>
              <a:t>is true</a:t>
            </a:r>
          </a:p>
        </p:txBody>
      </p:sp>
      <p:sp>
        <p:nvSpPr>
          <p:cNvPr id="167941" name="Oval 4">
            <a:extLst>
              <a:ext uri="{FF2B5EF4-FFF2-40B4-BE49-F238E27FC236}">
                <a16:creationId xmlns:a16="http://schemas.microsoft.com/office/drawing/2014/main" id="{67A628BE-C49D-44EC-8A8C-0B8A25501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438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2" name="Oval 5">
            <a:extLst>
              <a:ext uri="{FF2B5EF4-FFF2-40B4-BE49-F238E27FC236}">
                <a16:creationId xmlns:a16="http://schemas.microsoft.com/office/drawing/2014/main" id="{DF5445D9-E1A7-4B3B-ACE7-987D00D42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3" name="Oval 6">
            <a:extLst>
              <a:ext uri="{FF2B5EF4-FFF2-40B4-BE49-F238E27FC236}">
                <a16:creationId xmlns:a16="http://schemas.microsoft.com/office/drawing/2014/main" id="{179B1A01-47B0-4BAE-A2CA-930F8D971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3528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4" name="Oval 7">
            <a:extLst>
              <a:ext uri="{FF2B5EF4-FFF2-40B4-BE49-F238E27FC236}">
                <a16:creationId xmlns:a16="http://schemas.microsoft.com/office/drawing/2014/main" id="{BEBA5154-E0BA-447D-9695-7B67780A7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3434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p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5" name="Oval 8">
            <a:extLst>
              <a:ext uri="{FF2B5EF4-FFF2-40B4-BE49-F238E27FC236}">
                <a16:creationId xmlns:a16="http://schemas.microsoft.com/office/drawing/2014/main" id="{13ED921D-62CA-4FF4-932E-70DC8B168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3340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6" name="Oval 9">
            <a:extLst>
              <a:ext uri="{FF2B5EF4-FFF2-40B4-BE49-F238E27FC236}">
                <a16:creationId xmlns:a16="http://schemas.microsoft.com/office/drawing/2014/main" id="{8BB2CA90-05E2-45A6-AF80-31D03C9FF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334000"/>
            <a:ext cx="685800" cy="6858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q</a:t>
            </a:r>
            <a:endParaRPr lang="en-US" altLang="zh-TW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7" name="Oval 10">
            <a:extLst>
              <a:ext uri="{FF2B5EF4-FFF2-40B4-BE49-F238E27FC236}">
                <a16:creationId xmlns:a16="http://schemas.microsoft.com/office/drawing/2014/main" id="{354C6D9C-5616-4EB8-A572-7DBDB4FB1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434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8" name="Oval 11">
            <a:extLst>
              <a:ext uri="{FF2B5EF4-FFF2-40B4-BE49-F238E27FC236}">
                <a16:creationId xmlns:a16="http://schemas.microsoft.com/office/drawing/2014/main" id="{53ED4D23-857A-432A-B5BA-67436814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34000"/>
            <a:ext cx="685800" cy="6858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?</a:t>
            </a:r>
            <a:endParaRPr lang="en-US" altLang="zh-TW" sz="240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9" name="Line 12">
            <a:extLst>
              <a:ext uri="{FF2B5EF4-FFF2-40B4-BE49-F238E27FC236}">
                <a16:creationId xmlns:a16="http://schemas.microsoft.com/office/drawing/2014/main" id="{116714D4-9E27-4670-9C47-713966B66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971800"/>
            <a:ext cx="6858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0" name="Line 13">
            <a:extLst>
              <a:ext uri="{FF2B5EF4-FFF2-40B4-BE49-F238E27FC236}">
                <a16:creationId xmlns:a16="http://schemas.microsoft.com/office/drawing/2014/main" id="{2CA3CC7B-6373-4C61-B734-1DD9438916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971800"/>
            <a:ext cx="7620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1" name="Line 14">
            <a:extLst>
              <a:ext uri="{FF2B5EF4-FFF2-40B4-BE49-F238E27FC236}">
                <a16:creationId xmlns:a16="http://schemas.microsoft.com/office/drawing/2014/main" id="{FCFBB454-FDB7-4DDC-8E67-A6255B94C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0" cy="304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2" name="Line 15">
            <a:extLst>
              <a:ext uri="{FF2B5EF4-FFF2-40B4-BE49-F238E27FC236}">
                <a16:creationId xmlns:a16="http://schemas.microsoft.com/office/drawing/2014/main" id="{25B7EC1D-F504-40F6-B424-930D091F2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4953000"/>
            <a:ext cx="3810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3" name="Line 16">
            <a:extLst>
              <a:ext uri="{FF2B5EF4-FFF2-40B4-BE49-F238E27FC236}">
                <a16:creationId xmlns:a16="http://schemas.microsoft.com/office/drawing/2014/main" id="{F9DD35ED-B4AF-4CC4-B012-69944E5EE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953000"/>
            <a:ext cx="3810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4" name="Line 17">
            <a:extLst>
              <a:ext uri="{FF2B5EF4-FFF2-40B4-BE49-F238E27FC236}">
                <a16:creationId xmlns:a16="http://schemas.microsoft.com/office/drawing/2014/main" id="{A9F3BF58-8CA3-4E7F-AF13-CBB626484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038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5" name="Line 18">
            <a:extLst>
              <a:ext uri="{FF2B5EF4-FFF2-40B4-BE49-F238E27FC236}">
                <a16:creationId xmlns:a16="http://schemas.microsoft.com/office/drawing/2014/main" id="{7EED13EA-0CC3-405B-9A66-0F2C0E1A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029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6" name="Line 19">
            <a:extLst>
              <a:ext uri="{FF2B5EF4-FFF2-40B4-BE49-F238E27FC236}">
                <a16:creationId xmlns:a16="http://schemas.microsoft.com/office/drawing/2014/main" id="{B1301607-BDA1-4626-8D31-D814235ED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019800"/>
            <a:ext cx="0" cy="609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7" name="Line 20">
            <a:extLst>
              <a:ext uri="{FF2B5EF4-FFF2-40B4-BE49-F238E27FC236}">
                <a16:creationId xmlns:a16="http://schemas.microsoft.com/office/drawing/2014/main" id="{432EBCB3-B5B7-45B8-A8C4-3CB1ED18A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7958" name="Line 21">
            <a:extLst>
              <a:ext uri="{FF2B5EF4-FFF2-40B4-BE49-F238E27FC236}">
                <a16:creationId xmlns:a16="http://schemas.microsoft.com/office/drawing/2014/main" id="{E0713EAE-A4B1-4018-97C8-9BAD8B1F3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943600"/>
            <a:ext cx="0" cy="685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投影片編號版面配置區 5">
            <a:extLst>
              <a:ext uri="{FF2B5EF4-FFF2-40B4-BE49-F238E27FC236}">
                <a16:creationId xmlns:a16="http://schemas.microsoft.com/office/drawing/2014/main" id="{784951F3-DF8B-4CB7-B6F6-336B4E6E01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F4A93F-FBEF-4369-8E38-109EA43D012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9A69FEF5-3174-4F82-8E45-4FDDD85FC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 </a:t>
            </a:r>
          </a:p>
        </p:txBody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0D69F40B-483F-4546-B0DB-6EF43792C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Assume there are </a:t>
            </a:r>
          </a:p>
          <a:p>
            <a:pPr eaLnBrk="1" hangingPunct="1"/>
            <a:r>
              <a:rPr lang="en-US" altLang="zh-TW"/>
              <a:t>a tree stucture </a:t>
            </a:r>
            <a:r>
              <a:rPr lang="en-US" altLang="zh-TW" b="1" i="1"/>
              <a:t>M</a:t>
            </a:r>
            <a:r>
              <a:rPr lang="en-US" altLang="zh-TW"/>
              <a:t>, </a:t>
            </a:r>
          </a:p>
          <a:p>
            <a:pPr eaLnBrk="1" hangingPunct="1"/>
            <a:r>
              <a:rPr lang="en-US" altLang="zh-TW"/>
              <a:t>one state </a:t>
            </a:r>
            <a:r>
              <a:rPr lang="en-US" altLang="zh-TW" b="1" i="1"/>
              <a:t>s </a:t>
            </a:r>
            <a:r>
              <a:rPr lang="en-US" altLang="zh-TW"/>
              <a:t>in </a:t>
            </a:r>
            <a:r>
              <a:rPr lang="en-US" altLang="zh-TW" b="1" i="1"/>
              <a:t>M,</a:t>
            </a:r>
            <a:r>
              <a:rPr lang="en-US" altLang="zh-TW"/>
              <a:t> and </a:t>
            </a:r>
          </a:p>
          <a:p>
            <a:pPr eaLnBrk="1" hangingPunct="1"/>
            <a:r>
              <a:rPr lang="en-US" altLang="zh-TW"/>
              <a:t>a CTL fomula </a:t>
            </a:r>
            <a:r>
              <a:rPr lang="en-US" altLang="zh-TW" b="1"/>
              <a:t>φ</a:t>
            </a:r>
            <a:r>
              <a:rPr lang="en-US" altLang="zh-TW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/>
              <a:t>M,s</a:t>
            </a:r>
            <a:r>
              <a:rPr lang="en-US" altLang="zh-TW" b="1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b="1" i="1"/>
              <a:t>φ</a:t>
            </a:r>
            <a:r>
              <a:rPr lang="en-US" altLang="zh-TW"/>
              <a:t> means </a:t>
            </a:r>
            <a:r>
              <a:rPr lang="en-US" altLang="zh-TW" b="1" i="1"/>
              <a:t>s</a:t>
            </a:r>
            <a:r>
              <a:rPr lang="en-US" altLang="zh-TW"/>
              <a:t> in </a:t>
            </a:r>
            <a:r>
              <a:rPr lang="en-US" altLang="zh-TW" b="1" i="1"/>
              <a:t>M</a:t>
            </a:r>
            <a:r>
              <a:rPr lang="en-US" altLang="zh-TW"/>
              <a:t> </a:t>
            </a:r>
            <a:r>
              <a:rPr lang="en-US" altLang="zh-TW">
                <a:solidFill>
                  <a:srgbClr val="0000FF"/>
                </a:solidFill>
              </a:rPr>
              <a:t>satisfy</a:t>
            </a:r>
            <a:r>
              <a:rPr lang="en-US" altLang="zh-TW"/>
              <a:t> </a:t>
            </a:r>
            <a:r>
              <a:rPr lang="en-US" altLang="zh-TW" b="1"/>
              <a:t>φ</a:t>
            </a:r>
            <a:endParaRPr lang="en-US" altLang="zh-TW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投影片編號版面配置區 5">
            <a:extLst>
              <a:ext uri="{FF2B5EF4-FFF2-40B4-BE49-F238E27FC236}">
                <a16:creationId xmlns:a16="http://schemas.microsoft.com/office/drawing/2014/main" id="{8A2A9B31-21AF-4E76-80BD-967801A5AA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72E321-5358-4EB3-A01D-14514BC29DA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72035" name="Rectangle 2">
            <a:extLst>
              <a:ext uri="{FF2B5EF4-FFF2-40B4-BE49-F238E27FC236}">
                <a16:creationId xmlns:a16="http://schemas.microsoft.com/office/drawing/2014/main" id="{B3913292-8DF5-4521-9DD5-991278CC7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 </a:t>
            </a:r>
          </a:p>
        </p:txBody>
      </p:sp>
      <p:sp>
        <p:nvSpPr>
          <p:cNvPr id="172036" name="Rectangle 3">
            <a:extLst>
              <a:ext uri="{FF2B5EF4-FFF2-40B4-BE49-F238E27FC236}">
                <a16:creationId xmlns:a16="http://schemas.microsoft.com/office/drawing/2014/main" id="{069CBFA4-006D-475F-AFD4-94DB69FF9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114800" cy="121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rgbClr val="0000FF"/>
                </a:solidFill>
              </a:rPr>
              <a:t>s-path</a:t>
            </a:r>
            <a:r>
              <a:rPr lang="zh-TW" altLang="en-US" b="1"/>
              <a:t>：</a:t>
            </a:r>
            <a:r>
              <a:rPr lang="en-US" altLang="zh-TW"/>
              <a:t>a path in </a:t>
            </a:r>
            <a:r>
              <a:rPr lang="en-US" altLang="zh-TW" i="1"/>
              <a:t>M</a:t>
            </a:r>
            <a:r>
              <a:rPr lang="en-US" altLang="zh-TW"/>
              <a:t> which stats from </a:t>
            </a:r>
            <a:r>
              <a:rPr lang="en-US" altLang="zh-TW" b="1" i="1"/>
              <a:t>s</a:t>
            </a:r>
          </a:p>
        </p:txBody>
      </p:sp>
      <p:sp>
        <p:nvSpPr>
          <p:cNvPr id="172037" name="Line 4">
            <a:extLst>
              <a:ext uri="{FF2B5EF4-FFF2-40B4-BE49-F238E27FC236}">
                <a16:creationId xmlns:a16="http://schemas.microsoft.com/office/drawing/2014/main" id="{E44BB7A5-EF11-4200-8B88-C80E10CFB8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65850" y="14414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38" name="Line 5">
            <a:extLst>
              <a:ext uri="{FF2B5EF4-FFF2-40B4-BE49-F238E27FC236}">
                <a16:creationId xmlns:a16="http://schemas.microsoft.com/office/drawing/2014/main" id="{FF9A8D93-2F8D-4D90-BEA0-FA8BE8160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14414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39" name="Line 6">
            <a:extLst>
              <a:ext uri="{FF2B5EF4-FFF2-40B4-BE49-F238E27FC236}">
                <a16:creationId xmlns:a16="http://schemas.microsoft.com/office/drawing/2014/main" id="{DC2D9D89-1AF5-4247-ABAD-200E52978D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2362200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0" name="Line 7">
            <a:extLst>
              <a:ext uri="{FF2B5EF4-FFF2-40B4-BE49-F238E27FC236}">
                <a16:creationId xmlns:a16="http://schemas.microsoft.com/office/drawing/2014/main" id="{528D5C1C-B742-4518-8306-C4868A19A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362200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1" name="Line 8">
            <a:extLst>
              <a:ext uri="{FF2B5EF4-FFF2-40B4-BE49-F238E27FC236}">
                <a16:creationId xmlns:a16="http://schemas.microsoft.com/office/drawing/2014/main" id="{A6205F60-547E-4E89-B4AC-DF9EC0DD8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362200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2" name="Line 9">
            <a:extLst>
              <a:ext uri="{FF2B5EF4-FFF2-40B4-BE49-F238E27FC236}">
                <a16:creationId xmlns:a16="http://schemas.microsoft.com/office/drawing/2014/main" id="{8DF8D47E-C890-4ACB-8E83-0A182A037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352800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3" name="Line 10">
            <a:extLst>
              <a:ext uri="{FF2B5EF4-FFF2-40B4-BE49-F238E27FC236}">
                <a16:creationId xmlns:a16="http://schemas.microsoft.com/office/drawing/2014/main" id="{CD1A0615-24AD-47B4-8DDD-C92164DB1D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34290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4" name="Line 11">
            <a:extLst>
              <a:ext uri="{FF2B5EF4-FFF2-40B4-BE49-F238E27FC236}">
                <a16:creationId xmlns:a16="http://schemas.microsoft.com/office/drawing/2014/main" id="{FDA2075C-ED8C-4D17-88FB-B11BC8127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4290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5" name="Line 12">
            <a:extLst>
              <a:ext uri="{FF2B5EF4-FFF2-40B4-BE49-F238E27FC236}">
                <a16:creationId xmlns:a16="http://schemas.microsoft.com/office/drawing/2014/main" id="{E72AC78C-B4DE-4087-ACA2-51360E10B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4290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46" name="Oval 13">
            <a:extLst>
              <a:ext uri="{FF2B5EF4-FFF2-40B4-BE49-F238E27FC236}">
                <a16:creationId xmlns:a16="http://schemas.microsoft.com/office/drawing/2014/main" id="{648F9ED4-B7B3-46C9-ACB7-D8B5DD387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9906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47" name="Oval 14">
            <a:extLst>
              <a:ext uri="{FF2B5EF4-FFF2-40B4-BE49-F238E27FC236}">
                <a16:creationId xmlns:a16="http://schemas.microsoft.com/office/drawing/2014/main" id="{0F37A472-D438-4C85-966A-FD22BB2B1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9718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48" name="Oval 15">
            <a:extLst>
              <a:ext uri="{FF2B5EF4-FFF2-40B4-BE49-F238E27FC236}">
                <a16:creationId xmlns:a16="http://schemas.microsoft.com/office/drawing/2014/main" id="{E7F76A8D-8492-4D08-A51C-DC3AD17D2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905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49" name="Oval 16">
            <a:extLst>
              <a:ext uri="{FF2B5EF4-FFF2-40B4-BE49-F238E27FC236}">
                <a16:creationId xmlns:a16="http://schemas.microsoft.com/office/drawing/2014/main" id="{92A24475-4A69-4671-B9F9-8656CF567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6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0" name="Oval 17">
            <a:extLst>
              <a:ext uri="{FF2B5EF4-FFF2-40B4-BE49-F238E27FC236}">
                <a16:creationId xmlns:a16="http://schemas.microsoft.com/office/drawing/2014/main" id="{E1BEEE4D-987A-411A-96A9-9ED875F91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1" name="Oval 18">
            <a:extLst>
              <a:ext uri="{FF2B5EF4-FFF2-40B4-BE49-F238E27FC236}">
                <a16:creationId xmlns:a16="http://schemas.microsoft.com/office/drawing/2014/main" id="{29298F50-3052-4AE1-B9AE-246DC1B34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905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2" name="Oval 19">
            <a:extLst>
              <a:ext uri="{FF2B5EF4-FFF2-40B4-BE49-F238E27FC236}">
                <a16:creationId xmlns:a16="http://schemas.microsoft.com/office/drawing/2014/main" id="{F5303382-576C-4286-8703-6CC551B58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3" name="Oval 20">
            <a:extLst>
              <a:ext uri="{FF2B5EF4-FFF2-40B4-BE49-F238E27FC236}">
                <a16:creationId xmlns:a16="http://schemas.microsoft.com/office/drawing/2014/main" id="{E447B0F9-BF0E-493D-9E04-335E18974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8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4" name="Oval 21">
            <a:extLst>
              <a:ext uri="{FF2B5EF4-FFF2-40B4-BE49-F238E27FC236}">
                <a16:creationId xmlns:a16="http://schemas.microsoft.com/office/drawing/2014/main" id="{C8EF6367-6605-4081-AA98-368C89B19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86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7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5" name="Oval 22">
            <a:extLst>
              <a:ext uri="{FF2B5EF4-FFF2-40B4-BE49-F238E27FC236}">
                <a16:creationId xmlns:a16="http://schemas.microsoft.com/office/drawing/2014/main" id="{D03521BB-3B31-4560-9022-B379BF21A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886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9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6" name="Oval 23">
            <a:extLst>
              <a:ext uri="{FF2B5EF4-FFF2-40B4-BE49-F238E27FC236}">
                <a16:creationId xmlns:a16="http://schemas.microsoft.com/office/drawing/2014/main" id="{0A5C83DD-1E6D-4844-B793-657E47BE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962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7" name="Oval 24">
            <a:extLst>
              <a:ext uri="{FF2B5EF4-FFF2-40B4-BE49-F238E27FC236}">
                <a16:creationId xmlns:a16="http://schemas.microsoft.com/office/drawing/2014/main" id="{91570DE0-B77F-472F-B26A-E05A8C137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8" name="Oval 25">
            <a:extLst>
              <a:ext uri="{FF2B5EF4-FFF2-40B4-BE49-F238E27FC236}">
                <a16:creationId xmlns:a16="http://schemas.microsoft.com/office/drawing/2014/main" id="{6F4FB240-EFBA-4915-9255-88DCA6394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9" name="Oval 26">
            <a:extLst>
              <a:ext uri="{FF2B5EF4-FFF2-40B4-BE49-F238E27FC236}">
                <a16:creationId xmlns:a16="http://schemas.microsoft.com/office/drawing/2014/main" id="{564C7CD5-4585-4039-AE94-28FFB673F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962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60" name="Oval 27">
            <a:extLst>
              <a:ext uri="{FF2B5EF4-FFF2-40B4-BE49-F238E27FC236}">
                <a16:creationId xmlns:a16="http://schemas.microsoft.com/office/drawing/2014/main" id="{AE9B833E-A6F4-429E-A403-34B9F9798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956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61" name="Oval 28">
            <a:extLst>
              <a:ext uri="{FF2B5EF4-FFF2-40B4-BE49-F238E27FC236}">
                <a16:creationId xmlns:a16="http://schemas.microsoft.com/office/drawing/2014/main" id="{18022838-2623-448F-8D96-1299D58E3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62" name="Line 29">
            <a:extLst>
              <a:ext uri="{FF2B5EF4-FFF2-40B4-BE49-F238E27FC236}">
                <a16:creationId xmlns:a16="http://schemas.microsoft.com/office/drawing/2014/main" id="{0837D42F-E4AD-4CBB-AED3-011A90C9FF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4419600"/>
            <a:ext cx="2286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3" name="Line 30">
            <a:extLst>
              <a:ext uri="{FF2B5EF4-FFF2-40B4-BE49-F238E27FC236}">
                <a16:creationId xmlns:a16="http://schemas.microsoft.com/office/drawing/2014/main" id="{FF11D4A9-945D-4AEA-AEB6-2FB64D644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419600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4" name="Line 31">
            <a:extLst>
              <a:ext uri="{FF2B5EF4-FFF2-40B4-BE49-F238E27FC236}">
                <a16:creationId xmlns:a16="http://schemas.microsoft.com/office/drawing/2014/main" id="{D32A3696-EE94-4EB5-895F-FE6F111CD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19600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5" name="Line 32">
            <a:extLst>
              <a:ext uri="{FF2B5EF4-FFF2-40B4-BE49-F238E27FC236}">
                <a16:creationId xmlns:a16="http://schemas.microsoft.com/office/drawing/2014/main" id="{AF05EA32-E53A-4D07-920C-76B5176FC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3434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6" name="Line 33">
            <a:extLst>
              <a:ext uri="{FF2B5EF4-FFF2-40B4-BE49-F238E27FC236}">
                <a16:creationId xmlns:a16="http://schemas.microsoft.com/office/drawing/2014/main" id="{B0412CB5-67A4-4616-8DC8-C1A6C96A66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4419600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7" name="Line 34">
            <a:extLst>
              <a:ext uri="{FF2B5EF4-FFF2-40B4-BE49-F238E27FC236}">
                <a16:creationId xmlns:a16="http://schemas.microsoft.com/office/drawing/2014/main" id="{0D8E067D-DD91-4AC6-924D-6EEA3908E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419600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8" name="Line 35">
            <a:extLst>
              <a:ext uri="{FF2B5EF4-FFF2-40B4-BE49-F238E27FC236}">
                <a16:creationId xmlns:a16="http://schemas.microsoft.com/office/drawing/2014/main" id="{3DBF38C2-1373-4644-AAFB-C61921D354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5410200"/>
            <a:ext cx="3048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69" name="Line 36">
            <a:extLst>
              <a:ext uri="{FF2B5EF4-FFF2-40B4-BE49-F238E27FC236}">
                <a16:creationId xmlns:a16="http://schemas.microsoft.com/office/drawing/2014/main" id="{BE7141FA-22E6-4BB9-B002-D3A858309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410200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0" name="Line 37">
            <a:extLst>
              <a:ext uri="{FF2B5EF4-FFF2-40B4-BE49-F238E27FC236}">
                <a16:creationId xmlns:a16="http://schemas.microsoft.com/office/drawing/2014/main" id="{D53B30EF-D73D-42BF-B7A7-9DDD080405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5410200"/>
            <a:ext cx="3810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1" name="Line 38">
            <a:extLst>
              <a:ext uri="{FF2B5EF4-FFF2-40B4-BE49-F238E27FC236}">
                <a16:creationId xmlns:a16="http://schemas.microsoft.com/office/drawing/2014/main" id="{54BD840C-3518-474D-BB23-3FF2A6E29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102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2" name="Line 39">
            <a:extLst>
              <a:ext uri="{FF2B5EF4-FFF2-40B4-BE49-F238E27FC236}">
                <a16:creationId xmlns:a16="http://schemas.microsoft.com/office/drawing/2014/main" id="{095B9C93-BDD8-4D2D-BC27-18E02811B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410200"/>
            <a:ext cx="228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3" name="Line 40">
            <a:extLst>
              <a:ext uri="{FF2B5EF4-FFF2-40B4-BE49-F238E27FC236}">
                <a16:creationId xmlns:a16="http://schemas.microsoft.com/office/drawing/2014/main" id="{D5C317FD-0D67-46C2-B6BA-19A79977D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5410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4" name="Line 41">
            <a:extLst>
              <a:ext uri="{FF2B5EF4-FFF2-40B4-BE49-F238E27FC236}">
                <a16:creationId xmlns:a16="http://schemas.microsoft.com/office/drawing/2014/main" id="{5EECD50E-90CB-4985-9283-1D557CBDE5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54102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5" name="Line 42">
            <a:extLst>
              <a:ext uri="{FF2B5EF4-FFF2-40B4-BE49-F238E27FC236}">
                <a16:creationId xmlns:a16="http://schemas.microsoft.com/office/drawing/2014/main" id="{EAAC35DB-FCB7-42FE-9BC8-561DFF070B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541020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6" name="Line 43">
            <a:extLst>
              <a:ext uri="{FF2B5EF4-FFF2-40B4-BE49-F238E27FC236}">
                <a16:creationId xmlns:a16="http://schemas.microsoft.com/office/drawing/2014/main" id="{9875FF76-3243-4B42-BAD6-3A2AB972D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41020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7" name="Line 44">
            <a:extLst>
              <a:ext uri="{FF2B5EF4-FFF2-40B4-BE49-F238E27FC236}">
                <a16:creationId xmlns:a16="http://schemas.microsoft.com/office/drawing/2014/main" id="{87F9E264-60BE-495B-A0A6-E1815C4CB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8" name="Line 45">
            <a:extLst>
              <a:ext uri="{FF2B5EF4-FFF2-40B4-BE49-F238E27FC236}">
                <a16:creationId xmlns:a16="http://schemas.microsoft.com/office/drawing/2014/main" id="{3D1E93A9-C403-4745-904B-6E39F8A3B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5410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79" name="Line 46">
            <a:extLst>
              <a:ext uri="{FF2B5EF4-FFF2-40B4-BE49-F238E27FC236}">
                <a16:creationId xmlns:a16="http://schemas.microsoft.com/office/drawing/2014/main" id="{56C15CB1-467F-47C9-A81C-E4651E995F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80" name="Line 47">
            <a:extLst>
              <a:ext uri="{FF2B5EF4-FFF2-40B4-BE49-F238E27FC236}">
                <a16:creationId xmlns:a16="http://schemas.microsoft.com/office/drawing/2014/main" id="{5BB40F1E-A8C3-447B-AC5F-FF4B2955A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2081" name="Text Box 48">
            <a:extLst>
              <a:ext uri="{FF2B5EF4-FFF2-40B4-BE49-F238E27FC236}">
                <a16:creationId xmlns:a16="http://schemas.microsoft.com/office/drawing/2014/main" id="{2F5E2265-BFB9-46E2-B8FE-CA3D33E31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743200"/>
            <a:ext cx="34290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latin typeface="Times New Roman" panose="02020603050405020304" pitchFamily="18" charset="0"/>
              </a:rPr>
              <a:t>-path:</a:t>
            </a:r>
          </a:p>
          <a:p>
            <a:pPr>
              <a:lnSpc>
                <a:spcPct val="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   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7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8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latin typeface="Times New Roman" panose="02020603050405020304" pitchFamily="18" charset="0"/>
              </a:rPr>
              <a:t>-path:</a:t>
            </a:r>
          </a:p>
          <a:p>
            <a:pPr>
              <a:lnSpc>
                <a:spcPct val="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……...…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latin typeface="Times New Roman" panose="02020603050405020304" pitchFamily="18" charset="0"/>
              </a:rPr>
              <a:t>-path:</a:t>
            </a:r>
          </a:p>
          <a:p>
            <a:pPr>
              <a:lnSpc>
                <a:spcPct val="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……...…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latin typeface="Times New Roman" panose="02020603050405020304" pitchFamily="18" charset="0"/>
              </a:rPr>
              <a:t>13 </a:t>
            </a:r>
            <a:r>
              <a:rPr lang="en-US" altLang="zh-TW" sz="3200" i="1">
                <a:latin typeface="Times New Roman" panose="02020603050405020304" pitchFamily="18" charset="0"/>
              </a:rPr>
              <a:t>-path:</a:t>
            </a:r>
          </a:p>
          <a:p>
            <a:pPr>
              <a:lnSpc>
                <a:spcPct val="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……...…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投影片編號版面配置區 5">
            <a:extLst>
              <a:ext uri="{FF2B5EF4-FFF2-40B4-BE49-F238E27FC236}">
                <a16:creationId xmlns:a16="http://schemas.microsoft.com/office/drawing/2014/main" id="{1B1FC0E8-1242-452B-83A3-D6360B11F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F71CDE-6073-4207-A405-83F3AA5507A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1FF53820-D909-4219-BCF4-408E88C36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801744F7-C271-4C4B-AF6C-634A5C3A0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true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p 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 p </a:t>
            </a:r>
            <a:r>
              <a:rPr lang="en-US" altLang="zh-TW" sz="2800">
                <a:sym typeface="Symbol" panose="05050102010706020507" pitchFamily="18" charset="2"/>
              </a:rPr>
              <a:t></a:t>
            </a:r>
            <a:r>
              <a:rPr lang="en-US" altLang="zh-TW" sz="2800"/>
              <a:t>s</a:t>
            </a:r>
            <a:endParaRPr lang="en-US" altLang="zh-TW" sz="2800" baseline="-25000"/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</a:t>
            </a:r>
            <a:r>
              <a:rPr lang="en-US" altLang="zh-TW" sz="2800"/>
              <a:t>φ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it is false that 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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Symbol" panose="05050102010706020507" pitchFamily="18" charset="2"/>
              </a:rPr>
              <a:t>2 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 or</a:t>
            </a:r>
            <a:r>
              <a:rPr lang="en-US" altLang="zh-TW" sz="2800" baseline="-25000">
                <a:sym typeface="Symbol" panose="05050102010706020507" pitchFamily="18" charset="2"/>
              </a:rPr>
              <a:t>  </a:t>
            </a: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Symbol" panose="05050102010706020507" pitchFamily="18" charset="2"/>
              </a:rPr>
              <a:t>2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</a:t>
            </a:r>
            <a:r>
              <a:rPr lang="en-US" altLang="zh-TW" sz="2800">
                <a:sym typeface="Wingdings 2" panose="050201020105070707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 s-path = s</a:t>
            </a:r>
            <a:r>
              <a:rPr lang="en-US" altLang="zh-TW" sz="2800" baseline="-25000"/>
              <a:t>0</a:t>
            </a:r>
            <a:r>
              <a:rPr lang="en-US" altLang="zh-TW" sz="2800"/>
              <a:t> s</a:t>
            </a:r>
            <a:r>
              <a:rPr lang="en-US" altLang="zh-TW" sz="2800" baseline="-25000"/>
              <a:t>1</a:t>
            </a:r>
            <a:r>
              <a:rPr lang="en-US" altLang="zh-TW" sz="2800"/>
              <a:t> ……(M,s</a:t>
            </a:r>
            <a:r>
              <a:rPr lang="en-US" altLang="zh-TW" sz="2800" baseline="-25000"/>
              <a:t>1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φ)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</a:t>
            </a:r>
            <a:r>
              <a:rPr lang="en-US" altLang="zh-TW" sz="2800">
                <a:sym typeface="Wingdings 2" panose="050201020105070707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/>
              <a:t> s-path = s</a:t>
            </a:r>
            <a:r>
              <a:rPr lang="en-US" altLang="zh-TW" sz="2800" baseline="-25000"/>
              <a:t>0</a:t>
            </a:r>
            <a:r>
              <a:rPr lang="en-US" altLang="zh-TW" sz="2800"/>
              <a:t> s</a:t>
            </a:r>
            <a:r>
              <a:rPr lang="en-US" altLang="zh-TW" sz="2800" baseline="-25000"/>
              <a:t>1</a:t>
            </a:r>
            <a:r>
              <a:rPr lang="en-US" altLang="zh-TW" sz="2800"/>
              <a:t> ……(M,s</a:t>
            </a:r>
            <a:r>
              <a:rPr lang="en-US" altLang="zh-TW" sz="2800" baseline="-25000"/>
              <a:t>1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φ)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Wingdings 2" panose="05020102010507070707" pitchFamily="18" charset="2"/>
              </a:rPr>
              <a:t>1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800">
                <a:sym typeface="Wingdings 2" panose="050201020105070707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 s-path = s</a:t>
            </a:r>
            <a:r>
              <a:rPr lang="en-US" altLang="zh-TW" sz="2800" baseline="-25000"/>
              <a:t>0</a:t>
            </a:r>
            <a:r>
              <a:rPr lang="en-US" altLang="zh-TW" sz="2800"/>
              <a:t> s</a:t>
            </a:r>
            <a:r>
              <a:rPr lang="en-US" altLang="zh-TW" sz="2800" baseline="-25000"/>
              <a:t>1</a:t>
            </a:r>
            <a:r>
              <a:rPr lang="en-US" altLang="zh-TW" sz="2800"/>
              <a:t> ……,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k</a:t>
            </a:r>
            <a:r>
              <a:rPr lang="en-US" altLang="zh-TW" sz="2800">
                <a:sym typeface="Symbol" panose="05050102010706020507" pitchFamily="18" charset="2"/>
              </a:rPr>
              <a:t></a:t>
            </a:r>
            <a:r>
              <a:rPr lang="en-US" altLang="zh-TW" sz="2800"/>
              <a:t>0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				       (M,s</a:t>
            </a:r>
            <a:r>
              <a:rPr lang="en-US" altLang="zh-TW" sz="2800" baseline="-25000"/>
              <a:t>k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800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0</a:t>
            </a:r>
            <a:r>
              <a:rPr lang="en-US" altLang="zh-TW" sz="2800">
                <a:sym typeface="Symbol" panose="05050102010706020507" pitchFamily="18" charset="2"/>
              </a:rPr>
              <a:t>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j&lt;k(</a:t>
            </a:r>
            <a:r>
              <a:rPr lang="en-US" altLang="zh-TW" sz="2800"/>
              <a:t>M,s</a:t>
            </a:r>
            <a:r>
              <a:rPr lang="en-US" altLang="zh-TW" sz="2800" baseline="-25000"/>
              <a:t>j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1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M,s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/>
              <a:t>φ</a:t>
            </a:r>
            <a:r>
              <a:rPr lang="en-US" altLang="zh-TW" sz="2800" baseline="-25000">
                <a:sym typeface="Wingdings 2" panose="05020102010507070707" pitchFamily="18" charset="2"/>
              </a:rPr>
              <a:t>1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800">
                <a:sym typeface="Wingdings 2" panose="050201020105070707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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/>
              <a:t>s-path = s</a:t>
            </a:r>
            <a:r>
              <a:rPr lang="en-US" altLang="zh-TW" sz="2800" baseline="-25000"/>
              <a:t>0</a:t>
            </a:r>
            <a:r>
              <a:rPr lang="en-US" altLang="zh-TW" sz="2800"/>
              <a:t> s</a:t>
            </a:r>
            <a:r>
              <a:rPr lang="en-US" altLang="zh-TW" sz="2800" baseline="-25000"/>
              <a:t>1</a:t>
            </a:r>
            <a:r>
              <a:rPr lang="en-US" altLang="zh-TW" sz="2800"/>
              <a:t> ……,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k</a:t>
            </a:r>
            <a:r>
              <a:rPr lang="en-US" altLang="zh-TW" sz="2800">
                <a:sym typeface="Symbol" panose="05050102010706020507" pitchFamily="18" charset="2"/>
              </a:rPr>
              <a:t></a:t>
            </a:r>
            <a:r>
              <a:rPr lang="en-US" altLang="zh-TW" sz="2800"/>
              <a:t>0</a:t>
            </a:r>
          </a:p>
          <a:p>
            <a:pPr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				       (M,s</a:t>
            </a:r>
            <a:r>
              <a:rPr lang="en-US" altLang="zh-TW" sz="2800" baseline="-25000"/>
              <a:t>k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2 </a:t>
            </a:r>
            <a:r>
              <a:rPr lang="en-US" altLang="zh-TW" sz="2800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0</a:t>
            </a:r>
            <a:r>
              <a:rPr lang="en-US" altLang="zh-TW" sz="2800">
                <a:sym typeface="Symbol" panose="05050102010706020507" pitchFamily="18" charset="2"/>
              </a:rPr>
              <a:t>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j&lt;k(</a:t>
            </a:r>
            <a:r>
              <a:rPr lang="en-US" altLang="zh-TW" sz="2800"/>
              <a:t>M,s</a:t>
            </a:r>
            <a:r>
              <a:rPr lang="en-US" altLang="zh-TW" sz="2800" baseline="-25000"/>
              <a:t>j </a:t>
            </a:r>
            <a:r>
              <a:rPr lang="en-US" altLang="zh-TW" sz="2800">
                <a:latin typeface="Lucida Console" panose="020B0609040504020204" pitchFamily="49" charset="0"/>
                <a:cs typeface="Lucida Sans Unicode" panose="020B0602030504020204" pitchFamily="34" charset="0"/>
                <a:sym typeface="Euclid Math One" pitchFamily="18" charset="2"/>
              </a:rPr>
              <a:t></a:t>
            </a:r>
            <a:r>
              <a:rPr lang="en-US" altLang="zh-TW" sz="28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sz="2800"/>
              <a:t>φ</a:t>
            </a:r>
            <a:r>
              <a:rPr lang="en-US" altLang="zh-TW" sz="2800" baseline="-25000">
                <a:ea typeface="華康儷楷書" panose="03000509000000000000" pitchFamily="65" charset="-120"/>
                <a:cs typeface="華康儷楷書" panose="03000509000000000000" pitchFamily="65" charset="-120"/>
              </a:rPr>
              <a:t>1</a:t>
            </a:r>
            <a:r>
              <a:rPr lang="en-US" altLang="zh-TW" sz="2800">
                <a:ea typeface="華康儷楷書" panose="03000509000000000000" pitchFamily="65" charset="-120"/>
                <a:cs typeface="華康儷楷書" panose="03000509000000000000" pitchFamily="65" charset="-120"/>
              </a:rPr>
              <a:t>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投影片編號版面配置區 5">
            <a:extLst>
              <a:ext uri="{FF2B5EF4-FFF2-40B4-BE49-F238E27FC236}">
                <a16:creationId xmlns:a16="http://schemas.microsoft.com/office/drawing/2014/main" id="{A69141FA-CEF6-4E86-A066-357B6CB8C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2FE8FC-E98E-40A3-B011-115DBBAAEA0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F72E5DF1-FE80-44D7-A21C-C7DD9D045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examples (I)</a:t>
            </a:r>
          </a:p>
        </p:txBody>
      </p:sp>
      <p:sp>
        <p:nvSpPr>
          <p:cNvPr id="786435" name="Rectangle 3">
            <a:extLst>
              <a:ext uri="{FF2B5EF4-FFF2-40B4-BE49-F238E27FC236}">
                <a16:creationId xmlns:a16="http://schemas.microsoft.com/office/drawing/2014/main" id="{ED7220CF-C774-433F-9181-210E76F30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4876800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</a:t>
            </a:r>
            <a:r>
              <a:rPr lang="en-US" altLang="zh-TW" baseline="-25000"/>
              <a:t>0</a:t>
            </a:r>
            <a:r>
              <a:rPr lang="en-US" altLang="zh-TW" b="1"/>
              <a:t>:(</a:t>
            </a:r>
            <a:r>
              <a:rPr lang="en-US" altLang="zh-TW" b="1" i="1"/>
              <a:t>p</a:t>
            </a:r>
            <a:r>
              <a:rPr lang="en-US" altLang="zh-TW" b="1" baseline="-25000"/>
              <a:t>0</a:t>
            </a:r>
            <a:r>
              <a:rPr lang="en-US" altLang="zh-TW" b="1"/>
              <a:t>:=0 |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0 </a:t>
            </a:r>
            <a:r>
              <a:rPr lang="en-US" altLang="zh-TW" b="1"/>
              <a:t>:=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0 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1 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2</a:t>
            </a:r>
            <a:r>
              <a:rPr lang="en-US" altLang="zh-TW" b="1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</a:t>
            </a:r>
            <a:r>
              <a:rPr lang="en-US" altLang="zh-TW" baseline="-25000"/>
              <a:t>1</a:t>
            </a:r>
            <a:r>
              <a:rPr lang="en-US" altLang="zh-TW" b="1"/>
              <a:t>:(</a:t>
            </a:r>
            <a:r>
              <a:rPr lang="en-US" altLang="zh-TW" b="1" i="1"/>
              <a:t>p</a:t>
            </a:r>
            <a:r>
              <a:rPr lang="en-US" altLang="zh-TW" b="1" baseline="-25000"/>
              <a:t>1</a:t>
            </a:r>
            <a:r>
              <a:rPr lang="en-US" altLang="zh-TW" b="1"/>
              <a:t>:=0 |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1 </a:t>
            </a:r>
            <a:r>
              <a:rPr lang="en-US" altLang="zh-TW" b="1"/>
              <a:t>:=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0 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1</a:t>
            </a:r>
            <a:r>
              <a:rPr lang="en-US" altLang="zh-TW" b="1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P</a:t>
            </a:r>
            <a:r>
              <a:rPr lang="en-US" altLang="zh-TW" baseline="-25000"/>
              <a:t>2</a:t>
            </a:r>
            <a:r>
              <a:rPr lang="en-US" altLang="zh-TW" b="1"/>
              <a:t>:(</a:t>
            </a:r>
            <a:r>
              <a:rPr lang="en-US" altLang="zh-TW" b="1" i="1"/>
              <a:t>p</a:t>
            </a:r>
            <a:r>
              <a:rPr lang="en-US" altLang="zh-TW" b="1" baseline="-25000"/>
              <a:t>2</a:t>
            </a:r>
            <a:r>
              <a:rPr lang="en-US" altLang="zh-TW" b="1"/>
              <a:t>:=0 |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2 </a:t>
            </a:r>
            <a:r>
              <a:rPr lang="en-US" altLang="zh-TW" b="1"/>
              <a:t>:=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1 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b="1" baseline="-25000"/>
              <a:t> </a:t>
            </a:r>
            <a:r>
              <a:rPr lang="en-US" altLang="zh-TW" b="1" i="1"/>
              <a:t>p</a:t>
            </a:r>
            <a:r>
              <a:rPr lang="en-US" altLang="zh-TW" b="1" baseline="-25000"/>
              <a:t>2</a:t>
            </a:r>
            <a:r>
              <a:rPr lang="en-US" altLang="zh-TW" b="1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If P</a:t>
            </a:r>
            <a:r>
              <a:rPr lang="en-US" altLang="zh-TW" baseline="-25000"/>
              <a:t>0</a:t>
            </a:r>
            <a:r>
              <a:rPr lang="en-US" altLang="zh-TW"/>
              <a:t> is true, it is possible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that P</a:t>
            </a:r>
            <a:r>
              <a:rPr lang="en-US" altLang="zh-TW" baseline="-25000"/>
              <a:t>2 </a:t>
            </a:r>
            <a:r>
              <a:rPr lang="en-US" altLang="zh-TW"/>
              <a:t>can be true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after the next two cycles.</a:t>
            </a:r>
            <a:r>
              <a:rPr lang="en-US" altLang="zh-TW" b="1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rgbClr val="0000FF"/>
                </a:solidFill>
              </a:rPr>
              <a:t>(</a:t>
            </a:r>
            <a:r>
              <a:rPr lang="en-US" altLang="zh-TW" i="1">
                <a:solidFill>
                  <a:srgbClr val="0000FF"/>
                </a:solidFill>
              </a:rPr>
              <a:t>p</a:t>
            </a:r>
            <a:r>
              <a:rPr lang="en-US" altLang="zh-TW" i="1" baseline="-25000">
                <a:solidFill>
                  <a:srgbClr val="0000FF"/>
                </a:solidFill>
              </a:rPr>
              <a:t>0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 </a:t>
            </a:r>
            <a:r>
              <a:rPr lang="en-US" altLang="zh-TW" i="1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</a:rPr>
              <a:t>○ 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</a:rPr>
              <a:t>○ </a:t>
            </a:r>
            <a:r>
              <a:rPr lang="en-US" altLang="zh-TW" i="1">
                <a:solidFill>
                  <a:srgbClr val="0000FF"/>
                </a:solidFill>
              </a:rPr>
              <a:t>p</a:t>
            </a:r>
            <a:r>
              <a:rPr lang="en-US" altLang="zh-TW" i="1" baseline="-25000">
                <a:solidFill>
                  <a:srgbClr val="0000FF"/>
                </a:solidFill>
              </a:rPr>
              <a:t>2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</p:txBody>
      </p:sp>
      <p:grpSp>
        <p:nvGrpSpPr>
          <p:cNvPr id="176133" name="Group 14">
            <a:extLst>
              <a:ext uri="{FF2B5EF4-FFF2-40B4-BE49-F238E27FC236}">
                <a16:creationId xmlns:a16="http://schemas.microsoft.com/office/drawing/2014/main" id="{187E0643-A310-44AC-92E5-C11E86FBCC2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286000"/>
            <a:ext cx="3867150" cy="3178175"/>
            <a:chOff x="2744" y="1434"/>
            <a:chExt cx="2676" cy="2002"/>
          </a:xfrm>
        </p:grpSpPr>
        <p:sp>
          <p:nvSpPr>
            <p:cNvPr id="176134" name="Line 4">
              <a:extLst>
                <a:ext uri="{FF2B5EF4-FFF2-40B4-BE49-F238E27FC236}">
                  <a16:creationId xmlns:a16="http://schemas.microsoft.com/office/drawing/2014/main" id="{ED01C9BA-0D45-4682-B32C-695F9E6B2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6" y="1984"/>
              <a:ext cx="9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6135" name="Line 5">
              <a:extLst>
                <a:ext uri="{FF2B5EF4-FFF2-40B4-BE49-F238E27FC236}">
                  <a16:creationId xmlns:a16="http://schemas.microsoft.com/office/drawing/2014/main" id="{4E50EE9D-5523-4B7F-ABE3-D550FF207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1840"/>
              <a:ext cx="1031" cy="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6136" name="Line 6">
              <a:extLst>
                <a:ext uri="{FF2B5EF4-FFF2-40B4-BE49-F238E27FC236}">
                  <a16:creationId xmlns:a16="http://schemas.microsoft.com/office/drawing/2014/main" id="{5C4B29B6-D815-4FF9-A65E-70704CD05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976"/>
              <a:ext cx="1042" cy="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6137" name="Line 7">
              <a:extLst>
                <a:ext uri="{FF2B5EF4-FFF2-40B4-BE49-F238E27FC236}">
                  <a16:creationId xmlns:a16="http://schemas.microsoft.com/office/drawing/2014/main" id="{ECD22E0D-29BD-436D-8956-E733040D6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0" y="3294"/>
              <a:ext cx="1042" cy="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6138" name="AutoShape 8">
              <a:extLst>
                <a:ext uri="{FF2B5EF4-FFF2-40B4-BE49-F238E27FC236}">
                  <a16:creationId xmlns:a16="http://schemas.microsoft.com/office/drawing/2014/main" id="{C8303508-8A14-4F89-ACFD-21DA41D3F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434"/>
              <a:ext cx="817" cy="590"/>
            </a:xfrm>
            <a:prstGeom prst="foldedCorner">
              <a:avLst>
                <a:gd name="adj" fmla="val 12500"/>
              </a:avLst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MS LineDraw" pitchFamily="49" charset="2"/>
              </a:endParaRPr>
            </a:p>
          </p:txBody>
        </p:sp>
        <p:sp>
          <p:nvSpPr>
            <p:cNvPr id="176139" name="Text Box 9">
              <a:extLst>
                <a:ext uri="{FF2B5EF4-FFF2-40B4-BE49-F238E27FC236}">
                  <a16:creationId xmlns:a16="http://schemas.microsoft.com/office/drawing/2014/main" id="{DA49E272-57B7-46EA-BADD-054D25CB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1434"/>
              <a:ext cx="85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latin typeface="Times New Roman" panose="02020603050405020304" pitchFamily="18" charset="0"/>
                </a:rPr>
                <a:t>P</a:t>
              </a:r>
              <a:r>
                <a:rPr lang="en-US" altLang="zh-TW" sz="2800" b="1" baseline="-25000">
                  <a:latin typeface="Times New Roman" panose="02020603050405020304" pitchFamily="18" charset="0"/>
                </a:rPr>
                <a:t>2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/>
                <a:t>var: </a:t>
              </a:r>
              <a:r>
                <a:rPr lang="en-US" altLang="zh-TW" sz="2800" i="1"/>
                <a:t>p</a:t>
              </a:r>
              <a:r>
                <a:rPr lang="en-US" altLang="zh-TW" sz="2800" i="1" baseline="-25000"/>
                <a:t>2</a:t>
              </a:r>
              <a:endParaRPr lang="en-US" altLang="zh-TW" sz="2800"/>
            </a:p>
          </p:txBody>
        </p:sp>
        <p:sp>
          <p:nvSpPr>
            <p:cNvPr id="176140" name="AutoShape 10">
              <a:extLst>
                <a:ext uri="{FF2B5EF4-FFF2-40B4-BE49-F238E27FC236}">
                  <a16:creationId xmlns:a16="http://schemas.microsoft.com/office/drawing/2014/main" id="{FD2B1E52-BF40-4451-AC76-7033131BA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40"/>
              <a:ext cx="817" cy="590"/>
            </a:xfrm>
            <a:prstGeom prst="foldedCorner">
              <a:avLst>
                <a:gd name="adj" fmla="val 12500"/>
              </a:avLst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MS LineDraw" pitchFamily="49" charset="2"/>
              </a:endParaRPr>
            </a:p>
          </p:txBody>
        </p:sp>
        <p:sp>
          <p:nvSpPr>
            <p:cNvPr id="176141" name="AutoShape 11">
              <a:extLst>
                <a:ext uri="{FF2B5EF4-FFF2-40B4-BE49-F238E27FC236}">
                  <a16:creationId xmlns:a16="http://schemas.microsoft.com/office/drawing/2014/main" id="{7599A1EA-ADEB-4932-8445-828A50786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2795"/>
              <a:ext cx="817" cy="590"/>
            </a:xfrm>
            <a:prstGeom prst="foldedCorner">
              <a:avLst>
                <a:gd name="adj" fmla="val 12500"/>
              </a:avLst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MS LineDraw" pitchFamily="49" charset="2"/>
              </a:endParaRPr>
            </a:p>
          </p:txBody>
        </p:sp>
        <p:sp>
          <p:nvSpPr>
            <p:cNvPr id="176142" name="Text Box 12">
              <a:extLst>
                <a:ext uri="{FF2B5EF4-FFF2-40B4-BE49-F238E27FC236}">
                  <a16:creationId xmlns:a16="http://schemas.microsoft.com/office/drawing/2014/main" id="{264B11A5-7586-48C9-959B-9D0283F87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2840"/>
              <a:ext cx="85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latin typeface="Times New Roman" panose="02020603050405020304" pitchFamily="18" charset="0"/>
                </a:rPr>
                <a:t>P</a:t>
              </a:r>
              <a:r>
                <a:rPr lang="en-US" altLang="zh-TW" sz="2800" b="1" baseline="-25000">
                  <a:latin typeface="Times New Roman" panose="02020603050405020304" pitchFamily="18" charset="0"/>
                </a:rPr>
                <a:t>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/>
                <a:t>var: </a:t>
              </a:r>
              <a:r>
                <a:rPr lang="en-US" altLang="zh-TW" sz="2800" i="1"/>
                <a:t>p</a:t>
              </a:r>
              <a:r>
                <a:rPr lang="en-US" altLang="zh-TW" sz="2800" i="1" baseline="-25000"/>
                <a:t>0</a:t>
              </a:r>
            </a:p>
          </p:txBody>
        </p:sp>
        <p:sp>
          <p:nvSpPr>
            <p:cNvPr id="176143" name="Text Box 13">
              <a:extLst>
                <a:ext uri="{FF2B5EF4-FFF2-40B4-BE49-F238E27FC236}">
                  <a16:creationId xmlns:a16="http://schemas.microsoft.com/office/drawing/2014/main" id="{FB0D837A-FE78-45AB-8803-AE4A256FA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795"/>
              <a:ext cx="85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latin typeface="Times New Roman" panose="02020603050405020304" pitchFamily="18" charset="0"/>
                </a:rPr>
                <a:t>P</a:t>
              </a:r>
              <a:r>
                <a:rPr lang="en-US" altLang="zh-TW" sz="2800" b="1" baseline="-25000">
                  <a:latin typeface="Times New Roman" panose="02020603050405020304" pitchFamily="18" charset="0"/>
                </a:rPr>
                <a:t>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/>
                <a:t>var: </a:t>
              </a:r>
              <a:r>
                <a:rPr lang="en-US" altLang="zh-TW" sz="2800" i="1"/>
                <a:t>p</a:t>
              </a:r>
              <a:r>
                <a:rPr lang="en-US" altLang="zh-TW" sz="2800" i="1" baseline="-25000"/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8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8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8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8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8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8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5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投影片編號版面配置區 5">
            <a:extLst>
              <a:ext uri="{FF2B5EF4-FFF2-40B4-BE49-F238E27FC236}">
                <a16:creationId xmlns:a16="http://schemas.microsoft.com/office/drawing/2014/main" id="{0BC801BC-A418-4471-AFFF-F380C2528F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B2630D-4020-45F3-9285-ED09C77C40D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61E6B6CA-7F7D-4E5D-AF12-0451CFCC5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examples (II)</a:t>
            </a:r>
          </a:p>
        </p:txBody>
      </p:sp>
      <p:sp>
        <p:nvSpPr>
          <p:cNvPr id="178180" name="Text Box 3">
            <a:extLst>
              <a:ext uri="{FF2B5EF4-FFF2-40B4-BE49-F238E27FC236}">
                <a16:creationId xmlns:a16="http://schemas.microsoft.com/office/drawing/2014/main" id="{2CA2FAE5-6002-41F7-B98E-8BD2C2454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954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MS LineDraw" pitchFamily="49" charset="2"/>
            </a:endParaRPr>
          </a:p>
        </p:txBody>
      </p:sp>
      <p:sp>
        <p:nvSpPr>
          <p:cNvPr id="788484" name="Text Box 4">
            <a:extLst>
              <a:ext uri="{FF2B5EF4-FFF2-40B4-BE49-F238E27FC236}">
                <a16:creationId xmlns:a16="http://schemas.microsoft.com/office/drawing/2014/main" id="{07EAC0E7-1321-4360-9628-5A0E41923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651000"/>
            <a:ext cx="8023225" cy="421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defTabSz="9572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7263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72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72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7263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1. If there are dark clouds, it will rain.  </a:t>
            </a:r>
          </a:p>
          <a:p>
            <a:pPr algn="ct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</a:t>
            </a:r>
            <a:r>
              <a:rPr lang="en-US" altLang="zh-TW" sz="2400">
                <a:solidFill>
                  <a:srgbClr val="0000FF"/>
                </a:solidFill>
                <a:latin typeface="Symbol" panose="05050102010706020507" pitchFamily="18" charset="2"/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latin typeface="Symbol" panose="05050102010706020507" pitchFamily="18" charset="2"/>
              </a:rPr>
              <a:t>(</a:t>
            </a:r>
            <a:r>
              <a:rPr lang="en-US" altLang="zh-TW" sz="2400">
                <a:solidFill>
                  <a:srgbClr val="0000FF"/>
                </a:solidFill>
              </a:rPr>
              <a:t>dark-clouds</a:t>
            </a:r>
            <a:r>
              <a:rPr lang="en-US" altLang="zh-TW" sz="24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TW" sz="2400" i="1">
                <a:solidFill>
                  <a:srgbClr val="0000FF"/>
                </a:solidFill>
                <a:latin typeface="Symbol" panose="05050102010706020507" pitchFamily="18" charset="2"/>
              </a:rPr>
              <a:t> 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rgbClr val="0000FF"/>
                </a:solidFill>
              </a:rPr>
              <a:t>rain</a:t>
            </a:r>
            <a:r>
              <a:rPr lang="en-US" altLang="zh-TW" sz="2400">
                <a:solidFill>
                  <a:srgbClr val="0000FF"/>
                </a:solidFill>
                <a:latin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/>
              <a:t>2. if a buttefly flaps its wings, the New York stock could plunder.</a:t>
            </a:r>
          </a:p>
          <a:p>
            <a:pPr algn="ct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</a:t>
            </a:r>
            <a:r>
              <a:rPr lang="en-US" altLang="zh-TW" sz="2400" b="1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</a:rPr>
              <a:t>buttefly-flap-wings</a:t>
            </a:r>
            <a:r>
              <a:rPr lang="en-US" altLang="zh-TW" sz="1800"/>
              <a:t> </a:t>
            </a:r>
            <a:r>
              <a:rPr lang="en-US" altLang="zh-TW" sz="2400" b="1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</a:t>
            </a:r>
            <a:r>
              <a:rPr lang="en-US" altLang="zh-TW" sz="2400" b="1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rgbClr val="0000FF"/>
                </a:solidFill>
              </a:rPr>
              <a:t>NY-stock-plunder</a:t>
            </a:r>
            <a:r>
              <a:rPr lang="en-US" altLang="zh-TW" sz="2400" b="1">
                <a:solidFill>
                  <a:srgbClr val="0000FF"/>
                </a:solidFill>
              </a:rPr>
              <a:t>)</a:t>
            </a:r>
            <a:endParaRPr lang="en-US" altLang="zh-TW" sz="2400" b="1">
              <a:solidFill>
                <a:srgbClr val="0000FF"/>
              </a:solidFill>
              <a:latin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3. if I win the lottery, I will be happy forever. </a:t>
            </a:r>
            <a:endParaRPr lang="en-US" altLang="zh-TW" sz="2400">
              <a:solidFill>
                <a:srgbClr val="0000FF"/>
              </a:solidFill>
            </a:endParaRPr>
          </a:p>
          <a:p>
            <a:pPr algn="ct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</a:rPr>
              <a:t>(win-lottery 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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Wingdings 2" panose="05020102010507070707" pitchFamily="18" charset="2"/>
              </a:rPr>
              <a:t> happy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 b="1"/>
              <a:t>4.</a:t>
            </a:r>
            <a:r>
              <a:rPr lang="en-US" altLang="zh-TW" sz="2400" b="1">
                <a:solidFill>
                  <a:srgbClr val="0000FF"/>
                </a:solidFill>
              </a:rPr>
              <a:t> </a:t>
            </a:r>
            <a:r>
              <a:rPr lang="en-US" altLang="zh-TW" sz="2400"/>
              <a:t>In an execution state, if an interrupt occurs in the next cycle, the interrupt handler will execute at the 2nd next cycle.   </a:t>
            </a:r>
          </a:p>
          <a:p>
            <a:pPr algn="ct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</a:rPr>
              <a:t>(exec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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</a:rPr>
              <a:t>○</a:t>
            </a:r>
            <a:r>
              <a:rPr lang="en-US" altLang="zh-TW" sz="2400">
                <a:solidFill>
                  <a:srgbClr val="0000FF"/>
                </a:solidFill>
              </a:rPr>
              <a:t>(intrpt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  <a:sym typeface="Symbol" panose="05050102010706020507" pitchFamily="18" charset="2"/>
              </a:rPr>
              <a:t></a:t>
            </a:r>
            <a:r>
              <a:rPr lang="en-US" altLang="zh-TW" sz="2400">
                <a:solidFill>
                  <a:srgbClr val="0000FF"/>
                </a:solidFill>
                <a:latin typeface="MS LineDraw" pitchFamily="49" charset="2"/>
              </a:rPr>
              <a:t>○</a:t>
            </a:r>
            <a:r>
              <a:rPr lang="en-US" altLang="zh-TW" sz="2400">
                <a:solidFill>
                  <a:srgbClr val="0000FF"/>
                </a:solidFill>
              </a:rPr>
              <a:t>(intrpt-handler)))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88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88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88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88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88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88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88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88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4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投影片編號版面配置區 5">
            <a:extLst>
              <a:ext uri="{FF2B5EF4-FFF2-40B4-BE49-F238E27FC236}">
                <a16:creationId xmlns:a16="http://schemas.microsoft.com/office/drawing/2014/main" id="{9FA3D65C-08F5-4FEE-857C-4907E8F81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263DF-D3EE-4A24-B244-93E28E6CABC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184063EF-7550-4B31-9A6C-9A2227DB1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examples (III)</a:t>
            </a:r>
          </a:p>
        </p:txBody>
      </p:sp>
      <p:sp>
        <p:nvSpPr>
          <p:cNvPr id="180228" name="Text Box 3">
            <a:extLst>
              <a:ext uri="{FF2B5EF4-FFF2-40B4-BE49-F238E27FC236}">
                <a16:creationId xmlns:a16="http://schemas.microsoft.com/office/drawing/2014/main" id="{F631A695-75D5-4F06-BEB7-D7A1A5E8C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954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MS LineDraw" pitchFamily="49" charset="2"/>
            </a:endParaRPr>
          </a:p>
        </p:txBody>
      </p:sp>
      <p:sp>
        <p:nvSpPr>
          <p:cNvPr id="790532" name="Text Box 4">
            <a:extLst>
              <a:ext uri="{FF2B5EF4-FFF2-40B4-BE49-F238E27FC236}">
                <a16:creationId xmlns:a16="http://schemas.microsoft.com/office/drawing/2014/main" id="{818F3188-3C58-4A14-AB1C-9674359B5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51000"/>
            <a:ext cx="8991600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defTabSz="9572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57263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572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572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57263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In an execution state, if an interrupt occurs in the next cycle, the interrupt handler will execute at the 2nd next cycle.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8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rgbClr val="0000FF"/>
                </a:solidFill>
              </a:rPr>
              <a:t>(exec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</a:t>
            </a:r>
            <a:r>
              <a:rPr lang="en-US" altLang="zh-TW" sz="2800">
                <a:solidFill>
                  <a:srgbClr val="0000FF"/>
                </a:solidFill>
              </a:rPr>
              <a:t>○(intrpt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</a:t>
            </a:r>
            <a:r>
              <a:rPr lang="en-US" altLang="zh-TW" sz="2800">
                <a:solidFill>
                  <a:srgbClr val="0000FF"/>
                </a:solidFill>
              </a:rPr>
              <a:t>○(intrpt-handler)))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zh-TW" sz="2800">
              <a:latin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Some possible mistakes: </a:t>
            </a:r>
            <a:endParaRPr lang="en-US" altLang="zh-TW" sz="2800" b="1">
              <a:solidFill>
                <a:srgbClr val="0000FF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(</a:t>
            </a:r>
            <a:r>
              <a:rPr lang="en-US" altLang="zh-TW" sz="2800">
                <a:solidFill>
                  <a:srgbClr val="0000FF"/>
                </a:solidFill>
              </a:rPr>
              <a:t>exec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((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○ </a:t>
            </a:r>
            <a:r>
              <a:rPr lang="en-US" altLang="zh-TW" sz="2800">
                <a:solidFill>
                  <a:srgbClr val="0000FF"/>
                </a:solidFill>
              </a:rPr>
              <a:t>intrpt)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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○</a:t>
            </a:r>
            <a:r>
              <a:rPr lang="en-US" altLang="zh-TW" sz="2800">
                <a:solidFill>
                  <a:srgbClr val="0000FF"/>
                </a:solidFill>
              </a:rPr>
              <a:t>intrpt-handler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))</a:t>
            </a:r>
            <a:endParaRPr lang="en-US" altLang="zh-TW" sz="2800">
              <a:solidFill>
                <a:srgbClr val="0000FF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(</a:t>
            </a:r>
            <a:r>
              <a:rPr lang="en-US" altLang="zh-TW" sz="2800">
                <a:solidFill>
                  <a:srgbClr val="0000FF"/>
                </a:solidFill>
              </a:rPr>
              <a:t>exec</a:t>
            </a:r>
            <a:r>
              <a:rPr lang="en-US" altLang="zh-TW" sz="2800"/>
              <a:t> 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 ((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○ </a:t>
            </a:r>
            <a:r>
              <a:rPr lang="en-US" altLang="zh-TW" sz="2800">
                <a:solidFill>
                  <a:srgbClr val="0000FF"/>
                </a:solidFill>
              </a:rPr>
              <a:t>intrpt) 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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○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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○ </a:t>
            </a:r>
            <a:r>
              <a:rPr lang="en-US" altLang="zh-TW" sz="2800">
                <a:solidFill>
                  <a:srgbClr val="0000FF"/>
                </a:solidFill>
              </a:rPr>
              <a:t>intrpt-handler</a:t>
            </a:r>
            <a:r>
              <a:rPr lang="en-US" altLang="zh-TW" sz="2800">
                <a:solidFill>
                  <a:srgbClr val="0000FF"/>
                </a:solidFill>
                <a:latin typeface="Symbol" panose="05050102010706020507" pitchFamily="18" charset="2"/>
              </a:rPr>
              <a:t>))</a:t>
            </a:r>
            <a:endParaRPr lang="en-US" altLang="zh-TW" sz="2800">
              <a:latin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90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90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90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90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2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投影片編號版面配置區 5">
            <a:extLst>
              <a:ext uri="{FF2B5EF4-FFF2-40B4-BE49-F238E27FC236}">
                <a16:creationId xmlns:a16="http://schemas.microsoft.com/office/drawing/2014/main" id="{0EFF6D0D-C9E8-4F78-BD0A-254E97B57D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C9B181-B521-4B05-B9A2-1EF2C9A7FE2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0D944140-A585-47C3-A017-8FA663C80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examples (IIIa)</a:t>
            </a:r>
          </a:p>
        </p:txBody>
      </p:sp>
      <p:sp>
        <p:nvSpPr>
          <p:cNvPr id="182276" name="Text Box 3">
            <a:extLst>
              <a:ext uri="{FF2B5EF4-FFF2-40B4-BE49-F238E27FC236}">
                <a16:creationId xmlns:a16="http://schemas.microsoft.com/office/drawing/2014/main" id="{34A7730F-F44C-40DC-8E42-791559CFA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954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MS LineDraw" pitchFamily="49" charset="2"/>
            </a:endParaRPr>
          </a:p>
        </p:txBody>
      </p:sp>
      <p:sp>
        <p:nvSpPr>
          <p:cNvPr id="790532" name="Text Box 4">
            <a:extLst>
              <a:ext uri="{FF2B5EF4-FFF2-40B4-BE49-F238E27FC236}">
                <a16:creationId xmlns:a16="http://schemas.microsoft.com/office/drawing/2014/main" id="{20C7DDC2-1D52-46CB-953F-EC37F5209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51000"/>
            <a:ext cx="8991600" cy="29797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57200" indent="-457200" defTabSz="957263" eaLnBrk="1" hangingPunct="1">
              <a:defRPr/>
            </a:pPr>
            <a:r>
              <a:rPr lang="en-US" altLang="zh-TW" sz="2800" dirty="0"/>
              <a:t>Please draw a </a:t>
            </a:r>
            <a:r>
              <a:rPr lang="en-US" altLang="zh-TW" sz="2800" dirty="0" err="1"/>
              <a:t>Kripke</a:t>
            </a:r>
            <a:r>
              <a:rPr lang="en-US" altLang="zh-TW" sz="2800" dirty="0"/>
              <a:t> structure that tells </a:t>
            </a:r>
          </a:p>
          <a:p>
            <a:pPr marL="457200" indent="-457200" algn="ctr" defTabSz="957263" eaLnBrk="1" hangingPunct="1"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</a:t>
            </a:r>
            <a:r>
              <a:rPr lang="en-US" altLang="zh-TW" sz="2800" dirty="0">
                <a:solidFill>
                  <a:srgbClr val="0000FF"/>
                </a:solidFill>
              </a:rPr>
              <a:t>○(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</a:t>
            </a:r>
            <a:r>
              <a:rPr lang="en-US" altLang="zh-TW" sz="2800" dirty="0">
                <a:solidFill>
                  <a:srgbClr val="0000FF"/>
                </a:solidFill>
              </a:rPr>
              <a:t>○(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</a:rPr>
              <a:t>-handler))</a:t>
            </a:r>
          </a:p>
          <a:p>
            <a:pPr marL="457200" indent="-457200" defTabSz="9572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TW" sz="2800" dirty="0">
                <a:latin typeface="+mn-lt"/>
              </a:rPr>
              <a:t>from </a:t>
            </a:r>
          </a:p>
          <a:p>
            <a:pPr marL="457200" indent="-457200" algn="ctr" defTabSz="957263">
              <a:spcBef>
                <a:spcPct val="20000"/>
              </a:spcBef>
              <a:defRPr/>
            </a:pP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  <a:sym typeface="Symbol" pitchFamily="18" charset="2"/>
              </a:rPr>
              <a:t>(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</a:rPr>
              <a:t>○ 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</a:rPr>
              <a:t>)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  <a:sym typeface="Symbol" pitchFamily="18" charset="2"/>
              </a:rPr>
              <a:t>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</a:rPr>
              <a:t>○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</a:rPr>
              <a:t>-handler</a:t>
            </a:r>
            <a:endParaRPr lang="en-US" altLang="zh-TW" sz="2800" dirty="0">
              <a:solidFill>
                <a:srgbClr val="0000FF"/>
              </a:solidFill>
              <a:latin typeface="Symbol" pitchFamily="18" charset="2"/>
              <a:sym typeface="Symbol" pitchFamily="18" charset="2"/>
            </a:endParaRPr>
          </a:p>
          <a:p>
            <a:pPr marL="457200" indent="-457200" defTabSz="957263">
              <a:spcBef>
                <a:spcPct val="20000"/>
              </a:spcBef>
              <a:defRPr/>
            </a:pPr>
            <a:r>
              <a:rPr lang="en-US" altLang="zh-TW" sz="2800" dirty="0">
                <a:latin typeface="+mn-lt"/>
                <a:sym typeface="Symbol" pitchFamily="18" charset="2"/>
              </a:rPr>
              <a:t>and </a:t>
            </a:r>
          </a:p>
          <a:p>
            <a:pPr marL="457200" indent="-457200" algn="ctr" defTabSz="957263">
              <a:spcBef>
                <a:spcPct val="20000"/>
              </a:spcBef>
              <a:defRPr/>
            </a:pP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  <a:sym typeface="Symbol" pitchFamily="18" charset="2"/>
              </a:rPr>
              <a:t>(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</a:rPr>
              <a:t>○ 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</a:rPr>
              <a:t>) 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  <a:sym typeface="Symbol" pitchFamily="18" charset="2"/>
              </a:rPr>
              <a:t>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</a:rPr>
              <a:t>○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  <a:sym typeface="Symbol" pitchFamily="18" charset="2"/>
              </a:rPr>
              <a:t></a:t>
            </a:r>
            <a:r>
              <a:rPr lang="en-US" altLang="zh-TW" sz="2800" dirty="0">
                <a:solidFill>
                  <a:srgbClr val="0000FF"/>
                </a:solidFill>
                <a:latin typeface="Symbol" pitchFamily="18" charset="2"/>
              </a:rPr>
              <a:t>○ </a:t>
            </a:r>
            <a:r>
              <a:rPr lang="en-US" altLang="zh-TW" sz="2800" dirty="0" err="1">
                <a:solidFill>
                  <a:srgbClr val="0000FF"/>
                </a:solidFill>
              </a:rPr>
              <a:t>intrpt</a:t>
            </a:r>
            <a:r>
              <a:rPr lang="en-US" altLang="zh-TW" sz="2800" dirty="0">
                <a:solidFill>
                  <a:srgbClr val="0000FF"/>
                </a:solidFill>
              </a:rPr>
              <a:t>-handler</a:t>
            </a:r>
            <a:endParaRPr lang="en-US" altLang="zh-TW" sz="2800" dirty="0">
              <a:latin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90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90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90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90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90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2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標題 1">
            <a:extLst>
              <a:ext uri="{FF2B5EF4-FFF2-40B4-BE49-F238E27FC236}">
                <a16:creationId xmlns:a16="http://schemas.microsoft.com/office/drawing/2014/main" id="{D6F60C3E-EBE6-4BEE-BEA9-22C15515C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CTL</a:t>
            </a:r>
            <a:br>
              <a:rPr lang="en-US" altLang="zh-TW"/>
            </a:br>
            <a:r>
              <a:rPr lang="en-US" altLang="zh-TW"/>
              <a:t>- important classes</a:t>
            </a:r>
            <a:endParaRPr lang="zh-TW" altLang="en-US"/>
          </a:p>
        </p:txBody>
      </p:sp>
      <p:sp>
        <p:nvSpPr>
          <p:cNvPr id="184323" name="內容版面配置區 2">
            <a:extLst>
              <a:ext uri="{FF2B5EF4-FFF2-40B4-BE49-F238E27FC236}">
                <a16:creationId xmlns:a16="http://schemas.microsoft.com/office/drawing/2014/main" id="{4994759B-CF6A-49AE-AAEC-09D937426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sym typeface="Symbol" panose="05050102010706020507" pitchFamily="18" charset="2"/>
              </a:rPr>
              <a:t></a:t>
            </a:r>
            <a:r>
              <a:rPr lang="zh-TW" altLang="en-US">
                <a:sym typeface="Euclid Math One" pitchFamily="18" charset="2"/>
              </a:rPr>
              <a:t></a:t>
            </a:r>
            <a:r>
              <a:rPr lang="zh-TW" altLang="en-US">
                <a:sym typeface="Symbol" panose="05050102010706020507" pitchFamily="18" charset="2"/>
              </a:rPr>
              <a:t> </a:t>
            </a:r>
            <a:r>
              <a:rPr lang="en-US" altLang="zh-TW">
                <a:sym typeface="Symbol" panose="05050102010706020507" pitchFamily="18" charset="2"/>
              </a:rPr>
              <a:t>: safety properties</a:t>
            </a:r>
          </a:p>
          <a:p>
            <a:pPr lvl="1"/>
            <a:r>
              <a:rPr lang="zh-TW" altLang="en-US">
                <a:sym typeface="Symbol" panose="05050102010706020507" pitchFamily="18" charset="2"/>
              </a:rPr>
              <a:t> </a:t>
            </a:r>
            <a:r>
              <a:rPr lang="en-US" altLang="zh-TW">
                <a:sym typeface="Symbol" panose="05050102010706020507" pitchFamily="18" charset="2"/>
              </a:rPr>
              <a:t>is always true in all computations from now. </a:t>
            </a:r>
          </a:p>
          <a:p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ym typeface="Symbol" panose="05050102010706020507" pitchFamily="18" charset="2"/>
              </a:rPr>
              <a:t>:  reachability properties</a:t>
            </a:r>
          </a:p>
          <a:p>
            <a:pPr lvl="1"/>
            <a:r>
              <a:rPr lang="zh-TW" altLang="en-US">
                <a:sym typeface="Symbol" panose="05050102010706020507" pitchFamily="18" charset="2"/>
              </a:rPr>
              <a:t> </a:t>
            </a:r>
            <a:r>
              <a:rPr lang="en-US" altLang="zh-TW">
                <a:sym typeface="Symbol" panose="05050102010706020507" pitchFamily="18" charset="2"/>
              </a:rPr>
              <a:t>is eventually true in some computation from now.</a:t>
            </a:r>
          </a:p>
          <a:p>
            <a:pPr lvl="1"/>
            <a:r>
              <a:rPr lang="zh-TW" altLang="en-US">
                <a:sym typeface="Symbol" panose="05050102010706020507" pitchFamily="18" charset="2"/>
              </a:rPr>
              <a:t></a:t>
            </a:r>
            <a:r>
              <a:rPr lang="zh-TW" altLang="en-US">
                <a:sym typeface="Euclid Math One" pitchFamily="18" charset="2"/>
              </a:rPr>
              <a:t></a:t>
            </a:r>
            <a:r>
              <a:rPr lang="zh-TW" altLang="en-US">
                <a:sym typeface="Symbol" panose="05050102010706020507" pitchFamily="18" charset="2"/>
              </a:rPr>
              <a:t>  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ym typeface="Symbol" panose="05050102010706020507" pitchFamily="18" charset="2"/>
              </a:rPr>
              <a:t></a:t>
            </a:r>
          </a:p>
          <a:p>
            <a:r>
              <a:rPr lang="zh-TW" altLang="en-US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zh-TW" altLang="en-US">
                <a:sym typeface="Symbol" panose="05050102010706020507" pitchFamily="18" charset="2"/>
              </a:rPr>
              <a:t></a:t>
            </a:r>
            <a:r>
              <a:rPr lang="en-US" altLang="zh-TW">
                <a:sym typeface="Symbol" panose="05050102010706020507" pitchFamily="18" charset="2"/>
              </a:rPr>
              <a:t>: inevitabilities</a:t>
            </a:r>
          </a:p>
          <a:p>
            <a:pPr lvl="1"/>
            <a:r>
              <a:rPr lang="zh-TW" altLang="en-US">
                <a:sym typeface="Symbol" panose="05050102010706020507" pitchFamily="18" charset="2"/>
              </a:rPr>
              <a:t> </a:t>
            </a:r>
            <a:r>
              <a:rPr lang="en-US" altLang="zh-TW">
                <a:sym typeface="Symbol" panose="05050102010706020507" pitchFamily="18" charset="2"/>
              </a:rPr>
              <a:t>is eventually true in all computations from now. </a:t>
            </a:r>
          </a:p>
          <a:p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zh-TW" altLang="en-US">
                <a:sym typeface="Euclid Math One" pitchFamily="18" charset="2"/>
              </a:rPr>
              <a:t></a:t>
            </a:r>
            <a:r>
              <a:rPr lang="en-US" altLang="zh-TW">
                <a:sym typeface="Symbol" panose="05050102010706020507" pitchFamily="18" charset="2"/>
              </a:rPr>
              <a:t> </a:t>
            </a:r>
          </a:p>
          <a:p>
            <a:pPr lvl="1"/>
            <a:r>
              <a:rPr lang="zh-TW" altLang="en-US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00"/>
                </a:solidFill>
                <a:sym typeface="Wingdings 2" panose="05020102010507070707" pitchFamily="18" charset="2"/>
              </a:rPr>
              <a:t></a:t>
            </a:r>
            <a:r>
              <a:rPr lang="zh-TW" altLang="en-US">
                <a:sym typeface="Symbol" panose="05050102010706020507" pitchFamily="18" charset="2"/>
              </a:rPr>
              <a:t>  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zh-TW" altLang="en-US">
                <a:sym typeface="Euclid Math One" pitchFamily="18" charset="2"/>
              </a:rPr>
              <a:t>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</a:t>
            </a:r>
            <a:r>
              <a:rPr lang="en-US" altLang="zh-TW">
                <a:sym typeface="Symbol" panose="05050102010706020507" pitchFamily="18" charset="2"/>
              </a:rPr>
              <a:t></a:t>
            </a:r>
          </a:p>
        </p:txBody>
      </p:sp>
      <p:sp>
        <p:nvSpPr>
          <p:cNvPr id="184324" name="投影片編號版面配置區 3">
            <a:extLst>
              <a:ext uri="{FF2B5EF4-FFF2-40B4-BE49-F238E27FC236}">
                <a16:creationId xmlns:a16="http://schemas.microsoft.com/office/drawing/2014/main" id="{839E5FC2-4DC7-4D92-8771-5FC6B6019C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FBEFAF-8679-4853-A412-9EE84ACAAD8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投影片編號版面配置區 5">
            <a:extLst>
              <a:ext uri="{FF2B5EF4-FFF2-40B4-BE49-F238E27FC236}">
                <a16:creationId xmlns:a16="http://schemas.microsoft.com/office/drawing/2014/main" id="{B90D07DF-6402-4AE6-84E6-28B9671E3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7DCD12-97AC-4236-B5EC-708B9AE01C3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9E2E6CAE-4772-45DD-8D5E-D652211DC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</a:t>
            </a:r>
            <a:r>
              <a:rPr lang="en-US" altLang="zh-TW" sz="3400"/>
              <a:t>*</a:t>
            </a:r>
            <a:br>
              <a:rPr lang="en-US" altLang="zh-TW" sz="3400"/>
            </a:br>
            <a:r>
              <a:rPr lang="en-US" altLang="zh-TW" sz="3400"/>
              <a:t> - </a:t>
            </a:r>
            <a:r>
              <a:rPr lang="en-US" altLang="zh-TW"/>
              <a:t>syntax</a:t>
            </a:r>
          </a:p>
        </p:txBody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E74CF3FF-29D2-4D75-A53C-7E1A5695B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077200" cy="4876800"/>
          </a:xfrm>
        </p:spPr>
        <p:txBody>
          <a:bodyPr/>
          <a:lstStyle/>
          <a:p>
            <a:pPr eaLnBrk="1" hangingPunct="1"/>
            <a:r>
              <a:rPr lang="en-US" altLang="zh-TW" sz="3400">
                <a:solidFill>
                  <a:srgbClr val="0000FF"/>
                </a:solidFill>
              </a:rPr>
              <a:t>CTL*</a:t>
            </a:r>
            <a:r>
              <a:rPr lang="en-US" altLang="zh-TW"/>
              <a:t> fomula  ( state-fomula )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/>
              <a:t>::= true | p | </a:t>
            </a:r>
            <a:r>
              <a:rPr lang="en-US" altLang="zh-TW" sz="3000">
                <a:sym typeface="Symbol" panose="05050102010706020507" pitchFamily="18" charset="2"/>
              </a:rPr>
              <a:t>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 | 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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3000">
                <a:sym typeface="Symbol" panose="05050102010706020507" pitchFamily="18" charset="2"/>
              </a:rPr>
              <a:t> | 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>
                <a:sym typeface="Wingdings 2" panose="05020102010507070707" pitchFamily="18" charset="2"/>
              </a:rPr>
              <a:t> </a:t>
            </a:r>
            <a:r>
              <a:rPr lang="en-US" altLang="zh-TW" sz="3000">
                <a:sym typeface="Symbol" panose="05050102010706020507" pitchFamily="18" charset="2"/>
              </a:rPr>
              <a:t>| 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endParaRPr lang="en-US" altLang="zh-TW" sz="3000"/>
          </a:p>
          <a:p>
            <a:pPr eaLnBrk="1" hangingPunct="1"/>
            <a:r>
              <a:rPr lang="en-US" altLang="zh-TW"/>
              <a:t>path-fomula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/>
              <a:t> ::= 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>
                <a:sym typeface="Symbol" panose="05050102010706020507" pitchFamily="18" charset="2"/>
              </a:rPr>
              <a:t> | 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 |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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2</a:t>
            </a:r>
            <a:r>
              <a:rPr lang="en-US" altLang="zh-TW" sz="3000">
                <a:sym typeface="Symbol" panose="05050102010706020507" pitchFamily="18" charset="2"/>
              </a:rPr>
              <a:t> | </a:t>
            </a:r>
            <a:r>
              <a:rPr lang="en-US" altLang="zh-TW" sz="3000">
                <a:sym typeface="Wingdings 2" panose="05020102010507070707" pitchFamily="18" charset="2"/>
              </a:rPr>
              <a:t>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1 </a:t>
            </a:r>
            <a:r>
              <a:rPr lang="en-US" altLang="zh-TW" sz="3000">
                <a:sym typeface="Symbol" panose="05050102010706020507" pitchFamily="18" charset="2"/>
              </a:rPr>
              <a:t>| 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Wingdings 2" panose="05020102010507070707" pitchFamily="18" charset="2"/>
              </a:rPr>
              <a:t>1</a:t>
            </a:r>
            <a:r>
              <a:rPr lang="en-US" altLang="zh-TW" sz="3000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endParaRPr lang="en-US" altLang="zh-TW" sz="3000" baseline="-25000"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baseline="-25000"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400">
                <a:solidFill>
                  <a:srgbClr val="0000FF"/>
                </a:solidFill>
              </a:rPr>
              <a:t>CTL* is the set of all state-fomulas!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編號版面配置區 5">
            <a:extLst>
              <a:ext uri="{FF2B5EF4-FFF2-40B4-BE49-F238E27FC236}">
                <a16:creationId xmlns:a16="http://schemas.microsoft.com/office/drawing/2014/main" id="{C1CE0436-9A6B-426B-906E-973E8CCBDE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23A2A0-D453-4303-BF0E-2546641E5F6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D4CB873B-5199-41C1-9E5C-D73FF67ED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examples (1/4) </a:t>
            </a:r>
            <a:endParaRPr lang="en-US" altLang="zh-TW" sz="3000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82C1680-AA32-4B8A-8D28-52DFE33219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400"/>
              <a:t>In a fair concurrent environment, jobs will eventually finish.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40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</a:t>
            </a:r>
            <a:r>
              <a:rPr lang="en-US" altLang="zh-TW" b="1">
                <a:solidFill>
                  <a:srgbClr val="0000FF"/>
                </a:solidFill>
              </a:rPr>
              <a:t>((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</a:t>
            </a:r>
            <a:r>
              <a:rPr lang="en-US" altLang="zh-TW" b="1" i="1">
                <a:solidFill>
                  <a:srgbClr val="0000FF"/>
                </a:solidFill>
              </a:rPr>
              <a:t>execute</a:t>
            </a:r>
            <a:r>
              <a:rPr lang="en-US" altLang="zh-TW" b="1" i="1" baseline="-25000">
                <a:solidFill>
                  <a:srgbClr val="0000FF"/>
                </a:solidFill>
              </a:rPr>
              <a:t>1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</a:t>
            </a:r>
            <a:r>
              <a:rPr lang="en-US" altLang="zh-TW" b="1" i="1">
                <a:solidFill>
                  <a:srgbClr val="0000FF"/>
                </a:solidFill>
              </a:rPr>
              <a:t>execute</a:t>
            </a:r>
            <a:r>
              <a:rPr lang="en-US" altLang="zh-TW" b="1" i="1" baseline="-25000">
                <a:solidFill>
                  <a:srgbClr val="0000FF"/>
                </a:solidFill>
              </a:rPr>
              <a:t>2</a:t>
            </a:r>
            <a:r>
              <a:rPr lang="en-US" altLang="zh-TW" b="1">
                <a:solidFill>
                  <a:srgbClr val="0000FF"/>
                </a:solidFill>
              </a:rPr>
              <a:t>))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finish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/>
              <a:t>or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</a:t>
            </a:r>
            <a:r>
              <a:rPr lang="en-US" altLang="zh-TW" b="1">
                <a:solidFill>
                  <a:srgbClr val="0000FF"/>
                </a:solidFill>
              </a:rPr>
              <a:t>((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olidFill>
                  <a:srgbClr val="0000FF"/>
                </a:solidFill>
                <a:sym typeface="Symbol" panose="05050102010706020507" pitchFamily="18" charset="2"/>
              </a:rPr>
              <a:t></a:t>
            </a:r>
            <a:r>
              <a:rPr lang="en-US" altLang="zh-TW" b="1" i="1">
                <a:solidFill>
                  <a:srgbClr val="0000FF"/>
                </a:solidFill>
              </a:rPr>
              <a:t>execute</a:t>
            </a:r>
            <a:r>
              <a:rPr lang="en-US" altLang="zh-TW" b="1" i="1" baseline="-25000">
                <a:solidFill>
                  <a:srgbClr val="0000FF"/>
                </a:solidFill>
              </a:rPr>
              <a:t>1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olidFill>
                  <a:srgbClr val="0000FF"/>
                </a:solidFill>
                <a:sym typeface="Symbol" panose="05050102010706020507" pitchFamily="18" charset="2"/>
              </a:rPr>
              <a:t></a:t>
            </a:r>
            <a:r>
              <a:rPr lang="en-US" altLang="zh-TW" b="1" i="1">
                <a:solidFill>
                  <a:srgbClr val="0000FF"/>
                </a:solidFill>
              </a:rPr>
              <a:t>execute</a:t>
            </a:r>
            <a:r>
              <a:rPr lang="en-US" altLang="zh-TW" b="1" i="1" baseline="-25000">
                <a:solidFill>
                  <a:srgbClr val="0000FF"/>
                </a:solidFill>
              </a:rPr>
              <a:t>2</a:t>
            </a:r>
            <a:r>
              <a:rPr lang="en-US" altLang="zh-TW" b="1">
                <a:solidFill>
                  <a:srgbClr val="0000FF"/>
                </a:solidFill>
              </a:rPr>
              <a:t>))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finish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endParaRPr lang="en-US" altLang="zh-TW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投影片編號版面配置區 5">
            <a:extLst>
              <a:ext uri="{FF2B5EF4-FFF2-40B4-BE49-F238E27FC236}">
                <a16:creationId xmlns:a16="http://schemas.microsoft.com/office/drawing/2014/main" id="{8A4A1C3D-54B2-43C4-9BE2-C2DCD690B9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E74FED-8AF9-4B73-86C8-F2AAEC54E09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FC10EEBF-909E-49DE-B2E7-49BA9660C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200">
                <a:solidFill>
                  <a:schemeClr val="tx2"/>
                </a:solidFill>
                <a:latin typeface="Garamond" panose="02020404030301010803" pitchFamily="18" charset="0"/>
              </a:rPr>
              <a:t>CTL*</a:t>
            </a:r>
            <a:br>
              <a:rPr lang="en-US" altLang="zh-TW" sz="420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altLang="zh-TW" sz="4200">
                <a:solidFill>
                  <a:schemeClr val="tx2"/>
                </a:solidFill>
                <a:latin typeface="Garamond" panose="02020404030301010803" pitchFamily="18" charset="0"/>
              </a:rPr>
              <a:t> - semantics </a:t>
            </a:r>
          </a:p>
        </p:txBody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7331BAC6-E602-4825-B2BA-5002F89FC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0200"/>
            <a:ext cx="411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rgbClr val="0000FF"/>
                </a:solidFill>
              </a:rPr>
              <a:t>suffix path :</a:t>
            </a:r>
            <a:endParaRPr lang="en-US" altLang="zh-TW"/>
          </a:p>
        </p:txBody>
      </p:sp>
      <p:sp>
        <p:nvSpPr>
          <p:cNvPr id="190469" name="Line 4">
            <a:extLst>
              <a:ext uri="{FF2B5EF4-FFF2-40B4-BE49-F238E27FC236}">
                <a16:creationId xmlns:a16="http://schemas.microsoft.com/office/drawing/2014/main" id="{3DA75587-F82B-4AE9-AA3E-4B9B924FAE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0650" y="14414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0" name="Line 5">
            <a:extLst>
              <a:ext uri="{FF2B5EF4-FFF2-40B4-BE49-F238E27FC236}">
                <a16:creationId xmlns:a16="http://schemas.microsoft.com/office/drawing/2014/main" id="{15E9E7E8-5A38-47E3-BF29-A269DAF66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0" y="144145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1" name="Line 6">
            <a:extLst>
              <a:ext uri="{FF2B5EF4-FFF2-40B4-BE49-F238E27FC236}">
                <a16:creationId xmlns:a16="http://schemas.microsoft.com/office/drawing/2014/main" id="{F8A96FE2-FE9A-41A0-A980-9374A937D6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2362200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2" name="Line 7">
            <a:extLst>
              <a:ext uri="{FF2B5EF4-FFF2-40B4-BE49-F238E27FC236}">
                <a16:creationId xmlns:a16="http://schemas.microsoft.com/office/drawing/2014/main" id="{64ED0B84-F2A5-461C-B132-F97466A83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362200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3" name="Line 8">
            <a:extLst>
              <a:ext uri="{FF2B5EF4-FFF2-40B4-BE49-F238E27FC236}">
                <a16:creationId xmlns:a16="http://schemas.microsoft.com/office/drawing/2014/main" id="{09D19771-3BB2-4803-B45B-2D0A09CCE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362200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4" name="Line 9">
            <a:extLst>
              <a:ext uri="{FF2B5EF4-FFF2-40B4-BE49-F238E27FC236}">
                <a16:creationId xmlns:a16="http://schemas.microsoft.com/office/drawing/2014/main" id="{23684764-DB6D-483D-932E-68D13CFA72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352800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5" name="Line 10">
            <a:extLst>
              <a:ext uri="{FF2B5EF4-FFF2-40B4-BE49-F238E27FC236}">
                <a16:creationId xmlns:a16="http://schemas.microsoft.com/office/drawing/2014/main" id="{BBE8A2E2-6F59-4A4B-8B35-AE957B7333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4290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6" name="Line 11">
            <a:extLst>
              <a:ext uri="{FF2B5EF4-FFF2-40B4-BE49-F238E27FC236}">
                <a16:creationId xmlns:a16="http://schemas.microsoft.com/office/drawing/2014/main" id="{22CF4395-CB1C-4FF4-B8C0-68BBC0A98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429000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7" name="Line 12">
            <a:extLst>
              <a:ext uri="{FF2B5EF4-FFF2-40B4-BE49-F238E27FC236}">
                <a16:creationId xmlns:a16="http://schemas.microsoft.com/office/drawing/2014/main" id="{0BC96AA7-3DB3-49A0-909F-3FE2CE6D0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429000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78" name="Oval 13">
            <a:extLst>
              <a:ext uri="{FF2B5EF4-FFF2-40B4-BE49-F238E27FC236}">
                <a16:creationId xmlns:a16="http://schemas.microsoft.com/office/drawing/2014/main" id="{A5E26A0D-D47A-42B5-B463-626F259E5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9906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79" name="Oval 14">
            <a:extLst>
              <a:ext uri="{FF2B5EF4-FFF2-40B4-BE49-F238E27FC236}">
                <a16:creationId xmlns:a16="http://schemas.microsoft.com/office/drawing/2014/main" id="{1C373C03-35C4-4550-9AF0-72F536054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9718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0" name="Oval 15">
            <a:extLst>
              <a:ext uri="{FF2B5EF4-FFF2-40B4-BE49-F238E27FC236}">
                <a16:creationId xmlns:a16="http://schemas.microsoft.com/office/drawing/2014/main" id="{352537C4-BDBD-4769-A489-B86C81CD6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905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1" name="Oval 16">
            <a:extLst>
              <a:ext uri="{FF2B5EF4-FFF2-40B4-BE49-F238E27FC236}">
                <a16:creationId xmlns:a16="http://schemas.microsoft.com/office/drawing/2014/main" id="{9F58D523-9989-4789-9D41-CD646C718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6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2" name="Oval 17">
            <a:extLst>
              <a:ext uri="{FF2B5EF4-FFF2-40B4-BE49-F238E27FC236}">
                <a16:creationId xmlns:a16="http://schemas.microsoft.com/office/drawing/2014/main" id="{E4D53B17-4352-4673-94AB-FA079B34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3" name="Oval 18">
            <a:extLst>
              <a:ext uri="{FF2B5EF4-FFF2-40B4-BE49-F238E27FC236}">
                <a16:creationId xmlns:a16="http://schemas.microsoft.com/office/drawing/2014/main" id="{699E728E-BD09-4290-AED7-49D2E0D51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905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4" name="Oval 19">
            <a:extLst>
              <a:ext uri="{FF2B5EF4-FFF2-40B4-BE49-F238E27FC236}">
                <a16:creationId xmlns:a16="http://schemas.microsoft.com/office/drawing/2014/main" id="{362B7DB8-85BE-4030-91D7-3C3304924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10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5" name="Oval 20">
            <a:extLst>
              <a:ext uri="{FF2B5EF4-FFF2-40B4-BE49-F238E27FC236}">
                <a16:creationId xmlns:a16="http://schemas.microsoft.com/office/drawing/2014/main" id="{DBC510F2-4DF0-4CF3-ADB7-3D0093B87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8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6" name="Oval 21">
            <a:extLst>
              <a:ext uri="{FF2B5EF4-FFF2-40B4-BE49-F238E27FC236}">
                <a16:creationId xmlns:a16="http://schemas.microsoft.com/office/drawing/2014/main" id="{B7780B4D-7C2E-4C4B-97F8-BD65199F8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886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7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7" name="Oval 22">
            <a:extLst>
              <a:ext uri="{FF2B5EF4-FFF2-40B4-BE49-F238E27FC236}">
                <a16:creationId xmlns:a16="http://schemas.microsoft.com/office/drawing/2014/main" id="{EDC5ACED-7136-47DF-B075-59A4416FF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8862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9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8" name="Oval 23">
            <a:extLst>
              <a:ext uri="{FF2B5EF4-FFF2-40B4-BE49-F238E27FC236}">
                <a16:creationId xmlns:a16="http://schemas.microsoft.com/office/drawing/2014/main" id="{AA78F3DC-7895-402D-8AD4-F87A8F71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962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89" name="Oval 24">
            <a:extLst>
              <a:ext uri="{FF2B5EF4-FFF2-40B4-BE49-F238E27FC236}">
                <a16:creationId xmlns:a16="http://schemas.microsoft.com/office/drawing/2014/main" id="{72B55461-373A-41CC-9338-3654B892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90" name="Oval 25">
            <a:extLst>
              <a:ext uri="{FF2B5EF4-FFF2-40B4-BE49-F238E27FC236}">
                <a16:creationId xmlns:a16="http://schemas.microsoft.com/office/drawing/2014/main" id="{B736E6A3-C3E1-406B-8AC7-9B012628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4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91" name="Oval 26">
            <a:extLst>
              <a:ext uri="{FF2B5EF4-FFF2-40B4-BE49-F238E27FC236}">
                <a16:creationId xmlns:a16="http://schemas.microsoft.com/office/drawing/2014/main" id="{AD2A070B-72BE-4302-B8A8-E2EC4B684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9624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3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92" name="Oval 27">
            <a:extLst>
              <a:ext uri="{FF2B5EF4-FFF2-40B4-BE49-F238E27FC236}">
                <a16:creationId xmlns:a16="http://schemas.microsoft.com/office/drawing/2014/main" id="{B5A9E950-C01B-4081-8093-7EEDF0085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956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93" name="Oval 28">
            <a:extLst>
              <a:ext uri="{FF2B5EF4-FFF2-40B4-BE49-F238E27FC236}">
                <a16:creationId xmlns:a16="http://schemas.microsoft.com/office/drawing/2014/main" id="{A4D53BD9-FAA1-4F48-977A-5C7055FAF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953000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400" i="1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15</a:t>
            </a:r>
            <a:endParaRPr lang="en-US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494" name="Line 29">
            <a:extLst>
              <a:ext uri="{FF2B5EF4-FFF2-40B4-BE49-F238E27FC236}">
                <a16:creationId xmlns:a16="http://schemas.microsoft.com/office/drawing/2014/main" id="{5040571F-B824-4ADC-9C36-F4806C5707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419600"/>
            <a:ext cx="2286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95" name="Line 30">
            <a:extLst>
              <a:ext uri="{FF2B5EF4-FFF2-40B4-BE49-F238E27FC236}">
                <a16:creationId xmlns:a16="http://schemas.microsoft.com/office/drawing/2014/main" id="{B45FB20C-BB6B-4224-94CA-8BE1F3127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19600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96" name="Line 31">
            <a:extLst>
              <a:ext uri="{FF2B5EF4-FFF2-40B4-BE49-F238E27FC236}">
                <a16:creationId xmlns:a16="http://schemas.microsoft.com/office/drawing/2014/main" id="{BD2B9D9B-6342-469F-AEE9-4F0B4BF12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419600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97" name="Line 32">
            <a:extLst>
              <a:ext uri="{FF2B5EF4-FFF2-40B4-BE49-F238E27FC236}">
                <a16:creationId xmlns:a16="http://schemas.microsoft.com/office/drawing/2014/main" id="{CFDAF103-C130-4F3C-82BF-81FC887AF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43434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98" name="Line 33">
            <a:extLst>
              <a:ext uri="{FF2B5EF4-FFF2-40B4-BE49-F238E27FC236}">
                <a16:creationId xmlns:a16="http://schemas.microsoft.com/office/drawing/2014/main" id="{22D12C52-6020-4672-9F83-3F26B9B8C3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4419600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499" name="Line 34">
            <a:extLst>
              <a:ext uri="{FF2B5EF4-FFF2-40B4-BE49-F238E27FC236}">
                <a16:creationId xmlns:a16="http://schemas.microsoft.com/office/drawing/2014/main" id="{28707136-2088-4FAD-8FF7-8CE49E411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19600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0" name="Line 35">
            <a:extLst>
              <a:ext uri="{FF2B5EF4-FFF2-40B4-BE49-F238E27FC236}">
                <a16:creationId xmlns:a16="http://schemas.microsoft.com/office/drawing/2014/main" id="{1C49C10B-9AA5-4091-BA8F-0DAD62865A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5410200"/>
            <a:ext cx="3048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1" name="Line 36">
            <a:extLst>
              <a:ext uri="{FF2B5EF4-FFF2-40B4-BE49-F238E27FC236}">
                <a16:creationId xmlns:a16="http://schemas.microsoft.com/office/drawing/2014/main" id="{E3C5C92C-833C-4666-9E85-A62E57D4E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410200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2" name="Line 37">
            <a:extLst>
              <a:ext uri="{FF2B5EF4-FFF2-40B4-BE49-F238E27FC236}">
                <a16:creationId xmlns:a16="http://schemas.microsoft.com/office/drawing/2014/main" id="{C45363F3-3886-4B40-A13A-852BA6BD9F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5410200"/>
            <a:ext cx="3810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3" name="Line 38">
            <a:extLst>
              <a:ext uri="{FF2B5EF4-FFF2-40B4-BE49-F238E27FC236}">
                <a16:creationId xmlns:a16="http://schemas.microsoft.com/office/drawing/2014/main" id="{91A56D13-B367-47E2-AA50-6F043CD58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4102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4" name="Line 39">
            <a:extLst>
              <a:ext uri="{FF2B5EF4-FFF2-40B4-BE49-F238E27FC236}">
                <a16:creationId xmlns:a16="http://schemas.microsoft.com/office/drawing/2014/main" id="{1FCE2436-EB92-4964-8038-DEF72747E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410200"/>
            <a:ext cx="2286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5" name="Line 40">
            <a:extLst>
              <a:ext uri="{FF2B5EF4-FFF2-40B4-BE49-F238E27FC236}">
                <a16:creationId xmlns:a16="http://schemas.microsoft.com/office/drawing/2014/main" id="{8C4D1234-015A-4556-8527-0C60FA91F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410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6" name="Line 41">
            <a:extLst>
              <a:ext uri="{FF2B5EF4-FFF2-40B4-BE49-F238E27FC236}">
                <a16:creationId xmlns:a16="http://schemas.microsoft.com/office/drawing/2014/main" id="{2E412371-50C4-4357-A36C-287F300D29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5410200"/>
            <a:ext cx="3810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7" name="Line 42">
            <a:extLst>
              <a:ext uri="{FF2B5EF4-FFF2-40B4-BE49-F238E27FC236}">
                <a16:creationId xmlns:a16="http://schemas.microsoft.com/office/drawing/2014/main" id="{C4DB754D-F899-4BB0-AA0C-7CDC698CD4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541020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8" name="Line 43">
            <a:extLst>
              <a:ext uri="{FF2B5EF4-FFF2-40B4-BE49-F238E27FC236}">
                <a16:creationId xmlns:a16="http://schemas.microsoft.com/office/drawing/2014/main" id="{6188F963-D73B-4125-AC87-EB60D1B58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410200"/>
            <a:ext cx="1524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09" name="Line 44">
            <a:extLst>
              <a:ext uri="{FF2B5EF4-FFF2-40B4-BE49-F238E27FC236}">
                <a16:creationId xmlns:a16="http://schemas.microsoft.com/office/drawing/2014/main" id="{4EE2A7AB-F547-4B68-9D7D-9EADA9CD4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10" name="Line 45">
            <a:extLst>
              <a:ext uri="{FF2B5EF4-FFF2-40B4-BE49-F238E27FC236}">
                <a16:creationId xmlns:a16="http://schemas.microsoft.com/office/drawing/2014/main" id="{B04EE283-88C5-4ABD-A8B1-4961EEE31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5410200"/>
            <a:ext cx="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11" name="Line 46">
            <a:extLst>
              <a:ext uri="{FF2B5EF4-FFF2-40B4-BE49-F238E27FC236}">
                <a16:creationId xmlns:a16="http://schemas.microsoft.com/office/drawing/2014/main" id="{F40B2C6D-199C-4823-8792-629DFABE7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12" name="Line 47">
            <a:extLst>
              <a:ext uri="{FF2B5EF4-FFF2-40B4-BE49-F238E27FC236}">
                <a16:creationId xmlns:a16="http://schemas.microsoft.com/office/drawing/2014/main" id="{56644DE8-97A8-42A4-9D47-571E44DA4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410200"/>
            <a:ext cx="304800" cy="685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13" name="Text Box 48">
            <a:extLst>
              <a:ext uri="{FF2B5EF4-FFF2-40B4-BE49-F238E27FC236}">
                <a16:creationId xmlns:a16="http://schemas.microsoft.com/office/drawing/2014/main" id="{3E8B6984-8E1B-45DC-BDF5-797438C31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09800"/>
            <a:ext cx="4191000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  <a:endParaRPr lang="en-US" altLang="zh-TW" sz="3200" i="1">
              <a:latin typeface="Times New Roman" panose="02020603050405020304" pitchFamily="18" charset="0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(0)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(1)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(2)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(3)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(4)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7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8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(2) 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6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8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………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S=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11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12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…...... </a:t>
            </a:r>
          </a:p>
          <a:p>
            <a:pPr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i="1">
                <a:latin typeface="Times New Roman" panose="02020603050405020304" pitchFamily="18" charset="0"/>
              </a:rPr>
              <a:t>   S</a:t>
            </a:r>
            <a:r>
              <a:rPr lang="en-US" altLang="zh-TW" sz="3200" baseline="30000">
                <a:latin typeface="Times New Roman" panose="02020603050405020304" pitchFamily="18" charset="0"/>
              </a:rPr>
              <a:t>(3) </a:t>
            </a:r>
            <a:r>
              <a:rPr lang="en-US" altLang="zh-TW" sz="3200" i="1">
                <a:latin typeface="Times New Roman" panose="02020603050405020304" pitchFamily="18" charset="0"/>
              </a:rPr>
              <a:t>=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13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3200" i="1" baseline="-25000">
                <a:solidFill>
                  <a:srgbClr val="00FF00"/>
                </a:solidFill>
                <a:latin typeface="Times New Roman" panose="02020603050405020304" pitchFamily="18" charset="0"/>
              </a:rPr>
              <a:t>15 </a:t>
            </a:r>
            <a:r>
              <a:rPr lang="en-US" altLang="zh-TW" sz="3200" i="1">
                <a:solidFill>
                  <a:srgbClr val="00FF00"/>
                </a:solidFill>
                <a:latin typeface="Times New Roman" panose="02020603050405020304" pitchFamily="18" charset="0"/>
              </a:rPr>
              <a:t>……...…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投影片編號版面配置區 5">
            <a:extLst>
              <a:ext uri="{FF2B5EF4-FFF2-40B4-BE49-F238E27FC236}">
                <a16:creationId xmlns:a16="http://schemas.microsoft.com/office/drawing/2014/main" id="{DA2EF73D-BC48-4125-9692-2D9EB46605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14DCCC-B932-452A-9F05-122F2A82C0A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FCCFFBB8-D446-4DDD-8D99-09B132186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083D937A-3698-4A7D-909C-5DCA0B655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i="1"/>
              <a:t>state-</a:t>
            </a:r>
            <a:r>
              <a:rPr lang="en-US" altLang="zh-TW"/>
              <a:t>fomula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/>
              <a:t>::= true | p | </a:t>
            </a:r>
            <a:r>
              <a:rPr lang="en-US" altLang="zh-TW" sz="3000">
                <a:sym typeface="Symbol" panose="05050102010706020507" pitchFamily="18" charset="2"/>
              </a:rPr>
              <a:t>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 | 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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3000">
                <a:sym typeface="Symbol" panose="05050102010706020507" pitchFamily="18" charset="2"/>
              </a:rPr>
              <a:t> | 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>
                <a:sym typeface="Wingdings 2" panose="05020102010507070707" pitchFamily="18" charset="2"/>
              </a:rPr>
              <a:t> </a:t>
            </a:r>
            <a:r>
              <a:rPr lang="en-US" altLang="zh-TW" sz="3000">
                <a:sym typeface="Symbol" panose="05050102010706020507" pitchFamily="18" charset="2"/>
              </a:rPr>
              <a:t>| 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endParaRPr lang="en-US" altLang="zh-TW" sz="3000"/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/>
              <a:t>true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/>
              <a:t>p 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 p </a:t>
            </a:r>
            <a:r>
              <a:rPr lang="en-US" altLang="zh-TW">
                <a:sym typeface="Symbol" panose="05050102010706020507" pitchFamily="18" charset="2"/>
              </a:rPr>
              <a:t></a:t>
            </a:r>
            <a:r>
              <a:rPr lang="en-US" altLang="zh-TW"/>
              <a:t>s</a:t>
            </a:r>
            <a:endParaRPr lang="en-US" altLang="zh-TW" baseline="-25000"/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/>
              <a:t>φ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/>
              <a:t>φ </a:t>
            </a:r>
            <a:r>
              <a:rPr lang="zh-TW" altLang="en-US"/>
              <a:t>是</a:t>
            </a:r>
            <a:r>
              <a:rPr lang="en-US" altLang="zh-TW"/>
              <a:t>false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/>
              <a:t> φ</a:t>
            </a:r>
            <a:r>
              <a:rPr lang="en-US" altLang="zh-TW" baseline="-25000">
                <a:sym typeface="Symbol" panose="05050102010706020507" pitchFamily="18" charset="2"/>
              </a:rPr>
              <a:t>1</a:t>
            </a:r>
            <a:r>
              <a:rPr lang="en-US" altLang="zh-TW">
                <a:sym typeface="Symbol" panose="05050102010706020507" pitchFamily="18" charset="2"/>
              </a:rPr>
              <a:t></a:t>
            </a:r>
            <a:r>
              <a:rPr lang="en-US" altLang="zh-TW"/>
              <a:t>φ</a:t>
            </a:r>
            <a:r>
              <a:rPr lang="en-US" altLang="zh-TW" baseline="-25000">
                <a:sym typeface="Symbol" panose="05050102010706020507" pitchFamily="18" charset="2"/>
              </a:rPr>
              <a:t>2 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/>
              <a:t>φ</a:t>
            </a:r>
            <a:r>
              <a:rPr lang="en-US" altLang="zh-TW" baseline="-25000">
                <a:sym typeface="Symbol" panose="05050102010706020507" pitchFamily="18" charset="2"/>
              </a:rPr>
              <a:t>1</a:t>
            </a:r>
            <a:r>
              <a:rPr lang="en-US" altLang="zh-TW">
                <a:sym typeface="Symbol" panose="05050102010706020507" pitchFamily="18" charset="2"/>
              </a:rPr>
              <a:t> or</a:t>
            </a:r>
            <a:r>
              <a:rPr lang="en-US" altLang="zh-TW" baseline="-25000">
                <a:sym typeface="Symbol" panose="05050102010706020507" pitchFamily="18" charset="2"/>
              </a:rPr>
              <a:t> </a:t>
            </a: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/>
              <a:t>φ</a:t>
            </a:r>
            <a:r>
              <a:rPr lang="en-US" altLang="zh-TW" baseline="-25000">
                <a:sym typeface="Symbol" panose="05050102010706020507" pitchFamily="18" charset="2"/>
              </a:rPr>
              <a:t>2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>
                <a:sym typeface="Wingdings 2" panose="050201020105070707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/>
              <a:t> s-path = S (S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/>
              <a:t>)</a:t>
            </a:r>
            <a:endParaRPr lang="en-US" altLang="zh-TW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M,s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>
                <a:sym typeface="Wingdings 2" panose="050201020105070707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/>
              <a:t> s-path = S (S</a:t>
            </a:r>
            <a:r>
              <a:rPr lang="en-US" altLang="zh-TW" baseline="-25000"/>
              <a:t>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/>
              <a:t>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投影片編號版面配置區 5">
            <a:extLst>
              <a:ext uri="{FF2B5EF4-FFF2-40B4-BE49-F238E27FC236}">
                <a16:creationId xmlns:a16="http://schemas.microsoft.com/office/drawing/2014/main" id="{86B767B1-EA3C-4EBA-9BC7-46248E1D56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B3AF79-5BAE-4EF6-B9DB-E4060249563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94563" name="Rectangle 2">
            <a:extLst>
              <a:ext uri="{FF2B5EF4-FFF2-40B4-BE49-F238E27FC236}">
                <a16:creationId xmlns:a16="http://schemas.microsoft.com/office/drawing/2014/main" id="{82037077-4CF2-4F73-BDB6-FED230DA7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semantics</a:t>
            </a:r>
          </a:p>
        </p:txBody>
      </p:sp>
      <p:sp>
        <p:nvSpPr>
          <p:cNvPr id="194564" name="Rectangle 3">
            <a:extLst>
              <a:ext uri="{FF2B5EF4-FFF2-40B4-BE49-F238E27FC236}">
                <a16:creationId xmlns:a16="http://schemas.microsoft.com/office/drawing/2014/main" id="{59A8AFFD-AF04-46D3-8817-1BCC04184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/>
              <a:t>path</a:t>
            </a:r>
            <a:r>
              <a:rPr lang="en-US" altLang="zh-TW"/>
              <a:t>-fomula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/>
              <a:t> ::= </a:t>
            </a:r>
            <a:r>
              <a:rPr lang="en-US" altLang="zh-TW" sz="3000">
                <a:solidFill>
                  <a:srgbClr val="0000FF"/>
                </a:solidFill>
              </a:rPr>
              <a:t>φ</a:t>
            </a:r>
            <a:r>
              <a:rPr lang="en-US" altLang="zh-TW" sz="3000">
                <a:sym typeface="Symbol" panose="05050102010706020507" pitchFamily="18" charset="2"/>
              </a:rPr>
              <a:t> | 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 |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 sz="3000">
                <a:sym typeface="Symbol" panose="05050102010706020507" pitchFamily="18" charset="2"/>
              </a:rPr>
              <a:t>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Symbol" panose="05050102010706020507" pitchFamily="18" charset="2"/>
              </a:rPr>
              <a:t>2</a:t>
            </a:r>
            <a:r>
              <a:rPr lang="en-US" altLang="zh-TW" sz="3000">
                <a:sym typeface="Wingdings 2" panose="05020102010507070707" pitchFamily="18" charset="2"/>
              </a:rPr>
              <a:t> </a:t>
            </a:r>
            <a:r>
              <a:rPr lang="en-US" altLang="zh-TW" sz="3000">
                <a:sym typeface="Symbol" panose="05050102010706020507" pitchFamily="18" charset="2"/>
              </a:rPr>
              <a:t>| </a:t>
            </a:r>
            <a:r>
              <a:rPr lang="en-US" altLang="zh-TW" sz="3000">
                <a:sym typeface="Wingdings 2" panose="05020102010507070707" pitchFamily="18" charset="2"/>
              </a:rPr>
              <a:t>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>
                <a:sym typeface="Wingdings 2" panose="05020102010507070707" pitchFamily="18" charset="2"/>
              </a:rPr>
              <a:t> </a:t>
            </a:r>
            <a:r>
              <a:rPr lang="en-US" altLang="zh-TW" sz="3000">
                <a:sym typeface="Symbol" panose="05050102010706020507" pitchFamily="18" charset="2"/>
              </a:rPr>
              <a:t>| 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sym typeface="Wingdings 2" panose="05020102010507070707" pitchFamily="18" charset="2"/>
              </a:rPr>
              <a:t>1</a:t>
            </a:r>
            <a:r>
              <a:rPr lang="en-US" altLang="zh-TW" sz="3000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3000">
                <a:solidFill>
                  <a:srgbClr val="00FF00"/>
                </a:solidFill>
              </a:rPr>
              <a:t>ψ</a:t>
            </a:r>
            <a:r>
              <a:rPr lang="en-US" altLang="zh-TW" sz="3000" baseline="-25000">
                <a:solidFill>
                  <a:srgbClr val="00FF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endParaRPr lang="en-US" altLang="zh-TW" sz="3000" baseline="-25000"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i="1"/>
              <a:t>If S= s</a:t>
            </a:r>
            <a:r>
              <a:rPr lang="en-US" altLang="zh-TW" i="1" baseline="-25000"/>
              <a:t>0 </a:t>
            </a:r>
            <a:r>
              <a:rPr lang="en-US" altLang="zh-TW" i="1"/>
              <a:t>s</a:t>
            </a:r>
            <a:r>
              <a:rPr lang="en-US" altLang="zh-TW" i="1" baseline="-25000"/>
              <a:t>1 </a:t>
            </a:r>
            <a:r>
              <a:rPr lang="en-US" altLang="zh-TW" i="1"/>
              <a:t>s</a:t>
            </a:r>
            <a:r>
              <a:rPr lang="en-US" altLang="zh-TW" i="1" baseline="-25000"/>
              <a:t>2 </a:t>
            </a:r>
            <a:r>
              <a:rPr lang="en-US" altLang="zh-TW" i="1"/>
              <a:t>s</a:t>
            </a:r>
            <a:r>
              <a:rPr lang="en-US" altLang="zh-TW" i="1" baseline="-25000"/>
              <a:t>3 </a:t>
            </a:r>
            <a:r>
              <a:rPr lang="en-US" altLang="zh-TW" i="1"/>
              <a:t>s</a:t>
            </a:r>
            <a:r>
              <a:rPr lang="en-US" altLang="zh-TW" i="1" baseline="-25000"/>
              <a:t>4 </a:t>
            </a:r>
            <a:r>
              <a:rPr lang="en-US" altLang="zh-TW" i="1"/>
              <a:t>…...…,S</a:t>
            </a:r>
            <a:r>
              <a:rPr lang="en-US" altLang="zh-TW" i="1">
                <a:solidFill>
                  <a:srgbClr val="00FF00"/>
                </a:solidFill>
              </a:rPr>
              <a:t> </a:t>
            </a:r>
            <a:r>
              <a:rPr lang="en-US" altLang="zh-TW" i="1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i="1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i="1">
                <a:solidFill>
                  <a:srgbClr val="0000FF"/>
                </a:solidFill>
              </a:rPr>
              <a:t>φ </a:t>
            </a:r>
            <a:r>
              <a:rPr lang="en-US" altLang="zh-TW" i="1">
                <a:sym typeface="Symbol" panose="05050102010706020507" pitchFamily="18" charset="2"/>
              </a:rPr>
              <a:t></a:t>
            </a:r>
            <a:r>
              <a:rPr lang="en-US" altLang="zh-TW" i="1"/>
              <a:t> M,s</a:t>
            </a:r>
            <a:r>
              <a:rPr lang="en-US" altLang="zh-TW" i="1" baseline="-25000"/>
              <a:t>0 </a:t>
            </a:r>
            <a:r>
              <a:rPr lang="en-US" altLang="zh-TW" i="1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 i="1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 i="1">
                <a:solidFill>
                  <a:srgbClr val="0000FF"/>
                </a:solidFill>
              </a:rPr>
              <a:t>φ</a:t>
            </a:r>
            <a:r>
              <a:rPr lang="en-US" altLang="zh-TW" i="1"/>
              <a:t> </a:t>
            </a:r>
          </a:p>
          <a:p>
            <a:pPr eaLnBrk="1" hangingPunct="1"/>
            <a:r>
              <a:rPr lang="en-US" altLang="zh-TW"/>
              <a:t>S</a:t>
            </a:r>
            <a:r>
              <a:rPr lang="en-US" altLang="zh-TW" baseline="-25000"/>
              <a:t>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/>
              <a:t> </a:t>
            </a:r>
            <a:r>
              <a:rPr lang="zh-TW" altLang="en-US"/>
              <a:t>是</a:t>
            </a:r>
            <a:r>
              <a:rPr lang="en-US" altLang="zh-TW"/>
              <a:t>false</a:t>
            </a:r>
          </a:p>
          <a:p>
            <a:pPr eaLnBrk="1" hangingPunct="1"/>
            <a:r>
              <a:rPr lang="en-US" altLang="zh-TW"/>
              <a:t>S</a:t>
            </a:r>
            <a:r>
              <a:rPr lang="en-US" altLang="zh-TW" baseline="-25000"/>
              <a:t>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 baseline="-25000">
                <a:sym typeface="Symbol" panose="050501020107060205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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2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S</a:t>
            </a:r>
            <a:r>
              <a:rPr lang="en-US" altLang="zh-TW" baseline="-25000"/>
              <a:t>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>
                <a:sym typeface="Symbol" panose="05050102010706020507" pitchFamily="18" charset="2"/>
              </a:rPr>
              <a:t> or</a:t>
            </a:r>
            <a:r>
              <a:rPr lang="en-US" altLang="zh-TW" baseline="-25000">
                <a:sym typeface="Symbol" panose="05050102010706020507" pitchFamily="18" charset="2"/>
              </a:rPr>
              <a:t>  </a:t>
            </a:r>
            <a:r>
              <a:rPr lang="en-US" altLang="zh-TW"/>
              <a:t>S</a:t>
            </a:r>
            <a:r>
              <a:rPr lang="en-US" altLang="zh-TW" baseline="-25000"/>
              <a:t>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Symbol" panose="05050102010706020507" pitchFamily="18" charset="2"/>
              </a:rPr>
              <a:t>1</a:t>
            </a:r>
            <a:r>
              <a:rPr lang="en-US" altLang="zh-TW"/>
              <a:t> </a:t>
            </a:r>
          </a:p>
          <a:p>
            <a:pPr eaLnBrk="1" hangingPunct="1"/>
            <a:r>
              <a:rPr lang="en-US" altLang="zh-TW"/>
              <a:t>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/>
              <a:t> </a:t>
            </a:r>
            <a:r>
              <a:rPr lang="en-US" altLang="zh-TW"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rgbClr val="00FF00"/>
                </a:solidFill>
              </a:rPr>
              <a:t>ψ 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 S</a:t>
            </a:r>
            <a:r>
              <a:rPr lang="en-US" altLang="zh-TW" baseline="30000"/>
              <a:t>(1)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/>
              <a:t>S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sym typeface="Wingdings 2" panose="05020102010507070707" pitchFamily="18" charset="2"/>
              </a:rPr>
              <a:t>1</a:t>
            </a:r>
            <a:r>
              <a:rPr lang="en-US" altLang="zh-TW"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r>
              <a:rPr lang="en-US" altLang="zh-TW">
                <a:sym typeface="Symbol" panose="05050102010706020507" pitchFamily="18" charset="2"/>
              </a:rPr>
              <a:t></a:t>
            </a:r>
            <a:r>
              <a:rPr lang="en-US" altLang="zh-TW"/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/>
              <a:t>k</a:t>
            </a:r>
            <a:r>
              <a:rPr lang="en-US" altLang="zh-TW">
                <a:sym typeface="Symbol" panose="05050102010706020507" pitchFamily="18" charset="2"/>
              </a:rPr>
              <a:t></a:t>
            </a:r>
            <a:r>
              <a:rPr lang="en-US" altLang="zh-TW"/>
              <a:t>0 (S</a:t>
            </a:r>
            <a:r>
              <a:rPr lang="en-US" altLang="zh-TW" baseline="30000"/>
              <a:t>(k)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2</a:t>
            </a:r>
            <a:r>
              <a:rPr lang="en-US" altLang="zh-TW">
                <a:solidFill>
                  <a:srgbClr val="000000"/>
                </a:solidFill>
                <a:sym typeface="Symbol" panose="05050102010706020507" pitchFamily="18" charset="2"/>
              </a:rPr>
              <a:t>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0</a:t>
            </a:r>
            <a:r>
              <a:rPr lang="en-US" altLang="zh-TW">
                <a:sym typeface="Symbol" panose="05050102010706020507" pitchFamily="18" charset="2"/>
              </a:rPr>
              <a:t>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j&lt;k(</a:t>
            </a:r>
            <a:r>
              <a:rPr lang="en-US" altLang="zh-TW"/>
              <a:t>S</a:t>
            </a:r>
            <a:r>
              <a:rPr lang="en-US" altLang="zh-TW" baseline="30000"/>
              <a:t>(j) </a:t>
            </a:r>
            <a:r>
              <a:rPr lang="en-US" altLang="zh-TW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3400">
                <a:solidFill>
                  <a:srgbClr val="0000FF"/>
                </a:solidFill>
                <a:latin typeface="新細明體" panose="02020500000000000000" pitchFamily="18" charset="-120"/>
              </a:rPr>
              <a:t> </a:t>
            </a:r>
            <a:r>
              <a:rPr lang="en-US" altLang="zh-TW">
                <a:solidFill>
                  <a:srgbClr val="00FF00"/>
                </a:solidFill>
              </a:rPr>
              <a:t>ψ</a:t>
            </a:r>
            <a:r>
              <a:rPr lang="en-US" altLang="zh-TW" baseline="-25000">
                <a:solidFill>
                  <a:srgbClr val="00FF00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1</a:t>
            </a:r>
            <a:r>
              <a:rPr lang="en-US" altLang="zh-TW">
                <a:ea typeface="華康儷楷書" panose="03000509000000000000" pitchFamily="65" charset="-120"/>
                <a:cs typeface="華康儷楷書" panose="03000509000000000000" pitchFamily="65" charset="-120"/>
              </a:rPr>
              <a:t>))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投影片編號版面配置區 5">
            <a:extLst>
              <a:ext uri="{FF2B5EF4-FFF2-40B4-BE49-F238E27FC236}">
                <a16:creationId xmlns:a16="http://schemas.microsoft.com/office/drawing/2014/main" id="{64A3032B-444A-4DB5-B73A-B233D17CE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C19962-259C-43FF-BD5C-6A1F9C1FCB2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58D379FB-3414-467C-949B-A335D693D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</a:p>
        </p:txBody>
      </p:sp>
      <p:sp>
        <p:nvSpPr>
          <p:cNvPr id="196612" name="Rectangle 3">
            <a:extLst>
              <a:ext uri="{FF2B5EF4-FFF2-40B4-BE49-F238E27FC236}">
                <a16:creationId xmlns:a16="http://schemas.microsoft.com/office/drawing/2014/main" id="{3CCB3C93-BE02-43FB-A7CF-92F568AF19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Given a language </a:t>
            </a:r>
            <a:r>
              <a:rPr lang="en-US" altLang="zh-TW" sz="2600" b="1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/>
              <a:t>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what model sets </a:t>
            </a:r>
            <a:r>
              <a:rPr lang="en-US" altLang="zh-TW" sz="2600" i="1"/>
              <a:t>L</a:t>
            </a:r>
            <a:r>
              <a:rPr lang="en-US" altLang="zh-TW" sz="2600"/>
              <a:t> can express ?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what model sets L cannot ?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>
                <a:solidFill>
                  <a:srgbClr val="0000FF"/>
                </a:solidFill>
              </a:rPr>
              <a:t>model set</a:t>
            </a:r>
            <a:r>
              <a:rPr lang="en-US" altLang="zh-TW" sz="2600"/>
              <a:t>: a set of behaviors</a:t>
            </a:r>
            <a:r>
              <a:rPr lang="en-US" altLang="zh-TW" sz="2600">
                <a:solidFill>
                  <a:srgbClr val="0000FF"/>
                </a:solidFill>
              </a:rPr>
              <a:t> </a:t>
            </a:r>
            <a:endParaRPr lang="en-US" altLang="zh-TW" sz="26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A formula = a set of models (behaviors)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>
                <a:solidFill>
                  <a:srgbClr val="000000"/>
                </a:solidFill>
              </a:rPr>
              <a:t>for anyφ </a:t>
            </a:r>
            <a:r>
              <a:rPr lang="en-US" altLang="zh-TW" sz="2600">
                <a:latin typeface="Symbol" panose="05050102010706020507" pitchFamily="18" charset="2"/>
              </a:rPr>
              <a:t>Î</a:t>
            </a:r>
            <a:r>
              <a:rPr lang="en-US" altLang="zh-TW" sz="2600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>
                <a:latin typeface="華康少女文字W6" pitchFamily="49" charset="-120"/>
                <a:ea typeface="華康少女文字W6" pitchFamily="49" charset="-120"/>
              </a:rPr>
              <a:t>, </a:t>
            </a:r>
            <a:r>
              <a:rPr lang="en-US" altLang="zh-TW" sz="2600">
                <a:solidFill>
                  <a:srgbClr val="0000FF"/>
                </a:solidFill>
              </a:rPr>
              <a:t>[φ] </a:t>
            </a:r>
            <a:r>
              <a:rPr lang="en-US" altLang="zh-TW" sz="4000">
                <a:latin typeface="Lucida Sans Unicode" panose="020B0602030504020204" pitchFamily="34" charset="0"/>
                <a:cs typeface="Lucida Sans Unicode" panose="020B0602030504020204" pitchFamily="34" charset="0"/>
                <a:sym typeface="Euclid Extra" pitchFamily="18" charset="2"/>
              </a:rPr>
              <a:t>≝</a:t>
            </a:r>
            <a:r>
              <a:rPr lang="en-US" altLang="zh-TW" sz="2600">
                <a:solidFill>
                  <a:srgbClr val="000000"/>
                </a:solidFill>
              </a:rPr>
              <a:t> {</a:t>
            </a:r>
            <a:r>
              <a:rPr lang="en-US" altLang="zh-TW" sz="2600" i="1">
                <a:solidFill>
                  <a:srgbClr val="000000"/>
                </a:solidFill>
              </a:rPr>
              <a:t>M </a:t>
            </a:r>
            <a:r>
              <a:rPr lang="en-US" altLang="zh-TW" sz="2600">
                <a:solidFill>
                  <a:srgbClr val="000000"/>
                </a:solidFill>
              </a:rPr>
              <a:t>|M</a:t>
            </a:r>
            <a:r>
              <a:rPr lang="en-US" altLang="zh-TW" sz="2600" i="1" baseline="-25000"/>
              <a:t> </a:t>
            </a:r>
            <a:r>
              <a:rPr lang="en-US" altLang="zh-TW" sz="3500" b="1">
                <a:solidFill>
                  <a:srgbClr val="0000FF"/>
                </a:solidFill>
                <a:latin typeface="新細明體" panose="02020500000000000000" pitchFamily="18" charset="-120"/>
                <a:sym typeface="Euclid Math One" pitchFamily="18" charset="2"/>
              </a:rPr>
              <a:t></a:t>
            </a:r>
            <a:r>
              <a:rPr lang="en-US" altLang="zh-TW" sz="2600">
                <a:solidFill>
                  <a:srgbClr val="000000"/>
                </a:solidFill>
              </a:rPr>
              <a:t>φ}</a:t>
            </a:r>
            <a:endParaRPr lang="en-US" altLang="zh-TW" sz="2600" b="1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A language = a set of formulas.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6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u="sng">
                <a:solidFill>
                  <a:srgbClr val="660066"/>
                </a:solidFill>
                <a:ea typeface="華康儷粗黑" panose="020B0709000000000000" pitchFamily="49" charset="-120"/>
              </a:rPr>
              <a:t>Expressiveness: </a:t>
            </a:r>
            <a:r>
              <a:rPr lang="en-US" altLang="zh-TW" sz="2600">
                <a:solidFill>
                  <a:srgbClr val="000000"/>
                </a:solidFill>
              </a:rPr>
              <a:t>Given a model set </a:t>
            </a:r>
            <a:r>
              <a:rPr lang="en-US" altLang="zh-TW" sz="2600" i="1">
                <a:solidFill>
                  <a:srgbClr val="000000"/>
                </a:solidFill>
              </a:rPr>
              <a:t>F</a:t>
            </a:r>
            <a:r>
              <a:rPr lang="en-US" altLang="zh-TW" sz="2600" b="1" i="1">
                <a:solidFill>
                  <a:srgbClr val="000000"/>
                </a:solidFill>
              </a:rPr>
              <a:t>, </a:t>
            </a:r>
            <a:endParaRPr lang="en-US" altLang="zh-TW" sz="260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i="1">
                <a:solidFill>
                  <a:srgbClr val="000000"/>
                </a:solidFill>
              </a:rPr>
              <a:t>F</a:t>
            </a:r>
            <a:r>
              <a:rPr lang="en-US" altLang="zh-TW" sz="2600">
                <a:solidFill>
                  <a:srgbClr val="000000"/>
                </a:solidFill>
              </a:rPr>
              <a:t> is </a:t>
            </a:r>
            <a:r>
              <a:rPr lang="en-US" altLang="zh-TW" sz="2600">
                <a:solidFill>
                  <a:srgbClr val="FF0000"/>
                </a:solidFill>
              </a:rPr>
              <a:t>expressible</a:t>
            </a:r>
            <a:r>
              <a:rPr lang="en-US" altLang="zh-TW" sz="2600">
                <a:solidFill>
                  <a:srgbClr val="000000"/>
                </a:solidFill>
              </a:rPr>
              <a:t> in </a:t>
            </a:r>
            <a:r>
              <a:rPr lang="en-US" altLang="zh-TW" sz="2600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>
                <a:solidFill>
                  <a:srgbClr val="000000"/>
                </a:solidFill>
              </a:rPr>
              <a:t> iff </a:t>
            </a:r>
            <a:r>
              <a:rPr lang="en-US" altLang="zh-TW" sz="2600">
                <a:sym typeface="Symbol" panose="05050102010706020507" pitchFamily="18" charset="2"/>
              </a:rPr>
              <a:t></a:t>
            </a:r>
            <a:r>
              <a:rPr lang="en-US" altLang="zh-TW" sz="2600">
                <a:solidFill>
                  <a:srgbClr val="000000"/>
                </a:solidFill>
              </a:rPr>
              <a:t>φ</a:t>
            </a:r>
            <a:r>
              <a:rPr lang="en-US" altLang="zh-TW" sz="2600">
                <a:latin typeface="Symbol" panose="05050102010706020507" pitchFamily="18" charset="2"/>
              </a:rPr>
              <a:t>Î</a:t>
            </a:r>
            <a:r>
              <a:rPr lang="en-US" altLang="zh-TW" sz="2600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>
                <a:solidFill>
                  <a:srgbClr val="000000"/>
                </a:solidFill>
              </a:rPr>
              <a:t>([φ]</a:t>
            </a:r>
            <a:r>
              <a:rPr lang="en-US" altLang="zh-TW" sz="2600" i="1">
                <a:solidFill>
                  <a:srgbClr val="000000"/>
                </a:solidFill>
              </a:rPr>
              <a:t>=F</a:t>
            </a:r>
            <a:r>
              <a:rPr lang="en-US" altLang="zh-TW" sz="2600">
                <a:solidFill>
                  <a:srgbClr val="00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投影片編號版面配置區 5">
            <a:extLst>
              <a:ext uri="{FF2B5EF4-FFF2-40B4-BE49-F238E27FC236}">
                <a16:creationId xmlns:a16="http://schemas.microsoft.com/office/drawing/2014/main" id="{59CAAC35-9563-43E0-BC84-A9813620B6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1A0D38-5C8D-486B-B02A-4E4D771DA66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B6B2F0B1-8148-4BD2-BB64-4D5C5529C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</a:p>
        </p:txBody>
      </p:sp>
      <p:sp>
        <p:nvSpPr>
          <p:cNvPr id="198660" name="Rectangle 3">
            <a:extLst>
              <a:ext uri="{FF2B5EF4-FFF2-40B4-BE49-F238E27FC236}">
                <a16:creationId xmlns:a16="http://schemas.microsoft.com/office/drawing/2014/main" id="{67C85CC7-9BB5-4B6A-80F7-280104ADF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600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Comparison in expressiveness: </a:t>
            </a:r>
            <a:endParaRPr lang="en-US" altLang="zh-TW" sz="2600">
              <a:solidFill>
                <a:srgbClr val="0000FF"/>
              </a:solidFill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Given two languages </a:t>
            </a:r>
            <a:r>
              <a:rPr lang="en-US" altLang="zh-TW" sz="2600" i="1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i="1" baseline="-25000">
                <a:solidFill>
                  <a:srgbClr val="0000FF"/>
                </a:solidFill>
                <a:ea typeface="華康少女文字W6" pitchFamily="49" charset="-120"/>
              </a:rPr>
              <a:t>1</a:t>
            </a:r>
            <a:r>
              <a:rPr lang="en-US" altLang="zh-TW" sz="2600" i="1">
                <a:solidFill>
                  <a:srgbClr val="0000FF"/>
                </a:solidFill>
                <a:ea typeface="華康少女文字W6" pitchFamily="49" charset="-120"/>
              </a:rPr>
              <a:t> </a:t>
            </a:r>
            <a:r>
              <a:rPr lang="en-US" altLang="zh-TW" sz="2600">
                <a:ea typeface="華康少女文字W6" pitchFamily="49" charset="-120"/>
              </a:rPr>
              <a:t>and </a:t>
            </a:r>
            <a:r>
              <a:rPr lang="en-US" altLang="zh-TW" sz="2600" i="1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i="1" baseline="-25000">
                <a:solidFill>
                  <a:srgbClr val="0000FF"/>
                </a:solidFill>
                <a:ea typeface="華康少女文字W6" pitchFamily="49" charset="-120"/>
              </a:rPr>
              <a:t>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u="sng">
                <a:solidFill>
                  <a:srgbClr val="0000FF"/>
                </a:solidFill>
                <a:ea typeface="華康儷粗黑" panose="020B0709000000000000" pitchFamily="49" charset="-120"/>
              </a:rPr>
              <a:t>Definition</a:t>
            </a:r>
            <a:r>
              <a:rPr lang="en-US" altLang="zh-TW" sz="2600">
                <a:solidFill>
                  <a:srgbClr val="0000FF"/>
                </a:solidFill>
                <a:ea typeface="華康儷粗黑" panose="020B0709000000000000" pitchFamily="49" charset="-120"/>
              </a:rPr>
              <a:t>:</a:t>
            </a:r>
            <a:r>
              <a:rPr lang="en-US" altLang="zh-TW" sz="2600">
                <a:solidFill>
                  <a:srgbClr val="660066"/>
                </a:solidFill>
                <a:ea typeface="華康儷粗黑" panose="020B0709000000000000" pitchFamily="49" charset="-120"/>
              </a:rPr>
              <a:t> </a:t>
            </a:r>
            <a:r>
              <a:rPr lang="en-US" altLang="zh-TW" sz="2600">
                <a:ea typeface="華康少女文字W6" pitchFamily="49" charset="-120"/>
              </a:rPr>
              <a:t>L</a:t>
            </a:r>
            <a:r>
              <a:rPr lang="en-US" altLang="zh-TW" sz="2600" baseline="-25000">
                <a:ea typeface="華康少女文字W6" pitchFamily="49" charset="-120"/>
              </a:rPr>
              <a:t>1 </a:t>
            </a:r>
            <a:r>
              <a:rPr lang="en-US" altLang="zh-TW" sz="2600">
                <a:ea typeface="華康少女文字W6" pitchFamily="49" charset="-120"/>
              </a:rPr>
              <a:t>is</a:t>
            </a:r>
            <a:r>
              <a:rPr lang="en-US" altLang="zh-TW" sz="2600" b="1" i="1">
                <a:ea typeface="華康少女文字W6" pitchFamily="49" charset="-120"/>
              </a:rPr>
              <a:t> </a:t>
            </a:r>
            <a:r>
              <a:rPr lang="en-US" altLang="zh-TW" sz="2600" b="1" i="1">
                <a:solidFill>
                  <a:srgbClr val="0000FF"/>
                </a:solidFill>
                <a:ea typeface="華康少女文字W6" pitchFamily="49" charset="-120"/>
              </a:rPr>
              <a:t>more expressive than</a:t>
            </a:r>
            <a:r>
              <a:rPr lang="en-US" altLang="zh-TW" sz="2600" b="1" i="1">
                <a:latin typeface="華康少女文字W6" pitchFamily="49" charset="-120"/>
                <a:ea typeface="華康少女文字W6" pitchFamily="49" charset="-120"/>
              </a:rPr>
              <a:t> </a:t>
            </a:r>
            <a:r>
              <a:rPr lang="en-US" altLang="zh-TW" sz="2600">
                <a:ea typeface="華康少女文字W6" pitchFamily="49" charset="-120"/>
              </a:rPr>
              <a:t>L</a:t>
            </a:r>
            <a:r>
              <a:rPr lang="en-US" altLang="zh-TW" sz="2600" baseline="-25000">
                <a:ea typeface="華康少女文字W6" pitchFamily="49" charset="-120"/>
              </a:rPr>
              <a:t>2 </a:t>
            </a:r>
            <a:r>
              <a:rPr lang="en-US" altLang="zh-TW" sz="2600">
                <a:solidFill>
                  <a:srgbClr val="000000"/>
                </a:solidFill>
              </a:rPr>
              <a:t>(</a:t>
            </a:r>
            <a:r>
              <a:rPr lang="en-US" altLang="zh-TW" sz="2600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baseline="-25000">
                <a:solidFill>
                  <a:srgbClr val="0000FF"/>
                </a:solidFill>
                <a:ea typeface="華康少女文字W6" pitchFamily="49" charset="-120"/>
              </a:rPr>
              <a:t>2</a:t>
            </a:r>
            <a:r>
              <a:rPr lang="en-US" altLang="zh-TW" sz="2600">
                <a:solidFill>
                  <a:srgbClr val="0000FF"/>
                </a:solidFill>
                <a:sym typeface="Symbol" panose="05050102010706020507" pitchFamily="18" charset="2"/>
              </a:rPr>
              <a:t>&lt;</a:t>
            </a:r>
            <a:r>
              <a:rPr lang="en-US" altLang="zh-TW" sz="2600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baseline="-25000">
                <a:solidFill>
                  <a:srgbClr val="0000FF"/>
                </a:solidFill>
                <a:ea typeface="華康少女文字W6" pitchFamily="49" charset="-120"/>
              </a:rPr>
              <a:t>1</a:t>
            </a:r>
            <a:r>
              <a:rPr lang="en-US" altLang="zh-TW" sz="2600">
                <a:solidFill>
                  <a:srgbClr val="000000"/>
                </a:solidFill>
              </a:rPr>
              <a:t>)</a:t>
            </a:r>
            <a:endParaRPr lang="en-US" altLang="zh-TW" sz="2600" baseline="-25000">
              <a:ea typeface="華康少女文字W6" pitchFamily="49" charset="-12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600" b="1" i="1" baseline="-25000">
                <a:ea typeface="華康少女文字W6" pitchFamily="49" charset="-120"/>
              </a:rPr>
              <a:t>    </a:t>
            </a:r>
            <a:r>
              <a:rPr lang="en-US" altLang="zh-TW" sz="2600">
                <a:solidFill>
                  <a:srgbClr val="000000"/>
                </a:solidFill>
              </a:rPr>
              <a:t> iff </a:t>
            </a:r>
            <a:r>
              <a:rPr lang="en-US" altLang="zh-TW" sz="2600" b="1">
                <a:sym typeface="Symbol" panose="05050102010706020507" pitchFamily="18" charset="2"/>
              </a:rPr>
              <a:t></a:t>
            </a:r>
            <a:r>
              <a:rPr lang="en-US" altLang="zh-TW" sz="2600" b="1">
                <a:solidFill>
                  <a:srgbClr val="000000"/>
                </a:solidFill>
              </a:rPr>
              <a:t>φ</a:t>
            </a:r>
            <a:r>
              <a:rPr lang="en-US" altLang="zh-TW" sz="2600">
                <a:latin typeface="Symbol" panose="05050102010706020507" pitchFamily="18" charset="2"/>
              </a:rPr>
              <a:t>Î</a:t>
            </a:r>
            <a:r>
              <a:rPr lang="en-US" altLang="zh-TW" sz="2600" b="1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 b="1" i="1" baseline="-25000">
                <a:ea typeface="華康少女文字W6" pitchFamily="49" charset="-120"/>
              </a:rPr>
              <a:t>2</a:t>
            </a:r>
            <a:r>
              <a:rPr lang="en-US" altLang="zh-TW" sz="2600" b="1" i="1">
                <a:latin typeface="華康少女文字W6" pitchFamily="49" charset="-120"/>
                <a:ea typeface="華康少女文字W6" pitchFamily="49" charset="-120"/>
              </a:rPr>
              <a:t> </a:t>
            </a:r>
            <a:r>
              <a:rPr lang="en-US" altLang="zh-TW" sz="2600" b="1">
                <a:solidFill>
                  <a:srgbClr val="000000"/>
                </a:solidFill>
              </a:rPr>
              <a:t>([φ] is expressible in </a:t>
            </a:r>
            <a:r>
              <a:rPr lang="en-US" altLang="zh-TW" sz="2600" b="1" i="1">
                <a:latin typeface="華康少女文字W6" pitchFamily="49" charset="-120"/>
                <a:ea typeface="華康少女文字W6" pitchFamily="49" charset="-120"/>
              </a:rPr>
              <a:t>L</a:t>
            </a:r>
            <a:r>
              <a:rPr lang="en-US" altLang="zh-TW" sz="2600" b="1" i="1" baseline="-25000"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TW" sz="2600" u="sng">
                <a:solidFill>
                  <a:srgbClr val="0000FF"/>
                </a:solidFill>
                <a:ea typeface="華康儷粗黑" panose="020B0709000000000000" pitchFamily="49" charset="-120"/>
              </a:rPr>
              <a:t>Definition</a:t>
            </a:r>
            <a:r>
              <a:rPr lang="en-US" altLang="zh-TW" sz="2600">
                <a:solidFill>
                  <a:srgbClr val="0000FF"/>
                </a:solidFill>
                <a:ea typeface="華康儷粗黑" panose="020B0709000000000000" pitchFamily="49" charset="-120"/>
              </a:rPr>
              <a:t>:</a:t>
            </a:r>
            <a:r>
              <a:rPr lang="en-US" altLang="zh-TW" sz="2600">
                <a:solidFill>
                  <a:srgbClr val="660066"/>
                </a:solidFill>
                <a:ea typeface="華康儷粗黑" panose="020B0709000000000000" pitchFamily="49" charset="-120"/>
              </a:rPr>
              <a:t> </a:t>
            </a:r>
            <a:r>
              <a:rPr lang="en-US" altLang="zh-TW" sz="2600">
                <a:ea typeface="華康少女文字W6" pitchFamily="49" charset="-120"/>
              </a:rPr>
              <a:t>L</a:t>
            </a:r>
            <a:r>
              <a:rPr lang="en-US" altLang="zh-TW" sz="2600" baseline="-25000">
                <a:ea typeface="華康少女文字W6" pitchFamily="49" charset="-120"/>
              </a:rPr>
              <a:t>1</a:t>
            </a:r>
            <a:r>
              <a:rPr lang="en-US" altLang="zh-TW" sz="2600">
                <a:ea typeface="華康少女文字W6" pitchFamily="49" charset="-120"/>
              </a:rPr>
              <a:t> and </a:t>
            </a:r>
            <a:r>
              <a:rPr lang="en-US" altLang="zh-TW" sz="2600" baseline="-25000">
                <a:ea typeface="華康少女文字W6" pitchFamily="49" charset="-120"/>
              </a:rPr>
              <a:t> </a:t>
            </a:r>
            <a:r>
              <a:rPr lang="en-US" altLang="zh-TW" sz="2600">
                <a:ea typeface="華康少女文字W6" pitchFamily="49" charset="-120"/>
              </a:rPr>
              <a:t>L</a:t>
            </a:r>
            <a:r>
              <a:rPr lang="en-US" altLang="zh-TW" sz="2600" baseline="-25000">
                <a:ea typeface="華康少女文字W6" pitchFamily="49" charset="-120"/>
              </a:rPr>
              <a:t>2</a:t>
            </a:r>
            <a:r>
              <a:rPr lang="en-US" altLang="zh-TW" sz="2600" b="1" i="1" baseline="-25000">
                <a:ea typeface="華康少女文字W6" pitchFamily="49" charset="-120"/>
              </a:rPr>
              <a:t>  </a:t>
            </a:r>
            <a:r>
              <a:rPr lang="en-US" altLang="zh-TW" sz="2600" b="1" i="1">
                <a:solidFill>
                  <a:srgbClr val="0000FF"/>
                </a:solidFill>
                <a:ea typeface="華康少女文字W6" pitchFamily="49" charset="-120"/>
              </a:rPr>
              <a:t>are expressively equivalent </a:t>
            </a:r>
          </a:p>
          <a:p>
            <a:pPr algn="ctr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TW" sz="2600" b="1">
                <a:solidFill>
                  <a:srgbClr val="0000FF"/>
                </a:solidFill>
                <a:ea typeface="華康少女文字W6" pitchFamily="49" charset="-120"/>
              </a:rPr>
              <a:t>	</a:t>
            </a:r>
            <a:r>
              <a:rPr lang="en-US" altLang="zh-TW" sz="2600" b="1">
                <a:ea typeface="華康少女文字W6" pitchFamily="49" charset="-120"/>
              </a:rPr>
              <a:t>(</a:t>
            </a:r>
            <a:r>
              <a:rPr lang="en-US" altLang="zh-TW" sz="2600" b="1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solidFill>
                  <a:srgbClr val="0000FF"/>
                </a:solidFill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≡</a:t>
            </a:r>
            <a:r>
              <a:rPr lang="en-US" altLang="zh-TW" sz="2600" b="1">
                <a:solidFill>
                  <a:srgbClr val="0000FF"/>
                </a:solidFill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solidFill>
                  <a:srgbClr val="0000FF"/>
                </a:solidFill>
                <a:ea typeface="華康少女文字W6" pitchFamily="49" charset="-120"/>
              </a:rPr>
              <a:t>2</a:t>
            </a:r>
            <a:r>
              <a:rPr lang="en-US" altLang="zh-TW" sz="2600" b="1" baseline="-25000">
                <a:ea typeface="華康少女文字W6" pitchFamily="49" charset="-120"/>
              </a:rPr>
              <a:t> </a:t>
            </a:r>
            <a:r>
              <a:rPr lang="en-US" altLang="zh-TW" sz="2600" b="1">
                <a:solidFill>
                  <a:srgbClr val="000000"/>
                </a:solidFill>
              </a:rPr>
              <a:t>)</a:t>
            </a:r>
            <a:r>
              <a:rPr lang="en-US" altLang="zh-TW" sz="2600">
                <a:solidFill>
                  <a:srgbClr val="000000"/>
                </a:solidFill>
              </a:rPr>
              <a:t> iff </a:t>
            </a:r>
            <a:r>
              <a:rPr lang="en-US" altLang="zh-TW" sz="2600" b="1">
                <a:sym typeface="Symbol" panose="05050102010706020507" pitchFamily="18" charset="2"/>
              </a:rPr>
              <a:t>(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2</a:t>
            </a:r>
            <a:r>
              <a:rPr lang="en-US" altLang="zh-TW" sz="2600" b="1">
                <a:solidFill>
                  <a:srgbClr val="000000"/>
                </a:solidFill>
              </a:rPr>
              <a:t>&lt;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00"/>
                </a:solidFill>
              </a:rPr>
              <a:t>)</a:t>
            </a:r>
            <a:r>
              <a:rPr lang="en-US" altLang="zh-TW" b="1">
                <a:sym typeface="Symbol" panose="05050102010706020507" pitchFamily="18" charset="2"/>
              </a:rPr>
              <a:t></a:t>
            </a:r>
            <a:r>
              <a:rPr lang="en-US" altLang="zh-TW" sz="2600" b="1">
                <a:solidFill>
                  <a:srgbClr val="000000"/>
                </a:solidFill>
              </a:rPr>
              <a:t>(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00"/>
                </a:solidFill>
              </a:rPr>
              <a:t>&lt;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2</a:t>
            </a:r>
            <a:r>
              <a:rPr lang="en-US" altLang="zh-TW" sz="2600" b="1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TW" sz="2600" u="sng">
                <a:solidFill>
                  <a:srgbClr val="0000FF"/>
                </a:solidFill>
                <a:ea typeface="華康儷粗黑" panose="020B0709000000000000" pitchFamily="49" charset="-120"/>
              </a:rPr>
              <a:t>Definition</a:t>
            </a:r>
            <a:r>
              <a:rPr lang="en-US" altLang="zh-TW" sz="2600">
                <a:solidFill>
                  <a:srgbClr val="0000FF"/>
                </a:solidFill>
                <a:ea typeface="華康儷粗黑" panose="020B0709000000000000" pitchFamily="49" charset="-120"/>
              </a:rPr>
              <a:t>:</a:t>
            </a:r>
            <a:r>
              <a:rPr lang="en-US" altLang="zh-TW" sz="2600">
                <a:solidFill>
                  <a:srgbClr val="660066"/>
                </a:solidFill>
                <a:ea typeface="華康儷粗黑" panose="020B0709000000000000" pitchFamily="49" charset="-120"/>
              </a:rPr>
              <a:t> 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1 </a:t>
            </a:r>
            <a:r>
              <a:rPr lang="zh-TW" altLang="en-US" sz="2600" b="1">
                <a:ea typeface="華康少女文字W6" pitchFamily="49" charset="-120"/>
              </a:rPr>
              <a:t>、</a:t>
            </a:r>
            <a:r>
              <a:rPr lang="zh-TW" altLang="en-US" sz="2600" b="1" baseline="-25000">
                <a:ea typeface="華康少女文字W6" pitchFamily="49" charset="-120"/>
              </a:rPr>
              <a:t> 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2  </a:t>
            </a:r>
            <a:r>
              <a:rPr lang="en-US" altLang="zh-TW" sz="2600" b="1">
                <a:ea typeface="華康少女文字W6" pitchFamily="49" charset="-120"/>
              </a:rPr>
              <a:t>are </a:t>
            </a:r>
            <a:r>
              <a:rPr lang="en-US" altLang="zh-TW" sz="2600" b="1" i="1">
                <a:solidFill>
                  <a:srgbClr val="0000FF"/>
                </a:solidFill>
                <a:ea typeface="華康少女文字W6" pitchFamily="49" charset="-120"/>
              </a:rPr>
              <a:t>expressively incomparable</a:t>
            </a:r>
            <a:r>
              <a:rPr lang="en-US" altLang="zh-TW" sz="2600">
                <a:solidFill>
                  <a:srgbClr val="000000"/>
                </a:solidFill>
              </a:rPr>
              <a:t> iff </a:t>
            </a:r>
          </a:p>
          <a:p>
            <a:pPr algn="ctr" eaLnBrk="1" hangingPunct="1">
              <a:lnSpc>
                <a:spcPct val="30000"/>
              </a:lnSpc>
              <a:buFont typeface="Wingdings" panose="05000000000000000000" pitchFamily="2" charset="2"/>
              <a:buNone/>
            </a:pPr>
            <a:r>
              <a:rPr lang="en-US" altLang="zh-TW" sz="3500">
                <a:sym typeface="Symbol" panose="05050102010706020507" pitchFamily="18" charset="2"/>
              </a:rPr>
              <a:t></a:t>
            </a:r>
            <a:r>
              <a:rPr lang="en-US" altLang="zh-TW" sz="2600" b="1">
                <a:solidFill>
                  <a:srgbClr val="000000"/>
                </a:solidFill>
              </a:rPr>
              <a:t>((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2</a:t>
            </a:r>
            <a:r>
              <a:rPr lang="en-US" altLang="zh-TW" sz="2600" b="1">
                <a:solidFill>
                  <a:srgbClr val="000000"/>
                </a:solidFill>
              </a:rPr>
              <a:t>&lt;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00"/>
                </a:solidFill>
              </a:rPr>
              <a:t>)</a:t>
            </a:r>
            <a:r>
              <a:rPr lang="en-US" altLang="zh-TW" b="1">
                <a:sym typeface="Symbol" panose="05050102010706020507" pitchFamily="18" charset="2"/>
              </a:rPr>
              <a:t></a:t>
            </a:r>
            <a:r>
              <a:rPr lang="en-US" altLang="zh-TW" sz="2600" b="1">
                <a:solidFill>
                  <a:srgbClr val="000000"/>
                </a:solidFill>
              </a:rPr>
              <a:t>(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1</a:t>
            </a:r>
            <a:r>
              <a:rPr lang="en-US" altLang="zh-TW" sz="2600" b="1">
                <a:solidFill>
                  <a:srgbClr val="000000"/>
                </a:solidFill>
              </a:rPr>
              <a:t>&lt;</a:t>
            </a:r>
            <a:r>
              <a:rPr lang="en-US" altLang="zh-TW" sz="2600" b="1">
                <a:ea typeface="華康少女文字W6" pitchFamily="49" charset="-120"/>
              </a:rPr>
              <a:t>L</a:t>
            </a:r>
            <a:r>
              <a:rPr lang="en-US" altLang="zh-TW" sz="2600" b="1" baseline="-25000">
                <a:ea typeface="華康少女文字W6" pitchFamily="49" charset="-120"/>
              </a:rPr>
              <a:t>2</a:t>
            </a:r>
            <a:r>
              <a:rPr lang="en-US" altLang="zh-TW" sz="2600" b="1">
                <a:solidFill>
                  <a:srgbClr val="000000"/>
                </a:solidFill>
              </a:rPr>
              <a:t>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600" b="1" baseline="-25000">
              <a:ea typeface="華康少女文字W6" pitchFamily="49" charset="-12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投影片編號版面配置區 5">
            <a:extLst>
              <a:ext uri="{FF2B5EF4-FFF2-40B4-BE49-F238E27FC236}">
                <a16:creationId xmlns:a16="http://schemas.microsoft.com/office/drawing/2014/main" id="{610AEBDE-F426-46E6-AD0B-708CB08C30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482BF2-2D7F-4B4A-BC02-BEDD8A26FFA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02573B6A-FA6B-4B20-97DF-17B7B2A7A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 Expressiveness</a:t>
            </a:r>
            <a:br>
              <a:rPr lang="en-US" altLang="zh-TW" sz="3800"/>
            </a:br>
            <a:r>
              <a:rPr lang="en-US" altLang="zh-TW" sz="3800"/>
              <a:t> - branching-time logics</a:t>
            </a:r>
          </a:p>
        </p:txBody>
      </p:sp>
      <p:sp>
        <p:nvSpPr>
          <p:cNvPr id="649219" name="Rectangle 3">
            <a:extLst>
              <a:ext uri="{FF2B5EF4-FFF2-40B4-BE49-F238E27FC236}">
                <a16:creationId xmlns:a16="http://schemas.microsoft.com/office/drawing/2014/main" id="{F1DBD89D-0E3A-422F-AB4B-F3947D1A5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2296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600"/>
              <a:t>What to compare with ? </a:t>
            </a:r>
          </a:p>
          <a:p>
            <a:pPr eaLnBrk="1" hangingPunct="1">
              <a:defRPr/>
            </a:pPr>
            <a:r>
              <a:rPr lang="en-US" altLang="zh-TW" sz="2600"/>
              <a:t>finite-state automata on infinite trees. </a:t>
            </a:r>
          </a:p>
          <a:p>
            <a:pPr eaLnBrk="1" hangingPunct="1">
              <a:defRPr/>
            </a:pPr>
            <a:r>
              <a:rPr lang="en-US" altLang="zh-TW" sz="2600"/>
              <a:t>2nd-order logics with monadic prdicate and many successors (SnS) </a:t>
            </a:r>
          </a:p>
          <a:p>
            <a:pPr eaLnBrk="1" hangingPunct="1">
              <a:defRPr/>
            </a:pPr>
            <a:r>
              <a:rPr lang="en-US" altLang="zh-TW" sz="2600"/>
              <a:t>2nd-order logics with monadic and partial-order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6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Very little known at the moment, </a:t>
            </a:r>
            <a:endParaRPr lang="en-US" altLang="zh-TW" sz="260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600">
                <a:solidFill>
                  <a:schemeClr val="hlink"/>
                </a:solidFill>
              </a:rPr>
              <a:t>the fine difference in semantics of branching-structures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投影片編號版面配置區 5">
            <a:extLst>
              <a:ext uri="{FF2B5EF4-FFF2-40B4-BE49-F238E27FC236}">
                <a16:creationId xmlns:a16="http://schemas.microsoft.com/office/drawing/2014/main" id="{8E65DD32-F015-4A0D-8101-6DADCBA81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1C0DC9-D07D-40F6-8225-24AE792BCAC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02755" name="Rectangle 2">
            <a:extLst>
              <a:ext uri="{FF2B5EF4-FFF2-40B4-BE49-F238E27FC236}">
                <a16:creationId xmlns:a16="http://schemas.microsoft.com/office/drawing/2014/main" id="{A0F8C1B6-8A47-4FF3-82A8-97B5E5F87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Expressiveness</a:t>
            </a:r>
            <a:br>
              <a:rPr lang="en-US" altLang="zh-TW"/>
            </a:br>
            <a:r>
              <a:rPr lang="en-US" altLang="zh-TW"/>
              <a:t> - CTL*, example (I)</a:t>
            </a:r>
          </a:p>
        </p:txBody>
      </p:sp>
      <p:sp>
        <p:nvSpPr>
          <p:cNvPr id="202756" name="Rectangle 3">
            <a:extLst>
              <a:ext uri="{FF2B5EF4-FFF2-40B4-BE49-F238E27FC236}">
                <a16:creationId xmlns:a16="http://schemas.microsoft.com/office/drawing/2014/main" id="{0177136C-034A-43AB-AD25-02C81EF19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797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tree the distinguishes the following two formulas. 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eat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</a:p>
          <a:p>
            <a:pPr lvl="1" eaLnBrk="1" hangingPunct="1"/>
            <a:r>
              <a:rPr lang="en-US" altLang="zh-TW" b="1">
                <a:sym typeface="Symbol" panose="05050102010706020507" pitchFamily="18" charset="2"/>
              </a:rPr>
              <a:t>Negation: 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eat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sz="3000" b="1">
                <a:sym typeface="Symbol" panose="05050102010706020507" pitchFamily="18" charset="2"/>
              </a:rPr>
              <a:t>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eat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202757" name="Line 4">
            <a:extLst>
              <a:ext uri="{FF2B5EF4-FFF2-40B4-BE49-F238E27FC236}">
                <a16:creationId xmlns:a16="http://schemas.microsoft.com/office/drawing/2014/main" id="{E1D1D9E4-6565-4327-BA45-67F055F197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31226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58" name="Line 5">
            <a:extLst>
              <a:ext uri="{FF2B5EF4-FFF2-40B4-BE49-F238E27FC236}">
                <a16:creationId xmlns:a16="http://schemas.microsoft.com/office/drawing/2014/main" id="{08F2D2ED-B039-4A4F-8F4C-D54E3A7BA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7450" y="31226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59" name="Line 6">
            <a:extLst>
              <a:ext uri="{FF2B5EF4-FFF2-40B4-BE49-F238E27FC236}">
                <a16:creationId xmlns:a16="http://schemas.microsoft.com/office/drawing/2014/main" id="{BB7A221A-375E-4691-A6AB-0B440633DD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043363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0" name="Line 7">
            <a:extLst>
              <a:ext uri="{FF2B5EF4-FFF2-40B4-BE49-F238E27FC236}">
                <a16:creationId xmlns:a16="http://schemas.microsoft.com/office/drawing/2014/main" id="{0575B1B7-146B-4502-B83C-EB04F529B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043363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1" name="Line 8">
            <a:extLst>
              <a:ext uri="{FF2B5EF4-FFF2-40B4-BE49-F238E27FC236}">
                <a16:creationId xmlns:a16="http://schemas.microsoft.com/office/drawing/2014/main" id="{23276B7D-7691-49A8-925F-5386A4577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043363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2" name="Line 9">
            <a:extLst>
              <a:ext uri="{FF2B5EF4-FFF2-40B4-BE49-F238E27FC236}">
                <a16:creationId xmlns:a16="http://schemas.microsoft.com/office/drawing/2014/main" id="{AB875EB6-4567-4BF9-BAA3-4C0B1DC84B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5033963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3" name="Line 10">
            <a:extLst>
              <a:ext uri="{FF2B5EF4-FFF2-40B4-BE49-F238E27FC236}">
                <a16:creationId xmlns:a16="http://schemas.microsoft.com/office/drawing/2014/main" id="{3315D49D-944E-4E71-A9F9-D60EAC6CBB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110163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4" name="Line 11">
            <a:extLst>
              <a:ext uri="{FF2B5EF4-FFF2-40B4-BE49-F238E27FC236}">
                <a16:creationId xmlns:a16="http://schemas.microsoft.com/office/drawing/2014/main" id="{EB68CD4D-A2D7-4EA3-8EA9-9ECCC1170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110163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5" name="Line 12">
            <a:extLst>
              <a:ext uri="{FF2B5EF4-FFF2-40B4-BE49-F238E27FC236}">
                <a16:creationId xmlns:a16="http://schemas.microsoft.com/office/drawing/2014/main" id="{727D834E-4449-418D-98B7-F2FF454F4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110163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66" name="Oval 13">
            <a:extLst>
              <a:ext uri="{FF2B5EF4-FFF2-40B4-BE49-F238E27FC236}">
                <a16:creationId xmlns:a16="http://schemas.microsoft.com/office/drawing/2014/main" id="{2E5FFDC8-9DD3-43F9-8F0E-A7D8E6EC5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6717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67" name="Oval 14">
            <a:extLst>
              <a:ext uri="{FF2B5EF4-FFF2-40B4-BE49-F238E27FC236}">
                <a16:creationId xmlns:a16="http://schemas.microsoft.com/office/drawing/2014/main" id="{03F291C6-798F-46D9-B5A2-41598CF12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6529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68" name="Oval 15">
            <a:extLst>
              <a:ext uri="{FF2B5EF4-FFF2-40B4-BE49-F238E27FC236}">
                <a16:creationId xmlns:a16="http://schemas.microsoft.com/office/drawing/2014/main" id="{4DD10CC5-FB06-4715-9C68-36E79BE0F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5861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eat</a:t>
            </a:r>
          </a:p>
        </p:txBody>
      </p:sp>
      <p:sp>
        <p:nvSpPr>
          <p:cNvPr id="202769" name="Oval 16">
            <a:extLst>
              <a:ext uri="{FF2B5EF4-FFF2-40B4-BE49-F238E27FC236}">
                <a16:creationId xmlns:a16="http://schemas.microsoft.com/office/drawing/2014/main" id="{36F3C9ED-2896-413C-9B69-1520F59C6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529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0" name="Oval 17">
            <a:extLst>
              <a:ext uri="{FF2B5EF4-FFF2-40B4-BE49-F238E27FC236}">
                <a16:creationId xmlns:a16="http://schemas.microsoft.com/office/drawing/2014/main" id="{7AA90C97-64CB-40C0-94F2-E0E068E2C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61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1" name="Oval 18">
            <a:extLst>
              <a:ext uri="{FF2B5EF4-FFF2-40B4-BE49-F238E27FC236}">
                <a16:creationId xmlns:a16="http://schemas.microsoft.com/office/drawing/2014/main" id="{B704F2E2-53CA-4EB5-872D-158F7008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5673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2" name="Oval 19">
            <a:extLst>
              <a:ext uri="{FF2B5EF4-FFF2-40B4-BE49-F238E27FC236}">
                <a16:creationId xmlns:a16="http://schemas.microsoft.com/office/drawing/2014/main" id="{2B02A2EE-706C-4B10-9386-29BBF25DA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5673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3" name="Oval 20">
            <a:extLst>
              <a:ext uri="{FF2B5EF4-FFF2-40B4-BE49-F238E27FC236}">
                <a16:creationId xmlns:a16="http://schemas.microsoft.com/office/drawing/2014/main" id="{48E22DC1-7B21-406B-930C-61706A86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6435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4" name="Oval 21">
            <a:extLst>
              <a:ext uri="{FF2B5EF4-FFF2-40B4-BE49-F238E27FC236}">
                <a16:creationId xmlns:a16="http://schemas.microsoft.com/office/drawing/2014/main" id="{2EA8B319-3885-4E2E-A9BC-173396E05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67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75" name="Line 22">
            <a:extLst>
              <a:ext uri="{FF2B5EF4-FFF2-40B4-BE49-F238E27FC236}">
                <a16:creationId xmlns:a16="http://schemas.microsoft.com/office/drawing/2014/main" id="{D43AB23F-51AB-4F84-ABA9-156E7AB2B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6100763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76" name="Line 23">
            <a:extLst>
              <a:ext uri="{FF2B5EF4-FFF2-40B4-BE49-F238E27FC236}">
                <a16:creationId xmlns:a16="http://schemas.microsoft.com/office/drawing/2014/main" id="{37BD8D1E-99BE-40AD-A667-CC5F91312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024563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77" name="Line 24">
            <a:extLst>
              <a:ext uri="{FF2B5EF4-FFF2-40B4-BE49-F238E27FC236}">
                <a16:creationId xmlns:a16="http://schemas.microsoft.com/office/drawing/2014/main" id="{2ECF89B7-2FCC-4347-9414-BDFD676FE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6100763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2778" name="Line 25">
            <a:extLst>
              <a:ext uri="{FF2B5EF4-FFF2-40B4-BE49-F238E27FC236}">
                <a16:creationId xmlns:a16="http://schemas.microsoft.com/office/drawing/2014/main" id="{0D0CF55C-A1BC-4185-B2A2-D1C50ED58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6100763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投影片編號版面配置區 5">
            <a:extLst>
              <a:ext uri="{FF2B5EF4-FFF2-40B4-BE49-F238E27FC236}">
                <a16:creationId xmlns:a16="http://schemas.microsoft.com/office/drawing/2014/main" id="{A2AE94F5-F60D-4D68-AA05-C780EA6FA5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B4BE41-2FEB-4E13-835B-878A3922AFC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E8AEFC27-83CE-4A5A-90C5-5D1D524AA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Expressiveness</a:t>
            </a:r>
            <a:br>
              <a:rPr lang="en-US" altLang="zh-TW"/>
            </a:br>
            <a:r>
              <a:rPr lang="en-US" altLang="zh-TW"/>
              <a:t> - CTL*, example (II)</a:t>
            </a:r>
          </a:p>
        </p:txBody>
      </p:sp>
      <p:sp>
        <p:nvSpPr>
          <p:cNvPr id="204804" name="Rectangle 3">
            <a:extLst>
              <a:ext uri="{FF2B5EF4-FFF2-40B4-BE49-F238E27FC236}">
                <a16:creationId xmlns:a16="http://schemas.microsoft.com/office/drawing/2014/main" id="{77182C62-265A-4DA3-BC92-CAA1170CA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773238"/>
            <a:ext cx="7772400" cy="3032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tree that distinguishes the following two formulas. 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b="1" i="1">
                <a:solidFill>
                  <a:srgbClr val="0000FF"/>
                </a:solidFill>
              </a:rPr>
              <a:t>eat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(</a:t>
            </a:r>
            <a:r>
              <a:rPr lang="en-US" altLang="zh-TW" b="1" i="1">
                <a:solidFill>
                  <a:srgbClr val="0000FF"/>
                </a:solidFill>
              </a:rPr>
              <a:t>eat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  <a:p>
            <a:pPr lvl="1" eaLnBrk="1" hangingPunct="1"/>
            <a:r>
              <a:rPr lang="en-US" altLang="zh-TW" b="1">
                <a:sym typeface="Symbol" panose="05050102010706020507" pitchFamily="18" charset="2"/>
              </a:rPr>
              <a:t>Negation: 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b="1" i="1">
                <a:solidFill>
                  <a:srgbClr val="0000FF"/>
                </a:solidFill>
              </a:rPr>
              <a:t>eat </a:t>
            </a:r>
            <a:r>
              <a:rPr lang="en-US" altLang="zh-TW" sz="3000" b="1">
                <a:sym typeface="Symbol" panose="05050102010706020507" pitchFamily="18" charset="2"/>
              </a:rPr>
              <a:t></a:t>
            </a:r>
            <a:r>
              <a:rPr lang="en-US" altLang="zh-TW" b="1"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b="1" i="1">
                <a:solidFill>
                  <a:srgbClr val="0000FF"/>
                </a:solidFill>
              </a:rPr>
              <a:t>full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  <a:p>
            <a:pPr eaLnBrk="1" hangingPunct="1"/>
            <a:endParaRPr lang="en-US" altLang="zh-TW" b="1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</p:txBody>
      </p:sp>
      <p:sp>
        <p:nvSpPr>
          <p:cNvPr id="204805" name="Line 4">
            <a:extLst>
              <a:ext uri="{FF2B5EF4-FFF2-40B4-BE49-F238E27FC236}">
                <a16:creationId xmlns:a16="http://schemas.microsoft.com/office/drawing/2014/main" id="{A13AC328-0226-457A-8519-3FD6010FB3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31226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06" name="Line 5">
            <a:extLst>
              <a:ext uri="{FF2B5EF4-FFF2-40B4-BE49-F238E27FC236}">
                <a16:creationId xmlns:a16="http://schemas.microsoft.com/office/drawing/2014/main" id="{3197DED6-5215-4FF6-9630-D81C1627E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7450" y="31226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07" name="Line 6">
            <a:extLst>
              <a:ext uri="{FF2B5EF4-FFF2-40B4-BE49-F238E27FC236}">
                <a16:creationId xmlns:a16="http://schemas.microsoft.com/office/drawing/2014/main" id="{1215C0DF-E781-4F9F-A461-E3188C8228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043363"/>
            <a:ext cx="533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08" name="Line 7">
            <a:extLst>
              <a:ext uri="{FF2B5EF4-FFF2-40B4-BE49-F238E27FC236}">
                <a16:creationId xmlns:a16="http://schemas.microsoft.com/office/drawing/2014/main" id="{1293497F-7144-483D-83BE-3F4EF8264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043363"/>
            <a:ext cx="762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09" name="Line 8">
            <a:extLst>
              <a:ext uri="{FF2B5EF4-FFF2-40B4-BE49-F238E27FC236}">
                <a16:creationId xmlns:a16="http://schemas.microsoft.com/office/drawing/2014/main" id="{39B6C6AE-7164-4ECD-B8A7-D5CDFA1CE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043363"/>
            <a:ext cx="22860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10" name="Line 9">
            <a:extLst>
              <a:ext uri="{FF2B5EF4-FFF2-40B4-BE49-F238E27FC236}">
                <a16:creationId xmlns:a16="http://schemas.microsoft.com/office/drawing/2014/main" id="{F3EBC787-E108-44FA-9E6B-F837490271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5033963"/>
            <a:ext cx="1524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11" name="Line 10">
            <a:extLst>
              <a:ext uri="{FF2B5EF4-FFF2-40B4-BE49-F238E27FC236}">
                <a16:creationId xmlns:a16="http://schemas.microsoft.com/office/drawing/2014/main" id="{D8BF0E2B-0B69-4956-AAE3-8B3499D452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110163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12" name="Line 11">
            <a:extLst>
              <a:ext uri="{FF2B5EF4-FFF2-40B4-BE49-F238E27FC236}">
                <a16:creationId xmlns:a16="http://schemas.microsoft.com/office/drawing/2014/main" id="{A17A8836-13EE-4FA3-8E9C-34F035944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5110163"/>
            <a:ext cx="381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13" name="Line 12">
            <a:extLst>
              <a:ext uri="{FF2B5EF4-FFF2-40B4-BE49-F238E27FC236}">
                <a16:creationId xmlns:a16="http://schemas.microsoft.com/office/drawing/2014/main" id="{B1451DE5-9E05-4EE9-9BEE-BE0CABF6D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110163"/>
            <a:ext cx="152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14" name="Oval 13">
            <a:extLst>
              <a:ext uri="{FF2B5EF4-FFF2-40B4-BE49-F238E27FC236}">
                <a16:creationId xmlns:a16="http://schemas.microsoft.com/office/drawing/2014/main" id="{BBBA621D-3E38-40FB-A33A-542D66E6A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6717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15" name="Oval 14">
            <a:extLst>
              <a:ext uri="{FF2B5EF4-FFF2-40B4-BE49-F238E27FC236}">
                <a16:creationId xmlns:a16="http://schemas.microsoft.com/office/drawing/2014/main" id="{DB7C91F0-4227-4F0C-ADA5-62E17B6F4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6529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16" name="Oval 15">
            <a:extLst>
              <a:ext uri="{FF2B5EF4-FFF2-40B4-BE49-F238E27FC236}">
                <a16:creationId xmlns:a16="http://schemas.microsoft.com/office/drawing/2014/main" id="{EF1938A1-B0F3-4382-8427-821785BB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5861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FFCC00"/>
                </a:solidFill>
                <a:latin typeface="Times New Roman" panose="02020603050405020304" pitchFamily="18" charset="0"/>
              </a:rPr>
              <a:t>eat</a:t>
            </a:r>
          </a:p>
        </p:txBody>
      </p:sp>
      <p:sp>
        <p:nvSpPr>
          <p:cNvPr id="204817" name="Oval 16">
            <a:extLst>
              <a:ext uri="{FF2B5EF4-FFF2-40B4-BE49-F238E27FC236}">
                <a16:creationId xmlns:a16="http://schemas.microsoft.com/office/drawing/2014/main" id="{EAD88161-7F60-44F6-806C-572262943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529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18" name="Oval 17">
            <a:extLst>
              <a:ext uri="{FF2B5EF4-FFF2-40B4-BE49-F238E27FC236}">
                <a16:creationId xmlns:a16="http://schemas.microsoft.com/office/drawing/2014/main" id="{26F33655-A556-4C4D-9CDB-B91FA087B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61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19" name="Oval 18">
            <a:extLst>
              <a:ext uri="{FF2B5EF4-FFF2-40B4-BE49-F238E27FC236}">
                <a16:creationId xmlns:a16="http://schemas.microsoft.com/office/drawing/2014/main" id="{3F244A0F-A9C7-472A-9E0D-306C259A4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5673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20" name="Oval 19">
            <a:extLst>
              <a:ext uri="{FF2B5EF4-FFF2-40B4-BE49-F238E27FC236}">
                <a16:creationId xmlns:a16="http://schemas.microsoft.com/office/drawing/2014/main" id="{54673D40-8A2B-4314-BB78-DDA5156BD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5673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21" name="Oval 20">
            <a:extLst>
              <a:ext uri="{FF2B5EF4-FFF2-40B4-BE49-F238E27FC236}">
                <a16:creationId xmlns:a16="http://schemas.microsoft.com/office/drawing/2014/main" id="{8F882B4B-28ED-4B26-A101-D2EE669A9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6435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22" name="Oval 21">
            <a:extLst>
              <a:ext uri="{FF2B5EF4-FFF2-40B4-BE49-F238E27FC236}">
                <a16:creationId xmlns:a16="http://schemas.microsoft.com/office/drawing/2014/main" id="{05E58AE8-91EA-4773-8477-D2C4F6DD5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67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23" name="Line 22">
            <a:extLst>
              <a:ext uri="{FF2B5EF4-FFF2-40B4-BE49-F238E27FC236}">
                <a16:creationId xmlns:a16="http://schemas.microsoft.com/office/drawing/2014/main" id="{D124E65A-E886-4A88-93D8-09998924D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6100763"/>
            <a:ext cx="762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24" name="Line 23">
            <a:extLst>
              <a:ext uri="{FF2B5EF4-FFF2-40B4-BE49-F238E27FC236}">
                <a16:creationId xmlns:a16="http://schemas.microsoft.com/office/drawing/2014/main" id="{66298B1F-DB52-4584-9281-4FB8F79AE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024563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25" name="Line 24">
            <a:extLst>
              <a:ext uri="{FF2B5EF4-FFF2-40B4-BE49-F238E27FC236}">
                <a16:creationId xmlns:a16="http://schemas.microsoft.com/office/drawing/2014/main" id="{C5DB374C-58B3-479D-9068-D9AE1B7F1C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6100763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4826" name="Line 25">
            <a:extLst>
              <a:ext uri="{FF2B5EF4-FFF2-40B4-BE49-F238E27FC236}">
                <a16:creationId xmlns:a16="http://schemas.microsoft.com/office/drawing/2014/main" id="{2C16A59E-9FC9-4F6B-9E54-318111920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6100763"/>
            <a:ext cx="1524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投影片編號版面配置區 5">
            <a:extLst>
              <a:ext uri="{FF2B5EF4-FFF2-40B4-BE49-F238E27FC236}">
                <a16:creationId xmlns:a16="http://schemas.microsoft.com/office/drawing/2014/main" id="{2B72ED05-E71C-4521-A9F5-9F9050F5F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5D2CDC-4032-485C-9742-6FBE7CFE498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604F6FCC-5F8A-4586-8D01-DFB3AA939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examples (2/4)</a:t>
            </a:r>
          </a:p>
        </p:txBody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1FEAF530-86E1-48A9-A38B-F81C92AD3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No matter what, infinitely many comets will hit earth.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400" b="1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/>
              <a:t>Why not CTL?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3400" b="1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3400" b="1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3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990099"/>
                </a:solidFill>
              </a:rPr>
              <a:t>Exercise, please construct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990099"/>
                </a:solidFill>
              </a:rPr>
              <a:t> model that tells the last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990099"/>
                </a:solidFill>
              </a:rPr>
              <a:t> from the first.</a:t>
            </a:r>
          </a:p>
        </p:txBody>
      </p:sp>
      <p:sp>
        <p:nvSpPr>
          <p:cNvPr id="595972" name="AutoShape 4">
            <a:extLst>
              <a:ext uri="{FF2B5EF4-FFF2-40B4-BE49-F238E27FC236}">
                <a16:creationId xmlns:a16="http://schemas.microsoft.com/office/drawing/2014/main" id="{DD7C220D-B848-4505-ACE6-D946A61DE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19400"/>
            <a:ext cx="2057400" cy="1066800"/>
          </a:xfrm>
          <a:prstGeom prst="wedgeRectCallout">
            <a:avLst>
              <a:gd name="adj1" fmla="val -99306"/>
              <a:gd name="adj2" fmla="val 1002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Difference ? </a:t>
            </a:r>
          </a:p>
        </p:txBody>
      </p:sp>
      <p:sp>
        <p:nvSpPr>
          <p:cNvPr id="595973" name="Oval 5">
            <a:extLst>
              <a:ext uri="{FF2B5EF4-FFF2-40B4-BE49-F238E27FC236}">
                <a16:creationId xmlns:a16="http://schemas.microsoft.com/office/drawing/2014/main" id="{8D83F7D9-F89B-406C-8BC7-1ECE87FD0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sp>
        <p:nvSpPr>
          <p:cNvPr id="595977" name="AutoShape 9">
            <a:extLst>
              <a:ext uri="{FF2B5EF4-FFF2-40B4-BE49-F238E27FC236}">
                <a16:creationId xmlns:a16="http://schemas.microsoft.com/office/drawing/2014/main" id="{7347FE45-B61A-471C-A37A-3A697517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191000"/>
            <a:ext cx="2057400" cy="2286000"/>
          </a:xfrm>
          <a:prstGeom prst="wedgeRectCallout">
            <a:avLst>
              <a:gd name="adj1" fmla="val -109181"/>
              <a:gd name="adj2" fmla="val -109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Difference ? </a:t>
            </a:r>
          </a:p>
        </p:txBody>
      </p:sp>
      <p:sp>
        <p:nvSpPr>
          <p:cNvPr id="595978" name="Oval 10">
            <a:extLst>
              <a:ext uri="{FF2B5EF4-FFF2-40B4-BE49-F238E27FC236}">
                <a16:creationId xmlns:a16="http://schemas.microsoft.com/office/drawing/2014/main" id="{CF4787C3-2DB8-45F3-8C6D-245031B7C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7244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sp>
        <p:nvSpPr>
          <p:cNvPr id="595979" name="Oval 11">
            <a:extLst>
              <a:ext uri="{FF2B5EF4-FFF2-40B4-BE49-F238E27FC236}">
                <a16:creationId xmlns:a16="http://schemas.microsoft.com/office/drawing/2014/main" id="{E6D9388E-44EB-4C47-AE7A-CB22E88F3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71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che</a:t>
            </a:r>
          </a:p>
        </p:txBody>
      </p:sp>
      <p:sp>
        <p:nvSpPr>
          <p:cNvPr id="595980" name="Oval 12">
            <a:extLst>
              <a:ext uri="{FF2B5EF4-FFF2-40B4-BE49-F238E27FC236}">
                <a16:creationId xmlns:a16="http://schemas.microsoft.com/office/drawing/2014/main" id="{F70F9AFC-ED87-4189-8D80-D7B5ADA0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7150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sp>
        <p:nvSpPr>
          <p:cNvPr id="595981" name="Line 13">
            <a:extLst>
              <a:ext uri="{FF2B5EF4-FFF2-40B4-BE49-F238E27FC236}">
                <a16:creationId xmlns:a16="http://schemas.microsoft.com/office/drawing/2014/main" id="{76513060-5EDE-4045-9DFD-6FA9E7FDE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5181600"/>
            <a:ext cx="304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82" name="Line 14">
            <a:extLst>
              <a:ext uri="{FF2B5EF4-FFF2-40B4-BE49-F238E27FC236}">
                <a16:creationId xmlns:a16="http://schemas.microsoft.com/office/drawing/2014/main" id="{C521A102-9E7A-4CC5-AAD8-3922A67257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52578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5B7CD37-09E8-49D4-972F-C9784E84C996}"/>
              </a:ext>
            </a:extLst>
          </p:cNvPr>
          <p:cNvCxnSpPr/>
          <p:nvPr/>
        </p:nvCxnSpPr>
        <p:spPr>
          <a:xfrm>
            <a:off x="6553200" y="4419600"/>
            <a:ext cx="2590800" cy="19812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F2EFA77-C6EA-4303-A13D-720017A42C79}"/>
              </a:ext>
            </a:extLst>
          </p:cNvPr>
          <p:cNvCxnSpPr/>
          <p:nvPr/>
        </p:nvCxnSpPr>
        <p:spPr>
          <a:xfrm rot="10800000" flipV="1">
            <a:off x="6172200" y="4038600"/>
            <a:ext cx="2514600" cy="23622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9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9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9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9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59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59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 build="p"/>
      <p:bldP spid="595972" grpId="0" animBg="1"/>
      <p:bldP spid="595973" grpId="0" animBg="1"/>
      <p:bldP spid="595977" grpId="0" animBg="1"/>
      <p:bldP spid="595978" grpId="0" animBg="1"/>
      <p:bldP spid="595979" grpId="0" animBg="1"/>
      <p:bldP spid="595980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投影片編號版面配置區 5">
            <a:extLst>
              <a:ext uri="{FF2B5EF4-FFF2-40B4-BE49-F238E27FC236}">
                <a16:creationId xmlns:a16="http://schemas.microsoft.com/office/drawing/2014/main" id="{3939F0F5-D59D-4A14-9A1F-EBBBB8D67F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A81BAB-A5A5-4994-A53D-B5C25B67C58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A99D75A1-8458-44E5-8219-3B11D91FE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examples (2/4)</a:t>
            </a:r>
          </a:p>
        </p:txBody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9685D424-9C97-4E0D-95E5-E9A865B69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No matter what, infinitely many comets will hit earth.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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/>
              <a:t>Or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olidFill>
                  <a:srgbClr val="0000FF"/>
                </a:solidFill>
                <a:sym typeface="Symbol" panose="05050102010706020507" pitchFamily="18" charset="2"/>
              </a:rPr>
              <a:t>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i="1"/>
              <a:t>Why not CTL?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 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sz="3400"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 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 i="1"/>
          </a:p>
        </p:txBody>
      </p:sp>
      <p:sp>
        <p:nvSpPr>
          <p:cNvPr id="935940" name="AutoShape 4">
            <a:extLst>
              <a:ext uri="{FF2B5EF4-FFF2-40B4-BE49-F238E27FC236}">
                <a16:creationId xmlns:a16="http://schemas.microsoft.com/office/drawing/2014/main" id="{DD6DF579-5182-4E70-93FC-A33BE1DC9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19400"/>
            <a:ext cx="2057400" cy="1676400"/>
          </a:xfrm>
          <a:prstGeom prst="wedgeRectCallout">
            <a:avLst>
              <a:gd name="adj1" fmla="val -123301"/>
              <a:gd name="adj2" fmla="val 922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What is the difference 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weak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next !</a:t>
            </a:r>
          </a:p>
        </p:txBody>
      </p:sp>
      <p:sp>
        <p:nvSpPr>
          <p:cNvPr id="935941" name="Oval 5">
            <a:extLst>
              <a:ext uri="{FF2B5EF4-FFF2-40B4-BE49-F238E27FC236}">
                <a16:creationId xmlns:a16="http://schemas.microsoft.com/office/drawing/2014/main" id="{59E7163E-C110-4519-A045-E4C9B89A6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886200"/>
            <a:ext cx="5334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35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3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3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3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3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3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93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5939" grpId="0" build="p"/>
      <p:bldP spid="935940" grpId="0" animBg="1"/>
      <p:bldP spid="93594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圖說文字 6">
            <a:extLst>
              <a:ext uri="{FF2B5EF4-FFF2-40B4-BE49-F238E27FC236}">
                <a16:creationId xmlns:a16="http://schemas.microsoft.com/office/drawing/2014/main" id="{27098266-C616-4BFF-9E9B-22A615387D15}"/>
              </a:ext>
            </a:extLst>
          </p:cNvPr>
          <p:cNvSpPr/>
          <p:nvPr/>
        </p:nvSpPr>
        <p:spPr>
          <a:xfrm>
            <a:off x="6858000" y="762000"/>
            <a:ext cx="990600" cy="914400"/>
          </a:xfrm>
          <a:prstGeom prst="wedgeRectCallout">
            <a:avLst>
              <a:gd name="adj1" fmla="val -148855"/>
              <a:gd name="adj2" fmla="val 1711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 dirty="0"/>
          </a:p>
        </p:txBody>
      </p:sp>
      <p:sp>
        <p:nvSpPr>
          <p:cNvPr id="210947" name="投影片編號版面配置區 5">
            <a:extLst>
              <a:ext uri="{FF2B5EF4-FFF2-40B4-BE49-F238E27FC236}">
                <a16:creationId xmlns:a16="http://schemas.microsoft.com/office/drawing/2014/main" id="{64BEC210-A1C7-45E9-B9B4-1E42EE585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EBD0AC-D935-413D-9F52-E4706CB360D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10948" name="Rectangle 2">
            <a:extLst>
              <a:ext uri="{FF2B5EF4-FFF2-40B4-BE49-F238E27FC236}">
                <a16:creationId xmlns:a16="http://schemas.microsoft.com/office/drawing/2014/main" id="{3252BFD1-919F-4B39-8E95-115D5F0B8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Workout</a:t>
            </a:r>
          </a:p>
        </p:txBody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91920718-92ED-4356-86FA-80DDB9215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(1) 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</a:t>
            </a:r>
            <a:r>
              <a:rPr lang="en-US" altLang="zh-TW">
                <a:solidFill>
                  <a:srgbClr val="990099"/>
                </a:solidFill>
              </a:rPr>
              <a:t>comet-hit-earth 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(2) 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 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(3) 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sz="3400"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  </a:t>
            </a:r>
            <a:r>
              <a:rPr lang="en-US" altLang="zh-TW">
                <a:solidFill>
                  <a:srgbClr val="990099"/>
                </a:solidFill>
              </a:rPr>
              <a:t>comet-hit-earth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990099"/>
                </a:solidFill>
              </a:rPr>
              <a:t>Please draw Kripke structures that tell </a:t>
            </a:r>
          </a:p>
          <a:p>
            <a:pPr eaLnBrk="1" hangingPunct="1"/>
            <a:r>
              <a:rPr lang="en-US" altLang="zh-TW">
                <a:solidFill>
                  <a:srgbClr val="990099"/>
                </a:solidFill>
              </a:rPr>
              <a:t>(1) from (2) and (3) </a:t>
            </a:r>
          </a:p>
          <a:p>
            <a:pPr eaLnBrk="1" hangingPunct="1"/>
            <a:r>
              <a:rPr lang="en-US" altLang="zh-TW">
                <a:solidFill>
                  <a:srgbClr val="990099"/>
                </a:solidFill>
              </a:rPr>
              <a:t>(2) from (1) and (3) </a:t>
            </a:r>
          </a:p>
          <a:p>
            <a:pPr eaLnBrk="1" hangingPunct="1"/>
            <a:r>
              <a:rPr lang="en-US" altLang="zh-TW">
                <a:solidFill>
                  <a:srgbClr val="990099"/>
                </a:solidFill>
              </a:rPr>
              <a:t>(3) from (1) and (2) </a:t>
            </a:r>
            <a:endParaRPr lang="en-US" altLang="zh-TW" i="1"/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1F855636-6350-4B6E-8F7F-F7FDC059F1F7}"/>
              </a:ext>
            </a:extLst>
          </p:cNvPr>
          <p:cNvSpPr/>
          <p:nvPr/>
        </p:nvSpPr>
        <p:spPr>
          <a:xfrm>
            <a:off x="6324600" y="762000"/>
            <a:ext cx="1752600" cy="914400"/>
          </a:xfrm>
          <a:prstGeom prst="wedgeRectCallout">
            <a:avLst>
              <a:gd name="adj1" fmla="val -107976"/>
              <a:gd name="adj2" fmla="val 1126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dirty="0"/>
              <a:t>The same</a:t>
            </a:r>
          </a:p>
          <a:p>
            <a:pPr eaLnBrk="1" hangingPunct="1">
              <a:defRPr/>
            </a:pPr>
            <a:r>
              <a:rPr lang="en-US" altLang="zh-TW" dirty="0"/>
              <a:t>according to lemma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1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1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1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1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1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1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91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35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投影片編號版面配置區 5">
            <a:extLst>
              <a:ext uri="{FF2B5EF4-FFF2-40B4-BE49-F238E27FC236}">
                <a16:creationId xmlns:a16="http://schemas.microsoft.com/office/drawing/2014/main" id="{38000404-C111-4CBF-AFF0-A84A008F0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FDCCC1-6D01-477D-ADCB-B185350CFFD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8A56C822-A50B-4C98-8FC3-EA237DF81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examples (3/4) </a:t>
            </a:r>
          </a:p>
        </p:txBody>
      </p:sp>
      <p:sp>
        <p:nvSpPr>
          <p:cNvPr id="598019" name="Rectangle 3">
            <a:extLst>
              <a:ext uri="{FF2B5EF4-FFF2-40B4-BE49-F238E27FC236}">
                <a16:creationId xmlns:a16="http://schemas.microsoft.com/office/drawing/2014/main" id="{B895CBAB-B66D-46D8-9562-283E8D970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438400"/>
            <a:ext cx="84582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If you never have a lover, I will marry you.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ym typeface="Wingdings 2" panose="05020102010507070707" pitchFamily="18" charset="2"/>
              </a:rPr>
              <a:t>you-have-</a:t>
            </a:r>
            <a:r>
              <a:rPr lang="en-US" altLang="zh-TW"/>
              <a:t>no-lover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/>
              <a:t>marry-you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/>
              <a:t>Why not CTL ?</a:t>
            </a: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>
                <a:sym typeface="Wingdings 2" panose="05020102010507070707" pitchFamily="18" charset="2"/>
              </a:rPr>
              <a:t>you-have-</a:t>
            </a:r>
            <a:r>
              <a:rPr lang="en-US" altLang="zh-TW"/>
              <a:t>no-lover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/>
              <a:t>marry-you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(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>
                <a:sym typeface="Wingdings 2" panose="05020102010507070707" pitchFamily="18" charset="2"/>
              </a:rPr>
              <a:t>you-have-</a:t>
            </a:r>
            <a:r>
              <a:rPr lang="en-US" altLang="zh-TW"/>
              <a:t>no-lover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sz="3400">
                <a:sym typeface="Symbol" panose="05050102010706020507" pitchFamily="18" charset="2"/>
              </a:rPr>
              <a:t>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/>
              <a:t>marry-you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sz="3400"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>
                <a:sym typeface="Wingdings 2" panose="05020102010507070707" pitchFamily="18" charset="2"/>
              </a:rPr>
              <a:t>you-have-</a:t>
            </a:r>
            <a:r>
              <a:rPr lang="en-US" altLang="zh-TW"/>
              <a:t>no-lover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/>
              <a:t>marry-you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/>
            <a:endParaRPr lang="en-US" altLang="zh-TW" i="1"/>
          </a:p>
        </p:txBody>
      </p:sp>
      <p:sp>
        <p:nvSpPr>
          <p:cNvPr id="212997" name="Line 4">
            <a:extLst>
              <a:ext uri="{FF2B5EF4-FFF2-40B4-BE49-F238E27FC236}">
                <a16:creationId xmlns:a16="http://schemas.microsoft.com/office/drawing/2014/main" id="{2436F6D9-4E2C-48F0-8723-D79FD0D52B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3050" y="9128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2998" name="Line 5">
            <a:extLst>
              <a:ext uri="{FF2B5EF4-FFF2-40B4-BE49-F238E27FC236}">
                <a16:creationId xmlns:a16="http://schemas.microsoft.com/office/drawing/2014/main" id="{881A724C-0795-4641-B291-EBC2D143D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5050" y="912813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CC069FA2-936D-40C2-9757-3CDCC402A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57200"/>
            <a:ext cx="19812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accent3"/>
                </a:solidFill>
                <a:latin typeface="+mn-lt"/>
              </a:rPr>
              <a:t>no-lover</a:t>
            </a:r>
            <a:endParaRPr lang="zh-TW" altLang="zh-TW" sz="24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213000" name="Oval 17">
            <a:extLst>
              <a:ext uri="{FF2B5EF4-FFF2-40B4-BE49-F238E27FC236}">
                <a16:creationId xmlns:a16="http://schemas.microsoft.com/office/drawing/2014/main" id="{CC016C9A-AE73-4C0B-B00F-ECA6417F1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76363"/>
            <a:ext cx="6858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 i="1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弧形 29">
            <a:extLst>
              <a:ext uri="{FF2B5EF4-FFF2-40B4-BE49-F238E27FC236}">
                <a16:creationId xmlns:a16="http://schemas.microsoft.com/office/drawing/2014/main" id="{F0FE3D00-18E8-4774-A7ED-870F5D29587A}"/>
              </a:ext>
            </a:extLst>
          </p:cNvPr>
          <p:cNvSpPr/>
          <p:nvPr/>
        </p:nvSpPr>
        <p:spPr>
          <a:xfrm>
            <a:off x="7924800" y="1676400"/>
            <a:ext cx="685800" cy="685800"/>
          </a:xfrm>
          <a:prstGeom prst="arc">
            <a:avLst>
              <a:gd name="adj1" fmla="val 20374567"/>
              <a:gd name="adj2" fmla="val 12129585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3CB4088A-8529-4881-A131-267761662732}"/>
              </a:ext>
            </a:extLst>
          </p:cNvPr>
          <p:cNvSpPr/>
          <p:nvPr/>
        </p:nvSpPr>
        <p:spPr>
          <a:xfrm flipH="1">
            <a:off x="5638800" y="1524000"/>
            <a:ext cx="685800" cy="685800"/>
          </a:xfrm>
          <a:prstGeom prst="arc">
            <a:avLst>
              <a:gd name="adj1" fmla="val 14681926"/>
              <a:gd name="adj2" fmla="val 1040916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2" name="Oval 13">
            <a:extLst>
              <a:ext uri="{FF2B5EF4-FFF2-40B4-BE49-F238E27FC236}">
                <a16:creationId xmlns:a16="http://schemas.microsoft.com/office/drawing/2014/main" id="{7238A2AD-E212-4B20-836B-D2516BA2C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371600"/>
            <a:ext cx="1981200" cy="5207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accent3"/>
                </a:solidFill>
                <a:latin typeface="+mn-lt"/>
              </a:rPr>
              <a:t>no-lover</a:t>
            </a:r>
            <a:endParaRPr lang="zh-TW" altLang="zh-TW" sz="2400" dirty="0">
              <a:solidFill>
                <a:schemeClr val="accent3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98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98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98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9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投影片編號版面配置區 5">
            <a:extLst>
              <a:ext uri="{FF2B5EF4-FFF2-40B4-BE49-F238E27FC236}">
                <a16:creationId xmlns:a16="http://schemas.microsoft.com/office/drawing/2014/main" id="{D84B4E92-36DE-4392-B550-62C10286ED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FC02AA-2715-4361-AB6C-72F7051FC4E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C0883A69-36DA-4C26-BD86-EB1123DD7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Workout </a:t>
            </a:r>
          </a:p>
        </p:txBody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C8BE049F-119F-4AF5-99C7-6B5DAF99D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458200" cy="4572000"/>
          </a:xfrm>
        </p:spPr>
        <p:txBody>
          <a:bodyPr/>
          <a:lstStyle/>
          <a:p>
            <a:pPr eaLnBrk="1" hangingPunct="1"/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(1)(</a:t>
            </a:r>
            <a:r>
              <a:rPr lang="en-US" altLang="zh-TW" sz="2600" b="1">
                <a:solidFill>
                  <a:srgbClr val="0000FF"/>
                </a:solidFill>
              </a:rPr>
              <a:t>(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600">
                <a:sym typeface="Wingdings 2" panose="05020102010507070707" pitchFamily="18" charset="2"/>
              </a:rPr>
              <a:t>you-have-</a:t>
            </a:r>
            <a:r>
              <a:rPr lang="en-US" altLang="zh-TW" sz="2600"/>
              <a:t>no-lover</a:t>
            </a:r>
            <a:r>
              <a:rPr lang="en-US" altLang="zh-TW" sz="2600" b="1">
                <a:solidFill>
                  <a:srgbClr val="0000FF"/>
                </a:solidFill>
              </a:rPr>
              <a:t>)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600"/>
              <a:t>marry-you</a:t>
            </a:r>
            <a:r>
              <a:rPr lang="en-US" altLang="zh-TW" sz="2600" b="1">
                <a:solidFill>
                  <a:srgbClr val="0000FF"/>
                </a:solidFill>
              </a:rPr>
              <a:t>)</a:t>
            </a:r>
            <a:endParaRPr lang="en-US" altLang="zh-TW" sz="2600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(2) (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sz="2600">
                <a:sym typeface="Wingdings 2" panose="05020102010507070707" pitchFamily="18" charset="2"/>
              </a:rPr>
              <a:t>you-have-</a:t>
            </a:r>
            <a:r>
              <a:rPr lang="en-US" altLang="zh-TW" sz="2600"/>
              <a:t>no-lover</a:t>
            </a:r>
            <a:r>
              <a:rPr lang="en-US" altLang="zh-TW" sz="2600" b="1">
                <a:solidFill>
                  <a:srgbClr val="0000FF"/>
                </a:solidFill>
              </a:rPr>
              <a:t>)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 sz="2600"/>
              <a:t>marry-you</a:t>
            </a:r>
            <a:endParaRPr lang="en-US" altLang="zh-TW" sz="2600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(3) (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sz="2600">
                <a:sym typeface="Wingdings 2" panose="05020102010507070707" pitchFamily="18" charset="2"/>
              </a:rPr>
              <a:t>you-have-</a:t>
            </a:r>
            <a:r>
              <a:rPr lang="en-US" altLang="zh-TW" sz="2600"/>
              <a:t>no-lover</a:t>
            </a:r>
            <a:r>
              <a:rPr lang="en-US" altLang="zh-TW" sz="2600" b="1">
                <a:solidFill>
                  <a:srgbClr val="0000FF"/>
                </a:solidFill>
              </a:rPr>
              <a:t>)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 sz="2600"/>
              <a:t>marry-you</a:t>
            </a:r>
            <a:endParaRPr lang="en-US" altLang="zh-TW" sz="2600" b="1" i="1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(4) (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 </a:t>
            </a:r>
            <a:r>
              <a:rPr lang="en-US" altLang="zh-TW" sz="2600">
                <a:sym typeface="Wingdings 2" panose="05020102010507070707" pitchFamily="18" charset="2"/>
              </a:rPr>
              <a:t>you-have-</a:t>
            </a:r>
            <a:r>
              <a:rPr lang="en-US" altLang="zh-TW" sz="2600"/>
              <a:t>no-lover</a:t>
            </a:r>
            <a:r>
              <a:rPr lang="en-US" altLang="zh-TW" sz="2600" b="1">
                <a:solidFill>
                  <a:srgbClr val="0000FF"/>
                </a:solidFill>
              </a:rPr>
              <a:t>)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600" b="1" i="1">
                <a:solidFill>
                  <a:srgbClr val="0000FF"/>
                </a:solidFill>
              </a:rPr>
              <a:t> </a:t>
            </a:r>
            <a:r>
              <a:rPr lang="en-US" altLang="zh-TW" sz="2600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 sz="2600"/>
              <a:t>marry-you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 b="1" i="1">
                <a:solidFill>
                  <a:srgbClr val="0000FF"/>
                </a:solidFill>
              </a:rPr>
              <a:t>Please draw trees that tell </a:t>
            </a:r>
          </a:p>
          <a:p>
            <a:pPr eaLnBrk="1" hangingPunct="1"/>
            <a:r>
              <a:rPr lang="en-US" altLang="zh-TW" sz="2600" b="1" i="1">
                <a:solidFill>
                  <a:srgbClr val="0000FF"/>
                </a:solidFill>
              </a:rPr>
              <a:t>(1) from (2)</a:t>
            </a:r>
          </a:p>
          <a:p>
            <a:pPr eaLnBrk="1" hangingPunct="1"/>
            <a:r>
              <a:rPr lang="en-US" altLang="zh-TW" sz="2600" b="1" i="1">
                <a:solidFill>
                  <a:srgbClr val="0000FF"/>
                </a:solidFill>
              </a:rPr>
              <a:t>(2) from (3)</a:t>
            </a:r>
          </a:p>
          <a:p>
            <a:pPr eaLnBrk="1" hangingPunct="1"/>
            <a:r>
              <a:rPr lang="en-US" altLang="zh-TW" sz="2600" b="1" i="1">
                <a:solidFill>
                  <a:srgbClr val="0000FF"/>
                </a:solidFill>
              </a:rPr>
              <a:t>(3) from (4)</a:t>
            </a:r>
          </a:p>
          <a:p>
            <a:pPr eaLnBrk="1" hangingPunct="1"/>
            <a:r>
              <a:rPr lang="en-US" altLang="zh-TW" sz="2600" b="1" i="1">
                <a:solidFill>
                  <a:srgbClr val="0000FF"/>
                </a:solidFill>
              </a:rPr>
              <a:t>(4) from (1)</a:t>
            </a:r>
            <a:endParaRPr lang="en-US" altLang="zh-TW" sz="26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1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1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1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1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1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648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投影片編號版面配置區 5">
            <a:extLst>
              <a:ext uri="{FF2B5EF4-FFF2-40B4-BE49-F238E27FC236}">
                <a16:creationId xmlns:a16="http://schemas.microsoft.com/office/drawing/2014/main" id="{E94AA152-EE53-48DC-9F0D-AB50F8F4F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EAF917-3D95-4AD7-AF9B-83F53299E04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17091" name="Rectangle 2">
            <a:extLst>
              <a:ext uri="{FF2B5EF4-FFF2-40B4-BE49-F238E27FC236}">
                <a16:creationId xmlns:a16="http://schemas.microsoft.com/office/drawing/2014/main" id="{9735A9E9-9690-4A45-87B2-29617A4BB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CTL*</a:t>
            </a:r>
            <a:br>
              <a:rPr lang="en-US" altLang="zh-TW" sz="3800"/>
            </a:br>
            <a:r>
              <a:rPr lang="en-US" altLang="zh-TW" sz="3800"/>
              <a:t> - examples (4/4) </a:t>
            </a:r>
          </a:p>
        </p:txBody>
      </p:sp>
      <p:sp>
        <p:nvSpPr>
          <p:cNvPr id="217092" name="Rectangle 3">
            <a:extLst>
              <a:ext uri="{FF2B5EF4-FFF2-40B4-BE49-F238E27FC236}">
                <a16:creationId xmlns:a16="http://schemas.microsoft.com/office/drawing/2014/main" id="{CC24D7A2-E3CA-4EA3-B0E8-189029ADB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If I buy lottory tickets infinitely many times, eventually I will win the lottery.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(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</a:t>
            </a:r>
            <a:r>
              <a:rPr lang="en-US" altLang="zh-TW"/>
              <a:t>buy-lottery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/>
              <a:t>win-lottery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endParaRPr lang="en-US" altLang="zh-TW" b="1" i="1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/>
              <a:t>or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 (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olidFill>
                  <a:srgbClr val="0000FF"/>
                </a:solidFill>
                <a:sym typeface="Symbol" panose="05050102010706020507" pitchFamily="18" charset="2"/>
              </a:rPr>
              <a:t> </a:t>
            </a:r>
            <a:r>
              <a:rPr lang="en-US" altLang="zh-TW"/>
              <a:t>buy-lottery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US" altLang="zh-TW" b="1" i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 </a:t>
            </a:r>
            <a:r>
              <a:rPr lang="en-US" altLang="zh-TW"/>
              <a:t>win-lottery</a:t>
            </a:r>
            <a:r>
              <a:rPr lang="en-US" altLang="zh-TW" b="1">
                <a:solidFill>
                  <a:srgbClr val="0000FF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投影片編號版面配置區 5">
            <a:extLst>
              <a:ext uri="{FF2B5EF4-FFF2-40B4-BE49-F238E27FC236}">
                <a16:creationId xmlns:a16="http://schemas.microsoft.com/office/drawing/2014/main" id="{7E015BB3-F3B0-4C2E-BDF1-FB24874CC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6276B9-8072-45DB-B0DA-931859D104A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19139" name="Rectangle 2">
            <a:extLst>
              <a:ext uri="{FF2B5EF4-FFF2-40B4-BE49-F238E27FC236}">
                <a16:creationId xmlns:a16="http://schemas.microsoft.com/office/drawing/2014/main" id="{49AE9063-EE4E-494D-AF45-FEF36968B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8486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  <a:br>
              <a:rPr lang="en-US" altLang="zh-TW" sz="3800"/>
            </a:br>
            <a:r>
              <a:rPr lang="en-US" altLang="zh-TW" sz="3800"/>
              <a:t> - CTL*</a:t>
            </a:r>
          </a:p>
        </p:txBody>
      </p:sp>
      <p:sp>
        <p:nvSpPr>
          <p:cNvPr id="219140" name="Rectangle 3">
            <a:extLst>
              <a:ext uri="{FF2B5EF4-FFF2-40B4-BE49-F238E27FC236}">
                <a16:creationId xmlns:a16="http://schemas.microsoft.com/office/drawing/2014/main" id="{A9DB3741-186D-4FF5-94FA-102303FE6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With the abundant semantics in CTL*, we can compare the subclasses of CTL*.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With restrictions on the modal operations after </a:t>
            </a:r>
            <a:r>
              <a:rPr lang="en-US" altLang="zh-TW" sz="3400">
                <a:solidFill>
                  <a:schemeClr val="hlink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400" i="1">
                <a:solidFill>
                  <a:schemeClr val="tx2"/>
                </a:solidFill>
              </a:rPr>
              <a:t>, </a:t>
            </a:r>
            <a:r>
              <a:rPr lang="en-US" altLang="zh-TW" sz="3400">
                <a:solidFill>
                  <a:schemeClr val="hlink"/>
                </a:solidFill>
                <a:sym typeface="Symbol" panose="05050102010706020507" pitchFamily="18" charset="2"/>
              </a:rPr>
              <a:t>,</a:t>
            </a:r>
            <a:r>
              <a:rPr lang="en-US" altLang="zh-TW">
                <a:sym typeface="Symbol" panose="05050102010706020507" pitchFamily="18" charset="2"/>
              </a:rPr>
              <a:t> we have many  </a:t>
            </a:r>
            <a:r>
              <a:rPr lang="en-US" altLang="zh-TW"/>
              <a:t>CTL</a:t>
            </a:r>
            <a:r>
              <a:rPr lang="zh-TW" altLang="en-US" baseline="30000"/>
              <a:t>＊</a:t>
            </a:r>
            <a:r>
              <a:rPr lang="zh-TW" altLang="en-US">
                <a:sym typeface="Symbol" panose="05050102010706020507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subclasses.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>
                <a:sym typeface="Symbol" panose="05050102010706020507" pitchFamily="18" charset="2"/>
              </a:rPr>
              <a:t>Example: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B(,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00FF"/>
                </a:solidFill>
              </a:rPr>
              <a:t>)</a:t>
            </a:r>
            <a:r>
              <a:rPr lang="en-US" altLang="zh-TW">
                <a:solidFill>
                  <a:schemeClr val="tx2"/>
                </a:solidFill>
              </a:rPr>
              <a:t> :</a:t>
            </a:r>
            <a:r>
              <a:rPr lang="en-US" altLang="zh-TW">
                <a:sym typeface="Symbol" panose="05050102010706020507" pitchFamily="18" charset="2"/>
              </a:rPr>
              <a:t>   only </a:t>
            </a:r>
            <a:r>
              <a:rPr lang="en-US" altLang="zh-TW">
                <a:solidFill>
                  <a:schemeClr val="tx2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>
                <a:solidFill>
                  <a:schemeClr val="tx2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 b="1" i="1">
                <a:solidFill>
                  <a:schemeClr val="tx2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b="1" i="1">
                <a:solidFill>
                  <a:schemeClr val="tx2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 after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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 i="1">
                <a:sym typeface="Symbol" panose="05050102010706020507" pitchFamily="18" charset="2"/>
              </a:rPr>
              <a:t>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</a:t>
            </a:r>
            <a:endParaRPr lang="en-US" altLang="zh-TW" b="1" i="1">
              <a:solidFill>
                <a:schemeClr val="tx2"/>
              </a:solidFill>
              <a:latin typeface="華康細圓體(P)" pitchFamily="2" charset="-120"/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B(,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ym typeface="Symbol" panose="05050102010706020507" pitchFamily="18" charset="2"/>
              </a:rPr>
              <a:t></a:t>
            </a:r>
            <a:r>
              <a:rPr lang="en-US" altLang="zh-TW">
                <a:solidFill>
                  <a:srgbClr val="0000FF"/>
                </a:solidFill>
              </a:rPr>
              <a:t>)</a:t>
            </a:r>
            <a:r>
              <a:rPr lang="en-US" altLang="zh-TW">
                <a:solidFill>
                  <a:schemeClr val="tx2"/>
                </a:solidFill>
              </a:rPr>
              <a:t>: only </a:t>
            </a:r>
            <a:r>
              <a:rPr lang="en-US" altLang="zh-TW">
                <a:solidFill>
                  <a:schemeClr val="tx2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>
                <a:solidFill>
                  <a:schemeClr val="tx2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ym typeface="Symbol" panose="05050102010706020507" pitchFamily="18" charset="2"/>
              </a:rPr>
              <a:t> </a:t>
            </a:r>
            <a:r>
              <a:rPr lang="en-US" altLang="zh-TW">
                <a:solidFill>
                  <a:schemeClr val="tx2"/>
                </a:solidFill>
              </a:rPr>
              <a:t>after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</a:t>
            </a:r>
            <a:r>
              <a:rPr lang="en-US" altLang="zh-TW" i="1">
                <a:solidFill>
                  <a:schemeClr val="tx2"/>
                </a:solidFill>
              </a:rPr>
              <a:t>,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</a:t>
            </a:r>
            <a:endParaRPr lang="en-US" altLang="zh-TW" b="1" i="1">
              <a:solidFill>
                <a:schemeClr val="tx2"/>
              </a:solidFill>
              <a:latin typeface="華康細圓體(P)" pitchFamily="2" charset="-120"/>
              <a:ea typeface="華康儷楷書" panose="03000509000000000000" pitchFamily="65" charset="-120"/>
              <a:cs typeface="華康儷楷書" panose="03000509000000000000" pitchFamily="65" charset="-12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B(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</a:rPr>
              <a:t>) </a:t>
            </a:r>
            <a:r>
              <a:rPr lang="en-US" altLang="zh-TW">
                <a:solidFill>
                  <a:schemeClr val="tx2"/>
                </a:solidFill>
              </a:rPr>
              <a:t>:        only </a:t>
            </a:r>
            <a:r>
              <a:rPr lang="en-US" altLang="zh-TW">
                <a:solidFill>
                  <a:schemeClr val="tx2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chemeClr val="tx2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chemeClr val="tx2"/>
                </a:solidFill>
              </a:rPr>
              <a:t>after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</a:t>
            </a:r>
            <a:r>
              <a:rPr lang="en-US" altLang="zh-TW" i="1">
                <a:solidFill>
                  <a:schemeClr val="tx2"/>
                </a:solidFill>
              </a:rPr>
              <a:t>, 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</a:t>
            </a:r>
            <a:endParaRPr lang="en-US" altLang="zh-TW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投影片編號版面配置區 5">
            <a:extLst>
              <a:ext uri="{FF2B5EF4-FFF2-40B4-BE49-F238E27FC236}">
                <a16:creationId xmlns:a16="http://schemas.microsoft.com/office/drawing/2014/main" id="{9E3B2A23-EC83-4590-ADE3-C6BBEAE27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FA5023-5A82-4601-B41B-42B176E70C7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1187" name="Rectangle 2">
            <a:extLst>
              <a:ext uri="{FF2B5EF4-FFF2-40B4-BE49-F238E27FC236}">
                <a16:creationId xmlns:a16="http://schemas.microsoft.com/office/drawing/2014/main" id="{0EE4A475-3E45-4587-AB87-42004E59D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  <a:br>
              <a:rPr lang="en-US" altLang="zh-TW" sz="3800"/>
            </a:br>
            <a:r>
              <a:rPr lang="en-US" altLang="zh-TW" sz="3800"/>
              <a:t> - CTL*</a:t>
            </a:r>
          </a:p>
        </p:txBody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AC3BBBFD-0377-4A58-BAE8-7CF47E500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CTL</a:t>
            </a:r>
            <a:r>
              <a:rPr lang="zh-TW" altLang="en-US" baseline="30000"/>
              <a:t>＊</a:t>
            </a:r>
            <a:r>
              <a:rPr lang="zh-TW" altLang="en-US"/>
              <a:t> </a:t>
            </a:r>
            <a:r>
              <a:rPr lang="en-US" altLang="zh-TW"/>
              <a:t>subclass expressiveness heirarchy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CTL</a:t>
            </a:r>
            <a:r>
              <a:rPr lang="zh-TW" altLang="en-US" baseline="30000"/>
              <a:t>＊ 	</a:t>
            </a:r>
            <a:r>
              <a:rPr lang="en-US" altLang="zh-TW"/>
              <a:t>&gt; 	B(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i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ym typeface="Symbol" panose="05050102010706020507" pitchFamily="18" charset="2"/>
              </a:rPr>
              <a:t>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&gt;	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i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ym typeface="Symbol" panose="05050102010706020507" pitchFamily="18" charset="2"/>
              </a:rPr>
              <a:t>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&gt;	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=	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&gt;	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&gt;	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			&gt;	</a:t>
            </a:r>
            <a:r>
              <a:rPr lang="en-US" altLang="zh-TW"/>
              <a:t>B(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投影片編號版面配置區 5">
            <a:extLst>
              <a:ext uri="{FF2B5EF4-FFF2-40B4-BE49-F238E27FC236}">
                <a16:creationId xmlns:a16="http://schemas.microsoft.com/office/drawing/2014/main" id="{561E7DEF-A7A0-4DD6-833A-4D814FB1B0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FA9FDA-422A-4AF2-A6C5-8AFCA173593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3235" name="Rectangle 2">
            <a:extLst>
              <a:ext uri="{FF2B5EF4-FFF2-40B4-BE49-F238E27FC236}">
                <a16:creationId xmlns:a16="http://schemas.microsoft.com/office/drawing/2014/main" id="{51E133DF-D327-41A7-8997-5764C0D88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  <a:br>
              <a:rPr lang="en-US" altLang="zh-TW" sz="3800"/>
            </a:br>
            <a:r>
              <a:rPr lang="en-US" altLang="zh-TW" sz="3800"/>
              <a:t> - CTL*</a:t>
            </a:r>
          </a:p>
        </p:txBody>
      </p:sp>
      <p:sp>
        <p:nvSpPr>
          <p:cNvPr id="223236" name="Rectangle 3">
            <a:extLst>
              <a:ext uri="{FF2B5EF4-FFF2-40B4-BE49-F238E27FC236}">
                <a16:creationId xmlns:a16="http://schemas.microsoft.com/office/drawing/2014/main" id="{B6BC32A6-10A6-4716-9321-07DA42628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16075"/>
            <a:ext cx="8229600" cy="4479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Some theorems :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/>
          </a:p>
          <a:p>
            <a:pPr eaLnBrk="1" hangingPunct="1"/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,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00FF"/>
                </a:solidFill>
              </a:rPr>
              <a:t>) </a:t>
            </a:r>
            <a:r>
              <a:rPr lang="en-US" altLang="zh-TW" sz="2100">
                <a:solidFill>
                  <a:srgbClr val="00FF00"/>
                </a:solidFill>
              </a:rPr>
              <a:t>≡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/>
              <a:t>B(</a:t>
            </a:r>
            <a:r>
              <a:rPr lang="en-US" altLang="zh-TW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i="1">
                <a:solidFill>
                  <a:srgbClr val="0000FF"/>
                </a:solidFill>
              </a:rPr>
              <a:t>,</a:t>
            </a:r>
            <a:r>
              <a:rPr lang="en-US" altLang="zh-TW" b="1" i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</a:t>
            </a:r>
            <a:r>
              <a:rPr lang="en-US" altLang="zh-TW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b="1" baseline="30000">
                <a:sym typeface="Symbol" panose="05050102010706020507" pitchFamily="18" charset="2"/>
              </a:rPr>
              <a:t></a:t>
            </a:r>
            <a:r>
              <a:rPr lang="en-US" altLang="zh-TW" b="1" i="1">
                <a:sym typeface="Symbol" panose="05050102010706020507" pitchFamily="18" charset="2"/>
              </a:rPr>
              <a:t>p</a:t>
            </a:r>
            <a:r>
              <a:rPr lang="en-US" altLang="zh-TW" b="1">
                <a:sym typeface="Symbol" panose="05050102010706020507" pitchFamily="18" charset="2"/>
              </a:rPr>
              <a:t> is inexpressible in</a:t>
            </a:r>
            <a:r>
              <a:rPr lang="en-US" altLang="zh-TW" b="1" i="1">
                <a:sym typeface="Symbol" panose="05050102010706020507" pitchFamily="18" charset="2"/>
              </a:rPr>
              <a:t> </a:t>
            </a:r>
            <a:r>
              <a:rPr lang="en-US" altLang="zh-TW" sz="2600"/>
              <a:t>B</a:t>
            </a:r>
            <a:r>
              <a:rPr lang="en-US" altLang="zh-TW" sz="2600" b="1"/>
              <a:t>(</a:t>
            </a:r>
            <a:r>
              <a:rPr lang="en-US" altLang="zh-TW" sz="2600" b="1">
                <a:sym typeface="Wingdings 2" panose="05020102010507070707" pitchFamily="18" charset="2"/>
              </a:rPr>
              <a:t></a:t>
            </a:r>
            <a:r>
              <a:rPr lang="en-US" altLang="zh-TW" sz="2600" b="1" i="1"/>
              <a:t>,</a:t>
            </a:r>
            <a:r>
              <a:rPr lang="en-US" altLang="zh-TW" sz="2600" b="1">
                <a:sym typeface="Wingdings 2" panose="05020102010507070707" pitchFamily="18" charset="2"/>
              </a:rPr>
              <a:t></a:t>
            </a:r>
            <a:r>
              <a:rPr lang="en-US" altLang="zh-TW" sz="2600" b="1" i="1"/>
              <a:t>,</a:t>
            </a:r>
            <a:r>
              <a:rPr lang="en-US" altLang="zh-TW" sz="2600" b="1" i="1"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600" b="1"/>
              <a:t>) </a:t>
            </a:r>
            <a:r>
              <a:rPr lang="en-US" altLang="zh-TW" b="1"/>
              <a:t>.  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投影片編號版面配置區 5">
            <a:extLst>
              <a:ext uri="{FF2B5EF4-FFF2-40B4-BE49-F238E27FC236}">
                <a16:creationId xmlns:a16="http://schemas.microsoft.com/office/drawing/2014/main" id="{92E652C3-113E-433E-9D33-ED9BE45119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1AA65D-9C7A-46AC-9589-E94A93C3970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B155F80D-C8A4-4D9A-B02F-50B80C26A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Expressiveness</a:t>
            </a:r>
            <a:br>
              <a:rPr lang="en-US" altLang="zh-TW" sz="3800"/>
            </a:br>
            <a:r>
              <a:rPr lang="en-US" altLang="zh-TW" sz="3800"/>
              <a:t> - CTL*</a:t>
            </a:r>
          </a:p>
        </p:txBody>
      </p:sp>
      <p:sp>
        <p:nvSpPr>
          <p:cNvPr id="225284" name="Rectangle 3">
            <a:extLst>
              <a:ext uri="{FF2B5EF4-FFF2-40B4-BE49-F238E27FC236}">
                <a16:creationId xmlns:a16="http://schemas.microsoft.com/office/drawing/2014/main" id="{8A54E096-5C8E-45E0-AEE4-0733997F5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989138"/>
            <a:ext cx="88392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Comparing PLTL with CTL*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assumption, all </a:t>
            </a:r>
            <a:r>
              <a:rPr lang="en-US" altLang="zh-TW">
                <a:solidFill>
                  <a:srgbClr val="0000FF"/>
                </a:solidFill>
              </a:rPr>
              <a:t>φ</a:t>
            </a:r>
            <a:r>
              <a:rPr lang="en-US" altLang="zh-TW">
                <a:latin typeface="Symbol" panose="05050102010706020507" pitchFamily="18" charset="2"/>
              </a:rPr>
              <a:t>Î</a:t>
            </a:r>
            <a:r>
              <a:rPr lang="en-US" altLang="zh-TW"/>
              <a:t>PLTL are interpreted as </a:t>
            </a:r>
            <a:r>
              <a:rPr lang="en-US" altLang="zh-TW">
                <a:sym typeface="Symbol" panose="05050102010706020507" pitchFamily="18" charset="2"/>
              </a:rPr>
              <a:t></a:t>
            </a:r>
            <a:r>
              <a:rPr lang="en-US" altLang="zh-TW">
                <a:solidFill>
                  <a:srgbClr val="0000FF"/>
                </a:solidFill>
              </a:rPr>
              <a:t>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0000FF"/>
                </a:solidFill>
              </a:rPr>
              <a:t>Intuition: </a:t>
            </a:r>
            <a:r>
              <a:rPr lang="en-US" altLang="zh-TW"/>
              <a:t>PLTL is used to specify all runs of a system.  </a:t>
            </a:r>
          </a:p>
        </p:txBody>
      </p:sp>
      <p:sp>
        <p:nvSpPr>
          <p:cNvPr id="225285" name="Text Box 4">
            <a:extLst>
              <a:ext uri="{FF2B5EF4-FFF2-40B4-BE49-F238E27FC236}">
                <a16:creationId xmlns:a16="http://schemas.microsoft.com/office/drawing/2014/main" id="{9FE6D0B2-B1AB-4594-A324-AD941B4B4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953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CTL</a:t>
            </a:r>
            <a:r>
              <a:rPr lang="zh-TW" altLang="en-US" sz="2400" baseline="30000">
                <a:latin typeface="Times New Roman" panose="02020603050405020304" pitchFamily="18" charset="0"/>
              </a:rPr>
              <a:t>＊</a:t>
            </a:r>
          </a:p>
        </p:txBody>
      </p:sp>
      <p:sp>
        <p:nvSpPr>
          <p:cNvPr id="225286" name="Text Box 5">
            <a:extLst>
              <a:ext uri="{FF2B5EF4-FFF2-40B4-BE49-F238E27FC236}">
                <a16:creationId xmlns:a16="http://schemas.microsoft.com/office/drawing/2014/main" id="{D885CA95-3432-4F9E-BA38-EA0A8F94C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962400"/>
            <a:ext cx="274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B(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,</a:t>
            </a:r>
            <a:r>
              <a:rPr lang="en-US" altLang="zh-TW" sz="24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</a:t>
            </a:r>
            <a:r>
              <a:rPr lang="en-US" altLang="zh-TW" sz="24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400" b="1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</a:t>
            </a:r>
            <a:r>
              <a:rPr lang="en-US" altLang="zh-TW" sz="24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400" b="1" i="1">
                <a:solidFill>
                  <a:srgbClr val="0000FF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2400" i="1">
                <a:solidFill>
                  <a:srgbClr val="0000FF"/>
                </a:solidFill>
                <a:latin typeface="Times New Roman" panose="02020603050405020304" pitchFamily="18" charset="0"/>
                <a:ea typeface="華康儷楷書" panose="03000509000000000000" pitchFamily="65" charset="-120"/>
                <a:cs typeface="華康儷楷書" panose="03000509000000000000" pitchFamily="65" charset="-120"/>
              </a:rPr>
              <a:t>,</a:t>
            </a:r>
            <a:r>
              <a:rPr lang="en-US" altLang="zh-TW" sz="2400" b="1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</a:t>
            </a:r>
            <a:r>
              <a:rPr lang="en-US" altLang="zh-TW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TW" sz="24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225287" name="Text Box 6">
            <a:extLst>
              <a:ext uri="{FF2B5EF4-FFF2-40B4-BE49-F238E27FC236}">
                <a16:creationId xmlns:a16="http://schemas.microsoft.com/office/drawing/2014/main" id="{387C66D0-F743-4C40-8D3F-B5F8EB169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791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PLTL</a:t>
            </a:r>
          </a:p>
        </p:txBody>
      </p:sp>
      <p:sp>
        <p:nvSpPr>
          <p:cNvPr id="225288" name="Text Box 7">
            <a:extLst>
              <a:ext uri="{FF2B5EF4-FFF2-40B4-BE49-F238E27FC236}">
                <a16:creationId xmlns:a16="http://schemas.microsoft.com/office/drawing/2014/main" id="{4FC4BE74-E8D7-4770-A359-A77254D4D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876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PLTL(F)</a:t>
            </a:r>
          </a:p>
        </p:txBody>
      </p:sp>
      <p:sp>
        <p:nvSpPr>
          <p:cNvPr id="225289" name="Line 8">
            <a:extLst>
              <a:ext uri="{FF2B5EF4-FFF2-40B4-BE49-F238E27FC236}">
                <a16:creationId xmlns:a16="http://schemas.microsoft.com/office/drawing/2014/main" id="{FF38EC66-D60B-48E1-BC59-2B824E78EC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4419600"/>
            <a:ext cx="1447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90" name="Line 9">
            <a:extLst>
              <a:ext uri="{FF2B5EF4-FFF2-40B4-BE49-F238E27FC236}">
                <a16:creationId xmlns:a16="http://schemas.microsoft.com/office/drawing/2014/main" id="{FE67ACF4-E27F-488E-93B0-F653412EC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19600"/>
            <a:ext cx="1066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91" name="Line 10">
            <a:extLst>
              <a:ext uri="{FF2B5EF4-FFF2-40B4-BE49-F238E27FC236}">
                <a16:creationId xmlns:a16="http://schemas.microsoft.com/office/drawing/2014/main" id="{F38138FD-EC16-49F2-B1BD-3BC167B23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334000"/>
            <a:ext cx="18288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92" name="Line 11">
            <a:extLst>
              <a:ext uri="{FF2B5EF4-FFF2-40B4-BE49-F238E27FC236}">
                <a16:creationId xmlns:a16="http://schemas.microsoft.com/office/drawing/2014/main" id="{FB00ADAD-14A9-4D83-8967-2946EB7BC9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5257800"/>
            <a:ext cx="2133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293" name="Text Box 12">
            <a:extLst>
              <a:ext uri="{FF2B5EF4-FFF2-40B4-BE49-F238E27FC236}">
                <a16:creationId xmlns:a16="http://schemas.microsoft.com/office/drawing/2014/main" id="{00D1BD03-D359-44B0-B766-0ED52B875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267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&gt;</a:t>
            </a:r>
          </a:p>
        </p:txBody>
      </p:sp>
      <p:sp>
        <p:nvSpPr>
          <p:cNvPr id="225294" name="Text Box 13">
            <a:extLst>
              <a:ext uri="{FF2B5EF4-FFF2-40B4-BE49-F238E27FC236}">
                <a16:creationId xmlns:a16="http://schemas.microsoft.com/office/drawing/2014/main" id="{8C8C38D9-D9AD-4904-BCFE-AD55E20E7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410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&gt;</a:t>
            </a:r>
          </a:p>
        </p:txBody>
      </p:sp>
      <p:sp>
        <p:nvSpPr>
          <p:cNvPr id="225295" name="Text Box 14">
            <a:extLst>
              <a:ext uri="{FF2B5EF4-FFF2-40B4-BE49-F238E27FC236}">
                <a16:creationId xmlns:a16="http://schemas.microsoft.com/office/drawing/2014/main" id="{4739A958-0515-4641-8485-ED1AAA3C9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114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&gt;</a:t>
            </a:r>
          </a:p>
        </p:txBody>
      </p:sp>
      <p:sp>
        <p:nvSpPr>
          <p:cNvPr id="225296" name="Text Box 15">
            <a:extLst>
              <a:ext uri="{FF2B5EF4-FFF2-40B4-BE49-F238E27FC236}">
                <a16:creationId xmlns:a16="http://schemas.microsoft.com/office/drawing/2014/main" id="{450999AD-AE62-4595-AD7D-EDA1ED96C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48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>
                <a:latin typeface="Times New Roman" panose="02020603050405020304" pitchFamily="18" charset="0"/>
              </a:rPr>
              <a:t>&gt;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投影片編號版面配置區 5">
            <a:extLst>
              <a:ext uri="{FF2B5EF4-FFF2-40B4-BE49-F238E27FC236}">
                <a16:creationId xmlns:a16="http://schemas.microsoft.com/office/drawing/2014/main" id="{5AB422EB-6DB8-4251-8F15-4A215CEAA7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A8D66B-0E7C-4C78-A60A-DB1F3B7141C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7331" name="Rectangle 2">
            <a:extLst>
              <a:ext uri="{FF2B5EF4-FFF2-40B4-BE49-F238E27FC236}">
                <a16:creationId xmlns:a16="http://schemas.microsoft.com/office/drawing/2014/main" id="{60F35097-DC5D-49EC-8425-77DF328D4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Verification</a:t>
            </a:r>
          </a:p>
        </p:txBody>
      </p:sp>
      <p:sp>
        <p:nvSpPr>
          <p:cNvPr id="227332" name="Rectangle 3">
            <a:extLst>
              <a:ext uri="{FF2B5EF4-FFF2-40B4-BE49-F238E27FC236}">
                <a16:creationId xmlns:a16="http://schemas.microsoft.com/office/drawing/2014/main" id="{6D526876-A256-4860-B483-DC7CDDBE3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924800" cy="4953000"/>
          </a:xfrm>
        </p:spPr>
        <p:txBody>
          <a:bodyPr/>
          <a:lstStyle/>
          <a:p>
            <a:pPr eaLnBrk="1" hangingPunct="1"/>
            <a:r>
              <a:rPr lang="en-US" altLang="zh-TW"/>
              <a:t>LPTL, validity checking </a:t>
            </a:r>
            <a:r>
              <a:rPr lang="en-US" altLang="zh-TW">
                <a:sym typeface="Euclid Symbol" pitchFamily="18" charset="2"/>
              </a:rPr>
              <a:t> </a:t>
            </a:r>
            <a:r>
              <a:rPr lang="en-US" altLang="zh-TW">
                <a:sym typeface="Euclid Math One" pitchFamily="18" charset="2"/>
              </a:rPr>
              <a:t> </a:t>
            </a:r>
            <a:r>
              <a:rPr lang="en-US" altLang="zh-TW">
                <a:sym typeface="Euclid Symbol" pitchFamily="18" charset="2"/>
              </a:rPr>
              <a:t></a:t>
            </a:r>
          </a:p>
          <a:p>
            <a:pPr lvl="1" eaLnBrk="1" hangingPunct="1"/>
            <a:r>
              <a:rPr lang="en-US" altLang="zh-TW">
                <a:sym typeface="Euclid Symbol" pitchFamily="18" charset="2"/>
              </a:rPr>
              <a:t>instead, check the satisfiability of  </a:t>
            </a:r>
            <a:r>
              <a:rPr lang="en-US" altLang="zh-TW">
                <a:sym typeface="Symbol" panose="05050102010706020507" pitchFamily="18" charset="2"/>
              </a:rPr>
              <a:t></a:t>
            </a:r>
            <a:r>
              <a:rPr lang="en-US" altLang="zh-TW">
                <a:sym typeface="Euclid Math One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>
                <a:sym typeface="Euclid Symbol" pitchFamily="18" charset="2"/>
              </a:rPr>
              <a:t></a:t>
            </a:r>
          </a:p>
          <a:p>
            <a:pPr lvl="1" eaLnBrk="1" hangingPunct="1"/>
            <a:r>
              <a:rPr lang="en-US" altLang="zh-TW">
                <a:sym typeface="Euclid Symbol" pitchFamily="18" charset="2"/>
              </a:rPr>
              <a:t>construct a tabelau for  </a:t>
            </a:r>
            <a:r>
              <a:rPr lang="en-US" altLang="zh-TW">
                <a:sym typeface="Symbol" panose="05050102010706020507" pitchFamily="18" charset="2"/>
              </a:rPr>
              <a:t></a:t>
            </a:r>
            <a:r>
              <a:rPr lang="en-US" altLang="zh-TW">
                <a:sym typeface="Euclid Math One" pitchFamily="18" charset="2"/>
              </a:rPr>
              <a:t> </a:t>
            </a:r>
            <a:r>
              <a:rPr lang="en-US" altLang="zh-TW">
                <a:sym typeface="Symbol" panose="05050102010706020507" pitchFamily="18" charset="2"/>
              </a:rPr>
              <a:t></a:t>
            </a:r>
            <a:r>
              <a:rPr lang="en-US" altLang="zh-TW">
                <a:sym typeface="Euclid Symbol" pitchFamily="18" charset="2"/>
              </a:rPr>
              <a:t></a:t>
            </a:r>
          </a:p>
          <a:p>
            <a:pPr eaLnBrk="1" hangingPunct="1"/>
            <a:r>
              <a:rPr lang="en-US" altLang="zh-TW"/>
              <a:t>model-checking M</a:t>
            </a:r>
            <a:r>
              <a:rPr lang="en-US" altLang="zh-TW">
                <a:sym typeface="Euclid Math One" pitchFamily="18" charset="2"/>
              </a:rPr>
              <a:t></a:t>
            </a:r>
            <a:r>
              <a:rPr lang="en-US" altLang="zh-TW">
                <a:sym typeface="Euclid Symbol" pitchFamily="18" charset="2"/>
              </a:rPr>
              <a:t></a:t>
            </a:r>
            <a:endParaRPr lang="en-US" altLang="en-US">
              <a:sym typeface="Euclid Symbol" pitchFamily="18" charset="2"/>
            </a:endParaRPr>
          </a:p>
          <a:p>
            <a:pPr lvl="1" eaLnBrk="1" hangingPunct="1"/>
            <a:r>
              <a:rPr lang="en-US" altLang="zh-TW"/>
              <a:t>LPTL: M: a B</a:t>
            </a:r>
            <a:r>
              <a:rPr lang="en-US" altLang="zh-TW">
                <a:cs typeface="Arial" panose="020B0604020202020204" pitchFamily="34" charset="0"/>
              </a:rPr>
              <a:t>ü</a:t>
            </a:r>
            <a:r>
              <a:rPr lang="en-US" altLang="zh-TW"/>
              <a:t>chi automata, </a:t>
            </a:r>
            <a:r>
              <a:rPr lang="en-US" altLang="zh-TW">
                <a:sym typeface="Euclid Symbol" pitchFamily="18" charset="2"/>
              </a:rPr>
              <a:t>: an LPTL formula </a:t>
            </a:r>
          </a:p>
          <a:p>
            <a:pPr lvl="1" eaLnBrk="1" hangingPunct="1"/>
            <a:r>
              <a:rPr lang="en-US" altLang="zh-TW">
                <a:sym typeface="Euclid Symbol" pitchFamily="18" charset="2"/>
              </a:rPr>
              <a:t>CTL: M</a:t>
            </a:r>
            <a:r>
              <a:rPr lang="en-US" altLang="zh-TW"/>
              <a:t>: a finite-state automata, </a:t>
            </a:r>
            <a:r>
              <a:rPr lang="en-US" altLang="zh-TW">
                <a:sym typeface="Euclid Symbol" pitchFamily="18" charset="2"/>
              </a:rPr>
              <a:t>: a CTL formula </a:t>
            </a:r>
          </a:p>
          <a:p>
            <a:pPr eaLnBrk="1" hangingPunct="1"/>
            <a:r>
              <a:rPr lang="en-US" altLang="zh-TW">
                <a:sym typeface="Euclid Symbol" pitchFamily="18" charset="2"/>
              </a:rPr>
              <a:t>simulation &amp; bisimulation checking </a:t>
            </a:r>
            <a:r>
              <a:rPr lang="en-US" altLang="zh-TW"/>
              <a:t>M </a:t>
            </a:r>
            <a:r>
              <a:rPr lang="en-US" altLang="zh-TW">
                <a:sym typeface="Euclid Math One" pitchFamily="18" charset="2"/>
              </a:rPr>
              <a:t> </a:t>
            </a:r>
            <a:r>
              <a:rPr lang="en-US" altLang="zh-TW">
                <a:sym typeface="Euclid Symbol" pitchFamily="18" charset="2"/>
              </a:rPr>
              <a:t>M’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A52EF6A3-6EF2-4A1D-AAF0-F7808C00A1A8}"/>
              </a:ext>
            </a:extLst>
          </p:cNvPr>
          <p:cNvSpPr/>
          <p:nvPr/>
        </p:nvSpPr>
        <p:spPr>
          <a:xfrm>
            <a:off x="3581400" y="304800"/>
            <a:ext cx="2667000" cy="765175"/>
          </a:xfrm>
          <a:prstGeom prst="wedgeRectCallout">
            <a:avLst>
              <a:gd name="adj1" fmla="val 4042"/>
              <a:gd name="adj2" fmla="val 1115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model (system) formula</a:t>
            </a:r>
            <a:endParaRPr lang="zh-TW" altLang="en-US" sz="2400" dirty="0"/>
          </a:p>
        </p:txBody>
      </p:sp>
      <p:sp>
        <p:nvSpPr>
          <p:cNvPr id="7" name="矩形圖說文字 6">
            <a:extLst>
              <a:ext uri="{FF2B5EF4-FFF2-40B4-BE49-F238E27FC236}">
                <a16:creationId xmlns:a16="http://schemas.microsoft.com/office/drawing/2014/main" id="{F6D49C00-A6D6-4418-993F-CAA9F4A2E3B2}"/>
              </a:ext>
            </a:extLst>
          </p:cNvPr>
          <p:cNvSpPr/>
          <p:nvPr/>
        </p:nvSpPr>
        <p:spPr>
          <a:xfrm>
            <a:off x="6705600" y="762000"/>
            <a:ext cx="1905000" cy="765175"/>
          </a:xfrm>
          <a:prstGeom prst="wedgeRectCallout">
            <a:avLst>
              <a:gd name="adj1" fmla="val -97083"/>
              <a:gd name="adj2" fmla="val 722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specification formula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投影片編號版面配置區 5">
            <a:extLst>
              <a:ext uri="{FF2B5EF4-FFF2-40B4-BE49-F238E27FC236}">
                <a16:creationId xmlns:a16="http://schemas.microsoft.com/office/drawing/2014/main" id="{128616A6-FB22-462A-B8E2-3947DCA3C7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50B8CF-5BED-4C44-B2A3-5E68556DBD2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29379" name="AutoShape 4">
            <a:extLst>
              <a:ext uri="{FF2B5EF4-FFF2-40B4-BE49-F238E27FC236}">
                <a16:creationId xmlns:a16="http://schemas.microsoft.com/office/drawing/2014/main" id="{38EC2AC1-2C20-4881-AC5D-DC60CE2B5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810000"/>
            <a:ext cx="3505200" cy="1066800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229380" name="Rectangle 2">
            <a:extLst>
              <a:ext uri="{FF2B5EF4-FFF2-40B4-BE49-F238E27FC236}">
                <a16:creationId xmlns:a16="http://schemas.microsoft.com/office/drawing/2014/main" id="{AB1AD95A-619D-4E41-84FC-2A5B6E330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Satisfiability-checking framework</a:t>
            </a:r>
          </a:p>
        </p:txBody>
      </p:sp>
      <p:sp>
        <p:nvSpPr>
          <p:cNvPr id="229381" name="Oval 3">
            <a:extLst>
              <a:ext uri="{FF2B5EF4-FFF2-40B4-BE49-F238E27FC236}">
                <a16:creationId xmlns:a16="http://schemas.microsoft.com/office/drawing/2014/main" id="{F14F7226-BE30-4273-98AF-7B29C2503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1447800" cy="990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Checker</a:t>
            </a:r>
          </a:p>
        </p:txBody>
      </p:sp>
      <p:sp>
        <p:nvSpPr>
          <p:cNvPr id="229382" name="Rectangle 5">
            <a:extLst>
              <a:ext uri="{FF2B5EF4-FFF2-40B4-BE49-F238E27FC236}">
                <a16:creationId xmlns:a16="http://schemas.microsoft.com/office/drawing/2014/main" id="{75F8E6C5-9206-4B99-AF29-55CD32319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524000"/>
            <a:ext cx="3124200" cy="2286000"/>
          </a:xfrm>
          <a:prstGeom prst="rect">
            <a:avLst/>
          </a:prstGeom>
          <a:solidFill>
            <a:srgbClr val="66FFFF">
              <a:alpha val="70195"/>
            </a:srgb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Ctr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Answer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Yes</a:t>
            </a:r>
            <a:r>
              <a:rPr lang="en-US" altLang="zh-TW" sz="2800" b="1"/>
              <a:t> if the model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guarantees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the specification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No</a:t>
            </a:r>
            <a:r>
              <a:rPr lang="en-US" altLang="zh-TW" sz="2800" b="1"/>
              <a:t> if not. </a:t>
            </a:r>
          </a:p>
        </p:txBody>
      </p:sp>
      <p:sp>
        <p:nvSpPr>
          <p:cNvPr id="229383" name="Line 6">
            <a:extLst>
              <a:ext uri="{FF2B5EF4-FFF2-40B4-BE49-F238E27FC236}">
                <a16:creationId xmlns:a16="http://schemas.microsoft.com/office/drawing/2014/main" id="{BB6D6C10-7FFD-4711-841C-F1AF5125C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43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9384" name="Line 7">
            <a:extLst>
              <a:ext uri="{FF2B5EF4-FFF2-40B4-BE49-F238E27FC236}">
                <a16:creationId xmlns:a16="http://schemas.microsoft.com/office/drawing/2014/main" id="{E8AD5CE8-1EAA-4E0C-AB40-870FAC86C9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352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9385" name="Line 8">
            <a:extLst>
              <a:ext uri="{FF2B5EF4-FFF2-40B4-BE49-F238E27FC236}">
                <a16:creationId xmlns:a16="http://schemas.microsoft.com/office/drawing/2014/main" id="{66F19461-358B-490F-AB86-3D10D88797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667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1805" name="Text Box 73">
            <a:extLst>
              <a:ext uri="{FF2B5EF4-FFF2-40B4-BE49-F238E27FC236}">
                <a16:creationId xmlns:a16="http://schemas.microsoft.com/office/drawing/2014/main" id="{36A71C6A-8E85-4DF9-8190-21EF664D2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2200"/>
            <a:ext cx="2438400" cy="8302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TW" sz="2400" dirty="0"/>
              <a:t>model in logics</a:t>
            </a:r>
          </a:p>
          <a:p>
            <a:pPr eaLnBrk="1" hangingPunct="1">
              <a:defRPr/>
            </a:pPr>
            <a:r>
              <a:rPr kumimoji="0" lang="en-US" altLang="zh-TW" sz="2400" dirty="0">
                <a:sym typeface="Euclid Math One"/>
              </a:rPr>
              <a:t>, </a:t>
            </a:r>
            <a:r>
              <a:rPr kumimoji="0" lang="en-US" altLang="zh-TW" sz="2400" dirty="0">
                <a:sym typeface="Symbol"/>
              </a:rPr>
              <a:t>, </a:t>
            </a:r>
            <a:r>
              <a:rPr lang="en-US" altLang="zh-TW" sz="240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TW" sz="2400" i="1" dirty="0">
                <a:solidFill>
                  <a:srgbClr val="0000FF"/>
                </a:solidFill>
                <a:latin typeface="Times New Roman" pitchFamily="18" charset="0"/>
              </a:rPr>
              <a:t>,</a:t>
            </a:r>
            <a:r>
              <a:rPr lang="en-US" altLang="zh-TW" sz="2400" dirty="0">
                <a:solidFill>
                  <a:srgbClr val="0000FF"/>
                </a:solidFill>
                <a:latin typeface="Times New Roman" pitchFamily="18" charset="0"/>
                <a:sym typeface="Wingdings 2" pitchFamily="18" charset="2"/>
              </a:rPr>
              <a:t></a:t>
            </a:r>
            <a:r>
              <a:rPr lang="en-US" altLang="zh-TW" sz="2400" i="1" dirty="0">
                <a:solidFill>
                  <a:srgbClr val="0000FF"/>
                </a:solidFill>
                <a:latin typeface="Times New Roman" pitchFamily="18" charset="0"/>
              </a:rPr>
              <a:t>,</a:t>
            </a:r>
            <a:r>
              <a:rPr lang="en-US" altLang="zh-TW" sz="2400" b="1" dirty="0">
                <a:solidFill>
                  <a:srgbClr val="0000FF"/>
                </a:solidFill>
                <a:latin typeface="Times New Roman" pitchFamily="18" charset="0"/>
                <a:sym typeface="Wingdings 2" pitchFamily="18" charset="2"/>
              </a:rPr>
              <a:t></a:t>
            </a:r>
            <a:r>
              <a:rPr lang="en-US" altLang="zh-TW" sz="2400" i="1" dirty="0">
                <a:solidFill>
                  <a:srgbClr val="0000FF"/>
                </a:solidFill>
                <a:latin typeface="Times New Roman" pitchFamily="18" charset="0"/>
              </a:rPr>
              <a:t>,</a:t>
            </a:r>
            <a:r>
              <a:rPr lang="en-US" altLang="zh-TW" sz="2400" b="1" dirty="0">
                <a:solidFill>
                  <a:srgbClr val="0000FF"/>
                </a:solidFill>
                <a:latin typeface="+mn-lt"/>
                <a:ea typeface="華康儷楷書"/>
                <a:cs typeface="華康儷楷書"/>
              </a:rPr>
              <a:t>U</a:t>
            </a:r>
            <a:endParaRPr kumimoji="0" lang="en-US" altLang="zh-TW" sz="2400" dirty="0">
              <a:latin typeface="+mn-lt"/>
            </a:endParaRPr>
          </a:p>
        </p:txBody>
      </p:sp>
      <p:sp>
        <p:nvSpPr>
          <p:cNvPr id="229387" name="Text Box 130">
            <a:extLst>
              <a:ext uri="{FF2B5EF4-FFF2-40B4-BE49-F238E27FC236}">
                <a16:creationId xmlns:a16="http://schemas.microsoft.com/office/drawing/2014/main" id="{8CB28B08-91BE-4BF7-AF07-1F5AC22C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86200"/>
            <a:ext cx="43259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specification in logics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800">
                <a:sym typeface="Euclid Math One" pitchFamily="18" charset="2"/>
              </a:rPr>
              <a:t>, </a:t>
            </a:r>
            <a:r>
              <a:rPr kumimoji="0" lang="en-US" altLang="zh-TW" sz="2800">
                <a:sym typeface="Symbol" panose="05050102010706020507" pitchFamily="18" charset="2"/>
              </a:rPr>
              <a:t>, </a:t>
            </a:r>
            <a:r>
              <a:rPr lang="en-US" altLang="zh-TW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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 b="1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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 b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endParaRPr lang="en-US" altLang="zh-TW" sz="28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投影片編號版面配置區 3">
            <a:extLst>
              <a:ext uri="{FF2B5EF4-FFF2-40B4-BE49-F238E27FC236}">
                <a16:creationId xmlns:a16="http://schemas.microsoft.com/office/drawing/2014/main" id="{33996D1B-AF66-4461-BCC2-1CE9E2D83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EE8C6A-02B9-4AD3-8BB4-2ACDD515DF1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79949293-8642-430C-8570-9754202FB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  <a:t>LPTL</a:t>
            </a:r>
            <a:b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  <a:t> - tableau for satisfiability checking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350766F-67DA-4FF7-A4C4-3FDE16A6AD0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7800"/>
            <a:ext cx="7924800" cy="4953000"/>
          </a:xfrm>
          <a:prstGeom prst="rect">
            <a:avLst/>
          </a:prstGeom>
        </p:spPr>
        <p:txBody>
          <a:bodyPr/>
          <a:lstStyle/>
          <a:p>
            <a:pPr marL="274638" indent="-274638" eaLnBrk="1" hangingPunct="1">
              <a:defRPr/>
            </a:pPr>
            <a:r>
              <a:rPr kumimoji="0" lang="en-US" altLang="zh-TW" sz="3200" dirty="0">
                <a:solidFill>
                  <a:srgbClr val="FF3300"/>
                </a:solidFill>
              </a:rPr>
              <a:t>Given 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m</a:t>
            </a:r>
            <a:r>
              <a:rPr kumimoji="0" lang="en-US" altLang="zh-TW" sz="3200" dirty="0" err="1">
                <a:sym typeface="Wingdings" pitchFamily="2" charset="2"/>
              </a:rPr>
              <a:t>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s</a:t>
            </a:r>
            <a:r>
              <a:rPr kumimoji="0" lang="en-US" altLang="zh-TW" sz="3200" dirty="0"/>
              <a:t> , </a:t>
            </a:r>
            <a:endParaRPr lang="en-US" altLang="zh-TW" sz="2600" kern="0" dirty="0">
              <a:latin typeface="+mn-lt"/>
              <a:ea typeface="+mn-ea"/>
              <a:sym typeface="Euclid Symbol" pitchFamily="18" charset="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>
                <a:latin typeface="+mn-lt"/>
                <a:ea typeface="+mn-ea"/>
              </a:rPr>
              <a:t>we in fact check the validity of 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m</a:t>
            </a:r>
            <a:r>
              <a:rPr kumimoji="0" lang="en-US" altLang="zh-TW" sz="3200" dirty="0" err="1">
                <a:sym typeface="Wingdings" pitchFamily="2" charset="2"/>
              </a:rPr>
              <a:t>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s</a:t>
            </a:r>
            <a:r>
              <a:rPr lang="en-US" altLang="zh-TW" sz="3000" kern="0" dirty="0">
                <a:latin typeface="+mn-lt"/>
                <a:ea typeface="+mn-ea"/>
              </a:rPr>
              <a:t>, 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/>
            </a:pPr>
            <a:r>
              <a:rPr lang="en-US" altLang="zh-TW" sz="2800" kern="0" dirty="0">
                <a:latin typeface="+mn-lt"/>
                <a:ea typeface="+mn-ea"/>
              </a:rPr>
              <a:t>i.e., check </a:t>
            </a:r>
            <a:r>
              <a:rPr kumimoji="0" lang="en-US" altLang="zh-TW" sz="2800" dirty="0" err="1"/>
              <a:t>φ</a:t>
            </a:r>
            <a:r>
              <a:rPr kumimoji="0" lang="en-US" altLang="zh-TW" sz="2800" baseline="-25000" dirty="0" err="1"/>
              <a:t>m</a:t>
            </a:r>
            <a:r>
              <a:rPr kumimoji="0" lang="en-US" altLang="zh-TW" sz="2800" dirty="0" err="1">
                <a:sym typeface="Wingdings" pitchFamily="2" charset="2"/>
              </a:rPr>
              <a:t></a:t>
            </a:r>
            <a:r>
              <a:rPr kumimoji="0" lang="en-US" altLang="zh-TW" sz="2800" dirty="0" err="1"/>
              <a:t>φ</a:t>
            </a:r>
            <a:r>
              <a:rPr kumimoji="0" lang="en-US" altLang="zh-TW" sz="2800" baseline="-25000" dirty="0" err="1"/>
              <a:t>s</a:t>
            </a:r>
            <a:r>
              <a:rPr kumimoji="0" lang="en-US" altLang="zh-TW" sz="2800" dirty="0"/>
              <a:t> </a:t>
            </a:r>
            <a:r>
              <a:rPr lang="en-US" altLang="zh-TW" sz="2800" kern="0" dirty="0">
                <a:latin typeface="+mn-lt"/>
                <a:ea typeface="+mn-ea"/>
              </a:rPr>
              <a:t>is always true.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en-US" sz="3000" kern="0" dirty="0">
                <a:latin typeface="+mn-lt"/>
                <a:ea typeface="+mn-ea"/>
                <a:sym typeface="Euclid Symbol" pitchFamily="18" charset="2"/>
              </a:rPr>
              <a:t>in </a:t>
            </a:r>
            <a:r>
              <a:rPr lang="en-US" altLang="en-US" sz="3000" kern="0" dirty="0" err="1">
                <a:latin typeface="+mn-lt"/>
                <a:ea typeface="+mn-ea"/>
                <a:sym typeface="Euclid Symbol" pitchFamily="18" charset="2"/>
              </a:rPr>
              <a:t>pactice</a:t>
            </a:r>
            <a:r>
              <a:rPr lang="en-US" altLang="en-US" sz="3000" kern="0" dirty="0">
                <a:latin typeface="+mn-lt"/>
                <a:ea typeface="+mn-ea"/>
                <a:sym typeface="Euclid Symbol" pitchFamily="18" charset="2"/>
              </a:rPr>
              <a:t>, we check whether </a:t>
            </a:r>
          </a:p>
          <a:p>
            <a:pPr marL="342900" indent="-342900"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kumimoji="0" lang="en-US" altLang="zh-TW" sz="3200" dirty="0">
                <a:sym typeface="Symbol"/>
              </a:rPr>
              <a:t></a:t>
            </a:r>
            <a:r>
              <a:rPr kumimoji="0" lang="en-US" altLang="zh-TW" sz="3200" dirty="0"/>
              <a:t>(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m</a:t>
            </a:r>
            <a:r>
              <a:rPr kumimoji="0" lang="en-US" altLang="zh-TW" sz="3200" dirty="0" err="1">
                <a:sym typeface="Wingdings" pitchFamily="2" charset="2"/>
              </a:rPr>
              <a:t>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s</a:t>
            </a:r>
            <a:r>
              <a:rPr kumimoji="0" lang="en-US" altLang="zh-TW" sz="3200" dirty="0"/>
              <a:t>) </a:t>
            </a:r>
            <a:r>
              <a:rPr kumimoji="0" lang="en-US" altLang="zh-TW" sz="3200" dirty="0">
                <a:sym typeface="Symbol"/>
              </a:rPr>
              <a:t></a:t>
            </a:r>
            <a:r>
              <a:rPr kumimoji="0" lang="en-US" altLang="zh-TW" sz="3200" dirty="0"/>
              <a:t> 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m</a:t>
            </a:r>
            <a:r>
              <a:rPr kumimoji="0" lang="en-US" altLang="zh-TW" sz="3200" baseline="-25000" dirty="0"/>
              <a:t> </a:t>
            </a:r>
            <a:r>
              <a:rPr kumimoji="0" lang="en-US" altLang="zh-TW" sz="3200" dirty="0">
                <a:sym typeface="Symbol"/>
              </a:rPr>
              <a:t></a:t>
            </a:r>
            <a:r>
              <a:rPr kumimoji="0" lang="en-US" altLang="zh-TW" sz="3200" dirty="0"/>
              <a:t> </a:t>
            </a:r>
            <a:r>
              <a:rPr kumimoji="0" lang="en-US" altLang="zh-TW" sz="3200" dirty="0">
                <a:sym typeface="Symbol"/>
              </a:rPr>
              <a:t></a:t>
            </a:r>
            <a:r>
              <a:rPr kumimoji="0" lang="en-US" altLang="zh-TW" sz="3200" dirty="0"/>
              <a:t> </a:t>
            </a:r>
            <a:r>
              <a:rPr kumimoji="0" lang="en-US" altLang="zh-TW" sz="3200" dirty="0" err="1"/>
              <a:t>φ</a:t>
            </a:r>
            <a:r>
              <a:rPr kumimoji="0" lang="en-US" altLang="zh-TW" sz="3200" baseline="-25000" dirty="0" err="1"/>
              <a:t>s</a:t>
            </a:r>
            <a:endParaRPr lang="en-US" altLang="en-US" sz="3000" kern="0" dirty="0">
              <a:latin typeface="+mn-lt"/>
              <a:ea typeface="+mn-ea"/>
              <a:sym typeface="Euclid Symbol" pitchFamily="18" charset="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en-US" sz="3000" kern="0" dirty="0">
                <a:latin typeface="+mn-lt"/>
                <a:ea typeface="+mn-ea"/>
                <a:sym typeface="Euclid Symbol" pitchFamily="18" charset="2"/>
              </a:rPr>
              <a:t>is </a:t>
            </a:r>
            <a:r>
              <a:rPr lang="en-US" altLang="en-US" sz="3000" kern="0" dirty="0" err="1">
                <a:latin typeface="+mn-lt"/>
                <a:ea typeface="+mn-ea"/>
                <a:sym typeface="Euclid Symbol" pitchFamily="18" charset="2"/>
              </a:rPr>
              <a:t>satisfiable</a:t>
            </a:r>
            <a:endParaRPr lang="en-US" altLang="en-US" sz="3000" kern="0" dirty="0">
              <a:latin typeface="+mn-lt"/>
              <a:ea typeface="+mn-ea"/>
              <a:sym typeface="Euclid Symbol" pitchFamily="18" charset="2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/>
            </a:pPr>
            <a:r>
              <a:rPr lang="en-US" altLang="en-US" sz="2800" kern="0" dirty="0">
                <a:latin typeface="+mn-lt"/>
                <a:ea typeface="+mn-ea"/>
                <a:sym typeface="Euclid Symbol" pitchFamily="18" charset="2"/>
              </a:rPr>
              <a:t>i.e., the </a:t>
            </a:r>
            <a:r>
              <a:rPr lang="en-US" altLang="en-US" sz="2800" kern="0" dirty="0" err="1">
                <a:latin typeface="+mn-lt"/>
                <a:ea typeface="+mn-ea"/>
                <a:sym typeface="Euclid Symbol" pitchFamily="18" charset="2"/>
              </a:rPr>
              <a:t>satisfiability</a:t>
            </a:r>
            <a:r>
              <a:rPr lang="en-US" altLang="en-US" sz="2800" kern="0" dirty="0">
                <a:latin typeface="+mn-lt"/>
                <a:ea typeface="+mn-ea"/>
                <a:sym typeface="Euclid Symbol" pitchFamily="18" charset="2"/>
              </a:rPr>
              <a:t> of </a:t>
            </a:r>
            <a:r>
              <a:rPr kumimoji="0" lang="en-US" altLang="zh-TW" sz="2800" dirty="0" err="1"/>
              <a:t>φ</a:t>
            </a:r>
            <a:r>
              <a:rPr kumimoji="0" lang="en-US" altLang="zh-TW" sz="2800" baseline="-25000" dirty="0" err="1"/>
              <a:t>m</a:t>
            </a:r>
            <a:r>
              <a:rPr kumimoji="0" lang="en-US" altLang="zh-TW" sz="2800" baseline="-25000" dirty="0"/>
              <a:t> </a:t>
            </a:r>
            <a:r>
              <a:rPr kumimoji="0" lang="en-US" altLang="zh-TW" sz="2800" dirty="0">
                <a:sym typeface="Symbol"/>
              </a:rPr>
              <a:t></a:t>
            </a:r>
            <a:r>
              <a:rPr kumimoji="0" lang="en-US" altLang="zh-TW" sz="2800" dirty="0"/>
              <a:t> </a:t>
            </a:r>
            <a:r>
              <a:rPr kumimoji="0" lang="en-US" altLang="zh-TW" sz="2800" dirty="0">
                <a:sym typeface="Symbol"/>
              </a:rPr>
              <a:t></a:t>
            </a:r>
            <a:r>
              <a:rPr kumimoji="0" lang="en-US" altLang="zh-TW" sz="2800" dirty="0"/>
              <a:t> </a:t>
            </a:r>
            <a:r>
              <a:rPr kumimoji="0" lang="en-US" altLang="zh-TW" sz="2800" dirty="0" err="1"/>
              <a:t>φ</a:t>
            </a:r>
            <a:r>
              <a:rPr kumimoji="0" lang="en-US" altLang="zh-TW" sz="2800" baseline="-25000" dirty="0" err="1"/>
              <a:t>s</a:t>
            </a:r>
            <a:endParaRPr lang="en-US" altLang="en-US" sz="2800" kern="0" dirty="0">
              <a:latin typeface="+mn-lt"/>
              <a:ea typeface="+mn-ea"/>
              <a:sym typeface="Euclid Symbol" pitchFamily="18" charset="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投影片編號版面配置區 3">
            <a:extLst>
              <a:ext uri="{FF2B5EF4-FFF2-40B4-BE49-F238E27FC236}">
                <a16:creationId xmlns:a16="http://schemas.microsoft.com/office/drawing/2014/main" id="{5683C0F2-57F6-4A3A-AA86-FAF31510D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6210F4-0648-4CD4-9A00-1B39AB5178F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33475" name="Text Box 2">
            <a:extLst>
              <a:ext uri="{FF2B5EF4-FFF2-40B4-BE49-F238E27FC236}">
                <a16:creationId xmlns:a16="http://schemas.microsoft.com/office/drawing/2014/main" id="{C8C4EABB-75AF-4029-9C91-633C7841F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00200"/>
            <a:ext cx="7848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12788" indent="-258763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800">
                <a:solidFill>
                  <a:srgbClr val="FF3300"/>
                </a:solidFill>
              </a:rPr>
              <a:t>Tableau for </a:t>
            </a:r>
            <a:r>
              <a:rPr kumimoji="0" lang="en-US" altLang="zh-TW" sz="2800"/>
              <a:t>φ</a:t>
            </a:r>
            <a:endParaRPr kumimoji="0" lang="en-US" altLang="zh-TW" sz="28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TW" sz="2800"/>
              <a:t>a finite Kripke structure that fully describes the behaviors of φ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TW" sz="2800">
                <a:solidFill>
                  <a:srgbClr val="FF3300"/>
                </a:solidFill>
              </a:rPr>
              <a:t>exponential</a:t>
            </a:r>
            <a:r>
              <a:rPr kumimoji="0" lang="en-US" altLang="zh-TW" sz="2800"/>
              <a:t> number of states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TW" sz="2800"/>
              <a:t>An algorithm can explore a fulfilling path in the tableau to answer the satisfiability. 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kumimoji="0" lang="en-US" altLang="zh-TW" sz="2800"/>
              <a:t>nondeterministic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kumimoji="0" lang="en-US" altLang="zh-TW" sz="2800"/>
              <a:t>without construction of the tableau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kumimoji="0" lang="en-US" altLang="zh-TW" sz="2800"/>
              <a:t>PSPACE.  </a:t>
            </a:r>
          </a:p>
        </p:txBody>
      </p:sp>
      <p:sp>
        <p:nvSpPr>
          <p:cNvPr id="233476" name="Rectangle 3">
            <a:extLst>
              <a:ext uri="{FF2B5EF4-FFF2-40B4-BE49-F238E27FC236}">
                <a16:creationId xmlns:a16="http://schemas.microsoft.com/office/drawing/2014/main" id="{DE7B55DD-D66B-43B1-9833-17ADCD9F9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  <a:t>LPTL</a:t>
            </a:r>
            <a:b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altLang="zh-TW" sz="3800">
                <a:solidFill>
                  <a:schemeClr val="tx2"/>
                </a:solidFill>
                <a:latin typeface="Garamond" panose="02020404030301010803" pitchFamily="18" charset="0"/>
              </a:rPr>
              <a:t> - tableau for satisfiability checking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投影片編號版面配置區 6">
            <a:extLst>
              <a:ext uri="{FF2B5EF4-FFF2-40B4-BE49-F238E27FC236}">
                <a16:creationId xmlns:a16="http://schemas.microsoft.com/office/drawing/2014/main" id="{8E39CC83-03B1-4413-9AA5-3C7C9AA7F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0F4BEB-8C56-4C35-AE64-BA2CE08A1B8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D348226B-8C67-467D-99EB-2ED5BEDB2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 - </a:t>
            </a:r>
            <a:r>
              <a:rPr lang="en-US" altLang="zh-TW" sz="3800"/>
              <a:t>tableau for satisfiability checking</a:t>
            </a:r>
          </a:p>
        </p:txBody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703B0455-F8B2-471F-9B8F-43420B3F0C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6868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Tableau construction</a:t>
            </a:r>
            <a:r>
              <a:rPr lang="en-US" altLang="zh-TW" sz="2800">
                <a:solidFill>
                  <a:schemeClr val="tx2"/>
                </a:solidFill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chemeClr val="tx2"/>
                </a:solidFill>
              </a:rPr>
              <a:t>a preprocessing step: push all negations to the literals. </a:t>
            </a:r>
            <a:endParaRPr lang="en-US" altLang="zh-TW" sz="2800"/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ym typeface="Symbol" panose="05050102010706020507" pitchFamily="18" charset="2"/>
              </a:rPr>
              <a:t> 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 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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)</a:t>
            </a: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ym typeface="Symbol" panose="05050102010706020507" pitchFamily="18" charset="2"/>
              </a:rPr>
              <a:t> 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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)</a:t>
            </a: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 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 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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(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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(</a:t>
            </a:r>
            <a:r>
              <a:rPr lang="en-US" altLang="zh-TW" sz="2800">
                <a:solidFill>
                  <a:schemeClr val="accent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□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((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((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( 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 )))</a:t>
            </a: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cs typeface="Arial" panose="020B0604020202020204" pitchFamily="34" charset="0"/>
                <a:sym typeface="Euclid Extra" pitchFamily="18" charset="2"/>
              </a:rPr>
              <a:t>□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 </a:t>
            </a:r>
            <a:r>
              <a:rPr lang="en-US" altLang="zh-TW" sz="2800">
                <a:solidFill>
                  <a:schemeClr val="accent1"/>
                </a:solidFill>
                <a:latin typeface="新細明體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◇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>
                <a:solidFill>
                  <a:schemeClr val="accent1"/>
                </a:solidFill>
                <a:latin typeface="新細明體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◇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 </a:t>
            </a:r>
            <a:r>
              <a:rPr lang="en-US" altLang="zh-TW" sz="2800">
                <a:solidFill>
                  <a:schemeClr val="hlink"/>
                </a:solidFill>
                <a:cs typeface="Arial" panose="020B0604020202020204" pitchFamily="34" charset="0"/>
                <a:sym typeface="Euclid Extra" pitchFamily="18" charset="2"/>
              </a:rPr>
              <a:t>□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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/>
            <a:endParaRPr lang="en-US" altLang="zh-TW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投影片編號版面配置區 6">
            <a:extLst>
              <a:ext uri="{FF2B5EF4-FFF2-40B4-BE49-F238E27FC236}">
                <a16:creationId xmlns:a16="http://schemas.microsoft.com/office/drawing/2014/main" id="{1F5C9772-7EAC-4F24-9297-2F452DED2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38223E-17D7-4DE6-9C14-943DEF33220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37571" name="Rectangle 2">
            <a:extLst>
              <a:ext uri="{FF2B5EF4-FFF2-40B4-BE49-F238E27FC236}">
                <a16:creationId xmlns:a16="http://schemas.microsoft.com/office/drawing/2014/main" id="{A878C9F5-AE49-4F1E-8FAB-4188970E8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</a:t>
            </a:r>
            <a:r>
              <a:rPr lang="en-US" altLang="zh-TW" sz="3400"/>
              <a:t>tableau for satisfiability checking</a:t>
            </a:r>
          </a:p>
        </p:txBody>
      </p:sp>
      <p:sp>
        <p:nvSpPr>
          <p:cNvPr id="237572" name="Rectangle 3">
            <a:extLst>
              <a:ext uri="{FF2B5EF4-FFF2-40B4-BE49-F238E27FC236}">
                <a16:creationId xmlns:a16="http://schemas.microsoft.com/office/drawing/2014/main" id="{DBC89D46-B325-4B62-989D-9A75048F78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Tableau construction</a:t>
            </a:r>
            <a:r>
              <a:rPr lang="en-US" altLang="zh-TW" sz="2800">
                <a:solidFill>
                  <a:schemeClr val="tx2"/>
                </a:solidFill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chemeClr val="tx2"/>
                </a:solidFill>
              </a:rPr>
              <a:t>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) (closure)</a:t>
            </a:r>
            <a:r>
              <a:rPr lang="en-US" altLang="zh-TW" sz="2400">
                <a:solidFill>
                  <a:schemeClr val="tx2"/>
                </a:solidFill>
              </a:rPr>
              <a:t> </a:t>
            </a:r>
            <a:r>
              <a:rPr lang="en-US" altLang="zh-TW" sz="2400"/>
              <a:t>is the smallest set of formulas containing</a:t>
            </a:r>
            <a:r>
              <a:rPr lang="en-US" altLang="zh-TW" sz="2400">
                <a:solidFill>
                  <a:schemeClr val="tx2"/>
                </a:solidFill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400"/>
              <a:t> with the following consistency requirement. </a:t>
            </a:r>
          </a:p>
          <a:p>
            <a:pPr eaLnBrk="1" hangingPunct="1"/>
            <a:r>
              <a:rPr lang="en-US" altLang="zh-TW" sz="3200">
                <a:solidFill>
                  <a:schemeClr val="hlink"/>
                </a:solidFill>
                <a:sym typeface="Symbol" panose="05050102010706020507" pitchFamily="18" charset="2"/>
              </a:rPr>
              <a:t></a:t>
            </a:r>
            <a:r>
              <a:rPr lang="en-US" altLang="zh-TW" sz="2800">
                <a:solidFill>
                  <a:schemeClr val="tx2"/>
                </a:solidFill>
              </a:rPr>
              <a:t>CL(</a:t>
            </a:r>
            <a:r>
              <a:rPr lang="en-US" altLang="zh-TW" sz="3200">
                <a:solidFill>
                  <a:schemeClr val="hlink"/>
                </a:solidFill>
                <a:sym typeface="Symbol" panose="05050102010706020507" pitchFamily="18" charset="2"/>
              </a:rPr>
              <a:t>)</a:t>
            </a:r>
            <a:endParaRPr lang="en-US" altLang="zh-TW" sz="26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  </a:t>
            </a:r>
            <a:r>
              <a:rPr lang="en-US" altLang="zh-TW" sz="2600">
                <a:sym typeface="Symbol" panose="05050102010706020507" pitchFamily="18" charset="2"/>
              </a:rPr>
              <a:t> 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 iff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 </a:t>
            </a:r>
            <a:r>
              <a:rPr lang="en-US" altLang="zh-TW" sz="2600">
                <a:sym typeface="Symbol" panose="05050102010706020507" pitchFamily="18" charset="2"/>
              </a:rPr>
              <a:t>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TW" sz="2600">
                <a:sym typeface="Symbol" panose="05050102010706020507" pitchFamily="18" charset="2"/>
              </a:rPr>
              <a:t>If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 b="1">
                <a:solidFill>
                  <a:schemeClr val="hlink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accent1"/>
                </a:solidFill>
                <a:sym typeface="Symbol" panose="05050102010706020507" pitchFamily="18" charset="2"/>
              </a:rPr>
              <a:t>,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 b="1">
                <a:solidFill>
                  <a:schemeClr val="hlink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), then</a:t>
            </a:r>
            <a:r>
              <a:rPr lang="ru-RU" altLang="zh-TW" sz="2600"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, 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TW" sz="2600">
                <a:sym typeface="Symbol" panose="05050102010706020507" pitchFamily="18" charset="2"/>
              </a:rPr>
              <a:t>If </a:t>
            </a:r>
            <a:r>
              <a:rPr lang="en-US" altLang="zh-TW" sz="26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>
                <a:sym typeface="Symbol" panose="05050102010706020507" pitchFamily="18" charset="2"/>
              </a:rPr>
              <a:t> 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), then</a:t>
            </a:r>
            <a:r>
              <a:rPr lang="ru-RU" altLang="zh-TW" sz="2600"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>
                <a:sym typeface="Symbol" panose="05050102010706020507" pitchFamily="18" charset="2"/>
              </a:rPr>
              <a:t> 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TW" sz="2600">
                <a:sym typeface="Symbol" panose="05050102010706020507" pitchFamily="18" charset="2"/>
              </a:rPr>
              <a:t>If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), then</a:t>
            </a:r>
            <a:r>
              <a:rPr lang="ru-RU" altLang="zh-TW" sz="2600"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, 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6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(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TW" sz="26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600">
                <a:sym typeface="Symbol" panose="05050102010706020507" pitchFamily="18" charset="2"/>
              </a:rPr>
              <a:t>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TW" sz="2600">
                <a:sym typeface="Symbol" panose="05050102010706020507" pitchFamily="18" charset="2"/>
              </a:rPr>
              <a:t>If </a:t>
            </a:r>
            <a:r>
              <a:rPr lang="en-US" altLang="zh-TW" sz="2600">
                <a:solidFill>
                  <a:schemeClr val="hlink"/>
                </a:solidFill>
                <a:cs typeface="Arial" panose="020B0604020202020204" pitchFamily="34" charset="0"/>
                <a:sym typeface="Euclid Extra" pitchFamily="18" charset="2"/>
              </a:rPr>
              <a:t>□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>
                <a:sym typeface="Symbol" panose="05050102010706020507" pitchFamily="18" charset="2"/>
              </a:rPr>
              <a:t> 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), then</a:t>
            </a:r>
            <a:r>
              <a:rPr lang="ru-RU" altLang="zh-TW" sz="2600"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,</a:t>
            </a:r>
            <a:r>
              <a:rPr lang="en-US" altLang="zh-TW" sz="2600">
                <a:sym typeface="Symbol" panose="05050102010706020507" pitchFamily="18" charset="2"/>
              </a:rPr>
              <a:t> </a:t>
            </a:r>
            <a:r>
              <a:rPr lang="en-US" altLang="zh-TW" sz="2600">
                <a:solidFill>
                  <a:schemeClr val="hlink"/>
                </a:solidFill>
                <a:sym typeface="Euclid Extra" pitchFamily="18" charset="2"/>
              </a:rPr>
              <a:t> </a:t>
            </a:r>
            <a:r>
              <a:rPr lang="en-US" altLang="zh-TW" sz="2600">
                <a:solidFill>
                  <a:schemeClr val="hlink"/>
                </a:solidFill>
                <a:cs typeface="Arial" panose="020B0604020202020204" pitchFamily="34" charset="0"/>
                <a:sym typeface="Euclid Extra" pitchFamily="18" charset="2"/>
              </a:rPr>
              <a:t>□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600">
                <a:sym typeface="Symbol" panose="05050102010706020507" pitchFamily="18" charset="2"/>
              </a:rPr>
              <a:t> CL(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6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投影片編號版面配置區 6">
            <a:extLst>
              <a:ext uri="{FF2B5EF4-FFF2-40B4-BE49-F238E27FC236}">
                <a16:creationId xmlns:a16="http://schemas.microsoft.com/office/drawing/2014/main" id="{4C565D6B-92B2-4CA4-BD36-569E7A6AC2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2487FF-F509-4D05-A7D5-BACCE3B85DA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39619" name="Rectangle 2">
            <a:extLst>
              <a:ext uri="{FF2B5EF4-FFF2-40B4-BE49-F238E27FC236}">
                <a16:creationId xmlns:a16="http://schemas.microsoft.com/office/drawing/2014/main" id="{F56D14A8-DD5C-45CB-8622-5568056F0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LPTL</a:t>
            </a:r>
            <a:br>
              <a:rPr lang="en-US" altLang="zh-TW" sz="3800"/>
            </a:br>
            <a:r>
              <a:rPr lang="en-US" altLang="zh-TW" sz="3800"/>
              <a:t> - </a:t>
            </a:r>
            <a:r>
              <a:rPr lang="en-US" altLang="zh-TW" sz="3400"/>
              <a:t>tableau for satisfiability checking</a:t>
            </a:r>
          </a:p>
        </p:txBody>
      </p:sp>
      <p:sp>
        <p:nvSpPr>
          <p:cNvPr id="239620" name="Rectangle 3">
            <a:extLst>
              <a:ext uri="{FF2B5EF4-FFF2-40B4-BE49-F238E27FC236}">
                <a16:creationId xmlns:a16="http://schemas.microsoft.com/office/drawing/2014/main" id="{9F00B2F3-4367-4A3F-8068-945FFF789F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Tableau (V, E), </a:t>
            </a:r>
            <a:r>
              <a:rPr lang="en-US" altLang="zh-TW" sz="2800" i="1">
                <a:solidFill>
                  <a:srgbClr val="FF0000"/>
                </a:solidFill>
              </a:rPr>
              <a:t>node consistency condition</a:t>
            </a:r>
            <a:r>
              <a:rPr lang="en-US" altLang="zh-TW" sz="2800"/>
              <a:t>:   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A tableau node v </a:t>
            </a:r>
            <a:r>
              <a:rPr lang="en-US" altLang="zh-TW" sz="2800">
                <a:sym typeface="Symbol" panose="05050102010706020507" pitchFamily="18" charset="2"/>
              </a:rPr>
              <a:t></a:t>
            </a:r>
            <a:r>
              <a:rPr lang="en-US" altLang="zh-TW" sz="2400">
                <a:sym typeface="Symbol" panose="05050102010706020507" pitchFamily="18" charset="2"/>
              </a:rPr>
              <a:t> V </a:t>
            </a:r>
            <a:r>
              <a:rPr lang="en-US" altLang="zh-TW" sz="2400">
                <a:solidFill>
                  <a:schemeClr val="tx2"/>
                </a:solidFill>
                <a:sym typeface="Symbol" panose="05050102010706020507" pitchFamily="18" charset="2"/>
              </a:rPr>
              <a:t>is a set </a:t>
            </a:r>
            <a:r>
              <a:rPr lang="en-US" altLang="zh-TW" sz="2400">
                <a:sym typeface="Symbol" panose="05050102010706020507" pitchFamily="18" charset="2"/>
              </a:rPr>
              <a:t>v  CL(f) such that  </a:t>
            </a:r>
            <a:endParaRPr lang="en-US" altLang="zh-TW" sz="2600"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p</a:t>
            </a:r>
            <a:r>
              <a:rPr lang="en-US" altLang="zh-TW" sz="2800">
                <a:sym typeface="Symbol" panose="05050102010706020507" pitchFamily="18" charset="2"/>
              </a:rPr>
              <a:t>  v iff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p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Euclid Symbol" pitchFamily="18" charset="2"/>
              </a:rPr>
              <a:t></a:t>
            </a:r>
            <a:r>
              <a:rPr lang="en-US" altLang="zh-TW" sz="2800">
                <a:sym typeface="Symbol" panose="05050102010706020507" pitchFamily="18" charset="2"/>
              </a:rPr>
              <a:t> v</a:t>
            </a: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v, then</a:t>
            </a:r>
            <a:r>
              <a:rPr lang="ru-RU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v or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v</a:t>
            </a: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v, then</a:t>
            </a:r>
            <a:r>
              <a:rPr lang="ru-RU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v and 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v</a:t>
            </a:r>
          </a:p>
          <a:p>
            <a:pPr eaLnBrk="1" hangingPunct="1"/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zh-TW" sz="2800">
                <a:solidFill>
                  <a:schemeClr val="hlink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□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 v, then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 v and 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□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 </a:t>
            </a:r>
            <a:r>
              <a:rPr lang="en-US" altLang="zh-TW" sz="2800">
                <a:sym typeface="Symbol" panose="05050102010706020507" pitchFamily="18" charset="2"/>
              </a:rPr>
              <a:t> v</a:t>
            </a:r>
          </a:p>
          <a:p>
            <a:pPr eaLnBrk="1" hangingPunct="1"/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zh-TW" sz="2800">
                <a:solidFill>
                  <a:schemeClr val="hlink"/>
                </a:solidFill>
                <a:latin typeface="新細明體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◇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 v, then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olidFill>
                  <a:srgbClr val="0099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 v or 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chemeClr val="hlink"/>
                </a:solidFill>
                <a:latin typeface="新細明體" panose="02020500000000000000" pitchFamily="18" charset="-120"/>
                <a:cs typeface="Arial" panose="020B0604020202020204" pitchFamily="34" charset="0"/>
                <a:sym typeface="Symbol" panose="05050102010706020507" pitchFamily="18" charset="2"/>
              </a:rPr>
              <a:t>◇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 </a:t>
            </a:r>
            <a:r>
              <a:rPr lang="en-US" altLang="zh-TW" sz="2800">
                <a:sym typeface="Symbol" panose="05050102010706020507" pitchFamily="18" charset="2"/>
              </a:rPr>
              <a:t> v</a:t>
            </a: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v, then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 v or 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v and 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(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>
                <a:sym typeface="Symbol" panose="05050102010706020507" pitchFamily="18" charset="2"/>
              </a:rPr>
              <a:t>v)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投影片編號版面配置區 6">
            <a:extLst>
              <a:ext uri="{FF2B5EF4-FFF2-40B4-BE49-F238E27FC236}">
                <a16:creationId xmlns:a16="http://schemas.microsoft.com/office/drawing/2014/main" id="{C5AD280E-BDD4-43DF-9363-0677CD6C93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6B6D25-376F-4B5E-96AC-34955EF4478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224A0162-93B7-4980-980F-D385C8AF8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 - </a:t>
            </a:r>
            <a:r>
              <a:rPr lang="en-US" altLang="zh-TW" sz="3800"/>
              <a:t>tableau for satisfiability checking</a:t>
            </a:r>
          </a:p>
        </p:txBody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92CADEFD-822E-417E-99A1-A06D9EE17E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7934325" cy="4302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Tableau (V, E), </a:t>
            </a:r>
            <a:r>
              <a:rPr lang="en-US" altLang="zh-TW" sz="2800" i="1">
                <a:solidFill>
                  <a:srgbClr val="FF0000"/>
                </a:solidFill>
              </a:rPr>
              <a:t>arc consisitency condition</a:t>
            </a:r>
            <a:r>
              <a:rPr lang="en-US" altLang="zh-TW" sz="2800"/>
              <a:t>:   </a:t>
            </a:r>
            <a:endParaRPr lang="en-US" altLang="zh-TW" sz="280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chemeClr val="tx2"/>
                </a:solidFill>
                <a:sym typeface="Symbol" panose="05050102010706020507" pitchFamily="18" charset="2"/>
              </a:rPr>
              <a:t>Given an arc (v,v</a:t>
            </a:r>
            <a:r>
              <a:rPr lang="en-US" altLang="zh-TW" sz="2400">
                <a:solidFill>
                  <a:schemeClr val="tx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TW" sz="2400">
                <a:solidFill>
                  <a:schemeClr val="tx2"/>
                </a:solidFill>
                <a:sym typeface="Symbol" panose="05050102010706020507" pitchFamily="18" charset="2"/>
              </a:rPr>
              <a:t>) </a:t>
            </a:r>
            <a:r>
              <a:rPr lang="en-US" altLang="zh-TW" sz="2800">
                <a:sym typeface="Symbol" panose="05050102010706020507" pitchFamily="18" charset="2"/>
              </a:rPr>
              <a:t>E, if</a:t>
            </a:r>
            <a:r>
              <a:rPr lang="en-US" altLang="zh-TW" sz="2800">
                <a:solidFill>
                  <a:schemeClr val="hlink"/>
                </a:solidFill>
                <a:sym typeface="Euclid Extra" pitchFamily="18" charset="2"/>
              </a:rPr>
              <a:t> 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 </a:t>
            </a:r>
            <a:r>
              <a:rPr lang="en-US" altLang="zh-TW" sz="2800">
                <a:sym typeface="Symbol" panose="05050102010706020507" pitchFamily="18" charset="2"/>
              </a:rPr>
              <a:t>  v, then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>
                <a:sym typeface="Symbol" panose="05050102010706020507" pitchFamily="18" charset="2"/>
              </a:rPr>
              <a:t>  v</a:t>
            </a:r>
            <a:r>
              <a:rPr lang="en-US" altLang="zh-TW" sz="280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/>
            <a:r>
              <a:rPr lang="en-US" altLang="zh-TW" sz="2800">
                <a:sym typeface="Symbol" panose="05050102010706020507" pitchFamily="18" charset="2"/>
              </a:rPr>
              <a:t>A node v in (V,E) is initial for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800">
                <a:sym typeface="Symbol" panose="05050102010706020507" pitchFamily="18" charset="2"/>
              </a:rPr>
              <a:t> if </a:t>
            </a:r>
            <a:r>
              <a:rPr lang="en-US" altLang="zh-TW" sz="2600">
                <a:solidFill>
                  <a:schemeClr val="hlink"/>
                </a:solidFill>
                <a:sym typeface="Symbol" panose="05050102010706020507" pitchFamily="18" charset="2"/>
              </a:rPr>
              <a:t> </a:t>
            </a:r>
            <a:r>
              <a:rPr lang="en-US" altLang="zh-TW" sz="2800">
                <a:sym typeface="Symbol" panose="05050102010706020507" pitchFamily="18" charset="2"/>
              </a:rPr>
              <a:t>v.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60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投影片編號版面配置區 5">
            <a:extLst>
              <a:ext uri="{FF2B5EF4-FFF2-40B4-BE49-F238E27FC236}">
                <a16:creationId xmlns:a16="http://schemas.microsoft.com/office/drawing/2014/main" id="{D3FC954F-96FE-47FF-B094-2A00B501D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8A2D2D-D372-4618-9F6F-C840BFECF7E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43715" name="Rectangle 2">
            <a:extLst>
              <a:ext uri="{FF2B5EF4-FFF2-40B4-BE49-F238E27FC236}">
                <a16:creationId xmlns:a16="http://schemas.microsoft.com/office/drawing/2014/main" id="{14EDBA0F-1C35-41DA-A3EF-9F9209200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 - </a:t>
            </a:r>
            <a:r>
              <a:rPr lang="en-US" altLang="zh-TW" sz="3800"/>
              <a:t>tableau for satisfiability checking</a:t>
            </a:r>
            <a:endParaRPr lang="en-US" altLang="zh-TW" sz="3800">
              <a:solidFill>
                <a:srgbClr val="FF6600"/>
              </a:solidFill>
              <a:latin typeface="Arial" panose="020B0604020202020204" pitchFamily="34" charset="0"/>
            </a:endParaRPr>
          </a:p>
        </p:txBody>
      </p:sp>
      <p:sp>
        <p:nvSpPr>
          <p:cNvPr id="817155" name="Rectangle 3">
            <a:extLst>
              <a:ext uri="{FF2B5EF4-FFF2-40B4-BE49-F238E27FC236}">
                <a16:creationId xmlns:a16="http://schemas.microsoft.com/office/drawing/2014/main" id="{FA4F5707-8A88-4EF1-9BD9-CE1A72B73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6106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CL(</a:t>
            </a:r>
            <a:r>
              <a:rPr lang="en-US" altLang="zh-TW" sz="2800">
                <a:sym typeface="Symbol" panose="05050102010706020507" pitchFamily="18" charset="2"/>
              </a:rPr>
              <a:t>pUq) = {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p,   p,  q,   q } </a:t>
            </a:r>
            <a:endParaRPr lang="en-US" altLang="zh-TW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Example: </a:t>
            </a:r>
            <a:r>
              <a:rPr lang="en-US" altLang="zh-TW">
                <a:solidFill>
                  <a:srgbClr val="FF6600"/>
                </a:solidFill>
              </a:rPr>
              <a:t>(p U q)</a:t>
            </a:r>
            <a:r>
              <a:rPr lang="en-US" altLang="zh-TW" sz="28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tableau (V,E)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V:		{</a:t>
            </a:r>
            <a:r>
              <a:rPr lang="en-US" altLang="zh-TW" sz="2800">
                <a:sym typeface="Symbol" panose="05050102010706020507" pitchFamily="18" charset="2"/>
              </a:rPr>
              <a:t>p, q,  pUq 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	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p, 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    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p, q}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		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p, q,  pUq}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		{p, q, pUq,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	{p, q,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  {p, q}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		{p,  q, pUq,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	{p, q, pUq}      {p,q}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		{p,  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		{p, q,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} 		{p, q}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E: ?</a:t>
            </a:r>
          </a:p>
        </p:txBody>
      </p:sp>
      <p:sp>
        <p:nvSpPr>
          <p:cNvPr id="243717" name="Text Box 4">
            <a:extLst>
              <a:ext uri="{FF2B5EF4-FFF2-40B4-BE49-F238E27FC236}">
                <a16:creationId xmlns:a16="http://schemas.microsoft.com/office/drawing/2014/main" id="{DEABC769-9ECA-4284-AB85-FE33470D9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4577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TW" altLang="zh-TW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74" name="Ink 6">
                <a:extLst>
                  <a:ext uri="{FF2B5EF4-FFF2-40B4-BE49-F238E27FC236}">
                    <a16:creationId xmlns:a16="http://schemas.microsoft.com/office/drawing/2014/main" id="{9F79EADF-895C-4EFE-AC7A-8F09972F469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64050" y="3714750"/>
              <a:ext cx="1588" cy="1588"/>
            </p14:xfrm>
          </p:contentPart>
        </mc:Choice>
        <mc:Fallback xmlns="">
          <p:pic>
            <p:nvPicPr>
              <p:cNvPr id="3074" name="Ink 6">
                <a:extLst>
                  <a:ext uri="{FF2B5EF4-FFF2-40B4-BE49-F238E27FC236}">
                    <a16:creationId xmlns:a16="http://schemas.microsoft.com/office/drawing/2014/main" id="{9F79EADF-895C-4EFE-AC7A-8F09972F4694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6238" y="3636938"/>
                <a:ext cx="154036" cy="15403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1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1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1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1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1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81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1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55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投影片編號版面配置區 5">
            <a:extLst>
              <a:ext uri="{FF2B5EF4-FFF2-40B4-BE49-F238E27FC236}">
                <a16:creationId xmlns:a16="http://schemas.microsoft.com/office/drawing/2014/main" id="{E9827429-14DE-4CF7-B0AB-B10EB36D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0508F8-DD33-47D9-A96D-FFC1DA99379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BC9E5C3B-7E28-4763-BCB5-6CD6D7237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- </a:t>
            </a:r>
            <a:r>
              <a:rPr lang="en-US" altLang="zh-TW" sz="3800"/>
              <a:t>tableau for satisfiability checking</a:t>
            </a:r>
          </a:p>
        </p:txBody>
      </p:sp>
      <p:sp>
        <p:nvSpPr>
          <p:cNvPr id="819203" name="Rectangle 3">
            <a:extLst>
              <a:ext uri="{FF2B5EF4-FFF2-40B4-BE49-F238E27FC236}">
                <a16:creationId xmlns:a16="http://schemas.microsoft.com/office/drawing/2014/main" id="{9C08BA06-FA6E-4FBC-91E5-5438C6B00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419600"/>
          </a:xfrm>
        </p:spPr>
        <p:txBody>
          <a:bodyPr/>
          <a:lstStyle/>
          <a:p>
            <a:pPr marL="334963" indent="-334963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 is satisfiable iff in (V,E), </a:t>
            </a:r>
          </a:p>
          <a:p>
            <a:pPr marL="334963" indent="-334963" eaLnBrk="1" hangingPunct="1"/>
            <a:r>
              <a:rPr lang="en-US" altLang="zh-TW" sz="2800">
                <a:sym typeface="Symbol" panose="05050102010706020507" pitchFamily="18" charset="2"/>
              </a:rPr>
              <a:t>there is an infinite path from an initial node for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800">
                <a:sym typeface="Symbol" panose="05050102010706020507" pitchFamily="18" charset="2"/>
              </a:rPr>
              <a:t>  such that all until formulas are eventually satisfied; or </a:t>
            </a:r>
          </a:p>
          <a:p>
            <a:pPr marL="334963" indent="-334963" eaLnBrk="1" hangingPunct="1"/>
            <a:r>
              <a:rPr lang="en-US" altLang="zh-TW" sz="2800">
                <a:sym typeface="Symbol" panose="05050102010706020507" pitchFamily="18" charset="2"/>
              </a:rPr>
              <a:t>there is a strong connected component (SCC) reachable from an initial node for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 </a:t>
            </a:r>
            <a:r>
              <a:rPr lang="en-US" altLang="zh-TW" sz="2800">
                <a:sym typeface="Symbol" panose="05050102010706020507" pitchFamily="18" charset="2"/>
              </a:rPr>
              <a:t>such that for all until formula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 in a node in the SCC, there is also a node in the SCC containing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 ; or </a:t>
            </a:r>
          </a:p>
          <a:p>
            <a:pPr marL="334963" indent="-334963" eaLnBrk="1" hangingPunct="1"/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there is a cycle reachable from an initial node for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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 such that the for all until formulas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accent1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 in </a:t>
            </a:r>
            <a:r>
              <a:rPr lang="en-US" altLang="zh-TW" sz="2800" b="1">
                <a:solidFill>
                  <a:srgbClr val="0000FF"/>
                </a:solidFill>
                <a:sym typeface="Symbol" panose="05050102010706020507" pitchFamily="18" charset="2"/>
              </a:rPr>
              <a:t>the first cycle node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, there is also a node in the cycle  containing </a:t>
            </a:r>
            <a:r>
              <a:rPr lang="en-US" altLang="zh-TW" sz="2800">
                <a:solidFill>
                  <a:schemeClr val="accent1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 baseline="-2500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819204" name="AutoShape 4">
            <a:extLst>
              <a:ext uri="{FF2B5EF4-FFF2-40B4-BE49-F238E27FC236}">
                <a16:creationId xmlns:a16="http://schemas.microsoft.com/office/drawing/2014/main" id="{68989ABB-EEDF-43CB-B102-81989CC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81000"/>
            <a:ext cx="5791200" cy="3733800"/>
          </a:xfrm>
          <a:prstGeom prst="cloudCallout">
            <a:avLst>
              <a:gd name="adj1" fmla="val -56111"/>
              <a:gd name="adj2" fmla="val 57736"/>
            </a:avLst>
          </a:prstGeom>
          <a:solidFill>
            <a:srgbClr val="FFFF00"/>
          </a:solidFill>
          <a:ln w="57150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7B9DF608-389F-4E4D-AF13-8826B11088A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838200"/>
            <a:ext cx="3467100" cy="2514600"/>
            <a:chOff x="2352" y="768"/>
            <a:chExt cx="2184" cy="1584"/>
          </a:xfrm>
        </p:grpSpPr>
        <p:sp>
          <p:nvSpPr>
            <p:cNvPr id="245769" name="Oval 6">
              <a:extLst>
                <a:ext uri="{FF2B5EF4-FFF2-40B4-BE49-F238E27FC236}">
                  <a16:creationId xmlns:a16="http://schemas.microsoft.com/office/drawing/2014/main" id="{A87196BB-180F-4FE4-8E6D-CCE13A848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824"/>
              <a:ext cx="816" cy="432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sym typeface="Symbol" panose="05050102010706020507" pitchFamily="18" charset="2"/>
                </a:rPr>
                <a:t>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1</a:t>
              </a:r>
              <a:r>
                <a:rPr lang="en-US" altLang="zh-TW" sz="2800" b="1">
                  <a:sym typeface="Symbol" panose="05050102010706020507" pitchFamily="18" charset="2"/>
                </a:rPr>
                <a:t>U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45770" name="Oval 7">
              <a:extLst>
                <a:ext uri="{FF2B5EF4-FFF2-40B4-BE49-F238E27FC236}">
                  <a16:creationId xmlns:a16="http://schemas.microsoft.com/office/drawing/2014/main" id="{A684333D-0A6E-44CC-92FF-998E40027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968"/>
              <a:ext cx="432" cy="384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3600" b="1">
                  <a:sym typeface="Symbol" panose="05050102010706020507" pitchFamily="18" charset="2"/>
                </a:rPr>
                <a:t></a:t>
              </a:r>
            </a:p>
          </p:txBody>
        </p:sp>
        <p:cxnSp>
          <p:nvCxnSpPr>
            <p:cNvPr id="245771" name="AutoShape 8">
              <a:extLst>
                <a:ext uri="{FF2B5EF4-FFF2-40B4-BE49-F238E27FC236}">
                  <a16:creationId xmlns:a16="http://schemas.microsoft.com/office/drawing/2014/main" id="{CBA7BA12-08A1-4760-B3EB-C090E89D8F00}"/>
                </a:ext>
              </a:extLst>
            </p:cNvPr>
            <p:cNvCxnSpPr>
              <a:cxnSpLocks noChangeShapeType="1"/>
              <a:stCxn id="245770" idx="7"/>
              <a:endCxn id="245769" idx="3"/>
            </p:cNvCxnSpPr>
            <p:nvPr/>
          </p:nvCxnSpPr>
          <p:spPr bwMode="auto">
            <a:xfrm rot="5400000" flipV="1">
              <a:off x="3135" y="1586"/>
              <a:ext cx="217" cy="1046"/>
            </a:xfrm>
            <a:prstGeom prst="curvedConnector5">
              <a:avLst>
                <a:gd name="adj1" fmla="val -81106"/>
                <a:gd name="adj2" fmla="val 47324"/>
                <a:gd name="adj3" fmla="val 184333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772" name="Oval 9">
              <a:extLst>
                <a:ext uri="{FF2B5EF4-FFF2-40B4-BE49-F238E27FC236}">
                  <a16:creationId xmlns:a16="http://schemas.microsoft.com/office/drawing/2014/main" id="{62DF829B-F727-4303-9D0B-E2ADCC0C2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768"/>
              <a:ext cx="816" cy="432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sym typeface="Symbol" panose="05050102010706020507" pitchFamily="18" charset="2"/>
                </a:rPr>
                <a:t>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2</a:t>
              </a:r>
            </a:p>
          </p:txBody>
        </p:sp>
        <p:cxnSp>
          <p:nvCxnSpPr>
            <p:cNvPr id="245773" name="AutoShape 10">
              <a:extLst>
                <a:ext uri="{FF2B5EF4-FFF2-40B4-BE49-F238E27FC236}">
                  <a16:creationId xmlns:a16="http://schemas.microsoft.com/office/drawing/2014/main" id="{61E551D6-F4FE-4A2C-B321-055FA951D8FF}"/>
                </a:ext>
              </a:extLst>
            </p:cNvPr>
            <p:cNvCxnSpPr>
              <a:cxnSpLocks noChangeShapeType="1"/>
              <a:stCxn id="245769" idx="6"/>
              <a:endCxn id="245772" idx="6"/>
            </p:cNvCxnSpPr>
            <p:nvPr/>
          </p:nvCxnSpPr>
          <p:spPr bwMode="auto">
            <a:xfrm flipV="1">
              <a:off x="4488" y="984"/>
              <a:ext cx="48" cy="1056"/>
            </a:xfrm>
            <a:prstGeom prst="curvedConnector3">
              <a:avLst>
                <a:gd name="adj1" fmla="val 1110417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774" name="AutoShape 11">
              <a:extLst>
                <a:ext uri="{FF2B5EF4-FFF2-40B4-BE49-F238E27FC236}">
                  <a16:creationId xmlns:a16="http://schemas.microsoft.com/office/drawing/2014/main" id="{20FEEEB5-6835-48A3-8C62-D1F273D8B456}"/>
                </a:ext>
              </a:extLst>
            </p:cNvPr>
            <p:cNvCxnSpPr>
              <a:cxnSpLocks noChangeShapeType="1"/>
              <a:stCxn id="245772" idx="2"/>
              <a:endCxn id="245769" idx="2"/>
            </p:cNvCxnSpPr>
            <p:nvPr/>
          </p:nvCxnSpPr>
          <p:spPr bwMode="auto">
            <a:xfrm rot="10800000" flipV="1">
              <a:off x="3624" y="984"/>
              <a:ext cx="48" cy="1056"/>
            </a:xfrm>
            <a:prstGeom prst="curvedConnector3">
              <a:avLst>
                <a:gd name="adj1" fmla="val 1310417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19212" name="AutoShape 12">
            <a:extLst>
              <a:ext uri="{FF2B5EF4-FFF2-40B4-BE49-F238E27FC236}">
                <a16:creationId xmlns:a16="http://schemas.microsoft.com/office/drawing/2014/main" id="{2B452EE3-FF0E-4AAC-BB60-C72AFB13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828800"/>
            <a:ext cx="1143000" cy="457200"/>
          </a:xfrm>
          <a:prstGeom prst="wedgeRectCallout">
            <a:avLst>
              <a:gd name="adj1" fmla="val 35000"/>
              <a:gd name="adj2" fmla="val 15659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initial</a:t>
            </a:r>
          </a:p>
        </p:txBody>
      </p:sp>
      <p:sp>
        <p:nvSpPr>
          <p:cNvPr id="819213" name="AutoShape 13">
            <a:extLst>
              <a:ext uri="{FF2B5EF4-FFF2-40B4-BE49-F238E27FC236}">
                <a16:creationId xmlns:a16="http://schemas.microsoft.com/office/drawing/2014/main" id="{AE276238-E248-4586-9885-480373A4B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743200"/>
            <a:ext cx="1143000" cy="1295400"/>
          </a:xfrm>
          <a:prstGeom prst="wedgeRectCallout">
            <a:avLst>
              <a:gd name="adj1" fmla="val -109028"/>
              <a:gd name="adj2" fmla="val -31250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1st cycle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2000"/>
                                        <p:tgtEl>
                                          <p:spTgt spid="819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 tmFilter="0, 0; .2, .5; .8, .5; 1, 0"/>
                                        <p:tgtEl>
                                          <p:spTgt spid="8192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1000" autoRev="1" fill="hold"/>
                                        <p:tgtEl>
                                          <p:spTgt spid="8192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 tmFilter="0, 0; .2, .5; .8, .5; 1, 0"/>
                                        <p:tgtEl>
                                          <p:spTgt spid="8192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1000" autoRev="1" fill="hold"/>
                                        <p:tgtEl>
                                          <p:spTgt spid="8192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3" grpId="0" build="p"/>
      <p:bldP spid="819204" grpId="0" animBg="1"/>
      <p:bldP spid="819212" grpId="0" animBg="1"/>
      <p:bldP spid="819212" grpId="1" animBg="1"/>
      <p:bldP spid="819213" grpId="0" animBg="1"/>
      <p:bldP spid="819213" grpId="1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標題 1">
            <a:extLst>
              <a:ext uri="{FF2B5EF4-FFF2-40B4-BE49-F238E27FC236}">
                <a16:creationId xmlns:a16="http://schemas.microsoft.com/office/drawing/2014/main" id="{E75F7441-9D52-456A-9004-A12EB1DA9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- tableau for satisfiability checking</a:t>
            </a:r>
            <a:endParaRPr lang="zh-TW" altLang="en-US"/>
          </a:p>
        </p:txBody>
      </p:sp>
      <p:sp>
        <p:nvSpPr>
          <p:cNvPr id="247811" name="內容版面配置區 2">
            <a:extLst>
              <a:ext uri="{FF2B5EF4-FFF2-40B4-BE49-F238E27FC236}">
                <a16:creationId xmlns:a16="http://schemas.microsoft.com/office/drawing/2014/main" id="{8C1D0DA2-394B-478B-AD32-6DF12A12AE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3200"/>
              <a:t>Please use tableau method to show that pUq  </a:t>
            </a:r>
            <a:r>
              <a:rPr lang="en-US" altLang="zh-TW" sz="3200">
                <a:sym typeface="Euclid Math One" pitchFamily="18" charset="2"/>
              </a:rPr>
              <a:t> 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□q is false.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1) Convert to negation: (</a:t>
            </a:r>
            <a:r>
              <a:rPr lang="en-US" altLang="zh-TW" sz="3200"/>
              <a:t>pUq)</a:t>
            </a:r>
            <a:r>
              <a:rPr lang="en-US" altLang="zh-TW" sz="3200">
                <a:sym typeface="Symbol" panose="05050102010706020507" pitchFamily="18" charset="2"/>
              </a:rPr>
              <a:t>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◇q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3200"/>
              <a:t>2) CL(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TW" sz="3200"/>
              <a:t>pUq)</a:t>
            </a:r>
            <a:r>
              <a:rPr lang="en-US" altLang="zh-TW" sz="3200">
                <a:sym typeface="Symbol" panose="05050102010706020507" pitchFamily="18" charset="2"/>
              </a:rPr>
              <a:t>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◇q</a:t>
            </a:r>
            <a:r>
              <a:rPr lang="en-US" altLang="zh-TW" sz="3200">
                <a:sym typeface="Symbol" panose="05050102010706020507" pitchFamily="18" charset="2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= {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TW" sz="2800"/>
              <a:t>pUq)</a:t>
            </a:r>
            <a:r>
              <a:rPr lang="en-US" altLang="zh-TW" sz="2800">
                <a:sym typeface="Symbol" panose="05050102010706020507" pitchFamily="18" charset="2"/>
              </a:rPr>
              <a:t>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◇q, 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p, q, 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◇q,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◇q</a:t>
            </a:r>
            <a:r>
              <a:rPr lang="en-US" altLang="zh-TW" sz="2800">
                <a:sym typeface="Symbol" panose="05050102010706020507" pitchFamily="18" charset="2"/>
              </a:rPr>
              <a:t> } </a:t>
            </a:r>
            <a:endParaRPr lang="en-US" altLang="zh-TW" sz="2800"/>
          </a:p>
          <a:p>
            <a:endParaRPr lang="zh-TW" altLang="en-US" sz="2800"/>
          </a:p>
        </p:txBody>
      </p:sp>
      <p:sp>
        <p:nvSpPr>
          <p:cNvPr id="247812" name="投影片編號版面配置區 3">
            <a:extLst>
              <a:ext uri="{FF2B5EF4-FFF2-40B4-BE49-F238E27FC236}">
                <a16:creationId xmlns:a16="http://schemas.microsoft.com/office/drawing/2014/main" id="{CC8A099A-3172-4799-9DE3-D4788A0CE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7E13B0-49C9-48AA-ADD6-9DFD084DA11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3B3C71F-76CF-44C6-ABAE-295D705C9CED}"/>
              </a:ext>
            </a:extLst>
          </p:cNvPr>
          <p:cNvSpPr/>
          <p:nvPr/>
        </p:nvSpPr>
        <p:spPr>
          <a:xfrm>
            <a:off x="381000" y="4495800"/>
            <a:ext cx="2209800" cy="198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(</a:t>
            </a: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en-US" altLang="zh-TW" sz="2000" dirty="0">
                <a:solidFill>
                  <a:schemeClr val="tx1"/>
                </a:solidFill>
                <a:sym typeface="Symbol"/>
              </a:rPr>
              <a:t>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</a:t>
            </a:r>
          </a:p>
          <a:p>
            <a:pPr algn="ctr" eaLnBrk="1" hangingPunct="1">
              <a:defRPr/>
            </a:pP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endParaRPr lang="en-US" altLang="zh-TW" sz="2000" dirty="0">
              <a:solidFill>
                <a:schemeClr val="tx1"/>
              </a:solidFill>
              <a:sym typeface="Symbol" pitchFamily="18" charset="2"/>
            </a:endParaRP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q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sym typeface="Euclid Extra" pitchFamily="18" charset="2"/>
              </a:rPr>
              <a:t>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57E76CC-27D8-43E0-91E8-DE452EAF9E82}"/>
              </a:ext>
            </a:extLst>
          </p:cNvPr>
          <p:cNvSpPr/>
          <p:nvPr/>
        </p:nvSpPr>
        <p:spPr>
          <a:xfrm>
            <a:off x="3276600" y="4953000"/>
            <a:ext cx="1143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8CA9DB0-FB79-4D8E-9E2B-543F35ABC47D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590800" y="5486400"/>
            <a:ext cx="685800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C72D791-935B-4DAF-A219-E3973D4124D2}"/>
              </a:ext>
            </a:extLst>
          </p:cNvPr>
          <p:cNvCxnSpPr>
            <a:endCxn id="5" idx="1"/>
          </p:cNvCxnSpPr>
          <p:nvPr/>
        </p:nvCxnSpPr>
        <p:spPr>
          <a:xfrm>
            <a:off x="304800" y="4495800"/>
            <a:ext cx="400050" cy="290513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弧形 11">
            <a:extLst>
              <a:ext uri="{FF2B5EF4-FFF2-40B4-BE49-F238E27FC236}">
                <a16:creationId xmlns:a16="http://schemas.microsoft.com/office/drawing/2014/main" id="{918D09A1-EAA7-42FD-8D89-83359E72E2A1}"/>
              </a:ext>
            </a:extLst>
          </p:cNvPr>
          <p:cNvSpPr/>
          <p:nvPr/>
        </p:nvSpPr>
        <p:spPr>
          <a:xfrm>
            <a:off x="3352800" y="5638800"/>
            <a:ext cx="914400" cy="914400"/>
          </a:xfrm>
          <a:prstGeom prst="arc">
            <a:avLst>
              <a:gd name="adj1" fmla="val 19842966"/>
              <a:gd name="adj2" fmla="val 13115851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FC3BFF1B-8ADE-415E-B29D-A9AE7B6041BE}"/>
              </a:ext>
            </a:extLst>
          </p:cNvPr>
          <p:cNvSpPr/>
          <p:nvPr/>
        </p:nvSpPr>
        <p:spPr>
          <a:xfrm>
            <a:off x="4876800" y="4419600"/>
            <a:ext cx="2209800" cy="21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(</a:t>
            </a: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en-US" altLang="zh-TW" sz="2000" dirty="0">
                <a:solidFill>
                  <a:schemeClr val="tx1"/>
                </a:solidFill>
                <a:sym typeface="Symbol"/>
              </a:rPr>
              <a:t>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</a:t>
            </a:r>
          </a:p>
          <a:p>
            <a:pPr algn="ctr" eaLnBrk="1" hangingPunct="1">
              <a:defRPr/>
            </a:pP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endParaRPr lang="en-US" altLang="zh-TW" sz="2000" dirty="0">
              <a:solidFill>
                <a:schemeClr val="tx1"/>
              </a:solidFill>
              <a:sym typeface="Symbol" pitchFamily="18" charset="2"/>
            </a:endParaRP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p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sym typeface="Euclid Extra" pitchFamily="18" charset="2"/>
              </a:rPr>
              <a:t></a:t>
            </a: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◇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/>
              </a:rPr>
              <a:t>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E09754A-7848-4D03-9520-5F4ADF03C933}"/>
              </a:ext>
            </a:extLst>
          </p:cNvPr>
          <p:cNvSpPr/>
          <p:nvPr/>
        </p:nvSpPr>
        <p:spPr>
          <a:xfrm>
            <a:off x="7772400" y="4953000"/>
            <a:ext cx="11430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 err="1">
                <a:solidFill>
                  <a:schemeClr val="tx1"/>
                </a:solidFill>
              </a:rPr>
              <a:t>pUq</a:t>
            </a: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 </a:t>
            </a:r>
          </a:p>
          <a:p>
            <a:pPr algn="ctr" eaLnBrk="1" hangingPunct="1">
              <a:defRPr/>
            </a:pPr>
            <a:r>
              <a:rPr lang="en-US" altLang="zh-TW" sz="2000" dirty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q </a:t>
            </a:r>
            <a:r>
              <a:rPr lang="en-US" altLang="zh-TW" sz="2000" dirty="0">
                <a:solidFill>
                  <a:schemeClr val="tx1"/>
                </a:solidFill>
                <a:sym typeface="Symbol" pitchFamily="18" charset="2"/>
              </a:rPr>
              <a:t> 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937A502-05D2-4EE1-B61D-397EF2E6AF9F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>
            <a:off x="7086600" y="5486400"/>
            <a:ext cx="685800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252DC05-C8DA-4E38-9720-E727DD6901B6}"/>
              </a:ext>
            </a:extLst>
          </p:cNvPr>
          <p:cNvCxnSpPr/>
          <p:nvPr/>
        </p:nvCxnSpPr>
        <p:spPr>
          <a:xfrm>
            <a:off x="4800600" y="4572000"/>
            <a:ext cx="334963" cy="290513"/>
          </a:xfrm>
          <a:prstGeom prst="straightConnector1">
            <a:avLst/>
          </a:prstGeom>
          <a:ln w="38100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弧形 18">
            <a:extLst>
              <a:ext uri="{FF2B5EF4-FFF2-40B4-BE49-F238E27FC236}">
                <a16:creationId xmlns:a16="http://schemas.microsoft.com/office/drawing/2014/main" id="{396D92BA-4DF9-4D60-855C-A725963B15EE}"/>
              </a:ext>
            </a:extLst>
          </p:cNvPr>
          <p:cNvSpPr/>
          <p:nvPr/>
        </p:nvSpPr>
        <p:spPr>
          <a:xfrm>
            <a:off x="7848600" y="5638800"/>
            <a:ext cx="914400" cy="914400"/>
          </a:xfrm>
          <a:prstGeom prst="arc">
            <a:avLst>
              <a:gd name="adj1" fmla="val 19832049"/>
              <a:gd name="adj2" fmla="val 13115851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標題 1">
            <a:extLst>
              <a:ext uri="{FF2B5EF4-FFF2-40B4-BE49-F238E27FC236}">
                <a16:creationId xmlns:a16="http://schemas.microsoft.com/office/drawing/2014/main" id="{32CABC1D-4CA9-4375-A147-B55DE7FFC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LPTL</a:t>
            </a:r>
            <a:br>
              <a:rPr lang="en-US" altLang="zh-TW"/>
            </a:br>
            <a:r>
              <a:rPr lang="en-US" altLang="zh-TW"/>
              <a:t>- tableau for satisfiability checking</a:t>
            </a:r>
            <a:endParaRPr lang="zh-TW" altLang="en-US"/>
          </a:p>
        </p:txBody>
      </p:sp>
      <p:sp>
        <p:nvSpPr>
          <p:cNvPr id="249859" name="內容版面配置區 2">
            <a:extLst>
              <a:ext uri="{FF2B5EF4-FFF2-40B4-BE49-F238E27FC236}">
                <a16:creationId xmlns:a16="http://schemas.microsoft.com/office/drawing/2014/main" id="{11EF4CD4-F596-4F72-B57D-8D049B77D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3200"/>
              <a:t>Please use tableau method to show that pUq  </a:t>
            </a:r>
            <a:r>
              <a:rPr lang="en-US" altLang="zh-TW" sz="3200">
                <a:sym typeface="Euclid Math One" pitchFamily="18" charset="2"/>
              </a:rPr>
              <a:t> 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◇q is true.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1) Convert to negation: (</a:t>
            </a:r>
            <a:r>
              <a:rPr lang="en-US" altLang="zh-TW" sz="3200"/>
              <a:t>pUq)</a:t>
            </a:r>
            <a:r>
              <a:rPr lang="en-US" altLang="zh-TW" sz="3200">
                <a:sym typeface="Symbol" panose="05050102010706020507" pitchFamily="18" charset="2"/>
              </a:rPr>
              <a:t>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□q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3200"/>
              <a:t>2) CL(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TW" sz="3200"/>
              <a:t>pUq)</a:t>
            </a:r>
            <a:r>
              <a:rPr lang="en-US" altLang="zh-TW" sz="3200">
                <a:sym typeface="Symbol" panose="05050102010706020507" pitchFamily="18" charset="2"/>
              </a:rPr>
              <a:t></a:t>
            </a:r>
            <a:r>
              <a:rPr lang="en-US" altLang="zh-TW" sz="3200">
                <a:cs typeface="Arial" panose="020B0604020202020204" pitchFamily="34" charset="0"/>
                <a:sym typeface="Symbol" panose="05050102010706020507" pitchFamily="18" charset="2"/>
              </a:rPr>
              <a:t>□q</a:t>
            </a:r>
            <a:r>
              <a:rPr lang="en-US" altLang="zh-TW" sz="3200">
                <a:sym typeface="Symbol" panose="05050102010706020507" pitchFamily="18" charset="2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= {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TW" sz="2800"/>
              <a:t>pUq)</a:t>
            </a:r>
            <a:r>
              <a:rPr lang="en-US" altLang="zh-TW" sz="2800">
                <a:sym typeface="Symbol" panose="05050102010706020507" pitchFamily="18" charset="2"/>
              </a:rPr>
              <a:t>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□q, 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/>
              <a:t>pUq</a:t>
            </a:r>
            <a:r>
              <a:rPr lang="en-US" altLang="zh-TW" sz="2800">
                <a:sym typeface="Symbol" panose="05050102010706020507" pitchFamily="18" charset="2"/>
              </a:rPr>
              <a:t>, p, q, 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□q, </a:t>
            </a:r>
            <a:r>
              <a:rPr lang="en-US" altLang="zh-TW" sz="2800">
                <a:sym typeface="Euclid Extra" pitchFamily="18" charset="2"/>
              </a:rPr>
              <a:t>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□q</a:t>
            </a:r>
            <a:r>
              <a:rPr lang="en-US" altLang="zh-TW" sz="2800">
                <a:sym typeface="Symbol" panose="05050102010706020507" pitchFamily="18" charset="2"/>
              </a:rPr>
              <a:t>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Pf: In each path that is a model of 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TW" sz="2800"/>
              <a:t>pUq)</a:t>
            </a:r>
            <a:r>
              <a:rPr lang="en-US" altLang="zh-TW" sz="2800">
                <a:sym typeface="Symbol" panose="05050102010706020507" pitchFamily="18" charset="2"/>
              </a:rPr>
              <a:t>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□q</a:t>
            </a:r>
            <a:r>
              <a:rPr lang="en-US" altLang="zh-TW" sz="2800">
                <a:sym typeface="Symbol" panose="05050102010706020507" pitchFamily="18" charset="2"/>
              </a:rPr>
              <a:t>, 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zh-TW" sz="2800">
                <a:sym typeface="Symbol" panose="05050102010706020507" pitchFamily="18" charset="2"/>
              </a:rPr>
              <a:t> must always be satisfied.  Thus, pUq is never fulfilled in the model.  </a:t>
            </a:r>
            <a:endParaRPr lang="en-US" altLang="zh-TW" sz="2800">
              <a:latin typeface="Euclid Symbol" pitchFamily="18" charset="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QED</a:t>
            </a:r>
            <a:endParaRPr lang="en-US" altLang="zh-TW" sz="2800"/>
          </a:p>
          <a:p>
            <a:endParaRPr lang="zh-TW" alt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投影片編號版面配置區 5">
            <a:extLst>
              <a:ext uri="{FF2B5EF4-FFF2-40B4-BE49-F238E27FC236}">
                <a16:creationId xmlns:a16="http://schemas.microsoft.com/office/drawing/2014/main" id="{A5C44383-7599-492F-8E79-E1AEBB9C1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BB404C-F5FC-4834-8A54-B49EFCB5594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51907" name="Rectangle 2">
            <a:extLst>
              <a:ext uri="{FF2B5EF4-FFF2-40B4-BE49-F238E27FC236}">
                <a16:creationId xmlns:a16="http://schemas.microsoft.com/office/drawing/2014/main" id="{BBC4C301-BC6F-4D81-AAAC-C8A6095CB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600"/>
              <a:t>LPTL</a:t>
            </a:r>
            <a:br>
              <a:rPr lang="en-US" altLang="zh-TW" sz="4600"/>
            </a:br>
            <a:r>
              <a:rPr lang="en-US" altLang="zh-TW" sz="4600"/>
              <a:t> - </a:t>
            </a:r>
            <a:r>
              <a:rPr lang="en-US" altLang="zh-TW"/>
              <a:t>tableau for satisfiability checking</a:t>
            </a:r>
          </a:p>
        </p:txBody>
      </p:sp>
      <p:sp>
        <p:nvSpPr>
          <p:cNvPr id="821251" name="Rectangle 3">
            <a:extLst>
              <a:ext uri="{FF2B5EF4-FFF2-40B4-BE49-F238E27FC236}">
                <a16:creationId xmlns:a16="http://schemas.microsoft.com/office/drawing/2014/main" id="{4C93AA08-4E8A-4121-97DC-A315C51EE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19600"/>
          </a:xfrm>
        </p:spPr>
        <p:txBody>
          <a:bodyPr/>
          <a:lstStyle/>
          <a:p>
            <a:pPr marL="334963" indent="-33496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500">
                <a:sym typeface="Symbol" panose="05050102010706020507" pitchFamily="18" charset="2"/>
              </a:rPr>
              <a:t> is satisfiable iff in (V,E), </a:t>
            </a:r>
          </a:p>
          <a:p>
            <a:pPr marL="334963" indent="-33496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500">
                <a:sym typeface="Symbol" panose="05050102010706020507" pitchFamily="18" charset="2"/>
              </a:rPr>
              <a:t>  there exists </a:t>
            </a:r>
            <a:r>
              <a:rPr lang="en-US" altLang="zh-TW" sz="350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endParaRPr lang="en-US" altLang="zh-TW" sz="3500">
              <a:sym typeface="Symbol" panose="05050102010706020507" pitchFamily="18" charset="2"/>
            </a:endParaRPr>
          </a:p>
          <a:p>
            <a:pPr marL="334963" indent="-334963" eaLnBrk="1" hangingPunct="1">
              <a:lnSpc>
                <a:spcPct val="90000"/>
              </a:lnSpc>
            </a:pPr>
            <a:r>
              <a:rPr lang="en-US" altLang="zh-TW" sz="2800">
                <a:sym typeface="Symbol" panose="05050102010706020507" pitchFamily="18" charset="2"/>
              </a:rPr>
              <a:t>path+cycle (|CL()|+2)|V|</a:t>
            </a:r>
          </a:p>
          <a:p>
            <a:pPr marL="334963" indent="-334963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TW" sz="2800">
                <a:sym typeface="Symbol" panose="05050102010706020507" pitchFamily="18" charset="2"/>
              </a:rPr>
              <a:t>|CL()| flags to </a:t>
            </a:r>
          </a:p>
          <a:p>
            <a:pPr marL="334963" indent="-334963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check the </a:t>
            </a:r>
          </a:p>
          <a:p>
            <a:pPr marL="334963" indent="-334963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until-formulas from </a:t>
            </a:r>
          </a:p>
          <a:p>
            <a:pPr marL="334963" indent="-334963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the first cycle node. </a:t>
            </a:r>
          </a:p>
          <a:p>
            <a:pPr marL="334963" indent="-334963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TW" sz="2800">
                <a:sym typeface="Symbol" panose="05050102010706020507" pitchFamily="18" charset="2"/>
              </a:rPr>
              <a:t>nondeterministic </a:t>
            </a:r>
          </a:p>
          <a:p>
            <a:pPr marL="334963" indent="-334963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PSPACE can solve it.</a:t>
            </a:r>
          </a:p>
          <a:p>
            <a:pPr marL="334963" indent="-334963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TW" sz="2800">
                <a:sym typeface="Symbol" panose="05050102010706020507" pitchFamily="18" charset="2"/>
              </a:rPr>
              <a:t>PSPACE-complete. </a:t>
            </a:r>
          </a:p>
        </p:txBody>
      </p:sp>
      <p:grpSp>
        <p:nvGrpSpPr>
          <p:cNvPr id="251909" name="Group 4">
            <a:extLst>
              <a:ext uri="{FF2B5EF4-FFF2-40B4-BE49-F238E27FC236}">
                <a16:creationId xmlns:a16="http://schemas.microsoft.com/office/drawing/2014/main" id="{C1DE1BAD-1B17-448C-B602-20383E59D550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209800"/>
            <a:ext cx="3467100" cy="2514600"/>
            <a:chOff x="2352" y="768"/>
            <a:chExt cx="2184" cy="1584"/>
          </a:xfrm>
        </p:grpSpPr>
        <p:sp>
          <p:nvSpPr>
            <p:cNvPr id="251912" name="Oval 5">
              <a:extLst>
                <a:ext uri="{FF2B5EF4-FFF2-40B4-BE49-F238E27FC236}">
                  <a16:creationId xmlns:a16="http://schemas.microsoft.com/office/drawing/2014/main" id="{40CBE94E-4305-41B1-91EC-1762798BF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824"/>
              <a:ext cx="816" cy="432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sym typeface="Symbol" panose="05050102010706020507" pitchFamily="18" charset="2"/>
                </a:rPr>
                <a:t>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1</a:t>
              </a:r>
              <a:r>
                <a:rPr lang="en-US" altLang="zh-TW" sz="2800" b="1">
                  <a:sym typeface="Symbol" panose="05050102010706020507" pitchFamily="18" charset="2"/>
                </a:rPr>
                <a:t>U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51913" name="Oval 6">
              <a:extLst>
                <a:ext uri="{FF2B5EF4-FFF2-40B4-BE49-F238E27FC236}">
                  <a16:creationId xmlns:a16="http://schemas.microsoft.com/office/drawing/2014/main" id="{EE43A218-C307-4CCC-B2B3-865547FBE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968"/>
              <a:ext cx="432" cy="384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3600" b="1">
                  <a:sym typeface="Symbol" panose="05050102010706020507" pitchFamily="18" charset="2"/>
                </a:rPr>
                <a:t></a:t>
              </a:r>
            </a:p>
          </p:txBody>
        </p:sp>
        <p:cxnSp>
          <p:nvCxnSpPr>
            <p:cNvPr id="251914" name="AutoShape 7">
              <a:extLst>
                <a:ext uri="{FF2B5EF4-FFF2-40B4-BE49-F238E27FC236}">
                  <a16:creationId xmlns:a16="http://schemas.microsoft.com/office/drawing/2014/main" id="{059E380F-21E0-44A6-A1BE-4663090708E0}"/>
                </a:ext>
              </a:extLst>
            </p:cNvPr>
            <p:cNvCxnSpPr>
              <a:cxnSpLocks noChangeShapeType="1"/>
              <a:stCxn id="251913" idx="7"/>
              <a:endCxn id="251912" idx="3"/>
            </p:cNvCxnSpPr>
            <p:nvPr/>
          </p:nvCxnSpPr>
          <p:spPr bwMode="auto">
            <a:xfrm rot="5400000" flipV="1">
              <a:off x="3135" y="1586"/>
              <a:ext cx="217" cy="1046"/>
            </a:xfrm>
            <a:prstGeom prst="curvedConnector5">
              <a:avLst>
                <a:gd name="adj1" fmla="val -81106"/>
                <a:gd name="adj2" fmla="val 47324"/>
                <a:gd name="adj3" fmla="val 184333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1915" name="Oval 8">
              <a:extLst>
                <a:ext uri="{FF2B5EF4-FFF2-40B4-BE49-F238E27FC236}">
                  <a16:creationId xmlns:a16="http://schemas.microsoft.com/office/drawing/2014/main" id="{73F77A17-DA28-4D39-89C9-A452D3873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768"/>
              <a:ext cx="816" cy="432"/>
            </a:xfrm>
            <a:prstGeom prst="ellipse">
              <a:avLst/>
            </a:prstGeom>
            <a:solidFill>
              <a:srgbClr val="FF0000"/>
            </a:solidFill>
            <a:ln w="762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>
                  <a:sym typeface="Symbol" panose="05050102010706020507" pitchFamily="18" charset="2"/>
                </a:rPr>
                <a:t></a:t>
              </a:r>
              <a:r>
                <a:rPr lang="en-US" altLang="zh-TW" sz="2800" b="1" baseline="-25000">
                  <a:sym typeface="Symbol" panose="05050102010706020507" pitchFamily="18" charset="2"/>
                </a:rPr>
                <a:t>2</a:t>
              </a:r>
            </a:p>
          </p:txBody>
        </p:sp>
        <p:cxnSp>
          <p:nvCxnSpPr>
            <p:cNvPr id="251916" name="AutoShape 9">
              <a:extLst>
                <a:ext uri="{FF2B5EF4-FFF2-40B4-BE49-F238E27FC236}">
                  <a16:creationId xmlns:a16="http://schemas.microsoft.com/office/drawing/2014/main" id="{282F4864-633F-46E5-8379-618340F71BC8}"/>
                </a:ext>
              </a:extLst>
            </p:cNvPr>
            <p:cNvCxnSpPr>
              <a:cxnSpLocks noChangeShapeType="1"/>
              <a:stCxn id="251912" idx="6"/>
              <a:endCxn id="251915" idx="6"/>
            </p:cNvCxnSpPr>
            <p:nvPr/>
          </p:nvCxnSpPr>
          <p:spPr bwMode="auto">
            <a:xfrm flipV="1">
              <a:off x="4488" y="984"/>
              <a:ext cx="48" cy="1056"/>
            </a:xfrm>
            <a:prstGeom prst="curvedConnector3">
              <a:avLst>
                <a:gd name="adj1" fmla="val 1110417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1917" name="AutoShape 10">
              <a:extLst>
                <a:ext uri="{FF2B5EF4-FFF2-40B4-BE49-F238E27FC236}">
                  <a16:creationId xmlns:a16="http://schemas.microsoft.com/office/drawing/2014/main" id="{AD89B288-E180-46B6-A293-A11C9CDA3C94}"/>
                </a:ext>
              </a:extLst>
            </p:cNvPr>
            <p:cNvCxnSpPr>
              <a:cxnSpLocks noChangeShapeType="1"/>
              <a:stCxn id="251915" idx="2"/>
              <a:endCxn id="251912" idx="2"/>
            </p:cNvCxnSpPr>
            <p:nvPr/>
          </p:nvCxnSpPr>
          <p:spPr bwMode="auto">
            <a:xfrm rot="10800000" flipV="1">
              <a:off x="3624" y="984"/>
              <a:ext cx="48" cy="1056"/>
            </a:xfrm>
            <a:prstGeom prst="curvedConnector3">
              <a:avLst>
                <a:gd name="adj1" fmla="val 1310417"/>
              </a:avLst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1910" name="AutoShape 11">
            <a:extLst>
              <a:ext uri="{FF2B5EF4-FFF2-40B4-BE49-F238E27FC236}">
                <a16:creationId xmlns:a16="http://schemas.microsoft.com/office/drawing/2014/main" id="{C14427E1-B807-4DF1-A412-962660DB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486400"/>
            <a:ext cx="1143000" cy="457200"/>
          </a:xfrm>
          <a:prstGeom prst="wedgeRectCallout">
            <a:avLst>
              <a:gd name="adj1" fmla="val -70000"/>
              <a:gd name="adj2" fmla="val -227083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initial</a:t>
            </a:r>
          </a:p>
        </p:txBody>
      </p:sp>
      <p:sp>
        <p:nvSpPr>
          <p:cNvPr id="251911" name="AutoShape 12">
            <a:extLst>
              <a:ext uri="{FF2B5EF4-FFF2-40B4-BE49-F238E27FC236}">
                <a16:creationId xmlns:a16="http://schemas.microsoft.com/office/drawing/2014/main" id="{C89F0C71-CC10-41E8-9F02-FDC07E234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800600"/>
            <a:ext cx="1143000" cy="1295400"/>
          </a:xfrm>
          <a:prstGeom prst="wedgeRectCallout">
            <a:avLst>
              <a:gd name="adj1" fmla="val -58333"/>
              <a:gd name="adj2" fmla="val -73653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1st cycle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2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2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2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2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2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2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2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2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1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投影片編號版面配置區 5">
            <a:extLst>
              <a:ext uri="{FF2B5EF4-FFF2-40B4-BE49-F238E27FC236}">
                <a16:creationId xmlns:a16="http://schemas.microsoft.com/office/drawing/2014/main" id="{5F3CE35E-4C2E-495E-9134-F32EE48E7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C984B2-077A-4C44-8125-F789951A435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53955" name="AutoShape 4">
            <a:extLst>
              <a:ext uri="{FF2B5EF4-FFF2-40B4-BE49-F238E27FC236}">
                <a16:creationId xmlns:a16="http://schemas.microsoft.com/office/drawing/2014/main" id="{616ABAAD-68DB-436E-BC00-F2F9A93A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953000"/>
            <a:ext cx="3505200" cy="1066800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253956" name="Rectangle 2">
            <a:extLst>
              <a:ext uri="{FF2B5EF4-FFF2-40B4-BE49-F238E27FC236}">
                <a16:creationId xmlns:a16="http://schemas.microsoft.com/office/drawing/2014/main" id="{29D2FB02-E488-47CF-ADD5-04C0B67C7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 model-checking framework</a:t>
            </a:r>
          </a:p>
        </p:txBody>
      </p:sp>
      <p:sp>
        <p:nvSpPr>
          <p:cNvPr id="253957" name="Oval 3">
            <a:extLst>
              <a:ext uri="{FF2B5EF4-FFF2-40B4-BE49-F238E27FC236}">
                <a16:creationId xmlns:a16="http://schemas.microsoft.com/office/drawing/2014/main" id="{3968C8A2-BEBE-44F2-84E7-695D4BE70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1447800" cy="990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Checker</a:t>
            </a:r>
          </a:p>
        </p:txBody>
      </p:sp>
      <p:sp>
        <p:nvSpPr>
          <p:cNvPr id="253958" name="Rectangle 5">
            <a:extLst>
              <a:ext uri="{FF2B5EF4-FFF2-40B4-BE49-F238E27FC236}">
                <a16:creationId xmlns:a16="http://schemas.microsoft.com/office/drawing/2014/main" id="{DC8E456C-E35F-4F22-AECA-94F6249C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524000"/>
            <a:ext cx="3124200" cy="2286000"/>
          </a:xfrm>
          <a:prstGeom prst="rect">
            <a:avLst/>
          </a:prstGeom>
          <a:solidFill>
            <a:srgbClr val="66FFFF">
              <a:alpha val="70195"/>
            </a:srgb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Ctr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Answer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Yes</a:t>
            </a:r>
            <a:r>
              <a:rPr lang="en-US" altLang="zh-TW" sz="2800" b="1"/>
              <a:t> if the model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guarantees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the specification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No</a:t>
            </a:r>
            <a:r>
              <a:rPr lang="en-US" altLang="zh-TW" sz="2800" b="1"/>
              <a:t> if not. </a:t>
            </a:r>
          </a:p>
        </p:txBody>
      </p:sp>
      <p:sp>
        <p:nvSpPr>
          <p:cNvPr id="253959" name="Line 6">
            <a:extLst>
              <a:ext uri="{FF2B5EF4-FFF2-40B4-BE49-F238E27FC236}">
                <a16:creationId xmlns:a16="http://schemas.microsoft.com/office/drawing/2014/main" id="{25C7B7B5-0EA4-4139-B590-B15D651AF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43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3960" name="Line 7">
            <a:extLst>
              <a:ext uri="{FF2B5EF4-FFF2-40B4-BE49-F238E27FC236}">
                <a16:creationId xmlns:a16="http://schemas.microsoft.com/office/drawing/2014/main" id="{FDFC33DE-E77D-43C9-B8D6-6D45DB9F89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3563" y="3276600"/>
            <a:ext cx="46037" cy="1600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3961" name="Line 8">
            <a:extLst>
              <a:ext uri="{FF2B5EF4-FFF2-40B4-BE49-F238E27FC236}">
                <a16:creationId xmlns:a16="http://schemas.microsoft.com/office/drawing/2014/main" id="{E94B08B6-226D-42DD-9EB7-DED31E479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667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3962" name="Text Box 73">
            <a:extLst>
              <a:ext uri="{FF2B5EF4-FFF2-40B4-BE49-F238E27FC236}">
                <a16:creationId xmlns:a16="http://schemas.microsoft.com/office/drawing/2014/main" id="{016E2921-0F82-4A4C-9673-72FA14914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52600"/>
            <a:ext cx="1066800" cy="4619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/>
              <a:t>model</a:t>
            </a:r>
          </a:p>
        </p:txBody>
      </p:sp>
      <p:sp>
        <p:nvSpPr>
          <p:cNvPr id="253963" name="Text Box 130">
            <a:extLst>
              <a:ext uri="{FF2B5EF4-FFF2-40B4-BE49-F238E27FC236}">
                <a16:creationId xmlns:a16="http://schemas.microsoft.com/office/drawing/2014/main" id="{3B3E3ADB-28EA-46EE-9457-DE48728B5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953000"/>
            <a:ext cx="43259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specification in logics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800">
                <a:sym typeface="Symbol" panose="05050102010706020507" pitchFamily="18" charset="2"/>
              </a:rPr>
              <a:t>,, </a:t>
            </a:r>
            <a:r>
              <a:rPr kumimoji="0" lang="en-US" altLang="zh-TW" sz="2800">
                <a:sym typeface="Euclid Math One" pitchFamily="18" charset="2"/>
              </a:rPr>
              <a:t>, </a:t>
            </a:r>
            <a:r>
              <a:rPr kumimoji="0" lang="en-US" altLang="zh-TW" sz="2800">
                <a:sym typeface="Symbol" panose="05050102010706020507" pitchFamily="18" charset="2"/>
              </a:rPr>
              <a:t>, </a:t>
            </a:r>
            <a:r>
              <a:rPr lang="en-US" altLang="zh-TW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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 b="1">
                <a:solidFill>
                  <a:srgbClr val="0000FF"/>
                </a:solidFill>
                <a:latin typeface="Times New Roman" panose="02020603050405020304" pitchFamily="18" charset="0"/>
                <a:sym typeface="Wingdings 2" panose="05020102010507070707" pitchFamily="18" charset="2"/>
              </a:rPr>
              <a:t></a:t>
            </a:r>
            <a:r>
              <a:rPr lang="en-US" altLang="zh-TW" sz="2800" i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TW" sz="2800" b="1">
                <a:solidFill>
                  <a:srgbClr val="0000FF"/>
                </a:solidFill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endParaRPr lang="en-US" altLang="zh-TW" sz="2800"/>
          </a:p>
        </p:txBody>
      </p:sp>
      <p:grpSp>
        <p:nvGrpSpPr>
          <p:cNvPr id="253964" name="Group 17">
            <a:extLst>
              <a:ext uri="{FF2B5EF4-FFF2-40B4-BE49-F238E27FC236}">
                <a16:creationId xmlns:a16="http://schemas.microsoft.com/office/drawing/2014/main" id="{DBA20DE6-E439-4ADB-A7F0-AF55441F4FD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362200"/>
            <a:ext cx="2133600" cy="1638300"/>
            <a:chOff x="878" y="1112"/>
            <a:chExt cx="808" cy="1032"/>
          </a:xfrm>
        </p:grpSpPr>
        <p:sp>
          <p:nvSpPr>
            <p:cNvPr id="253965" name="AutoShape 18">
              <a:extLst>
                <a:ext uri="{FF2B5EF4-FFF2-40B4-BE49-F238E27FC236}">
                  <a16:creationId xmlns:a16="http://schemas.microsoft.com/office/drawing/2014/main" id="{ACAD672E-C997-4B38-A862-0C4C2FC22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66" name="AutoShape 19">
              <a:extLst>
                <a:ext uri="{FF2B5EF4-FFF2-40B4-BE49-F238E27FC236}">
                  <a16:creationId xmlns:a16="http://schemas.microsoft.com/office/drawing/2014/main" id="{20010BC9-CCC6-45A7-8C4E-FAA2BC9CA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67" name="AutoShape 20">
              <a:extLst>
                <a:ext uri="{FF2B5EF4-FFF2-40B4-BE49-F238E27FC236}">
                  <a16:creationId xmlns:a16="http://schemas.microsoft.com/office/drawing/2014/main" id="{A5AA768A-768A-464A-A93F-0D76925E3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68" name="AutoShape 21">
              <a:extLst>
                <a:ext uri="{FF2B5EF4-FFF2-40B4-BE49-F238E27FC236}">
                  <a16:creationId xmlns:a16="http://schemas.microsoft.com/office/drawing/2014/main" id="{87C29CFE-6D80-4E3A-AC3E-FFB20CFB0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69" name="AutoShape 22">
              <a:extLst>
                <a:ext uri="{FF2B5EF4-FFF2-40B4-BE49-F238E27FC236}">
                  <a16:creationId xmlns:a16="http://schemas.microsoft.com/office/drawing/2014/main" id="{A718A33B-1715-4248-9650-6F9DDF75F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0" name="AutoShape 23">
              <a:extLst>
                <a:ext uri="{FF2B5EF4-FFF2-40B4-BE49-F238E27FC236}">
                  <a16:creationId xmlns:a16="http://schemas.microsoft.com/office/drawing/2014/main" id="{7479E08A-B8D8-406D-A239-55758A4F5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1" name="AutoShape 24">
              <a:extLst>
                <a:ext uri="{FF2B5EF4-FFF2-40B4-BE49-F238E27FC236}">
                  <a16:creationId xmlns:a16="http://schemas.microsoft.com/office/drawing/2014/main" id="{C1AD76F7-80B7-4598-A356-CA149FF88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2" name="AutoShape 25">
              <a:extLst>
                <a:ext uri="{FF2B5EF4-FFF2-40B4-BE49-F238E27FC236}">
                  <a16:creationId xmlns:a16="http://schemas.microsoft.com/office/drawing/2014/main" id="{3A8743D4-ABEA-409A-A98C-F08D87EDF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3" name="AutoShape 26">
              <a:extLst>
                <a:ext uri="{FF2B5EF4-FFF2-40B4-BE49-F238E27FC236}">
                  <a16:creationId xmlns:a16="http://schemas.microsoft.com/office/drawing/2014/main" id="{477B76E2-CC7A-473E-8B0A-0C495FB7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4" name="AutoShape 27">
              <a:extLst>
                <a:ext uri="{FF2B5EF4-FFF2-40B4-BE49-F238E27FC236}">
                  <a16:creationId xmlns:a16="http://schemas.microsoft.com/office/drawing/2014/main" id="{A739376C-92D3-4921-9FCC-85A17691B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5" name="AutoShape 28">
              <a:extLst>
                <a:ext uri="{FF2B5EF4-FFF2-40B4-BE49-F238E27FC236}">
                  <a16:creationId xmlns:a16="http://schemas.microsoft.com/office/drawing/2014/main" id="{5EB9806E-E58F-441D-BDD4-E96663789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6" name="AutoShape 29">
              <a:extLst>
                <a:ext uri="{FF2B5EF4-FFF2-40B4-BE49-F238E27FC236}">
                  <a16:creationId xmlns:a16="http://schemas.microsoft.com/office/drawing/2014/main" id="{77C5ED26-AF49-4D73-8050-DFB9FF080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7" name="AutoShape 30">
              <a:extLst>
                <a:ext uri="{FF2B5EF4-FFF2-40B4-BE49-F238E27FC236}">
                  <a16:creationId xmlns:a16="http://schemas.microsoft.com/office/drawing/2014/main" id="{5A92DF46-A28B-497C-B9B8-85C73930E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8" name="AutoShape 31">
              <a:extLst>
                <a:ext uri="{FF2B5EF4-FFF2-40B4-BE49-F238E27FC236}">
                  <a16:creationId xmlns:a16="http://schemas.microsoft.com/office/drawing/2014/main" id="{63703C35-BCBA-455E-98D2-DD71B2CB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79" name="AutoShape 32">
              <a:extLst>
                <a:ext uri="{FF2B5EF4-FFF2-40B4-BE49-F238E27FC236}">
                  <a16:creationId xmlns:a16="http://schemas.microsoft.com/office/drawing/2014/main" id="{8BE289BC-3081-4D01-9F02-C538E446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80" name="Line 33">
              <a:extLst>
                <a:ext uri="{FF2B5EF4-FFF2-40B4-BE49-F238E27FC236}">
                  <a16:creationId xmlns:a16="http://schemas.microsoft.com/office/drawing/2014/main" id="{FAF6A36D-CFE3-4A34-896F-2794617BD0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1" name="Line 34">
              <a:extLst>
                <a:ext uri="{FF2B5EF4-FFF2-40B4-BE49-F238E27FC236}">
                  <a16:creationId xmlns:a16="http://schemas.microsoft.com/office/drawing/2014/main" id="{7E65F086-0E2B-43B4-8E59-8CEF993A7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2" name="Line 35">
              <a:extLst>
                <a:ext uri="{FF2B5EF4-FFF2-40B4-BE49-F238E27FC236}">
                  <a16:creationId xmlns:a16="http://schemas.microsoft.com/office/drawing/2014/main" id="{DF918DF6-1796-40C5-84ED-22F6FE9F5B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3" name="Line 36">
              <a:extLst>
                <a:ext uri="{FF2B5EF4-FFF2-40B4-BE49-F238E27FC236}">
                  <a16:creationId xmlns:a16="http://schemas.microsoft.com/office/drawing/2014/main" id="{84A2CDF5-162F-4B24-B40D-441E2835A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4" name="Line 37">
              <a:extLst>
                <a:ext uri="{FF2B5EF4-FFF2-40B4-BE49-F238E27FC236}">
                  <a16:creationId xmlns:a16="http://schemas.microsoft.com/office/drawing/2014/main" id="{9866891C-4FC7-4CA5-85E8-3F3946273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5" name="Line 38">
              <a:extLst>
                <a:ext uri="{FF2B5EF4-FFF2-40B4-BE49-F238E27FC236}">
                  <a16:creationId xmlns:a16="http://schemas.microsoft.com/office/drawing/2014/main" id="{D9451192-12D7-432E-B2C1-9D60CACFD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6" name="Line 39">
              <a:extLst>
                <a:ext uri="{FF2B5EF4-FFF2-40B4-BE49-F238E27FC236}">
                  <a16:creationId xmlns:a16="http://schemas.microsoft.com/office/drawing/2014/main" id="{C64A52F5-D61E-419C-983C-0FB35FF73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7" name="Line 40">
              <a:extLst>
                <a:ext uri="{FF2B5EF4-FFF2-40B4-BE49-F238E27FC236}">
                  <a16:creationId xmlns:a16="http://schemas.microsoft.com/office/drawing/2014/main" id="{B16B535B-77A0-4A3B-8847-DB850328D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8" name="Line 41">
              <a:extLst>
                <a:ext uri="{FF2B5EF4-FFF2-40B4-BE49-F238E27FC236}">
                  <a16:creationId xmlns:a16="http://schemas.microsoft.com/office/drawing/2014/main" id="{18AC5E91-8C0E-45BA-8D07-6E4B76A4B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89" name="Line 42">
              <a:extLst>
                <a:ext uri="{FF2B5EF4-FFF2-40B4-BE49-F238E27FC236}">
                  <a16:creationId xmlns:a16="http://schemas.microsoft.com/office/drawing/2014/main" id="{715DB481-D4F3-445B-B0DA-C7EB5F656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0" name="Line 43">
              <a:extLst>
                <a:ext uri="{FF2B5EF4-FFF2-40B4-BE49-F238E27FC236}">
                  <a16:creationId xmlns:a16="http://schemas.microsoft.com/office/drawing/2014/main" id="{43CCB077-C4A0-4D32-96DC-17B189F34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1" name="Line 44">
              <a:extLst>
                <a:ext uri="{FF2B5EF4-FFF2-40B4-BE49-F238E27FC236}">
                  <a16:creationId xmlns:a16="http://schemas.microsoft.com/office/drawing/2014/main" id="{9AC45E7C-9ECA-4BDA-9B3A-C256F207C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2" name="Line 45">
              <a:extLst>
                <a:ext uri="{FF2B5EF4-FFF2-40B4-BE49-F238E27FC236}">
                  <a16:creationId xmlns:a16="http://schemas.microsoft.com/office/drawing/2014/main" id="{BBB2A0F9-D34B-4E0A-ABEE-F2366E326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3" name="Line 46">
              <a:extLst>
                <a:ext uri="{FF2B5EF4-FFF2-40B4-BE49-F238E27FC236}">
                  <a16:creationId xmlns:a16="http://schemas.microsoft.com/office/drawing/2014/main" id="{931869AB-30EB-45CE-AA86-91FDF067D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4" name="Line 47">
              <a:extLst>
                <a:ext uri="{FF2B5EF4-FFF2-40B4-BE49-F238E27FC236}">
                  <a16:creationId xmlns:a16="http://schemas.microsoft.com/office/drawing/2014/main" id="{DCAC6E94-13BD-4181-A32E-519DB353E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5" name="Line 48">
              <a:extLst>
                <a:ext uri="{FF2B5EF4-FFF2-40B4-BE49-F238E27FC236}">
                  <a16:creationId xmlns:a16="http://schemas.microsoft.com/office/drawing/2014/main" id="{84EBDA3F-B10C-4AA7-96BD-B53D42111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6" name="Line 49">
              <a:extLst>
                <a:ext uri="{FF2B5EF4-FFF2-40B4-BE49-F238E27FC236}">
                  <a16:creationId xmlns:a16="http://schemas.microsoft.com/office/drawing/2014/main" id="{D5778FBE-70F3-470B-8469-50D1A6BE0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3997" name="AutoShape 50">
              <a:extLst>
                <a:ext uri="{FF2B5EF4-FFF2-40B4-BE49-F238E27FC236}">
                  <a16:creationId xmlns:a16="http://schemas.microsoft.com/office/drawing/2014/main" id="{731D2D3B-500F-4023-8226-BB5556594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98" name="AutoShape 51">
              <a:extLst>
                <a:ext uri="{FF2B5EF4-FFF2-40B4-BE49-F238E27FC236}">
                  <a16:creationId xmlns:a16="http://schemas.microsoft.com/office/drawing/2014/main" id="{68A5DFB5-D456-4829-92E9-380B165C3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3999" name="AutoShape 52">
              <a:extLst>
                <a:ext uri="{FF2B5EF4-FFF2-40B4-BE49-F238E27FC236}">
                  <a16:creationId xmlns:a16="http://schemas.microsoft.com/office/drawing/2014/main" id="{1E74ED0A-59B4-42B6-87E0-F25D214B0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00" name="AutoShape 53">
              <a:extLst>
                <a:ext uri="{FF2B5EF4-FFF2-40B4-BE49-F238E27FC236}">
                  <a16:creationId xmlns:a16="http://schemas.microsoft.com/office/drawing/2014/main" id="{125C3FED-2AD3-47F5-8167-D785A840F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01" name="AutoShape 54">
              <a:extLst>
                <a:ext uri="{FF2B5EF4-FFF2-40B4-BE49-F238E27FC236}">
                  <a16:creationId xmlns:a16="http://schemas.microsoft.com/office/drawing/2014/main" id="{9BEB9BD1-97D4-4F9C-8CB8-7E9F4177C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02" name="Line 55">
              <a:extLst>
                <a:ext uri="{FF2B5EF4-FFF2-40B4-BE49-F238E27FC236}">
                  <a16:creationId xmlns:a16="http://schemas.microsoft.com/office/drawing/2014/main" id="{F19FBBF7-DD95-4C18-89C5-1B3C57E2D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3" name="Line 56">
              <a:extLst>
                <a:ext uri="{FF2B5EF4-FFF2-40B4-BE49-F238E27FC236}">
                  <a16:creationId xmlns:a16="http://schemas.microsoft.com/office/drawing/2014/main" id="{CF2630A0-7F8D-429C-91BA-2E2E3402C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4" name="Line 57">
              <a:extLst>
                <a:ext uri="{FF2B5EF4-FFF2-40B4-BE49-F238E27FC236}">
                  <a16:creationId xmlns:a16="http://schemas.microsoft.com/office/drawing/2014/main" id="{7215EE85-2D33-46EE-A2A6-20F8C7EC7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5" name="Line 58">
              <a:extLst>
                <a:ext uri="{FF2B5EF4-FFF2-40B4-BE49-F238E27FC236}">
                  <a16:creationId xmlns:a16="http://schemas.microsoft.com/office/drawing/2014/main" id="{1F50034F-7937-4F4C-AA96-ABCFD9D7A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6" name="Line 59">
              <a:extLst>
                <a:ext uri="{FF2B5EF4-FFF2-40B4-BE49-F238E27FC236}">
                  <a16:creationId xmlns:a16="http://schemas.microsoft.com/office/drawing/2014/main" id="{512F902C-AA74-48E1-9C7A-F6AC50F29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7" name="Line 60">
              <a:extLst>
                <a:ext uri="{FF2B5EF4-FFF2-40B4-BE49-F238E27FC236}">
                  <a16:creationId xmlns:a16="http://schemas.microsoft.com/office/drawing/2014/main" id="{FC95A92E-341C-4D5C-97BE-8EAF39DAC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8" name="Line 61">
              <a:extLst>
                <a:ext uri="{FF2B5EF4-FFF2-40B4-BE49-F238E27FC236}">
                  <a16:creationId xmlns:a16="http://schemas.microsoft.com/office/drawing/2014/main" id="{5DD99ED3-6C80-4A1D-8244-C8CC53180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09" name="Line 62">
              <a:extLst>
                <a:ext uri="{FF2B5EF4-FFF2-40B4-BE49-F238E27FC236}">
                  <a16:creationId xmlns:a16="http://schemas.microsoft.com/office/drawing/2014/main" id="{FB1674CC-FD2C-4721-B9EC-2B2BF6699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0" name="AutoShape 63">
              <a:extLst>
                <a:ext uri="{FF2B5EF4-FFF2-40B4-BE49-F238E27FC236}">
                  <a16:creationId xmlns:a16="http://schemas.microsoft.com/office/drawing/2014/main" id="{B5A85726-D32F-4A65-A5D0-0E7178C7A9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11" name="AutoShape 64">
              <a:extLst>
                <a:ext uri="{FF2B5EF4-FFF2-40B4-BE49-F238E27FC236}">
                  <a16:creationId xmlns:a16="http://schemas.microsoft.com/office/drawing/2014/main" id="{D61E8409-E4DF-47BA-9C5F-C4C94BA34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12" name="Line 65">
              <a:extLst>
                <a:ext uri="{FF2B5EF4-FFF2-40B4-BE49-F238E27FC236}">
                  <a16:creationId xmlns:a16="http://schemas.microsoft.com/office/drawing/2014/main" id="{9EDD2FBA-F9D0-4318-A678-53F84F17F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3" name="Line 66">
              <a:extLst>
                <a:ext uri="{FF2B5EF4-FFF2-40B4-BE49-F238E27FC236}">
                  <a16:creationId xmlns:a16="http://schemas.microsoft.com/office/drawing/2014/main" id="{EF0C02AA-1A3F-482D-AA26-F2DA2D177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4" name="AutoShape 67">
              <a:extLst>
                <a:ext uri="{FF2B5EF4-FFF2-40B4-BE49-F238E27FC236}">
                  <a16:creationId xmlns:a16="http://schemas.microsoft.com/office/drawing/2014/main" id="{B6A3E42F-7C57-4887-8404-4C94132B8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15" name="Line 68">
              <a:extLst>
                <a:ext uri="{FF2B5EF4-FFF2-40B4-BE49-F238E27FC236}">
                  <a16:creationId xmlns:a16="http://schemas.microsoft.com/office/drawing/2014/main" id="{898BC507-EBDD-4C51-8C52-919FF26C39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6" name="AutoShape 69">
              <a:extLst>
                <a:ext uri="{FF2B5EF4-FFF2-40B4-BE49-F238E27FC236}">
                  <a16:creationId xmlns:a16="http://schemas.microsoft.com/office/drawing/2014/main" id="{15A5F309-7AF0-4D29-9D66-133032CD2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254017" name="Line 70">
              <a:extLst>
                <a:ext uri="{FF2B5EF4-FFF2-40B4-BE49-F238E27FC236}">
                  <a16:creationId xmlns:a16="http://schemas.microsoft.com/office/drawing/2014/main" id="{E46738F0-0D8A-47CC-8945-C52E8DDBA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8" name="Freeform 71">
              <a:extLst>
                <a:ext uri="{FF2B5EF4-FFF2-40B4-BE49-F238E27FC236}">
                  <a16:creationId xmlns:a16="http://schemas.microsoft.com/office/drawing/2014/main" id="{3FAD3844-15EC-4173-8CF5-04D707D66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4019" name="Freeform 72">
              <a:extLst>
                <a:ext uri="{FF2B5EF4-FFF2-40B4-BE49-F238E27FC236}">
                  <a16:creationId xmlns:a16="http://schemas.microsoft.com/office/drawing/2014/main" id="{124B18AA-C1E3-4AED-ABE9-88AF3CFF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編號版面配置區 5">
            <a:extLst>
              <a:ext uri="{FF2B5EF4-FFF2-40B4-BE49-F238E27FC236}">
                <a16:creationId xmlns:a16="http://schemas.microsoft.com/office/drawing/2014/main" id="{CCD924B1-F826-4A8F-84B7-5C21101990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912EBD-8912-4EBD-AFF9-E3815D51D12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4B3A4852-7CEB-439A-A036-B8815F327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</a:t>
            </a:r>
          </a:p>
        </p:txBody>
      </p:sp>
      <p:sp>
        <p:nvSpPr>
          <p:cNvPr id="256004" name="Rectangle 3">
            <a:extLst>
              <a:ext uri="{FF2B5EF4-FFF2-40B4-BE49-F238E27FC236}">
                <a16:creationId xmlns:a16="http://schemas.microsoft.com/office/drawing/2014/main" id="{055EE1B2-2E36-4FAB-B720-B98D8BB63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Given a finite Kripke structure M and a CTL formula </a:t>
            </a:r>
            <a:r>
              <a:rPr lang="en-US" altLang="zh-TW">
                <a:solidFill>
                  <a:schemeClr val="hlink"/>
                </a:solidFill>
              </a:rPr>
              <a:t>φ</a:t>
            </a:r>
            <a:r>
              <a:rPr lang="en-US" altLang="zh-TW"/>
              <a:t>, is M a model of </a:t>
            </a:r>
            <a:r>
              <a:rPr lang="en-US" altLang="zh-TW">
                <a:solidFill>
                  <a:schemeClr val="hlink"/>
                </a:solidFill>
              </a:rPr>
              <a:t>φ</a:t>
            </a:r>
            <a:r>
              <a:rPr lang="en-US" altLang="zh-TW"/>
              <a:t> ?</a:t>
            </a:r>
          </a:p>
          <a:p>
            <a:pPr eaLnBrk="1" hangingPunct="1"/>
            <a:r>
              <a:rPr lang="en-US" altLang="zh-TW"/>
              <a:t>usually, M is a finite-state automata. </a:t>
            </a:r>
          </a:p>
          <a:p>
            <a:pPr eaLnBrk="1" hangingPunct="1"/>
            <a:r>
              <a:rPr lang="en-US" altLang="zh-TW"/>
              <a:t>PTIME algorithm. </a:t>
            </a:r>
          </a:p>
          <a:p>
            <a:pPr eaLnBrk="1" hangingPunct="1"/>
            <a:r>
              <a:rPr lang="en-US" altLang="zh-TW"/>
              <a:t>When M is generated from a program with variables, its size is easily exponential. 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投影片編號版面配置區 5">
            <a:extLst>
              <a:ext uri="{FF2B5EF4-FFF2-40B4-BE49-F238E27FC236}">
                <a16:creationId xmlns:a16="http://schemas.microsoft.com/office/drawing/2014/main" id="{8BF28371-66C1-4795-85E1-9AA5D53B8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A630B2-4C54-4C84-AF2F-16CDB81FE85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08066CF-E226-441A-98E1-CDCE87682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TW" sz="3800" dirty="0">
                <a:latin typeface="+mn-lt"/>
              </a:rPr>
              <a:t>CTL </a:t>
            </a:r>
            <a:br>
              <a:rPr lang="en-US" altLang="zh-TW" sz="3800" dirty="0">
                <a:latin typeface="+mn-lt"/>
              </a:rPr>
            </a:br>
            <a:r>
              <a:rPr lang="en-US" altLang="zh-TW" sz="3800" dirty="0">
                <a:latin typeface="+mn-lt"/>
              </a:rPr>
              <a:t> - model-checking algorithm</a:t>
            </a:r>
          </a:p>
        </p:txBody>
      </p:sp>
      <p:sp>
        <p:nvSpPr>
          <p:cNvPr id="258052" name="Rectangle 3">
            <a:extLst>
              <a:ext uri="{FF2B5EF4-FFF2-40B4-BE49-F238E27FC236}">
                <a16:creationId xmlns:a16="http://schemas.microsoft.com/office/drawing/2014/main" id="{527BC16C-6524-4D5F-8A83-3EFEE835F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techniques</a:t>
            </a:r>
          </a:p>
          <a:p>
            <a:pPr eaLnBrk="1" hangingPunct="1"/>
            <a:r>
              <a:rPr lang="en-US" altLang="zh-TW" sz="2600"/>
              <a:t>state-space exploration</a:t>
            </a:r>
          </a:p>
          <a:p>
            <a:pPr lvl="1" eaLnBrk="1" hangingPunct="1"/>
            <a:r>
              <a:rPr lang="en-US" altLang="zh-TW" sz="2200"/>
              <a:t>state-spaces represented as finite Kripke structure</a:t>
            </a:r>
          </a:p>
          <a:p>
            <a:pPr lvl="2" eaLnBrk="1" hangingPunct="1"/>
            <a:r>
              <a:rPr lang="en-US" altLang="zh-TW" sz="2000"/>
              <a:t>directed graph</a:t>
            </a:r>
            <a:endParaRPr lang="en-US" altLang="zh-TW" sz="2000" i="1">
              <a:solidFill>
                <a:schemeClr val="accent1"/>
              </a:solidFill>
            </a:endParaRPr>
          </a:p>
          <a:p>
            <a:pPr lvl="2" eaLnBrk="1" hangingPunct="1"/>
            <a:r>
              <a:rPr lang="en-US" altLang="zh-TW" sz="2000"/>
              <a:t>nodes: states or possible worlds</a:t>
            </a:r>
          </a:p>
          <a:p>
            <a:pPr lvl="2" eaLnBrk="1" hangingPunct="1"/>
            <a:r>
              <a:rPr lang="en-US" altLang="zh-TW" sz="2000"/>
              <a:t>arcs: state transitions</a:t>
            </a:r>
          </a:p>
          <a:p>
            <a:pPr eaLnBrk="1" hangingPunct="1"/>
            <a:r>
              <a:rPr lang="en-US" altLang="zh-TW" sz="2600"/>
              <a:t>regular behaviors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6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600"/>
          </a:p>
          <a:p>
            <a:pPr eaLnBrk="1" hangingPunct="1"/>
            <a:r>
              <a:rPr lang="en-US" altLang="zh-TW" sz="2600"/>
              <a:t>Usually the state count is astronomical. </a:t>
            </a:r>
          </a:p>
        </p:txBody>
      </p:sp>
      <p:sp>
        <p:nvSpPr>
          <p:cNvPr id="258053" name="Oval 4">
            <a:extLst>
              <a:ext uri="{FF2B5EF4-FFF2-40B4-BE49-F238E27FC236}">
                <a16:creationId xmlns:a16="http://schemas.microsoft.com/office/drawing/2014/main" id="{29EA9A3C-E2C9-4575-8ADF-52B30ACC7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3435350"/>
            <a:ext cx="1206500" cy="596900"/>
          </a:xfrm>
          <a:prstGeom prst="ellipse">
            <a:avLst/>
          </a:prstGeom>
          <a:solidFill>
            <a:srgbClr val="00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execute</a:t>
            </a:r>
          </a:p>
        </p:txBody>
      </p:sp>
      <p:sp>
        <p:nvSpPr>
          <p:cNvPr id="258054" name="Oval 5">
            <a:extLst>
              <a:ext uri="{FF2B5EF4-FFF2-40B4-BE49-F238E27FC236}">
                <a16:creationId xmlns:a16="http://schemas.microsoft.com/office/drawing/2014/main" id="{097F3567-56D4-4CBC-9F30-3B6F046DC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4730750"/>
            <a:ext cx="1206500" cy="5969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wait</a:t>
            </a:r>
          </a:p>
        </p:txBody>
      </p:sp>
      <p:sp>
        <p:nvSpPr>
          <p:cNvPr id="258055" name="Oval 6">
            <a:extLst>
              <a:ext uri="{FF2B5EF4-FFF2-40B4-BE49-F238E27FC236}">
                <a16:creationId xmlns:a16="http://schemas.microsoft.com/office/drawing/2014/main" id="{61E38B11-AB5C-4F91-8984-16B202DA1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350" y="3511550"/>
            <a:ext cx="1206500" cy="5969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finish</a:t>
            </a:r>
          </a:p>
        </p:txBody>
      </p:sp>
      <p:sp>
        <p:nvSpPr>
          <p:cNvPr id="258056" name="Line 7">
            <a:extLst>
              <a:ext uri="{FF2B5EF4-FFF2-40B4-BE49-F238E27FC236}">
                <a16:creationId xmlns:a16="http://schemas.microsoft.com/office/drawing/2014/main" id="{C6E32851-56F8-4330-A9E4-044851258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810000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8057" name="Line 8">
            <a:extLst>
              <a:ext uri="{FF2B5EF4-FFF2-40B4-BE49-F238E27FC236}">
                <a16:creationId xmlns:a16="http://schemas.microsoft.com/office/drawing/2014/main" id="{FAFA97C6-02FD-40E0-ACCE-A113B12483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038600"/>
            <a:ext cx="68580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8058" name="Arc 9">
            <a:extLst>
              <a:ext uri="{FF2B5EF4-FFF2-40B4-BE49-F238E27FC236}">
                <a16:creationId xmlns:a16="http://schemas.microsoft.com/office/drawing/2014/main" id="{52136B28-CEF0-46E1-AB93-E609CC7CAB56}"/>
              </a:ext>
            </a:extLst>
          </p:cNvPr>
          <p:cNvSpPr>
            <a:spLocks/>
          </p:cNvSpPr>
          <p:nvPr/>
        </p:nvSpPr>
        <p:spPr bwMode="auto">
          <a:xfrm>
            <a:off x="6096000" y="4040188"/>
            <a:ext cx="230188" cy="762000"/>
          </a:xfrm>
          <a:custGeom>
            <a:avLst/>
            <a:gdLst>
              <a:gd name="T0" fmla="*/ 0 w 21750"/>
              <a:gd name="T1" fmla="*/ 2147483646 h 21600"/>
              <a:gd name="T2" fmla="*/ 2147483646 w 21750"/>
              <a:gd name="T3" fmla="*/ 2147483646 h 21600"/>
              <a:gd name="T4" fmla="*/ 2147483646 w 21750"/>
              <a:gd name="T5" fmla="*/ 2147483646 h 21600"/>
              <a:gd name="T6" fmla="*/ 0 60000 65536"/>
              <a:gd name="T7" fmla="*/ 0 60000 65536"/>
              <a:gd name="T8" fmla="*/ 0 60000 65536"/>
              <a:gd name="T9" fmla="*/ 0 w 21750"/>
              <a:gd name="T10" fmla="*/ 0 h 21600"/>
              <a:gd name="T11" fmla="*/ 21750 w 2175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50" h="21600" fill="none" extrusionOk="0">
                <a:moveTo>
                  <a:pt x="-1" y="0"/>
                </a:moveTo>
                <a:cubicBezTo>
                  <a:pt x="49" y="0"/>
                  <a:pt x="99" y="-1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</a:path>
              <a:path w="21750" h="21600" stroke="0" extrusionOk="0">
                <a:moveTo>
                  <a:pt x="-1" y="0"/>
                </a:moveTo>
                <a:cubicBezTo>
                  <a:pt x="49" y="0"/>
                  <a:pt x="99" y="-1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  <a:lnTo>
                  <a:pt x="150" y="21600"/>
                </a:lnTo>
                <a:lnTo>
                  <a:pt x="-1" y="0"/>
                </a:lnTo>
                <a:close/>
              </a:path>
            </a:pathLst>
          </a:custGeom>
          <a:noFill/>
          <a:ln w="50800" cap="rnd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8059" name="Arc 10">
            <a:extLst>
              <a:ext uri="{FF2B5EF4-FFF2-40B4-BE49-F238E27FC236}">
                <a16:creationId xmlns:a16="http://schemas.microsoft.com/office/drawing/2014/main" id="{00B680C2-DA84-47AA-850D-868F72887674}"/>
              </a:ext>
            </a:extLst>
          </p:cNvPr>
          <p:cNvSpPr>
            <a:spLocks/>
          </p:cNvSpPr>
          <p:nvPr/>
        </p:nvSpPr>
        <p:spPr bwMode="auto">
          <a:xfrm>
            <a:off x="5640388" y="4038600"/>
            <a:ext cx="304800" cy="7620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投影片編號版面配置區 5">
            <a:extLst>
              <a:ext uri="{FF2B5EF4-FFF2-40B4-BE49-F238E27FC236}">
                <a16:creationId xmlns:a16="http://schemas.microsoft.com/office/drawing/2014/main" id="{E13664CB-50C5-4ECE-9C54-67C4E959D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59977E-2F45-417F-8CDB-599A6D3E97D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063B9100-2B5F-4397-9962-1CB968D9C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</a:t>
            </a:r>
            <a:br>
              <a:rPr lang="en-US" altLang="zh-TW"/>
            </a:br>
            <a:r>
              <a:rPr lang="en-US" altLang="zh-TW"/>
              <a:t> </a:t>
            </a:r>
            <a:r>
              <a:rPr lang="en-US" altLang="zh-TW" sz="4000">
                <a:solidFill>
                  <a:schemeClr val="accent2"/>
                </a:solidFill>
              </a:rPr>
              <a:t>- </a:t>
            </a:r>
            <a:r>
              <a:rPr lang="en-US" altLang="zh-TW" sz="4000" i="1">
                <a:solidFill>
                  <a:schemeClr val="accent2"/>
                </a:solidFill>
              </a:rPr>
              <a:t>Least fixpoint in modal logics</a:t>
            </a:r>
            <a:r>
              <a:rPr lang="en-US" altLang="zh-TW" sz="4000" i="1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260100" name="Rectangle 3">
            <a:extLst>
              <a:ext uri="{FF2B5EF4-FFF2-40B4-BE49-F238E27FC236}">
                <a16:creationId xmlns:a16="http://schemas.microsoft.com/office/drawing/2014/main" id="{11F93EE0-0DA8-45DD-BB02-87C16522B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4582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TW" altLang="en-US">
                <a:latin typeface="華康雅風體W3(P)" pitchFamily="66" charset="-120"/>
                <a:ea typeface="華康雅風體W3(P)" pitchFamily="66" charset="-120"/>
              </a:rPr>
              <a:t>逐步擴充法、連坐法</a:t>
            </a:r>
            <a:endParaRPr lang="en-US" altLang="zh-TW">
              <a:latin typeface="華康雅風體W3(P)" pitchFamily="66" charset="-120"/>
              <a:ea typeface="華康雅風體W3(P)" pitchFamily="66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Dark-night murder, strategy I: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A suspect will be in the 2nd round iff 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He/she lied to the police in the 1st round; or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Some one in the 2</a:t>
            </a:r>
            <a:r>
              <a:rPr lang="en-US" altLang="zh-TW" i="1" baseline="30000">
                <a:solidFill>
                  <a:srgbClr val="0000FF"/>
                </a:solidFill>
              </a:rPr>
              <a:t>nd</a:t>
            </a:r>
            <a:r>
              <a:rPr lang="en-US" altLang="zh-TW" i="1">
                <a:solidFill>
                  <a:srgbClr val="0000FF"/>
                </a:solidFill>
              </a:rPr>
              <a:t> round is loyal to him/her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What is the minimal solution to </a:t>
            </a:r>
            <a:r>
              <a:rPr lang="en-US" altLang="zh-TW" i="1">
                <a:solidFill>
                  <a:srgbClr val="0000FF"/>
                </a:solidFill>
              </a:rPr>
              <a:t>2nd[]</a:t>
            </a:r>
            <a:r>
              <a:rPr lang="en-US" altLang="zh-TW"/>
              <a:t> ?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0000FF"/>
                </a:solidFill>
                <a:sym typeface="Wingdings 2" panose="05020102010507070707" pitchFamily="18" charset="2"/>
              </a:rPr>
              <a:t>Liar[i]</a:t>
            </a:r>
            <a:r>
              <a:rPr lang="en-US" altLang="zh-TW" i="1">
                <a:solidFill>
                  <a:srgbClr val="0000FF"/>
                </a:solidFill>
                <a:sym typeface="Symbol" panose="05050102010706020507" pitchFamily="18" charset="2"/>
              </a:rPr>
              <a:t> ji(2nd[j]Loyal-to[j,i])</a:t>
            </a:r>
            <a:r>
              <a:rPr lang="en-US" altLang="zh-TW" i="1">
                <a:solidFill>
                  <a:srgbClr val="0000FF"/>
                </a:solidFill>
              </a:rPr>
              <a:t> </a:t>
            </a:r>
            <a:r>
              <a:rPr lang="en-US" altLang="zh-TW" i="1">
                <a:solidFill>
                  <a:srgbClr val="0000FF"/>
                </a:solidFill>
                <a:sym typeface="Wingdings" panose="05000000000000000000" pitchFamily="2" charset="2"/>
              </a:rPr>
              <a:t> </a:t>
            </a:r>
            <a:r>
              <a:rPr lang="en-US" altLang="zh-TW" i="1">
                <a:solidFill>
                  <a:srgbClr val="0000FF"/>
                </a:solidFill>
              </a:rPr>
              <a:t>2nd[i]</a:t>
            </a:r>
            <a:endParaRPr lang="en-US" altLang="zh-TW" i="1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TW" i="1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投影片編號版面配置區 5">
            <a:extLst>
              <a:ext uri="{FF2B5EF4-FFF2-40B4-BE49-F238E27FC236}">
                <a16:creationId xmlns:a16="http://schemas.microsoft.com/office/drawing/2014/main" id="{E9CD15A6-E5E2-4067-B2CB-A2B6BD7839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5943D9-C6CC-473E-A5A7-4C99CD8EEEE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2147" name="Rectangle 2">
            <a:extLst>
              <a:ext uri="{FF2B5EF4-FFF2-40B4-BE49-F238E27FC236}">
                <a16:creationId xmlns:a16="http://schemas.microsoft.com/office/drawing/2014/main" id="{FBA93063-5AAB-4CC3-A457-C87327B1D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</a:t>
            </a:r>
            <a:br>
              <a:rPr lang="en-US" altLang="zh-TW"/>
            </a:br>
            <a:r>
              <a:rPr lang="en-US" altLang="zh-TW"/>
              <a:t> </a:t>
            </a:r>
            <a:r>
              <a:rPr lang="en-US" altLang="zh-TW" sz="4000">
                <a:solidFill>
                  <a:schemeClr val="accent2"/>
                </a:solidFill>
              </a:rPr>
              <a:t>- </a:t>
            </a:r>
            <a:r>
              <a:rPr lang="en-US" altLang="zh-TW" sz="4000" i="1">
                <a:solidFill>
                  <a:schemeClr val="accent2"/>
                </a:solidFill>
              </a:rPr>
              <a:t>Least fixpoint in modal logics</a:t>
            </a:r>
          </a:p>
        </p:txBody>
      </p:sp>
      <p:sp>
        <p:nvSpPr>
          <p:cNvPr id="262148" name="Rectangle 3">
            <a:extLst>
              <a:ext uri="{FF2B5EF4-FFF2-40B4-BE49-F238E27FC236}">
                <a16:creationId xmlns:a16="http://schemas.microsoft.com/office/drawing/2014/main" id="{8733AB8E-0701-4BB6-B6FF-C01955598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In a dark night, there was a cruel murder. </a:t>
            </a:r>
          </a:p>
          <a:p>
            <a:pPr eaLnBrk="1" hangingPunct="1"/>
            <a:r>
              <a:rPr lang="en-US" altLang="zh-TW"/>
              <a:t>n suspects, numbered 0 through n-1.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Liar[i]</a:t>
            </a:r>
            <a:r>
              <a:rPr lang="en-US" altLang="zh-TW"/>
              <a:t> iff suspect i has lied to the police in the 1st round investigation.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Loyal-to[i,j]</a:t>
            </a:r>
            <a:r>
              <a:rPr lang="en-US" altLang="zh-TW"/>
              <a:t> iff suspect i is loyal to suspect j in the same criminal gang.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2nd[i]</a:t>
            </a:r>
            <a:r>
              <a:rPr lang="en-US" altLang="zh-TW"/>
              <a:t> iff suspect i to be in 2nd round investigation.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What is the minimal solution to </a:t>
            </a:r>
            <a:r>
              <a:rPr lang="en-US" altLang="zh-TW" i="1">
                <a:solidFill>
                  <a:srgbClr val="0000FF"/>
                </a:solidFill>
              </a:rPr>
              <a:t>2nd[]</a:t>
            </a:r>
            <a:r>
              <a:rPr lang="en-US" altLang="zh-TW"/>
              <a:t> ? 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投影片編號版面配置區 5">
            <a:extLst>
              <a:ext uri="{FF2B5EF4-FFF2-40B4-BE49-F238E27FC236}">
                <a16:creationId xmlns:a16="http://schemas.microsoft.com/office/drawing/2014/main" id="{7B4CE48B-ACA2-4AD0-92EC-96BC3A3B2E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AA70AD-2765-49DA-AF08-4F4556ABFBE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4195" name="Rectangle 2">
            <a:extLst>
              <a:ext uri="{FF2B5EF4-FFF2-40B4-BE49-F238E27FC236}">
                <a16:creationId xmlns:a16="http://schemas.microsoft.com/office/drawing/2014/main" id="{3A38E7B8-C430-4888-8D38-227222BDC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Kripke structure</a:t>
            </a:r>
            <a:br>
              <a:rPr lang="en-US" altLang="zh-TW"/>
            </a:br>
            <a:r>
              <a:rPr lang="en-US" altLang="zh-TW"/>
              <a:t> </a:t>
            </a:r>
            <a:r>
              <a:rPr lang="en-US" altLang="zh-TW" sz="4000">
                <a:solidFill>
                  <a:schemeClr val="accent2"/>
                </a:solidFill>
              </a:rPr>
              <a:t>- </a:t>
            </a:r>
            <a:r>
              <a:rPr lang="en-US" altLang="zh-TW" sz="4000" i="1">
                <a:solidFill>
                  <a:schemeClr val="accent2"/>
                </a:solidFill>
              </a:rPr>
              <a:t>Greatest fixpoint in modal logics</a:t>
            </a:r>
          </a:p>
        </p:txBody>
      </p:sp>
      <p:sp>
        <p:nvSpPr>
          <p:cNvPr id="264196" name="Rectangle 3">
            <a:extLst>
              <a:ext uri="{FF2B5EF4-FFF2-40B4-BE49-F238E27FC236}">
                <a16:creationId xmlns:a16="http://schemas.microsoft.com/office/drawing/2014/main" id="{80214552-ED79-40BF-A640-A3CFF5CB0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TW" altLang="en-US">
                <a:latin typeface="華康雅風體W3(P)" pitchFamily="66" charset="-120"/>
                <a:ea typeface="華康雅風體W3(P)" pitchFamily="66" charset="-120"/>
              </a:rPr>
              <a:t>逐步消去法</a:t>
            </a:r>
            <a:endParaRPr lang="en-US" altLang="zh-TW">
              <a:latin typeface="華康雅風體W3(P)" pitchFamily="66" charset="-120"/>
              <a:ea typeface="華康雅風體W3(P)" pitchFamily="66" charset="-12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In a dark night, there was a cruel murder. </a:t>
            </a:r>
          </a:p>
          <a:p>
            <a:pPr eaLnBrk="1" hangingPunct="1"/>
            <a:r>
              <a:rPr lang="en-US" altLang="zh-TW"/>
              <a:t>n suspects, numbered 0 through n-1.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i="1">
                <a:solidFill>
                  <a:srgbClr val="0000FF"/>
                </a:solidFill>
              </a:rPr>
              <a:t>Liar[i]</a:t>
            </a:r>
            <a:r>
              <a:rPr lang="en-US" altLang="zh-TW"/>
              <a:t> iff the police cannot prove suspect i has lied to the police in the 1st round investigation.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Loyal-to[i,j]</a:t>
            </a:r>
            <a:r>
              <a:rPr lang="en-US" altLang="zh-TW"/>
              <a:t> iff suspect i is loyal to j.   </a:t>
            </a:r>
          </a:p>
          <a:p>
            <a:pPr eaLnBrk="1" hangingPunct="1"/>
            <a:r>
              <a:rPr lang="en-US" altLang="zh-TW" i="1">
                <a:solidFill>
                  <a:srgbClr val="0000FF"/>
                </a:solidFill>
              </a:rPr>
              <a:t>2nd[i]</a:t>
            </a:r>
            <a:r>
              <a:rPr lang="en-US" altLang="zh-TW"/>
              <a:t> iff suspect i to be in 2nd round investigation.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What is the maximal solution to </a:t>
            </a:r>
            <a:r>
              <a:rPr lang="en-US" altLang="zh-TW" i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i="1">
                <a:solidFill>
                  <a:srgbClr val="0000FF"/>
                </a:solidFill>
              </a:rPr>
              <a:t> 2nd[]</a:t>
            </a:r>
            <a:r>
              <a:rPr lang="en-US" altLang="zh-TW"/>
              <a:t> ? 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投影片編號版面配置區 5">
            <a:extLst>
              <a:ext uri="{FF2B5EF4-FFF2-40B4-BE49-F238E27FC236}">
                <a16:creationId xmlns:a16="http://schemas.microsoft.com/office/drawing/2014/main" id="{8E4E13F3-8912-498E-A2BB-9F11A3A859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4E2D63-A771-4F6F-903E-25B3676E5A3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6243" name="Rectangle 2">
            <a:extLst>
              <a:ext uri="{FF2B5EF4-FFF2-40B4-BE49-F238E27FC236}">
                <a16:creationId xmlns:a16="http://schemas.microsoft.com/office/drawing/2014/main" id="{1C0DE054-65D5-45C4-BC50-B500E7349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Kripke structure</a:t>
            </a:r>
            <a:br>
              <a:rPr lang="en-US" altLang="zh-TW"/>
            </a:br>
            <a:r>
              <a:rPr lang="en-US" altLang="zh-TW"/>
              <a:t> </a:t>
            </a:r>
            <a:r>
              <a:rPr lang="en-US" altLang="zh-TW" sz="4000">
                <a:solidFill>
                  <a:schemeClr val="accent2"/>
                </a:solidFill>
              </a:rPr>
              <a:t>- </a:t>
            </a:r>
            <a:r>
              <a:rPr lang="en-US" altLang="zh-TW" sz="4000" i="1">
                <a:solidFill>
                  <a:schemeClr val="accent2"/>
                </a:solidFill>
              </a:rPr>
              <a:t>Greatest fixpoint in modal logics</a:t>
            </a:r>
          </a:p>
        </p:txBody>
      </p:sp>
      <p:sp>
        <p:nvSpPr>
          <p:cNvPr id="266244" name="Rectangle 3">
            <a:extLst>
              <a:ext uri="{FF2B5EF4-FFF2-40B4-BE49-F238E27FC236}">
                <a16:creationId xmlns:a16="http://schemas.microsoft.com/office/drawing/2014/main" id="{0B2861F4-491B-483E-8DE1-A38D5E681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6868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Dark-night murder, strategy II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A suspect will not be in the 2nd round iff</a:t>
            </a:r>
          </a:p>
          <a:p>
            <a:pPr eaLnBrk="1" hangingPunct="1"/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We cannot prove he/she has lied to the police; and </a:t>
            </a:r>
          </a:p>
          <a:p>
            <a:pPr eaLnBrk="1" hangingPunct="1"/>
            <a:r>
              <a:rPr lang="en-US" altLang="zh-TW" sz="2800">
                <a:solidFill>
                  <a:srgbClr val="0000FF"/>
                </a:solidFill>
              </a:rPr>
              <a:t>He/she is loyal to someone not in the 2nd round.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What is the maximal solution to </a:t>
            </a: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 i="1">
                <a:solidFill>
                  <a:srgbClr val="0000FF"/>
                </a:solidFill>
              </a:rPr>
              <a:t> 2nd[]</a:t>
            </a:r>
            <a:r>
              <a:rPr lang="en-US" altLang="zh-TW" sz="2800"/>
              <a:t> ?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 </a:t>
            </a:r>
            <a:r>
              <a:rPr lang="en-US" altLang="zh-TW" sz="2800" i="1">
                <a:solidFill>
                  <a:srgbClr val="0000FF"/>
                </a:solidFill>
              </a:rPr>
              <a:t>2nd[i]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</a:t>
            </a: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 </a:t>
            </a:r>
            <a:r>
              <a:rPr lang="en-US" altLang="zh-TW" sz="2800" i="1">
                <a:solidFill>
                  <a:srgbClr val="0000FF"/>
                </a:solidFill>
                <a:sym typeface="Wingdings 2" panose="05020102010507070707" pitchFamily="18" charset="2"/>
              </a:rPr>
              <a:t>Liar[i]</a:t>
            </a: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 ji(2nd[j] Loyal-to[i,j])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>
                <a:sym typeface="Symbol" panose="05050102010706020507" pitchFamily="18" charset="2"/>
              </a:rPr>
              <a:t>In comparison: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 i="1">
                <a:solidFill>
                  <a:srgbClr val="FF0000"/>
                </a:solidFill>
              </a:rPr>
              <a:t> 2nd[i] </a:t>
            </a: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 </a:t>
            </a:r>
            <a:r>
              <a:rPr lang="en-US" altLang="zh-TW" sz="2400" i="1">
                <a:solidFill>
                  <a:srgbClr val="FF0000"/>
                </a:solidFill>
                <a:sym typeface="Wingdings 2" panose="05020102010507070707" pitchFamily="18" charset="2"/>
              </a:rPr>
              <a:t>Liar[i]</a:t>
            </a: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 ji(2nd[j] Loyal-to[i,j])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>
                <a:sym typeface="Symbol" panose="05050102010706020507" pitchFamily="18" charset="2"/>
              </a:rPr>
              <a:t></a:t>
            </a:r>
            <a:r>
              <a:rPr lang="en-US" altLang="zh-TW" sz="2400" i="1"/>
              <a:t> 2nd[i] </a:t>
            </a:r>
            <a:r>
              <a:rPr lang="en-US" altLang="zh-TW" sz="2400" i="1">
                <a:sym typeface="Symbol" panose="05050102010706020507" pitchFamily="18" charset="2"/>
              </a:rPr>
              <a:t> </a:t>
            </a:r>
            <a:r>
              <a:rPr lang="en-US" altLang="zh-TW" sz="2400" i="1">
                <a:sym typeface="Wingdings 2" panose="05020102010507070707" pitchFamily="18" charset="2"/>
              </a:rPr>
              <a:t>Liar[i]</a:t>
            </a:r>
            <a:r>
              <a:rPr lang="en-US" altLang="zh-TW" sz="2400" i="1">
                <a:sym typeface="Symbol" panose="05050102010706020507" pitchFamily="18" charset="2"/>
              </a:rPr>
              <a:t> ji(2nd[j] </a:t>
            </a:r>
            <a:r>
              <a:rPr lang="en-US" altLang="zh-TW" sz="2400" i="1">
                <a:sym typeface="Wingdings" panose="05000000000000000000" pitchFamily="2" charset="2"/>
              </a:rPr>
              <a:t></a:t>
            </a:r>
            <a:r>
              <a:rPr lang="en-US" altLang="zh-TW" sz="2400" i="1">
                <a:sym typeface="Symbol" panose="05050102010706020507" pitchFamily="18" charset="2"/>
              </a:rPr>
              <a:t> Loyal-to[i,j])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 i="1">
                <a:solidFill>
                  <a:srgbClr val="FF0000"/>
                </a:solidFill>
              </a:rPr>
              <a:t> 2nd[i] </a:t>
            </a: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 </a:t>
            </a:r>
            <a:r>
              <a:rPr lang="en-US" altLang="zh-TW" sz="2400" i="1">
                <a:solidFill>
                  <a:srgbClr val="FF0000"/>
                </a:solidFill>
                <a:sym typeface="Wingdings 2" panose="05020102010507070707" pitchFamily="18" charset="2"/>
              </a:rPr>
              <a:t>Liar[i]</a:t>
            </a: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 ji(Loyal-to[i,j]</a:t>
            </a:r>
            <a:r>
              <a:rPr lang="en-US" altLang="zh-TW" sz="2400" i="1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zh-TW" sz="2400" i="1">
                <a:solidFill>
                  <a:srgbClr val="FF0000"/>
                </a:solidFill>
                <a:sym typeface="Symbol" panose="05050102010706020507" pitchFamily="18" charset="2"/>
              </a:rPr>
              <a:t> 2nd[j] )</a:t>
            </a:r>
          </a:p>
          <a:p>
            <a:pPr eaLnBrk="1" hangingPunct="1">
              <a:buFont typeface="Symbol" panose="05050102010706020507" pitchFamily="18" charset="2"/>
              <a:buChar char="Ø"/>
            </a:pPr>
            <a:endParaRPr lang="en-US" altLang="zh-TW" sz="2400" i="1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投影片編號版面配置區 5">
            <a:extLst>
              <a:ext uri="{FF2B5EF4-FFF2-40B4-BE49-F238E27FC236}">
                <a16:creationId xmlns:a16="http://schemas.microsoft.com/office/drawing/2014/main" id="{0A5605FE-F98B-47CF-BD8A-F139BABCD6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7F3D38-12BA-4268-B14D-B44A7A4A4D9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68291" name="Rectangle 2">
            <a:extLst>
              <a:ext uri="{FF2B5EF4-FFF2-40B4-BE49-F238E27FC236}">
                <a16:creationId xmlns:a16="http://schemas.microsoft.com/office/drawing/2014/main" id="{A0CF1151-94AA-4F18-8442-4DBEDA201A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lbertus Extra Bold" pitchFamily="34" charset="0"/>
              </a:rPr>
              <a:t>Safety analysis</a:t>
            </a:r>
            <a:r>
              <a:rPr lang="en-US" altLang="zh-TW"/>
              <a:t> </a:t>
            </a:r>
          </a:p>
        </p:txBody>
      </p:sp>
      <p:sp>
        <p:nvSpPr>
          <p:cNvPr id="268292" name="Rectangle 3">
            <a:extLst>
              <a:ext uri="{FF2B5EF4-FFF2-40B4-BE49-F238E27FC236}">
                <a16:creationId xmlns:a16="http://schemas.microsoft.com/office/drawing/2014/main" id="{690F367E-5DA3-41BA-B5AA-4CB775EE2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Given M and p (safety predicate), do all states reachable from initial states in M satisfy p 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In model-checking: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Is M a model of </a:t>
            </a:r>
            <a:r>
              <a:rPr lang="en-US" altLang="zh-TW" sz="2600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p</a:t>
            </a:r>
            <a:r>
              <a:rPr lang="en-US" altLang="zh-TW" sz="2600">
                <a:solidFill>
                  <a:schemeClr val="accent1"/>
                </a:solidFill>
                <a:sym typeface="Wingdings 2" panose="05020102010507070707" pitchFamily="18" charset="2"/>
              </a:rPr>
              <a:t> </a:t>
            </a:r>
            <a:r>
              <a:rPr lang="en-US" altLang="zh-TW" sz="2600">
                <a:sym typeface="Wingdings 2" panose="05020102010507070707" pitchFamily="18" charset="2"/>
              </a:rPr>
              <a:t> 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>
                <a:sym typeface="Wingdings 2" panose="05020102010507070707" pitchFamily="18" charset="2"/>
              </a:rPr>
              <a:t>Or in </a:t>
            </a:r>
            <a:r>
              <a:rPr lang="en-US" altLang="zh-TW" sz="2600">
                <a:solidFill>
                  <a:srgbClr val="A50021"/>
                </a:solidFill>
                <a:sym typeface="Wingdings 2" panose="05020102010507070707" pitchFamily="18" charset="2"/>
              </a:rPr>
              <a:t>risk analysis</a:t>
            </a:r>
            <a:r>
              <a:rPr lang="en-US" altLang="zh-TW" sz="2600">
                <a:sym typeface="Wingdings 2" panose="05020102010507070707" pitchFamily="18" charset="2"/>
              </a:rPr>
              <a:t>: Is</a:t>
            </a:r>
            <a:r>
              <a:rPr lang="en-US" altLang="zh-TW" sz="2600"/>
              <a:t> there a state reachable from initial states in M satisfy p ?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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p 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 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p</a:t>
            </a:r>
            <a:r>
              <a:rPr lang="en-US" altLang="zh-TW" sz="2600">
                <a:solidFill>
                  <a:schemeClr val="accent1"/>
                </a:solidFill>
                <a:sym typeface="Wingdings 2" panose="05020102010507070707" pitchFamily="18" charset="2"/>
              </a:rPr>
              <a:t> 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 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true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 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U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p</a:t>
            </a:r>
            <a:r>
              <a:rPr lang="en-US" altLang="zh-TW" sz="2600">
                <a:solidFill>
                  <a:schemeClr val="accent1"/>
                </a:solidFill>
                <a:sym typeface="Wingdings 2" panose="05020102010507070707" pitchFamily="18" charset="2"/>
              </a:rPr>
              <a:t> </a:t>
            </a:r>
            <a:endParaRPr lang="en-US" altLang="zh-TW" sz="2600">
              <a:solidFill>
                <a:srgbClr val="0000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600">
              <a:latin typeface="Comic Sans MS" panose="030F0702030302020204" pitchFamily="66" charset="0"/>
              <a:sym typeface="Wingdings 2" panose="05020102010507070707" pitchFamily="18" charset="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投影片編號版面配置區 5">
            <a:extLst>
              <a:ext uri="{FF2B5EF4-FFF2-40B4-BE49-F238E27FC236}">
                <a16:creationId xmlns:a16="http://schemas.microsoft.com/office/drawing/2014/main" id="{4DB4F2EE-BE48-4E2F-8205-1C5715BC6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B7F196-6CF3-46C7-9025-F2770FEEA4C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70339" name="Rectangle 2">
            <a:extLst>
              <a:ext uri="{FF2B5EF4-FFF2-40B4-BE49-F238E27FC236}">
                <a16:creationId xmlns:a16="http://schemas.microsoft.com/office/drawing/2014/main" id="{0FD01A06-03F7-4B61-9D4A-DE8D41E9A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rial" panose="020B0604020202020204" pitchFamily="34" charset="0"/>
              </a:rPr>
              <a:t>Reachability analysis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: 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BE7DF8EB-3160-473E-B777-B83CC9CAB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Is there a state s reachable from another state s’?</a:t>
            </a:r>
          </a:p>
          <a:p>
            <a:pPr eaLnBrk="1" hangingPunct="1"/>
            <a:r>
              <a:rPr lang="en-US" altLang="zh-TW"/>
              <a:t>Encode risk analysis</a:t>
            </a:r>
          </a:p>
          <a:p>
            <a:pPr eaLnBrk="1" hangingPunct="1"/>
            <a:r>
              <a:rPr lang="en-US" altLang="zh-TW"/>
              <a:t>Encode the complement of safety analysis</a:t>
            </a:r>
          </a:p>
          <a:p>
            <a:pPr eaLnBrk="1" hangingPunct="1"/>
            <a:r>
              <a:rPr lang="en-US" altLang="zh-TW"/>
              <a:t>Most used in real applications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space S characterizes 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 </a:t>
            </a: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(M,s </a:t>
            </a:r>
            <a:r>
              <a:rPr lang="en-US" altLang="zh-TW">
                <a:sym typeface="Euclid Math One" pitchFamily="18" charset="2"/>
              </a:rPr>
              <a:t></a:t>
            </a:r>
            <a:r>
              <a:rPr lang="en-US" altLang="zh-TW">
                <a:sym typeface="Symbol" panose="05050102010706020507" pitchFamily="18" charset="2"/>
              </a:rPr>
              <a:t> </a:t>
            </a:r>
            <a:r>
              <a:rPr lang="en-US" altLang="zh-TW" b="1">
                <a:solidFill>
                  <a:srgbClr val="FF0000"/>
                </a:solidFill>
                <a:sym typeface="Symbol" panose="05050102010706020507" pitchFamily="18" charset="2"/>
              </a:rPr>
              <a:t></a:t>
            </a:r>
            <a:r>
              <a:rPr lang="en-US" altLang="zh-TW">
                <a:sym typeface="Symbol" panose="05050102010706020507" pitchFamily="18" charset="2"/>
              </a:rPr>
              <a:t> s’(R(s,s’)s’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>
                <a:sym typeface="Symbol" panose="05050102010706020507" pitchFamily="18" charset="2"/>
              </a:rPr>
              <a:t>)) </a:t>
            </a:r>
            <a:r>
              <a:rPr lang="en-US" altLang="zh-TW">
                <a:sym typeface="Wingdings" panose="05000000000000000000" pitchFamily="2" charset="2"/>
              </a:rPr>
              <a:t> s</a:t>
            </a:r>
            <a:r>
              <a:rPr lang="en-US" altLang="zh-TW">
                <a:sym typeface="Symbol" panose="05050102010706020507" pitchFamily="18" charset="2"/>
              </a:rPr>
              <a:t>  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endParaRPr lang="en-US" altLang="zh-TW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Is that all ? No, 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=Universe is a solution.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We need the smallest 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>
                <a:sym typeface="Symbol" panose="05050102010706020507" pitchFamily="18" charset="2"/>
              </a:rPr>
              <a:t> characterizes a </a:t>
            </a: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least fixpoint</a:t>
            </a:r>
            <a:r>
              <a:rPr lang="en-US" altLang="zh-TW">
                <a:sym typeface="Symbol" panose="05050102010706020507" pitchFamily="18" charset="2"/>
              </a:rPr>
              <a:t>.  </a:t>
            </a:r>
            <a:endParaRPr lang="en-US" altLang="zh-TW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投影片編號版面配置區 5">
            <a:extLst>
              <a:ext uri="{FF2B5EF4-FFF2-40B4-BE49-F238E27FC236}">
                <a16:creationId xmlns:a16="http://schemas.microsoft.com/office/drawing/2014/main" id="{8AC9FB49-DD9D-4A53-B2FE-D7D952C606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3DF2DB-3BF5-4737-9125-A2E3778C147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72387" name="Rectangle 2">
            <a:extLst>
              <a:ext uri="{FF2B5EF4-FFF2-40B4-BE49-F238E27FC236}">
                <a16:creationId xmlns:a16="http://schemas.microsoft.com/office/drawing/2014/main" id="{93341914-BEEE-4E44-B394-34192CD2B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safety analysis  </a:t>
            </a:r>
          </a:p>
        </p:txBody>
      </p:sp>
      <p:sp>
        <p:nvSpPr>
          <p:cNvPr id="272388" name="Rectangle 3">
            <a:extLst>
              <a:ext uri="{FF2B5EF4-FFF2-40B4-BE49-F238E27FC236}">
                <a16:creationId xmlns:a16="http://schemas.microsoft.com/office/drawing/2014/main" id="{6AF8042D-2B27-41A6-947B-A64CBD703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Reachability algorithm in graph theory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Given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a Kripke structure </a:t>
            </a:r>
            <a:r>
              <a:rPr lang="en-US" altLang="zh-TW">
                <a:solidFill>
                  <a:schemeClr val="tx2"/>
                </a:solidFill>
              </a:rPr>
              <a:t>A = (</a:t>
            </a:r>
            <a:r>
              <a:rPr lang="en-US" altLang="zh-TW"/>
              <a:t>S</a:t>
            </a:r>
            <a:r>
              <a:rPr lang="en-US" altLang="zh-TW">
                <a:solidFill>
                  <a:schemeClr val="tx2"/>
                </a:solidFill>
              </a:rPr>
              <a:t>, </a:t>
            </a:r>
            <a:r>
              <a:rPr lang="en-US" altLang="zh-TW"/>
              <a:t>S</a:t>
            </a:r>
            <a:r>
              <a:rPr lang="en-US" altLang="zh-TW" baseline="-25000"/>
              <a:t>0</a:t>
            </a:r>
            <a:r>
              <a:rPr lang="en-US" altLang="zh-TW">
                <a:solidFill>
                  <a:schemeClr val="tx2"/>
                </a:solidFill>
              </a:rPr>
              <a:t>, </a:t>
            </a:r>
            <a:r>
              <a:rPr lang="en-US" altLang="zh-TW"/>
              <a:t>R</a:t>
            </a:r>
            <a:r>
              <a:rPr lang="en-US" altLang="zh-TW">
                <a:solidFill>
                  <a:schemeClr val="tx2"/>
                </a:solidFill>
              </a:rPr>
              <a:t>, L)</a:t>
            </a:r>
            <a:endParaRPr lang="en-US" altLang="zh-TW"/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a safety predicate </a:t>
            </a:r>
            <a:r>
              <a:rPr lang="el-GR" altLang="zh-TW" b="1">
                <a:solidFill>
                  <a:srgbClr val="0000FF"/>
                </a:solidFill>
              </a:rPr>
              <a:t>η</a:t>
            </a:r>
            <a:r>
              <a:rPr lang="en-US" altLang="zh-TW" sz="2800">
                <a:cs typeface="Arial" panose="020B0604020202020204" pitchFamily="34" charset="0"/>
              </a:rPr>
              <a:t>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find a path from a state in </a:t>
            </a:r>
            <a:r>
              <a:rPr lang="en-US" altLang="zh-TW"/>
              <a:t>S</a:t>
            </a:r>
            <a:r>
              <a:rPr lang="en-US" altLang="zh-TW" baseline="-25000"/>
              <a:t>0</a:t>
            </a:r>
            <a:r>
              <a:rPr lang="en-US" altLang="zh-TW" sz="2800">
                <a:cs typeface="Arial" panose="020B0604020202020204" pitchFamily="34" charset="0"/>
              </a:rPr>
              <a:t> to a state in [</a:t>
            </a:r>
            <a:r>
              <a:rPr lang="en-US" altLang="zh-TW" sz="2800"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800"/>
              <a:t>η</a:t>
            </a:r>
            <a:r>
              <a:rPr lang="en-US" altLang="zh-TW" sz="2800"/>
              <a:t>].</a:t>
            </a:r>
            <a:r>
              <a:rPr lang="en-US" altLang="zh-TW" sz="2800" b="1">
                <a:solidFill>
                  <a:srgbClr val="0000FF"/>
                </a:solidFill>
              </a:rPr>
              <a:t>  </a:t>
            </a:r>
            <a:r>
              <a:rPr lang="en-US" altLang="zh-TW" sz="2800"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8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Solutions in graph theory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>
                <a:cs typeface="Arial" panose="020B0604020202020204" pitchFamily="34" charset="0"/>
              </a:rPr>
              <a:t>Shortest distance algorithms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>
                <a:cs typeface="Arial" panose="020B0604020202020204" pitchFamily="34" charset="0"/>
              </a:rPr>
              <a:t>spanning tree algorithms</a:t>
            </a:r>
            <a:endParaRPr lang="el-GR" altLang="zh-TW" sz="2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投影片編號版面配置區 5">
            <a:extLst>
              <a:ext uri="{FF2B5EF4-FFF2-40B4-BE49-F238E27FC236}">
                <a16:creationId xmlns:a16="http://schemas.microsoft.com/office/drawing/2014/main" id="{61C5F34F-AC7F-4BAA-B2B0-EF745501B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DB3F87-4F45-45EE-AB86-E3C30256BCD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74435" name="Rectangle 2">
            <a:extLst>
              <a:ext uri="{FF2B5EF4-FFF2-40B4-BE49-F238E27FC236}">
                <a16:creationId xmlns:a16="http://schemas.microsoft.com/office/drawing/2014/main" id="{F1AE9567-49A9-41F4-95BE-373B5EE57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safety analysis  </a:t>
            </a:r>
          </a:p>
        </p:txBody>
      </p:sp>
      <p:sp>
        <p:nvSpPr>
          <p:cNvPr id="274436" name="Rectangle 3">
            <a:extLst>
              <a:ext uri="{FF2B5EF4-FFF2-40B4-BE49-F238E27FC236}">
                <a16:creationId xmlns:a16="http://schemas.microsoft.com/office/drawing/2014/main" id="{92D303D2-718E-47D4-A2FE-0754DBCBE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chemeClr val="tx2"/>
                </a:solidFill>
              </a:rPr>
              <a:t>/* Given A = (</a:t>
            </a:r>
            <a:r>
              <a:rPr lang="en-US" altLang="zh-TW" sz="2400"/>
              <a:t>S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R</a:t>
            </a:r>
            <a:r>
              <a:rPr lang="en-US" altLang="zh-TW" sz="2400">
                <a:solidFill>
                  <a:schemeClr val="tx2"/>
                </a:solidFill>
              </a:rPr>
              <a:t>, L)*/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safety_analysis(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/>
              <a:t>) /* using least fixpoint algorithm */ 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for all s, if 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L(s), L(s)=L(s)</a:t>
            </a:r>
            <a:r>
              <a:rPr lang="en-US" altLang="zh-TW" sz="2400">
                <a:sym typeface="Symbol" panose="05050102010706020507" pitchFamily="18" charset="2"/>
              </a:rPr>
              <a:t></a:t>
            </a:r>
            <a:r>
              <a:rPr lang="en-US" altLang="zh-TW" sz="2400"/>
              <a:t>{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600" b="1">
                <a:solidFill>
                  <a:schemeClr val="accent1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for all s, if (s,s’)(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600" b="1">
                <a:solidFill>
                  <a:schemeClr val="accent1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L(s’)), </a:t>
            </a:r>
            <a:endParaRPr lang="en-US" altLang="zh-TW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		L(s)=L(s)</a:t>
            </a:r>
            <a:r>
              <a:rPr lang="en-US" altLang="zh-TW" sz="2400">
                <a:sym typeface="Symbol" panose="05050102010706020507" pitchFamily="18" charset="2"/>
              </a:rPr>
              <a:t></a:t>
            </a:r>
            <a:r>
              <a:rPr lang="en-US" altLang="zh-TW" sz="2400"/>
              <a:t>{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600" b="1">
                <a:solidFill>
                  <a:schemeClr val="accent1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} </a:t>
            </a:r>
            <a:r>
              <a:rPr lang="en-US" altLang="zh-TW" sz="2400">
                <a:sym typeface="Symbol" panose="05050102010706020507" pitchFamily="18" charset="2"/>
              </a:rPr>
              <a:t>until no more changes to L(s) for any s.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if there is an 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with 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600" b="1">
                <a:solidFill>
                  <a:schemeClr val="accent1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</a:t>
            </a:r>
            <a:r>
              <a:rPr lang="en-US" altLang="zh-TW" sz="2400" baseline="-25000"/>
              <a:t>0</a:t>
            </a:r>
            <a:r>
              <a:rPr lang="en-US" altLang="zh-TW" sz="2400"/>
              <a:t>), return ‘</a:t>
            </a:r>
            <a:r>
              <a:rPr lang="en-US" altLang="zh-TW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unsafe</a:t>
            </a:r>
            <a:r>
              <a:rPr lang="en-US" altLang="zh-TW" sz="2400"/>
              <a:t>,’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else return ‘</a:t>
            </a:r>
            <a:r>
              <a:rPr lang="en-US" altLang="zh-TW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safe</a:t>
            </a:r>
            <a:r>
              <a:rPr lang="en-US" altLang="zh-TW" sz="2400">
                <a:sym typeface="Symbol" panose="05050102010706020507" pitchFamily="18" charset="2"/>
              </a:rPr>
              <a:t>.’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The procedure terminates since S is finite in the Kripke structure. </a:t>
            </a:r>
          </a:p>
        </p:txBody>
      </p:sp>
      <p:sp>
        <p:nvSpPr>
          <p:cNvPr id="1100804" name="AutoShape 4">
            <a:extLst>
              <a:ext uri="{FF2B5EF4-FFF2-40B4-BE49-F238E27FC236}">
                <a16:creationId xmlns:a16="http://schemas.microsoft.com/office/drawing/2014/main" id="{77941192-2A52-4B80-8759-D7C3075F7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895600"/>
            <a:ext cx="3124200" cy="1219200"/>
          </a:xfrm>
          <a:prstGeom prst="wedgeRectCallout">
            <a:avLst>
              <a:gd name="adj1" fmla="val -46213"/>
              <a:gd name="adj2" fmla="val -62528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A notation for the possibility of </a:t>
            </a:r>
            <a:r>
              <a:rPr lang="en-US" altLang="zh-TW" sz="18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800">
                <a:solidFill>
                  <a:schemeClr val="accent1"/>
                </a:solidFill>
              </a:rPr>
              <a:t>η</a:t>
            </a:r>
            <a:endParaRPr lang="en-US" altLang="zh-TW"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0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0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04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投影片編號版面配置區 5">
            <a:extLst>
              <a:ext uri="{FF2B5EF4-FFF2-40B4-BE49-F238E27FC236}">
                <a16:creationId xmlns:a16="http://schemas.microsoft.com/office/drawing/2014/main" id="{039AFC91-4FCA-4E71-B6B0-269033BF9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91A74A-A80C-440E-8326-4A34E4B31B6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1086466" name="Oval 2">
            <a:extLst>
              <a:ext uri="{FF2B5EF4-FFF2-40B4-BE49-F238E27FC236}">
                <a16:creationId xmlns:a16="http://schemas.microsoft.com/office/drawing/2014/main" id="{ABB11A88-7E92-4C02-8ADB-EDFD03C63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989138"/>
            <a:ext cx="8426450" cy="4868862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1086467" name="Oval 3">
            <a:extLst>
              <a:ext uri="{FF2B5EF4-FFF2-40B4-BE49-F238E27FC236}">
                <a16:creationId xmlns:a16="http://schemas.microsoft.com/office/drawing/2014/main" id="{A4662503-A15D-439C-A051-7F0774978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492375"/>
            <a:ext cx="6480175" cy="4105275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1086468" name="Oval 4">
            <a:extLst>
              <a:ext uri="{FF2B5EF4-FFF2-40B4-BE49-F238E27FC236}">
                <a16:creationId xmlns:a16="http://schemas.microsoft.com/office/drawing/2014/main" id="{BE570B1D-F7E6-471E-8033-168E28213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429000"/>
            <a:ext cx="4824413" cy="27368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76486" name="Rectangle 5">
            <a:extLst>
              <a:ext uri="{FF2B5EF4-FFF2-40B4-BE49-F238E27FC236}">
                <a16:creationId xmlns:a16="http://schemas.microsoft.com/office/drawing/2014/main" id="{EB76F03C-C1A7-4164-86C1-89980619B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safety analysis</a:t>
            </a:r>
          </a:p>
        </p:txBody>
      </p:sp>
      <p:sp>
        <p:nvSpPr>
          <p:cNvPr id="276487" name="Rectangle 6">
            <a:extLst>
              <a:ext uri="{FF2B5EF4-FFF2-40B4-BE49-F238E27FC236}">
                <a16:creationId xmlns:a16="http://schemas.microsoft.com/office/drawing/2014/main" id="{5F962E54-D2F4-4EBB-A6D8-0875F31CE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816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FF0000"/>
                </a:solidFill>
                <a:latin typeface="Albertus Extra Bold" pitchFamily="34" charset="0"/>
              </a:rPr>
              <a:t>Least fixpoint in modal logics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FF0000"/>
                </a:solidFill>
              </a:rPr>
              <a:t>iterative expansion</a:t>
            </a:r>
          </a:p>
        </p:txBody>
      </p:sp>
      <p:sp>
        <p:nvSpPr>
          <p:cNvPr id="1086471" name="Oval 7">
            <a:extLst>
              <a:ext uri="{FF2B5EF4-FFF2-40B4-BE49-F238E27FC236}">
                <a16:creationId xmlns:a16="http://schemas.microsoft.com/office/drawing/2014/main" id="{E6F4EA90-028A-4A06-B05E-85F52507DEC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56325" y="4292600"/>
            <a:ext cx="1871663" cy="136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76489" name="Oval 8">
            <a:extLst>
              <a:ext uri="{FF2B5EF4-FFF2-40B4-BE49-F238E27FC236}">
                <a16:creationId xmlns:a16="http://schemas.microsoft.com/office/drawing/2014/main" id="{CD96A9AF-5DFB-45DF-A443-6D63B4DB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419600"/>
            <a:ext cx="1184275" cy="1143000"/>
          </a:xfrm>
          <a:prstGeom prst="ellipse">
            <a:avLst/>
          </a:prstGeom>
          <a:solidFill>
            <a:schemeClr val="hlink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solidFill>
                <a:srgbClr val="0000FF"/>
              </a:solidFill>
            </a:endParaRPr>
          </a:p>
        </p:txBody>
      </p:sp>
      <p:sp>
        <p:nvSpPr>
          <p:cNvPr id="276490" name="Oval 9">
            <a:extLst>
              <a:ext uri="{FF2B5EF4-FFF2-40B4-BE49-F238E27FC236}">
                <a16:creationId xmlns:a16="http://schemas.microsoft.com/office/drawing/2014/main" id="{5CC56943-43E2-429F-938F-2AA35B315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57600"/>
            <a:ext cx="1160462" cy="1066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="1">
              <a:solidFill>
                <a:srgbClr val="0000FF"/>
              </a:solidFill>
            </a:endParaRPr>
          </a:p>
        </p:txBody>
      </p:sp>
      <p:sp>
        <p:nvSpPr>
          <p:cNvPr id="276491" name="Oval 10">
            <a:extLst>
              <a:ext uri="{FF2B5EF4-FFF2-40B4-BE49-F238E27FC236}">
                <a16:creationId xmlns:a16="http://schemas.microsoft.com/office/drawing/2014/main" id="{78714773-7F4F-4683-AF4A-3651F41F2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143000" cy="1066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76492" name="Oval 11">
            <a:extLst>
              <a:ext uri="{FF2B5EF4-FFF2-40B4-BE49-F238E27FC236}">
                <a16:creationId xmlns:a16="http://schemas.microsoft.com/office/drawing/2014/main" id="{CD346D9A-6B8A-49D6-95E3-8A8F32AF5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724400"/>
            <a:ext cx="1219200" cy="1143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76493" name="Oval 12">
            <a:extLst>
              <a:ext uri="{FF2B5EF4-FFF2-40B4-BE49-F238E27FC236}">
                <a16:creationId xmlns:a16="http://schemas.microsoft.com/office/drawing/2014/main" id="{EAFA3C3E-CC5D-45FF-A674-3C96923CB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52800"/>
            <a:ext cx="1068388" cy="990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76494" name="Line 13">
            <a:extLst>
              <a:ext uri="{FF2B5EF4-FFF2-40B4-BE49-F238E27FC236}">
                <a16:creationId xmlns:a16="http://schemas.microsoft.com/office/drawing/2014/main" id="{956327E9-7FA4-4C87-84D9-A31E3141E4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5084763"/>
            <a:ext cx="1101725" cy="1730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495" name="Line 14">
            <a:extLst>
              <a:ext uri="{FF2B5EF4-FFF2-40B4-BE49-F238E27FC236}">
                <a16:creationId xmlns:a16="http://schemas.microsoft.com/office/drawing/2014/main" id="{5BF0783B-1932-4128-B049-53765BD3D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95800"/>
            <a:ext cx="609600" cy="304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496" name="Line 15">
            <a:extLst>
              <a:ext uri="{FF2B5EF4-FFF2-40B4-BE49-F238E27FC236}">
                <a16:creationId xmlns:a16="http://schemas.microsoft.com/office/drawing/2014/main" id="{CD37E892-A825-4B3A-928F-C4213E9DA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962400"/>
            <a:ext cx="1049338" cy="258763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497" name="Arc 16">
            <a:extLst>
              <a:ext uri="{FF2B5EF4-FFF2-40B4-BE49-F238E27FC236}">
                <a16:creationId xmlns:a16="http://schemas.microsoft.com/office/drawing/2014/main" id="{222EDEC7-2CDE-494E-B94B-3604FD3EB0DF}"/>
              </a:ext>
            </a:extLst>
          </p:cNvPr>
          <p:cNvSpPr>
            <a:spLocks/>
          </p:cNvSpPr>
          <p:nvPr/>
        </p:nvSpPr>
        <p:spPr bwMode="auto">
          <a:xfrm>
            <a:off x="1725613" y="3292475"/>
            <a:ext cx="1185862" cy="698500"/>
          </a:xfrm>
          <a:custGeom>
            <a:avLst/>
            <a:gdLst>
              <a:gd name="T0" fmla="*/ 0 w 28018"/>
              <a:gd name="T1" fmla="*/ 2147483646 h 21600"/>
              <a:gd name="T2" fmla="*/ 2147483646 w 28018"/>
              <a:gd name="T3" fmla="*/ 2147483646 h 21600"/>
              <a:gd name="T4" fmla="*/ 2147483646 w 28018"/>
              <a:gd name="T5" fmla="*/ 2147483646 h 21600"/>
              <a:gd name="T6" fmla="*/ 0 60000 65536"/>
              <a:gd name="T7" fmla="*/ 0 60000 65536"/>
              <a:gd name="T8" fmla="*/ 0 60000 65536"/>
              <a:gd name="T9" fmla="*/ 0 w 28018"/>
              <a:gd name="T10" fmla="*/ 0 h 21600"/>
              <a:gd name="T11" fmla="*/ 28018 w 280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18" h="21600" fill="none" extrusionOk="0">
                <a:moveTo>
                  <a:pt x="0" y="3653"/>
                </a:moveTo>
                <a:cubicBezTo>
                  <a:pt x="3556" y="1271"/>
                  <a:pt x="7739" y="-1"/>
                  <a:pt x="12020" y="0"/>
                </a:cubicBezTo>
                <a:cubicBezTo>
                  <a:pt x="18113" y="0"/>
                  <a:pt x="23923" y="2573"/>
                  <a:pt x="28017" y="7087"/>
                </a:cubicBezTo>
              </a:path>
              <a:path w="28018" h="21600" stroke="0" extrusionOk="0">
                <a:moveTo>
                  <a:pt x="0" y="3653"/>
                </a:moveTo>
                <a:cubicBezTo>
                  <a:pt x="3556" y="1271"/>
                  <a:pt x="7739" y="-1"/>
                  <a:pt x="12020" y="0"/>
                </a:cubicBezTo>
                <a:cubicBezTo>
                  <a:pt x="18113" y="0"/>
                  <a:pt x="23923" y="2573"/>
                  <a:pt x="28017" y="7087"/>
                </a:cubicBezTo>
                <a:lnTo>
                  <a:pt x="12020" y="21600"/>
                </a:lnTo>
                <a:lnTo>
                  <a:pt x="0" y="3653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498" name="Arc 17">
            <a:extLst>
              <a:ext uri="{FF2B5EF4-FFF2-40B4-BE49-F238E27FC236}">
                <a16:creationId xmlns:a16="http://schemas.microsoft.com/office/drawing/2014/main" id="{C7FEEFC4-CEEC-473B-B7D2-7C7769736DCB}"/>
              </a:ext>
            </a:extLst>
          </p:cNvPr>
          <p:cNvSpPr>
            <a:spLocks/>
          </p:cNvSpPr>
          <p:nvPr/>
        </p:nvSpPr>
        <p:spPr bwMode="auto">
          <a:xfrm flipH="1" flipV="1">
            <a:off x="1600200" y="3789363"/>
            <a:ext cx="1289050" cy="698500"/>
          </a:xfrm>
          <a:custGeom>
            <a:avLst/>
            <a:gdLst>
              <a:gd name="T0" fmla="*/ 0 w 30437"/>
              <a:gd name="T1" fmla="*/ 2147483646 h 21600"/>
              <a:gd name="T2" fmla="*/ 2147483646 w 30437"/>
              <a:gd name="T3" fmla="*/ 2147483646 h 21600"/>
              <a:gd name="T4" fmla="*/ 2147483646 w 30437"/>
              <a:gd name="T5" fmla="*/ 2147483646 h 21600"/>
              <a:gd name="T6" fmla="*/ 0 60000 65536"/>
              <a:gd name="T7" fmla="*/ 0 60000 65536"/>
              <a:gd name="T8" fmla="*/ 0 60000 65536"/>
              <a:gd name="T9" fmla="*/ 0 w 30437"/>
              <a:gd name="T10" fmla="*/ 0 h 21600"/>
              <a:gd name="T11" fmla="*/ 30437 w 3043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437" h="21600" fill="none" extrusionOk="0">
                <a:moveTo>
                  <a:pt x="0" y="7651"/>
                </a:moveTo>
                <a:cubicBezTo>
                  <a:pt x="4104" y="2798"/>
                  <a:pt x="10136" y="-1"/>
                  <a:pt x="16492" y="0"/>
                </a:cubicBezTo>
                <a:cubicBezTo>
                  <a:pt x="21597" y="0"/>
                  <a:pt x="26538" y="1808"/>
                  <a:pt x="30437" y="5104"/>
                </a:cubicBezTo>
              </a:path>
              <a:path w="30437" h="21600" stroke="0" extrusionOk="0">
                <a:moveTo>
                  <a:pt x="0" y="7651"/>
                </a:moveTo>
                <a:cubicBezTo>
                  <a:pt x="4104" y="2798"/>
                  <a:pt x="10136" y="-1"/>
                  <a:pt x="16492" y="0"/>
                </a:cubicBezTo>
                <a:cubicBezTo>
                  <a:pt x="21597" y="0"/>
                  <a:pt x="26538" y="1808"/>
                  <a:pt x="30437" y="5104"/>
                </a:cubicBezTo>
                <a:lnTo>
                  <a:pt x="16492" y="21600"/>
                </a:lnTo>
                <a:lnTo>
                  <a:pt x="0" y="7651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499" name="Oval 18">
            <a:extLst>
              <a:ext uri="{FF2B5EF4-FFF2-40B4-BE49-F238E27FC236}">
                <a16:creationId xmlns:a16="http://schemas.microsoft.com/office/drawing/2014/main" id="{685EEBB0-E985-449E-98A9-DF4B735DC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600200"/>
            <a:ext cx="1235075" cy="1066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76500" name="Line 19">
            <a:extLst>
              <a:ext uri="{FF2B5EF4-FFF2-40B4-BE49-F238E27FC236}">
                <a16:creationId xmlns:a16="http://schemas.microsoft.com/office/drawing/2014/main" id="{8E7660E5-D6EB-4F4D-B193-37443438C2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514600"/>
            <a:ext cx="1676400" cy="13716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86484" name="Text Box 20">
            <a:extLst>
              <a:ext uri="{FF2B5EF4-FFF2-40B4-BE49-F238E27FC236}">
                <a16:creationId xmlns:a16="http://schemas.microsoft.com/office/drawing/2014/main" id="{680D7EA0-D2B3-48C2-9990-69C9E07EA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181600"/>
            <a:ext cx="105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86485" name="Text Box 21">
            <a:extLst>
              <a:ext uri="{FF2B5EF4-FFF2-40B4-BE49-F238E27FC236}">
                <a16:creationId xmlns:a16="http://schemas.microsoft.com/office/drawing/2014/main" id="{916FD264-4D77-4077-BF49-D6BBD097C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038600"/>
            <a:ext cx="105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86486" name="Text Box 22">
            <a:extLst>
              <a:ext uri="{FF2B5EF4-FFF2-40B4-BE49-F238E27FC236}">
                <a16:creationId xmlns:a16="http://schemas.microsoft.com/office/drawing/2014/main" id="{81A72485-692E-4C95-BB29-0AC0B8535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733800"/>
            <a:ext cx="105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86487" name="Text Box 23">
            <a:extLst>
              <a:ext uri="{FF2B5EF4-FFF2-40B4-BE49-F238E27FC236}">
                <a16:creationId xmlns:a16="http://schemas.microsoft.com/office/drawing/2014/main" id="{1AF5FE4A-C845-40BB-ACE8-BD49BDF3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657600"/>
            <a:ext cx="105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86488" name="Text Box 24">
            <a:extLst>
              <a:ext uri="{FF2B5EF4-FFF2-40B4-BE49-F238E27FC236}">
                <a16:creationId xmlns:a16="http://schemas.microsoft.com/office/drawing/2014/main" id="{91F20AE4-0D8F-4FA2-800F-1C327444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800600"/>
            <a:ext cx="105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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108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000"/>
                                        <p:tgtEl>
                                          <p:spTgt spid="108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8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2000"/>
                                        <p:tgtEl>
                                          <p:spTgt spid="108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000"/>
                                        <p:tgtEl>
                                          <p:spTgt spid="108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6" grpId="0" animBg="1"/>
      <p:bldP spid="1086467" grpId="0" animBg="1"/>
      <p:bldP spid="1086468" grpId="0" animBg="1"/>
      <p:bldP spid="1086471" grpId="0" animBg="1"/>
      <p:bldP spid="1086484" grpId="0"/>
      <p:bldP spid="1086485" grpId="0"/>
      <p:bldP spid="1086486" grpId="0"/>
      <p:bldP spid="1086487" grpId="0"/>
      <p:bldP spid="1086488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投影片編號版面配置區 5">
            <a:extLst>
              <a:ext uri="{FF2B5EF4-FFF2-40B4-BE49-F238E27FC236}">
                <a16:creationId xmlns:a16="http://schemas.microsoft.com/office/drawing/2014/main" id="{C7E62C1B-0A0A-450E-AA57-6951FA1E1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8F48AB-F7EB-4775-A635-45ADBD8247B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78531" name="Rectangle 2">
            <a:extLst>
              <a:ext uri="{FF2B5EF4-FFF2-40B4-BE49-F238E27FC236}">
                <a16:creationId xmlns:a16="http://schemas.microsoft.com/office/drawing/2014/main" id="{BA8C797E-A902-4F4C-8E51-F12DB662E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lbertus Extra Bold" pitchFamily="34" charset="0"/>
              </a:rPr>
              <a:t>Inevitability analysis</a:t>
            </a:r>
            <a:r>
              <a:rPr lang="en-US" altLang="zh-TW"/>
              <a:t> </a:t>
            </a:r>
          </a:p>
        </p:txBody>
      </p:sp>
      <p:sp>
        <p:nvSpPr>
          <p:cNvPr id="278532" name="Rectangle 3">
            <a:extLst>
              <a:ext uri="{FF2B5EF4-FFF2-40B4-BE49-F238E27FC236}">
                <a16:creationId xmlns:a16="http://schemas.microsoft.com/office/drawing/2014/main" id="{19D9180B-F84B-493C-B8B2-917169B7FA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Given M and p (inevitability predicate), do all computations from initial states in M reach p 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In model-checking: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/>
              <a:t>Is M a model of </a:t>
            </a:r>
            <a:r>
              <a:rPr lang="en-US" altLang="zh-TW" sz="2600">
                <a:solidFill>
                  <a:srgbClr val="0000FF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p</a:t>
            </a:r>
            <a:r>
              <a:rPr lang="en-US" altLang="zh-TW" sz="2600">
                <a:solidFill>
                  <a:schemeClr val="accent1"/>
                </a:solidFill>
                <a:sym typeface="Wingdings 2" panose="05020102010507070707" pitchFamily="18" charset="2"/>
              </a:rPr>
              <a:t> </a:t>
            </a:r>
            <a:r>
              <a:rPr lang="en-US" altLang="zh-TW" sz="2600">
                <a:sym typeface="Wingdings 2" panose="05020102010507070707" pitchFamily="18" charset="2"/>
              </a:rPr>
              <a:t> 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>
                <a:sym typeface="Wingdings 2" panose="05020102010507070707" pitchFamily="18" charset="2"/>
              </a:rPr>
              <a:t>Or in </a:t>
            </a:r>
            <a:r>
              <a:rPr lang="en-US" altLang="zh-TW" sz="2600">
                <a:solidFill>
                  <a:srgbClr val="A50021"/>
                </a:solidFill>
                <a:sym typeface="Wingdings 2" panose="05020102010507070707" pitchFamily="18" charset="2"/>
              </a:rPr>
              <a:t>avoidability analysis</a:t>
            </a:r>
            <a:r>
              <a:rPr lang="en-US" altLang="zh-TW" sz="2600">
                <a:sym typeface="Wingdings 2" panose="05020102010507070707" pitchFamily="18" charset="2"/>
              </a:rPr>
              <a:t>: Is</a:t>
            </a:r>
            <a:r>
              <a:rPr lang="en-US" altLang="zh-TW" sz="2600"/>
              <a:t> there a computation from initial states in M that maintains p ?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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p 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 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6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 sz="2600">
                <a:solidFill>
                  <a:srgbClr val="0000FF"/>
                </a:solidFill>
                <a:sym typeface="Wingdings 2" panose="05020102010507070707" pitchFamily="18" charset="2"/>
              </a:rPr>
              <a:t>p</a:t>
            </a:r>
            <a:endParaRPr lang="en-US" altLang="zh-TW" sz="2600">
              <a:solidFill>
                <a:srgbClr val="0000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600">
              <a:latin typeface="Comic Sans MS" panose="030F0702030302020204" pitchFamily="66" charset="0"/>
              <a:sym typeface="Wingdings 2" panose="05020102010507070707" pitchFamily="18" charset="2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投影片編號版面配置區 5">
            <a:extLst>
              <a:ext uri="{FF2B5EF4-FFF2-40B4-BE49-F238E27FC236}">
                <a16:creationId xmlns:a16="http://schemas.microsoft.com/office/drawing/2014/main" id="{67F35A4B-5C50-4CEC-B142-7B09E576B0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529384-20BA-40BF-8749-162D21021C3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C1A8D94E-1AA1-4B3F-886B-2EC1B3D70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latin typeface="Arial" panose="020B0604020202020204" pitchFamily="34" charset="0"/>
              </a:rPr>
              <a:t>Inevitability analysis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: </a:t>
            </a:r>
            <a:r>
              <a:rPr lang="en-US" altLang="zh-TW" sz="44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44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B9C893A2-1880-4499-9EA3-B46FFDCA6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6868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Is there a computation that maintains </a:t>
            </a:r>
            <a:r>
              <a:rPr lang="en-US" altLang="zh-TW" sz="32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</a:t>
            </a:r>
            <a:r>
              <a:rPr lang="en-US" altLang="zh-TW"/>
              <a:t>?</a:t>
            </a:r>
          </a:p>
          <a:p>
            <a:pPr eaLnBrk="1" hangingPunct="1"/>
            <a:r>
              <a:rPr lang="en-US" altLang="zh-TW"/>
              <a:t>Encode avoidability analysis</a:t>
            </a:r>
          </a:p>
          <a:p>
            <a:pPr eaLnBrk="1" hangingPunct="1"/>
            <a:r>
              <a:rPr lang="en-US" altLang="zh-TW"/>
              <a:t>Encode the complement of inevitability analysis</a:t>
            </a:r>
          </a:p>
          <a:p>
            <a:pPr eaLnBrk="1" hangingPunct="1"/>
            <a:r>
              <a:rPr lang="en-US" altLang="zh-TW"/>
              <a:t>Most used in real applications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space S characterizes </a:t>
            </a:r>
            <a:r>
              <a:rPr lang="en-US" altLang="zh-TW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 sz="32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2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>
                <a:solidFill>
                  <a:srgbClr val="0000FF"/>
                </a:solidFill>
                <a:sym typeface="Symbol" panose="05050102010706020507" pitchFamily="18" charset="2"/>
              </a:rPr>
              <a:t> </a:t>
            </a: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>
                <a:sym typeface="Wingdings" panose="05000000000000000000" pitchFamily="2" charset="2"/>
              </a:rPr>
              <a:t>s</a:t>
            </a:r>
            <a:r>
              <a:rPr lang="en-US" altLang="zh-TW">
                <a:sym typeface="Symbol" panose="05050102010706020507" pitchFamily="18" charset="2"/>
              </a:rPr>
              <a:t>S</a:t>
            </a: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>
                <a:cs typeface="Times New Roman" panose="02020603050405020304" pitchFamily="18" charset="0"/>
                <a:sym typeface="Wingdings" panose="05000000000000000000" pitchFamily="2" charset="2"/>
              </a:rPr>
              <a:t> (</a:t>
            </a: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TW">
                <a:sym typeface="Euclid Math One" pitchFamily="18" charset="2"/>
              </a:rPr>
              <a:t></a:t>
            </a:r>
            <a:r>
              <a:rPr lang="en-US" altLang="zh-TW">
                <a:sym typeface="Symbol" panose="05050102010706020507" pitchFamily="18" charset="2"/>
              </a:rPr>
              <a:t> </a:t>
            </a:r>
            <a:r>
              <a:rPr lang="en-US" altLang="zh-TW" b="1">
                <a:solidFill>
                  <a:srgbClr val="FF0000"/>
                </a:solidFill>
                <a:sym typeface="Symbol" panose="05050102010706020507" pitchFamily="18" charset="2"/>
              </a:rPr>
              <a:t> </a:t>
            </a:r>
            <a:r>
              <a:rPr lang="en-US" altLang="zh-TW">
                <a:sym typeface="Symbol" panose="05050102010706020507" pitchFamily="18" charset="2"/>
              </a:rPr>
              <a:t>s’(R(s,s’)s’S))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Is that all ?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No, S= is a solution. We need the largest S.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>
                <a:cs typeface="Times New Roman" panose="02020603050405020304" pitchFamily="18" charset="0"/>
                <a:sym typeface="Symbol" panose="05050102010706020507" pitchFamily="18" charset="2"/>
              </a:rPr>
              <a:t>So, </a:t>
            </a:r>
            <a:r>
              <a:rPr lang="en-US" altLang="zh-TW">
                <a:latin typeface="Comic Sans MS" panose="030F0702030302020204" pitchFamily="66" charset="0"/>
                <a:sym typeface="Symbol" panose="05050102010706020507" pitchFamily="18" charset="2"/>
              </a:rPr>
              <a:t></a:t>
            </a:r>
            <a:r>
              <a:rPr lang="en-US" altLang="zh-TW" sz="2800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</a:t>
            </a:r>
            <a:r>
              <a:rPr lang="en-US" altLang="zh-TW">
                <a:sym typeface="Symbol" panose="05050102010706020507" pitchFamily="18" charset="2"/>
              </a:rPr>
              <a:t> characterizes a </a:t>
            </a:r>
            <a:r>
              <a:rPr lang="en-US" altLang="zh-TW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greatest fixpoint</a:t>
            </a:r>
            <a:r>
              <a:rPr lang="en-US" altLang="zh-TW">
                <a:sym typeface="Symbol" panose="05050102010706020507" pitchFamily="18" charset="2"/>
              </a:rPr>
              <a:t>.  </a:t>
            </a:r>
            <a:endParaRPr lang="en-US" altLang="zh-TW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69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投影片編號版面配置區 5">
            <a:extLst>
              <a:ext uri="{FF2B5EF4-FFF2-40B4-BE49-F238E27FC236}">
                <a16:creationId xmlns:a16="http://schemas.microsoft.com/office/drawing/2014/main" id="{31682DA0-E494-4462-AE99-2808A41A8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6753B3-534F-4849-8F15-46E175E3C3D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2627" name="Rectangle 2">
            <a:extLst>
              <a:ext uri="{FF2B5EF4-FFF2-40B4-BE49-F238E27FC236}">
                <a16:creationId xmlns:a16="http://schemas.microsoft.com/office/drawing/2014/main" id="{9B73F88A-FD17-4D8C-839A-CDABD745F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inevitability analysis</a:t>
            </a:r>
            <a:r>
              <a:rPr lang="en-US" altLang="zh-TW" sz="400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: </a:t>
            </a:r>
            <a:r>
              <a:rPr lang="en-US" altLang="zh-TW" sz="4000">
                <a:solidFill>
                  <a:srgbClr val="0000FF"/>
                </a:solidFill>
                <a:latin typeface="Comic Sans MS" panose="030F0702030302020204" pitchFamily="66" charset="0"/>
                <a:sym typeface="Wingdings 2" panose="05020102010507070707" pitchFamily="18" charset="2"/>
              </a:rPr>
              <a:t></a:t>
            </a:r>
            <a:r>
              <a:rPr lang="el-GR" altLang="zh-TW" sz="4000" b="1">
                <a:solidFill>
                  <a:srgbClr val="0000FF"/>
                </a:solidFill>
              </a:rPr>
              <a:t> η</a:t>
            </a:r>
            <a:r>
              <a:rPr lang="en-US" altLang="zh-TW" sz="3800"/>
              <a:t>  </a:t>
            </a:r>
          </a:p>
        </p:txBody>
      </p:sp>
      <p:sp>
        <p:nvSpPr>
          <p:cNvPr id="282628" name="Rectangle 3">
            <a:extLst>
              <a:ext uri="{FF2B5EF4-FFF2-40B4-BE49-F238E27FC236}">
                <a16:creationId xmlns:a16="http://schemas.microsoft.com/office/drawing/2014/main" id="{22CB54ED-CF2C-4C90-AE37-2440B5C0C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Given </a:t>
            </a:r>
          </a:p>
          <a:p>
            <a:pPr eaLnBrk="1" hangingPunct="1"/>
            <a:r>
              <a:rPr lang="en-US" altLang="zh-TW" sz="2800"/>
              <a:t>a Kripke structure </a:t>
            </a:r>
            <a:r>
              <a:rPr lang="en-US" altLang="zh-TW">
                <a:solidFill>
                  <a:schemeClr val="tx2"/>
                </a:solidFill>
              </a:rPr>
              <a:t>A = (</a:t>
            </a:r>
            <a:r>
              <a:rPr lang="en-US" altLang="zh-TW"/>
              <a:t>S</a:t>
            </a:r>
            <a:r>
              <a:rPr lang="en-US" altLang="zh-TW">
                <a:solidFill>
                  <a:schemeClr val="tx2"/>
                </a:solidFill>
              </a:rPr>
              <a:t>, </a:t>
            </a:r>
            <a:r>
              <a:rPr lang="en-US" altLang="zh-TW"/>
              <a:t>S</a:t>
            </a:r>
            <a:r>
              <a:rPr lang="en-US" altLang="zh-TW" baseline="-25000"/>
              <a:t>0</a:t>
            </a:r>
            <a:r>
              <a:rPr lang="en-US" altLang="zh-TW">
                <a:solidFill>
                  <a:schemeClr val="tx2"/>
                </a:solidFill>
              </a:rPr>
              <a:t>, </a:t>
            </a:r>
            <a:r>
              <a:rPr lang="en-US" altLang="zh-TW"/>
              <a:t>R</a:t>
            </a:r>
            <a:r>
              <a:rPr lang="en-US" altLang="zh-TW">
                <a:solidFill>
                  <a:schemeClr val="tx2"/>
                </a:solidFill>
              </a:rPr>
              <a:t>, L)</a:t>
            </a:r>
            <a:endParaRPr lang="en-US" altLang="zh-TW"/>
          </a:p>
          <a:p>
            <a:pPr eaLnBrk="1" hangingPunct="1"/>
            <a:r>
              <a:rPr lang="en-US" altLang="zh-TW" sz="2800"/>
              <a:t>an inevitability predicate </a:t>
            </a:r>
            <a:r>
              <a:rPr lang="el-GR" altLang="zh-TW" b="1">
                <a:solidFill>
                  <a:srgbClr val="0000FF"/>
                </a:solidFill>
              </a:rPr>
              <a:t>η</a:t>
            </a:r>
            <a:r>
              <a:rPr lang="en-US" altLang="zh-TW" sz="2800">
                <a:cs typeface="Arial" panose="020B0604020202020204" pitchFamily="34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can </a:t>
            </a:r>
            <a:r>
              <a:rPr lang="el-GR" altLang="zh-TW" b="1">
                <a:solidFill>
                  <a:srgbClr val="0000FF"/>
                </a:solidFill>
              </a:rPr>
              <a:t>η</a:t>
            </a:r>
            <a:r>
              <a:rPr lang="en-US" altLang="zh-TW" sz="2800">
                <a:cs typeface="Arial" panose="020B0604020202020204" pitchFamily="34" charset="0"/>
              </a:rPr>
              <a:t> be true eventually ?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8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Example: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Can the computer be started successfully ?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cs typeface="Arial" panose="020B0604020202020204" pitchFamily="34" charset="0"/>
              </a:rPr>
              <a:t>Will the alarm sound in case of fire ? </a:t>
            </a:r>
            <a:endParaRPr lang="el-GR" altLang="zh-TW" sz="2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投影片編號版面配置區 5">
            <a:extLst>
              <a:ext uri="{FF2B5EF4-FFF2-40B4-BE49-F238E27FC236}">
                <a16:creationId xmlns:a16="http://schemas.microsoft.com/office/drawing/2014/main" id="{6CEB502D-C60F-40F6-906D-0BBD79E616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4080AC-6C98-4FD5-9375-36615778DA6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4675" name="Rectangle 2">
            <a:extLst>
              <a:ext uri="{FF2B5EF4-FFF2-40B4-BE49-F238E27FC236}">
                <a16:creationId xmlns:a16="http://schemas.microsoft.com/office/drawing/2014/main" id="{439DB79C-BF4A-4573-8633-9AD0F6709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2954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inevitability analysis  </a:t>
            </a:r>
          </a:p>
        </p:txBody>
      </p:sp>
      <p:sp>
        <p:nvSpPr>
          <p:cNvPr id="284676" name="Rectangle 3">
            <a:extLst>
              <a:ext uri="{FF2B5EF4-FFF2-40B4-BE49-F238E27FC236}">
                <a16:creationId xmlns:a16="http://schemas.microsoft.com/office/drawing/2014/main" id="{E89E5249-6A5D-4FEC-BFE5-791777CD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Strongly connected component algorithm in graph theory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Given </a:t>
            </a:r>
          </a:p>
          <a:p>
            <a:pPr eaLnBrk="1" hangingPunct="1"/>
            <a:r>
              <a:rPr lang="en-US" altLang="zh-TW" sz="2400"/>
              <a:t>a Kripke structure </a:t>
            </a:r>
            <a:r>
              <a:rPr lang="en-US" altLang="zh-TW" sz="2600">
                <a:solidFill>
                  <a:schemeClr val="tx2"/>
                </a:solidFill>
              </a:rPr>
              <a:t>A = (</a:t>
            </a:r>
            <a:r>
              <a:rPr lang="en-US" altLang="zh-TW" sz="2600"/>
              <a:t>S</a:t>
            </a:r>
            <a:r>
              <a:rPr lang="en-US" altLang="zh-TW" sz="2600">
                <a:solidFill>
                  <a:schemeClr val="tx2"/>
                </a:solidFill>
              </a:rPr>
              <a:t>, </a:t>
            </a:r>
            <a:r>
              <a:rPr lang="en-US" altLang="zh-TW" sz="2600"/>
              <a:t>S</a:t>
            </a:r>
            <a:r>
              <a:rPr lang="en-US" altLang="zh-TW" sz="2600" baseline="-25000"/>
              <a:t>0</a:t>
            </a:r>
            <a:r>
              <a:rPr lang="en-US" altLang="zh-TW" sz="2600">
                <a:solidFill>
                  <a:schemeClr val="tx2"/>
                </a:solidFill>
              </a:rPr>
              <a:t>, </a:t>
            </a:r>
            <a:r>
              <a:rPr lang="en-US" altLang="zh-TW" sz="2600"/>
              <a:t>R</a:t>
            </a:r>
            <a:r>
              <a:rPr lang="en-US" altLang="zh-TW" sz="2600">
                <a:solidFill>
                  <a:schemeClr val="tx2"/>
                </a:solidFill>
              </a:rPr>
              <a:t>, L)</a:t>
            </a:r>
            <a:endParaRPr lang="en-US" altLang="zh-TW" sz="2600"/>
          </a:p>
          <a:p>
            <a:pPr eaLnBrk="1" hangingPunct="1"/>
            <a:r>
              <a:rPr lang="en-US" altLang="zh-TW" sz="2400"/>
              <a:t>an inevitability predicate 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>
                <a:cs typeface="Arial" panose="020B0604020202020204" pitchFamily="34" charset="0"/>
              </a:rPr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cs typeface="Arial" panose="020B0604020202020204" pitchFamily="34" charset="0"/>
              </a:rPr>
              <a:t>find a cycle such that </a:t>
            </a:r>
          </a:p>
          <a:p>
            <a:pPr eaLnBrk="1" hangingPunct="1"/>
            <a:r>
              <a:rPr lang="en-US" altLang="zh-TW" sz="2400">
                <a:cs typeface="Arial" panose="020B0604020202020204" pitchFamily="34" charset="0"/>
              </a:rPr>
              <a:t>all states in the cycle are 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zh-TW" sz="2400">
                <a:cs typeface="Arial" panose="020B0604020202020204" pitchFamily="34" charset="0"/>
              </a:rPr>
              <a:t>there is a 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>
                <a:cs typeface="Arial" panose="020B0604020202020204" pitchFamily="34" charset="0"/>
              </a:rPr>
              <a:t> path from a state in </a:t>
            </a:r>
            <a:r>
              <a:rPr lang="en-US" altLang="zh-TW" sz="2600"/>
              <a:t>S</a:t>
            </a:r>
            <a:r>
              <a:rPr lang="en-US" altLang="zh-TW" sz="2600" baseline="-25000"/>
              <a:t>0</a:t>
            </a:r>
            <a:r>
              <a:rPr lang="en-US" altLang="zh-TW" sz="2400">
                <a:cs typeface="Arial" panose="020B0604020202020204" pitchFamily="34" charset="0"/>
              </a:rPr>
              <a:t> to the cycle</a:t>
            </a:r>
            <a:r>
              <a:rPr lang="en-US" altLang="zh-TW" sz="2400"/>
              <a:t>.</a:t>
            </a:r>
            <a:r>
              <a:rPr lang="en-US" altLang="zh-TW" sz="2400" b="1">
                <a:solidFill>
                  <a:srgbClr val="0000FF"/>
                </a:solidFill>
              </a:rPr>
              <a:t>  </a:t>
            </a:r>
            <a:r>
              <a:rPr lang="en-US" altLang="zh-TW" sz="2400"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4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cs typeface="Arial" panose="020B0604020202020204" pitchFamily="34" charset="0"/>
              </a:rPr>
              <a:t>Solutions in graph theory</a:t>
            </a:r>
          </a:p>
          <a:p>
            <a:pPr eaLnBrk="1" hangingPunct="1"/>
            <a:r>
              <a:rPr lang="en-US" altLang="zh-TW" sz="2400">
                <a:cs typeface="Arial" panose="020B0604020202020204" pitchFamily="34" charset="0"/>
              </a:rPr>
              <a:t>strongly connected components (SCC) 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投影片編號版面配置區 5">
            <a:extLst>
              <a:ext uri="{FF2B5EF4-FFF2-40B4-BE49-F238E27FC236}">
                <a16:creationId xmlns:a16="http://schemas.microsoft.com/office/drawing/2014/main" id="{ABF097B0-2F0F-4F91-B643-41E240723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838A38-2545-479D-98CB-BF47C3A954E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6723" name="Rectangle 2">
            <a:extLst>
              <a:ext uri="{FF2B5EF4-FFF2-40B4-BE49-F238E27FC236}">
                <a16:creationId xmlns:a16="http://schemas.microsoft.com/office/drawing/2014/main" id="{867C438E-AEA9-4EF6-920F-40AB688D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zh-TW" altLang="zh-TW" sz="1800">
              <a:latin typeface="Tahoma" panose="020B0604030504040204" pitchFamily="34" charset="0"/>
            </a:endParaRPr>
          </a:p>
        </p:txBody>
      </p:sp>
      <p:sp>
        <p:nvSpPr>
          <p:cNvPr id="286724" name="Rectangle 3">
            <a:extLst>
              <a:ext uri="{FF2B5EF4-FFF2-40B4-BE49-F238E27FC236}">
                <a16:creationId xmlns:a16="http://schemas.microsoft.com/office/drawing/2014/main" id="{0B025046-E0D3-4A66-A1A6-98AD24E30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zh-TW" altLang="zh-TW" sz="1800">
              <a:latin typeface="Tahoma" panose="020B0604030504040204" pitchFamily="34" charset="0"/>
            </a:endParaRPr>
          </a:p>
        </p:txBody>
      </p:sp>
      <p:sp>
        <p:nvSpPr>
          <p:cNvPr id="286725" name="Rectangle 4">
            <a:extLst>
              <a:ext uri="{FF2B5EF4-FFF2-40B4-BE49-F238E27FC236}">
                <a16:creationId xmlns:a16="http://schemas.microsoft.com/office/drawing/2014/main" id="{353C0E5F-31A4-4310-960B-201603147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0104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inevitability analysis</a:t>
            </a:r>
            <a:endParaRPr lang="en-US" altLang="he-IL" sz="3800"/>
          </a:p>
        </p:txBody>
      </p:sp>
      <p:grpSp>
        <p:nvGrpSpPr>
          <p:cNvPr id="286726" name="Group 5">
            <a:extLst>
              <a:ext uri="{FF2B5EF4-FFF2-40B4-BE49-F238E27FC236}">
                <a16:creationId xmlns:a16="http://schemas.microsoft.com/office/drawing/2014/main" id="{10F18F46-D81D-4905-9D92-EF13AC76F50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114800"/>
            <a:ext cx="2971800" cy="2057400"/>
            <a:chOff x="384" y="2592"/>
            <a:chExt cx="1872" cy="1296"/>
          </a:xfrm>
        </p:grpSpPr>
        <p:grpSp>
          <p:nvGrpSpPr>
            <p:cNvPr id="286775" name="Group 6">
              <a:extLst>
                <a:ext uri="{FF2B5EF4-FFF2-40B4-BE49-F238E27FC236}">
                  <a16:creationId xmlns:a16="http://schemas.microsoft.com/office/drawing/2014/main" id="{D01FB273-C587-4C7D-BBEA-096F1E454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398"/>
              <a:ext cx="864" cy="490"/>
              <a:chOff x="1392" y="3072"/>
              <a:chExt cx="864" cy="528"/>
            </a:xfrm>
          </p:grpSpPr>
          <p:sp>
            <p:nvSpPr>
              <p:cNvPr id="286787" name="AutoShape 7">
                <a:extLst>
                  <a:ext uri="{FF2B5EF4-FFF2-40B4-BE49-F238E27FC236}">
                    <a16:creationId xmlns:a16="http://schemas.microsoft.com/office/drawing/2014/main" id="{66AE1CB6-70EF-4D69-A466-EA0792CAA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072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88" name="Rectangle 8">
                <a:extLst>
                  <a:ext uri="{FF2B5EF4-FFF2-40B4-BE49-F238E27FC236}">
                    <a16:creationId xmlns:a16="http://schemas.microsoft.com/office/drawing/2014/main" id="{7D18764E-F93F-4B3A-B3D8-78DA07063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3120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CR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76" name="Group 9">
              <a:extLst>
                <a:ext uri="{FF2B5EF4-FFF2-40B4-BE49-F238E27FC236}">
                  <a16:creationId xmlns:a16="http://schemas.microsoft.com/office/drawing/2014/main" id="{8457B1C1-507E-4BE0-8D14-7455A9BCA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774"/>
              <a:ext cx="864" cy="490"/>
              <a:chOff x="912" y="2448"/>
              <a:chExt cx="864" cy="528"/>
            </a:xfrm>
          </p:grpSpPr>
          <p:sp>
            <p:nvSpPr>
              <p:cNvPr id="286785" name="AutoShape 10">
                <a:extLst>
                  <a:ext uri="{FF2B5EF4-FFF2-40B4-BE49-F238E27FC236}">
                    <a16:creationId xmlns:a16="http://schemas.microsoft.com/office/drawing/2014/main" id="{BC150BED-8100-4908-9524-994C58800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448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86" name="Rectangle 11">
                <a:extLst>
                  <a:ext uri="{FF2B5EF4-FFF2-40B4-BE49-F238E27FC236}">
                    <a16:creationId xmlns:a16="http://schemas.microsoft.com/office/drawing/2014/main" id="{7816EEF0-A8D1-42BA-85DA-83CDB44F8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496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77" name="Group 12">
              <a:extLst>
                <a:ext uri="{FF2B5EF4-FFF2-40B4-BE49-F238E27FC236}">
                  <a16:creationId xmlns:a16="http://schemas.microsoft.com/office/drawing/2014/main" id="{9D9E1010-E48F-4127-972C-E2E483E27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774"/>
              <a:ext cx="864" cy="490"/>
              <a:chOff x="1920" y="2448"/>
              <a:chExt cx="864" cy="528"/>
            </a:xfrm>
          </p:grpSpPr>
          <p:sp>
            <p:nvSpPr>
              <p:cNvPr id="286783" name="AutoShape 13">
                <a:extLst>
                  <a:ext uri="{FF2B5EF4-FFF2-40B4-BE49-F238E27FC236}">
                    <a16:creationId xmlns:a16="http://schemas.microsoft.com/office/drawing/2014/main" id="{64C21CD5-F024-4B98-8F67-EA0015633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48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84" name="Rectangle 14">
                <a:extLst>
                  <a:ext uri="{FF2B5EF4-FFF2-40B4-BE49-F238E27FC236}">
                    <a16:creationId xmlns:a16="http://schemas.microsoft.com/office/drawing/2014/main" id="{05E802C2-3671-4A06-8677-41AFA0EE5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96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CR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86778" name="Line 15">
              <a:extLst>
                <a:ext uri="{FF2B5EF4-FFF2-40B4-BE49-F238E27FC236}">
                  <a16:creationId xmlns:a16="http://schemas.microsoft.com/office/drawing/2014/main" id="{3231EE0D-B09E-4159-B6A3-58FBF125A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79" name="Line 16">
              <a:extLst>
                <a:ext uri="{FF2B5EF4-FFF2-40B4-BE49-F238E27FC236}">
                  <a16:creationId xmlns:a16="http://schemas.microsoft.com/office/drawing/2014/main" id="{70F7FBED-BF88-4E66-B0A2-47D70C6A0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80" name="Line 17">
              <a:extLst>
                <a:ext uri="{FF2B5EF4-FFF2-40B4-BE49-F238E27FC236}">
                  <a16:creationId xmlns:a16="http://schemas.microsoft.com/office/drawing/2014/main" id="{806DD426-B69F-4E7C-A574-2AFCDCF8B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264"/>
              <a:ext cx="576" cy="3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81" name="Line 18">
              <a:extLst>
                <a:ext uri="{FF2B5EF4-FFF2-40B4-BE49-F238E27FC236}">
                  <a16:creationId xmlns:a16="http://schemas.microsoft.com/office/drawing/2014/main" id="{510DF6C6-0BCE-4450-90A7-6066A6106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26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82" name="Line 19">
              <a:extLst>
                <a:ext uri="{FF2B5EF4-FFF2-40B4-BE49-F238E27FC236}">
                  <a16:creationId xmlns:a16="http://schemas.microsoft.com/office/drawing/2014/main" id="{802B989D-818B-4806-BF24-27BFDDA047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592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286727" name="Group 20">
            <a:extLst>
              <a:ext uri="{FF2B5EF4-FFF2-40B4-BE49-F238E27FC236}">
                <a16:creationId xmlns:a16="http://schemas.microsoft.com/office/drawing/2014/main" id="{BFE9F53F-BA61-457E-92B5-143414247A57}"/>
              </a:ext>
            </a:extLst>
          </p:cNvPr>
          <p:cNvGrpSpPr>
            <a:grpSpLocks/>
          </p:cNvGrpSpPr>
          <p:nvPr/>
        </p:nvGrpSpPr>
        <p:grpSpPr bwMode="auto">
          <a:xfrm>
            <a:off x="5313363" y="4191000"/>
            <a:ext cx="2916237" cy="1981200"/>
            <a:chOff x="3347" y="2640"/>
            <a:chExt cx="1837" cy="1248"/>
          </a:xfrm>
        </p:grpSpPr>
        <p:grpSp>
          <p:nvGrpSpPr>
            <p:cNvPr id="286761" name="Group 21">
              <a:extLst>
                <a:ext uri="{FF2B5EF4-FFF2-40B4-BE49-F238E27FC236}">
                  <a16:creationId xmlns:a16="http://schemas.microsoft.com/office/drawing/2014/main" id="{6DCDE2B3-2C68-4E4D-B25A-A1E3A0B193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" y="2765"/>
              <a:ext cx="850" cy="490"/>
              <a:chOff x="2880" y="2448"/>
              <a:chExt cx="850" cy="528"/>
            </a:xfrm>
          </p:grpSpPr>
          <p:sp>
            <p:nvSpPr>
              <p:cNvPr id="286773" name="AutoShape 22">
                <a:extLst>
                  <a:ext uri="{FF2B5EF4-FFF2-40B4-BE49-F238E27FC236}">
                    <a16:creationId xmlns:a16="http://schemas.microsoft.com/office/drawing/2014/main" id="{01AC4495-83F6-4AEA-BF84-08951CC11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448"/>
                <a:ext cx="850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74" name="Rectangle 23">
                <a:extLst>
                  <a:ext uri="{FF2B5EF4-FFF2-40B4-BE49-F238E27FC236}">
                    <a16:creationId xmlns:a16="http://schemas.microsoft.com/office/drawing/2014/main" id="{7894EB56-F55F-4AA3-909A-18B3C8B08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2496"/>
                <a:ext cx="70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,CR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62" name="Group 24">
              <a:extLst>
                <a:ext uri="{FF2B5EF4-FFF2-40B4-BE49-F238E27FC236}">
                  <a16:creationId xmlns:a16="http://schemas.microsoft.com/office/drawing/2014/main" id="{194FF037-4157-4EA5-9D41-BDE78A39D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398"/>
              <a:ext cx="850" cy="490"/>
              <a:chOff x="3408" y="3072"/>
              <a:chExt cx="850" cy="528"/>
            </a:xfrm>
          </p:grpSpPr>
          <p:sp>
            <p:nvSpPr>
              <p:cNvPr id="286771" name="AutoShape 25">
                <a:extLst>
                  <a:ext uri="{FF2B5EF4-FFF2-40B4-BE49-F238E27FC236}">
                    <a16:creationId xmlns:a16="http://schemas.microsoft.com/office/drawing/2014/main" id="{FA3B1365-CD22-47F5-B770-D8920E982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850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72" name="Rectangle 26">
                <a:extLst>
                  <a:ext uri="{FF2B5EF4-FFF2-40B4-BE49-F238E27FC236}">
                    <a16:creationId xmlns:a16="http://schemas.microsoft.com/office/drawing/2014/main" id="{7366401D-1B6D-4C5B-A74E-78EB82836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2" y="3120"/>
                <a:ext cx="70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,CR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63" name="Group 27">
              <a:extLst>
                <a:ext uri="{FF2B5EF4-FFF2-40B4-BE49-F238E27FC236}">
                  <a16:creationId xmlns:a16="http://schemas.microsoft.com/office/drawing/2014/main" id="{1E20EC6A-C400-46E3-81DF-E7BA1139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5" y="2765"/>
              <a:ext cx="849" cy="490"/>
              <a:chOff x="3868" y="2448"/>
              <a:chExt cx="849" cy="528"/>
            </a:xfrm>
          </p:grpSpPr>
          <p:sp>
            <p:nvSpPr>
              <p:cNvPr id="286769" name="AutoShape 28">
                <a:extLst>
                  <a:ext uri="{FF2B5EF4-FFF2-40B4-BE49-F238E27FC236}">
                    <a16:creationId xmlns:a16="http://schemas.microsoft.com/office/drawing/2014/main" id="{FCB98C2D-BF0D-4490-8F8D-6D2F9166C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8" y="2448"/>
                <a:ext cx="849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70" name="Rectangle 29">
                <a:extLst>
                  <a:ext uri="{FF2B5EF4-FFF2-40B4-BE49-F238E27FC236}">
                    <a16:creationId xmlns:a16="http://schemas.microsoft.com/office/drawing/2014/main" id="{04538A74-6344-414F-AC44-610ACF538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" y="2496"/>
                <a:ext cx="708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86764" name="Line 30">
              <a:extLst>
                <a:ext uri="{FF2B5EF4-FFF2-40B4-BE49-F238E27FC236}">
                  <a16:creationId xmlns:a16="http://schemas.microsoft.com/office/drawing/2014/main" id="{326B1A4E-D3B0-4AE7-8B46-3716F3B884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264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65" name="Freeform 31">
              <a:extLst>
                <a:ext uri="{FF2B5EF4-FFF2-40B4-BE49-F238E27FC236}">
                  <a16:creationId xmlns:a16="http://schemas.microsoft.com/office/drawing/2014/main" id="{DC4D0C2F-3069-4F7B-8D4F-D7278760B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644"/>
              <a:ext cx="1" cy="133"/>
            </a:xfrm>
            <a:custGeom>
              <a:avLst/>
              <a:gdLst>
                <a:gd name="T0" fmla="*/ 0 w 1"/>
                <a:gd name="T1" fmla="*/ 0 h 133"/>
                <a:gd name="T2" fmla="*/ 0 w 1"/>
                <a:gd name="T3" fmla="*/ 133 h 133"/>
                <a:gd name="T4" fmla="*/ 0 60000 65536"/>
                <a:gd name="T5" fmla="*/ 0 60000 65536"/>
                <a:gd name="T6" fmla="*/ 0 w 1"/>
                <a:gd name="T7" fmla="*/ 0 h 133"/>
                <a:gd name="T8" fmla="*/ 1 w 1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33">
                  <a:moveTo>
                    <a:pt x="0" y="0"/>
                  </a:moveTo>
                  <a:lnTo>
                    <a:pt x="0" y="13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66" name="Line 32">
              <a:extLst>
                <a:ext uri="{FF2B5EF4-FFF2-40B4-BE49-F238E27FC236}">
                  <a16:creationId xmlns:a16="http://schemas.microsoft.com/office/drawing/2014/main" id="{2BF92287-FD53-4D01-B86E-36D4AEB42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26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67" name="Line 33">
              <a:extLst>
                <a:ext uri="{FF2B5EF4-FFF2-40B4-BE49-F238E27FC236}">
                  <a16:creationId xmlns:a16="http://schemas.microsoft.com/office/drawing/2014/main" id="{1E26F957-F734-472E-A91D-AC80938842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264"/>
              <a:ext cx="48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68" name="Freeform 34">
              <a:extLst>
                <a:ext uri="{FF2B5EF4-FFF2-40B4-BE49-F238E27FC236}">
                  <a16:creationId xmlns:a16="http://schemas.microsoft.com/office/drawing/2014/main" id="{2E48F615-A75A-448A-86A3-8568EDBED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640"/>
              <a:ext cx="181" cy="137"/>
            </a:xfrm>
            <a:custGeom>
              <a:avLst/>
              <a:gdLst>
                <a:gd name="T0" fmla="*/ 0 w 181"/>
                <a:gd name="T1" fmla="*/ 0 h 137"/>
                <a:gd name="T2" fmla="*/ 181 w 181"/>
                <a:gd name="T3" fmla="*/ 137 h 137"/>
                <a:gd name="T4" fmla="*/ 0 60000 65536"/>
                <a:gd name="T5" fmla="*/ 0 60000 65536"/>
                <a:gd name="T6" fmla="*/ 0 w 181"/>
                <a:gd name="T7" fmla="*/ 0 h 137"/>
                <a:gd name="T8" fmla="*/ 181 w 181"/>
                <a:gd name="T9" fmla="*/ 137 h 1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1" h="137">
                  <a:moveTo>
                    <a:pt x="0" y="0"/>
                  </a:moveTo>
                  <a:lnTo>
                    <a:pt x="181" y="1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286728" name="Group 35">
            <a:extLst>
              <a:ext uri="{FF2B5EF4-FFF2-40B4-BE49-F238E27FC236}">
                <a16:creationId xmlns:a16="http://schemas.microsoft.com/office/drawing/2014/main" id="{A157E8DB-99E1-409C-BD27-41B92172FE6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071688"/>
            <a:ext cx="2971800" cy="2109787"/>
            <a:chOff x="384" y="1305"/>
            <a:chExt cx="1872" cy="1329"/>
          </a:xfrm>
        </p:grpSpPr>
        <p:grpSp>
          <p:nvGrpSpPr>
            <p:cNvPr id="286749" name="Group 36">
              <a:extLst>
                <a:ext uri="{FF2B5EF4-FFF2-40B4-BE49-F238E27FC236}">
                  <a16:creationId xmlns:a16="http://schemas.microsoft.com/office/drawing/2014/main" id="{3C817317-5070-40B4-BD15-375CAA001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527"/>
              <a:ext cx="864" cy="489"/>
              <a:chOff x="912" y="1200"/>
              <a:chExt cx="864" cy="528"/>
            </a:xfrm>
          </p:grpSpPr>
          <p:sp>
            <p:nvSpPr>
              <p:cNvPr id="286759" name="AutoShape 37">
                <a:extLst>
                  <a:ext uri="{FF2B5EF4-FFF2-40B4-BE49-F238E27FC236}">
                    <a16:creationId xmlns:a16="http://schemas.microsoft.com/office/drawing/2014/main" id="{B0D78319-2B15-4D12-B963-8D4711C9E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200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60" name="Rectangle 38">
                <a:extLst>
                  <a:ext uri="{FF2B5EF4-FFF2-40B4-BE49-F238E27FC236}">
                    <a16:creationId xmlns:a16="http://schemas.microsoft.com/office/drawing/2014/main" id="{D95361F2-148E-4FC3-A207-086B535B3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49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50" name="Group 39">
              <a:extLst>
                <a:ext uri="{FF2B5EF4-FFF2-40B4-BE49-F238E27FC236}">
                  <a16:creationId xmlns:a16="http://schemas.microsoft.com/office/drawing/2014/main" id="{BE965C2F-2DE7-4D80-8730-BB6F4AEDB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145"/>
              <a:ext cx="864" cy="489"/>
              <a:chOff x="384" y="1824"/>
              <a:chExt cx="864" cy="528"/>
            </a:xfrm>
          </p:grpSpPr>
          <p:sp>
            <p:nvSpPr>
              <p:cNvPr id="286757" name="AutoShape 40">
                <a:extLst>
                  <a:ext uri="{FF2B5EF4-FFF2-40B4-BE49-F238E27FC236}">
                    <a16:creationId xmlns:a16="http://schemas.microsoft.com/office/drawing/2014/main" id="{FC0D7EF6-09CA-4E57-857B-D62CE59A5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824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58" name="Rectangle 41">
                <a:extLst>
                  <a:ext uri="{FF2B5EF4-FFF2-40B4-BE49-F238E27FC236}">
                    <a16:creationId xmlns:a16="http://schemas.microsoft.com/office/drawing/2014/main" id="{FCC90FB8-2EBD-42E4-B753-5A8940F5E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872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51" name="Group 42">
              <a:extLst>
                <a:ext uri="{FF2B5EF4-FFF2-40B4-BE49-F238E27FC236}">
                  <a16:creationId xmlns:a16="http://schemas.microsoft.com/office/drawing/2014/main" id="{A4B9F52B-0768-4052-B20F-C6CD1CBC4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145"/>
              <a:ext cx="864" cy="489"/>
              <a:chOff x="1392" y="1824"/>
              <a:chExt cx="864" cy="528"/>
            </a:xfrm>
          </p:grpSpPr>
          <p:sp>
            <p:nvSpPr>
              <p:cNvPr id="286755" name="AutoShape 43">
                <a:extLst>
                  <a:ext uri="{FF2B5EF4-FFF2-40B4-BE49-F238E27FC236}">
                    <a16:creationId xmlns:a16="http://schemas.microsoft.com/office/drawing/2014/main" id="{3E2B51DC-1706-4A0C-8B2E-EA4CEBF53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864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56" name="Rectangle 44">
                <a:extLst>
                  <a:ext uri="{FF2B5EF4-FFF2-40B4-BE49-F238E27FC236}">
                    <a16:creationId xmlns:a16="http://schemas.microsoft.com/office/drawing/2014/main" id="{3B466272-6801-49D1-AC45-31C341E58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872"/>
                <a:ext cx="720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fol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Turn=0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86752" name="Line 45">
              <a:extLst>
                <a:ext uri="{FF2B5EF4-FFF2-40B4-BE49-F238E27FC236}">
                  <a16:creationId xmlns:a16="http://schemas.microsoft.com/office/drawing/2014/main" id="{6F60209F-479C-4E5A-AE01-2222397D4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53" name="Line 46">
              <a:extLst>
                <a:ext uri="{FF2B5EF4-FFF2-40B4-BE49-F238E27FC236}">
                  <a16:creationId xmlns:a16="http://schemas.microsoft.com/office/drawing/2014/main" id="{60896681-686F-4FF9-9A0A-098949578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5" y="2016"/>
              <a:ext cx="1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54" name="Line 47">
              <a:extLst>
                <a:ext uri="{FF2B5EF4-FFF2-40B4-BE49-F238E27FC236}">
                  <a16:creationId xmlns:a16="http://schemas.microsoft.com/office/drawing/2014/main" id="{96DF65EF-7A14-42F5-B5CE-8F5201701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305"/>
              <a:ext cx="0" cy="2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286729" name="Group 48">
            <a:extLst>
              <a:ext uri="{FF2B5EF4-FFF2-40B4-BE49-F238E27FC236}">
                <a16:creationId xmlns:a16="http://schemas.microsoft.com/office/drawing/2014/main" id="{1F742EE1-C96E-4D1D-96C4-C3900CC50045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057400"/>
            <a:ext cx="2949575" cy="2124075"/>
            <a:chOff x="3360" y="1296"/>
            <a:chExt cx="1858" cy="1338"/>
          </a:xfrm>
        </p:grpSpPr>
        <p:grpSp>
          <p:nvGrpSpPr>
            <p:cNvPr id="286737" name="Group 49">
              <a:extLst>
                <a:ext uri="{FF2B5EF4-FFF2-40B4-BE49-F238E27FC236}">
                  <a16:creationId xmlns:a16="http://schemas.microsoft.com/office/drawing/2014/main" id="{F5BAEC49-B28B-4069-A1BC-39C9B23E70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45"/>
              <a:ext cx="849" cy="489"/>
              <a:chOff x="3360" y="1824"/>
              <a:chExt cx="849" cy="528"/>
            </a:xfrm>
          </p:grpSpPr>
          <p:sp>
            <p:nvSpPr>
              <p:cNvPr id="286747" name="AutoShape 50">
                <a:extLst>
                  <a:ext uri="{FF2B5EF4-FFF2-40B4-BE49-F238E27FC236}">
                    <a16:creationId xmlns:a16="http://schemas.microsoft.com/office/drawing/2014/main" id="{B8A30B56-D373-41FD-A4BD-873EF8B64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824"/>
                <a:ext cx="849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48" name="Rectangle 51">
                <a:extLst>
                  <a:ext uri="{FF2B5EF4-FFF2-40B4-BE49-F238E27FC236}">
                    <a16:creationId xmlns:a16="http://schemas.microsoft.com/office/drawing/2014/main" id="{A75B8C40-22BF-4F17-A9A7-41606D82C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4" y="1872"/>
                <a:ext cx="708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38" name="Group 52">
              <a:extLst>
                <a:ext uri="{FF2B5EF4-FFF2-40B4-BE49-F238E27FC236}">
                  <a16:creationId xmlns:a16="http://schemas.microsoft.com/office/drawing/2014/main" id="{2ECC5CF4-0D6C-432C-9C4E-22A27E2DB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145"/>
              <a:ext cx="850" cy="489"/>
              <a:chOff x="4368" y="1824"/>
              <a:chExt cx="850" cy="528"/>
            </a:xfrm>
          </p:grpSpPr>
          <p:sp>
            <p:nvSpPr>
              <p:cNvPr id="286745" name="AutoShape 53">
                <a:extLst>
                  <a:ext uri="{FF2B5EF4-FFF2-40B4-BE49-F238E27FC236}">
                    <a16:creationId xmlns:a16="http://schemas.microsoft.com/office/drawing/2014/main" id="{ABEA2251-3C72-48EA-8DE8-1D044CBD9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824"/>
                <a:ext cx="850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46" name="Rectangle 54">
                <a:extLst>
                  <a:ext uri="{FF2B5EF4-FFF2-40B4-BE49-F238E27FC236}">
                    <a16:creationId xmlns:a16="http://schemas.microsoft.com/office/drawing/2014/main" id="{116AFB7C-4C71-444F-8120-CDB9ACBEF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2" y="1872"/>
                <a:ext cx="70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NC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86739" name="Group 55">
              <a:extLst>
                <a:ext uri="{FF2B5EF4-FFF2-40B4-BE49-F238E27FC236}">
                  <a16:creationId xmlns:a16="http://schemas.microsoft.com/office/drawing/2014/main" id="{EE2F8A04-A437-4937-8358-88F2D883B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0" y="1518"/>
              <a:ext cx="850" cy="489"/>
              <a:chOff x="3820" y="1200"/>
              <a:chExt cx="850" cy="528"/>
            </a:xfrm>
          </p:grpSpPr>
          <p:sp>
            <p:nvSpPr>
              <p:cNvPr id="286743" name="AutoShape 56">
                <a:extLst>
                  <a:ext uri="{FF2B5EF4-FFF2-40B4-BE49-F238E27FC236}">
                    <a16:creationId xmlns:a16="http://schemas.microsoft.com/office/drawing/2014/main" id="{6621BD8D-F099-4B0D-B545-948AB1A9E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0" y="1200"/>
                <a:ext cx="850" cy="528"/>
              </a:xfrm>
              <a:prstGeom prst="roundRect">
                <a:avLst>
                  <a:gd name="adj" fmla="val 16657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TW" altLang="zh-TW" sz="1800">
                  <a:latin typeface="Tahoma" panose="020B0604030504040204" pitchFamily="34" charset="0"/>
                </a:endParaRPr>
              </a:p>
            </p:txBody>
          </p:sp>
          <p:sp>
            <p:nvSpPr>
              <p:cNvPr id="286744" name="Rectangle 57">
                <a:extLst>
                  <a:ext uri="{FF2B5EF4-FFF2-40B4-BE49-F238E27FC236}">
                    <a16:creationId xmlns:a16="http://schemas.microsoft.com/office/drawing/2014/main" id="{BB68E61B-39A7-478B-B851-9C12EF3C2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1248"/>
                <a:ext cx="70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solidFill>
                      <a:schemeClr val="hlink"/>
                    </a:solidFill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Turn=1</a:t>
                </a:r>
              </a:p>
              <a:p>
                <a:pPr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he-IL" sz="1800">
                    <a:latin typeface="Times New Roman" panose="02020603050405020304" pitchFamily="18" charset="0"/>
                    <a:ea typeface="Times New Roman (Hebrew)"/>
                    <a:cs typeface="Times New Roman (Hebrew)"/>
                  </a:rPr>
                  <a:t>,L</a:t>
                </a:r>
                <a:r>
                  <a:rPr kumimoji="0" lang="en-US" altLang="he-IL" sz="1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86740" name="Line 58">
              <a:extLst>
                <a:ext uri="{FF2B5EF4-FFF2-40B4-BE49-F238E27FC236}">
                  <a16:creationId xmlns:a16="http://schemas.microsoft.com/office/drawing/2014/main" id="{36A1D237-2E53-4925-9385-3CC3436FD1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41" name="Line 59">
              <a:extLst>
                <a:ext uri="{FF2B5EF4-FFF2-40B4-BE49-F238E27FC236}">
                  <a16:creationId xmlns:a16="http://schemas.microsoft.com/office/drawing/2014/main" id="{D6DF3751-22BD-4EF0-9A3A-4DD4BDAE3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296"/>
              <a:ext cx="0" cy="2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42" name="Line 60">
              <a:extLst>
                <a:ext uri="{FF2B5EF4-FFF2-40B4-BE49-F238E27FC236}">
                  <a16:creationId xmlns:a16="http://schemas.microsoft.com/office/drawing/2014/main" id="{3BF60E07-4083-4DE9-9323-33D26BFF0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286730" name="Group 61">
            <a:extLst>
              <a:ext uri="{FF2B5EF4-FFF2-40B4-BE49-F238E27FC236}">
                <a16:creationId xmlns:a16="http://schemas.microsoft.com/office/drawing/2014/main" id="{B1003E03-0C3A-4E5F-B4A4-C1DFF856BB2E}"/>
              </a:ext>
            </a:extLst>
          </p:cNvPr>
          <p:cNvGrpSpPr>
            <a:grpSpLocks/>
          </p:cNvGrpSpPr>
          <p:nvPr/>
        </p:nvGrpSpPr>
        <p:grpSpPr bwMode="auto">
          <a:xfrm>
            <a:off x="2820988" y="2768600"/>
            <a:ext cx="3275012" cy="3098800"/>
            <a:chOff x="1777" y="1744"/>
            <a:chExt cx="2063" cy="1952"/>
          </a:xfrm>
        </p:grpSpPr>
        <p:sp>
          <p:nvSpPr>
            <p:cNvPr id="286733" name="Line 62">
              <a:extLst>
                <a:ext uri="{FF2B5EF4-FFF2-40B4-BE49-F238E27FC236}">
                  <a16:creationId xmlns:a16="http://schemas.microsoft.com/office/drawing/2014/main" id="{9092E4B6-3507-45CB-BE93-9DCD9F77D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7" y="1744"/>
              <a:ext cx="1583" cy="1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34" name="Freeform 63">
              <a:extLst>
                <a:ext uri="{FF2B5EF4-FFF2-40B4-BE49-F238E27FC236}">
                  <a16:creationId xmlns:a16="http://schemas.microsoft.com/office/drawing/2014/main" id="{AE9B854A-5571-4C52-ABB7-49E979B40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1745"/>
              <a:ext cx="1573" cy="1231"/>
            </a:xfrm>
            <a:custGeom>
              <a:avLst/>
              <a:gdLst>
                <a:gd name="T0" fmla="*/ 0 w 1573"/>
                <a:gd name="T1" fmla="*/ 1231 h 1231"/>
                <a:gd name="T2" fmla="*/ 1573 w 1573"/>
                <a:gd name="T3" fmla="*/ 0 h 1231"/>
                <a:gd name="T4" fmla="*/ 0 60000 65536"/>
                <a:gd name="T5" fmla="*/ 0 60000 65536"/>
                <a:gd name="T6" fmla="*/ 0 w 1573"/>
                <a:gd name="T7" fmla="*/ 0 h 1231"/>
                <a:gd name="T8" fmla="*/ 1573 w 1573"/>
                <a:gd name="T9" fmla="*/ 1231 h 12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73" h="1231">
                  <a:moveTo>
                    <a:pt x="0" y="1231"/>
                  </a:moveTo>
                  <a:lnTo>
                    <a:pt x="1573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6735" name="Line 64">
              <a:extLst>
                <a:ext uri="{FF2B5EF4-FFF2-40B4-BE49-F238E27FC236}">
                  <a16:creationId xmlns:a16="http://schemas.microsoft.com/office/drawing/2014/main" id="{FE327524-1313-44B6-9492-43C32E867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448"/>
              <a:ext cx="1104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6736" name="Line 65">
              <a:extLst>
                <a:ext uri="{FF2B5EF4-FFF2-40B4-BE49-F238E27FC236}">
                  <a16:creationId xmlns:a16="http://schemas.microsoft.com/office/drawing/2014/main" id="{85FCF47D-5581-470A-A6FE-3910F65F28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2400"/>
              <a:ext cx="1104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86731" name="Text Box 66">
            <a:extLst>
              <a:ext uri="{FF2B5EF4-FFF2-40B4-BE49-F238E27FC236}">
                <a16:creationId xmlns:a16="http://schemas.microsoft.com/office/drawing/2014/main" id="{9B1F2A82-5A46-4DF8-8124-B1C9FFCF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17922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1800"/>
          </a:p>
        </p:txBody>
      </p:sp>
      <p:sp>
        <p:nvSpPr>
          <p:cNvPr id="286732" name="Text Box 67">
            <a:extLst>
              <a:ext uri="{FF2B5EF4-FFF2-40B4-BE49-F238E27FC236}">
                <a16:creationId xmlns:a16="http://schemas.microsoft.com/office/drawing/2014/main" id="{35EFE772-0373-48B9-87FC-60F34B733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600200"/>
            <a:ext cx="414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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en-US" sz="2400">
                <a:solidFill>
                  <a:schemeClr val="tx2"/>
                </a:solidFill>
              </a:rPr>
              <a:t> (</a:t>
            </a:r>
            <a:r>
              <a:rPr lang="en-US" altLang="he-IL" sz="2400">
                <a:solidFill>
                  <a:schemeClr val="tx2"/>
                </a:solidFill>
              </a:rPr>
              <a:t>Turn=0 </a:t>
            </a:r>
            <a:r>
              <a:rPr lang="en-US" altLang="zh-TW" sz="240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US" altLang="zh-TW" sz="240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TW" sz="2400" b="1">
                <a:solidFill>
                  <a:schemeClr val="tx2"/>
                </a:solidFill>
                <a:sym typeface="Wingdings 2" panose="05020102010507070707" pitchFamily="18" charset="2"/>
              </a:rPr>
              <a:t></a:t>
            </a:r>
            <a:r>
              <a:rPr lang="en-US" altLang="he-IL" sz="2400">
                <a:solidFill>
                  <a:schemeClr val="tx2"/>
                </a:solidFill>
              </a:rPr>
              <a:t> Turn=1)</a:t>
            </a:r>
            <a:endParaRPr lang="en-US" altLang="zh-TW" sz="24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投影片編號版面配置區 5">
            <a:extLst>
              <a:ext uri="{FF2B5EF4-FFF2-40B4-BE49-F238E27FC236}">
                <a16:creationId xmlns:a16="http://schemas.microsoft.com/office/drawing/2014/main" id="{5A5A50F3-FAE3-4276-9F42-ACD9467BDE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0724F8-EE6B-4F63-A4B9-DD6AB5A39AC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CC8D28D7-9B88-42E8-AC17-E7BFAC5AB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inevitability analysis</a:t>
            </a:r>
          </a:p>
        </p:txBody>
      </p:sp>
      <p:sp>
        <p:nvSpPr>
          <p:cNvPr id="288772" name="Rectangle 3">
            <a:extLst>
              <a:ext uri="{FF2B5EF4-FFF2-40B4-BE49-F238E27FC236}">
                <a16:creationId xmlns:a16="http://schemas.microsoft.com/office/drawing/2014/main" id="{A47DD474-AA39-450D-AB9A-4C48CADF4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inevitability(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/>
              <a:t>) /* using greatest fixpoint algorithm */ 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for all s, if 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L(s), L(s)=L(s)</a:t>
            </a:r>
            <a:r>
              <a:rPr lang="en-US" altLang="zh-TW" sz="2400">
                <a:sym typeface="Symbol" panose="05050102010706020507" pitchFamily="18" charset="2"/>
              </a:rPr>
              <a:t></a:t>
            </a:r>
            <a:r>
              <a:rPr lang="en-US" altLang="zh-TW" sz="2400"/>
              <a:t>{</a:t>
            </a: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for all s, if 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L(s) and </a:t>
            </a:r>
            <a:r>
              <a:rPr lang="en-US" altLang="zh-TW" b="1">
                <a:sym typeface="Symbol" panose="05050102010706020507" pitchFamily="18" charset="2"/>
              </a:rPr>
              <a:t></a:t>
            </a:r>
            <a:r>
              <a:rPr lang="en-US" altLang="zh-TW" sz="2400">
                <a:sym typeface="Symbol" panose="05050102010706020507" pitchFamily="18" charset="2"/>
              </a:rPr>
              <a:t>(s,s’)(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 b="1">
                <a:sym typeface="Euclid Symbol" pitchFamily="18" charset="2"/>
              </a:rPr>
              <a:t></a:t>
            </a:r>
            <a:r>
              <a:rPr lang="en-US" altLang="zh-TW" sz="2400"/>
              <a:t>L(s’)), </a:t>
            </a:r>
            <a:endParaRPr lang="en-US" altLang="zh-TW" sz="240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		L(s)=L(s) </a:t>
            </a:r>
            <a:r>
              <a:rPr lang="en-US" altLang="zh-TW" sz="2400">
                <a:sym typeface="Symbol" panose="05050102010706020507" pitchFamily="18" charset="2"/>
              </a:rPr>
              <a:t>- </a:t>
            </a:r>
            <a:r>
              <a:rPr lang="en-US" altLang="zh-TW" sz="2400"/>
              <a:t>{</a:t>
            </a: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l-GR" altLang="zh-TW" sz="2600" b="1">
                <a:solidFill>
                  <a:srgbClr val="0000FF"/>
                </a:solidFill>
              </a:rPr>
              <a:t>η</a:t>
            </a:r>
            <a:r>
              <a:rPr lang="en-US" altLang="zh-TW" sz="24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} </a:t>
            </a:r>
            <a:r>
              <a:rPr lang="en-US" altLang="zh-TW" sz="2400">
                <a:sym typeface="Symbol" panose="05050102010706020507" pitchFamily="18" charset="2"/>
              </a:rPr>
              <a:t>until no more changes to L(s) for any s.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/>
              <a:t>    if there is an 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with 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  <a:cs typeface="Arial" panose="020B0604020202020204" pitchFamily="34" charset="0"/>
              </a:rPr>
              <a:t>η</a:t>
            </a:r>
            <a:r>
              <a:rPr lang="en-US" altLang="zh-TW" sz="2400" b="1">
                <a:sym typeface="Symbol" panose="05050102010706020507" pitchFamily="18" charset="2"/>
              </a:rPr>
              <a:t></a:t>
            </a:r>
            <a:r>
              <a:rPr lang="en-US" altLang="zh-TW" sz="2400"/>
              <a:t>L(s</a:t>
            </a:r>
            <a:r>
              <a:rPr lang="en-US" altLang="zh-TW" sz="2400" baseline="-25000"/>
              <a:t>0</a:t>
            </a:r>
            <a:r>
              <a:rPr lang="en-US" altLang="zh-TW" sz="2400"/>
              <a:t>),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    return ‘</a:t>
            </a:r>
            <a:r>
              <a:rPr lang="en-US" altLang="zh-TW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inevitability not true</a:t>
            </a:r>
            <a:r>
              <a:rPr lang="en-US" altLang="zh-TW" sz="2400"/>
              <a:t>,’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else return ‘</a:t>
            </a:r>
            <a:r>
              <a:rPr lang="en-US" altLang="zh-TW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inevitability true</a:t>
            </a:r>
            <a:r>
              <a:rPr lang="en-US" altLang="zh-TW" sz="2400">
                <a:sym typeface="Symbol" panose="05050102010706020507" pitchFamily="18" charset="2"/>
              </a:rPr>
              <a:t>.’ </a:t>
            </a:r>
            <a:endParaRPr lang="en-US" altLang="zh-TW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The procedure terminates since S is finite in the Kripke structure. 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投影片編號版面配置區 5">
            <a:extLst>
              <a:ext uri="{FF2B5EF4-FFF2-40B4-BE49-F238E27FC236}">
                <a16:creationId xmlns:a16="http://schemas.microsoft.com/office/drawing/2014/main" id="{6E040DD7-7C4C-45BC-9101-D38BE6FACE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ED2AA2-7791-454B-8790-B16C888A37B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90819" name="Oval 2">
            <a:extLst>
              <a:ext uri="{FF2B5EF4-FFF2-40B4-BE49-F238E27FC236}">
                <a16:creationId xmlns:a16="http://schemas.microsoft.com/office/drawing/2014/main" id="{6ED7D7FC-0331-469F-83A9-7D229083D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8458200" cy="487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1090563" name="Oval 3">
            <a:extLst>
              <a:ext uri="{FF2B5EF4-FFF2-40B4-BE49-F238E27FC236}">
                <a16:creationId xmlns:a16="http://schemas.microsoft.com/office/drawing/2014/main" id="{372D165B-8996-4F47-B4D7-E35D432B4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349500"/>
            <a:ext cx="6372225" cy="42481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1090564" name="Oval 4">
            <a:extLst>
              <a:ext uri="{FF2B5EF4-FFF2-40B4-BE49-F238E27FC236}">
                <a16:creationId xmlns:a16="http://schemas.microsoft.com/office/drawing/2014/main" id="{17EE7395-AB3B-4977-9D3B-F37728951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3140075"/>
            <a:ext cx="3817938" cy="1944688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290822" name="Rectangle 5">
            <a:extLst>
              <a:ext uri="{FF2B5EF4-FFF2-40B4-BE49-F238E27FC236}">
                <a16:creationId xmlns:a16="http://schemas.microsoft.com/office/drawing/2014/main" id="{D03E37E3-6678-4E14-89BD-A2C13510F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inevitability analysis</a:t>
            </a:r>
          </a:p>
        </p:txBody>
      </p:sp>
      <p:sp>
        <p:nvSpPr>
          <p:cNvPr id="290823" name="Rectangle 6">
            <a:extLst>
              <a:ext uri="{FF2B5EF4-FFF2-40B4-BE49-F238E27FC236}">
                <a16:creationId xmlns:a16="http://schemas.microsoft.com/office/drawing/2014/main" id="{A3414319-033A-4A1E-B7B7-BF49E08EB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10200" cy="114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>
                <a:latin typeface="Albertus Extra Bold" pitchFamily="34" charset="0"/>
              </a:rPr>
              <a:t>Greatest fixpoint in modal logics</a:t>
            </a:r>
            <a:r>
              <a:rPr lang="en-US" altLang="zh-TW" sz="26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iterative elimination</a:t>
            </a:r>
          </a:p>
        </p:txBody>
      </p:sp>
      <p:sp>
        <p:nvSpPr>
          <p:cNvPr id="290824" name="Oval 7">
            <a:extLst>
              <a:ext uri="{FF2B5EF4-FFF2-40B4-BE49-F238E27FC236}">
                <a16:creationId xmlns:a16="http://schemas.microsoft.com/office/drawing/2014/main" id="{A5D9502A-B4B3-4272-8CD3-263F581A6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4267200"/>
            <a:ext cx="1343025" cy="1219200"/>
          </a:xfrm>
          <a:prstGeom prst="ellipse">
            <a:avLst/>
          </a:prstGeom>
          <a:solidFill>
            <a:schemeClr val="hlink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25" name="Oval 8">
            <a:extLst>
              <a:ext uri="{FF2B5EF4-FFF2-40B4-BE49-F238E27FC236}">
                <a16:creationId xmlns:a16="http://schemas.microsoft.com/office/drawing/2014/main" id="{2B4970A7-2FEF-4BB3-AE95-11FA9AC6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276600"/>
            <a:ext cx="1289050" cy="12192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26" name="Oval 9">
            <a:extLst>
              <a:ext uri="{FF2B5EF4-FFF2-40B4-BE49-F238E27FC236}">
                <a16:creationId xmlns:a16="http://schemas.microsoft.com/office/drawing/2014/main" id="{2BA81061-A699-466E-828D-66AA58C9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352800"/>
            <a:ext cx="1295400" cy="12192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27" name="Oval 10">
            <a:extLst>
              <a:ext uri="{FF2B5EF4-FFF2-40B4-BE49-F238E27FC236}">
                <a16:creationId xmlns:a16="http://schemas.microsoft.com/office/drawing/2014/main" id="{EB7A0626-D35A-4D8E-8D52-66656BE1C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724400"/>
            <a:ext cx="1390650" cy="12192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28" name="Oval 11">
            <a:extLst>
              <a:ext uri="{FF2B5EF4-FFF2-40B4-BE49-F238E27FC236}">
                <a16:creationId xmlns:a16="http://schemas.microsoft.com/office/drawing/2014/main" id="{37F32829-2AD7-47E3-97C5-B3D321D35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581400"/>
            <a:ext cx="1295400" cy="11557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29" name="Line 12">
            <a:extLst>
              <a:ext uri="{FF2B5EF4-FFF2-40B4-BE49-F238E27FC236}">
                <a16:creationId xmlns:a16="http://schemas.microsoft.com/office/drawing/2014/main" id="{C9B8E048-E28E-47F6-A2D8-806EFE21EF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1250" y="5105400"/>
            <a:ext cx="1200150" cy="339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0830" name="Line 13">
            <a:extLst>
              <a:ext uri="{FF2B5EF4-FFF2-40B4-BE49-F238E27FC236}">
                <a16:creationId xmlns:a16="http://schemas.microsoft.com/office/drawing/2014/main" id="{1BFB6AB0-08F1-4674-9AC1-3E5A1DBC1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038600"/>
            <a:ext cx="838200" cy="533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0831" name="Line 14">
            <a:extLst>
              <a:ext uri="{FF2B5EF4-FFF2-40B4-BE49-F238E27FC236}">
                <a16:creationId xmlns:a16="http://schemas.microsoft.com/office/drawing/2014/main" id="{50546ACE-266B-4660-ADE3-7244C8EA43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3886200"/>
            <a:ext cx="685800" cy="762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0832" name="Arc 15">
            <a:extLst>
              <a:ext uri="{FF2B5EF4-FFF2-40B4-BE49-F238E27FC236}">
                <a16:creationId xmlns:a16="http://schemas.microsoft.com/office/drawing/2014/main" id="{DBC2A9C6-11EA-4F64-8105-5C8DF3C99440}"/>
              </a:ext>
            </a:extLst>
          </p:cNvPr>
          <p:cNvSpPr>
            <a:spLocks/>
          </p:cNvSpPr>
          <p:nvPr/>
        </p:nvSpPr>
        <p:spPr bwMode="auto">
          <a:xfrm>
            <a:off x="2232025" y="3292475"/>
            <a:ext cx="1357313" cy="698500"/>
          </a:xfrm>
          <a:custGeom>
            <a:avLst/>
            <a:gdLst>
              <a:gd name="T0" fmla="*/ 0 w 32022"/>
              <a:gd name="T1" fmla="*/ 2147483646 h 21600"/>
              <a:gd name="T2" fmla="*/ 2147483646 w 32022"/>
              <a:gd name="T3" fmla="*/ 2147483646 h 21600"/>
              <a:gd name="T4" fmla="*/ 2147483646 w 32022"/>
              <a:gd name="T5" fmla="*/ 2147483646 h 21600"/>
              <a:gd name="T6" fmla="*/ 0 60000 65536"/>
              <a:gd name="T7" fmla="*/ 0 60000 65536"/>
              <a:gd name="T8" fmla="*/ 0 60000 65536"/>
              <a:gd name="T9" fmla="*/ 0 w 32022"/>
              <a:gd name="T10" fmla="*/ 0 h 21600"/>
              <a:gd name="T11" fmla="*/ 32022 w 3202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022" h="21600" fill="none" extrusionOk="0">
                <a:moveTo>
                  <a:pt x="-1" y="9516"/>
                </a:moveTo>
                <a:cubicBezTo>
                  <a:pt x="4015" y="3566"/>
                  <a:pt x="10725" y="-1"/>
                  <a:pt x="17904" y="0"/>
                </a:cubicBezTo>
                <a:cubicBezTo>
                  <a:pt x="23087" y="0"/>
                  <a:pt x="28098" y="1864"/>
                  <a:pt x="32022" y="5252"/>
                </a:cubicBezTo>
              </a:path>
              <a:path w="32022" h="21600" stroke="0" extrusionOk="0">
                <a:moveTo>
                  <a:pt x="-1" y="9516"/>
                </a:moveTo>
                <a:cubicBezTo>
                  <a:pt x="4015" y="3566"/>
                  <a:pt x="10725" y="-1"/>
                  <a:pt x="17904" y="0"/>
                </a:cubicBezTo>
                <a:cubicBezTo>
                  <a:pt x="23087" y="0"/>
                  <a:pt x="28098" y="1864"/>
                  <a:pt x="32022" y="5252"/>
                </a:cubicBezTo>
                <a:lnTo>
                  <a:pt x="17904" y="21600"/>
                </a:lnTo>
                <a:lnTo>
                  <a:pt x="-1" y="9516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0833" name="Arc 16">
            <a:extLst>
              <a:ext uri="{FF2B5EF4-FFF2-40B4-BE49-F238E27FC236}">
                <a16:creationId xmlns:a16="http://schemas.microsoft.com/office/drawing/2014/main" id="{FF8AD45F-AD48-4D10-9CA9-E387763E9D3B}"/>
              </a:ext>
            </a:extLst>
          </p:cNvPr>
          <p:cNvSpPr>
            <a:spLocks/>
          </p:cNvSpPr>
          <p:nvPr/>
        </p:nvSpPr>
        <p:spPr bwMode="auto">
          <a:xfrm flipH="1" flipV="1">
            <a:off x="2678113" y="3789363"/>
            <a:ext cx="877887" cy="698500"/>
          </a:xfrm>
          <a:custGeom>
            <a:avLst/>
            <a:gdLst>
              <a:gd name="T0" fmla="*/ 0 w 20724"/>
              <a:gd name="T1" fmla="*/ 2147483646 h 21600"/>
              <a:gd name="T2" fmla="*/ 2147483646 w 20724"/>
              <a:gd name="T3" fmla="*/ 2147483646 h 21600"/>
              <a:gd name="T4" fmla="*/ 2147483646 w 20724"/>
              <a:gd name="T5" fmla="*/ 2147483646 h 21600"/>
              <a:gd name="T6" fmla="*/ 0 60000 65536"/>
              <a:gd name="T7" fmla="*/ 0 60000 65536"/>
              <a:gd name="T8" fmla="*/ 0 60000 65536"/>
              <a:gd name="T9" fmla="*/ 0 w 20724"/>
              <a:gd name="T10" fmla="*/ 0 h 21600"/>
              <a:gd name="T11" fmla="*/ 20724 w 207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24" h="21600" fill="none" extrusionOk="0">
                <a:moveTo>
                  <a:pt x="-1" y="5522"/>
                </a:moveTo>
                <a:cubicBezTo>
                  <a:pt x="3963" y="1966"/>
                  <a:pt x="9100" y="-1"/>
                  <a:pt x="14425" y="0"/>
                </a:cubicBezTo>
                <a:cubicBezTo>
                  <a:pt x="16559" y="0"/>
                  <a:pt x="18682" y="316"/>
                  <a:pt x="20724" y="938"/>
                </a:cubicBezTo>
              </a:path>
              <a:path w="20724" h="21600" stroke="0" extrusionOk="0">
                <a:moveTo>
                  <a:pt x="-1" y="5522"/>
                </a:moveTo>
                <a:cubicBezTo>
                  <a:pt x="3963" y="1966"/>
                  <a:pt x="9100" y="-1"/>
                  <a:pt x="14425" y="0"/>
                </a:cubicBezTo>
                <a:cubicBezTo>
                  <a:pt x="16559" y="0"/>
                  <a:pt x="18682" y="316"/>
                  <a:pt x="20724" y="938"/>
                </a:cubicBezTo>
                <a:lnTo>
                  <a:pt x="14425" y="21600"/>
                </a:lnTo>
                <a:lnTo>
                  <a:pt x="-1" y="5522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0834" name="Text Box 17">
            <a:extLst>
              <a:ext uri="{FF2B5EF4-FFF2-40B4-BE49-F238E27FC236}">
                <a16:creationId xmlns:a16="http://schemas.microsoft.com/office/drawing/2014/main" id="{7CA74BB3-729B-4D73-937D-075869D9F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8862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90578" name="Text Box 18">
            <a:extLst>
              <a:ext uri="{FF2B5EF4-FFF2-40B4-BE49-F238E27FC236}">
                <a16:creationId xmlns:a16="http://schemas.microsoft.com/office/drawing/2014/main" id="{050828F3-1CAD-4157-9BDC-A9DF6BE59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8100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90579" name="Text Box 19">
            <a:extLst>
              <a:ext uri="{FF2B5EF4-FFF2-40B4-BE49-F238E27FC236}">
                <a16:creationId xmlns:a16="http://schemas.microsoft.com/office/drawing/2014/main" id="{31DDF251-5759-43FD-A040-A510B6EBA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1816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1090580" name="Text Box 20">
            <a:extLst>
              <a:ext uri="{FF2B5EF4-FFF2-40B4-BE49-F238E27FC236}">
                <a16:creationId xmlns:a16="http://schemas.microsoft.com/office/drawing/2014/main" id="{B34E4B7F-2A17-4329-BDD3-69E29B6FA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8006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38" name="Text Box 21">
            <a:extLst>
              <a:ext uri="{FF2B5EF4-FFF2-40B4-BE49-F238E27FC236}">
                <a16:creationId xmlns:a16="http://schemas.microsoft.com/office/drawing/2014/main" id="{CEFC4EAA-D51E-44FC-AC0F-74E2D2054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03860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rgbClr val="0000FF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39" name="Oval 8">
            <a:extLst>
              <a:ext uri="{FF2B5EF4-FFF2-40B4-BE49-F238E27FC236}">
                <a16:creationId xmlns:a16="http://schemas.microsoft.com/office/drawing/2014/main" id="{D0131DEA-4A24-43FA-B8FB-FA2CBD4DA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990600"/>
            <a:ext cx="1289050" cy="12192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TW" sz="2400" b="1">
                <a:solidFill>
                  <a:srgbClr val="0000FF"/>
                </a:solidFill>
              </a:rPr>
              <a:t>η</a:t>
            </a: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 b="1">
              <a:solidFill>
                <a:srgbClr val="0000FF"/>
              </a:solidFill>
            </a:endParaRPr>
          </a:p>
        </p:txBody>
      </p:sp>
      <p:sp>
        <p:nvSpPr>
          <p:cNvPr id="290840" name="Line 13">
            <a:extLst>
              <a:ext uri="{FF2B5EF4-FFF2-40B4-BE49-F238E27FC236}">
                <a16:creationId xmlns:a16="http://schemas.microsoft.com/office/drawing/2014/main" id="{4478D1C9-8B07-4A4F-93F1-F5F32BD354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2057400"/>
            <a:ext cx="990600" cy="1295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2000"/>
                                        <p:tgtEl>
                                          <p:spTgt spid="1090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2000"/>
                                        <p:tgtEl>
                                          <p:spTgt spid="10905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2000"/>
                                        <p:tgtEl>
                                          <p:spTgt spid="1090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3" grpId="0" animBg="1"/>
      <p:bldP spid="1090564" grpId="0" animBg="1"/>
      <p:bldP spid="1090578" grpId="0"/>
      <p:bldP spid="1090579" grpId="0"/>
      <p:bldP spid="1090580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投影片編號版面配置區 5">
            <a:extLst>
              <a:ext uri="{FF2B5EF4-FFF2-40B4-BE49-F238E27FC236}">
                <a16:creationId xmlns:a16="http://schemas.microsoft.com/office/drawing/2014/main" id="{15AB24BE-4A35-4F6F-8669-66DAA92896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616E8-36CE-4F67-BD0B-CC71305DA65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92867" name="Rectangle 2">
            <a:extLst>
              <a:ext uri="{FF2B5EF4-FFF2-40B4-BE49-F238E27FC236}">
                <a16:creationId xmlns:a16="http://schemas.microsoft.com/office/drawing/2014/main" id="{EE9C3E01-F2C7-4D4F-B849-915C72DB1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 model-checking</a:t>
            </a:r>
          </a:p>
        </p:txBody>
      </p:sp>
      <p:sp>
        <p:nvSpPr>
          <p:cNvPr id="292868" name="Rectangle 3">
            <a:extLst>
              <a:ext uri="{FF2B5EF4-FFF2-40B4-BE49-F238E27FC236}">
                <a16:creationId xmlns:a16="http://schemas.microsoft.com/office/drawing/2014/main" id="{9532D64B-27AD-4D4C-8117-2B1202DED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The NORMAL form needed in CTL model-checking: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/>
              <a:t>1. only modal operators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φ,  </a:t>
            </a:r>
            <a:r>
              <a:rPr lang="en-US" altLang="zh-TW" sz="2800">
                <a:sym typeface="Symbol" panose="05050102010706020507" pitchFamily="18" charset="2"/>
              </a:rPr>
              <a:t> </a:t>
            </a:r>
            <a:r>
              <a:rPr lang="en-US" altLang="zh-TW" sz="2800" baseline="-25000">
                <a:sym typeface="Symbol" panose="05050102010706020507" pitchFamily="18" charset="2"/>
              </a:rPr>
              <a:t>1 </a:t>
            </a:r>
            <a:r>
              <a:rPr lang="en-US" altLang="zh-TW" sz="2800" b="1">
                <a:sym typeface="Symbol" panose="05050102010706020507" pitchFamily="18" charset="2"/>
              </a:rPr>
              <a:t>U</a:t>
            </a:r>
            <a:r>
              <a:rPr lang="en-US" altLang="zh-TW" sz="2800"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ym typeface="Symbol" panose="05050102010706020507" pitchFamily="18" charset="2"/>
              </a:rPr>
              <a:t>2 </a:t>
            </a:r>
            <a:r>
              <a:rPr lang="en-US" altLang="zh-TW" sz="2800"/>
              <a:t>,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/>
              <a:t>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2. No modal operators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φ, </a:t>
            </a:r>
            <a:r>
              <a:rPr lang="en-US" altLang="zh-TW" sz="2800">
                <a:sym typeface="Symbol" panose="05050102010706020507" pitchFamily="18" charset="2"/>
              </a:rPr>
              <a:t> </a:t>
            </a:r>
            <a:r>
              <a:rPr lang="en-US" altLang="zh-TW" sz="2800" baseline="-25000">
                <a:sym typeface="Symbol" panose="05050102010706020507" pitchFamily="18" charset="2"/>
              </a:rPr>
              <a:t>1 </a:t>
            </a:r>
            <a:r>
              <a:rPr lang="en-US" altLang="zh-TW" sz="2800" b="1">
                <a:sym typeface="Symbol" panose="05050102010706020507" pitchFamily="18" charset="2"/>
              </a:rPr>
              <a:t>U</a:t>
            </a:r>
            <a:r>
              <a:rPr lang="en-US" altLang="zh-TW" sz="2800"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ym typeface="Symbol" panose="05050102010706020507" pitchFamily="18" charset="2"/>
              </a:rPr>
              <a:t>2 </a:t>
            </a:r>
            <a:r>
              <a:rPr lang="en-US" altLang="zh-TW" sz="2800"/>
              <a:t>,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/>
              <a:t>φ, </a:t>
            </a:r>
            <a:r>
              <a:rPr lang="en-US" altLang="zh-TW" sz="2800">
                <a:sym typeface="Symbol" panose="05050102010706020507" pitchFamily="18" charset="2"/>
              </a:rPr>
              <a:t></a:t>
            </a:r>
            <a:r>
              <a:rPr kumimoji="0" lang="en-US" altLang="zh-TW" b="1">
                <a:latin typeface="新細明體" panose="02020500000000000000" pitchFamily="18" charset="-120"/>
              </a:rPr>
              <a:t>◇</a:t>
            </a:r>
            <a:r>
              <a:rPr lang="en-US" altLang="zh-TW" sz="2800"/>
              <a:t>φ</a:t>
            </a:r>
            <a:r>
              <a:rPr lang="en-US" altLang="zh-TW" sz="2800">
                <a:sym typeface="Symbol" panose="05050102010706020507" pitchFamily="18" charset="2"/>
              </a:rPr>
              <a:t>, </a:t>
            </a:r>
            <a:r>
              <a:rPr kumimoji="0" lang="en-US" altLang="zh-TW" b="1">
                <a:latin typeface="新細明體" panose="02020500000000000000" pitchFamily="18" charset="-120"/>
              </a:rPr>
              <a:t>◇</a:t>
            </a:r>
            <a:r>
              <a:rPr lang="en-US" altLang="zh-TW" sz="2800"/>
              <a:t>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3. No double negation: </a:t>
            </a:r>
            <a:r>
              <a:rPr lang="en-US" altLang="zh-TW" sz="2800">
                <a:sym typeface="Symbol" panose="05050102010706020507" pitchFamily="18" charset="2"/>
              </a:rPr>
              <a:t> </a:t>
            </a:r>
            <a:r>
              <a:rPr lang="en-US" altLang="zh-TW" sz="2800"/>
              <a:t>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4. No implication: </a:t>
            </a:r>
            <a:r>
              <a:rPr lang="en-US" altLang="zh-TW" sz="2800"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</a:t>
            </a:r>
            <a:r>
              <a:rPr lang="en-US" altLang="zh-TW" sz="2800" baseline="-25000">
                <a:sym typeface="Symbol" panose="05050102010706020507" pitchFamily="18" charset="2"/>
              </a:rPr>
              <a:t>2 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投影片編號版面配置區 5">
            <a:extLst>
              <a:ext uri="{FF2B5EF4-FFF2-40B4-BE49-F238E27FC236}">
                <a16:creationId xmlns:a16="http://schemas.microsoft.com/office/drawing/2014/main" id="{03731CCE-B5F6-4CC0-8FD5-FA8BACEBF3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59D5AC-EE8C-416E-80F8-7881D211835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94915" name="Rectangle 2">
            <a:extLst>
              <a:ext uri="{FF2B5EF4-FFF2-40B4-BE49-F238E27FC236}">
                <a16:creationId xmlns:a16="http://schemas.microsoft.com/office/drawing/2014/main" id="{FA792841-ED05-4187-B43C-53100317A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algorithm (1/6) </a:t>
            </a:r>
          </a:p>
        </p:txBody>
      </p:sp>
      <p:sp>
        <p:nvSpPr>
          <p:cNvPr id="294916" name="Rectangle 3">
            <a:extLst>
              <a:ext uri="{FF2B5EF4-FFF2-40B4-BE49-F238E27FC236}">
                <a16:creationId xmlns:a16="http://schemas.microsoft.com/office/drawing/2014/main" id="{B1B9E918-3CD6-45FC-B559-E8438241C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6106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Given M  and </a:t>
            </a:r>
            <a:r>
              <a:rPr lang="en-US" altLang="zh-TW" sz="2800">
                <a:solidFill>
                  <a:schemeClr val="hlink"/>
                </a:solidFill>
              </a:rPr>
              <a:t>φ,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1.</a:t>
            </a:r>
            <a:r>
              <a:rPr lang="en-US" altLang="zh-TW" sz="2800" b="1" i="1">
                <a:solidFill>
                  <a:schemeClr val="hlink"/>
                </a:solidFill>
              </a:rPr>
              <a:t> </a:t>
            </a:r>
            <a:r>
              <a:rPr lang="en-US" altLang="zh-TW" sz="2800"/>
              <a:t>Convert </a:t>
            </a:r>
            <a:r>
              <a:rPr lang="en-US" altLang="zh-TW" sz="2800">
                <a:solidFill>
                  <a:schemeClr val="hlink"/>
                </a:solidFill>
              </a:rPr>
              <a:t>φ</a:t>
            </a:r>
            <a:r>
              <a:rPr lang="en-US" altLang="zh-TW" sz="2800"/>
              <a:t> to NORMAL form.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2.</a:t>
            </a:r>
            <a:r>
              <a:rPr lang="en-US" altLang="zh-TW" sz="2800" b="1" i="1">
                <a:solidFill>
                  <a:schemeClr val="hlink"/>
                </a:solidFill>
              </a:rPr>
              <a:t> </a:t>
            </a:r>
            <a:r>
              <a:rPr lang="en-US" altLang="zh-TW" sz="2800"/>
              <a:t>list the elements in Cl (</a:t>
            </a:r>
            <a:r>
              <a:rPr lang="en-US" altLang="zh-TW" sz="2800">
                <a:solidFill>
                  <a:schemeClr val="hlink"/>
                </a:solidFill>
              </a:rPr>
              <a:t>φ</a:t>
            </a:r>
            <a:r>
              <a:rPr lang="en-US" altLang="zh-TW" sz="2800"/>
              <a:t>) according to their sizes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φ</a:t>
            </a:r>
            <a:r>
              <a:rPr lang="en-US" altLang="zh-TW" sz="2800" baseline="-25000"/>
              <a:t>0 </a:t>
            </a:r>
            <a:r>
              <a:rPr lang="en-US" altLang="zh-TW" sz="2800"/>
              <a:t>φ</a:t>
            </a:r>
            <a:r>
              <a:rPr lang="en-US" altLang="zh-TW" sz="2800" baseline="-25000"/>
              <a:t>1 </a:t>
            </a:r>
            <a:r>
              <a:rPr lang="en-US" altLang="zh-TW" sz="2800"/>
              <a:t>φ</a:t>
            </a:r>
            <a:r>
              <a:rPr lang="en-US" altLang="zh-TW" sz="2800" baseline="-25000"/>
              <a:t>2 </a:t>
            </a:r>
            <a:r>
              <a:rPr lang="en-US" altLang="zh-TW" sz="2800"/>
              <a:t>…</a:t>
            </a:r>
            <a:r>
              <a:rPr lang="en-US" altLang="zh-TW" sz="2800" baseline="-25000"/>
              <a:t> </a:t>
            </a:r>
            <a:r>
              <a:rPr lang="en-US" altLang="zh-TW" sz="2800"/>
              <a:t>φ</a:t>
            </a:r>
            <a:r>
              <a:rPr lang="en-US" altLang="zh-TW" sz="2800" baseline="-25000"/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baseline="-25000">
                <a:solidFill>
                  <a:schemeClr val="hlink"/>
                </a:solidFill>
              </a:rPr>
              <a:t>	</a:t>
            </a:r>
            <a:r>
              <a:rPr lang="en-US" altLang="zh-TW" sz="2800" i="1">
                <a:solidFill>
                  <a:srgbClr val="0000FF"/>
                </a:solidFill>
              </a:rPr>
              <a:t>for all 0</a:t>
            </a: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 </a:t>
            </a:r>
            <a:r>
              <a:rPr lang="en-US" altLang="zh-TW" sz="2800" i="1">
                <a:solidFill>
                  <a:srgbClr val="0000FF"/>
                </a:solidFill>
              </a:rPr>
              <a:t>i&lt;j </a:t>
            </a:r>
            <a:r>
              <a:rPr lang="en-US" altLang="zh-TW" sz="2800" i="1">
                <a:solidFill>
                  <a:srgbClr val="0000FF"/>
                </a:solidFill>
                <a:sym typeface="Symbol" panose="05050102010706020507" pitchFamily="18" charset="2"/>
              </a:rPr>
              <a:t></a:t>
            </a:r>
            <a:r>
              <a:rPr lang="en-US" altLang="zh-TW" sz="2800" i="1">
                <a:solidFill>
                  <a:srgbClr val="0000FF"/>
                </a:solidFill>
              </a:rPr>
              <a:t> n</a:t>
            </a:r>
            <a:r>
              <a:rPr lang="zh-TW" altLang="en-US" sz="2800" i="1">
                <a:solidFill>
                  <a:srgbClr val="0000FF"/>
                </a:solidFill>
              </a:rPr>
              <a:t>，</a:t>
            </a:r>
            <a:r>
              <a:rPr lang="en-US" altLang="zh-TW" sz="2800" i="1">
                <a:solidFill>
                  <a:srgbClr val="0000FF"/>
                </a:solidFill>
              </a:rPr>
              <a:t>φ</a:t>
            </a:r>
            <a:r>
              <a:rPr lang="en-US" altLang="zh-TW" sz="2800" i="1" baseline="-25000">
                <a:solidFill>
                  <a:srgbClr val="0000FF"/>
                </a:solidFill>
              </a:rPr>
              <a:t>j </a:t>
            </a:r>
            <a:r>
              <a:rPr lang="en-US" altLang="zh-TW" sz="2800" i="1">
                <a:solidFill>
                  <a:srgbClr val="0000FF"/>
                </a:solidFill>
              </a:rPr>
              <a:t> is not a subformula ofφ</a:t>
            </a:r>
            <a:r>
              <a:rPr lang="en-US" altLang="zh-TW" sz="2800" i="1" baseline="-25000">
                <a:solidFill>
                  <a:srgbClr val="0000FF"/>
                </a:solidFill>
              </a:rPr>
              <a:t>i</a:t>
            </a:r>
            <a:endParaRPr lang="en-US" altLang="zh-TW" sz="2800" i="1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2. for i=0 to n,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		label (φ</a:t>
            </a:r>
            <a:r>
              <a:rPr lang="en-US" altLang="zh-TW" sz="2800" baseline="-25000"/>
              <a:t>i</a:t>
            </a:r>
            <a:r>
              <a:rPr lang="en-US" altLang="zh-TW" sz="2800"/>
              <a:t>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3.</a:t>
            </a:r>
            <a:r>
              <a:rPr lang="en-US" altLang="zh-TW" sz="2800" baseline="-25000"/>
              <a:t> </a:t>
            </a:r>
            <a:r>
              <a:rPr lang="en-US" altLang="zh-TW" sz="2800"/>
              <a:t>for some initial states s</a:t>
            </a:r>
            <a:r>
              <a:rPr lang="en-US" altLang="zh-TW" sz="2800" baseline="-25000"/>
              <a:t>0 </a:t>
            </a:r>
            <a:r>
              <a:rPr lang="en-US" altLang="zh-TW" sz="2800"/>
              <a:t>of M, if φ</a:t>
            </a:r>
            <a:r>
              <a:rPr lang="en-US" altLang="zh-TW" sz="2800">
                <a:sym typeface="Euclid Symbol" pitchFamily="18" charset="2"/>
              </a:rPr>
              <a:t></a:t>
            </a:r>
            <a:r>
              <a:rPr lang="en-US" altLang="zh-TW" sz="2800"/>
              <a:t>L(s</a:t>
            </a:r>
            <a:r>
              <a:rPr lang="en-US" altLang="zh-TW" sz="2800" baseline="-25000"/>
              <a:t>0</a:t>
            </a:r>
            <a:r>
              <a:rPr lang="en-US" altLang="zh-TW" sz="2800">
                <a:sym typeface="Euclid Math One" pitchFamily="18" charset="2"/>
              </a:rPr>
              <a:t>)</a:t>
            </a:r>
            <a:r>
              <a:rPr lang="en-US" altLang="zh-TW" sz="2800"/>
              <a:t>, return `No!’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4. return `Yes!’ </a:t>
            </a:r>
          </a:p>
        </p:txBody>
      </p:sp>
      <p:sp>
        <p:nvSpPr>
          <p:cNvPr id="667652" name="AutoShape 4">
            <a:extLst>
              <a:ext uri="{FF2B5EF4-FFF2-40B4-BE49-F238E27FC236}">
                <a16:creationId xmlns:a16="http://schemas.microsoft.com/office/drawing/2014/main" id="{30A24214-936D-4821-AD30-67E46CFE9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657600"/>
            <a:ext cx="1371600" cy="1447800"/>
          </a:xfrm>
          <a:prstGeom prst="wedgeRoundRectCallout">
            <a:avLst>
              <a:gd name="adj1" fmla="val -398032"/>
              <a:gd name="adj2" fmla="val 27852"/>
              <a:gd name="adj3" fmla="val 16667"/>
            </a:avLst>
          </a:prstGeom>
          <a:solidFill>
            <a:srgbClr val="FFFF00"/>
          </a:solidFill>
          <a:ln w="57150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See next page!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投影片編號版面配置區 5">
            <a:extLst>
              <a:ext uri="{FF2B5EF4-FFF2-40B4-BE49-F238E27FC236}">
                <a16:creationId xmlns:a16="http://schemas.microsoft.com/office/drawing/2014/main" id="{453D48BB-1C57-4FE9-90CE-01CC089F68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267463-4E33-4756-9879-72B92DCDC84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96963" name="Rectangle 2">
            <a:extLst>
              <a:ext uri="{FF2B5EF4-FFF2-40B4-BE49-F238E27FC236}">
                <a16:creationId xmlns:a16="http://schemas.microsoft.com/office/drawing/2014/main" id="{BC304D17-528E-4A82-8BE1-CEEC0DF6B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algorithm (2/6) </a:t>
            </a:r>
          </a:p>
        </p:txBody>
      </p:sp>
      <p:sp>
        <p:nvSpPr>
          <p:cNvPr id="296964" name="Rectangle 3">
            <a:extLst>
              <a:ext uri="{FF2B5EF4-FFF2-40B4-BE49-F238E27FC236}">
                <a16:creationId xmlns:a16="http://schemas.microsoft.com/office/drawing/2014/main" id="{0BCD9451-0E6F-4C62-B859-CEBAB9FEE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label(φ 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p, return;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>
                <a:sym typeface="Symbol" panose="05050102010706020507" pitchFamily="18" charset="2"/>
              </a:rPr>
              <a:t></a:t>
            </a:r>
            <a:r>
              <a:rPr lang="en-US" altLang="zh-TW" sz="2800"/>
              <a:t>φ, for all s, if φ</a:t>
            </a:r>
            <a:r>
              <a:rPr lang="en-US" altLang="zh-TW" sz="2800">
                <a:sym typeface="Symbol" panose="05050102010706020507" pitchFamily="18" charset="2"/>
              </a:rPr>
              <a:t> </a:t>
            </a:r>
            <a:r>
              <a:rPr lang="en-US" altLang="zh-TW" sz="2800"/>
              <a:t>L(s), L(s)</a:t>
            </a:r>
            <a:r>
              <a:rPr lang="en-US" altLang="zh-TW" sz="2800" baseline="-25000"/>
              <a:t> </a:t>
            </a:r>
            <a:r>
              <a:rPr lang="en-US" altLang="zh-TW" sz="2800"/>
              <a:t>= L(s) </a:t>
            </a:r>
            <a:r>
              <a:rPr lang="en-US" altLang="zh-TW" sz="2800">
                <a:sym typeface="Symbol" panose="05050102010706020507" pitchFamily="18" charset="2"/>
              </a:rPr>
              <a:t>{</a:t>
            </a:r>
            <a:r>
              <a:rPr lang="en-US" altLang="zh-TW" sz="2800"/>
              <a:t>φ}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caseφ</a:t>
            </a:r>
            <a:r>
              <a:rPr lang="en-US" altLang="zh-TW" sz="2800">
                <a:sym typeface="Symbol" panose="05050102010706020507" pitchFamily="18" charset="2"/>
              </a:rPr>
              <a:t></a:t>
            </a:r>
            <a:r>
              <a:rPr lang="en-US" altLang="zh-TW" sz="2800"/>
              <a:t>ψ, for all s, ifφ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 orψ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L(s), L(s)=L(s)</a:t>
            </a:r>
            <a:r>
              <a:rPr lang="en-US" altLang="zh-TW" sz="2800">
                <a:sym typeface="Symbol" panose="05050102010706020507" pitchFamily="18" charset="2"/>
              </a:rPr>
              <a:t></a:t>
            </a:r>
            <a:r>
              <a:rPr lang="en-US" altLang="zh-TW" sz="2800"/>
              <a:t>{φ</a:t>
            </a:r>
            <a:r>
              <a:rPr lang="en-US" altLang="zh-TW" sz="2800">
                <a:sym typeface="Symbol" panose="05050102010706020507" pitchFamily="18" charset="2"/>
              </a:rPr>
              <a:t></a:t>
            </a:r>
            <a:r>
              <a:rPr lang="en-US" altLang="zh-TW" sz="2800"/>
              <a:t>ψ}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φ, for all s, if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/>
              <a:t>(s,s’) with φ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L(s’), L(s)=L(s)</a:t>
            </a:r>
            <a:r>
              <a:rPr lang="en-US" altLang="zh-TW" sz="2800">
                <a:sym typeface="Symbol" panose="05050102010706020507" pitchFamily="18" charset="2"/>
              </a:rPr>
              <a:t>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</a:t>
            </a:r>
            <a:r>
              <a:rPr lang="en-US" altLang="zh-TW" sz="2800"/>
              <a:t>φ}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>
                <a:sym typeface="Symbol" panose="05050102010706020507" pitchFamily="18" charset="2"/>
              </a:rPr>
              <a:t>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 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/>
              <a:t>, lfp(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 </a:t>
            </a:r>
            <a:r>
              <a:rPr lang="en-US" altLang="zh-TW" sz="2800"/>
              <a:t>,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/>
              <a:t> 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/>
              <a:t>φ, gfp(φ);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}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投影片編號版面配置區 5">
            <a:extLst>
              <a:ext uri="{FF2B5EF4-FFF2-40B4-BE49-F238E27FC236}">
                <a16:creationId xmlns:a16="http://schemas.microsoft.com/office/drawing/2014/main" id="{231C24A3-938B-4B41-B17B-98988E7E2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8A1578-6079-40F1-842B-A8E32E6F872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299011" name="Rectangle 2">
            <a:extLst>
              <a:ext uri="{FF2B5EF4-FFF2-40B4-BE49-F238E27FC236}">
                <a16:creationId xmlns:a16="http://schemas.microsoft.com/office/drawing/2014/main" id="{B7377C76-FCFD-4AED-A722-885965752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algorithm (3/6) </a:t>
            </a:r>
          </a:p>
        </p:txBody>
      </p:sp>
      <p:sp>
        <p:nvSpPr>
          <p:cNvPr id="299012" name="Rectangle 3">
            <a:extLst>
              <a:ext uri="{FF2B5EF4-FFF2-40B4-BE49-F238E27FC236}">
                <a16:creationId xmlns:a16="http://schemas.microsoft.com/office/drawing/2014/main" id="{EF3FF99F-C77E-4F55-933F-F9E3C3AE0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lfp(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 </a:t>
            </a:r>
            <a:r>
              <a:rPr lang="en-US" altLang="zh-TW" sz="2800"/>
              <a:t>,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/>
              <a:t> ) /* least fixpoint algorithm */ 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    for all s, 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L(s), L(s)=L(s)</a:t>
            </a:r>
            <a:r>
              <a:rPr lang="en-US" altLang="zh-TW" sz="2800">
                <a:sym typeface="Symbol" panose="05050102010706020507" pitchFamily="18" charset="2"/>
              </a:rPr>
              <a:t>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/>
              <a:t>};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   for all s, 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 and </a:t>
            </a:r>
            <a:r>
              <a:rPr lang="en-US" altLang="zh-TW" sz="2800">
                <a:sym typeface="Symbol" panose="05050102010706020507" pitchFamily="18" charset="2"/>
              </a:rPr>
              <a:t>(s,s’)(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L(s’)), 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		L(s)=L(s)</a:t>
            </a:r>
            <a:r>
              <a:rPr lang="en-US" altLang="zh-TW" sz="2800">
                <a:sym typeface="Symbol" panose="05050102010706020507" pitchFamily="18" charset="2"/>
              </a:rPr>
              <a:t>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chemeClr val="hlink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/>
              <a:t>};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    } </a:t>
            </a:r>
            <a:r>
              <a:rPr lang="en-US" altLang="zh-TW" sz="2800">
                <a:sym typeface="Symbol" panose="05050102010706020507" pitchFamily="18" charset="2"/>
              </a:rPr>
              <a:t>until no more changes to L(s) for any s. </a:t>
            </a:r>
            <a:endParaRPr lang="en-US" altLang="zh-TW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The procedure terminates since S is finite in the Kripke structure.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投影片編號版面配置區 5">
            <a:extLst>
              <a:ext uri="{FF2B5EF4-FFF2-40B4-BE49-F238E27FC236}">
                <a16:creationId xmlns:a16="http://schemas.microsoft.com/office/drawing/2014/main" id="{321A3BA4-C28B-497F-8E3E-43A6A36565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F9BA59-A6CA-4105-9AAC-92FF6FB2A4D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673794" name="Oval 2">
            <a:extLst>
              <a:ext uri="{FF2B5EF4-FFF2-40B4-BE49-F238E27FC236}">
                <a16:creationId xmlns:a16="http://schemas.microsoft.com/office/drawing/2014/main" id="{951F67C1-FA59-4245-A29D-578C53AB1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989138"/>
            <a:ext cx="8426450" cy="4868862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73795" name="Oval 3">
            <a:extLst>
              <a:ext uri="{FF2B5EF4-FFF2-40B4-BE49-F238E27FC236}">
                <a16:creationId xmlns:a16="http://schemas.microsoft.com/office/drawing/2014/main" id="{5BBAAA6C-A482-4B88-A57D-F1E04D08A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492375"/>
            <a:ext cx="6480175" cy="4105275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73796" name="Oval 4">
            <a:extLst>
              <a:ext uri="{FF2B5EF4-FFF2-40B4-BE49-F238E27FC236}">
                <a16:creationId xmlns:a16="http://schemas.microsoft.com/office/drawing/2014/main" id="{CC039381-4D44-44B9-9885-A4F2E1720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429000"/>
            <a:ext cx="4824413" cy="27368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66FFFF"/>
                </a:solidFill>
                <a:sym typeface="Symbol" panose="05050102010706020507" pitchFamily="18" charset="2"/>
              </a:rPr>
              <a:t>     </a:t>
            </a:r>
            <a:r>
              <a:rPr lang="en-US" altLang="zh-TW" sz="2800" b="1">
                <a:sym typeface="Symbol" panose="05050102010706020507" pitchFamily="18" charset="2"/>
              </a:rPr>
              <a:t></a:t>
            </a:r>
            <a:r>
              <a:rPr lang="en-US" altLang="zh-TW" sz="2800" b="1" baseline="-25000">
                <a:sym typeface="Symbol" panose="05050102010706020507" pitchFamily="18" charset="2"/>
              </a:rPr>
              <a:t>1</a:t>
            </a:r>
            <a:r>
              <a:rPr lang="en-US" altLang="zh-TW" sz="2800" b="1">
                <a:sym typeface="Symbol" panose="05050102010706020507" pitchFamily="18" charset="2"/>
              </a:rPr>
              <a:t>U</a:t>
            </a:r>
            <a:r>
              <a:rPr lang="en-US" altLang="zh-TW" sz="2800" b="1" baseline="-25000">
                <a:sym typeface="Symbol" panose="05050102010706020507" pitchFamily="18" charset="2"/>
              </a:rPr>
              <a:t>2</a:t>
            </a:r>
            <a:r>
              <a:rPr lang="en-US" altLang="zh-TW" sz="28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01062" name="Rectangle 5">
            <a:extLst>
              <a:ext uri="{FF2B5EF4-FFF2-40B4-BE49-F238E27FC236}">
                <a16:creationId xmlns:a16="http://schemas.microsoft.com/office/drawing/2014/main" id="{872FB24E-8D03-4482-8A96-4FE33EDB2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CTL </a:t>
            </a:r>
            <a:br>
              <a:rPr lang="en-US" altLang="zh-TW"/>
            </a:br>
            <a:r>
              <a:rPr lang="en-US" altLang="zh-TW"/>
              <a:t> - model-checking algorithm (4/6)</a:t>
            </a:r>
            <a:endParaRPr lang="en-US" altLang="zh-TW">
              <a:latin typeface="Albertus Extra Bold" pitchFamily="34" charset="0"/>
            </a:endParaRPr>
          </a:p>
        </p:txBody>
      </p:sp>
      <p:sp>
        <p:nvSpPr>
          <p:cNvPr id="301063" name="Rectangle 6">
            <a:extLst>
              <a:ext uri="{FF2B5EF4-FFF2-40B4-BE49-F238E27FC236}">
                <a16:creationId xmlns:a16="http://schemas.microsoft.com/office/drawing/2014/main" id="{A29507D9-0963-451F-B88D-DB3B29DB6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7912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FF0000"/>
                </a:solidFill>
                <a:latin typeface="Albertus Extra Bold" pitchFamily="34" charset="0"/>
              </a:rPr>
              <a:t>Least fixpoint in modal logics</a:t>
            </a:r>
            <a:endParaRPr lang="en-US" altLang="zh-TW" sz="24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FF0000"/>
                </a:solidFill>
              </a:rPr>
              <a:t>iterative expansion</a:t>
            </a:r>
          </a:p>
        </p:txBody>
      </p:sp>
      <p:sp>
        <p:nvSpPr>
          <p:cNvPr id="673799" name="Oval 7">
            <a:extLst>
              <a:ext uri="{FF2B5EF4-FFF2-40B4-BE49-F238E27FC236}">
                <a16:creationId xmlns:a16="http://schemas.microsoft.com/office/drawing/2014/main" id="{A044C6FF-8FED-4F2C-A5BE-69614EBB74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05600" y="3962400"/>
            <a:ext cx="1676400" cy="16986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1800" baseline="-25000">
              <a:solidFill>
                <a:srgbClr val="66FFFF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chemeClr val="bg1"/>
                </a:solidFill>
                <a:sym typeface="Symbol" panose="05050102010706020507" pitchFamily="18" charset="2"/>
              </a:rPr>
              <a:t></a:t>
            </a:r>
            <a:r>
              <a:rPr lang="en-US" altLang="zh-TW" sz="2400" b="1" baseline="-2500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 b="1">
                <a:solidFill>
                  <a:schemeClr val="bg1"/>
                </a:solidFill>
                <a:sym typeface="Symbol" panose="05050102010706020507" pitchFamily="18" charset="2"/>
              </a:rPr>
              <a:t>U</a:t>
            </a:r>
            <a:r>
              <a:rPr lang="en-US" altLang="zh-TW" sz="2400" b="1" baseline="-2500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 b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01065" name="Oval 8">
            <a:extLst>
              <a:ext uri="{FF2B5EF4-FFF2-40B4-BE49-F238E27FC236}">
                <a16:creationId xmlns:a16="http://schemas.microsoft.com/office/drawing/2014/main" id="{58AB0C8C-B8E1-4A29-B1F4-2C56FCA90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14800"/>
            <a:ext cx="1008063" cy="838200"/>
          </a:xfrm>
          <a:prstGeom prst="ellipse">
            <a:avLst/>
          </a:prstGeom>
          <a:solidFill>
            <a:schemeClr val="hlink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66FF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66FF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01066" name="Oval 9">
            <a:extLst>
              <a:ext uri="{FF2B5EF4-FFF2-40B4-BE49-F238E27FC236}">
                <a16:creationId xmlns:a16="http://schemas.microsoft.com/office/drawing/2014/main" id="{9EABB705-09ED-42CE-ADB9-A4ABECD9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005263"/>
            <a:ext cx="1008062" cy="57626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01067" name="Oval 10">
            <a:extLst>
              <a:ext uri="{FF2B5EF4-FFF2-40B4-BE49-F238E27FC236}">
                <a16:creationId xmlns:a16="http://schemas.microsoft.com/office/drawing/2014/main" id="{26716787-06E5-4F11-94E2-C5AC68A7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573463"/>
            <a:ext cx="1008063" cy="57626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01068" name="Oval 11">
            <a:extLst>
              <a:ext uri="{FF2B5EF4-FFF2-40B4-BE49-F238E27FC236}">
                <a16:creationId xmlns:a16="http://schemas.microsoft.com/office/drawing/2014/main" id="{7AE8D0F5-47A4-43C7-A3E2-74A76EDEB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157788"/>
            <a:ext cx="1008062" cy="57626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01069" name="Oval 12">
            <a:extLst>
              <a:ext uri="{FF2B5EF4-FFF2-40B4-BE49-F238E27FC236}">
                <a16:creationId xmlns:a16="http://schemas.microsoft.com/office/drawing/2014/main" id="{3A97B4CB-E419-453E-A57E-20A2DFBA3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44900"/>
            <a:ext cx="1008062" cy="5762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01070" name="Line 13">
            <a:extLst>
              <a:ext uri="{FF2B5EF4-FFF2-40B4-BE49-F238E27FC236}">
                <a16:creationId xmlns:a16="http://schemas.microsoft.com/office/drawing/2014/main" id="{F5461F5C-271F-4C86-8D8F-3698BBD05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5600" y="4648200"/>
            <a:ext cx="1498600" cy="7969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1071" name="Line 14">
            <a:extLst>
              <a:ext uri="{FF2B5EF4-FFF2-40B4-BE49-F238E27FC236}">
                <a16:creationId xmlns:a16="http://schemas.microsoft.com/office/drawing/2014/main" id="{82E1B573-30D5-42F9-8C14-18A8EB543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437063"/>
            <a:ext cx="1066800" cy="587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1072" name="Line 15">
            <a:extLst>
              <a:ext uri="{FF2B5EF4-FFF2-40B4-BE49-F238E27FC236}">
                <a16:creationId xmlns:a16="http://schemas.microsoft.com/office/drawing/2014/main" id="{0FD9EB2D-001E-4C99-A165-F5492C668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933825"/>
            <a:ext cx="1150938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1073" name="Arc 16">
            <a:extLst>
              <a:ext uri="{FF2B5EF4-FFF2-40B4-BE49-F238E27FC236}">
                <a16:creationId xmlns:a16="http://schemas.microsoft.com/office/drawing/2014/main" id="{920B4179-D699-4145-AB5F-4C02D15123EA}"/>
              </a:ext>
            </a:extLst>
          </p:cNvPr>
          <p:cNvSpPr>
            <a:spLocks/>
          </p:cNvSpPr>
          <p:nvPr/>
        </p:nvSpPr>
        <p:spPr bwMode="auto">
          <a:xfrm>
            <a:off x="1438275" y="3287713"/>
            <a:ext cx="1584325" cy="698500"/>
          </a:xfrm>
          <a:custGeom>
            <a:avLst/>
            <a:gdLst>
              <a:gd name="T0" fmla="*/ 0 w 37424"/>
              <a:gd name="T1" fmla="*/ 2147483646 h 21600"/>
              <a:gd name="T2" fmla="*/ 2147483646 w 37424"/>
              <a:gd name="T3" fmla="*/ 2147483646 h 21600"/>
              <a:gd name="T4" fmla="*/ 2147483646 w 37424"/>
              <a:gd name="T5" fmla="*/ 2147483646 h 21600"/>
              <a:gd name="T6" fmla="*/ 0 60000 65536"/>
              <a:gd name="T7" fmla="*/ 0 60000 65536"/>
              <a:gd name="T8" fmla="*/ 0 60000 65536"/>
              <a:gd name="T9" fmla="*/ 0 w 37424"/>
              <a:gd name="T10" fmla="*/ 0 h 21600"/>
              <a:gd name="T11" fmla="*/ 37424 w 374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424" h="21600" fill="none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</a:path>
              <a:path w="37424" h="21600" stroke="0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  <a:lnTo>
                  <a:pt x="18790" y="21600"/>
                </a:lnTo>
                <a:lnTo>
                  <a:pt x="-1" y="10946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1074" name="Arc 17">
            <a:extLst>
              <a:ext uri="{FF2B5EF4-FFF2-40B4-BE49-F238E27FC236}">
                <a16:creationId xmlns:a16="http://schemas.microsoft.com/office/drawing/2014/main" id="{550E33A5-8D83-40CE-878A-9640338F6DA5}"/>
              </a:ext>
            </a:extLst>
          </p:cNvPr>
          <p:cNvSpPr>
            <a:spLocks/>
          </p:cNvSpPr>
          <p:nvPr/>
        </p:nvSpPr>
        <p:spPr bwMode="auto">
          <a:xfrm flipH="1" flipV="1">
            <a:off x="1403350" y="3789363"/>
            <a:ext cx="1584325" cy="698500"/>
          </a:xfrm>
          <a:custGeom>
            <a:avLst/>
            <a:gdLst>
              <a:gd name="T0" fmla="*/ 0 w 37424"/>
              <a:gd name="T1" fmla="*/ 2147483646 h 21600"/>
              <a:gd name="T2" fmla="*/ 2147483646 w 37424"/>
              <a:gd name="T3" fmla="*/ 2147483646 h 21600"/>
              <a:gd name="T4" fmla="*/ 2147483646 w 37424"/>
              <a:gd name="T5" fmla="*/ 2147483646 h 21600"/>
              <a:gd name="T6" fmla="*/ 0 60000 65536"/>
              <a:gd name="T7" fmla="*/ 0 60000 65536"/>
              <a:gd name="T8" fmla="*/ 0 60000 65536"/>
              <a:gd name="T9" fmla="*/ 0 w 37424"/>
              <a:gd name="T10" fmla="*/ 0 h 21600"/>
              <a:gd name="T11" fmla="*/ 37424 w 374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424" h="21600" fill="none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</a:path>
              <a:path w="37424" h="21600" stroke="0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  <a:lnTo>
                  <a:pt x="18790" y="21600"/>
                </a:lnTo>
                <a:lnTo>
                  <a:pt x="-1" y="10946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1075" name="Oval 18">
            <a:extLst>
              <a:ext uri="{FF2B5EF4-FFF2-40B4-BE49-F238E27FC236}">
                <a16:creationId xmlns:a16="http://schemas.microsoft.com/office/drawing/2014/main" id="{0441FDF1-E2AA-4BC4-B861-B56857A92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1916113"/>
            <a:ext cx="1008063" cy="576262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01076" name="Line 19">
            <a:extLst>
              <a:ext uri="{FF2B5EF4-FFF2-40B4-BE49-F238E27FC236}">
                <a16:creationId xmlns:a16="http://schemas.microsoft.com/office/drawing/2014/main" id="{E19FDF29-5011-4FCA-BF21-AFAEFEACE7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2349500"/>
            <a:ext cx="1873250" cy="17272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FB5E199-ACEF-4330-B235-D67D1289C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0"/>
            <a:ext cx="150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ym typeface="Symbol" panose="05050102010706020507" pitchFamily="18" charset="2"/>
              </a:rPr>
              <a:t></a:t>
            </a:r>
            <a:r>
              <a:rPr lang="en-US" altLang="zh-TW" sz="2800" b="1" baseline="-25000">
                <a:sym typeface="Symbol" panose="05050102010706020507" pitchFamily="18" charset="2"/>
              </a:rPr>
              <a:t>1</a:t>
            </a:r>
            <a:r>
              <a:rPr lang="en-US" altLang="zh-TW" sz="2800" b="1">
                <a:sym typeface="Symbol" panose="05050102010706020507" pitchFamily="18" charset="2"/>
              </a:rPr>
              <a:t>U</a:t>
            </a:r>
            <a:r>
              <a:rPr lang="en-US" altLang="zh-TW" sz="2800" b="1" baseline="-25000">
                <a:sym typeface="Symbol" panose="05050102010706020507" pitchFamily="18" charset="2"/>
              </a:rPr>
              <a:t>2</a:t>
            </a:r>
            <a:r>
              <a:rPr lang="en-US" altLang="zh-TW" sz="28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20687C1-A1C4-4AD3-8AE9-EBC9C2194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0"/>
            <a:ext cx="150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ym typeface="Symbol" panose="05050102010706020507" pitchFamily="18" charset="2"/>
              </a:rPr>
              <a:t></a:t>
            </a:r>
            <a:r>
              <a:rPr lang="en-US" altLang="zh-TW" sz="2800" b="1" baseline="-25000">
                <a:sym typeface="Symbol" panose="05050102010706020507" pitchFamily="18" charset="2"/>
              </a:rPr>
              <a:t>1</a:t>
            </a:r>
            <a:r>
              <a:rPr lang="en-US" altLang="zh-TW" sz="2800" b="1">
                <a:sym typeface="Symbol" panose="05050102010706020507" pitchFamily="18" charset="2"/>
              </a:rPr>
              <a:t>U</a:t>
            </a:r>
            <a:r>
              <a:rPr lang="en-US" altLang="zh-TW" sz="2800" b="1" baseline="-25000">
                <a:sym typeface="Symbol" panose="05050102010706020507" pitchFamily="18" charset="2"/>
              </a:rPr>
              <a:t>2</a:t>
            </a:r>
            <a:r>
              <a:rPr lang="en-US" altLang="zh-TW" sz="2800" b="1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4" grpId="0" animBg="1"/>
      <p:bldP spid="673795" grpId="0" animBg="1"/>
      <p:bldP spid="673796" grpId="0" animBg="1"/>
      <p:bldP spid="673799" grpId="0" animBg="1"/>
      <p:bldP spid="21" grpId="0"/>
      <p:bldP spid="23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投影片編號版面配置區 5">
            <a:extLst>
              <a:ext uri="{FF2B5EF4-FFF2-40B4-BE49-F238E27FC236}">
                <a16:creationId xmlns:a16="http://schemas.microsoft.com/office/drawing/2014/main" id="{3CCD2774-E6DD-4235-AEBC-2CD863C5E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83437A-8612-49A1-9780-9E818CD2893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03107" name="Rectangle 2">
            <a:extLst>
              <a:ext uri="{FF2B5EF4-FFF2-40B4-BE49-F238E27FC236}">
                <a16:creationId xmlns:a16="http://schemas.microsoft.com/office/drawing/2014/main" id="{250D715D-522D-4946-A663-EDD43F172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algorithm (5/6) </a:t>
            </a:r>
          </a:p>
        </p:txBody>
      </p:sp>
      <p:sp>
        <p:nvSpPr>
          <p:cNvPr id="303108" name="Rectangle 3">
            <a:extLst>
              <a:ext uri="{FF2B5EF4-FFF2-40B4-BE49-F238E27FC236}">
                <a16:creationId xmlns:a16="http://schemas.microsoft.com/office/drawing/2014/main" id="{D7A8C405-7FA4-4F11-B9F9-4A7897CBB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gfp(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/>
              <a:t>) /* greatest fixpoint algorithm */ 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    for all s, if 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L(s), L(s)=L(s)</a:t>
            </a:r>
            <a:r>
              <a:rPr lang="en-US" altLang="zh-TW" sz="2800">
                <a:sym typeface="Symbol" panose="05050102010706020507" pitchFamily="18" charset="2"/>
              </a:rPr>
              <a:t>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   for all s, if 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="1">
                <a:sym typeface="Symbol" panose="05050102010706020507" pitchFamily="18" charset="2"/>
              </a:rPr>
              <a:t></a:t>
            </a:r>
            <a:r>
              <a:rPr lang="en-US" altLang="zh-TW" sz="2800"/>
              <a:t>L(s) and </a:t>
            </a:r>
            <a:r>
              <a:rPr lang="en-US" altLang="zh-TW" sz="3400" b="1">
                <a:sym typeface="Symbol" panose="05050102010706020507" pitchFamily="18" charset="2"/>
              </a:rPr>
              <a:t></a:t>
            </a:r>
            <a:r>
              <a:rPr lang="en-US" altLang="zh-TW" sz="2800">
                <a:sym typeface="Symbol" panose="05050102010706020507" pitchFamily="18" charset="2"/>
              </a:rPr>
              <a:t>(s,s’)(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="1">
                <a:sym typeface="Euclid Symbol" pitchFamily="18" charset="2"/>
              </a:rPr>
              <a:t></a:t>
            </a:r>
            <a:r>
              <a:rPr lang="en-US" altLang="zh-TW" sz="2800"/>
              <a:t>L(s’)), </a:t>
            </a:r>
            <a:endParaRPr lang="en-US" altLang="zh-TW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		L(s)=L(s) </a:t>
            </a:r>
            <a:r>
              <a:rPr lang="en-US" altLang="zh-TW" sz="2800">
                <a:sym typeface="Symbol" panose="05050102010706020507" pitchFamily="18" charset="2"/>
              </a:rPr>
              <a:t>- </a:t>
            </a:r>
            <a:r>
              <a:rPr lang="en-US" altLang="zh-TW" sz="2800"/>
              <a:t>{</a:t>
            </a:r>
            <a:r>
              <a:rPr lang="en-US" altLang="zh-TW" sz="2800">
                <a:sym typeface="Symbol" panose="05050102010706020507" pitchFamily="18" charset="2"/>
              </a:rPr>
              <a:t></a:t>
            </a:r>
            <a:r>
              <a:rPr lang="en-US" altLang="zh-TW" sz="2800">
                <a:sym typeface="Wingdings 2" panose="05020102010507070707" pitchFamily="18" charset="2"/>
              </a:rPr>
              <a:t>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    } </a:t>
            </a:r>
            <a:r>
              <a:rPr lang="en-US" altLang="zh-TW" sz="2800">
                <a:sym typeface="Symbol" panose="05050102010706020507" pitchFamily="18" charset="2"/>
              </a:rPr>
              <a:t>until no more changes to L(s) for any s. </a:t>
            </a:r>
            <a:endParaRPr lang="en-US" altLang="zh-TW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The procedure terminates since S is finite in the Kripke structure. 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投影片編號版面配置區 5">
            <a:extLst>
              <a:ext uri="{FF2B5EF4-FFF2-40B4-BE49-F238E27FC236}">
                <a16:creationId xmlns:a16="http://schemas.microsoft.com/office/drawing/2014/main" id="{957104CB-7A4E-4F3B-9D69-4E7F0EC74C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37FB7C-30B5-43B2-AD3B-32CE97B6073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05155" name="Oval 2">
            <a:extLst>
              <a:ext uri="{FF2B5EF4-FFF2-40B4-BE49-F238E27FC236}">
                <a16:creationId xmlns:a16="http://schemas.microsoft.com/office/drawing/2014/main" id="{EC354D89-B6BA-4FCA-A7B2-82319CB40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8229600" cy="487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77891" name="Oval 3">
            <a:extLst>
              <a:ext uri="{FF2B5EF4-FFF2-40B4-BE49-F238E27FC236}">
                <a16:creationId xmlns:a16="http://schemas.microsoft.com/office/drawing/2014/main" id="{4250FC06-DA99-4553-88C9-5DEF945CD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349500"/>
            <a:ext cx="6372225" cy="424815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677892" name="Oval 4">
            <a:extLst>
              <a:ext uri="{FF2B5EF4-FFF2-40B4-BE49-F238E27FC236}">
                <a16:creationId xmlns:a16="http://schemas.microsoft.com/office/drawing/2014/main" id="{3B0328B9-3027-4A6B-B1C1-F17263518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75" y="3140075"/>
            <a:ext cx="3817938" cy="1944688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05158" name="Rectangle 5">
            <a:extLst>
              <a:ext uri="{FF2B5EF4-FFF2-40B4-BE49-F238E27FC236}">
                <a16:creationId xmlns:a16="http://schemas.microsoft.com/office/drawing/2014/main" id="{7CC472C3-E4DC-4B87-9880-6C44FFB2A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zh-TW"/>
              <a:t>CTL </a:t>
            </a:r>
            <a:br>
              <a:rPr lang="en-US" altLang="zh-TW"/>
            </a:br>
            <a:r>
              <a:rPr lang="en-US" altLang="zh-TW"/>
              <a:t> - model-checking algorithm (6/6)</a:t>
            </a:r>
            <a:endParaRPr lang="en-US" altLang="zh-TW">
              <a:latin typeface="Albertus Extra Bold" pitchFamily="34" charset="0"/>
            </a:endParaRPr>
          </a:p>
        </p:txBody>
      </p:sp>
      <p:sp>
        <p:nvSpPr>
          <p:cNvPr id="305159" name="Rectangle 6">
            <a:extLst>
              <a:ext uri="{FF2B5EF4-FFF2-40B4-BE49-F238E27FC236}">
                <a16:creationId xmlns:a16="http://schemas.microsoft.com/office/drawing/2014/main" id="{0B664296-020B-481B-9EA9-A845D3075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10200" cy="114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>
                <a:latin typeface="Albertus Extra Bold" pitchFamily="34" charset="0"/>
              </a:rPr>
              <a:t>Greatest fixpoint in modal logics</a:t>
            </a:r>
            <a:r>
              <a:rPr lang="en-US" altLang="zh-TW" sz="26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600"/>
              <a:t>iterative elimination</a:t>
            </a:r>
          </a:p>
        </p:txBody>
      </p:sp>
      <p:sp>
        <p:nvSpPr>
          <p:cNvPr id="305160" name="Oval 7">
            <a:extLst>
              <a:ext uri="{FF2B5EF4-FFF2-40B4-BE49-F238E27FC236}">
                <a16:creationId xmlns:a16="http://schemas.microsoft.com/office/drawing/2014/main" id="{8A1BE779-7BDE-4E2B-A101-DDE5CBD6F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4191000"/>
            <a:ext cx="1008063" cy="1109663"/>
          </a:xfrm>
          <a:prstGeom prst="ellipse">
            <a:avLst/>
          </a:prstGeom>
          <a:solidFill>
            <a:schemeClr val="hlink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66FFFF"/>
                </a:solidFill>
                <a:sym typeface="Symbol" panose="05050102010706020507" pitchFamily="18" charset="2"/>
              </a:rPr>
              <a:t>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</p:txBody>
      </p:sp>
      <p:sp>
        <p:nvSpPr>
          <p:cNvPr id="305161" name="Oval 8">
            <a:extLst>
              <a:ext uri="{FF2B5EF4-FFF2-40B4-BE49-F238E27FC236}">
                <a16:creationId xmlns:a16="http://schemas.microsoft.com/office/drawing/2014/main" id="{D7A1092A-6EF7-4CBD-B0F2-377C541EC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8" y="3429000"/>
            <a:ext cx="1008062" cy="115252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</p:txBody>
      </p:sp>
      <p:sp>
        <p:nvSpPr>
          <p:cNvPr id="305162" name="Oval 9">
            <a:extLst>
              <a:ext uri="{FF2B5EF4-FFF2-40B4-BE49-F238E27FC236}">
                <a16:creationId xmlns:a16="http://schemas.microsoft.com/office/drawing/2014/main" id="{1BCD168D-D325-4FB6-A431-C22827D25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3573463"/>
            <a:ext cx="1008063" cy="998537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</p:txBody>
      </p:sp>
      <p:sp>
        <p:nvSpPr>
          <p:cNvPr id="305163" name="Oval 10">
            <a:extLst>
              <a:ext uri="{FF2B5EF4-FFF2-40B4-BE49-F238E27FC236}">
                <a16:creationId xmlns:a16="http://schemas.microsoft.com/office/drawing/2014/main" id="{76B76B9E-5555-4B08-A9E9-EBD34D1FD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4800600"/>
            <a:ext cx="1008062" cy="1143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</p:txBody>
      </p:sp>
      <p:sp>
        <p:nvSpPr>
          <p:cNvPr id="305164" name="Oval 11">
            <a:extLst>
              <a:ext uri="{FF2B5EF4-FFF2-40B4-BE49-F238E27FC236}">
                <a16:creationId xmlns:a16="http://schemas.microsoft.com/office/drawing/2014/main" id="{22811778-8BC3-42B2-BA42-F108E962B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3" y="3644900"/>
            <a:ext cx="1008062" cy="10033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ym typeface="Symbol" panose="05050102010706020507" pitchFamily="18" charset="2"/>
              </a:rPr>
              <a:t></a:t>
            </a:r>
            <a:r>
              <a:rPr lang="en-US" altLang="zh-TW" sz="2400">
                <a:sym typeface="Wingdings 2" panose="05020102010507070707" pitchFamily="18" charset="2"/>
              </a:rPr>
              <a:t>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</a:t>
            </a:r>
          </a:p>
        </p:txBody>
      </p:sp>
      <p:sp>
        <p:nvSpPr>
          <p:cNvPr id="305165" name="Line 12">
            <a:extLst>
              <a:ext uri="{FF2B5EF4-FFF2-40B4-BE49-F238E27FC236}">
                <a16:creationId xmlns:a16="http://schemas.microsoft.com/office/drawing/2014/main" id="{FC84C764-758B-487C-9683-0A0218B19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953000"/>
            <a:ext cx="1219200" cy="4572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5166" name="Line 13">
            <a:extLst>
              <a:ext uri="{FF2B5EF4-FFF2-40B4-BE49-F238E27FC236}">
                <a16:creationId xmlns:a16="http://schemas.microsoft.com/office/drawing/2014/main" id="{9F802B45-8D34-4A6B-8810-2742BE8C2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114800"/>
            <a:ext cx="792163" cy="431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5167" name="Line 14">
            <a:extLst>
              <a:ext uri="{FF2B5EF4-FFF2-40B4-BE49-F238E27FC236}">
                <a16:creationId xmlns:a16="http://schemas.microsoft.com/office/drawing/2014/main" id="{F7830010-915B-4740-9DA5-DF7DB2810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4050" y="3933825"/>
            <a:ext cx="1098550" cy="2857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lg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5168" name="Arc 15">
            <a:extLst>
              <a:ext uri="{FF2B5EF4-FFF2-40B4-BE49-F238E27FC236}">
                <a16:creationId xmlns:a16="http://schemas.microsoft.com/office/drawing/2014/main" id="{23D01491-073A-4C8E-AC0F-9456AB69037D}"/>
              </a:ext>
            </a:extLst>
          </p:cNvPr>
          <p:cNvSpPr>
            <a:spLocks/>
          </p:cNvSpPr>
          <p:nvPr/>
        </p:nvSpPr>
        <p:spPr bwMode="auto">
          <a:xfrm>
            <a:off x="2193925" y="3287713"/>
            <a:ext cx="1584325" cy="698500"/>
          </a:xfrm>
          <a:custGeom>
            <a:avLst/>
            <a:gdLst>
              <a:gd name="T0" fmla="*/ 0 w 37424"/>
              <a:gd name="T1" fmla="*/ 2147483646 h 21600"/>
              <a:gd name="T2" fmla="*/ 2147483646 w 37424"/>
              <a:gd name="T3" fmla="*/ 2147483646 h 21600"/>
              <a:gd name="T4" fmla="*/ 2147483646 w 37424"/>
              <a:gd name="T5" fmla="*/ 2147483646 h 21600"/>
              <a:gd name="T6" fmla="*/ 0 60000 65536"/>
              <a:gd name="T7" fmla="*/ 0 60000 65536"/>
              <a:gd name="T8" fmla="*/ 0 60000 65536"/>
              <a:gd name="T9" fmla="*/ 0 w 37424"/>
              <a:gd name="T10" fmla="*/ 0 h 21600"/>
              <a:gd name="T11" fmla="*/ 37424 w 374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424" h="21600" fill="none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</a:path>
              <a:path w="37424" h="21600" stroke="0" extrusionOk="0">
                <a:moveTo>
                  <a:pt x="-1" y="10946"/>
                </a:moveTo>
                <a:cubicBezTo>
                  <a:pt x="3835" y="4181"/>
                  <a:pt x="11012" y="-1"/>
                  <a:pt x="18790" y="0"/>
                </a:cubicBezTo>
                <a:cubicBezTo>
                  <a:pt x="26455" y="0"/>
                  <a:pt x="33547" y="4062"/>
                  <a:pt x="37424" y="10675"/>
                </a:cubicBezTo>
                <a:lnTo>
                  <a:pt x="18790" y="21600"/>
                </a:lnTo>
                <a:lnTo>
                  <a:pt x="-1" y="10946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5169" name="Arc 16">
            <a:extLst>
              <a:ext uri="{FF2B5EF4-FFF2-40B4-BE49-F238E27FC236}">
                <a16:creationId xmlns:a16="http://schemas.microsoft.com/office/drawing/2014/main" id="{DCB788DB-9B09-47F6-BE7E-E0060FEB5BB8}"/>
              </a:ext>
            </a:extLst>
          </p:cNvPr>
          <p:cNvSpPr>
            <a:spLocks/>
          </p:cNvSpPr>
          <p:nvPr/>
        </p:nvSpPr>
        <p:spPr bwMode="auto">
          <a:xfrm flipH="1" flipV="1">
            <a:off x="2355850" y="3789363"/>
            <a:ext cx="1236663" cy="698500"/>
          </a:xfrm>
          <a:custGeom>
            <a:avLst/>
            <a:gdLst>
              <a:gd name="T0" fmla="*/ 0 w 29216"/>
              <a:gd name="T1" fmla="*/ 2147483646 h 21600"/>
              <a:gd name="T2" fmla="*/ 2147483646 w 29216"/>
              <a:gd name="T3" fmla="*/ 2147483646 h 21600"/>
              <a:gd name="T4" fmla="*/ 2147483646 w 29216"/>
              <a:gd name="T5" fmla="*/ 2147483646 h 21600"/>
              <a:gd name="T6" fmla="*/ 0 60000 65536"/>
              <a:gd name="T7" fmla="*/ 0 60000 65536"/>
              <a:gd name="T8" fmla="*/ 0 60000 65536"/>
              <a:gd name="T9" fmla="*/ 0 w 29216"/>
              <a:gd name="T10" fmla="*/ 0 h 21600"/>
              <a:gd name="T11" fmla="*/ 29216 w 2921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216" h="21600" fill="none" extrusionOk="0">
                <a:moveTo>
                  <a:pt x="-1" y="6339"/>
                </a:moveTo>
                <a:cubicBezTo>
                  <a:pt x="4051" y="2280"/>
                  <a:pt x="9551" y="-1"/>
                  <a:pt x="15287" y="0"/>
                </a:cubicBezTo>
                <a:cubicBezTo>
                  <a:pt x="20385" y="0"/>
                  <a:pt x="25319" y="1803"/>
                  <a:pt x="29215" y="5091"/>
                </a:cubicBezTo>
              </a:path>
              <a:path w="29216" h="21600" stroke="0" extrusionOk="0">
                <a:moveTo>
                  <a:pt x="-1" y="6339"/>
                </a:moveTo>
                <a:cubicBezTo>
                  <a:pt x="4051" y="2280"/>
                  <a:pt x="9551" y="-1"/>
                  <a:pt x="15287" y="0"/>
                </a:cubicBezTo>
                <a:cubicBezTo>
                  <a:pt x="20385" y="0"/>
                  <a:pt x="25319" y="1803"/>
                  <a:pt x="29215" y="5091"/>
                </a:cubicBezTo>
                <a:lnTo>
                  <a:pt x="15287" y="21600"/>
                </a:lnTo>
                <a:lnTo>
                  <a:pt x="-1" y="6339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3F740EFD-3351-484A-99D2-453023FB04F5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4800600"/>
            <a:ext cx="720725" cy="360363"/>
            <a:chOff x="4105" y="3702"/>
            <a:chExt cx="454" cy="227"/>
          </a:xfrm>
        </p:grpSpPr>
        <p:sp>
          <p:nvSpPr>
            <p:cNvPr id="305177" name="Line 18">
              <a:extLst>
                <a:ext uri="{FF2B5EF4-FFF2-40B4-BE49-F238E27FC236}">
                  <a16:creationId xmlns:a16="http://schemas.microsoft.com/office/drawing/2014/main" id="{EAA2D691-5B3A-4FC7-926E-272B3FB1A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" y="3702"/>
              <a:ext cx="362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5178" name="Line 19">
              <a:extLst>
                <a:ext uri="{FF2B5EF4-FFF2-40B4-BE49-F238E27FC236}">
                  <a16:creationId xmlns:a16="http://schemas.microsoft.com/office/drawing/2014/main" id="{1415AA2C-EF41-4480-A0BD-0951BDEEB8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3702"/>
              <a:ext cx="454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8A353456-18AE-438A-8E7C-5AEC86D7A37A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038600"/>
            <a:ext cx="720725" cy="360363"/>
            <a:chOff x="4105" y="3702"/>
            <a:chExt cx="454" cy="227"/>
          </a:xfrm>
        </p:grpSpPr>
        <p:sp>
          <p:nvSpPr>
            <p:cNvPr id="305175" name="Line 21">
              <a:extLst>
                <a:ext uri="{FF2B5EF4-FFF2-40B4-BE49-F238E27FC236}">
                  <a16:creationId xmlns:a16="http://schemas.microsoft.com/office/drawing/2014/main" id="{9A720307-47BD-40EA-AE3B-3141D2DD2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" y="3702"/>
              <a:ext cx="362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5176" name="Line 22">
              <a:extLst>
                <a:ext uri="{FF2B5EF4-FFF2-40B4-BE49-F238E27FC236}">
                  <a16:creationId xmlns:a16="http://schemas.microsoft.com/office/drawing/2014/main" id="{FD10FC99-5CAA-40CB-8D12-1275325F3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3702"/>
              <a:ext cx="454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89098949-5383-4CC8-BA0D-0079E5B5FD2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334000"/>
            <a:ext cx="720725" cy="360363"/>
            <a:chOff x="4105" y="3702"/>
            <a:chExt cx="454" cy="227"/>
          </a:xfrm>
        </p:grpSpPr>
        <p:sp>
          <p:nvSpPr>
            <p:cNvPr id="305173" name="Line 24">
              <a:extLst>
                <a:ext uri="{FF2B5EF4-FFF2-40B4-BE49-F238E27FC236}">
                  <a16:creationId xmlns:a16="http://schemas.microsoft.com/office/drawing/2014/main" id="{0FECBFD1-BF0A-45DD-97DA-0604259DB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" y="3702"/>
              <a:ext cx="362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5174" name="Line 25">
              <a:extLst>
                <a:ext uri="{FF2B5EF4-FFF2-40B4-BE49-F238E27FC236}">
                  <a16:creationId xmlns:a16="http://schemas.microsoft.com/office/drawing/2014/main" id="{38AC1139-DC57-4F38-94D4-3E5796B18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3702"/>
              <a:ext cx="454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1" grpId="0" animBg="1"/>
      <p:bldP spid="67789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投影片編號版面配置區 5">
            <a:extLst>
              <a:ext uri="{FF2B5EF4-FFF2-40B4-BE49-F238E27FC236}">
                <a16:creationId xmlns:a16="http://schemas.microsoft.com/office/drawing/2014/main" id="{6B011DE8-4CF9-4F9C-AA4F-ACE6EAEF21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3BEEEB-6534-4FB2-9B9E-77A78716E03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07203" name="Oval 3">
            <a:extLst>
              <a:ext uri="{FF2B5EF4-FFF2-40B4-BE49-F238E27FC236}">
                <a16:creationId xmlns:a16="http://schemas.microsoft.com/office/drawing/2014/main" id="{1A9419A5-2610-4AE4-83E9-33DFA1ECD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07204" name="Oval 4">
            <a:extLst>
              <a:ext uri="{FF2B5EF4-FFF2-40B4-BE49-F238E27FC236}">
                <a16:creationId xmlns:a16="http://schemas.microsoft.com/office/drawing/2014/main" id="{C7485AA7-68C8-410D-B79B-7A246018E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</p:txBody>
      </p:sp>
      <p:sp>
        <p:nvSpPr>
          <p:cNvPr id="307205" name="Oval 5">
            <a:extLst>
              <a:ext uri="{FF2B5EF4-FFF2-40B4-BE49-F238E27FC236}">
                <a16:creationId xmlns:a16="http://schemas.microsoft.com/office/drawing/2014/main" id="{CC9CFCF6-E6EC-4C14-B78B-40D374E23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</p:txBody>
      </p:sp>
      <p:sp>
        <p:nvSpPr>
          <p:cNvPr id="307206" name="Oval 6">
            <a:extLst>
              <a:ext uri="{FF2B5EF4-FFF2-40B4-BE49-F238E27FC236}">
                <a16:creationId xmlns:a16="http://schemas.microsoft.com/office/drawing/2014/main" id="{9393CBA7-66CF-4FCE-B416-14B084489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</p:txBody>
      </p:sp>
      <p:sp>
        <p:nvSpPr>
          <p:cNvPr id="307207" name="Oval 7">
            <a:extLst>
              <a:ext uri="{FF2B5EF4-FFF2-40B4-BE49-F238E27FC236}">
                <a16:creationId xmlns:a16="http://schemas.microsoft.com/office/drawing/2014/main" id="{FEC2F18B-D97C-4160-B68D-3870A8C57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</p:txBody>
      </p:sp>
      <p:sp>
        <p:nvSpPr>
          <p:cNvPr id="307208" name="Line 8">
            <a:extLst>
              <a:ext uri="{FF2B5EF4-FFF2-40B4-BE49-F238E27FC236}">
                <a16:creationId xmlns:a16="http://schemas.microsoft.com/office/drawing/2014/main" id="{6A0BE9DB-1F03-438D-8BBB-5A51E2483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09" name="Line 9">
            <a:extLst>
              <a:ext uri="{FF2B5EF4-FFF2-40B4-BE49-F238E27FC236}">
                <a16:creationId xmlns:a16="http://schemas.microsoft.com/office/drawing/2014/main" id="{CBB4CEEE-B318-46CC-A9D7-1DEA21362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10" name="Line 10">
            <a:extLst>
              <a:ext uri="{FF2B5EF4-FFF2-40B4-BE49-F238E27FC236}">
                <a16:creationId xmlns:a16="http://schemas.microsoft.com/office/drawing/2014/main" id="{19AE4111-EA9F-40E4-B863-2F30549A6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11" name="Line 11">
            <a:extLst>
              <a:ext uri="{FF2B5EF4-FFF2-40B4-BE49-F238E27FC236}">
                <a16:creationId xmlns:a16="http://schemas.microsoft.com/office/drawing/2014/main" id="{AD92EAAD-2F55-42EE-A1CF-255F982DE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12" name="Line 12">
            <a:extLst>
              <a:ext uri="{FF2B5EF4-FFF2-40B4-BE49-F238E27FC236}">
                <a16:creationId xmlns:a16="http://schemas.microsoft.com/office/drawing/2014/main" id="{34142C22-D1B3-49CA-A115-6C9384FE09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13" name="Line 13">
            <a:extLst>
              <a:ext uri="{FF2B5EF4-FFF2-40B4-BE49-F238E27FC236}">
                <a16:creationId xmlns:a16="http://schemas.microsoft.com/office/drawing/2014/main" id="{461BA29E-81F6-4E91-BC1F-68F1813C1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07214" name="AutoShape 14">
            <a:extLst>
              <a:ext uri="{FF2B5EF4-FFF2-40B4-BE49-F238E27FC236}">
                <a16:creationId xmlns:a16="http://schemas.microsoft.com/office/drawing/2014/main" id="{67501C95-C051-406E-805A-ADD36ED9665F}"/>
              </a:ext>
            </a:extLst>
          </p:cNvPr>
          <p:cNvCxnSpPr>
            <a:cxnSpLocks noChangeShapeType="1"/>
            <a:stCxn id="307207" idx="5"/>
            <a:endCxn id="307207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15" name="Line 15">
            <a:extLst>
              <a:ext uri="{FF2B5EF4-FFF2-40B4-BE49-F238E27FC236}">
                <a16:creationId xmlns:a16="http://schemas.microsoft.com/office/drawing/2014/main" id="{0BB04C2F-F763-4D95-9200-41223B77EA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16" name="Rectangle 2">
            <a:extLst>
              <a:ext uri="{FF2B5EF4-FFF2-40B4-BE49-F238E27FC236}">
                <a16:creationId xmlns:a16="http://schemas.microsoft.com/office/drawing/2014/main" id="{9647B9E9-7EF9-465B-A69F-BEB200EA0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779587"/>
          </a:xfrm>
        </p:spPr>
        <p:txBody>
          <a:bodyPr/>
          <a:lstStyle/>
          <a:p>
            <a:pPr eaLnBrk="1" hangingPunct="1"/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 sz="3800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>
                <a:solidFill>
                  <a:schemeClr val="accent1"/>
                </a:solidFill>
              </a:rPr>
              <a:t>p</a:t>
            </a:r>
            <a:r>
              <a:rPr lang="en-US" altLang="zh-TW" sz="3800" i="1">
                <a:solidFill>
                  <a:schemeClr val="accent1"/>
                </a:solidFill>
              </a:rPr>
              <a:t>U</a:t>
            </a:r>
            <a:r>
              <a:rPr lang="en-US" altLang="zh-TW" sz="3800">
                <a:solidFill>
                  <a:schemeClr val="accent1"/>
                </a:solidFill>
              </a:rPr>
              <a:t>q) </a:t>
            </a:r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 sz="3800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>
                <a:solidFill>
                  <a:schemeClr val="accent1"/>
                </a:solidFill>
              </a:rPr>
              <a:t>p</a:t>
            </a:r>
            <a:br>
              <a:rPr lang="en-US" altLang="zh-TW" sz="3800" b="1" i="1">
                <a:solidFill>
                  <a:srgbClr val="00FF00"/>
                </a:solidFill>
              </a:rPr>
            </a:br>
            <a:r>
              <a:rPr lang="en-US" altLang="zh-TW" sz="3800" b="1" i="1">
                <a:solidFill>
                  <a:srgbClr val="00FF00"/>
                </a:solidFill>
                <a:latin typeface="Arial" panose="020B0604020202020204" pitchFamily="34" charset="0"/>
              </a:rPr>
              <a:t>Labeling funciton: </a:t>
            </a:r>
            <a:br>
              <a:rPr lang="en-US" altLang="zh-TW" sz="3800" b="1" i="1">
                <a:solidFill>
                  <a:srgbClr val="00FF00"/>
                </a:solidFill>
                <a:latin typeface="Arial" panose="020B0604020202020204" pitchFamily="34" charset="0"/>
              </a:rPr>
            </a:br>
            <a:r>
              <a:rPr lang="en-US" altLang="zh-TW" sz="3800">
                <a:solidFill>
                  <a:schemeClr val="tx1"/>
                </a:solidFill>
                <a:latin typeface="Arial" panose="020B0604020202020204" pitchFamily="34" charset="0"/>
              </a:rPr>
              <a:t>label the subforumulae true in each state.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投影片編號版面配置區 5">
            <a:extLst>
              <a:ext uri="{FF2B5EF4-FFF2-40B4-BE49-F238E27FC236}">
                <a16:creationId xmlns:a16="http://schemas.microsoft.com/office/drawing/2014/main" id="{29E39993-654C-42C1-9A01-4E14B1BF47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C2A1B2-22E4-4ED6-A358-EC34D1FBE71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09251" name="Freeform 2">
            <a:extLst>
              <a:ext uri="{FF2B5EF4-FFF2-40B4-BE49-F238E27FC236}">
                <a16:creationId xmlns:a16="http://schemas.microsoft.com/office/drawing/2014/main" id="{88F9DDB3-1C5F-4592-A221-00D691600A6F}"/>
              </a:ext>
            </a:extLst>
          </p:cNvPr>
          <p:cNvSpPr>
            <a:spLocks/>
          </p:cNvSpPr>
          <p:nvPr/>
        </p:nvSpPr>
        <p:spPr bwMode="auto">
          <a:xfrm>
            <a:off x="1403350" y="4005263"/>
            <a:ext cx="6840538" cy="2592387"/>
          </a:xfrm>
          <a:custGeom>
            <a:avLst/>
            <a:gdLst>
              <a:gd name="T0" fmla="*/ 0 w 4309"/>
              <a:gd name="T1" fmla="*/ 2147483646 h 1633"/>
              <a:gd name="T2" fmla="*/ 2147483646 w 4309"/>
              <a:gd name="T3" fmla="*/ 0 h 1633"/>
              <a:gd name="T4" fmla="*/ 2147483646 w 4309"/>
              <a:gd name="T5" fmla="*/ 0 h 1633"/>
              <a:gd name="T6" fmla="*/ 2147483646 w 4309"/>
              <a:gd name="T7" fmla="*/ 2147483646 h 1633"/>
              <a:gd name="T8" fmla="*/ 2147483646 w 4309"/>
              <a:gd name="T9" fmla="*/ 2147483646 h 1633"/>
              <a:gd name="T10" fmla="*/ 2147483646 w 4309"/>
              <a:gd name="T11" fmla="*/ 2147483646 h 1633"/>
              <a:gd name="T12" fmla="*/ 2147483646 w 4309"/>
              <a:gd name="T13" fmla="*/ 2147483646 h 1633"/>
              <a:gd name="T14" fmla="*/ 2147483646 w 4309"/>
              <a:gd name="T15" fmla="*/ 2147483646 h 1633"/>
              <a:gd name="T16" fmla="*/ 2147483646 w 4309"/>
              <a:gd name="T17" fmla="*/ 2147483646 h 1633"/>
              <a:gd name="T18" fmla="*/ 2147483646 w 4309"/>
              <a:gd name="T19" fmla="*/ 2147483646 h 1633"/>
              <a:gd name="T20" fmla="*/ 2147483646 w 4309"/>
              <a:gd name="T21" fmla="*/ 2147483646 h 1633"/>
              <a:gd name="T22" fmla="*/ 2147483646 w 4309"/>
              <a:gd name="T23" fmla="*/ 2147483646 h 1633"/>
              <a:gd name="T24" fmla="*/ 2147483646 w 4309"/>
              <a:gd name="T25" fmla="*/ 2147483646 h 1633"/>
              <a:gd name="T26" fmla="*/ 0 w 4309"/>
              <a:gd name="T27" fmla="*/ 2147483646 h 16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309"/>
              <a:gd name="T43" fmla="*/ 0 h 1633"/>
              <a:gd name="T44" fmla="*/ 4309 w 4309"/>
              <a:gd name="T45" fmla="*/ 1633 h 163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309" h="1633">
                <a:moveTo>
                  <a:pt x="0" y="499"/>
                </a:moveTo>
                <a:lnTo>
                  <a:pt x="499" y="0"/>
                </a:lnTo>
                <a:lnTo>
                  <a:pt x="1316" y="0"/>
                </a:lnTo>
                <a:lnTo>
                  <a:pt x="1951" y="363"/>
                </a:lnTo>
                <a:lnTo>
                  <a:pt x="2994" y="181"/>
                </a:lnTo>
                <a:lnTo>
                  <a:pt x="3946" y="227"/>
                </a:lnTo>
                <a:lnTo>
                  <a:pt x="4309" y="680"/>
                </a:lnTo>
                <a:lnTo>
                  <a:pt x="3946" y="1406"/>
                </a:lnTo>
                <a:lnTo>
                  <a:pt x="2812" y="1633"/>
                </a:lnTo>
                <a:lnTo>
                  <a:pt x="2177" y="1225"/>
                </a:lnTo>
                <a:lnTo>
                  <a:pt x="1588" y="1315"/>
                </a:lnTo>
                <a:lnTo>
                  <a:pt x="635" y="1587"/>
                </a:lnTo>
                <a:lnTo>
                  <a:pt x="91" y="1134"/>
                </a:lnTo>
                <a:lnTo>
                  <a:pt x="0" y="499"/>
                </a:lnTo>
                <a:close/>
              </a:path>
            </a:pathLst>
          </a:cu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9252" name="Rectangle 3">
            <a:extLst>
              <a:ext uri="{FF2B5EF4-FFF2-40B4-BE49-F238E27FC236}">
                <a16:creationId xmlns:a16="http://schemas.microsoft.com/office/drawing/2014/main" id="{EDF76092-DBF4-46CA-911C-E7991CBB5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 sz="3800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>
                <a:solidFill>
                  <a:schemeClr val="accent1"/>
                </a:solidFill>
              </a:rPr>
              <a:t>p</a:t>
            </a:r>
            <a:r>
              <a:rPr lang="en-US" altLang="zh-TW" sz="3800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3800">
                <a:solidFill>
                  <a:schemeClr val="accent1"/>
                </a:solidFill>
              </a:rPr>
              <a:t>q) </a:t>
            </a:r>
            <a:r>
              <a:rPr lang="en-US" altLang="zh-TW" sz="3800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 sz="3800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>
                <a:solidFill>
                  <a:schemeClr val="accent1"/>
                </a:solidFill>
              </a:rPr>
              <a:t>p</a:t>
            </a:r>
            <a:br>
              <a:rPr lang="en-US" altLang="zh-TW" sz="3800">
                <a:solidFill>
                  <a:schemeClr val="accent1"/>
                </a:solidFill>
              </a:rPr>
            </a:br>
            <a:r>
              <a:rPr lang="en-US" altLang="zh-TW" sz="3800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</a:rPr>
              <a:t>pUq using least fixpoint</a:t>
            </a:r>
          </a:p>
        </p:txBody>
      </p:sp>
      <p:sp>
        <p:nvSpPr>
          <p:cNvPr id="309253" name="Oval 4">
            <a:extLst>
              <a:ext uri="{FF2B5EF4-FFF2-40B4-BE49-F238E27FC236}">
                <a16:creationId xmlns:a16="http://schemas.microsoft.com/office/drawing/2014/main" id="{73AAF942-77B2-4ECF-AB31-C64FD15C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09254" name="Oval 5">
            <a:extLst>
              <a:ext uri="{FF2B5EF4-FFF2-40B4-BE49-F238E27FC236}">
                <a16:creationId xmlns:a16="http://schemas.microsoft.com/office/drawing/2014/main" id="{747B26B6-B69B-4DA8-B05D-1F386C5C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09255" name="Oval 6">
            <a:extLst>
              <a:ext uri="{FF2B5EF4-FFF2-40B4-BE49-F238E27FC236}">
                <a16:creationId xmlns:a16="http://schemas.microsoft.com/office/drawing/2014/main" id="{88D3788B-3626-47F6-9FF9-C12606FAC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09256" name="Oval 7">
            <a:extLst>
              <a:ext uri="{FF2B5EF4-FFF2-40B4-BE49-F238E27FC236}">
                <a16:creationId xmlns:a16="http://schemas.microsoft.com/office/drawing/2014/main" id="{9F22910E-38CB-49B0-90E1-E5852AF42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</p:txBody>
      </p:sp>
      <p:sp>
        <p:nvSpPr>
          <p:cNvPr id="309257" name="Oval 8">
            <a:extLst>
              <a:ext uri="{FF2B5EF4-FFF2-40B4-BE49-F238E27FC236}">
                <a16:creationId xmlns:a16="http://schemas.microsoft.com/office/drawing/2014/main" id="{BC2F7409-67A1-4CA8-A3BE-BCBEDE9CA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</p:txBody>
      </p:sp>
      <p:sp>
        <p:nvSpPr>
          <p:cNvPr id="309258" name="Line 9">
            <a:extLst>
              <a:ext uri="{FF2B5EF4-FFF2-40B4-BE49-F238E27FC236}">
                <a16:creationId xmlns:a16="http://schemas.microsoft.com/office/drawing/2014/main" id="{E84C334A-7BFE-4815-AB09-AD5329F25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59" name="Line 10">
            <a:extLst>
              <a:ext uri="{FF2B5EF4-FFF2-40B4-BE49-F238E27FC236}">
                <a16:creationId xmlns:a16="http://schemas.microsoft.com/office/drawing/2014/main" id="{4FFDF95C-1F48-4553-9A2E-8C44950CA0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60" name="Line 11">
            <a:extLst>
              <a:ext uri="{FF2B5EF4-FFF2-40B4-BE49-F238E27FC236}">
                <a16:creationId xmlns:a16="http://schemas.microsoft.com/office/drawing/2014/main" id="{8F44101F-AB12-4680-A5E3-AD0AA1528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61" name="Line 12">
            <a:extLst>
              <a:ext uri="{FF2B5EF4-FFF2-40B4-BE49-F238E27FC236}">
                <a16:creationId xmlns:a16="http://schemas.microsoft.com/office/drawing/2014/main" id="{93C6465E-85F3-4616-A665-C94E92B48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62" name="Line 13">
            <a:extLst>
              <a:ext uri="{FF2B5EF4-FFF2-40B4-BE49-F238E27FC236}">
                <a16:creationId xmlns:a16="http://schemas.microsoft.com/office/drawing/2014/main" id="{10114E94-EB4B-4A27-9336-88E1FBF940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63" name="Line 14">
            <a:extLst>
              <a:ext uri="{FF2B5EF4-FFF2-40B4-BE49-F238E27FC236}">
                <a16:creationId xmlns:a16="http://schemas.microsoft.com/office/drawing/2014/main" id="{D83202A9-9439-4ACA-A084-BC33CB861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09264" name="AutoShape 15">
            <a:extLst>
              <a:ext uri="{FF2B5EF4-FFF2-40B4-BE49-F238E27FC236}">
                <a16:creationId xmlns:a16="http://schemas.microsoft.com/office/drawing/2014/main" id="{E0A2DE4D-7DCA-4CD7-9861-9AB0BADD118A}"/>
              </a:ext>
            </a:extLst>
          </p:cNvPr>
          <p:cNvCxnSpPr>
            <a:cxnSpLocks noChangeShapeType="1"/>
            <a:stCxn id="309257" idx="5"/>
            <a:endCxn id="309257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9265" name="Text Box 16">
            <a:extLst>
              <a:ext uri="{FF2B5EF4-FFF2-40B4-BE49-F238E27FC236}">
                <a16:creationId xmlns:a16="http://schemas.microsoft.com/office/drawing/2014/main" id="{B254ED4D-6E1E-4EAB-8E82-822CD0E62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00213"/>
            <a:ext cx="2484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/>
              <a:t>Iteration 0</a:t>
            </a:r>
          </a:p>
        </p:txBody>
      </p:sp>
      <p:sp>
        <p:nvSpPr>
          <p:cNvPr id="309266" name="Line 17">
            <a:extLst>
              <a:ext uri="{FF2B5EF4-FFF2-40B4-BE49-F238E27FC236}">
                <a16:creationId xmlns:a16="http://schemas.microsoft.com/office/drawing/2014/main" id="{F751E864-17CB-40DA-BD61-CDD5A1EB28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267" name="Text Box 18">
            <a:extLst>
              <a:ext uri="{FF2B5EF4-FFF2-40B4-BE49-F238E27FC236}">
                <a16:creationId xmlns:a16="http://schemas.microsoft.com/office/drawing/2014/main" id="{99EBA7D5-3D64-422A-A5E8-3A12941B0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79742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投影片編號版面配置區 5">
            <a:extLst>
              <a:ext uri="{FF2B5EF4-FFF2-40B4-BE49-F238E27FC236}">
                <a16:creationId xmlns:a16="http://schemas.microsoft.com/office/drawing/2014/main" id="{FA25DD9D-F5D3-4FC8-B701-F9E70A6E5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A0D225-646F-45A4-83F3-B4928C050B6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11299" name="Freeform 2">
            <a:extLst>
              <a:ext uri="{FF2B5EF4-FFF2-40B4-BE49-F238E27FC236}">
                <a16:creationId xmlns:a16="http://schemas.microsoft.com/office/drawing/2014/main" id="{1470487A-AC85-41EA-8398-0F12FF2FA813}"/>
              </a:ext>
            </a:extLst>
          </p:cNvPr>
          <p:cNvSpPr>
            <a:spLocks/>
          </p:cNvSpPr>
          <p:nvPr/>
        </p:nvSpPr>
        <p:spPr bwMode="auto">
          <a:xfrm>
            <a:off x="1187450" y="1700213"/>
            <a:ext cx="7345363" cy="5041900"/>
          </a:xfrm>
          <a:custGeom>
            <a:avLst/>
            <a:gdLst>
              <a:gd name="T0" fmla="*/ 0 w 4627"/>
              <a:gd name="T1" fmla="*/ 2147483646 h 3176"/>
              <a:gd name="T2" fmla="*/ 2147483646 w 4627"/>
              <a:gd name="T3" fmla="*/ 2147483646 h 3176"/>
              <a:gd name="T4" fmla="*/ 2147483646 w 4627"/>
              <a:gd name="T5" fmla="*/ 2147483646 h 3176"/>
              <a:gd name="T6" fmla="*/ 2147483646 w 4627"/>
              <a:gd name="T7" fmla="*/ 2147483646 h 3176"/>
              <a:gd name="T8" fmla="*/ 2147483646 w 4627"/>
              <a:gd name="T9" fmla="*/ 2147483646 h 3176"/>
              <a:gd name="T10" fmla="*/ 2147483646 w 4627"/>
              <a:gd name="T11" fmla="*/ 0 h 3176"/>
              <a:gd name="T12" fmla="*/ 2147483646 w 4627"/>
              <a:gd name="T13" fmla="*/ 0 h 3176"/>
              <a:gd name="T14" fmla="*/ 2147483646 w 4627"/>
              <a:gd name="T15" fmla="*/ 2147483646 h 3176"/>
              <a:gd name="T16" fmla="*/ 2147483646 w 4627"/>
              <a:gd name="T17" fmla="*/ 2147483646 h 3176"/>
              <a:gd name="T18" fmla="*/ 2147483646 w 4627"/>
              <a:gd name="T19" fmla="*/ 2147483646 h 3176"/>
              <a:gd name="T20" fmla="*/ 2147483646 w 4627"/>
              <a:gd name="T21" fmla="*/ 2147483646 h 3176"/>
              <a:gd name="T22" fmla="*/ 2147483646 w 4627"/>
              <a:gd name="T23" fmla="*/ 2147483646 h 3176"/>
              <a:gd name="T24" fmla="*/ 2147483646 w 4627"/>
              <a:gd name="T25" fmla="*/ 2147483646 h 3176"/>
              <a:gd name="T26" fmla="*/ 2147483646 w 4627"/>
              <a:gd name="T27" fmla="*/ 2147483646 h 3176"/>
              <a:gd name="T28" fmla="*/ 2147483646 w 4627"/>
              <a:gd name="T29" fmla="*/ 2147483646 h 3176"/>
              <a:gd name="T30" fmla="*/ 2147483646 w 4627"/>
              <a:gd name="T31" fmla="*/ 2147483646 h 3176"/>
              <a:gd name="T32" fmla="*/ 2147483646 w 4627"/>
              <a:gd name="T33" fmla="*/ 2147483646 h 3176"/>
              <a:gd name="T34" fmla="*/ 2147483646 w 4627"/>
              <a:gd name="T35" fmla="*/ 2147483646 h 3176"/>
              <a:gd name="T36" fmla="*/ 0 w 4627"/>
              <a:gd name="T37" fmla="*/ 2147483646 h 317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627"/>
              <a:gd name="T58" fmla="*/ 0 h 3176"/>
              <a:gd name="T59" fmla="*/ 4627 w 4627"/>
              <a:gd name="T60" fmla="*/ 3176 h 317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627" h="3176">
                <a:moveTo>
                  <a:pt x="0" y="1951"/>
                </a:moveTo>
                <a:lnTo>
                  <a:pt x="590" y="1361"/>
                </a:lnTo>
                <a:lnTo>
                  <a:pt x="1497" y="1361"/>
                </a:lnTo>
                <a:lnTo>
                  <a:pt x="1769" y="1134"/>
                </a:lnTo>
                <a:lnTo>
                  <a:pt x="1678" y="409"/>
                </a:lnTo>
                <a:lnTo>
                  <a:pt x="1951" y="0"/>
                </a:lnTo>
                <a:lnTo>
                  <a:pt x="2631" y="0"/>
                </a:lnTo>
                <a:lnTo>
                  <a:pt x="2903" y="363"/>
                </a:lnTo>
                <a:lnTo>
                  <a:pt x="2903" y="908"/>
                </a:lnTo>
                <a:lnTo>
                  <a:pt x="3357" y="1452"/>
                </a:lnTo>
                <a:lnTo>
                  <a:pt x="4219" y="1543"/>
                </a:lnTo>
                <a:lnTo>
                  <a:pt x="4627" y="2087"/>
                </a:lnTo>
                <a:lnTo>
                  <a:pt x="4173" y="2903"/>
                </a:lnTo>
                <a:lnTo>
                  <a:pt x="2948" y="3176"/>
                </a:lnTo>
                <a:lnTo>
                  <a:pt x="2268" y="2813"/>
                </a:lnTo>
                <a:lnTo>
                  <a:pt x="1452" y="2903"/>
                </a:lnTo>
                <a:lnTo>
                  <a:pt x="771" y="3085"/>
                </a:lnTo>
                <a:lnTo>
                  <a:pt x="182" y="2677"/>
                </a:lnTo>
                <a:lnTo>
                  <a:pt x="0" y="1951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1300" name="Freeform 3">
            <a:extLst>
              <a:ext uri="{FF2B5EF4-FFF2-40B4-BE49-F238E27FC236}">
                <a16:creationId xmlns:a16="http://schemas.microsoft.com/office/drawing/2014/main" id="{E0CEF93C-C684-4CE1-A49C-7B6460911636}"/>
              </a:ext>
            </a:extLst>
          </p:cNvPr>
          <p:cNvSpPr>
            <a:spLocks/>
          </p:cNvSpPr>
          <p:nvPr/>
        </p:nvSpPr>
        <p:spPr bwMode="auto">
          <a:xfrm>
            <a:off x="1403350" y="4005263"/>
            <a:ext cx="6840538" cy="2592387"/>
          </a:xfrm>
          <a:custGeom>
            <a:avLst/>
            <a:gdLst>
              <a:gd name="T0" fmla="*/ 0 w 4309"/>
              <a:gd name="T1" fmla="*/ 2147483646 h 1633"/>
              <a:gd name="T2" fmla="*/ 2147483646 w 4309"/>
              <a:gd name="T3" fmla="*/ 0 h 1633"/>
              <a:gd name="T4" fmla="*/ 2147483646 w 4309"/>
              <a:gd name="T5" fmla="*/ 0 h 1633"/>
              <a:gd name="T6" fmla="*/ 2147483646 w 4309"/>
              <a:gd name="T7" fmla="*/ 2147483646 h 1633"/>
              <a:gd name="T8" fmla="*/ 2147483646 w 4309"/>
              <a:gd name="T9" fmla="*/ 2147483646 h 1633"/>
              <a:gd name="T10" fmla="*/ 2147483646 w 4309"/>
              <a:gd name="T11" fmla="*/ 2147483646 h 1633"/>
              <a:gd name="T12" fmla="*/ 2147483646 w 4309"/>
              <a:gd name="T13" fmla="*/ 2147483646 h 1633"/>
              <a:gd name="T14" fmla="*/ 2147483646 w 4309"/>
              <a:gd name="T15" fmla="*/ 2147483646 h 1633"/>
              <a:gd name="T16" fmla="*/ 2147483646 w 4309"/>
              <a:gd name="T17" fmla="*/ 2147483646 h 1633"/>
              <a:gd name="T18" fmla="*/ 2147483646 w 4309"/>
              <a:gd name="T19" fmla="*/ 2147483646 h 1633"/>
              <a:gd name="T20" fmla="*/ 2147483646 w 4309"/>
              <a:gd name="T21" fmla="*/ 2147483646 h 1633"/>
              <a:gd name="T22" fmla="*/ 2147483646 w 4309"/>
              <a:gd name="T23" fmla="*/ 2147483646 h 1633"/>
              <a:gd name="T24" fmla="*/ 2147483646 w 4309"/>
              <a:gd name="T25" fmla="*/ 2147483646 h 1633"/>
              <a:gd name="T26" fmla="*/ 0 w 4309"/>
              <a:gd name="T27" fmla="*/ 2147483646 h 16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309"/>
              <a:gd name="T43" fmla="*/ 0 h 1633"/>
              <a:gd name="T44" fmla="*/ 4309 w 4309"/>
              <a:gd name="T45" fmla="*/ 1633 h 163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309" h="1633">
                <a:moveTo>
                  <a:pt x="0" y="499"/>
                </a:moveTo>
                <a:lnTo>
                  <a:pt x="499" y="0"/>
                </a:lnTo>
                <a:lnTo>
                  <a:pt x="1316" y="0"/>
                </a:lnTo>
                <a:lnTo>
                  <a:pt x="1951" y="363"/>
                </a:lnTo>
                <a:lnTo>
                  <a:pt x="2994" y="181"/>
                </a:lnTo>
                <a:lnTo>
                  <a:pt x="3946" y="227"/>
                </a:lnTo>
                <a:lnTo>
                  <a:pt x="4309" y="680"/>
                </a:lnTo>
                <a:lnTo>
                  <a:pt x="3946" y="1406"/>
                </a:lnTo>
                <a:lnTo>
                  <a:pt x="2812" y="1633"/>
                </a:lnTo>
                <a:lnTo>
                  <a:pt x="2177" y="1225"/>
                </a:lnTo>
                <a:lnTo>
                  <a:pt x="1588" y="1315"/>
                </a:lnTo>
                <a:lnTo>
                  <a:pt x="635" y="1587"/>
                </a:lnTo>
                <a:lnTo>
                  <a:pt x="91" y="1134"/>
                </a:lnTo>
                <a:lnTo>
                  <a:pt x="0" y="499"/>
                </a:lnTo>
                <a:close/>
              </a:path>
            </a:pathLst>
          </a:cu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1301" name="Rectangle 4">
            <a:extLst>
              <a:ext uri="{FF2B5EF4-FFF2-40B4-BE49-F238E27FC236}">
                <a16:creationId xmlns:a16="http://schemas.microsoft.com/office/drawing/2014/main" id="{56A25653-6401-458D-A6FD-3781B2EA2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532812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</a:rPr>
              <a:t>pUq using least fixpoint</a:t>
            </a:r>
          </a:p>
        </p:txBody>
      </p:sp>
      <p:sp>
        <p:nvSpPr>
          <p:cNvPr id="311302" name="Oval 5">
            <a:extLst>
              <a:ext uri="{FF2B5EF4-FFF2-40B4-BE49-F238E27FC236}">
                <a16:creationId xmlns:a16="http://schemas.microsoft.com/office/drawing/2014/main" id="{CDC6F713-532E-43B5-B22B-D5AA70DD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11303" name="Oval 6">
            <a:extLst>
              <a:ext uri="{FF2B5EF4-FFF2-40B4-BE49-F238E27FC236}">
                <a16:creationId xmlns:a16="http://schemas.microsoft.com/office/drawing/2014/main" id="{9C283A01-9268-43C7-BA7B-B1103A069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1304" name="Oval 7">
            <a:extLst>
              <a:ext uri="{FF2B5EF4-FFF2-40B4-BE49-F238E27FC236}">
                <a16:creationId xmlns:a16="http://schemas.microsoft.com/office/drawing/2014/main" id="{BBB738B1-05BC-4C82-87F3-4EF6FDB4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1305" name="Oval 8">
            <a:extLst>
              <a:ext uri="{FF2B5EF4-FFF2-40B4-BE49-F238E27FC236}">
                <a16:creationId xmlns:a16="http://schemas.microsoft.com/office/drawing/2014/main" id="{DE5B9A3A-F5E7-4F33-8D5F-12C87D6F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1306" name="Oval 9">
            <a:extLst>
              <a:ext uri="{FF2B5EF4-FFF2-40B4-BE49-F238E27FC236}">
                <a16:creationId xmlns:a16="http://schemas.microsoft.com/office/drawing/2014/main" id="{974E4686-5B1F-43CC-AD19-D4EF32B4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</p:txBody>
      </p:sp>
      <p:sp>
        <p:nvSpPr>
          <p:cNvPr id="311307" name="Line 10">
            <a:extLst>
              <a:ext uri="{FF2B5EF4-FFF2-40B4-BE49-F238E27FC236}">
                <a16:creationId xmlns:a16="http://schemas.microsoft.com/office/drawing/2014/main" id="{D503CEA5-1937-43AF-928C-72A0A33B19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08" name="Line 11">
            <a:extLst>
              <a:ext uri="{FF2B5EF4-FFF2-40B4-BE49-F238E27FC236}">
                <a16:creationId xmlns:a16="http://schemas.microsoft.com/office/drawing/2014/main" id="{6A45F635-96A2-4519-A5F7-6DA86A02AD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09" name="Line 12">
            <a:extLst>
              <a:ext uri="{FF2B5EF4-FFF2-40B4-BE49-F238E27FC236}">
                <a16:creationId xmlns:a16="http://schemas.microsoft.com/office/drawing/2014/main" id="{261498F5-FA11-48A4-8C15-74846E398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10" name="Line 13">
            <a:extLst>
              <a:ext uri="{FF2B5EF4-FFF2-40B4-BE49-F238E27FC236}">
                <a16:creationId xmlns:a16="http://schemas.microsoft.com/office/drawing/2014/main" id="{13A2E0B8-BFB7-4939-9424-09DEE9D6C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11" name="Line 14">
            <a:extLst>
              <a:ext uri="{FF2B5EF4-FFF2-40B4-BE49-F238E27FC236}">
                <a16:creationId xmlns:a16="http://schemas.microsoft.com/office/drawing/2014/main" id="{528EBBA1-99D7-4B05-9C7D-02F28543A6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12" name="Line 15">
            <a:extLst>
              <a:ext uri="{FF2B5EF4-FFF2-40B4-BE49-F238E27FC236}">
                <a16:creationId xmlns:a16="http://schemas.microsoft.com/office/drawing/2014/main" id="{C722374F-F9EC-4984-871E-42D424115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11313" name="AutoShape 16">
            <a:extLst>
              <a:ext uri="{FF2B5EF4-FFF2-40B4-BE49-F238E27FC236}">
                <a16:creationId xmlns:a16="http://schemas.microsoft.com/office/drawing/2014/main" id="{FAC806D4-5E29-4B81-AB8A-BE531282CD1A}"/>
              </a:ext>
            </a:extLst>
          </p:cNvPr>
          <p:cNvCxnSpPr>
            <a:cxnSpLocks noChangeShapeType="1"/>
            <a:stCxn id="311306" idx="5"/>
            <a:endCxn id="311306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314" name="Text Box 17">
            <a:extLst>
              <a:ext uri="{FF2B5EF4-FFF2-40B4-BE49-F238E27FC236}">
                <a16:creationId xmlns:a16="http://schemas.microsoft.com/office/drawing/2014/main" id="{1932A3BB-78AF-4733-9517-BD3CE711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00213"/>
            <a:ext cx="2484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/>
              <a:t>Iteration 1</a:t>
            </a:r>
          </a:p>
        </p:txBody>
      </p:sp>
      <p:sp>
        <p:nvSpPr>
          <p:cNvPr id="311315" name="Line 18">
            <a:extLst>
              <a:ext uri="{FF2B5EF4-FFF2-40B4-BE49-F238E27FC236}">
                <a16:creationId xmlns:a16="http://schemas.microsoft.com/office/drawing/2014/main" id="{BEBF9067-B5DE-4E40-A1B5-8CD7E2B1B2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1316" name="Rectangle 19">
            <a:extLst>
              <a:ext uri="{FF2B5EF4-FFF2-40B4-BE49-F238E27FC236}">
                <a16:creationId xmlns:a16="http://schemas.microsoft.com/office/drawing/2014/main" id="{455605DB-ADB2-4A95-9D21-92A14301C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724400"/>
            <a:ext cx="153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0</a:t>
            </a:r>
          </a:p>
        </p:txBody>
      </p:sp>
      <p:sp>
        <p:nvSpPr>
          <p:cNvPr id="311317" name="Rectangle 20">
            <a:extLst>
              <a:ext uri="{FF2B5EF4-FFF2-40B4-BE49-F238E27FC236}">
                <a16:creationId xmlns:a16="http://schemas.microsoft.com/office/drawing/2014/main" id="{EBFB91DF-9CC0-4A40-A397-BB88B10C8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789363"/>
            <a:ext cx="153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1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投影片編號版面配置區 5">
            <a:extLst>
              <a:ext uri="{FF2B5EF4-FFF2-40B4-BE49-F238E27FC236}">
                <a16:creationId xmlns:a16="http://schemas.microsoft.com/office/drawing/2014/main" id="{FC0AD28B-185E-4F50-9F00-E88A3F2FB4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C85C09-E7E8-4595-A691-D8734F09CE4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13347" name="Freeform 2">
            <a:extLst>
              <a:ext uri="{FF2B5EF4-FFF2-40B4-BE49-F238E27FC236}">
                <a16:creationId xmlns:a16="http://schemas.microsoft.com/office/drawing/2014/main" id="{36BE5B5A-4C89-4669-AA91-2980B27867AC}"/>
              </a:ext>
            </a:extLst>
          </p:cNvPr>
          <p:cNvSpPr>
            <a:spLocks/>
          </p:cNvSpPr>
          <p:nvPr/>
        </p:nvSpPr>
        <p:spPr bwMode="auto">
          <a:xfrm>
            <a:off x="971550" y="1628775"/>
            <a:ext cx="7777163" cy="5256213"/>
          </a:xfrm>
          <a:custGeom>
            <a:avLst/>
            <a:gdLst>
              <a:gd name="T0" fmla="*/ 2147483646 w 4899"/>
              <a:gd name="T1" fmla="*/ 2147483646 h 3311"/>
              <a:gd name="T2" fmla="*/ 0 w 4899"/>
              <a:gd name="T3" fmla="*/ 2147483646 h 3311"/>
              <a:gd name="T4" fmla="*/ 2147483646 w 4899"/>
              <a:gd name="T5" fmla="*/ 2147483646 h 3311"/>
              <a:gd name="T6" fmla="*/ 2147483646 w 4899"/>
              <a:gd name="T7" fmla="*/ 2147483646 h 3311"/>
              <a:gd name="T8" fmla="*/ 2147483646 w 4899"/>
              <a:gd name="T9" fmla="*/ 2147483646 h 3311"/>
              <a:gd name="T10" fmla="*/ 2147483646 w 4899"/>
              <a:gd name="T11" fmla="*/ 2147483646 h 3311"/>
              <a:gd name="T12" fmla="*/ 2147483646 w 4899"/>
              <a:gd name="T13" fmla="*/ 0 h 3311"/>
              <a:gd name="T14" fmla="*/ 2147483646 w 4899"/>
              <a:gd name="T15" fmla="*/ 0 h 3311"/>
              <a:gd name="T16" fmla="*/ 2147483646 w 4899"/>
              <a:gd name="T17" fmla="*/ 2147483646 h 3311"/>
              <a:gd name="T18" fmla="*/ 2147483646 w 4899"/>
              <a:gd name="T19" fmla="*/ 2147483646 h 3311"/>
              <a:gd name="T20" fmla="*/ 2147483646 w 4899"/>
              <a:gd name="T21" fmla="*/ 2147483646 h 3311"/>
              <a:gd name="T22" fmla="*/ 2147483646 w 4899"/>
              <a:gd name="T23" fmla="*/ 2147483646 h 3311"/>
              <a:gd name="T24" fmla="*/ 2147483646 w 4899"/>
              <a:gd name="T25" fmla="*/ 2147483646 h 3311"/>
              <a:gd name="T26" fmla="*/ 2147483646 w 4899"/>
              <a:gd name="T27" fmla="*/ 2147483646 h 3311"/>
              <a:gd name="T28" fmla="*/ 2147483646 w 4899"/>
              <a:gd name="T29" fmla="*/ 2147483646 h 3311"/>
              <a:gd name="T30" fmla="*/ 2147483646 w 4899"/>
              <a:gd name="T31" fmla="*/ 2147483646 h 3311"/>
              <a:gd name="T32" fmla="*/ 2147483646 w 4899"/>
              <a:gd name="T33" fmla="*/ 2147483646 h 331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4899"/>
              <a:gd name="T52" fmla="*/ 0 h 3311"/>
              <a:gd name="T53" fmla="*/ 4899 w 4899"/>
              <a:gd name="T54" fmla="*/ 3311 h 331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4899" h="3311">
                <a:moveTo>
                  <a:pt x="227" y="2767"/>
                </a:moveTo>
                <a:lnTo>
                  <a:pt x="0" y="1950"/>
                </a:lnTo>
                <a:lnTo>
                  <a:pt x="680" y="1315"/>
                </a:lnTo>
                <a:lnTo>
                  <a:pt x="1542" y="1315"/>
                </a:lnTo>
                <a:lnTo>
                  <a:pt x="1814" y="1134"/>
                </a:lnTo>
                <a:lnTo>
                  <a:pt x="1724" y="408"/>
                </a:lnTo>
                <a:lnTo>
                  <a:pt x="2041" y="0"/>
                </a:lnTo>
                <a:lnTo>
                  <a:pt x="2858" y="0"/>
                </a:lnTo>
                <a:lnTo>
                  <a:pt x="4400" y="318"/>
                </a:lnTo>
                <a:lnTo>
                  <a:pt x="4808" y="816"/>
                </a:lnTo>
                <a:lnTo>
                  <a:pt x="4536" y="1588"/>
                </a:lnTo>
                <a:lnTo>
                  <a:pt x="4899" y="2177"/>
                </a:lnTo>
                <a:lnTo>
                  <a:pt x="4355" y="2994"/>
                </a:lnTo>
                <a:lnTo>
                  <a:pt x="3039" y="3311"/>
                </a:lnTo>
                <a:lnTo>
                  <a:pt x="2313" y="2948"/>
                </a:lnTo>
                <a:lnTo>
                  <a:pt x="862" y="3221"/>
                </a:lnTo>
                <a:lnTo>
                  <a:pt x="227" y="2767"/>
                </a:lnTo>
                <a:close/>
              </a:path>
            </a:pathLst>
          </a:custGeom>
          <a:solidFill>
            <a:srgbClr val="FFFF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3348" name="Freeform 3">
            <a:extLst>
              <a:ext uri="{FF2B5EF4-FFF2-40B4-BE49-F238E27FC236}">
                <a16:creationId xmlns:a16="http://schemas.microsoft.com/office/drawing/2014/main" id="{F048D0FA-C0C1-47D4-ABFD-4629A91A2DBD}"/>
              </a:ext>
            </a:extLst>
          </p:cNvPr>
          <p:cNvSpPr>
            <a:spLocks/>
          </p:cNvSpPr>
          <p:nvPr/>
        </p:nvSpPr>
        <p:spPr bwMode="auto">
          <a:xfrm>
            <a:off x="1187450" y="1700213"/>
            <a:ext cx="7345363" cy="5041900"/>
          </a:xfrm>
          <a:custGeom>
            <a:avLst/>
            <a:gdLst>
              <a:gd name="T0" fmla="*/ 0 w 4627"/>
              <a:gd name="T1" fmla="*/ 2147483646 h 3176"/>
              <a:gd name="T2" fmla="*/ 2147483646 w 4627"/>
              <a:gd name="T3" fmla="*/ 2147483646 h 3176"/>
              <a:gd name="T4" fmla="*/ 2147483646 w 4627"/>
              <a:gd name="T5" fmla="*/ 2147483646 h 3176"/>
              <a:gd name="T6" fmla="*/ 2147483646 w 4627"/>
              <a:gd name="T7" fmla="*/ 2147483646 h 3176"/>
              <a:gd name="T8" fmla="*/ 2147483646 w 4627"/>
              <a:gd name="T9" fmla="*/ 2147483646 h 3176"/>
              <a:gd name="T10" fmla="*/ 2147483646 w 4627"/>
              <a:gd name="T11" fmla="*/ 0 h 3176"/>
              <a:gd name="T12" fmla="*/ 2147483646 w 4627"/>
              <a:gd name="T13" fmla="*/ 0 h 3176"/>
              <a:gd name="T14" fmla="*/ 2147483646 w 4627"/>
              <a:gd name="T15" fmla="*/ 2147483646 h 3176"/>
              <a:gd name="T16" fmla="*/ 2147483646 w 4627"/>
              <a:gd name="T17" fmla="*/ 2147483646 h 3176"/>
              <a:gd name="T18" fmla="*/ 2147483646 w 4627"/>
              <a:gd name="T19" fmla="*/ 2147483646 h 3176"/>
              <a:gd name="T20" fmla="*/ 2147483646 w 4627"/>
              <a:gd name="T21" fmla="*/ 2147483646 h 3176"/>
              <a:gd name="T22" fmla="*/ 2147483646 w 4627"/>
              <a:gd name="T23" fmla="*/ 2147483646 h 3176"/>
              <a:gd name="T24" fmla="*/ 2147483646 w 4627"/>
              <a:gd name="T25" fmla="*/ 2147483646 h 3176"/>
              <a:gd name="T26" fmla="*/ 2147483646 w 4627"/>
              <a:gd name="T27" fmla="*/ 2147483646 h 3176"/>
              <a:gd name="T28" fmla="*/ 2147483646 w 4627"/>
              <a:gd name="T29" fmla="*/ 2147483646 h 3176"/>
              <a:gd name="T30" fmla="*/ 2147483646 w 4627"/>
              <a:gd name="T31" fmla="*/ 2147483646 h 3176"/>
              <a:gd name="T32" fmla="*/ 2147483646 w 4627"/>
              <a:gd name="T33" fmla="*/ 2147483646 h 3176"/>
              <a:gd name="T34" fmla="*/ 2147483646 w 4627"/>
              <a:gd name="T35" fmla="*/ 2147483646 h 3176"/>
              <a:gd name="T36" fmla="*/ 0 w 4627"/>
              <a:gd name="T37" fmla="*/ 2147483646 h 317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627"/>
              <a:gd name="T58" fmla="*/ 0 h 3176"/>
              <a:gd name="T59" fmla="*/ 4627 w 4627"/>
              <a:gd name="T60" fmla="*/ 3176 h 317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627" h="3176">
                <a:moveTo>
                  <a:pt x="0" y="1951"/>
                </a:moveTo>
                <a:lnTo>
                  <a:pt x="590" y="1361"/>
                </a:lnTo>
                <a:lnTo>
                  <a:pt x="1497" y="1361"/>
                </a:lnTo>
                <a:lnTo>
                  <a:pt x="1769" y="1134"/>
                </a:lnTo>
                <a:lnTo>
                  <a:pt x="1678" y="409"/>
                </a:lnTo>
                <a:lnTo>
                  <a:pt x="1951" y="0"/>
                </a:lnTo>
                <a:lnTo>
                  <a:pt x="2631" y="0"/>
                </a:lnTo>
                <a:lnTo>
                  <a:pt x="2903" y="363"/>
                </a:lnTo>
                <a:lnTo>
                  <a:pt x="2903" y="908"/>
                </a:lnTo>
                <a:lnTo>
                  <a:pt x="3357" y="1452"/>
                </a:lnTo>
                <a:lnTo>
                  <a:pt x="4219" y="1543"/>
                </a:lnTo>
                <a:lnTo>
                  <a:pt x="4627" y="2087"/>
                </a:lnTo>
                <a:lnTo>
                  <a:pt x="4173" y="2903"/>
                </a:lnTo>
                <a:lnTo>
                  <a:pt x="2948" y="3176"/>
                </a:lnTo>
                <a:lnTo>
                  <a:pt x="2268" y="2813"/>
                </a:lnTo>
                <a:lnTo>
                  <a:pt x="1452" y="2903"/>
                </a:lnTo>
                <a:lnTo>
                  <a:pt x="771" y="3085"/>
                </a:lnTo>
                <a:lnTo>
                  <a:pt x="182" y="2677"/>
                </a:lnTo>
                <a:lnTo>
                  <a:pt x="0" y="1951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3349" name="Freeform 4">
            <a:extLst>
              <a:ext uri="{FF2B5EF4-FFF2-40B4-BE49-F238E27FC236}">
                <a16:creationId xmlns:a16="http://schemas.microsoft.com/office/drawing/2014/main" id="{4A095DDC-C698-4A3D-B1BC-A0999804B2D8}"/>
              </a:ext>
            </a:extLst>
          </p:cNvPr>
          <p:cNvSpPr>
            <a:spLocks/>
          </p:cNvSpPr>
          <p:nvPr/>
        </p:nvSpPr>
        <p:spPr bwMode="auto">
          <a:xfrm>
            <a:off x="1403350" y="4005263"/>
            <a:ext cx="6840538" cy="2592387"/>
          </a:xfrm>
          <a:custGeom>
            <a:avLst/>
            <a:gdLst>
              <a:gd name="T0" fmla="*/ 0 w 4309"/>
              <a:gd name="T1" fmla="*/ 2147483646 h 1633"/>
              <a:gd name="T2" fmla="*/ 2147483646 w 4309"/>
              <a:gd name="T3" fmla="*/ 0 h 1633"/>
              <a:gd name="T4" fmla="*/ 2147483646 w 4309"/>
              <a:gd name="T5" fmla="*/ 0 h 1633"/>
              <a:gd name="T6" fmla="*/ 2147483646 w 4309"/>
              <a:gd name="T7" fmla="*/ 2147483646 h 1633"/>
              <a:gd name="T8" fmla="*/ 2147483646 w 4309"/>
              <a:gd name="T9" fmla="*/ 2147483646 h 1633"/>
              <a:gd name="T10" fmla="*/ 2147483646 w 4309"/>
              <a:gd name="T11" fmla="*/ 2147483646 h 1633"/>
              <a:gd name="T12" fmla="*/ 2147483646 w 4309"/>
              <a:gd name="T13" fmla="*/ 2147483646 h 1633"/>
              <a:gd name="T14" fmla="*/ 2147483646 w 4309"/>
              <a:gd name="T15" fmla="*/ 2147483646 h 1633"/>
              <a:gd name="T16" fmla="*/ 2147483646 w 4309"/>
              <a:gd name="T17" fmla="*/ 2147483646 h 1633"/>
              <a:gd name="T18" fmla="*/ 2147483646 w 4309"/>
              <a:gd name="T19" fmla="*/ 2147483646 h 1633"/>
              <a:gd name="T20" fmla="*/ 2147483646 w 4309"/>
              <a:gd name="T21" fmla="*/ 2147483646 h 1633"/>
              <a:gd name="T22" fmla="*/ 2147483646 w 4309"/>
              <a:gd name="T23" fmla="*/ 2147483646 h 1633"/>
              <a:gd name="T24" fmla="*/ 2147483646 w 4309"/>
              <a:gd name="T25" fmla="*/ 2147483646 h 1633"/>
              <a:gd name="T26" fmla="*/ 0 w 4309"/>
              <a:gd name="T27" fmla="*/ 2147483646 h 16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309"/>
              <a:gd name="T43" fmla="*/ 0 h 1633"/>
              <a:gd name="T44" fmla="*/ 4309 w 4309"/>
              <a:gd name="T45" fmla="*/ 1633 h 163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309" h="1633">
                <a:moveTo>
                  <a:pt x="0" y="499"/>
                </a:moveTo>
                <a:lnTo>
                  <a:pt x="499" y="0"/>
                </a:lnTo>
                <a:lnTo>
                  <a:pt x="1316" y="0"/>
                </a:lnTo>
                <a:lnTo>
                  <a:pt x="1951" y="363"/>
                </a:lnTo>
                <a:lnTo>
                  <a:pt x="2994" y="181"/>
                </a:lnTo>
                <a:lnTo>
                  <a:pt x="3946" y="227"/>
                </a:lnTo>
                <a:lnTo>
                  <a:pt x="4309" y="680"/>
                </a:lnTo>
                <a:lnTo>
                  <a:pt x="3946" y="1406"/>
                </a:lnTo>
                <a:lnTo>
                  <a:pt x="2812" y="1633"/>
                </a:lnTo>
                <a:lnTo>
                  <a:pt x="2177" y="1225"/>
                </a:lnTo>
                <a:lnTo>
                  <a:pt x="1588" y="1315"/>
                </a:lnTo>
                <a:lnTo>
                  <a:pt x="635" y="1587"/>
                </a:lnTo>
                <a:lnTo>
                  <a:pt x="91" y="1134"/>
                </a:lnTo>
                <a:lnTo>
                  <a:pt x="0" y="499"/>
                </a:lnTo>
                <a:close/>
              </a:path>
            </a:pathLst>
          </a:cu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3350" name="Rectangle 5">
            <a:extLst>
              <a:ext uri="{FF2B5EF4-FFF2-40B4-BE49-F238E27FC236}">
                <a16:creationId xmlns:a16="http://schemas.microsoft.com/office/drawing/2014/main" id="{FFCAC197-B9E6-4029-B8D7-5B16A75E7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8388350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</a:rPr>
              <a:t>pUq using least fixpoint</a:t>
            </a:r>
          </a:p>
        </p:txBody>
      </p:sp>
      <p:sp>
        <p:nvSpPr>
          <p:cNvPr id="313351" name="Oval 6">
            <a:extLst>
              <a:ext uri="{FF2B5EF4-FFF2-40B4-BE49-F238E27FC236}">
                <a16:creationId xmlns:a16="http://schemas.microsoft.com/office/drawing/2014/main" id="{CD77C2AE-DFBE-401D-B10C-0D0EA6B7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13352" name="Oval 7">
            <a:extLst>
              <a:ext uri="{FF2B5EF4-FFF2-40B4-BE49-F238E27FC236}">
                <a16:creationId xmlns:a16="http://schemas.microsoft.com/office/drawing/2014/main" id="{8C4250EC-4C2B-4449-B265-97B16B600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3353" name="Oval 8">
            <a:extLst>
              <a:ext uri="{FF2B5EF4-FFF2-40B4-BE49-F238E27FC236}">
                <a16:creationId xmlns:a16="http://schemas.microsoft.com/office/drawing/2014/main" id="{3848A39C-22D9-4A31-819D-56F6B0BE6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3354" name="Oval 9">
            <a:extLst>
              <a:ext uri="{FF2B5EF4-FFF2-40B4-BE49-F238E27FC236}">
                <a16:creationId xmlns:a16="http://schemas.microsoft.com/office/drawing/2014/main" id="{4CB49010-3581-473E-A02F-6CDA0907B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3355" name="Oval 10">
            <a:extLst>
              <a:ext uri="{FF2B5EF4-FFF2-40B4-BE49-F238E27FC236}">
                <a16:creationId xmlns:a16="http://schemas.microsoft.com/office/drawing/2014/main" id="{5E081EF4-DAED-4B22-84AE-B3639E774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33CC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3356" name="Line 11">
            <a:extLst>
              <a:ext uri="{FF2B5EF4-FFF2-40B4-BE49-F238E27FC236}">
                <a16:creationId xmlns:a16="http://schemas.microsoft.com/office/drawing/2014/main" id="{302DA181-F106-49FB-814E-A195F9F9E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57" name="Line 12">
            <a:extLst>
              <a:ext uri="{FF2B5EF4-FFF2-40B4-BE49-F238E27FC236}">
                <a16:creationId xmlns:a16="http://schemas.microsoft.com/office/drawing/2014/main" id="{C23EF7D2-A566-49D7-B941-D676925F56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58" name="Line 13">
            <a:extLst>
              <a:ext uri="{FF2B5EF4-FFF2-40B4-BE49-F238E27FC236}">
                <a16:creationId xmlns:a16="http://schemas.microsoft.com/office/drawing/2014/main" id="{44A5E8BA-2FD5-46FD-9838-58164028A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59" name="Line 14">
            <a:extLst>
              <a:ext uri="{FF2B5EF4-FFF2-40B4-BE49-F238E27FC236}">
                <a16:creationId xmlns:a16="http://schemas.microsoft.com/office/drawing/2014/main" id="{AA6AFDFE-DF0F-47D0-865C-CFD915C2C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60" name="Line 15">
            <a:extLst>
              <a:ext uri="{FF2B5EF4-FFF2-40B4-BE49-F238E27FC236}">
                <a16:creationId xmlns:a16="http://schemas.microsoft.com/office/drawing/2014/main" id="{AE92B8C8-35DA-442C-ACF3-A01F4B5BD0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61" name="Line 16">
            <a:extLst>
              <a:ext uri="{FF2B5EF4-FFF2-40B4-BE49-F238E27FC236}">
                <a16:creationId xmlns:a16="http://schemas.microsoft.com/office/drawing/2014/main" id="{FDA81C25-5710-4DEB-84D6-005068370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13362" name="AutoShape 17">
            <a:extLst>
              <a:ext uri="{FF2B5EF4-FFF2-40B4-BE49-F238E27FC236}">
                <a16:creationId xmlns:a16="http://schemas.microsoft.com/office/drawing/2014/main" id="{D4637E75-89B5-4DF2-A43C-B9C4E884FA18}"/>
              </a:ext>
            </a:extLst>
          </p:cNvPr>
          <p:cNvCxnSpPr>
            <a:cxnSpLocks noChangeShapeType="1"/>
            <a:stCxn id="313355" idx="5"/>
            <a:endCxn id="313355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3363" name="Text Box 18">
            <a:extLst>
              <a:ext uri="{FF2B5EF4-FFF2-40B4-BE49-F238E27FC236}">
                <a16:creationId xmlns:a16="http://schemas.microsoft.com/office/drawing/2014/main" id="{3D365747-5FF0-4D07-8D3E-56BC8B893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00213"/>
            <a:ext cx="2484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/>
              <a:t>Iteration 2</a:t>
            </a:r>
          </a:p>
        </p:txBody>
      </p:sp>
      <p:sp>
        <p:nvSpPr>
          <p:cNvPr id="313364" name="Line 19">
            <a:extLst>
              <a:ext uri="{FF2B5EF4-FFF2-40B4-BE49-F238E27FC236}">
                <a16:creationId xmlns:a16="http://schemas.microsoft.com/office/drawing/2014/main" id="{60DDD04C-C6D3-4991-AAD1-B5FF42A4A0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3365" name="Rectangle 20">
            <a:extLst>
              <a:ext uri="{FF2B5EF4-FFF2-40B4-BE49-F238E27FC236}">
                <a16:creationId xmlns:a16="http://schemas.microsoft.com/office/drawing/2014/main" id="{23AA0E8D-ABB6-479D-938F-C5EEE79A8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724400"/>
            <a:ext cx="153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0</a:t>
            </a:r>
          </a:p>
        </p:txBody>
      </p:sp>
      <p:sp>
        <p:nvSpPr>
          <p:cNvPr id="313366" name="Rectangle 21">
            <a:extLst>
              <a:ext uri="{FF2B5EF4-FFF2-40B4-BE49-F238E27FC236}">
                <a16:creationId xmlns:a16="http://schemas.microsoft.com/office/drawing/2014/main" id="{46AA06B3-4C31-4620-87FE-5E3940FE8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860800"/>
            <a:ext cx="153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1</a:t>
            </a:r>
          </a:p>
        </p:txBody>
      </p:sp>
      <p:sp>
        <p:nvSpPr>
          <p:cNvPr id="313367" name="Rectangle 22">
            <a:extLst>
              <a:ext uri="{FF2B5EF4-FFF2-40B4-BE49-F238E27FC236}">
                <a16:creationId xmlns:a16="http://schemas.microsoft.com/office/drawing/2014/main" id="{57FAD575-EF99-4233-A888-8EB5FEEC0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1916113"/>
            <a:ext cx="153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Iteration 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投影片編號版面配置區 5">
            <a:extLst>
              <a:ext uri="{FF2B5EF4-FFF2-40B4-BE49-F238E27FC236}">
                <a16:creationId xmlns:a16="http://schemas.microsoft.com/office/drawing/2014/main" id="{FA40CDDB-F924-48F1-9F15-36AC070955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783CD9-E331-4CDB-AF45-3A0C24AD064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15395" name="Rectangle 2">
            <a:extLst>
              <a:ext uri="{FF2B5EF4-FFF2-40B4-BE49-F238E27FC236}">
                <a16:creationId xmlns:a16="http://schemas.microsoft.com/office/drawing/2014/main" id="{42937CCE-FB19-401E-8D68-E5D9CEE6D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</a:rPr>
              <a:t>pUq</a:t>
            </a:r>
          </a:p>
        </p:txBody>
      </p:sp>
      <p:sp>
        <p:nvSpPr>
          <p:cNvPr id="315396" name="Oval 3">
            <a:extLst>
              <a:ext uri="{FF2B5EF4-FFF2-40B4-BE49-F238E27FC236}">
                <a16:creationId xmlns:a16="http://schemas.microsoft.com/office/drawing/2014/main" id="{1EB52045-921C-46FB-BA1A-4F3044F0D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5397" name="Oval 4">
            <a:extLst>
              <a:ext uri="{FF2B5EF4-FFF2-40B4-BE49-F238E27FC236}">
                <a16:creationId xmlns:a16="http://schemas.microsoft.com/office/drawing/2014/main" id="{4D23B436-9BF3-423A-B071-D8AAD54F0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5398" name="Oval 5">
            <a:extLst>
              <a:ext uri="{FF2B5EF4-FFF2-40B4-BE49-F238E27FC236}">
                <a16:creationId xmlns:a16="http://schemas.microsoft.com/office/drawing/2014/main" id="{0D52C45A-8A49-4A88-AA6F-7EE3D6033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5399" name="Oval 6">
            <a:extLst>
              <a:ext uri="{FF2B5EF4-FFF2-40B4-BE49-F238E27FC236}">
                <a16:creationId xmlns:a16="http://schemas.microsoft.com/office/drawing/2014/main" id="{3E296196-BF28-4AA8-9845-9342B44B3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5400" name="Oval 7">
            <a:extLst>
              <a:ext uri="{FF2B5EF4-FFF2-40B4-BE49-F238E27FC236}">
                <a16:creationId xmlns:a16="http://schemas.microsoft.com/office/drawing/2014/main" id="{562B50D1-B163-499C-AEEA-23FBCE5B0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</a:rPr>
              <a:t>pUq</a:t>
            </a:r>
          </a:p>
        </p:txBody>
      </p:sp>
      <p:sp>
        <p:nvSpPr>
          <p:cNvPr id="315401" name="Line 8">
            <a:extLst>
              <a:ext uri="{FF2B5EF4-FFF2-40B4-BE49-F238E27FC236}">
                <a16:creationId xmlns:a16="http://schemas.microsoft.com/office/drawing/2014/main" id="{CC011206-EABD-4A6C-BF98-24F2438CDB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5402" name="Line 9">
            <a:extLst>
              <a:ext uri="{FF2B5EF4-FFF2-40B4-BE49-F238E27FC236}">
                <a16:creationId xmlns:a16="http://schemas.microsoft.com/office/drawing/2014/main" id="{186813EF-65A8-4A01-B762-CE61BB66F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5403" name="Line 10">
            <a:extLst>
              <a:ext uri="{FF2B5EF4-FFF2-40B4-BE49-F238E27FC236}">
                <a16:creationId xmlns:a16="http://schemas.microsoft.com/office/drawing/2014/main" id="{356A9FCF-6E7B-450C-9471-5425ADFAC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5404" name="Line 11">
            <a:extLst>
              <a:ext uri="{FF2B5EF4-FFF2-40B4-BE49-F238E27FC236}">
                <a16:creationId xmlns:a16="http://schemas.microsoft.com/office/drawing/2014/main" id="{4F475A4E-86E2-456A-B45F-62ED91E5D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5405" name="Line 12">
            <a:extLst>
              <a:ext uri="{FF2B5EF4-FFF2-40B4-BE49-F238E27FC236}">
                <a16:creationId xmlns:a16="http://schemas.microsoft.com/office/drawing/2014/main" id="{AFBBDF25-BDA6-4183-A3A6-209357175E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5406" name="Line 13">
            <a:extLst>
              <a:ext uri="{FF2B5EF4-FFF2-40B4-BE49-F238E27FC236}">
                <a16:creationId xmlns:a16="http://schemas.microsoft.com/office/drawing/2014/main" id="{48CBFA0E-E810-474A-85A1-2DFB3ACBE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15407" name="AutoShape 14">
            <a:extLst>
              <a:ext uri="{FF2B5EF4-FFF2-40B4-BE49-F238E27FC236}">
                <a16:creationId xmlns:a16="http://schemas.microsoft.com/office/drawing/2014/main" id="{59D5389E-4C29-4574-B1F9-55634972DFA9}"/>
              </a:ext>
            </a:extLst>
          </p:cNvPr>
          <p:cNvCxnSpPr>
            <a:cxnSpLocks noChangeShapeType="1"/>
            <a:stCxn id="315400" idx="5"/>
            <a:endCxn id="315400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5408" name="Line 15">
            <a:extLst>
              <a:ext uri="{FF2B5EF4-FFF2-40B4-BE49-F238E27FC236}">
                <a16:creationId xmlns:a16="http://schemas.microsoft.com/office/drawing/2014/main" id="{A337D0BC-3A20-4173-934F-CC48763447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投影片編號版面配置區 5">
            <a:extLst>
              <a:ext uri="{FF2B5EF4-FFF2-40B4-BE49-F238E27FC236}">
                <a16:creationId xmlns:a16="http://schemas.microsoft.com/office/drawing/2014/main" id="{00588311-F94B-4CAF-8683-236B216C79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3A094D-ABEE-44DF-8A30-75157CC33FE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17443" name="Freeform 2">
            <a:extLst>
              <a:ext uri="{FF2B5EF4-FFF2-40B4-BE49-F238E27FC236}">
                <a16:creationId xmlns:a16="http://schemas.microsoft.com/office/drawing/2014/main" id="{F2D30C42-8834-4320-818A-0933EFE3F190}"/>
              </a:ext>
            </a:extLst>
          </p:cNvPr>
          <p:cNvSpPr>
            <a:spLocks/>
          </p:cNvSpPr>
          <p:nvPr/>
        </p:nvSpPr>
        <p:spPr bwMode="auto">
          <a:xfrm>
            <a:off x="1692275" y="1628775"/>
            <a:ext cx="7056438" cy="4824413"/>
          </a:xfrm>
          <a:custGeom>
            <a:avLst/>
            <a:gdLst>
              <a:gd name="T0" fmla="*/ 0 w 4445"/>
              <a:gd name="T1" fmla="*/ 2147483646 h 3039"/>
              <a:gd name="T2" fmla="*/ 2147483646 w 4445"/>
              <a:gd name="T3" fmla="*/ 2147483646 h 3039"/>
              <a:gd name="T4" fmla="*/ 2147483646 w 4445"/>
              <a:gd name="T5" fmla="*/ 2147483646 h 3039"/>
              <a:gd name="T6" fmla="*/ 2147483646 w 4445"/>
              <a:gd name="T7" fmla="*/ 2147483646 h 3039"/>
              <a:gd name="T8" fmla="*/ 2147483646 w 4445"/>
              <a:gd name="T9" fmla="*/ 2147483646 h 3039"/>
              <a:gd name="T10" fmla="*/ 2147483646 w 4445"/>
              <a:gd name="T11" fmla="*/ 2147483646 h 3039"/>
              <a:gd name="T12" fmla="*/ 2147483646 w 4445"/>
              <a:gd name="T13" fmla="*/ 0 h 3039"/>
              <a:gd name="T14" fmla="*/ 2147483646 w 4445"/>
              <a:gd name="T15" fmla="*/ 2147483646 h 3039"/>
              <a:gd name="T16" fmla="*/ 2147483646 w 4445"/>
              <a:gd name="T17" fmla="*/ 2147483646 h 3039"/>
              <a:gd name="T18" fmla="*/ 2147483646 w 4445"/>
              <a:gd name="T19" fmla="*/ 2147483646 h 3039"/>
              <a:gd name="T20" fmla="*/ 2147483646 w 4445"/>
              <a:gd name="T21" fmla="*/ 2147483646 h 3039"/>
              <a:gd name="T22" fmla="*/ 2147483646 w 4445"/>
              <a:gd name="T23" fmla="*/ 2147483646 h 3039"/>
              <a:gd name="T24" fmla="*/ 2147483646 w 4445"/>
              <a:gd name="T25" fmla="*/ 2147483646 h 3039"/>
              <a:gd name="T26" fmla="*/ 0 w 4445"/>
              <a:gd name="T27" fmla="*/ 2147483646 h 303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445"/>
              <a:gd name="T43" fmla="*/ 0 h 3039"/>
              <a:gd name="T44" fmla="*/ 4445 w 4445"/>
              <a:gd name="T45" fmla="*/ 3039 h 303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445" h="3039">
                <a:moveTo>
                  <a:pt x="0" y="2132"/>
                </a:moveTo>
                <a:lnTo>
                  <a:pt x="272" y="1633"/>
                </a:lnTo>
                <a:lnTo>
                  <a:pt x="816" y="1452"/>
                </a:lnTo>
                <a:lnTo>
                  <a:pt x="1451" y="1043"/>
                </a:lnTo>
                <a:lnTo>
                  <a:pt x="1315" y="544"/>
                </a:lnTo>
                <a:lnTo>
                  <a:pt x="1633" y="45"/>
                </a:lnTo>
                <a:lnTo>
                  <a:pt x="2313" y="0"/>
                </a:lnTo>
                <a:lnTo>
                  <a:pt x="4037" y="272"/>
                </a:lnTo>
                <a:lnTo>
                  <a:pt x="4445" y="953"/>
                </a:lnTo>
                <a:lnTo>
                  <a:pt x="3946" y="1678"/>
                </a:lnTo>
                <a:lnTo>
                  <a:pt x="2268" y="1814"/>
                </a:lnTo>
                <a:lnTo>
                  <a:pt x="1179" y="2948"/>
                </a:lnTo>
                <a:lnTo>
                  <a:pt x="272" y="3039"/>
                </a:lnTo>
                <a:lnTo>
                  <a:pt x="0" y="2132"/>
                </a:lnTo>
                <a:close/>
              </a:path>
            </a:pathLst>
          </a:cu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7444" name="Rectangle 3">
            <a:extLst>
              <a:ext uri="{FF2B5EF4-FFF2-40B4-BE49-F238E27FC236}">
                <a16:creationId xmlns:a16="http://schemas.microsoft.com/office/drawing/2014/main" id="{C9A7ADDB-FE56-4EC5-8FCA-BC27321F1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 i="1">
                <a:solidFill>
                  <a:schemeClr val="accent1"/>
                </a:solidFill>
              </a:rPr>
              <a:t>p using greatest fixpoint</a:t>
            </a:r>
          </a:p>
        </p:txBody>
      </p:sp>
      <p:sp>
        <p:nvSpPr>
          <p:cNvPr id="317445" name="Oval 4">
            <a:extLst>
              <a:ext uri="{FF2B5EF4-FFF2-40B4-BE49-F238E27FC236}">
                <a16:creationId xmlns:a16="http://schemas.microsoft.com/office/drawing/2014/main" id="{78FEA07E-0246-4C29-932E-621BCE4DC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7446" name="Oval 5">
            <a:extLst>
              <a:ext uri="{FF2B5EF4-FFF2-40B4-BE49-F238E27FC236}">
                <a16:creationId xmlns:a16="http://schemas.microsoft.com/office/drawing/2014/main" id="{A6938CD1-A17F-4281-81C0-3B034AE73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7447" name="Oval 6">
            <a:extLst>
              <a:ext uri="{FF2B5EF4-FFF2-40B4-BE49-F238E27FC236}">
                <a16:creationId xmlns:a16="http://schemas.microsoft.com/office/drawing/2014/main" id="{B17DCF21-0DA2-4F5A-BDF3-8AFE6C2A7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7448" name="Oval 7">
            <a:extLst>
              <a:ext uri="{FF2B5EF4-FFF2-40B4-BE49-F238E27FC236}">
                <a16:creationId xmlns:a16="http://schemas.microsoft.com/office/drawing/2014/main" id="{922FA678-1555-458F-A0D1-E1FCCFC39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7449" name="Oval 8">
            <a:extLst>
              <a:ext uri="{FF2B5EF4-FFF2-40B4-BE49-F238E27FC236}">
                <a16:creationId xmlns:a16="http://schemas.microsoft.com/office/drawing/2014/main" id="{552045C7-831B-4444-B77D-116FAAFF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7450" name="Line 9">
            <a:extLst>
              <a:ext uri="{FF2B5EF4-FFF2-40B4-BE49-F238E27FC236}">
                <a16:creationId xmlns:a16="http://schemas.microsoft.com/office/drawing/2014/main" id="{C49DF61C-6135-4115-ACFC-8BC169C11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1" name="Line 10">
            <a:extLst>
              <a:ext uri="{FF2B5EF4-FFF2-40B4-BE49-F238E27FC236}">
                <a16:creationId xmlns:a16="http://schemas.microsoft.com/office/drawing/2014/main" id="{451F3EE5-464A-49BB-9589-50C025C8EE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2" name="Line 11">
            <a:extLst>
              <a:ext uri="{FF2B5EF4-FFF2-40B4-BE49-F238E27FC236}">
                <a16:creationId xmlns:a16="http://schemas.microsoft.com/office/drawing/2014/main" id="{DDD599CB-4E64-4CCB-9AB2-527AD43DE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3" name="Line 12">
            <a:extLst>
              <a:ext uri="{FF2B5EF4-FFF2-40B4-BE49-F238E27FC236}">
                <a16:creationId xmlns:a16="http://schemas.microsoft.com/office/drawing/2014/main" id="{9FC7F1B1-517E-4AAC-A6C0-9BF3376F1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4" name="Line 13">
            <a:extLst>
              <a:ext uri="{FF2B5EF4-FFF2-40B4-BE49-F238E27FC236}">
                <a16:creationId xmlns:a16="http://schemas.microsoft.com/office/drawing/2014/main" id="{A0D38FBE-9E1D-43D8-AEED-41F2DAECA1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5" name="Line 14">
            <a:extLst>
              <a:ext uri="{FF2B5EF4-FFF2-40B4-BE49-F238E27FC236}">
                <a16:creationId xmlns:a16="http://schemas.microsoft.com/office/drawing/2014/main" id="{89392436-2996-4F98-A807-CA2D0E74B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17456" name="AutoShape 15">
            <a:extLst>
              <a:ext uri="{FF2B5EF4-FFF2-40B4-BE49-F238E27FC236}">
                <a16:creationId xmlns:a16="http://schemas.microsoft.com/office/drawing/2014/main" id="{C50DE5E4-131D-43D2-A4D1-910DC70F8BF8}"/>
              </a:ext>
            </a:extLst>
          </p:cNvPr>
          <p:cNvCxnSpPr>
            <a:cxnSpLocks noChangeShapeType="1"/>
            <a:stCxn id="317449" idx="5"/>
            <a:endCxn id="317449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7" name="Line 16">
            <a:extLst>
              <a:ext uri="{FF2B5EF4-FFF2-40B4-BE49-F238E27FC236}">
                <a16:creationId xmlns:a16="http://schemas.microsoft.com/office/drawing/2014/main" id="{005EEBF4-5016-490B-87A9-C5C626865E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58" name="Text Box 17">
            <a:extLst>
              <a:ext uri="{FF2B5EF4-FFF2-40B4-BE49-F238E27FC236}">
                <a16:creationId xmlns:a16="http://schemas.microsoft.com/office/drawing/2014/main" id="{B865666C-D7BE-4CD8-A7C5-0169E2ED5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230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/>
              <a:t>Iteration 0</a:t>
            </a:r>
          </a:p>
        </p:txBody>
      </p:sp>
      <p:sp>
        <p:nvSpPr>
          <p:cNvPr id="317459" name="Line 18">
            <a:extLst>
              <a:ext uri="{FF2B5EF4-FFF2-40B4-BE49-F238E27FC236}">
                <a16:creationId xmlns:a16="http://schemas.microsoft.com/office/drawing/2014/main" id="{ED7A0B13-E5AA-44C8-B6A7-37C9B5654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852738"/>
            <a:ext cx="5746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60" name="Line 19">
            <a:extLst>
              <a:ext uri="{FF2B5EF4-FFF2-40B4-BE49-F238E27FC236}">
                <a16:creationId xmlns:a16="http://schemas.microsoft.com/office/drawing/2014/main" id="{A42CB236-CB6B-4414-809E-355AC37132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2852738"/>
            <a:ext cx="72072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317461" name="Group 23">
            <a:extLst>
              <a:ext uri="{FF2B5EF4-FFF2-40B4-BE49-F238E27FC236}">
                <a16:creationId xmlns:a16="http://schemas.microsoft.com/office/drawing/2014/main" id="{4F291392-929D-484B-A154-62D08705EF4E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5876925"/>
            <a:ext cx="720725" cy="360363"/>
            <a:chOff x="4105" y="3702"/>
            <a:chExt cx="454" cy="227"/>
          </a:xfrm>
        </p:grpSpPr>
        <p:sp>
          <p:nvSpPr>
            <p:cNvPr id="317463" name="Line 20">
              <a:extLst>
                <a:ext uri="{FF2B5EF4-FFF2-40B4-BE49-F238E27FC236}">
                  <a16:creationId xmlns:a16="http://schemas.microsoft.com/office/drawing/2014/main" id="{BD41CC31-C3FC-48F7-B2D1-D7BC59D1D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" y="3702"/>
              <a:ext cx="362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7464" name="Line 21">
              <a:extLst>
                <a:ext uri="{FF2B5EF4-FFF2-40B4-BE49-F238E27FC236}">
                  <a16:creationId xmlns:a16="http://schemas.microsoft.com/office/drawing/2014/main" id="{76A36A8E-5276-412C-A2C6-3F07B2606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3702"/>
              <a:ext cx="454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17462" name="Text Box 22">
            <a:extLst>
              <a:ext uri="{FF2B5EF4-FFF2-40B4-BE49-F238E27FC236}">
                <a16:creationId xmlns:a16="http://schemas.microsoft.com/office/drawing/2014/main" id="{EE67D3B5-7657-4FCB-BB04-D30A865A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149725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/>
              <a:t>Iteration 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投影片編號版面配置區 5">
            <a:extLst>
              <a:ext uri="{FF2B5EF4-FFF2-40B4-BE49-F238E27FC236}">
                <a16:creationId xmlns:a16="http://schemas.microsoft.com/office/drawing/2014/main" id="{EF1FFDB7-C41B-43FA-A5CD-4E3035B7B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178AA4-B31B-44A2-AB80-C3EFEFD914F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19491" name="Freeform 2">
            <a:extLst>
              <a:ext uri="{FF2B5EF4-FFF2-40B4-BE49-F238E27FC236}">
                <a16:creationId xmlns:a16="http://schemas.microsoft.com/office/drawing/2014/main" id="{567BC3D3-E73D-435D-976B-CFE84F89EA6B}"/>
              </a:ext>
            </a:extLst>
          </p:cNvPr>
          <p:cNvSpPr>
            <a:spLocks/>
          </p:cNvSpPr>
          <p:nvPr/>
        </p:nvSpPr>
        <p:spPr bwMode="auto">
          <a:xfrm>
            <a:off x="1692275" y="1628775"/>
            <a:ext cx="7056438" cy="4824413"/>
          </a:xfrm>
          <a:custGeom>
            <a:avLst/>
            <a:gdLst>
              <a:gd name="T0" fmla="*/ 0 w 4445"/>
              <a:gd name="T1" fmla="*/ 2147483646 h 3039"/>
              <a:gd name="T2" fmla="*/ 2147483646 w 4445"/>
              <a:gd name="T3" fmla="*/ 2147483646 h 3039"/>
              <a:gd name="T4" fmla="*/ 2147483646 w 4445"/>
              <a:gd name="T5" fmla="*/ 2147483646 h 3039"/>
              <a:gd name="T6" fmla="*/ 2147483646 w 4445"/>
              <a:gd name="T7" fmla="*/ 2147483646 h 3039"/>
              <a:gd name="T8" fmla="*/ 2147483646 w 4445"/>
              <a:gd name="T9" fmla="*/ 2147483646 h 3039"/>
              <a:gd name="T10" fmla="*/ 2147483646 w 4445"/>
              <a:gd name="T11" fmla="*/ 2147483646 h 3039"/>
              <a:gd name="T12" fmla="*/ 2147483646 w 4445"/>
              <a:gd name="T13" fmla="*/ 0 h 3039"/>
              <a:gd name="T14" fmla="*/ 2147483646 w 4445"/>
              <a:gd name="T15" fmla="*/ 2147483646 h 3039"/>
              <a:gd name="T16" fmla="*/ 2147483646 w 4445"/>
              <a:gd name="T17" fmla="*/ 2147483646 h 3039"/>
              <a:gd name="T18" fmla="*/ 2147483646 w 4445"/>
              <a:gd name="T19" fmla="*/ 2147483646 h 3039"/>
              <a:gd name="T20" fmla="*/ 2147483646 w 4445"/>
              <a:gd name="T21" fmla="*/ 2147483646 h 3039"/>
              <a:gd name="T22" fmla="*/ 2147483646 w 4445"/>
              <a:gd name="T23" fmla="*/ 2147483646 h 3039"/>
              <a:gd name="T24" fmla="*/ 2147483646 w 4445"/>
              <a:gd name="T25" fmla="*/ 2147483646 h 3039"/>
              <a:gd name="T26" fmla="*/ 0 w 4445"/>
              <a:gd name="T27" fmla="*/ 2147483646 h 303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445"/>
              <a:gd name="T43" fmla="*/ 0 h 3039"/>
              <a:gd name="T44" fmla="*/ 4445 w 4445"/>
              <a:gd name="T45" fmla="*/ 3039 h 303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445" h="3039">
                <a:moveTo>
                  <a:pt x="0" y="2132"/>
                </a:moveTo>
                <a:lnTo>
                  <a:pt x="272" y="1633"/>
                </a:lnTo>
                <a:lnTo>
                  <a:pt x="816" y="1452"/>
                </a:lnTo>
                <a:lnTo>
                  <a:pt x="1451" y="1043"/>
                </a:lnTo>
                <a:lnTo>
                  <a:pt x="1315" y="544"/>
                </a:lnTo>
                <a:lnTo>
                  <a:pt x="1633" y="45"/>
                </a:lnTo>
                <a:lnTo>
                  <a:pt x="2313" y="0"/>
                </a:lnTo>
                <a:lnTo>
                  <a:pt x="4037" y="272"/>
                </a:lnTo>
                <a:lnTo>
                  <a:pt x="4445" y="953"/>
                </a:lnTo>
                <a:lnTo>
                  <a:pt x="3946" y="1678"/>
                </a:lnTo>
                <a:lnTo>
                  <a:pt x="2268" y="1814"/>
                </a:lnTo>
                <a:lnTo>
                  <a:pt x="1179" y="2948"/>
                </a:lnTo>
                <a:lnTo>
                  <a:pt x="272" y="3039"/>
                </a:lnTo>
                <a:lnTo>
                  <a:pt x="0" y="2132"/>
                </a:lnTo>
                <a:close/>
              </a:path>
            </a:pathLst>
          </a:custGeom>
          <a:solidFill>
            <a:srgbClr val="FF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9492" name="Freeform 3">
            <a:extLst>
              <a:ext uri="{FF2B5EF4-FFF2-40B4-BE49-F238E27FC236}">
                <a16:creationId xmlns:a16="http://schemas.microsoft.com/office/drawing/2014/main" id="{520F6CF3-036B-4EFC-A87B-C69EDF54FFC9}"/>
              </a:ext>
            </a:extLst>
          </p:cNvPr>
          <p:cNvSpPr>
            <a:spLocks/>
          </p:cNvSpPr>
          <p:nvPr/>
        </p:nvSpPr>
        <p:spPr bwMode="auto">
          <a:xfrm>
            <a:off x="3924300" y="1700213"/>
            <a:ext cx="4608513" cy="2376487"/>
          </a:xfrm>
          <a:custGeom>
            <a:avLst/>
            <a:gdLst>
              <a:gd name="T0" fmla="*/ 2147483646 w 2903"/>
              <a:gd name="T1" fmla="*/ 2147483646 h 1497"/>
              <a:gd name="T2" fmla="*/ 0 w 2903"/>
              <a:gd name="T3" fmla="*/ 2147483646 h 1497"/>
              <a:gd name="T4" fmla="*/ 2147483646 w 2903"/>
              <a:gd name="T5" fmla="*/ 2147483646 h 1497"/>
              <a:gd name="T6" fmla="*/ 2147483646 w 2903"/>
              <a:gd name="T7" fmla="*/ 0 h 1497"/>
              <a:gd name="T8" fmla="*/ 2147483646 w 2903"/>
              <a:gd name="T9" fmla="*/ 2147483646 h 1497"/>
              <a:gd name="T10" fmla="*/ 2147483646 w 2903"/>
              <a:gd name="T11" fmla="*/ 2147483646 h 1497"/>
              <a:gd name="T12" fmla="*/ 2147483646 w 2903"/>
              <a:gd name="T13" fmla="*/ 2147483646 h 1497"/>
              <a:gd name="T14" fmla="*/ 2147483646 w 2903"/>
              <a:gd name="T15" fmla="*/ 2147483646 h 1497"/>
              <a:gd name="T16" fmla="*/ 2147483646 w 2903"/>
              <a:gd name="T17" fmla="*/ 2147483646 h 1497"/>
              <a:gd name="T18" fmla="*/ 2147483646 w 2903"/>
              <a:gd name="T19" fmla="*/ 2147483646 h 1497"/>
              <a:gd name="T20" fmla="*/ 2147483646 w 2903"/>
              <a:gd name="T21" fmla="*/ 2147483646 h 1497"/>
              <a:gd name="T22" fmla="*/ 2147483646 w 2903"/>
              <a:gd name="T23" fmla="*/ 2147483646 h 14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903"/>
              <a:gd name="T37" fmla="*/ 0 h 1497"/>
              <a:gd name="T38" fmla="*/ 2903 w 2903"/>
              <a:gd name="T39" fmla="*/ 1497 h 149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903" h="1497">
                <a:moveTo>
                  <a:pt x="136" y="1044"/>
                </a:moveTo>
                <a:lnTo>
                  <a:pt x="0" y="499"/>
                </a:lnTo>
                <a:lnTo>
                  <a:pt x="272" y="46"/>
                </a:lnTo>
                <a:lnTo>
                  <a:pt x="862" y="0"/>
                </a:lnTo>
                <a:lnTo>
                  <a:pt x="2449" y="273"/>
                </a:lnTo>
                <a:lnTo>
                  <a:pt x="2812" y="590"/>
                </a:lnTo>
                <a:lnTo>
                  <a:pt x="2903" y="908"/>
                </a:lnTo>
                <a:lnTo>
                  <a:pt x="2676" y="1361"/>
                </a:lnTo>
                <a:lnTo>
                  <a:pt x="2132" y="1497"/>
                </a:lnTo>
                <a:lnTo>
                  <a:pt x="1224" y="1407"/>
                </a:lnTo>
                <a:lnTo>
                  <a:pt x="499" y="1361"/>
                </a:lnTo>
                <a:lnTo>
                  <a:pt x="136" y="1044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9493" name="Rectangle 4">
            <a:extLst>
              <a:ext uri="{FF2B5EF4-FFF2-40B4-BE49-F238E27FC236}">
                <a16:creationId xmlns:a16="http://schemas.microsoft.com/office/drawing/2014/main" id="{C7B06482-022A-4B1F-B75D-BBB74ACF5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 i="1">
                <a:solidFill>
                  <a:schemeClr val="accent1"/>
                </a:solidFill>
              </a:rPr>
              <a:t>p using greatest fixpoint</a:t>
            </a:r>
          </a:p>
        </p:txBody>
      </p:sp>
      <p:sp>
        <p:nvSpPr>
          <p:cNvPr id="319494" name="Oval 5">
            <a:extLst>
              <a:ext uri="{FF2B5EF4-FFF2-40B4-BE49-F238E27FC236}">
                <a16:creationId xmlns:a16="http://schemas.microsoft.com/office/drawing/2014/main" id="{0813F514-8E97-4AE8-BC86-3BA5E1BEE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9495" name="Oval 6">
            <a:extLst>
              <a:ext uri="{FF2B5EF4-FFF2-40B4-BE49-F238E27FC236}">
                <a16:creationId xmlns:a16="http://schemas.microsoft.com/office/drawing/2014/main" id="{0C16061A-95C6-44CB-A958-3053B4BBB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9496" name="Oval 7">
            <a:extLst>
              <a:ext uri="{FF2B5EF4-FFF2-40B4-BE49-F238E27FC236}">
                <a16:creationId xmlns:a16="http://schemas.microsoft.com/office/drawing/2014/main" id="{9FE81A59-B60F-446B-B7AB-6050672B6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9497" name="Oval 8">
            <a:extLst>
              <a:ext uri="{FF2B5EF4-FFF2-40B4-BE49-F238E27FC236}">
                <a16:creationId xmlns:a16="http://schemas.microsoft.com/office/drawing/2014/main" id="{F2DDE949-5770-48DF-9A9C-7A148D46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9498" name="Oval 9">
            <a:extLst>
              <a:ext uri="{FF2B5EF4-FFF2-40B4-BE49-F238E27FC236}">
                <a16:creationId xmlns:a16="http://schemas.microsoft.com/office/drawing/2014/main" id="{A634F0B2-86C7-4271-A452-471E7FEBE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19499" name="Line 10">
            <a:extLst>
              <a:ext uri="{FF2B5EF4-FFF2-40B4-BE49-F238E27FC236}">
                <a16:creationId xmlns:a16="http://schemas.microsoft.com/office/drawing/2014/main" id="{22A3E99F-BCBB-4FB4-B8D5-A0AE7A3B4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0" name="Line 11">
            <a:extLst>
              <a:ext uri="{FF2B5EF4-FFF2-40B4-BE49-F238E27FC236}">
                <a16:creationId xmlns:a16="http://schemas.microsoft.com/office/drawing/2014/main" id="{F3A9A517-034C-4910-8E91-21B80D4F04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1" name="Line 12">
            <a:extLst>
              <a:ext uri="{FF2B5EF4-FFF2-40B4-BE49-F238E27FC236}">
                <a16:creationId xmlns:a16="http://schemas.microsoft.com/office/drawing/2014/main" id="{1CEC6D26-5DB1-4193-95F7-D923046C8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2" name="Line 13">
            <a:extLst>
              <a:ext uri="{FF2B5EF4-FFF2-40B4-BE49-F238E27FC236}">
                <a16:creationId xmlns:a16="http://schemas.microsoft.com/office/drawing/2014/main" id="{4D115B15-D4E4-497B-8C28-7C60D84CA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3" name="Line 14">
            <a:extLst>
              <a:ext uri="{FF2B5EF4-FFF2-40B4-BE49-F238E27FC236}">
                <a16:creationId xmlns:a16="http://schemas.microsoft.com/office/drawing/2014/main" id="{40EBE8A7-5B4D-42EC-8876-45702CAFE4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4" name="Line 15">
            <a:extLst>
              <a:ext uri="{FF2B5EF4-FFF2-40B4-BE49-F238E27FC236}">
                <a16:creationId xmlns:a16="http://schemas.microsoft.com/office/drawing/2014/main" id="{4DC28D88-1A3E-42DD-AA29-7D90C3625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19505" name="AutoShape 16">
            <a:extLst>
              <a:ext uri="{FF2B5EF4-FFF2-40B4-BE49-F238E27FC236}">
                <a16:creationId xmlns:a16="http://schemas.microsoft.com/office/drawing/2014/main" id="{5315C8DF-F99C-4FF0-B032-A023CCBE281E}"/>
              </a:ext>
            </a:extLst>
          </p:cNvPr>
          <p:cNvCxnSpPr>
            <a:cxnSpLocks noChangeShapeType="1"/>
            <a:stCxn id="319498" idx="5"/>
            <a:endCxn id="319498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9506" name="Line 17">
            <a:extLst>
              <a:ext uri="{FF2B5EF4-FFF2-40B4-BE49-F238E27FC236}">
                <a16:creationId xmlns:a16="http://schemas.microsoft.com/office/drawing/2014/main" id="{DC2B3A97-B78E-4574-B214-F763445B91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7" name="Text Box 18">
            <a:extLst>
              <a:ext uri="{FF2B5EF4-FFF2-40B4-BE49-F238E27FC236}">
                <a16:creationId xmlns:a16="http://schemas.microsoft.com/office/drawing/2014/main" id="{14BFBAB9-CEE5-40D4-8807-E55CD9E9E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230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/>
              <a:t>Iteration 1</a:t>
            </a:r>
          </a:p>
        </p:txBody>
      </p:sp>
      <p:sp>
        <p:nvSpPr>
          <p:cNvPr id="319508" name="Line 19">
            <a:extLst>
              <a:ext uri="{FF2B5EF4-FFF2-40B4-BE49-F238E27FC236}">
                <a16:creationId xmlns:a16="http://schemas.microsoft.com/office/drawing/2014/main" id="{810CB9D6-946E-427F-8504-058E86412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852738"/>
            <a:ext cx="5746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09" name="Line 20">
            <a:extLst>
              <a:ext uri="{FF2B5EF4-FFF2-40B4-BE49-F238E27FC236}">
                <a16:creationId xmlns:a16="http://schemas.microsoft.com/office/drawing/2014/main" id="{C609FF1E-D5AE-48E5-BD46-2F4EEA0902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2852738"/>
            <a:ext cx="72072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10" name="Line 21">
            <a:extLst>
              <a:ext uri="{FF2B5EF4-FFF2-40B4-BE49-F238E27FC236}">
                <a16:creationId xmlns:a16="http://schemas.microsoft.com/office/drawing/2014/main" id="{8C1913E5-076D-4C84-8ED5-064578D31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9713" y="5876925"/>
            <a:ext cx="574675" cy="360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11" name="Line 22">
            <a:extLst>
              <a:ext uri="{FF2B5EF4-FFF2-40B4-BE49-F238E27FC236}">
                <a16:creationId xmlns:a16="http://schemas.microsoft.com/office/drawing/2014/main" id="{CD76B33C-9E47-4DE3-9985-668CDE1DD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6688" y="5876925"/>
            <a:ext cx="720725" cy="360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12" name="Line 23">
            <a:extLst>
              <a:ext uri="{FF2B5EF4-FFF2-40B4-BE49-F238E27FC236}">
                <a16:creationId xmlns:a16="http://schemas.microsoft.com/office/drawing/2014/main" id="{7DE024DD-5A7C-4F87-B685-9DA7A7D55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7463" y="5661025"/>
            <a:ext cx="574675" cy="360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13" name="Line 24">
            <a:extLst>
              <a:ext uri="{FF2B5EF4-FFF2-40B4-BE49-F238E27FC236}">
                <a16:creationId xmlns:a16="http://schemas.microsoft.com/office/drawing/2014/main" id="{B0698534-0386-4E4C-BBA1-BC165692A8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4438" y="5661025"/>
            <a:ext cx="720725" cy="3603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9514" name="Text Box 25">
            <a:extLst>
              <a:ext uri="{FF2B5EF4-FFF2-40B4-BE49-F238E27FC236}">
                <a16:creationId xmlns:a16="http://schemas.microsoft.com/office/drawing/2014/main" id="{DA8A37B9-B8B6-4845-B239-A0B7C7923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149725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/>
              <a:t>Iteration 0</a:t>
            </a:r>
          </a:p>
        </p:txBody>
      </p:sp>
      <p:sp>
        <p:nvSpPr>
          <p:cNvPr id="319515" name="Text Box 26">
            <a:extLst>
              <a:ext uri="{FF2B5EF4-FFF2-40B4-BE49-F238E27FC236}">
                <a16:creationId xmlns:a16="http://schemas.microsoft.com/office/drawing/2014/main" id="{B9539DAF-21CA-4705-A6E7-7FE6128FA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916113"/>
            <a:ext cx="1871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/>
              <a:t>Iteration 1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投影片編號版面配置區 5">
            <a:extLst>
              <a:ext uri="{FF2B5EF4-FFF2-40B4-BE49-F238E27FC236}">
                <a16:creationId xmlns:a16="http://schemas.microsoft.com/office/drawing/2014/main" id="{3CA27B37-40EF-4027-9F29-D4E7D3FB43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705F15-099C-4210-982F-83721C551A5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21539" name="Rectangle 2">
            <a:extLst>
              <a:ext uri="{FF2B5EF4-FFF2-40B4-BE49-F238E27FC236}">
                <a16:creationId xmlns:a16="http://schemas.microsoft.com/office/drawing/2014/main" id="{26EC7926-DBF7-4C11-9447-B67933C56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Evaluating </a:t>
            </a:r>
            <a:r>
              <a:rPr lang="en-US" altLang="zh-TW" sz="3800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i="1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 i="1">
                <a:solidFill>
                  <a:schemeClr val="accent1"/>
                </a:solidFill>
              </a:rPr>
              <a:t>p using greatest fixpoint</a:t>
            </a:r>
          </a:p>
        </p:txBody>
      </p:sp>
      <p:sp>
        <p:nvSpPr>
          <p:cNvPr id="321540" name="Oval 3">
            <a:extLst>
              <a:ext uri="{FF2B5EF4-FFF2-40B4-BE49-F238E27FC236}">
                <a16:creationId xmlns:a16="http://schemas.microsoft.com/office/drawing/2014/main" id="{0D83D150-3835-4F15-8076-1A7CCC7A4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133600"/>
            <a:ext cx="1512887" cy="1366838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  <a:endParaRPr lang="en-US" altLang="zh-TW" sz="2400" b="1" i="1">
              <a:solidFill>
                <a:schemeClr val="hlink"/>
              </a:solidFill>
            </a:endParaRPr>
          </a:p>
        </p:txBody>
      </p:sp>
      <p:sp>
        <p:nvSpPr>
          <p:cNvPr id="321541" name="Oval 4">
            <a:extLst>
              <a:ext uri="{FF2B5EF4-FFF2-40B4-BE49-F238E27FC236}">
                <a16:creationId xmlns:a16="http://schemas.microsoft.com/office/drawing/2014/main" id="{357C7C8A-5689-4898-A36E-4559DE07B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652963"/>
            <a:ext cx="1800225" cy="16557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</p:txBody>
      </p:sp>
      <p:sp>
        <p:nvSpPr>
          <p:cNvPr id="321542" name="Oval 5">
            <a:extLst>
              <a:ext uri="{FF2B5EF4-FFF2-40B4-BE49-F238E27FC236}">
                <a16:creationId xmlns:a16="http://schemas.microsoft.com/office/drawing/2014/main" id="{B09407FD-A82E-4C12-A77A-ED31C2AC5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21163"/>
            <a:ext cx="1800225" cy="20875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  <a:endParaRPr lang="en-US" altLang="zh-TW" sz="2400" b="1" i="1">
              <a:solidFill>
                <a:schemeClr val="hlink"/>
              </a:solidFill>
            </a:endParaRPr>
          </a:p>
        </p:txBody>
      </p:sp>
      <p:sp>
        <p:nvSpPr>
          <p:cNvPr id="321543" name="Oval 6">
            <a:extLst>
              <a:ext uri="{FF2B5EF4-FFF2-40B4-BE49-F238E27FC236}">
                <a16:creationId xmlns:a16="http://schemas.microsoft.com/office/drawing/2014/main" id="{A93C2ED7-B14C-4544-905B-1BAD983D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773238"/>
            <a:ext cx="1585913" cy="18716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21544" name="Oval 7">
            <a:extLst>
              <a:ext uri="{FF2B5EF4-FFF2-40B4-BE49-F238E27FC236}">
                <a16:creationId xmlns:a16="http://schemas.microsoft.com/office/drawing/2014/main" id="{6C453555-0FC8-445D-8124-61D20A7FA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76475"/>
            <a:ext cx="1728787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21545" name="Line 8">
            <a:extLst>
              <a:ext uri="{FF2B5EF4-FFF2-40B4-BE49-F238E27FC236}">
                <a16:creationId xmlns:a16="http://schemas.microsoft.com/office/drawing/2014/main" id="{A0F0BB37-2F85-4384-85AB-AE3E84EAD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46" name="Line 9">
            <a:extLst>
              <a:ext uri="{FF2B5EF4-FFF2-40B4-BE49-F238E27FC236}">
                <a16:creationId xmlns:a16="http://schemas.microsoft.com/office/drawing/2014/main" id="{972CD18A-FF86-4EA6-9765-983C3B4588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9475" y="3357563"/>
            <a:ext cx="936625" cy="1150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47" name="Line 10">
            <a:extLst>
              <a:ext uri="{FF2B5EF4-FFF2-40B4-BE49-F238E27FC236}">
                <a16:creationId xmlns:a16="http://schemas.microsoft.com/office/drawing/2014/main" id="{FD994B7E-3607-479D-BF39-7D99AABC0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5300663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48" name="Line 11">
            <a:extLst>
              <a:ext uri="{FF2B5EF4-FFF2-40B4-BE49-F238E27FC236}">
                <a16:creationId xmlns:a16="http://schemas.microsoft.com/office/drawing/2014/main" id="{9075D471-125E-4953-B519-7EAD414D1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429000"/>
            <a:ext cx="935038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49" name="Line 12">
            <a:extLst>
              <a:ext uri="{FF2B5EF4-FFF2-40B4-BE49-F238E27FC236}">
                <a16:creationId xmlns:a16="http://schemas.microsoft.com/office/drawing/2014/main" id="{4D0CD522-92F4-47C1-94B4-8C35032C7C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141663"/>
            <a:ext cx="1008062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50" name="Line 13">
            <a:extLst>
              <a:ext uri="{FF2B5EF4-FFF2-40B4-BE49-F238E27FC236}">
                <a16:creationId xmlns:a16="http://schemas.microsoft.com/office/drawing/2014/main" id="{9D6E7CF4-9FCB-40C7-B13A-BA8F37EAA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2852738"/>
            <a:ext cx="1008063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21551" name="AutoShape 14">
            <a:extLst>
              <a:ext uri="{FF2B5EF4-FFF2-40B4-BE49-F238E27FC236}">
                <a16:creationId xmlns:a16="http://schemas.microsoft.com/office/drawing/2014/main" id="{9643F975-E8FC-4D9F-A0DF-DD7824EAC2A4}"/>
              </a:ext>
            </a:extLst>
          </p:cNvPr>
          <p:cNvCxnSpPr>
            <a:cxnSpLocks noChangeShapeType="1"/>
            <a:stCxn id="321544" idx="5"/>
            <a:endCxn id="321544" idx="7"/>
          </p:cNvCxnSpPr>
          <p:nvPr/>
        </p:nvCxnSpPr>
        <p:spPr bwMode="auto">
          <a:xfrm rot="5400000" flipH="1" flipV="1">
            <a:off x="7550944" y="3104357"/>
            <a:ext cx="1171575" cy="1587"/>
          </a:xfrm>
          <a:prstGeom prst="curvedConnector5">
            <a:avLst>
              <a:gd name="adj1" fmla="val -11519"/>
              <a:gd name="adj2" fmla="val 54700014"/>
              <a:gd name="adj3" fmla="val 11138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1552" name="Line 15">
            <a:extLst>
              <a:ext uri="{FF2B5EF4-FFF2-40B4-BE49-F238E27FC236}">
                <a16:creationId xmlns:a16="http://schemas.microsoft.com/office/drawing/2014/main" id="{AC906D32-601A-421C-B8E5-38AE690CF0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1500" y="2565400"/>
            <a:ext cx="11525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53" name="Text Box 16">
            <a:extLst>
              <a:ext uri="{FF2B5EF4-FFF2-40B4-BE49-F238E27FC236}">
                <a16:creationId xmlns:a16="http://schemas.microsoft.com/office/drawing/2014/main" id="{64B45F8A-CC16-4C43-93A0-2F5775609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230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600">
                <a:latin typeface="Comic Sans MS" panose="030F0702030302020204" pitchFamily="66" charset="0"/>
              </a:rPr>
              <a:t>Result: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投影片編號版面配置區 5">
            <a:extLst>
              <a:ext uri="{FF2B5EF4-FFF2-40B4-BE49-F238E27FC236}">
                <a16:creationId xmlns:a16="http://schemas.microsoft.com/office/drawing/2014/main" id="{08C386F6-18FA-4F62-B345-49570D91A4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226F19-0C6D-4D3C-B6B7-9743BA2A9F1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23587" name="Rectangle 2">
            <a:extLst>
              <a:ext uri="{FF2B5EF4-FFF2-40B4-BE49-F238E27FC236}">
                <a16:creationId xmlns:a16="http://schemas.microsoft.com/office/drawing/2014/main" id="{BE17E4D2-7295-42D9-AF2A-4FDF6C201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8459787" cy="1143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r>
              <a:rPr lang="en-US" altLang="zh-TW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>
                <a:solidFill>
                  <a:schemeClr val="accent1"/>
                </a:solidFill>
              </a:rPr>
              <a:t>q)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p</a:t>
            </a:r>
            <a:br>
              <a:rPr lang="en-US" altLang="zh-TW">
                <a:solidFill>
                  <a:schemeClr val="accent1"/>
                </a:solidFill>
              </a:rPr>
            </a:br>
            <a:r>
              <a:rPr lang="en-US" altLang="zh-TW">
                <a:solidFill>
                  <a:schemeClr val="accent1"/>
                </a:solidFill>
              </a:rPr>
              <a:t> </a:t>
            </a:r>
            <a:r>
              <a:rPr lang="en-US" altLang="zh-TW" sz="3800" i="1">
                <a:solidFill>
                  <a:schemeClr val="tx1"/>
                </a:solidFill>
              </a:rPr>
              <a:t>Finally, evaluating </a:t>
            </a:r>
            <a:r>
              <a:rPr lang="en-US" altLang="zh-TW" sz="3800" b="1" i="1">
                <a:solidFill>
                  <a:schemeClr val="accent1"/>
                </a:solidFill>
                <a:sym typeface="Symbol" panose="05050102010706020507" pitchFamily="18" charset="2"/>
              </a:rPr>
              <a:t>(</a:t>
            </a:r>
            <a:r>
              <a:rPr lang="en-US" altLang="zh-TW" sz="3800" b="1" i="1">
                <a:solidFill>
                  <a:schemeClr val="accent1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3800" b="1" i="1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3800" b="1" i="1">
                <a:solidFill>
                  <a:schemeClr val="accent1"/>
                </a:solidFill>
              </a:rPr>
              <a:t>p</a:t>
            </a:r>
            <a:r>
              <a:rPr lang="en-US" altLang="zh-TW" sz="3800" b="1" i="1">
                <a:solidFill>
                  <a:schemeClr val="accent1"/>
                </a:solidFill>
                <a:latin typeface="華康細圓體(P)" pitchFamily="2" charset="-120"/>
                <a:ea typeface="華康儷楷書" panose="03000509000000000000" pitchFamily="65" charset="-120"/>
                <a:cs typeface="華康儷楷書" panose="03000509000000000000" pitchFamily="65" charset="-120"/>
              </a:rPr>
              <a:t>U</a:t>
            </a:r>
            <a:r>
              <a:rPr lang="en-US" altLang="zh-TW" sz="3800" b="1" i="1">
                <a:solidFill>
                  <a:schemeClr val="accent1"/>
                </a:solidFill>
              </a:rPr>
              <a:t>q) </a:t>
            </a:r>
            <a:r>
              <a:rPr lang="en-US" altLang="zh-TW" sz="3800" b="1" i="1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 sz="3800" b="1" i="1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3800" b="1" i="1">
                <a:solidFill>
                  <a:schemeClr val="accent1"/>
                </a:solidFill>
              </a:rPr>
              <a:t>p</a:t>
            </a:r>
          </a:p>
        </p:txBody>
      </p:sp>
      <p:sp>
        <p:nvSpPr>
          <p:cNvPr id="323588" name="Oval 3">
            <a:extLst>
              <a:ext uri="{FF2B5EF4-FFF2-40B4-BE49-F238E27FC236}">
                <a16:creationId xmlns:a16="http://schemas.microsoft.com/office/drawing/2014/main" id="{6FDDFD52-A107-45C8-8C3D-D03FD206D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205038"/>
            <a:ext cx="1512887" cy="1366837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  <a:endParaRPr lang="en-US" altLang="zh-TW" sz="2400" b="1" i="1">
              <a:solidFill>
                <a:schemeClr val="hlink"/>
              </a:solidFill>
            </a:endParaRPr>
          </a:p>
        </p:txBody>
      </p:sp>
      <p:sp>
        <p:nvSpPr>
          <p:cNvPr id="323589" name="Oval 4">
            <a:extLst>
              <a:ext uri="{FF2B5EF4-FFF2-40B4-BE49-F238E27FC236}">
                <a16:creationId xmlns:a16="http://schemas.microsoft.com/office/drawing/2014/main" id="{878032B2-490D-4379-A89E-06D488A9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724400"/>
            <a:ext cx="1800225" cy="1655763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</a:p>
        </p:txBody>
      </p:sp>
      <p:sp>
        <p:nvSpPr>
          <p:cNvPr id="323590" name="Oval 5">
            <a:extLst>
              <a:ext uri="{FF2B5EF4-FFF2-40B4-BE49-F238E27FC236}">
                <a16:creationId xmlns:a16="http://schemas.microsoft.com/office/drawing/2014/main" id="{006CBC3B-9FE0-405C-80A2-CF83719C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292600"/>
            <a:ext cx="1800225" cy="2087563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</a:t>
            </a:r>
            <a:endParaRPr lang="en-US" altLang="zh-TW" sz="2400" b="1" i="1">
              <a:solidFill>
                <a:schemeClr val="hlink"/>
              </a:solidFill>
            </a:endParaRPr>
          </a:p>
        </p:txBody>
      </p:sp>
      <p:sp>
        <p:nvSpPr>
          <p:cNvPr id="323591" name="Oval 6">
            <a:extLst>
              <a:ext uri="{FF2B5EF4-FFF2-40B4-BE49-F238E27FC236}">
                <a16:creationId xmlns:a16="http://schemas.microsoft.com/office/drawing/2014/main" id="{DDA141BE-D317-46FB-BC74-8BACB849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844675"/>
            <a:ext cx="2447925" cy="1871663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 </a:t>
            </a: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q, </a:t>
            </a:r>
            <a:r>
              <a:rPr lang="en-US" altLang="zh-TW" sz="2400" b="1" i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chemeClr val="hlink"/>
                </a:solidFill>
              </a:rPr>
              <a:t>p</a:t>
            </a:r>
            <a:r>
              <a:rPr lang="en-US" altLang="zh-TW" sz="2400" b="1" i="1">
                <a:solidFill>
                  <a:schemeClr val="hlink"/>
                </a:solidFill>
              </a:rPr>
              <a:t>U</a:t>
            </a:r>
            <a:r>
              <a:rPr lang="en-US" altLang="zh-TW" sz="2400" b="1">
                <a:solidFill>
                  <a:schemeClr val="hlink"/>
                </a:solidFill>
              </a:rPr>
              <a:t>q)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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  <a:endParaRPr lang="en-US" altLang="zh-TW" sz="2400" b="1" i="1">
              <a:solidFill>
                <a:schemeClr val="hlink"/>
              </a:solidFill>
              <a:latin typeface="MS LineDraw" pitchFamily="49" charset="2"/>
            </a:endParaRPr>
          </a:p>
        </p:txBody>
      </p:sp>
      <p:sp>
        <p:nvSpPr>
          <p:cNvPr id="323592" name="Oval 7">
            <a:extLst>
              <a:ext uri="{FF2B5EF4-FFF2-40B4-BE49-F238E27FC236}">
                <a16:creationId xmlns:a16="http://schemas.microsoft.com/office/drawing/2014/main" id="{DF754CF5-3458-43BF-892D-1566074C7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347913"/>
            <a:ext cx="2592388" cy="165735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 </a:t>
            </a:r>
            <a:r>
              <a:rPr lang="en-US" altLang="zh-TW" sz="2400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/>
              <a:t>p</a:t>
            </a:r>
            <a:r>
              <a:rPr lang="en-US" altLang="zh-TW" sz="2400" i="1"/>
              <a:t>U</a:t>
            </a:r>
            <a:r>
              <a:rPr lang="en-US" altLang="zh-TW" sz="2400"/>
              <a:t>q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/>
              <a:t>p</a:t>
            </a:r>
            <a:r>
              <a:rPr lang="en-US" altLang="zh-TW" sz="2400" b="1" i="1"/>
              <a:t>U</a:t>
            </a:r>
            <a:r>
              <a:rPr lang="en-US" altLang="zh-TW" sz="2400" b="1"/>
              <a:t>q, </a:t>
            </a:r>
            <a:r>
              <a:rPr lang="en-US" altLang="zh-TW" sz="2400" b="1" i="1"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/>
              <a:t>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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>
                <a:solidFill>
                  <a:schemeClr val="hlink"/>
                </a:solidFill>
              </a:rPr>
              <a:t>p</a:t>
            </a:r>
            <a:r>
              <a:rPr lang="en-US" altLang="zh-TW" sz="2400" b="1" i="1">
                <a:solidFill>
                  <a:schemeClr val="hlink"/>
                </a:solidFill>
              </a:rPr>
              <a:t>U</a:t>
            </a:r>
            <a:r>
              <a:rPr lang="en-US" altLang="zh-TW" sz="2400" b="1">
                <a:solidFill>
                  <a:schemeClr val="hlink"/>
                </a:solidFill>
              </a:rPr>
              <a:t>q)</a:t>
            </a:r>
            <a:r>
              <a:rPr lang="en-US" altLang="zh-TW" sz="2400" b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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Symbol" panose="05050102010706020507" pitchFamily="18" charset="2"/>
              </a:rPr>
              <a:t></a:t>
            </a:r>
            <a:r>
              <a:rPr lang="en-US" altLang="zh-TW" sz="2400" b="1" i="1">
                <a:solidFill>
                  <a:schemeClr val="hlink"/>
                </a:solidFill>
                <a:latin typeface="MS LineDraw" pitchFamily="49" charset="2"/>
                <a:sym typeface="Wingdings 2" panose="05020102010507070707" pitchFamily="18" charset="2"/>
              </a:rPr>
              <a:t></a:t>
            </a:r>
            <a:r>
              <a:rPr lang="en-US" altLang="zh-TW" sz="2400" b="1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323593" name="Line 8">
            <a:extLst>
              <a:ext uri="{FF2B5EF4-FFF2-40B4-BE49-F238E27FC236}">
                <a16:creationId xmlns:a16="http://schemas.microsoft.com/office/drawing/2014/main" id="{DA2B66C9-0657-469B-8035-E4824802B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7100" y="2852738"/>
            <a:ext cx="790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3594" name="Line 9">
            <a:extLst>
              <a:ext uri="{FF2B5EF4-FFF2-40B4-BE49-F238E27FC236}">
                <a16:creationId xmlns:a16="http://schemas.microsoft.com/office/drawing/2014/main" id="{C637CE6D-E560-4AB7-BBC9-442122C2D0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3573463"/>
            <a:ext cx="647700" cy="1006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3595" name="Line 10">
            <a:extLst>
              <a:ext uri="{FF2B5EF4-FFF2-40B4-BE49-F238E27FC236}">
                <a16:creationId xmlns:a16="http://schemas.microsoft.com/office/drawing/2014/main" id="{BFF246EF-8929-4F3F-82AC-35C64B618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372100"/>
            <a:ext cx="2232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3596" name="Line 11">
            <a:extLst>
              <a:ext uri="{FF2B5EF4-FFF2-40B4-BE49-F238E27FC236}">
                <a16:creationId xmlns:a16="http://schemas.microsoft.com/office/drawing/2014/main" id="{3A42371C-A6E7-4BAA-9295-20DB81B8C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3573463"/>
            <a:ext cx="1008063" cy="1366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3597" name="Line 12">
            <a:extLst>
              <a:ext uri="{FF2B5EF4-FFF2-40B4-BE49-F238E27FC236}">
                <a16:creationId xmlns:a16="http://schemas.microsoft.com/office/drawing/2014/main" id="{FECD0E85-61E4-4A87-8CAE-978A7BB9E9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8263" y="3357563"/>
            <a:ext cx="1008062" cy="1366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3598" name="Line 13">
            <a:extLst>
              <a:ext uri="{FF2B5EF4-FFF2-40B4-BE49-F238E27FC236}">
                <a16:creationId xmlns:a16="http://schemas.microsoft.com/office/drawing/2014/main" id="{1538AE24-9B68-44DD-A65E-7A42C5F33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2924175"/>
            <a:ext cx="504825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23599" name="AutoShape 14">
            <a:extLst>
              <a:ext uri="{FF2B5EF4-FFF2-40B4-BE49-F238E27FC236}">
                <a16:creationId xmlns:a16="http://schemas.microsoft.com/office/drawing/2014/main" id="{7B4F8B20-2CB4-484C-B944-4E69E45ECCAA}"/>
              </a:ext>
            </a:extLst>
          </p:cNvPr>
          <p:cNvCxnSpPr>
            <a:cxnSpLocks noChangeShapeType="1"/>
            <a:stCxn id="323592" idx="5"/>
            <a:endCxn id="323592" idx="7"/>
          </p:cNvCxnSpPr>
          <p:nvPr/>
        </p:nvCxnSpPr>
        <p:spPr bwMode="auto">
          <a:xfrm rot="5400000" flipH="1" flipV="1">
            <a:off x="7568406" y="3175794"/>
            <a:ext cx="1171575" cy="1588"/>
          </a:xfrm>
          <a:prstGeom prst="curvedConnector5">
            <a:avLst>
              <a:gd name="adj1" fmla="val -15042"/>
              <a:gd name="adj2" fmla="val 53600014"/>
              <a:gd name="adj3" fmla="val 116259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3600" name="Line 15">
            <a:extLst>
              <a:ext uri="{FF2B5EF4-FFF2-40B4-BE49-F238E27FC236}">
                <a16:creationId xmlns:a16="http://schemas.microsoft.com/office/drawing/2014/main" id="{0A706451-EE81-41C8-B7B8-2F6A111374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5600" y="2636838"/>
            <a:ext cx="720725" cy="71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投影片編號版面配置區 5">
            <a:extLst>
              <a:ext uri="{FF2B5EF4-FFF2-40B4-BE49-F238E27FC236}">
                <a16:creationId xmlns:a16="http://schemas.microsoft.com/office/drawing/2014/main" id="{8487B9CD-106A-4C29-88D7-49F1BF5E46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255100-82D8-41FB-822B-BC290ECDBE4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25635" name="Rectangle 2">
            <a:extLst>
              <a:ext uri="{FF2B5EF4-FFF2-40B4-BE49-F238E27FC236}">
                <a16:creationId xmlns:a16="http://schemas.microsoft.com/office/drawing/2014/main" id="{64A1B9D2-E678-4197-BE11-85D9B2C1D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89888" cy="1143000"/>
          </a:xfrm>
        </p:spPr>
        <p:txBody>
          <a:bodyPr/>
          <a:lstStyle/>
          <a:p>
            <a:pPr eaLnBrk="1" hangingPunct="1"/>
            <a:r>
              <a:rPr lang="en-US" altLang="zh-TW"/>
              <a:t>Workout: labelling 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(p</a:t>
            </a:r>
            <a:r>
              <a:rPr lang="en-US" altLang="zh-TW">
                <a:solidFill>
                  <a:schemeClr val="accent1"/>
                </a:solidFill>
                <a:sym typeface="Symbol" panose="05050102010706020507" pitchFamily="18" charset="2"/>
              </a:rPr>
              <a:t> </a:t>
            </a:r>
            <a:r>
              <a:rPr lang="en-US" altLang="zh-TW">
                <a:solidFill>
                  <a:schemeClr val="accent1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>
                <a:solidFill>
                  <a:schemeClr val="accent1"/>
                </a:solidFill>
              </a:rPr>
              <a:t>q)</a:t>
            </a:r>
          </a:p>
        </p:txBody>
      </p:sp>
      <p:sp>
        <p:nvSpPr>
          <p:cNvPr id="325636" name="Oval 3">
            <a:extLst>
              <a:ext uri="{FF2B5EF4-FFF2-40B4-BE49-F238E27FC236}">
                <a16:creationId xmlns:a16="http://schemas.microsoft.com/office/drawing/2014/main" id="{A96F780D-39A4-40A5-AC33-F7677E7D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916113"/>
            <a:ext cx="1800225" cy="12239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25637" name="Oval 4">
            <a:extLst>
              <a:ext uri="{FF2B5EF4-FFF2-40B4-BE49-F238E27FC236}">
                <a16:creationId xmlns:a16="http://schemas.microsoft.com/office/drawing/2014/main" id="{6167CD08-F837-444D-94DB-486B93D14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005263"/>
            <a:ext cx="1800225" cy="12239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25638" name="Oval 5">
            <a:extLst>
              <a:ext uri="{FF2B5EF4-FFF2-40B4-BE49-F238E27FC236}">
                <a16:creationId xmlns:a16="http://schemas.microsoft.com/office/drawing/2014/main" id="{3611EF0B-2C37-41F7-9649-36604D422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652963"/>
            <a:ext cx="1800225" cy="12239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25639" name="Oval 6">
            <a:extLst>
              <a:ext uri="{FF2B5EF4-FFF2-40B4-BE49-F238E27FC236}">
                <a16:creationId xmlns:a16="http://schemas.microsoft.com/office/drawing/2014/main" id="{5FB37F84-333D-4C3F-A62A-404073FD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013325"/>
            <a:ext cx="1800225" cy="1223963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p, q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25640" name="Oval 7">
            <a:extLst>
              <a:ext uri="{FF2B5EF4-FFF2-40B4-BE49-F238E27FC236}">
                <a16:creationId xmlns:a16="http://schemas.microsoft.com/office/drawing/2014/main" id="{27AEB360-E998-4D17-B08B-1FF4F2697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852738"/>
            <a:ext cx="1800225" cy="12239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q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25641" name="Oval 8">
            <a:extLst>
              <a:ext uri="{FF2B5EF4-FFF2-40B4-BE49-F238E27FC236}">
                <a16:creationId xmlns:a16="http://schemas.microsoft.com/office/drawing/2014/main" id="{3E81AAFD-DE78-4964-9C0F-A521EAA9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916113"/>
            <a:ext cx="1800225" cy="1223962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MS LineDraw" pitchFamily="49" charset="2"/>
            </a:endParaRPr>
          </a:p>
        </p:txBody>
      </p:sp>
      <p:sp>
        <p:nvSpPr>
          <p:cNvPr id="325642" name="Line 9">
            <a:extLst>
              <a:ext uri="{FF2B5EF4-FFF2-40B4-BE49-F238E27FC236}">
                <a16:creationId xmlns:a16="http://schemas.microsoft.com/office/drawing/2014/main" id="{4D1D1878-0BAA-45B8-8DFB-1087FF81B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2565400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3" name="Line 10">
            <a:extLst>
              <a:ext uri="{FF2B5EF4-FFF2-40B4-BE49-F238E27FC236}">
                <a16:creationId xmlns:a16="http://schemas.microsoft.com/office/drawing/2014/main" id="{80BA1EEC-5784-4464-B5EC-E7B9EBE75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4652963"/>
            <a:ext cx="86360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4" name="Line 11">
            <a:extLst>
              <a:ext uri="{FF2B5EF4-FFF2-40B4-BE49-F238E27FC236}">
                <a16:creationId xmlns:a16="http://schemas.microsoft.com/office/drawing/2014/main" id="{F8DF27D0-1299-4943-A9C3-87A02D6BC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5300663"/>
            <a:ext cx="936625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5" name="Line 12">
            <a:extLst>
              <a:ext uri="{FF2B5EF4-FFF2-40B4-BE49-F238E27FC236}">
                <a16:creationId xmlns:a16="http://schemas.microsoft.com/office/drawing/2014/main" id="{E894C1C4-732C-4FE3-A0E3-353B3C1A74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2924175"/>
            <a:ext cx="1944687" cy="1225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6" name="Line 13">
            <a:extLst>
              <a:ext uri="{FF2B5EF4-FFF2-40B4-BE49-F238E27FC236}">
                <a16:creationId xmlns:a16="http://schemas.microsoft.com/office/drawing/2014/main" id="{1E06AEEE-CB57-4E4F-B612-387B6F392E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3141663"/>
            <a:ext cx="431800" cy="151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7" name="Line 14">
            <a:extLst>
              <a:ext uri="{FF2B5EF4-FFF2-40B4-BE49-F238E27FC236}">
                <a16:creationId xmlns:a16="http://schemas.microsoft.com/office/drawing/2014/main" id="{7DE450C3-758C-4AE9-B56E-8D3149B0C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5825" y="4076700"/>
            <a:ext cx="144463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8" name="Line 15">
            <a:extLst>
              <a:ext uri="{FF2B5EF4-FFF2-40B4-BE49-F238E27FC236}">
                <a16:creationId xmlns:a16="http://schemas.microsoft.com/office/drawing/2014/main" id="{D7294F58-6AD6-4C9A-8DBE-A5A7BE169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781300"/>
            <a:ext cx="792163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49" name="Line 16">
            <a:extLst>
              <a:ext uri="{FF2B5EF4-FFF2-40B4-BE49-F238E27FC236}">
                <a16:creationId xmlns:a16="http://schemas.microsoft.com/office/drawing/2014/main" id="{0DFD8F3E-9229-4FD8-9D30-BC1D7A2898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08625" y="3068638"/>
            <a:ext cx="1079500" cy="2089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5650" name="Line 17">
            <a:extLst>
              <a:ext uri="{FF2B5EF4-FFF2-40B4-BE49-F238E27FC236}">
                <a16:creationId xmlns:a16="http://schemas.microsoft.com/office/drawing/2014/main" id="{C867BEEA-B509-4270-BFDA-6EAB56924C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4005263"/>
            <a:ext cx="144462" cy="1079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325651" name="AutoShape 18">
            <a:extLst>
              <a:ext uri="{FF2B5EF4-FFF2-40B4-BE49-F238E27FC236}">
                <a16:creationId xmlns:a16="http://schemas.microsoft.com/office/drawing/2014/main" id="{1741116F-111D-4D5F-ACAD-398F03A72089}"/>
              </a:ext>
            </a:extLst>
          </p:cNvPr>
          <p:cNvCxnSpPr>
            <a:cxnSpLocks noChangeShapeType="1"/>
            <a:stCxn id="325637" idx="4"/>
            <a:endCxn id="325637" idx="2"/>
          </p:cNvCxnSpPr>
          <p:nvPr/>
        </p:nvCxnSpPr>
        <p:spPr bwMode="auto">
          <a:xfrm rot="16200000" flipV="1">
            <a:off x="1116013" y="4473575"/>
            <a:ext cx="611187" cy="900113"/>
          </a:xfrm>
          <a:prstGeom prst="curvedConnector4">
            <a:avLst>
              <a:gd name="adj1" fmla="val -37403"/>
              <a:gd name="adj2" fmla="val 125398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投影片編號版面配置區 5">
            <a:extLst>
              <a:ext uri="{FF2B5EF4-FFF2-40B4-BE49-F238E27FC236}">
                <a16:creationId xmlns:a16="http://schemas.microsoft.com/office/drawing/2014/main" id="{4D3B28A2-7AC4-4777-A95A-4EF5589E6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794061-6209-4A8B-93F2-7978676F1FB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27683" name="Rectangle 2">
            <a:extLst>
              <a:ext uri="{FF2B5EF4-FFF2-40B4-BE49-F238E27FC236}">
                <a16:creationId xmlns:a16="http://schemas.microsoft.com/office/drawing/2014/main" id="{13C34525-AA54-4FBE-BDEE-1A36C2CD7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model-checking problem complexities </a:t>
            </a:r>
          </a:p>
        </p:txBody>
      </p:sp>
      <p:sp>
        <p:nvSpPr>
          <p:cNvPr id="327684" name="Rectangle 3">
            <a:extLst>
              <a:ext uri="{FF2B5EF4-FFF2-40B4-BE49-F238E27FC236}">
                <a16:creationId xmlns:a16="http://schemas.microsoft.com/office/drawing/2014/main" id="{58951E3F-5F11-485E-A981-5DFB20DD5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001000" cy="4114800"/>
          </a:xfrm>
        </p:spPr>
        <p:txBody>
          <a:bodyPr/>
          <a:lstStyle/>
          <a:p>
            <a:pPr eaLnBrk="1" hangingPunct="1"/>
            <a:r>
              <a:rPr lang="en-US" altLang="zh-TW" sz="2600"/>
              <a:t>The PLTL model-checking problem is PSPACE-complete.</a:t>
            </a:r>
          </a:p>
          <a:p>
            <a:pPr lvl="1" eaLnBrk="1" hangingPunct="1"/>
            <a:r>
              <a:rPr lang="en-US" altLang="zh-TW" sz="2200"/>
              <a:t>definition: Is there a run that satisfies the formula ? </a:t>
            </a:r>
          </a:p>
          <a:p>
            <a:pPr eaLnBrk="1" hangingPunct="1"/>
            <a:r>
              <a:rPr lang="en-US" altLang="zh-TW" sz="2600"/>
              <a:t>The PLTL without </a:t>
            </a:r>
            <a:r>
              <a:rPr lang="en-US" altLang="zh-TW" sz="2200" b="1">
                <a:solidFill>
                  <a:srgbClr val="0000FF"/>
                </a:solidFill>
                <a:sym typeface="Wingdings 2" panose="05020102010507070707" pitchFamily="18" charset="2"/>
              </a:rPr>
              <a:t></a:t>
            </a:r>
            <a:r>
              <a:rPr lang="zh-TW" altLang="en-US" sz="2200" b="1">
                <a:sym typeface="Wingdings 2" panose="05020102010507070707" pitchFamily="18" charset="2"/>
              </a:rPr>
              <a:t>（</a:t>
            </a:r>
            <a:r>
              <a:rPr lang="en-US" altLang="zh-TW" sz="2200" b="1">
                <a:sym typeface="Wingdings 2" panose="05020102010507070707" pitchFamily="18" charset="2"/>
              </a:rPr>
              <a:t>modal operator “next”</a:t>
            </a:r>
            <a:r>
              <a:rPr lang="zh-TW" altLang="en-US" sz="2200" b="1">
                <a:sym typeface="Wingdings 2" panose="05020102010507070707" pitchFamily="18" charset="2"/>
              </a:rPr>
              <a:t>） </a:t>
            </a:r>
            <a:r>
              <a:rPr lang="en-US" altLang="zh-TW" sz="2800">
                <a:sym typeface="Wingdings 2" panose="05020102010507070707" pitchFamily="18" charset="2"/>
              </a:rPr>
              <a:t>model-checking problem is </a:t>
            </a:r>
            <a:r>
              <a:rPr lang="en-US" altLang="zh-TW" sz="2800"/>
              <a:t>NP-complete.</a:t>
            </a:r>
          </a:p>
          <a:p>
            <a:pPr eaLnBrk="1" hangingPunct="1"/>
            <a:r>
              <a:rPr lang="en-US" altLang="zh-TW" sz="2600"/>
              <a:t>The model-checking problem of CTL is PTIME-complete.</a:t>
            </a:r>
          </a:p>
          <a:p>
            <a:pPr eaLnBrk="1" hangingPunct="1"/>
            <a:r>
              <a:rPr lang="en-US" altLang="zh-TW" sz="2600"/>
              <a:t>The model-checking problem of CTL* is PSPACE-complete.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投影片編號版面配置區 5">
            <a:extLst>
              <a:ext uri="{FF2B5EF4-FFF2-40B4-BE49-F238E27FC236}">
                <a16:creationId xmlns:a16="http://schemas.microsoft.com/office/drawing/2014/main" id="{57226778-8FA4-413F-B9F0-AE0248E8C0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4136E7-F2BB-4901-9A47-CC49CC63AD0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29731" name="Rectangle 2">
            <a:extLst>
              <a:ext uri="{FF2B5EF4-FFF2-40B4-BE49-F238E27FC236}">
                <a16:creationId xmlns:a16="http://schemas.microsoft.com/office/drawing/2014/main" id="{212F2B69-A325-4AF4-B5B2-8F5489C11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800"/>
              <a:t>CTL  </a:t>
            </a:r>
            <a:br>
              <a:rPr lang="en-US" altLang="zh-TW" sz="3800"/>
            </a:br>
            <a:r>
              <a:rPr lang="en-US" altLang="zh-TW" sz="3800"/>
              <a:t>- symbolic model-checking with BDD</a:t>
            </a:r>
          </a:p>
        </p:txBody>
      </p:sp>
      <p:sp>
        <p:nvSpPr>
          <p:cNvPr id="329732" name="Rectangle 3">
            <a:extLst>
              <a:ext uri="{FF2B5EF4-FFF2-40B4-BE49-F238E27FC236}">
                <a16:creationId xmlns:a16="http://schemas.microsoft.com/office/drawing/2014/main" id="{ADD8E044-EFBC-40F8-BB63-AEB7D5CA0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TW"/>
              <a:t>System states are described with binary variables.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 i="1"/>
              <a:t>	</a:t>
            </a:r>
            <a:r>
              <a:rPr lang="en-US" altLang="zh-TW" b="1" i="1" u="sng"/>
              <a:t>n</a:t>
            </a:r>
            <a:r>
              <a:rPr lang="en-US" altLang="zh-TW" u="sng"/>
              <a:t> binary variables</a:t>
            </a:r>
            <a:r>
              <a:rPr lang="en-US" altLang="zh-TW"/>
              <a:t> </a:t>
            </a:r>
            <a:r>
              <a:rPr lang="en-US" altLang="zh-TW">
                <a:sym typeface="Wingdings" panose="05000000000000000000" pitchFamily="2" charset="2"/>
              </a:rPr>
              <a:t></a:t>
            </a:r>
            <a:r>
              <a:rPr lang="en-US" altLang="zh-TW"/>
              <a:t> </a:t>
            </a:r>
            <a:r>
              <a:rPr lang="en-US" altLang="zh-TW" b="1" u="sng"/>
              <a:t>2</a:t>
            </a:r>
            <a:r>
              <a:rPr lang="en-US" altLang="zh-TW" b="1" i="1" u="sng" baseline="30000"/>
              <a:t>n</a:t>
            </a:r>
            <a:r>
              <a:rPr lang="en-US" altLang="zh-TW" u="sng"/>
              <a:t> states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1</a:t>
            </a:r>
            <a:r>
              <a:rPr lang="en-US" altLang="zh-TW" b="1">
                <a:solidFill>
                  <a:schemeClr val="hlink"/>
                </a:solidFill>
              </a:rPr>
              <a:t>, </a:t>
            </a: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2</a:t>
            </a:r>
            <a:r>
              <a:rPr lang="en-US" altLang="zh-TW" b="1">
                <a:solidFill>
                  <a:schemeClr val="hlink"/>
                </a:solidFill>
              </a:rPr>
              <a:t>, ......,</a:t>
            </a:r>
            <a:r>
              <a:rPr lang="en-US" altLang="zh-TW" b="1" i="1">
                <a:solidFill>
                  <a:schemeClr val="hlink"/>
                </a:solidFill>
              </a:rPr>
              <a:t> x</a:t>
            </a:r>
            <a:r>
              <a:rPr lang="en-US" altLang="zh-TW" b="1" i="1" baseline="-25000">
                <a:solidFill>
                  <a:schemeClr val="hlink"/>
                </a:solidFill>
              </a:rPr>
              <a:t>n</a:t>
            </a:r>
            <a:endParaRPr lang="en-US" altLang="zh-TW"/>
          </a:p>
          <a:p>
            <a:pPr eaLnBrk="1" hangingPunct="1"/>
            <a:r>
              <a:rPr lang="en-US" altLang="zh-TW"/>
              <a:t>we can use a BDD to describe legal states.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u="sng">
                <a:solidFill>
                  <a:srgbClr val="0000FF"/>
                </a:solidFill>
              </a:rPr>
              <a:t>a Boolean function with </a:t>
            </a:r>
            <a:r>
              <a:rPr lang="en-US" altLang="zh-TW" i="1" u="sng">
                <a:solidFill>
                  <a:srgbClr val="0000FF"/>
                </a:solidFill>
              </a:rPr>
              <a:t>n</a:t>
            </a:r>
            <a:r>
              <a:rPr lang="en-US" altLang="zh-TW" u="sng">
                <a:solidFill>
                  <a:srgbClr val="0000FF"/>
                </a:solidFill>
              </a:rPr>
              <a:t> binary variables</a:t>
            </a:r>
            <a:endParaRPr lang="en-US" altLang="zh-TW">
              <a:solidFill>
                <a:srgbClr val="0000FF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b="1">
                <a:solidFill>
                  <a:schemeClr val="hlink"/>
                </a:solidFill>
              </a:rPr>
              <a:t>state(</a:t>
            </a: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1</a:t>
            </a:r>
            <a:r>
              <a:rPr lang="en-US" altLang="zh-TW" b="1">
                <a:solidFill>
                  <a:schemeClr val="hlink"/>
                </a:solidFill>
              </a:rPr>
              <a:t>, </a:t>
            </a: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2</a:t>
            </a:r>
            <a:r>
              <a:rPr lang="en-US" altLang="zh-TW" b="1">
                <a:solidFill>
                  <a:schemeClr val="hlink"/>
                </a:solidFill>
              </a:rPr>
              <a:t>, ......,</a:t>
            </a:r>
            <a:r>
              <a:rPr lang="en-US" altLang="zh-TW" b="1" i="1">
                <a:solidFill>
                  <a:schemeClr val="hlink"/>
                </a:solidFill>
              </a:rPr>
              <a:t> x</a:t>
            </a:r>
            <a:r>
              <a:rPr lang="en-US" altLang="zh-TW" b="1" i="1" baseline="-25000">
                <a:solidFill>
                  <a:schemeClr val="hlink"/>
                </a:solidFill>
              </a:rPr>
              <a:t>n</a:t>
            </a:r>
            <a:r>
              <a:rPr lang="en-US" altLang="zh-TW" b="1">
                <a:solidFill>
                  <a:schemeClr val="hlink"/>
                </a:solidFill>
              </a:rPr>
              <a:t>)</a:t>
            </a:r>
            <a:endParaRPr lang="en-US" altLang="zh-TW" b="1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投影片編號版面配置區 5">
            <a:extLst>
              <a:ext uri="{FF2B5EF4-FFF2-40B4-BE49-F238E27FC236}">
                <a16:creationId xmlns:a16="http://schemas.microsoft.com/office/drawing/2014/main" id="{50066790-76A0-482B-984D-B8795E23FA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616834-C459-42D7-952A-85DE73730A3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31779" name="Rectangle 2">
            <a:extLst>
              <a:ext uri="{FF2B5EF4-FFF2-40B4-BE49-F238E27FC236}">
                <a16:creationId xmlns:a16="http://schemas.microsoft.com/office/drawing/2014/main" id="{B8FB7E92-9902-412F-9F19-8107EDF8B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400"/>
              <a:t>CTL  - symbolic model-checking with Propositioal logics</a:t>
            </a:r>
          </a:p>
        </p:txBody>
      </p:sp>
      <p:sp>
        <p:nvSpPr>
          <p:cNvPr id="331780" name="Rectangle 3">
            <a:extLst>
              <a:ext uri="{FF2B5EF4-FFF2-40B4-BE49-F238E27FC236}">
                <a16:creationId xmlns:a16="http://schemas.microsoft.com/office/drawing/2014/main" id="{103C489F-A078-4258-A4DC-D25FD3DB6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21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chemeClr val="hlink"/>
                </a:solidFill>
              </a:rPr>
              <a:t>Example: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1</a:t>
            </a:r>
            <a:r>
              <a:rPr lang="en-US" altLang="zh-TW" b="1">
                <a:solidFill>
                  <a:schemeClr val="hlink"/>
                </a:solidFill>
              </a:rPr>
              <a:t>  </a:t>
            </a: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baseline="-25000">
                <a:solidFill>
                  <a:schemeClr val="hlink"/>
                </a:solidFill>
              </a:rPr>
              <a:t>2</a:t>
            </a:r>
            <a:r>
              <a:rPr lang="en-US" altLang="zh-TW" b="1">
                <a:solidFill>
                  <a:schemeClr val="hlink"/>
                </a:solidFill>
              </a:rPr>
              <a:t>  </a:t>
            </a:r>
            <a:r>
              <a:rPr lang="en-US" altLang="zh-TW" b="1" i="1">
                <a:solidFill>
                  <a:schemeClr val="hlink"/>
                </a:solidFill>
              </a:rPr>
              <a:t>x</a:t>
            </a:r>
            <a:r>
              <a:rPr lang="en-US" altLang="zh-TW" b="1" i="1" baseline="-25000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331781" name="Oval 4">
            <a:extLst>
              <a:ext uri="{FF2B5EF4-FFF2-40B4-BE49-F238E27FC236}">
                <a16:creationId xmlns:a16="http://schemas.microsoft.com/office/drawing/2014/main" id="{61A12B9F-C510-4520-8BD3-A65966F50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242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FF00"/>
                </a:solidFill>
                <a:latin typeface="Times New Roman" panose="02020603050405020304" pitchFamily="18" charset="0"/>
              </a:rPr>
              <a:t>1 0 1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31782" name="Oval 5">
            <a:extLst>
              <a:ext uri="{FF2B5EF4-FFF2-40B4-BE49-F238E27FC236}">
                <a16:creationId xmlns:a16="http://schemas.microsoft.com/office/drawing/2014/main" id="{47634CA0-F9F8-4B01-89D4-C6D9BB38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9624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FF00"/>
                </a:solidFill>
                <a:latin typeface="Times New Roman" panose="02020603050405020304" pitchFamily="18" charset="0"/>
              </a:rPr>
              <a:t>0 1 0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31783" name="Oval 6">
            <a:extLst>
              <a:ext uri="{FF2B5EF4-FFF2-40B4-BE49-F238E27FC236}">
                <a16:creationId xmlns:a16="http://schemas.microsoft.com/office/drawing/2014/main" id="{5AF0CBB8-A1A3-4DA3-BD55-595C18C5E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1242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FF00"/>
                </a:solidFill>
                <a:latin typeface="Times New Roman" panose="02020603050405020304" pitchFamily="18" charset="0"/>
              </a:rPr>
              <a:t>0 0 1</a:t>
            </a:r>
            <a:endParaRPr lang="en-US" altLang="zh-TW" sz="2400">
              <a:latin typeface="MS LineDraw" pitchFamily="49" charset="2"/>
            </a:endParaRPr>
          </a:p>
        </p:txBody>
      </p:sp>
      <p:sp>
        <p:nvSpPr>
          <p:cNvPr id="331784" name="Line 7">
            <a:extLst>
              <a:ext uri="{FF2B5EF4-FFF2-40B4-BE49-F238E27FC236}">
                <a16:creationId xmlns:a16="http://schemas.microsoft.com/office/drawing/2014/main" id="{B652FA7C-DED1-415B-AA06-1187CFD40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5052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1785" name="Arc 8">
            <a:extLst>
              <a:ext uri="{FF2B5EF4-FFF2-40B4-BE49-F238E27FC236}">
                <a16:creationId xmlns:a16="http://schemas.microsoft.com/office/drawing/2014/main" id="{E6D23A23-C98B-4A93-AA53-48BB4F56A28B}"/>
              </a:ext>
            </a:extLst>
          </p:cNvPr>
          <p:cNvSpPr>
            <a:spLocks/>
          </p:cNvSpPr>
          <p:nvPr/>
        </p:nvSpPr>
        <p:spPr bwMode="auto">
          <a:xfrm>
            <a:off x="5410200" y="3355975"/>
            <a:ext cx="1635125" cy="606425"/>
          </a:xfrm>
          <a:custGeom>
            <a:avLst/>
            <a:gdLst>
              <a:gd name="T0" fmla="*/ 0 w 21600"/>
              <a:gd name="T1" fmla="*/ 0 h 22046"/>
              <a:gd name="T2" fmla="*/ 2147483646 w 21600"/>
              <a:gd name="T3" fmla="*/ 2147483646 h 22046"/>
              <a:gd name="T4" fmla="*/ 0 w 21600"/>
              <a:gd name="T5" fmla="*/ 2147483646 h 22046"/>
              <a:gd name="T6" fmla="*/ 0 60000 65536"/>
              <a:gd name="T7" fmla="*/ 0 60000 65536"/>
              <a:gd name="T8" fmla="*/ 0 60000 65536"/>
              <a:gd name="T9" fmla="*/ 0 w 21600"/>
              <a:gd name="T10" fmla="*/ 0 h 22046"/>
              <a:gd name="T11" fmla="*/ 21600 w 21600"/>
              <a:gd name="T12" fmla="*/ 22046 h 220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04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</a:path>
              <a:path w="21600" h="2204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1786" name="Arc 9">
            <a:extLst>
              <a:ext uri="{FF2B5EF4-FFF2-40B4-BE49-F238E27FC236}">
                <a16:creationId xmlns:a16="http://schemas.microsoft.com/office/drawing/2014/main" id="{6CB789E0-D152-4C38-B4B8-4006B6B7B01C}"/>
              </a:ext>
            </a:extLst>
          </p:cNvPr>
          <p:cNvSpPr>
            <a:spLocks/>
          </p:cNvSpPr>
          <p:nvPr/>
        </p:nvSpPr>
        <p:spPr bwMode="auto">
          <a:xfrm>
            <a:off x="4794250" y="3886200"/>
            <a:ext cx="1692275" cy="531813"/>
          </a:xfrm>
          <a:custGeom>
            <a:avLst/>
            <a:gdLst>
              <a:gd name="T0" fmla="*/ 2147483646 w 22349"/>
              <a:gd name="T1" fmla="*/ 2147483646 h 21896"/>
              <a:gd name="T2" fmla="*/ 2147483646 w 22349"/>
              <a:gd name="T3" fmla="*/ 0 h 21896"/>
              <a:gd name="T4" fmla="*/ 2147483646 w 22349"/>
              <a:gd name="T5" fmla="*/ 2147483646 h 21896"/>
              <a:gd name="T6" fmla="*/ 0 60000 65536"/>
              <a:gd name="T7" fmla="*/ 0 60000 65536"/>
              <a:gd name="T8" fmla="*/ 0 60000 65536"/>
              <a:gd name="T9" fmla="*/ 0 w 22349"/>
              <a:gd name="T10" fmla="*/ 0 h 21896"/>
              <a:gd name="T11" fmla="*/ 22349 w 22349"/>
              <a:gd name="T12" fmla="*/ 21896 h 218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49" h="21896" fill="none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</a:path>
              <a:path w="22349" h="21896" stroke="0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  <a:lnTo>
                  <a:pt x="21600" y="296"/>
                </a:lnTo>
                <a:lnTo>
                  <a:pt x="22349" y="21883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1787" name="Text Box 10">
            <a:extLst>
              <a:ext uri="{FF2B5EF4-FFF2-40B4-BE49-F238E27FC236}">
                <a16:creationId xmlns:a16="http://schemas.microsoft.com/office/drawing/2014/main" id="{76394853-4EDB-4E7E-A653-722EEBFE1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00600"/>
            <a:ext cx="67818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state(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 = 	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	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	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投影片編號版面配置區 5">
            <a:extLst>
              <a:ext uri="{FF2B5EF4-FFF2-40B4-BE49-F238E27FC236}">
                <a16:creationId xmlns:a16="http://schemas.microsoft.com/office/drawing/2014/main" id="{0F20E782-E7A8-459D-809C-C01A2429E9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B4F841-C158-4055-90E2-782108B1AF0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33827" name="Rectangle 2">
            <a:extLst>
              <a:ext uri="{FF2B5EF4-FFF2-40B4-BE49-F238E27FC236}">
                <a16:creationId xmlns:a16="http://schemas.microsoft.com/office/drawing/2014/main" id="{171DDA82-B43D-4091-B663-20EDA845F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400"/>
              <a:t>CTL  - symbolic model-checking with Propositioal logics</a:t>
            </a:r>
            <a:endParaRPr lang="zh-TW" altLang="en-US"/>
          </a:p>
        </p:txBody>
      </p:sp>
      <p:sp>
        <p:nvSpPr>
          <p:cNvPr id="333828" name="Rectangle 3">
            <a:extLst>
              <a:ext uri="{FF2B5EF4-FFF2-40B4-BE49-F238E27FC236}">
                <a16:creationId xmlns:a16="http://schemas.microsoft.com/office/drawing/2014/main" id="{64A0B064-2175-4CCC-8F1A-B40318C14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828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State transition relation as a logic funciton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with </a:t>
            </a:r>
            <a:r>
              <a:rPr lang="en-US" altLang="zh-TW" u="sng"/>
              <a:t>2</a:t>
            </a:r>
            <a:r>
              <a:rPr lang="en-US" altLang="zh-TW" i="1" u="sng"/>
              <a:t>n</a:t>
            </a:r>
            <a:r>
              <a:rPr lang="en-US" altLang="zh-TW" u="sng"/>
              <a:t> parameters</a:t>
            </a:r>
            <a:endParaRPr lang="zh-TW" altLang="en-US"/>
          </a:p>
          <a:p>
            <a:pPr algn="ctr">
              <a:buFontTx/>
              <a:buNone/>
            </a:pPr>
            <a:r>
              <a:rPr lang="en-US" altLang="zh-TW">
                <a:solidFill>
                  <a:schemeClr val="hlink"/>
                </a:solidFill>
              </a:rPr>
              <a:t>transition(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x’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)</a:t>
            </a:r>
            <a:endParaRPr lang="en-US" altLang="zh-TW"/>
          </a:p>
        </p:txBody>
      </p:sp>
      <p:sp>
        <p:nvSpPr>
          <p:cNvPr id="333829" name="Oval 4">
            <a:extLst>
              <a:ext uri="{FF2B5EF4-FFF2-40B4-BE49-F238E27FC236}">
                <a16:creationId xmlns:a16="http://schemas.microsoft.com/office/drawing/2014/main" id="{F14C5E86-FB44-4DF6-B87D-5B652022E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648200"/>
            <a:ext cx="3352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......,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TW" sz="3200" b="1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endParaRPr lang="en-US" altLang="zh-TW" sz="1800" b="1" i="1" baseline="-250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3830" name="Line 6">
            <a:extLst>
              <a:ext uri="{FF2B5EF4-FFF2-40B4-BE49-F238E27FC236}">
                <a16:creationId xmlns:a16="http://schemas.microsoft.com/office/drawing/2014/main" id="{ECF7E53D-E197-4C9B-A743-DA1D63C28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953000"/>
            <a:ext cx="5334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3831" name="Oval 7">
            <a:extLst>
              <a:ext uri="{FF2B5EF4-FFF2-40B4-BE49-F238E27FC236}">
                <a16:creationId xmlns:a16="http://schemas.microsoft.com/office/drawing/2014/main" id="{49FE83FB-5603-44F0-8629-BEDB57E1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648200"/>
            <a:ext cx="3352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......,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TW" sz="3200" b="1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投影片編號版面配置區 5">
            <a:extLst>
              <a:ext uri="{FF2B5EF4-FFF2-40B4-BE49-F238E27FC236}">
                <a16:creationId xmlns:a16="http://schemas.microsoft.com/office/drawing/2014/main" id="{7A7517E1-E948-4ADF-A8C9-821FCC07A2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A77069-1187-431F-A29F-E85B9DE0581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35875" name="Rectangle 2">
            <a:extLst>
              <a:ext uri="{FF2B5EF4-FFF2-40B4-BE49-F238E27FC236}">
                <a16:creationId xmlns:a16="http://schemas.microsoft.com/office/drawing/2014/main" id="{4C3C51C8-821D-43C5-9372-3C3C277EF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/>
              <a:t>CTL  - symbolic model-checking with Propositioal logics</a:t>
            </a:r>
            <a:endParaRPr lang="zh-TW" altLang="en-US"/>
          </a:p>
        </p:txBody>
      </p:sp>
      <p:sp>
        <p:nvSpPr>
          <p:cNvPr id="335876" name="Rectangle 3">
            <a:extLst>
              <a:ext uri="{FF2B5EF4-FFF2-40B4-BE49-F238E27FC236}">
                <a16:creationId xmlns:a16="http://schemas.microsoft.com/office/drawing/2014/main" id="{00E1E8F2-6907-44CB-92AA-C7A6D514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i="1" baseline="-25000">
                <a:solidFill>
                  <a:schemeClr val="hlink"/>
                </a:solidFill>
              </a:rPr>
              <a:t>3 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i="1" baseline="-25000">
                <a:solidFill>
                  <a:schemeClr val="hlink"/>
                </a:solidFill>
              </a:rPr>
              <a:t>3</a:t>
            </a:r>
          </a:p>
          <a:p>
            <a:pPr>
              <a:buFontTx/>
              <a:buNone/>
            </a:pPr>
            <a:endParaRPr lang="en-US" altLang="zh-TW" i="1" baseline="-25000">
              <a:solidFill>
                <a:schemeClr val="hlink"/>
              </a:solidFill>
            </a:endParaRPr>
          </a:p>
        </p:txBody>
      </p:sp>
      <p:sp>
        <p:nvSpPr>
          <p:cNvPr id="335877" name="Oval 4">
            <a:extLst>
              <a:ext uri="{FF2B5EF4-FFF2-40B4-BE49-F238E27FC236}">
                <a16:creationId xmlns:a16="http://schemas.microsoft.com/office/drawing/2014/main" id="{D425B053-7BB5-401D-9740-1E62F932B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908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1 0 1</a:t>
            </a:r>
            <a:endParaRPr lang="en-US" altLang="zh-TW" sz="1800"/>
          </a:p>
        </p:txBody>
      </p:sp>
      <p:sp>
        <p:nvSpPr>
          <p:cNvPr id="335878" name="Oval 5">
            <a:extLst>
              <a:ext uri="{FF2B5EF4-FFF2-40B4-BE49-F238E27FC236}">
                <a16:creationId xmlns:a16="http://schemas.microsoft.com/office/drawing/2014/main" id="{26FC6D68-3C8D-4E78-8B47-E0F2F8C4F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4290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0 1 0</a:t>
            </a:r>
            <a:endParaRPr lang="en-US" altLang="zh-TW" sz="1800"/>
          </a:p>
        </p:txBody>
      </p:sp>
      <p:sp>
        <p:nvSpPr>
          <p:cNvPr id="335879" name="Oval 6">
            <a:extLst>
              <a:ext uri="{FF2B5EF4-FFF2-40B4-BE49-F238E27FC236}">
                <a16:creationId xmlns:a16="http://schemas.microsoft.com/office/drawing/2014/main" id="{E926C65F-BFDD-4CFE-9923-E4B9F5653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5908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0 0 1</a:t>
            </a:r>
            <a:endParaRPr lang="en-US" altLang="zh-TW" sz="1800"/>
          </a:p>
        </p:txBody>
      </p:sp>
      <p:sp>
        <p:nvSpPr>
          <p:cNvPr id="335880" name="Line 7">
            <a:extLst>
              <a:ext uri="{FF2B5EF4-FFF2-40B4-BE49-F238E27FC236}">
                <a16:creationId xmlns:a16="http://schemas.microsoft.com/office/drawing/2014/main" id="{C61C8B71-1A6A-4678-A52F-3C952BAD5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5881" name="Arc 8">
            <a:extLst>
              <a:ext uri="{FF2B5EF4-FFF2-40B4-BE49-F238E27FC236}">
                <a16:creationId xmlns:a16="http://schemas.microsoft.com/office/drawing/2014/main" id="{3E75B552-B7B3-4B29-9D17-CFB91E21A311}"/>
              </a:ext>
            </a:extLst>
          </p:cNvPr>
          <p:cNvSpPr>
            <a:spLocks/>
          </p:cNvSpPr>
          <p:nvPr/>
        </p:nvSpPr>
        <p:spPr bwMode="auto">
          <a:xfrm>
            <a:off x="5410200" y="2822575"/>
            <a:ext cx="1635125" cy="606425"/>
          </a:xfrm>
          <a:custGeom>
            <a:avLst/>
            <a:gdLst>
              <a:gd name="T0" fmla="*/ 0 w 21600"/>
              <a:gd name="T1" fmla="*/ 0 h 22046"/>
              <a:gd name="T2" fmla="*/ 2147483646 w 21600"/>
              <a:gd name="T3" fmla="*/ 2147483646 h 22046"/>
              <a:gd name="T4" fmla="*/ 0 w 21600"/>
              <a:gd name="T5" fmla="*/ 2147483646 h 22046"/>
              <a:gd name="T6" fmla="*/ 0 60000 65536"/>
              <a:gd name="T7" fmla="*/ 0 60000 65536"/>
              <a:gd name="T8" fmla="*/ 0 60000 65536"/>
              <a:gd name="T9" fmla="*/ 0 w 21600"/>
              <a:gd name="T10" fmla="*/ 0 h 22046"/>
              <a:gd name="T11" fmla="*/ 21600 w 21600"/>
              <a:gd name="T12" fmla="*/ 22046 h 220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04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</a:path>
              <a:path w="21600" h="2204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5882" name="Arc 9">
            <a:extLst>
              <a:ext uri="{FF2B5EF4-FFF2-40B4-BE49-F238E27FC236}">
                <a16:creationId xmlns:a16="http://schemas.microsoft.com/office/drawing/2014/main" id="{78B6A941-4906-4D63-8EC2-18FA1EB9A102}"/>
              </a:ext>
            </a:extLst>
          </p:cNvPr>
          <p:cNvSpPr>
            <a:spLocks/>
          </p:cNvSpPr>
          <p:nvPr/>
        </p:nvSpPr>
        <p:spPr bwMode="auto">
          <a:xfrm>
            <a:off x="4794250" y="3352800"/>
            <a:ext cx="1692275" cy="531813"/>
          </a:xfrm>
          <a:custGeom>
            <a:avLst/>
            <a:gdLst>
              <a:gd name="T0" fmla="*/ 2147483646 w 22349"/>
              <a:gd name="T1" fmla="*/ 2147483646 h 21896"/>
              <a:gd name="T2" fmla="*/ 2147483646 w 22349"/>
              <a:gd name="T3" fmla="*/ 0 h 21896"/>
              <a:gd name="T4" fmla="*/ 2147483646 w 22349"/>
              <a:gd name="T5" fmla="*/ 2147483646 h 21896"/>
              <a:gd name="T6" fmla="*/ 0 60000 65536"/>
              <a:gd name="T7" fmla="*/ 0 60000 65536"/>
              <a:gd name="T8" fmla="*/ 0 60000 65536"/>
              <a:gd name="T9" fmla="*/ 0 w 22349"/>
              <a:gd name="T10" fmla="*/ 0 h 21896"/>
              <a:gd name="T11" fmla="*/ 22349 w 22349"/>
              <a:gd name="T12" fmla="*/ 21896 h 218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49" h="21896" fill="none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</a:path>
              <a:path w="22349" h="21896" stroke="0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  <a:lnTo>
                  <a:pt x="21600" y="296"/>
                </a:lnTo>
                <a:lnTo>
                  <a:pt x="22349" y="21883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5883" name="Text Box 10">
            <a:extLst>
              <a:ext uri="{FF2B5EF4-FFF2-40B4-BE49-F238E27FC236}">
                <a16:creationId xmlns:a16="http://schemas.microsoft.com/office/drawing/2014/main" id="{F5513AD9-E2AC-40F6-84BC-49312AFC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419600"/>
            <a:ext cx="7772400" cy="194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transition(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 =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投影片編號版面配置區 5">
            <a:extLst>
              <a:ext uri="{FF2B5EF4-FFF2-40B4-BE49-F238E27FC236}">
                <a16:creationId xmlns:a16="http://schemas.microsoft.com/office/drawing/2014/main" id="{96177747-2051-402D-99FA-E64EA88636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3EE9B4-015D-46F6-BC49-525E804C51A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37923" name="Rectangle 2">
            <a:extLst>
              <a:ext uri="{FF2B5EF4-FFF2-40B4-BE49-F238E27FC236}">
                <a16:creationId xmlns:a16="http://schemas.microsoft.com/office/drawing/2014/main" id="{22A6C937-C56A-47AF-A9AC-598A2A12B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4000"/>
              <a:t>CTL  - symbolic model-checking with Propositioal logics</a:t>
            </a:r>
            <a:endParaRPr lang="zh-TW" altLang="en-US"/>
          </a:p>
        </p:txBody>
      </p:sp>
      <p:sp>
        <p:nvSpPr>
          <p:cNvPr id="337924" name="Rectangle 3">
            <a:extLst>
              <a:ext uri="{FF2B5EF4-FFF2-40B4-BE49-F238E27FC236}">
                <a16:creationId xmlns:a16="http://schemas.microsoft.com/office/drawing/2014/main" id="{E151E050-EECC-4341-BC13-CA8B0593C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3622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Path relation also as a logic funciton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with </a:t>
            </a:r>
            <a:r>
              <a:rPr lang="en-US" altLang="zh-TW" u="sng"/>
              <a:t>2</a:t>
            </a:r>
            <a:r>
              <a:rPr lang="en-US" altLang="zh-TW" i="1" u="sng"/>
              <a:t>n</a:t>
            </a:r>
            <a:r>
              <a:rPr lang="en-US" altLang="zh-TW" u="sng"/>
              <a:t> parameters</a:t>
            </a:r>
            <a:endParaRPr lang="zh-TW" altLang="en-US"/>
          </a:p>
          <a:p>
            <a:pPr algn="ctr">
              <a:buFontTx/>
              <a:buNone/>
            </a:pPr>
            <a:r>
              <a:rPr lang="en-US" altLang="zh-TW">
                <a:solidFill>
                  <a:schemeClr val="hlink"/>
                </a:solidFill>
              </a:rPr>
              <a:t>reach(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x’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)</a:t>
            </a:r>
            <a:endParaRPr lang="en-US" altLang="zh-TW"/>
          </a:p>
        </p:txBody>
      </p:sp>
      <p:sp>
        <p:nvSpPr>
          <p:cNvPr id="337925" name="Oval 4">
            <a:extLst>
              <a:ext uri="{FF2B5EF4-FFF2-40B4-BE49-F238E27FC236}">
                <a16:creationId xmlns:a16="http://schemas.microsoft.com/office/drawing/2014/main" id="{FEB7B2F5-6F14-48F5-BB89-2463B7E3F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48200"/>
            <a:ext cx="3352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......,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TW" sz="3200" b="1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endParaRPr lang="en-US" altLang="zh-TW" sz="1800" b="1" i="1" baseline="-2500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26" name="Oval 6">
            <a:extLst>
              <a:ext uri="{FF2B5EF4-FFF2-40B4-BE49-F238E27FC236}">
                <a16:creationId xmlns:a16="http://schemas.microsoft.com/office/drawing/2014/main" id="{9C61F37A-FA3D-41E1-8E3F-1590414A2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562600"/>
            <a:ext cx="3352800" cy="609600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solidFill>
                  <a:srgbClr val="FFFF00"/>
                </a:solidFill>
                <a:latin typeface="Times New Roman" panose="02020603050405020304" pitchFamily="18" charset="0"/>
              </a:rPr>
              <a:t>, ......,</a:t>
            </a:r>
            <a:r>
              <a:rPr lang="en-US" altLang="zh-TW" sz="3200" b="1" i="1">
                <a:solidFill>
                  <a:srgbClr val="FFFF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TW" sz="3200" b="1" i="1" baseline="-25000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</a:p>
        </p:txBody>
      </p:sp>
      <p:cxnSp>
        <p:nvCxnSpPr>
          <p:cNvPr id="337927" name="AutoShape 7">
            <a:extLst>
              <a:ext uri="{FF2B5EF4-FFF2-40B4-BE49-F238E27FC236}">
                <a16:creationId xmlns:a16="http://schemas.microsoft.com/office/drawing/2014/main" id="{394E99FC-816F-4EFC-A10F-01847C8512BA}"/>
              </a:ext>
            </a:extLst>
          </p:cNvPr>
          <p:cNvCxnSpPr>
            <a:cxnSpLocks noChangeShapeType="1"/>
            <a:stCxn id="337926" idx="2"/>
          </p:cNvCxnSpPr>
          <p:nvPr/>
        </p:nvCxnSpPr>
        <p:spPr bwMode="auto">
          <a:xfrm rot="10800000">
            <a:off x="3581400" y="4953000"/>
            <a:ext cx="1981200" cy="914400"/>
          </a:xfrm>
          <a:prstGeom prst="curvedConnector3">
            <a:avLst>
              <a:gd name="adj1" fmla="val 50000"/>
            </a:avLst>
          </a:prstGeom>
          <a:noFill/>
          <a:ln w="76200" cap="rnd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投影片編號版面配置區 5">
            <a:extLst>
              <a:ext uri="{FF2B5EF4-FFF2-40B4-BE49-F238E27FC236}">
                <a16:creationId xmlns:a16="http://schemas.microsoft.com/office/drawing/2014/main" id="{D4A6778F-C080-42F8-8D17-3E1FDFB4EA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796FC2-3728-41E6-B58C-E7B1B4C90EF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39971" name="Rectangle 2">
            <a:extLst>
              <a:ext uri="{FF2B5EF4-FFF2-40B4-BE49-F238E27FC236}">
                <a16:creationId xmlns:a16="http://schemas.microsoft.com/office/drawing/2014/main" id="{85C28D8D-8B5A-4F60-8F20-1BEBCAB27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/>
              <a:t>CTL  - symbolic model-checking with Propositioal logics</a:t>
            </a:r>
            <a:endParaRPr lang="zh-TW" altLang="en-US"/>
          </a:p>
        </p:txBody>
      </p:sp>
      <p:sp>
        <p:nvSpPr>
          <p:cNvPr id="339972" name="Rectangle 3">
            <a:extLst>
              <a:ext uri="{FF2B5EF4-FFF2-40B4-BE49-F238E27FC236}">
                <a16:creationId xmlns:a16="http://schemas.microsoft.com/office/drawing/2014/main" id="{C18DB680-5E9F-42FC-AB3C-4C95E6ED7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46482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i="1" baseline="-25000">
                <a:solidFill>
                  <a:schemeClr val="hlink"/>
                </a:solidFill>
              </a:rPr>
              <a:t>3 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 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i="1" baseline="-25000">
                <a:solidFill>
                  <a:schemeClr val="hlink"/>
                </a:solidFill>
              </a:rPr>
              <a:t>3</a:t>
            </a:r>
          </a:p>
          <a:p>
            <a:pPr>
              <a:buFontTx/>
              <a:buNone/>
            </a:pPr>
            <a:endParaRPr lang="en-US" altLang="zh-TW" i="1" baseline="-25000">
              <a:solidFill>
                <a:schemeClr val="hlink"/>
              </a:solidFill>
            </a:endParaRPr>
          </a:p>
        </p:txBody>
      </p:sp>
      <p:sp>
        <p:nvSpPr>
          <p:cNvPr id="339973" name="Oval 4">
            <a:extLst>
              <a:ext uri="{FF2B5EF4-FFF2-40B4-BE49-F238E27FC236}">
                <a16:creationId xmlns:a16="http://schemas.microsoft.com/office/drawing/2014/main" id="{E93A71A8-AFE6-4FE9-90A4-F0B7CC049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0574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1 0 1</a:t>
            </a:r>
            <a:endParaRPr lang="en-US" altLang="zh-TW" sz="1800"/>
          </a:p>
        </p:txBody>
      </p:sp>
      <p:sp>
        <p:nvSpPr>
          <p:cNvPr id="339974" name="Oval 5">
            <a:extLst>
              <a:ext uri="{FF2B5EF4-FFF2-40B4-BE49-F238E27FC236}">
                <a16:creationId xmlns:a16="http://schemas.microsoft.com/office/drawing/2014/main" id="{E96D1108-3F28-403E-A849-827925E1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956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0 1 0</a:t>
            </a:r>
            <a:endParaRPr lang="en-US" altLang="zh-TW" sz="1800"/>
          </a:p>
        </p:txBody>
      </p:sp>
      <p:sp>
        <p:nvSpPr>
          <p:cNvPr id="339975" name="Oval 6">
            <a:extLst>
              <a:ext uri="{FF2B5EF4-FFF2-40B4-BE49-F238E27FC236}">
                <a16:creationId xmlns:a16="http://schemas.microsoft.com/office/drawing/2014/main" id="{75ABB158-2353-4956-87B7-EA83818AE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057400"/>
            <a:ext cx="1447800" cy="762000"/>
          </a:xfrm>
          <a:prstGeom prst="ellipse">
            <a:avLst/>
          </a:prstGeom>
          <a:solidFill>
            <a:srgbClr val="0000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FF00"/>
                </a:solidFill>
                <a:latin typeface="Times New Roman" panose="02020603050405020304" pitchFamily="18" charset="0"/>
              </a:rPr>
              <a:t>0 0 1</a:t>
            </a:r>
            <a:endParaRPr lang="en-US" altLang="zh-TW" sz="1800"/>
          </a:p>
        </p:txBody>
      </p:sp>
      <p:sp>
        <p:nvSpPr>
          <p:cNvPr id="339976" name="Line 7">
            <a:extLst>
              <a:ext uri="{FF2B5EF4-FFF2-40B4-BE49-F238E27FC236}">
                <a16:creationId xmlns:a16="http://schemas.microsoft.com/office/drawing/2014/main" id="{55D8E85B-7DC9-49F3-B84D-FEC8B8163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438400"/>
            <a:ext cx="1066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9977" name="Arc 8">
            <a:extLst>
              <a:ext uri="{FF2B5EF4-FFF2-40B4-BE49-F238E27FC236}">
                <a16:creationId xmlns:a16="http://schemas.microsoft.com/office/drawing/2014/main" id="{39B8BDEE-4588-459D-8A37-C4A4A05FD176}"/>
              </a:ext>
            </a:extLst>
          </p:cNvPr>
          <p:cNvSpPr>
            <a:spLocks/>
          </p:cNvSpPr>
          <p:nvPr/>
        </p:nvSpPr>
        <p:spPr bwMode="auto">
          <a:xfrm>
            <a:off x="6629400" y="2289175"/>
            <a:ext cx="1635125" cy="606425"/>
          </a:xfrm>
          <a:custGeom>
            <a:avLst/>
            <a:gdLst>
              <a:gd name="T0" fmla="*/ 0 w 21600"/>
              <a:gd name="T1" fmla="*/ 0 h 22046"/>
              <a:gd name="T2" fmla="*/ 2147483646 w 21600"/>
              <a:gd name="T3" fmla="*/ 2147483646 h 22046"/>
              <a:gd name="T4" fmla="*/ 0 w 21600"/>
              <a:gd name="T5" fmla="*/ 2147483646 h 22046"/>
              <a:gd name="T6" fmla="*/ 0 60000 65536"/>
              <a:gd name="T7" fmla="*/ 0 60000 65536"/>
              <a:gd name="T8" fmla="*/ 0 60000 65536"/>
              <a:gd name="T9" fmla="*/ 0 w 21600"/>
              <a:gd name="T10" fmla="*/ 0 h 22046"/>
              <a:gd name="T11" fmla="*/ 21600 w 21600"/>
              <a:gd name="T12" fmla="*/ 22046 h 220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04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</a:path>
              <a:path w="21600" h="2204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48"/>
                  <a:pt x="21598" y="21897"/>
                  <a:pt x="21595" y="2204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9978" name="Arc 9">
            <a:extLst>
              <a:ext uri="{FF2B5EF4-FFF2-40B4-BE49-F238E27FC236}">
                <a16:creationId xmlns:a16="http://schemas.microsoft.com/office/drawing/2014/main" id="{740199C7-3E57-411C-BFE2-C5E0E833B80E}"/>
              </a:ext>
            </a:extLst>
          </p:cNvPr>
          <p:cNvSpPr>
            <a:spLocks/>
          </p:cNvSpPr>
          <p:nvPr/>
        </p:nvSpPr>
        <p:spPr bwMode="auto">
          <a:xfrm>
            <a:off x="6013450" y="2819400"/>
            <a:ext cx="1692275" cy="531813"/>
          </a:xfrm>
          <a:custGeom>
            <a:avLst/>
            <a:gdLst>
              <a:gd name="T0" fmla="*/ 2147483646 w 22349"/>
              <a:gd name="T1" fmla="*/ 2147483646 h 21896"/>
              <a:gd name="T2" fmla="*/ 2147483646 w 22349"/>
              <a:gd name="T3" fmla="*/ 0 h 21896"/>
              <a:gd name="T4" fmla="*/ 2147483646 w 22349"/>
              <a:gd name="T5" fmla="*/ 2147483646 h 21896"/>
              <a:gd name="T6" fmla="*/ 0 60000 65536"/>
              <a:gd name="T7" fmla="*/ 0 60000 65536"/>
              <a:gd name="T8" fmla="*/ 0 60000 65536"/>
              <a:gd name="T9" fmla="*/ 0 w 22349"/>
              <a:gd name="T10" fmla="*/ 0 h 21896"/>
              <a:gd name="T11" fmla="*/ 22349 w 22349"/>
              <a:gd name="T12" fmla="*/ 21896 h 218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49" h="21896" fill="none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</a:path>
              <a:path w="22349" h="21896" stroke="0" extrusionOk="0">
                <a:moveTo>
                  <a:pt x="22349" y="21883"/>
                </a:moveTo>
                <a:cubicBezTo>
                  <a:pt x="22099" y="21891"/>
                  <a:pt x="21849" y="21895"/>
                  <a:pt x="21600" y="21896"/>
                </a:cubicBezTo>
                <a:cubicBezTo>
                  <a:pt x="9670" y="21896"/>
                  <a:pt x="0" y="12225"/>
                  <a:pt x="0" y="296"/>
                </a:cubicBezTo>
                <a:cubicBezTo>
                  <a:pt x="-1" y="197"/>
                  <a:pt x="0" y="98"/>
                  <a:pt x="2" y="0"/>
                </a:cubicBezTo>
                <a:lnTo>
                  <a:pt x="21600" y="296"/>
                </a:lnTo>
                <a:lnTo>
                  <a:pt x="22349" y="21883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9979" name="Text Box 10">
            <a:extLst>
              <a:ext uri="{FF2B5EF4-FFF2-40B4-BE49-F238E27FC236}">
                <a16:creationId xmlns:a16="http://schemas.microsoft.com/office/drawing/2014/main" id="{C3DB0052-B7BE-47F0-8A35-7E32142C0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01975"/>
            <a:ext cx="7924800" cy="383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reach(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 =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3200" b="1">
                <a:latin typeface="Symbol" panose="05050102010706020507" pitchFamily="18" charset="2"/>
              </a:rPr>
              <a:t>Ú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	(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3200" b="1">
                <a:latin typeface="Symbol" panose="05050102010706020507" pitchFamily="18" charset="2"/>
              </a:rPr>
              <a:t>	Ú	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 b="1">
                <a:latin typeface="Symbol" panose="05050102010706020507" pitchFamily="18" charset="2"/>
              </a:rPr>
              <a:t>Ù Ø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3200" b="1">
                <a:latin typeface="Symbol" panose="05050102010706020507" pitchFamily="18" charset="2"/>
              </a:rPr>
              <a:t>Ù</a:t>
            </a:r>
            <a:r>
              <a:rPr lang="en-US" altLang="zh-TW" sz="32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b="1">
                <a:latin typeface="Symbol" panose="05050102010706020507" pitchFamily="18" charset="2"/>
              </a:rPr>
              <a:t>Ø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3200" i="1">
                <a:solidFill>
                  <a:schemeClr val="hlink"/>
                </a:solidFill>
                <a:latin typeface="Times New Roman" panose="02020603050405020304" pitchFamily="18" charset="0"/>
              </a:rPr>
              <a:t>x’</a:t>
            </a:r>
            <a:r>
              <a:rPr lang="en-US" altLang="zh-TW" sz="3200" i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3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TW" sz="3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投影片編號版面配置區 5">
            <a:extLst>
              <a:ext uri="{FF2B5EF4-FFF2-40B4-BE49-F238E27FC236}">
                <a16:creationId xmlns:a16="http://schemas.microsoft.com/office/drawing/2014/main" id="{BDA4F8D7-3188-46F9-BEF1-3410943D69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60071C-8CA9-4837-A0DA-AD783882B90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42019" name="Rectangle 2">
            <a:extLst>
              <a:ext uri="{FF2B5EF4-FFF2-40B4-BE49-F238E27FC236}">
                <a16:creationId xmlns:a16="http://schemas.microsoft.com/office/drawing/2014/main" id="{29FF6F8D-DE92-4766-8812-3AC09C418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1143000"/>
          </a:xfrm>
          <a:noFill/>
        </p:spPr>
        <p:txBody>
          <a:bodyPr/>
          <a:lstStyle/>
          <a:p>
            <a:r>
              <a:rPr lang="en-US" altLang="zh-TW" sz="4000"/>
              <a:t>Symbolic safety analysis</a:t>
            </a:r>
            <a:endParaRPr lang="en-US" altLang="zh-TW"/>
          </a:p>
        </p:txBody>
      </p:sp>
      <p:sp>
        <p:nvSpPr>
          <p:cNvPr id="342020" name="Rectangle 3">
            <a:extLst>
              <a:ext uri="{FF2B5EF4-FFF2-40B4-BE49-F238E27FC236}">
                <a16:creationId xmlns:a16="http://schemas.microsoft.com/office/drawing/2014/main" id="{D6091E22-B7AD-454D-B802-B16C6C39C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4495800"/>
          </a:xfrm>
          <a:noFill/>
        </p:spPr>
        <p:txBody>
          <a:bodyPr/>
          <a:lstStyle/>
          <a:p>
            <a:r>
              <a:rPr lang="en-US" altLang="zh-TW" i="1"/>
              <a:t>I</a:t>
            </a:r>
            <a:r>
              <a:rPr lang="en-US" altLang="zh-TW"/>
              <a:t> : initial condition with parameters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</a:t>
            </a:r>
            <a:r>
              <a:rPr lang="en-US" altLang="zh-TW" i="1" baseline="-25000">
                <a:solidFill>
                  <a:schemeClr val="hlink"/>
                </a:solidFill>
              </a:rPr>
              <a:t>n </a:t>
            </a:r>
            <a:endParaRPr lang="en-US" altLang="zh-TW"/>
          </a:p>
          <a:p>
            <a:r>
              <a:rPr lang="el-GR" altLang="zh-TW" i="1">
                <a:cs typeface="Times New Roman" panose="02020603050405020304" pitchFamily="18" charset="0"/>
              </a:rPr>
              <a:t>η</a:t>
            </a:r>
            <a:r>
              <a:rPr lang="en-US" altLang="zh-TW"/>
              <a:t> : safe condition with parameters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</a:t>
            </a:r>
            <a:r>
              <a:rPr lang="en-US" altLang="zh-TW" i="1" baseline="-25000">
                <a:solidFill>
                  <a:schemeClr val="hlink"/>
                </a:solidFill>
              </a:rPr>
              <a:t>n </a:t>
            </a:r>
            <a:endParaRPr lang="zh-TW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If  </a:t>
            </a:r>
            <a:r>
              <a:rPr lang="en-US" altLang="zh-TW">
                <a:solidFill>
                  <a:schemeClr val="hlink"/>
                </a:solidFill>
              </a:rPr>
              <a:t>I</a:t>
            </a:r>
            <a:r>
              <a:rPr lang="en-US" altLang="zh-TW">
                <a:solidFill>
                  <a:schemeClr val="hlink"/>
                </a:solidFill>
                <a:sym typeface="Symbol" panose="05050102010706020507" pitchFamily="18" charset="2"/>
              </a:rPr>
              <a:t>(</a:t>
            </a:r>
            <a:r>
              <a:rPr lang="el-GR" altLang="zh-TW">
                <a:solidFill>
                  <a:schemeClr val="hlink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η</a:t>
            </a:r>
            <a:r>
              <a:rPr lang="en-US" altLang="zh-TW" sz="3200">
                <a:solidFill>
                  <a:srgbClr val="0000FF"/>
                </a:solidFill>
                <a:sym typeface="Symbol" panose="05050102010706020507" pitchFamily="18" charset="2"/>
              </a:rPr>
              <a:t></a:t>
            </a:r>
            <a:r>
              <a:rPr lang="en-US" altLang="zh-TW">
                <a:solidFill>
                  <a:schemeClr val="hlink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l-GR" altLang="zh-TW">
                <a:solidFill>
                  <a:schemeClr val="hlink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TW">
                <a:solidFill>
                  <a:schemeClr val="hlink"/>
                </a:solidFill>
              </a:rPr>
              <a:t> reach(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1</a:t>
            </a:r>
            <a:r>
              <a:rPr lang="en-US" altLang="zh-TW">
                <a:solidFill>
                  <a:schemeClr val="hlink"/>
                </a:solidFill>
              </a:rPr>
              <a:t>, </a:t>
            </a:r>
            <a:r>
              <a:rPr lang="en-US" altLang="zh-TW" i="1">
                <a:solidFill>
                  <a:schemeClr val="hlink"/>
                </a:solidFill>
              </a:rPr>
              <a:t>x’</a:t>
            </a:r>
            <a:r>
              <a:rPr lang="en-US" altLang="zh-TW" baseline="-25000">
                <a:solidFill>
                  <a:schemeClr val="hlink"/>
                </a:solidFill>
              </a:rPr>
              <a:t>2</a:t>
            </a:r>
            <a:r>
              <a:rPr lang="en-US" altLang="zh-TW">
                <a:solidFill>
                  <a:schemeClr val="hlink"/>
                </a:solidFill>
              </a:rPr>
              <a:t>, ......,</a:t>
            </a:r>
            <a:r>
              <a:rPr lang="en-US" altLang="zh-TW" i="1">
                <a:solidFill>
                  <a:schemeClr val="hlink"/>
                </a:solidFill>
              </a:rPr>
              <a:t> x’</a:t>
            </a:r>
            <a:r>
              <a:rPr lang="en-US" altLang="zh-TW" i="1" baseline="-25000">
                <a:solidFill>
                  <a:schemeClr val="hlink"/>
                </a:solidFill>
              </a:rPr>
              <a:t>n</a:t>
            </a:r>
            <a:r>
              <a:rPr lang="en-US" altLang="zh-TW">
                <a:solidFill>
                  <a:schemeClr val="hlink"/>
                </a:solidFill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olidFill>
                  <a:schemeClr val="hlink"/>
                </a:solidFill>
              </a:rPr>
              <a:t>    </a:t>
            </a:r>
            <a:r>
              <a:rPr lang="en-US" altLang="zh-TW"/>
              <a:t>is not false, </a:t>
            </a:r>
          </a:p>
          <a:p>
            <a:pPr lvl="1"/>
            <a:r>
              <a:rPr lang="en-US" altLang="zh-TW"/>
              <a:t>a risk state is reachable. </a:t>
            </a:r>
          </a:p>
          <a:p>
            <a:pPr lvl="1"/>
            <a:r>
              <a:rPr lang="en-US" altLang="zh-TW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not safe. </a:t>
            </a:r>
            <a:endParaRPr lang="zh-TW" altLang="en-US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/>
              <a:t>			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95B51943-240C-4E5E-A503-64CF044547DC}"/>
              </a:ext>
            </a:extLst>
          </p:cNvPr>
          <p:cNvSpPr/>
          <p:nvPr/>
        </p:nvSpPr>
        <p:spPr>
          <a:xfrm>
            <a:off x="6477000" y="4495800"/>
            <a:ext cx="2286000" cy="1676400"/>
          </a:xfrm>
          <a:prstGeom prst="wedgeRectCallout">
            <a:avLst>
              <a:gd name="adj1" fmla="val -245027"/>
              <a:gd name="adj2" fmla="val -63066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800" dirty="0">
                <a:solidFill>
                  <a:schemeClr val="bg1"/>
                </a:solidFill>
              </a:rPr>
              <a:t>change all </a:t>
            </a:r>
            <a:r>
              <a:rPr lang="en-US" altLang="zh-TW" sz="2800" dirty="0" err="1">
                <a:solidFill>
                  <a:schemeClr val="bg1"/>
                </a:solidFill>
              </a:rPr>
              <a:t>umprimed</a:t>
            </a:r>
            <a:r>
              <a:rPr lang="en-US" altLang="zh-TW" sz="2800" dirty="0">
                <a:solidFill>
                  <a:schemeClr val="bg1"/>
                </a:solidFill>
              </a:rPr>
              <a:t> variables in </a:t>
            </a:r>
            <a:r>
              <a:rPr lang="el-GR" altLang="zh-TW" sz="2800" dirty="0">
                <a:solidFill>
                  <a:schemeClr val="bg1"/>
                </a:solidFill>
                <a:cs typeface="Times New Roman" pitchFamily="18" charset="0"/>
                <a:sym typeface="Symbol" pitchFamily="18" charset="2"/>
              </a:rPr>
              <a:t>η</a:t>
            </a:r>
            <a:r>
              <a:rPr lang="en-US" altLang="zh-TW" sz="2800" dirty="0">
                <a:solidFill>
                  <a:schemeClr val="bg1"/>
                </a:solidFill>
              </a:rPr>
              <a:t> to primed.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投影片編號版面配置區 5">
            <a:extLst>
              <a:ext uri="{FF2B5EF4-FFF2-40B4-BE49-F238E27FC236}">
                <a16:creationId xmlns:a16="http://schemas.microsoft.com/office/drawing/2014/main" id="{5DC267C6-5200-4068-ABF3-0987979934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B49BB2-4F8F-4B7A-8F8C-6F00539F5D5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44067" name="Rectangle 2">
            <a:extLst>
              <a:ext uri="{FF2B5EF4-FFF2-40B4-BE49-F238E27FC236}">
                <a16:creationId xmlns:a16="http://schemas.microsoft.com/office/drawing/2014/main" id="{52EF8014-CE27-47F6-AFC6-42864C5A4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763000" cy="1143000"/>
          </a:xfrm>
          <a:noFill/>
        </p:spPr>
        <p:txBody>
          <a:bodyPr/>
          <a:lstStyle/>
          <a:p>
            <a:r>
              <a:rPr lang="en-US" altLang="zh-TW" sz="4000"/>
              <a:t>Symbolic safety analysis</a:t>
            </a:r>
            <a:br>
              <a:rPr lang="en-US" altLang="zh-TW" sz="4000"/>
            </a:br>
            <a:r>
              <a:rPr lang="en-US" altLang="zh-TW" sz="3600">
                <a:solidFill>
                  <a:schemeClr val="accent2"/>
                </a:solidFill>
              </a:rPr>
              <a:t>- construction of reach(</a:t>
            </a:r>
            <a:r>
              <a:rPr lang="en-US" altLang="zh-TW" sz="3600" i="1">
                <a:solidFill>
                  <a:schemeClr val="accent2"/>
                </a:solidFill>
              </a:rPr>
              <a:t>x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, </a:t>
            </a:r>
            <a:r>
              <a:rPr lang="en-US" altLang="zh-TW" sz="3600" i="1">
                <a:solidFill>
                  <a:schemeClr val="accent2"/>
                </a:solidFill>
              </a:rPr>
              <a:t>x’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x’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344068" name="Rectangle 3">
            <a:extLst>
              <a:ext uri="{FF2B5EF4-FFF2-40B4-BE49-F238E27FC236}">
                <a16:creationId xmlns:a16="http://schemas.microsoft.com/office/drawing/2014/main" id="{DF549772-C279-48A5-B60E-9DB26768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4495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/>
              <a:t>  (x</a:t>
            </a:r>
            <a:r>
              <a:rPr lang="en-US" altLang="zh-TW" baseline="-25000"/>
              <a:t>1</a:t>
            </a:r>
            <a:r>
              <a:rPr lang="en-US" altLang="zh-TW" i="1"/>
              <a:t>=x’</a:t>
            </a:r>
            <a:r>
              <a:rPr lang="en-US" altLang="zh-TW" baseline="-25000"/>
              <a:t>1</a:t>
            </a:r>
            <a:r>
              <a:rPr lang="en-US" altLang="zh-TW"/>
              <a:t>.</a:t>
            </a:r>
            <a:r>
              <a:rPr lang="en-US" altLang="zh-TW">
                <a:sym typeface="Symbol" panose="05050102010706020507" pitchFamily="18" charset="2"/>
              </a:rPr>
              <a:t>.</a:t>
            </a:r>
            <a:r>
              <a:rPr lang="en-US" altLang="zh-TW"/>
              <a:t>.....</a:t>
            </a:r>
            <a:r>
              <a:rPr lang="en-US" altLang="zh-TW">
                <a:sym typeface="Symbol" panose="05050102010706020507" pitchFamily="18" charset="2"/>
              </a:rPr>
              <a:t> </a:t>
            </a:r>
            <a:r>
              <a:rPr lang="en-US" altLang="zh-TW"/>
              <a:t>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=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</a:t>
            </a:r>
            <a:r>
              <a:rPr lang="en-US" altLang="zh-TW" i="1">
                <a:sym typeface="Symbol" panose="05050102010706020507" pitchFamily="18" charset="2"/>
              </a:rPr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i="1"/>
              <a:t>y</a:t>
            </a:r>
            <a:r>
              <a:rPr lang="en-US" altLang="zh-TW" i="1" baseline="-25000"/>
              <a:t>n </a:t>
            </a:r>
            <a:r>
              <a:rPr lang="en-US" altLang="zh-TW">
                <a:sym typeface="Symbol" panose="05050102010706020507" pitchFamily="18" charset="2"/>
              </a:rPr>
              <a:t>(   transition(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                        </a:t>
            </a:r>
            <a:r>
              <a:rPr lang="en-US" altLang="zh-TW"/>
              <a:t>reach(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                      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Wingdings" panose="05000000000000000000" pitchFamily="2" charset="2"/>
              </a:rPr>
              <a:t> </a:t>
            </a:r>
            <a:r>
              <a:rPr lang="en-US" altLang="zh-TW"/>
              <a:t>reach(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This is a least fixpoint for backward analysis. 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投影片編號版面配置區 5">
            <a:extLst>
              <a:ext uri="{FF2B5EF4-FFF2-40B4-BE49-F238E27FC236}">
                <a16:creationId xmlns:a16="http://schemas.microsoft.com/office/drawing/2014/main" id="{3DD4D722-1432-4C24-BEAF-BB0455300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E66502-EA77-4C25-B8B0-0F15FF844D4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46115" name="Rectangle 2">
            <a:extLst>
              <a:ext uri="{FF2B5EF4-FFF2-40B4-BE49-F238E27FC236}">
                <a16:creationId xmlns:a16="http://schemas.microsoft.com/office/drawing/2014/main" id="{919AFADC-79C9-4D1B-8CC7-4036554B9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763000" cy="1143000"/>
          </a:xfrm>
          <a:noFill/>
        </p:spPr>
        <p:txBody>
          <a:bodyPr/>
          <a:lstStyle/>
          <a:p>
            <a:r>
              <a:rPr lang="en-US" altLang="zh-TW" sz="4000"/>
              <a:t>Symbolic safety analysis</a:t>
            </a:r>
            <a:br>
              <a:rPr lang="en-US" altLang="zh-TW" sz="4000"/>
            </a:br>
            <a:r>
              <a:rPr lang="en-US" altLang="zh-TW" sz="3600">
                <a:solidFill>
                  <a:schemeClr val="accent2"/>
                </a:solidFill>
              </a:rPr>
              <a:t>- construction of reach(</a:t>
            </a:r>
            <a:r>
              <a:rPr lang="en-US" altLang="zh-TW" sz="3600" i="1">
                <a:solidFill>
                  <a:schemeClr val="accent2"/>
                </a:solidFill>
              </a:rPr>
              <a:t>x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, </a:t>
            </a:r>
            <a:r>
              <a:rPr lang="en-US" altLang="zh-TW" sz="3600" i="1">
                <a:solidFill>
                  <a:schemeClr val="accent2"/>
                </a:solidFill>
              </a:rPr>
              <a:t>x’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x’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346116" name="Rectangle 3">
            <a:extLst>
              <a:ext uri="{FF2B5EF4-FFF2-40B4-BE49-F238E27FC236}">
                <a16:creationId xmlns:a16="http://schemas.microsoft.com/office/drawing/2014/main" id="{6CD2B52D-EFE5-4C29-827D-430F3C2C3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4495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transition(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</a:t>
            </a:r>
            <a:r>
              <a:rPr lang="en-US" altLang="zh-TW" i="1">
                <a:sym typeface="Symbol" panose="05050102010706020507" pitchFamily="18" charset="2"/>
              </a:rPr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i="1"/>
              <a:t>y</a:t>
            </a:r>
            <a:r>
              <a:rPr lang="en-US" altLang="zh-TW" i="1" baseline="-25000"/>
              <a:t>n </a:t>
            </a:r>
            <a:r>
              <a:rPr lang="en-US" altLang="zh-TW">
                <a:sym typeface="Symbol" panose="05050102010706020507" pitchFamily="18" charset="2"/>
              </a:rPr>
              <a:t>(   reach(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                        reach</a:t>
            </a:r>
            <a:r>
              <a:rPr lang="en-US" altLang="zh-TW"/>
              <a:t>(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                      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Wingdings" panose="05000000000000000000" pitchFamily="2" charset="2"/>
              </a:rPr>
              <a:t> </a:t>
            </a:r>
            <a:r>
              <a:rPr lang="en-US" altLang="zh-TW"/>
              <a:t>reach(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This is </a:t>
            </a:r>
            <a:r>
              <a:rPr lang="en-US" altLang="zh-TW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en-US" altLang="zh-TW"/>
              <a:t> least fixpoint for speed-up. 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投影片編號版面配置區 5">
            <a:extLst>
              <a:ext uri="{FF2B5EF4-FFF2-40B4-BE49-F238E27FC236}">
                <a16:creationId xmlns:a16="http://schemas.microsoft.com/office/drawing/2014/main" id="{08DE8EB4-446E-4FE5-AFCF-7149F8F231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C7336D-BA0A-49D6-96BD-D4210BB9954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48163" name="Rectangle 2">
            <a:extLst>
              <a:ext uri="{FF2B5EF4-FFF2-40B4-BE49-F238E27FC236}">
                <a16:creationId xmlns:a16="http://schemas.microsoft.com/office/drawing/2014/main" id="{F9CE52E2-1CB5-4E3F-82E2-E1A6BACE0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763000" cy="1143000"/>
          </a:xfrm>
          <a:noFill/>
        </p:spPr>
        <p:txBody>
          <a:bodyPr/>
          <a:lstStyle/>
          <a:p>
            <a:r>
              <a:rPr lang="en-US" altLang="zh-TW" sz="4000"/>
              <a:t>Symbolic safety analysis</a:t>
            </a:r>
            <a:br>
              <a:rPr lang="en-US" altLang="zh-TW" sz="4000"/>
            </a:br>
            <a:r>
              <a:rPr lang="en-US" altLang="zh-TW" sz="3600">
                <a:solidFill>
                  <a:schemeClr val="accent2"/>
                </a:solidFill>
              </a:rPr>
              <a:t>- construction of reach(</a:t>
            </a:r>
            <a:r>
              <a:rPr lang="en-US" altLang="zh-TW" sz="3600" i="1">
                <a:solidFill>
                  <a:schemeClr val="accent2"/>
                </a:solidFill>
              </a:rPr>
              <a:t>x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, </a:t>
            </a:r>
            <a:r>
              <a:rPr lang="en-US" altLang="zh-TW" sz="3600" i="1">
                <a:solidFill>
                  <a:schemeClr val="accent2"/>
                </a:solidFill>
              </a:rPr>
              <a:t>x’</a:t>
            </a:r>
            <a:r>
              <a:rPr lang="en-US" altLang="zh-TW" sz="3600" baseline="-25000">
                <a:solidFill>
                  <a:schemeClr val="accent2"/>
                </a:solidFill>
              </a:rPr>
              <a:t>1</a:t>
            </a:r>
            <a:r>
              <a:rPr lang="en-US" altLang="zh-TW" sz="3600">
                <a:solidFill>
                  <a:schemeClr val="accent2"/>
                </a:solidFill>
              </a:rPr>
              <a:t>,......,</a:t>
            </a:r>
            <a:r>
              <a:rPr lang="en-US" altLang="zh-TW" sz="3600" i="1">
                <a:solidFill>
                  <a:schemeClr val="accent2"/>
                </a:solidFill>
              </a:rPr>
              <a:t> x’</a:t>
            </a:r>
            <a:r>
              <a:rPr lang="en-US" altLang="zh-TW" sz="3600" i="1" baseline="-25000">
                <a:solidFill>
                  <a:schemeClr val="accent2"/>
                </a:solidFill>
              </a:rPr>
              <a:t>n</a:t>
            </a:r>
            <a:r>
              <a:rPr lang="en-US" altLang="zh-TW" sz="360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348164" name="Rectangle 3">
            <a:extLst>
              <a:ext uri="{FF2B5EF4-FFF2-40B4-BE49-F238E27FC236}">
                <a16:creationId xmlns:a16="http://schemas.microsoft.com/office/drawing/2014/main" id="{4124E0FD-6670-4C57-82C9-C10443D64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4495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transition(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</a:t>
            </a:r>
            <a:r>
              <a:rPr lang="en-US" altLang="zh-TW" i="1">
                <a:sym typeface="Symbol" panose="05050102010706020507" pitchFamily="18" charset="2"/>
              </a:rPr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</a:t>
            </a:r>
            <a:r>
              <a:rPr lang="en-US" altLang="zh-TW">
                <a:sym typeface="Symbol" panose="05050102010706020507" pitchFamily="18" charset="2"/>
              </a:rPr>
              <a:t></a:t>
            </a:r>
            <a:r>
              <a:rPr lang="en-US" altLang="zh-TW" i="1"/>
              <a:t>y</a:t>
            </a:r>
            <a:r>
              <a:rPr lang="en-US" altLang="zh-TW" i="1" baseline="-25000"/>
              <a:t>n </a:t>
            </a:r>
            <a:r>
              <a:rPr lang="en-US" altLang="zh-TW">
                <a:sym typeface="Symbol" panose="05050102010706020507" pitchFamily="18" charset="2"/>
              </a:rPr>
              <a:t>(   </a:t>
            </a:r>
            <a:r>
              <a:rPr lang="en-US" altLang="zh-TW"/>
              <a:t>reach</a:t>
            </a:r>
            <a:r>
              <a:rPr lang="en-US" altLang="zh-TW">
                <a:sym typeface="Symbol" panose="05050102010706020507" pitchFamily="18" charset="2"/>
              </a:rPr>
              <a:t>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                        transition</a:t>
            </a:r>
            <a:r>
              <a:rPr lang="en-US" altLang="zh-TW"/>
              <a:t> (</a:t>
            </a:r>
            <a:r>
              <a:rPr lang="en-US" altLang="zh-TW" i="1"/>
              <a:t>y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y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                      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ym typeface="Wingdings" panose="05000000000000000000" pitchFamily="2" charset="2"/>
              </a:rPr>
              <a:t> </a:t>
            </a:r>
            <a:r>
              <a:rPr lang="en-US" altLang="zh-TW"/>
              <a:t>reach(</a:t>
            </a:r>
            <a:r>
              <a:rPr lang="en-US" altLang="zh-TW" i="1"/>
              <a:t>x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</a:t>
            </a:r>
            <a:r>
              <a:rPr lang="en-US" altLang="zh-TW" i="1" baseline="-25000"/>
              <a:t>n</a:t>
            </a:r>
            <a:r>
              <a:rPr lang="en-US" altLang="zh-TW"/>
              <a:t>, </a:t>
            </a:r>
            <a:r>
              <a:rPr lang="en-US" altLang="zh-TW" i="1"/>
              <a:t>x’</a:t>
            </a:r>
            <a:r>
              <a:rPr lang="en-US" altLang="zh-TW" baseline="-25000"/>
              <a:t>1</a:t>
            </a:r>
            <a:r>
              <a:rPr lang="en-US" altLang="zh-TW"/>
              <a:t>,......,</a:t>
            </a:r>
            <a:r>
              <a:rPr lang="en-US" altLang="zh-TW" i="1"/>
              <a:t> x’</a:t>
            </a:r>
            <a:r>
              <a:rPr lang="en-US" altLang="zh-TW" i="1" baseline="-25000"/>
              <a:t>n</a:t>
            </a:r>
            <a:r>
              <a:rPr lang="en-US" altLang="zh-TW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This is </a:t>
            </a:r>
            <a:r>
              <a:rPr lang="en-US" altLang="zh-TW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en-US" altLang="zh-TW"/>
              <a:t> least fixpoint for forward analysis. 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內容版面配置區 2">
            <a:extLst>
              <a:ext uri="{FF2B5EF4-FFF2-40B4-BE49-F238E27FC236}">
                <a16:creationId xmlns:a16="http://schemas.microsoft.com/office/drawing/2014/main" id="{5D6517DD-C9B1-41C8-B6AA-709C2B78A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Drawbacks</a:t>
            </a:r>
          </a:p>
          <a:p>
            <a:r>
              <a:rPr lang="en-US" altLang="zh-TW"/>
              <a:t>Reachability relation is usually huge. </a:t>
            </a:r>
          </a:p>
          <a:p>
            <a:r>
              <a:rPr lang="en-US" altLang="zh-TW"/>
              <a:t>BDD is exponential in size to the number of variables. </a:t>
            </a:r>
          </a:p>
          <a:p>
            <a:r>
              <a:rPr lang="en-US" altLang="zh-TW"/>
              <a:t>State() is an n-variable relation. </a:t>
            </a:r>
          </a:p>
          <a:p>
            <a:r>
              <a:rPr lang="en-US" altLang="zh-TW"/>
              <a:t>R() and reachable()  are both 2n-variable relations.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In fact, we do model-checking with only transiton relation. </a:t>
            </a:r>
            <a:endParaRPr lang="zh-TW" altLang="en-US"/>
          </a:p>
        </p:txBody>
      </p:sp>
      <p:sp>
        <p:nvSpPr>
          <p:cNvPr id="350211" name="投影片編號版面配置區 3">
            <a:extLst>
              <a:ext uri="{FF2B5EF4-FFF2-40B4-BE49-F238E27FC236}">
                <a16:creationId xmlns:a16="http://schemas.microsoft.com/office/drawing/2014/main" id="{BEA57D07-AC7D-4817-8F1D-6CBFDFFA9D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78C0AD-C71B-4AD7-8F44-65972959051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0E132F-7AF7-48B0-96F2-8B5B1C92C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TW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Symbolic model-checking</a:t>
            </a:r>
            <a:br>
              <a:rPr lang="en-US" altLang="zh-TW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altLang="zh-TW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- based on reachability relation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投影片編號版面配置區 5">
            <a:extLst>
              <a:ext uri="{FF2B5EF4-FFF2-40B4-BE49-F238E27FC236}">
                <a16:creationId xmlns:a16="http://schemas.microsoft.com/office/drawing/2014/main" id="{8796F74E-C625-4964-AAF0-253AA15067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900879-CC45-4764-9107-D23D1E5DE4E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51235" name="Rectangle 2">
            <a:extLst>
              <a:ext uri="{FF2B5EF4-FFF2-40B4-BE49-F238E27FC236}">
                <a16:creationId xmlns:a16="http://schemas.microsoft.com/office/drawing/2014/main" id="{67F45164-6A35-43F9-A537-EB28FA666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safety analysis (backward)</a:t>
            </a:r>
          </a:p>
        </p:txBody>
      </p:sp>
      <p:sp>
        <p:nvSpPr>
          <p:cNvPr id="351236" name="Rectangle 3">
            <a:extLst>
              <a:ext uri="{FF2B5EF4-FFF2-40B4-BE49-F238E27FC236}">
                <a16:creationId xmlns:a16="http://schemas.microsoft.com/office/drawing/2014/main" id="{31C40BA8-931C-47A9-B8BD-FD44477CD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risk state set as r 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t(</a:t>
            </a:r>
            <a:r>
              <a:rPr lang="en-US" altLang="zh-TW" sz="2400"/>
              <a:t>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ym typeface="Symbol" panose="05050102010706020507" pitchFamily="18" charset="2"/>
              </a:rPr>
              <a:t>n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r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)(b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));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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i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))  false,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safe</a:t>
            </a:r>
            <a:r>
              <a:rPr lang="en-US" altLang="zh-TW" sz="2400">
                <a:sym typeface="Symbol" panose="05050102010706020507" pitchFamily="18" charset="2"/>
              </a:rPr>
              <a:t>’; 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risky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E3E19334-9805-466D-B940-8E9052100505}"/>
              </a:ext>
            </a:extLst>
          </p:cNvPr>
          <p:cNvSpPr/>
          <p:nvPr/>
        </p:nvSpPr>
        <p:spPr>
          <a:xfrm>
            <a:off x="7086600" y="2133600"/>
            <a:ext cx="2057400" cy="1450975"/>
          </a:xfrm>
          <a:prstGeom prst="wedgeRectCallout">
            <a:avLst>
              <a:gd name="adj1" fmla="val -389"/>
              <a:gd name="adj2" fmla="val 958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000" dirty="0"/>
              <a:t>change all </a:t>
            </a:r>
            <a:r>
              <a:rPr lang="en-US" altLang="zh-TW" sz="2000" dirty="0" err="1"/>
              <a:t>umprimed</a:t>
            </a:r>
            <a:r>
              <a:rPr lang="en-US" altLang="zh-TW" sz="2000" dirty="0"/>
              <a:t> variables in b</a:t>
            </a:r>
            <a:r>
              <a:rPr lang="en-US" altLang="zh-TW" sz="2000" baseline="-25000" dirty="0"/>
              <a:t>k-1</a:t>
            </a:r>
            <a:r>
              <a:rPr lang="en-US" altLang="zh-TW" sz="2000" dirty="0"/>
              <a:t> to primed.</a:t>
            </a:r>
            <a:endParaRPr lang="zh-TW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EFD6C9-2ABF-48E9-B351-A3BF294DCE10}"/>
              </a:ext>
            </a:extLst>
          </p:cNvPr>
          <p:cNvSpPr/>
          <p:nvPr/>
        </p:nvSpPr>
        <p:spPr>
          <a:xfrm>
            <a:off x="3048000" y="4800600"/>
            <a:ext cx="4267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/>
              <a:t>a least </a:t>
            </a:r>
            <a:r>
              <a:rPr lang="en-US" altLang="zh-TW" sz="2800" dirty="0" err="1"/>
              <a:t>fixpoint</a:t>
            </a:r>
            <a:r>
              <a:rPr lang="en-US" altLang="zh-TW" sz="2800" dirty="0"/>
              <a:t> procedure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投影片編號版面配置區 5">
            <a:extLst>
              <a:ext uri="{FF2B5EF4-FFF2-40B4-BE49-F238E27FC236}">
                <a16:creationId xmlns:a16="http://schemas.microsoft.com/office/drawing/2014/main" id="{04896737-9B7B-4165-87CE-062B8EA392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1665EB-3CE5-4001-A436-250A7A31365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53283" name="Rectangle 5">
            <a:extLst>
              <a:ext uri="{FF2B5EF4-FFF2-40B4-BE49-F238E27FC236}">
                <a16:creationId xmlns:a16="http://schemas.microsoft.com/office/drawing/2014/main" id="{1745B4E4-101C-49AE-BAC3-9F5253DB7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symbolic safety analysis</a:t>
            </a:r>
          </a:p>
        </p:txBody>
      </p:sp>
      <p:sp>
        <p:nvSpPr>
          <p:cNvPr id="353284" name="Rectangle 6">
            <a:extLst>
              <a:ext uri="{FF2B5EF4-FFF2-40B4-BE49-F238E27FC236}">
                <a16:creationId xmlns:a16="http://schemas.microsoft.com/office/drawing/2014/main" id="{A2AF95C6-D841-4347-B724-803F2CC6E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800600"/>
            <a:ext cx="83820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states:  s(x,y,z)  </a:t>
            </a:r>
            <a:r>
              <a:rPr lang="en-US" altLang="zh-TW" sz="2400">
                <a:sym typeface="Symbol" panose="05050102010706020507" pitchFamily="18" charset="2"/>
              </a:rPr>
              <a:t> 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 z)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                   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 z)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z)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                   </a:t>
            </a:r>
            <a:r>
              <a:rPr lang="en-US" altLang="zh-TW" sz="2400"/>
              <a:t> 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 (x</a:t>
            </a:r>
            <a:r>
              <a:rPr lang="en-US" altLang="zh-TW" sz="2400">
                <a:sym typeface="Symbol" panose="05050102010706020507" pitchFamily="18" charset="2"/>
              </a:rPr>
              <a:t>y)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initial state: i(x,y,z)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risk state: r(x,y,z) 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/>
          </a:p>
        </p:txBody>
      </p:sp>
      <p:grpSp>
        <p:nvGrpSpPr>
          <p:cNvPr id="353285" name="群組 23">
            <a:extLst>
              <a:ext uri="{FF2B5EF4-FFF2-40B4-BE49-F238E27FC236}">
                <a16:creationId xmlns:a16="http://schemas.microsoft.com/office/drawing/2014/main" id="{E45EC01A-6E47-44A1-9AA7-D030D1126DC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"/>
            <a:ext cx="8001000" cy="4267200"/>
            <a:chOff x="685800" y="1600200"/>
            <a:chExt cx="8001000" cy="4267200"/>
          </a:xfrm>
        </p:grpSpPr>
        <p:sp>
          <p:nvSpPr>
            <p:cNvPr id="353286" name="Oval 8">
              <a:extLst>
                <a:ext uri="{FF2B5EF4-FFF2-40B4-BE49-F238E27FC236}">
                  <a16:creationId xmlns:a16="http://schemas.microsoft.com/office/drawing/2014/main" id="{B4ABBEB5-495B-4744-92A6-01F0781B3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125" y="4419600"/>
              <a:ext cx="1184275" cy="1143000"/>
            </a:xfrm>
            <a:prstGeom prst="ellipse">
              <a:avLst/>
            </a:prstGeom>
            <a:solidFill>
              <a:schemeClr val="hlink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sym typeface="Symbol" panose="05050102010706020507" pitchFamily="18" charset="2"/>
                </a:rPr>
                <a:t></a:t>
              </a: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</p:txBody>
        </p:sp>
        <p:sp>
          <p:nvSpPr>
            <p:cNvPr id="353287" name="Oval 9">
              <a:extLst>
                <a:ext uri="{FF2B5EF4-FFF2-40B4-BE49-F238E27FC236}">
                  <a16:creationId xmlns:a16="http://schemas.microsoft.com/office/drawing/2014/main" id="{43A6B251-EDDF-440F-92CF-11D465DB5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3657600"/>
              <a:ext cx="1160462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</p:txBody>
        </p:sp>
        <p:sp>
          <p:nvSpPr>
            <p:cNvPr id="353288" name="Oval 10">
              <a:extLst>
                <a:ext uri="{FF2B5EF4-FFF2-40B4-BE49-F238E27FC236}">
                  <a16:creationId xmlns:a16="http://schemas.microsoft.com/office/drawing/2014/main" id="{C5761221-296D-4154-9180-96DF3CA6B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52800"/>
              <a:ext cx="1143000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289" name="Oval 11">
              <a:extLst>
                <a:ext uri="{FF2B5EF4-FFF2-40B4-BE49-F238E27FC236}">
                  <a16:creationId xmlns:a16="http://schemas.microsoft.com/office/drawing/2014/main" id="{1ADBF5E6-F182-43F5-A7AE-615E6788E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4724400"/>
              <a:ext cx="12192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290" name="Oval 12">
              <a:extLst>
                <a:ext uri="{FF2B5EF4-FFF2-40B4-BE49-F238E27FC236}">
                  <a16:creationId xmlns:a16="http://schemas.microsoft.com/office/drawing/2014/main" id="{278E752C-46C1-4EE5-8C54-F16E54335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352800"/>
              <a:ext cx="1068388" cy="9906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291" name="Line 13">
              <a:extLst>
                <a:ext uri="{FF2B5EF4-FFF2-40B4-BE49-F238E27FC236}">
                  <a16:creationId xmlns:a16="http://schemas.microsoft.com/office/drawing/2014/main" id="{5B688B12-6CBB-41EC-9CB7-2CEBA54FB6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5084763"/>
              <a:ext cx="1101725" cy="17303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3292" name="Line 14">
              <a:extLst>
                <a:ext uri="{FF2B5EF4-FFF2-40B4-BE49-F238E27FC236}">
                  <a16:creationId xmlns:a16="http://schemas.microsoft.com/office/drawing/2014/main" id="{5D886194-2F8F-4947-9E20-343D789E4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4495800"/>
              <a:ext cx="609600" cy="3048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3293" name="Line 15">
              <a:extLst>
                <a:ext uri="{FF2B5EF4-FFF2-40B4-BE49-F238E27FC236}">
                  <a16:creationId xmlns:a16="http://schemas.microsoft.com/office/drawing/2014/main" id="{EAC4C41C-E2F9-44B7-B17B-362E07B53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962400"/>
              <a:ext cx="1049338" cy="258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3294" name="Arc 16">
              <a:extLst>
                <a:ext uri="{FF2B5EF4-FFF2-40B4-BE49-F238E27FC236}">
                  <a16:creationId xmlns:a16="http://schemas.microsoft.com/office/drawing/2014/main" id="{33141638-8EEB-40BC-A2E0-FA1A3FD9D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613" y="3292475"/>
              <a:ext cx="1185862" cy="698500"/>
            </a:xfrm>
            <a:custGeom>
              <a:avLst/>
              <a:gdLst>
                <a:gd name="T0" fmla="*/ 0 w 28018"/>
                <a:gd name="T1" fmla="*/ 2147483646 h 21600"/>
                <a:gd name="T2" fmla="*/ 2147483646 w 28018"/>
                <a:gd name="T3" fmla="*/ 2147483646 h 21600"/>
                <a:gd name="T4" fmla="*/ 2147483646 w 2801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8018"/>
                <a:gd name="T10" fmla="*/ 0 h 21600"/>
                <a:gd name="T11" fmla="*/ 28018 w 280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18" h="21600" fill="none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</a:path>
                <a:path w="28018" h="21600" stroke="0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  <a:lnTo>
                    <a:pt x="12020" y="21600"/>
                  </a:lnTo>
                  <a:lnTo>
                    <a:pt x="0" y="3653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3295" name="Arc 17">
              <a:extLst>
                <a:ext uri="{FF2B5EF4-FFF2-40B4-BE49-F238E27FC236}">
                  <a16:creationId xmlns:a16="http://schemas.microsoft.com/office/drawing/2014/main" id="{B3EAE6A2-D84A-42B7-8AE8-BD6395042F2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600200" y="3789363"/>
              <a:ext cx="1289050" cy="698500"/>
            </a:xfrm>
            <a:custGeom>
              <a:avLst/>
              <a:gdLst>
                <a:gd name="T0" fmla="*/ 0 w 30437"/>
                <a:gd name="T1" fmla="*/ 2147483646 h 21600"/>
                <a:gd name="T2" fmla="*/ 2147483646 w 30437"/>
                <a:gd name="T3" fmla="*/ 2147483646 h 21600"/>
                <a:gd name="T4" fmla="*/ 2147483646 w 30437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30437"/>
                <a:gd name="T10" fmla="*/ 0 h 21600"/>
                <a:gd name="T11" fmla="*/ 30437 w 3043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37" h="21600" fill="none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</a:path>
                <a:path w="30437" h="21600" stroke="0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  <a:lnTo>
                    <a:pt x="16492" y="21600"/>
                  </a:lnTo>
                  <a:lnTo>
                    <a:pt x="0" y="7651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3296" name="Oval 18">
              <a:extLst>
                <a:ext uri="{FF2B5EF4-FFF2-40B4-BE49-F238E27FC236}">
                  <a16:creationId xmlns:a16="http://schemas.microsoft.com/office/drawing/2014/main" id="{893C3119-11B9-4028-AFFB-9EDA16FC4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1600200"/>
              <a:ext cx="1235075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297" name="Line 19">
              <a:extLst>
                <a:ext uri="{FF2B5EF4-FFF2-40B4-BE49-F238E27FC236}">
                  <a16:creationId xmlns:a16="http://schemas.microsoft.com/office/drawing/2014/main" id="{C92EF26B-E468-43A6-AA81-AB7B9739A4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2514600"/>
              <a:ext cx="1676400" cy="13716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3298" name="Text Box 20">
              <a:extLst>
                <a:ext uri="{FF2B5EF4-FFF2-40B4-BE49-F238E27FC236}">
                  <a16:creationId xmlns:a16="http://schemas.microsoft.com/office/drawing/2014/main" id="{9D776E3C-790B-43E7-9D17-899E48103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5181600"/>
              <a:ext cx="682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299" name="Text Box 21">
              <a:extLst>
                <a:ext uri="{FF2B5EF4-FFF2-40B4-BE49-F238E27FC236}">
                  <a16:creationId xmlns:a16="http://schemas.microsoft.com/office/drawing/2014/main" id="{832C3613-5432-4133-ACC1-5E4758789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4038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300" name="Text Box 22">
              <a:extLst>
                <a:ext uri="{FF2B5EF4-FFF2-40B4-BE49-F238E27FC236}">
                  <a16:creationId xmlns:a16="http://schemas.microsoft.com/office/drawing/2014/main" id="{DE1F5F7C-74C9-4A2E-858E-E5D212058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7338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301" name="Text Box 23">
              <a:extLst>
                <a:ext uri="{FF2B5EF4-FFF2-40B4-BE49-F238E27FC236}">
                  <a16:creationId xmlns:a16="http://schemas.microsoft.com/office/drawing/2014/main" id="{ED58842A-800C-4141-9804-1B78365CC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657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302" name="Text Box 24">
              <a:extLst>
                <a:ext uri="{FF2B5EF4-FFF2-40B4-BE49-F238E27FC236}">
                  <a16:creationId xmlns:a16="http://schemas.microsoft.com/office/drawing/2014/main" id="{AB24B35A-1B78-4775-9444-5A0C8472C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4800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303" name="Text Box 20">
              <a:extLst>
                <a:ext uri="{FF2B5EF4-FFF2-40B4-BE49-F238E27FC236}">
                  <a16:creationId xmlns:a16="http://schemas.microsoft.com/office/drawing/2014/main" id="{95D3483B-7DDE-4A14-AC91-D036D1A2B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19812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3304" name="Line 15">
              <a:extLst>
                <a:ext uri="{FF2B5EF4-FFF2-40B4-BE49-F238E27FC236}">
                  <a16:creationId xmlns:a16="http://schemas.microsoft.com/office/drawing/2014/main" id="{097207BB-D21F-4DBD-9D04-F44615B8F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19400"/>
              <a:ext cx="363538" cy="639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投影片編號版面配置區 5">
            <a:extLst>
              <a:ext uri="{FF2B5EF4-FFF2-40B4-BE49-F238E27FC236}">
                <a16:creationId xmlns:a16="http://schemas.microsoft.com/office/drawing/2014/main" id="{307BFC1D-1470-4864-A310-C9720B1799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73E6DD-DC1D-4E45-9C56-F81B89DF9CD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55331" name="Rectangle 5">
            <a:extLst>
              <a:ext uri="{FF2B5EF4-FFF2-40B4-BE49-F238E27FC236}">
                <a16:creationId xmlns:a16="http://schemas.microsoft.com/office/drawing/2014/main" id="{2B51E605-7913-4A95-80B2-FF433FA62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symbolic safety analysis</a:t>
            </a:r>
          </a:p>
        </p:txBody>
      </p:sp>
      <p:sp>
        <p:nvSpPr>
          <p:cNvPr id="355332" name="Rectangle 6">
            <a:extLst>
              <a:ext uri="{FF2B5EF4-FFF2-40B4-BE49-F238E27FC236}">
                <a16:creationId xmlns:a16="http://schemas.microsoft.com/office/drawing/2014/main" id="{7FE85440-B71F-4CA1-8E38-C93BF2662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800600"/>
            <a:ext cx="8382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transitions: T(x,y,z,x’,y’,z’)</a:t>
            </a:r>
            <a:r>
              <a:rPr lang="en-US" altLang="zh-TW" sz="2400">
                <a:sym typeface="Symbol" panose="05050102010706020507" pitchFamily="18" charset="2"/>
              </a:rPr>
              <a:t>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yz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y’z’)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/>
          </a:p>
        </p:txBody>
      </p:sp>
      <p:grpSp>
        <p:nvGrpSpPr>
          <p:cNvPr id="355333" name="群組 23">
            <a:extLst>
              <a:ext uri="{FF2B5EF4-FFF2-40B4-BE49-F238E27FC236}">
                <a16:creationId xmlns:a16="http://schemas.microsoft.com/office/drawing/2014/main" id="{BBEA9CA6-5CF7-4E6D-AF88-0DF2B8280E7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"/>
            <a:ext cx="8001000" cy="4267200"/>
            <a:chOff x="685800" y="1600200"/>
            <a:chExt cx="8001000" cy="4267200"/>
          </a:xfrm>
        </p:grpSpPr>
        <p:sp>
          <p:nvSpPr>
            <p:cNvPr id="355334" name="Oval 8">
              <a:extLst>
                <a:ext uri="{FF2B5EF4-FFF2-40B4-BE49-F238E27FC236}">
                  <a16:creationId xmlns:a16="http://schemas.microsoft.com/office/drawing/2014/main" id="{17A8DB71-1772-4164-A1BB-7808AA7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125" y="4419600"/>
              <a:ext cx="1184275" cy="1143000"/>
            </a:xfrm>
            <a:prstGeom prst="ellipse">
              <a:avLst/>
            </a:prstGeom>
            <a:solidFill>
              <a:schemeClr val="hlink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sym typeface="Symbol" panose="05050102010706020507" pitchFamily="18" charset="2"/>
                </a:rPr>
                <a:t></a:t>
              </a: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</p:txBody>
        </p:sp>
        <p:sp>
          <p:nvSpPr>
            <p:cNvPr id="355335" name="Oval 9">
              <a:extLst>
                <a:ext uri="{FF2B5EF4-FFF2-40B4-BE49-F238E27FC236}">
                  <a16:creationId xmlns:a16="http://schemas.microsoft.com/office/drawing/2014/main" id="{4C566B50-C8D2-4105-9D90-EF171F95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3657600"/>
              <a:ext cx="1160462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</p:txBody>
        </p:sp>
        <p:sp>
          <p:nvSpPr>
            <p:cNvPr id="355336" name="Oval 10">
              <a:extLst>
                <a:ext uri="{FF2B5EF4-FFF2-40B4-BE49-F238E27FC236}">
                  <a16:creationId xmlns:a16="http://schemas.microsoft.com/office/drawing/2014/main" id="{697DE7DC-D3F4-435C-857A-85DB482DE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52800"/>
              <a:ext cx="1143000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37" name="Oval 11">
              <a:extLst>
                <a:ext uri="{FF2B5EF4-FFF2-40B4-BE49-F238E27FC236}">
                  <a16:creationId xmlns:a16="http://schemas.microsoft.com/office/drawing/2014/main" id="{21D16338-FC87-4934-934D-B18A4B15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4724400"/>
              <a:ext cx="12192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38" name="Oval 12">
              <a:extLst>
                <a:ext uri="{FF2B5EF4-FFF2-40B4-BE49-F238E27FC236}">
                  <a16:creationId xmlns:a16="http://schemas.microsoft.com/office/drawing/2014/main" id="{9E7C5B22-11BA-4335-8468-488DD96A4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352800"/>
              <a:ext cx="1068388" cy="9906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39" name="Line 13">
              <a:extLst>
                <a:ext uri="{FF2B5EF4-FFF2-40B4-BE49-F238E27FC236}">
                  <a16:creationId xmlns:a16="http://schemas.microsoft.com/office/drawing/2014/main" id="{DFBE5C05-DB4B-433F-ABF1-E7AACE4EF3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5084763"/>
              <a:ext cx="1101725" cy="17303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5340" name="Line 14">
              <a:extLst>
                <a:ext uri="{FF2B5EF4-FFF2-40B4-BE49-F238E27FC236}">
                  <a16:creationId xmlns:a16="http://schemas.microsoft.com/office/drawing/2014/main" id="{AA28FC4D-9B43-4B4C-9308-6ACFC57E6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4495800"/>
              <a:ext cx="609600" cy="3048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5341" name="Line 15">
              <a:extLst>
                <a:ext uri="{FF2B5EF4-FFF2-40B4-BE49-F238E27FC236}">
                  <a16:creationId xmlns:a16="http://schemas.microsoft.com/office/drawing/2014/main" id="{7A127C39-55E9-4D5D-9E6D-4DE080ED8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962400"/>
              <a:ext cx="1049338" cy="258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5342" name="Arc 16">
              <a:extLst>
                <a:ext uri="{FF2B5EF4-FFF2-40B4-BE49-F238E27FC236}">
                  <a16:creationId xmlns:a16="http://schemas.microsoft.com/office/drawing/2014/main" id="{1289D74D-19B6-40FA-B227-A31AE2CC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613" y="3292475"/>
              <a:ext cx="1185862" cy="698500"/>
            </a:xfrm>
            <a:custGeom>
              <a:avLst/>
              <a:gdLst>
                <a:gd name="T0" fmla="*/ 0 w 28018"/>
                <a:gd name="T1" fmla="*/ 2147483646 h 21600"/>
                <a:gd name="T2" fmla="*/ 2147483646 w 28018"/>
                <a:gd name="T3" fmla="*/ 2147483646 h 21600"/>
                <a:gd name="T4" fmla="*/ 2147483646 w 2801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8018"/>
                <a:gd name="T10" fmla="*/ 0 h 21600"/>
                <a:gd name="T11" fmla="*/ 28018 w 280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18" h="21600" fill="none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</a:path>
                <a:path w="28018" h="21600" stroke="0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  <a:lnTo>
                    <a:pt x="12020" y="21600"/>
                  </a:lnTo>
                  <a:lnTo>
                    <a:pt x="0" y="3653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5343" name="Arc 17">
              <a:extLst>
                <a:ext uri="{FF2B5EF4-FFF2-40B4-BE49-F238E27FC236}">
                  <a16:creationId xmlns:a16="http://schemas.microsoft.com/office/drawing/2014/main" id="{A7A5F28E-F36C-4764-9254-1C1713ED2A0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600200" y="3789363"/>
              <a:ext cx="1289050" cy="698500"/>
            </a:xfrm>
            <a:custGeom>
              <a:avLst/>
              <a:gdLst>
                <a:gd name="T0" fmla="*/ 0 w 30437"/>
                <a:gd name="T1" fmla="*/ 2147483646 h 21600"/>
                <a:gd name="T2" fmla="*/ 2147483646 w 30437"/>
                <a:gd name="T3" fmla="*/ 2147483646 h 21600"/>
                <a:gd name="T4" fmla="*/ 2147483646 w 30437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30437"/>
                <a:gd name="T10" fmla="*/ 0 h 21600"/>
                <a:gd name="T11" fmla="*/ 30437 w 3043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37" h="21600" fill="none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</a:path>
                <a:path w="30437" h="21600" stroke="0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  <a:lnTo>
                    <a:pt x="16492" y="21600"/>
                  </a:lnTo>
                  <a:lnTo>
                    <a:pt x="0" y="7651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5344" name="Oval 18">
              <a:extLst>
                <a:ext uri="{FF2B5EF4-FFF2-40B4-BE49-F238E27FC236}">
                  <a16:creationId xmlns:a16="http://schemas.microsoft.com/office/drawing/2014/main" id="{A4392CB6-83AD-40E0-92BD-7C7E8D076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1600200"/>
              <a:ext cx="1235075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45" name="Line 19">
              <a:extLst>
                <a:ext uri="{FF2B5EF4-FFF2-40B4-BE49-F238E27FC236}">
                  <a16:creationId xmlns:a16="http://schemas.microsoft.com/office/drawing/2014/main" id="{F257C59C-1FE3-4BE9-A204-710A937E6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2514600"/>
              <a:ext cx="1676400" cy="13716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5346" name="Text Box 20">
              <a:extLst>
                <a:ext uri="{FF2B5EF4-FFF2-40B4-BE49-F238E27FC236}">
                  <a16:creationId xmlns:a16="http://schemas.microsoft.com/office/drawing/2014/main" id="{8EB8F0B3-1A02-49C9-9498-A6F6335A6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5181600"/>
              <a:ext cx="682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47" name="Text Box 21">
              <a:extLst>
                <a:ext uri="{FF2B5EF4-FFF2-40B4-BE49-F238E27FC236}">
                  <a16:creationId xmlns:a16="http://schemas.microsoft.com/office/drawing/2014/main" id="{446057F3-CE6E-4499-B831-7C6781429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4038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48" name="Text Box 22">
              <a:extLst>
                <a:ext uri="{FF2B5EF4-FFF2-40B4-BE49-F238E27FC236}">
                  <a16:creationId xmlns:a16="http://schemas.microsoft.com/office/drawing/2014/main" id="{7E40B4CA-45C8-47F6-BFFD-1CFB5F79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7338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49" name="Text Box 23">
              <a:extLst>
                <a:ext uri="{FF2B5EF4-FFF2-40B4-BE49-F238E27FC236}">
                  <a16:creationId xmlns:a16="http://schemas.microsoft.com/office/drawing/2014/main" id="{AE928BDC-7255-48E7-A35A-E10A73878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657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50" name="Text Box 24">
              <a:extLst>
                <a:ext uri="{FF2B5EF4-FFF2-40B4-BE49-F238E27FC236}">
                  <a16:creationId xmlns:a16="http://schemas.microsoft.com/office/drawing/2014/main" id="{ABBF99CD-526B-4C4E-91C7-6B4C349AD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4800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51" name="Text Box 20">
              <a:extLst>
                <a:ext uri="{FF2B5EF4-FFF2-40B4-BE49-F238E27FC236}">
                  <a16:creationId xmlns:a16="http://schemas.microsoft.com/office/drawing/2014/main" id="{5797AEF9-7EE2-429C-B34C-17D5203F4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19812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55352" name="Line 15">
              <a:extLst>
                <a:ext uri="{FF2B5EF4-FFF2-40B4-BE49-F238E27FC236}">
                  <a16:creationId xmlns:a16="http://schemas.microsoft.com/office/drawing/2014/main" id="{A73D216B-32ED-478C-A2DC-3544D0242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19400"/>
              <a:ext cx="363538" cy="639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投影片編號版面配置區 5">
            <a:extLst>
              <a:ext uri="{FF2B5EF4-FFF2-40B4-BE49-F238E27FC236}">
                <a16:creationId xmlns:a16="http://schemas.microsoft.com/office/drawing/2014/main" id="{C178D02E-449C-44F4-9CC8-9B4A4CE3E0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CC9966-1F90-423A-8637-4F79673CA75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57379" name="Rectangle 2">
            <a:extLst>
              <a:ext uri="{FF2B5EF4-FFF2-40B4-BE49-F238E27FC236}">
                <a16:creationId xmlns:a16="http://schemas.microsoft.com/office/drawing/2014/main" id="{FCEF035D-E89E-487C-B60E-3FDCE64C8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safety analysis (backward)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10C2208-1392-42E4-8A9F-433ABE311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</a:t>
            </a:r>
            <a:r>
              <a:rPr lang="en-US" altLang="zh-TW" sz="2400" baseline="-25000"/>
              <a:t>0</a:t>
            </a:r>
            <a:r>
              <a:rPr lang="en-US" altLang="zh-TW" sz="2400"/>
              <a:t> =</a:t>
            </a:r>
            <a:r>
              <a:rPr lang="en-US" altLang="zh-TW" sz="2400">
                <a:sym typeface="Symbol" panose="05050102010706020507" pitchFamily="18" charset="2"/>
              </a:rPr>
              <a:t> r(x,y,z)  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</a:t>
            </a:r>
            <a:r>
              <a:rPr lang="en-US" altLang="zh-TW" sz="2400"/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 x’y’z’(t(x,y,z,x’,y’,z’) b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)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 x’y’z’(t(x,y,z,x’,y’,z’) </a:t>
            </a:r>
            <a:r>
              <a:rPr lang="en-US" altLang="zh-TW" sz="2400">
                <a:solidFill>
                  <a:srgbClr val="0000FF"/>
                </a:solidFill>
              </a:rPr>
              <a:t> x’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y’ z’)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 x’y’z’(((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yz)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yz))</a:t>
            </a:r>
            <a:r>
              <a:rPr lang="en-US" altLang="zh-TW" sz="2400">
                <a:solidFill>
                  <a:srgbClr val="0000FF"/>
                </a:solidFill>
              </a:rPr>
              <a:t>x’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y’ z’)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yz)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</a:t>
            </a:r>
            <a:r>
              <a:rPr lang="en-US" altLang="zh-TW" sz="2400" baseline="-25000"/>
              <a:t>2</a:t>
            </a:r>
            <a:r>
              <a:rPr lang="en-US" altLang="zh-TW" sz="2400"/>
              <a:t> = b</a:t>
            </a:r>
            <a:r>
              <a:rPr lang="en-US" altLang="zh-TW" sz="2400" baseline="-25000"/>
              <a:t>1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 x’y’z’(t(x,y,z,x’,y’,z’) </a:t>
            </a:r>
            <a:r>
              <a:rPr lang="en-US" altLang="zh-TW" sz="2400"/>
              <a:t> b</a:t>
            </a:r>
            <a:r>
              <a:rPr lang="en-US" altLang="zh-TW" sz="2400" baseline="-25000"/>
              <a:t>1</a:t>
            </a:r>
            <a:r>
              <a:rPr lang="en-US" altLang="zh-TW" sz="2400">
                <a:sym typeface="Symbol" panose="05050102010706020507" pitchFamily="18" charset="2"/>
              </a:rPr>
              <a:t>)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	= 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yz)(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yz)(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yz)</a:t>
            </a:r>
            <a:r>
              <a:rPr lang="en-US" altLang="zh-TW" sz="2400"/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</a:rPr>
              <a:t>3</a:t>
            </a:r>
            <a:r>
              <a:rPr lang="en-US" altLang="zh-TW" sz="2400">
                <a:solidFill>
                  <a:srgbClr val="0000FF"/>
                </a:solidFill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</a:rPr>
              <a:t>2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 x’y’z’(t(x,y,z,x’,y’,z’) </a:t>
            </a:r>
            <a:r>
              <a:rPr lang="en-US" altLang="zh-TW" sz="2400">
                <a:solidFill>
                  <a:srgbClr val="0000FF"/>
                </a:solidFill>
              </a:rPr>
              <a:t> b</a:t>
            </a:r>
            <a:r>
              <a:rPr lang="en-US" altLang="zh-TW" sz="2400" baseline="-25000">
                <a:solidFill>
                  <a:srgbClr val="0000FF"/>
                </a:solidFill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)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yz)(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yz)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</a:t>
            </a:r>
            <a:r>
              <a:rPr lang="en-US" altLang="zh-TW" sz="2400" baseline="-25000"/>
              <a:t>4</a:t>
            </a:r>
            <a:r>
              <a:rPr lang="en-US" altLang="zh-TW" sz="2400"/>
              <a:t> = b</a:t>
            </a:r>
            <a:r>
              <a:rPr lang="en-US" altLang="zh-TW" sz="2400" baseline="-25000"/>
              <a:t>3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 x’y’z’(t(x,y,z,x’,y’,z’) </a:t>
            </a:r>
            <a:r>
              <a:rPr lang="en-US" altLang="zh-TW" sz="2400"/>
              <a:t> b</a:t>
            </a:r>
            <a:r>
              <a:rPr lang="en-US" altLang="zh-TW" sz="2400" baseline="-25000"/>
              <a:t>3</a:t>
            </a:r>
            <a:r>
              <a:rPr lang="en-US" altLang="zh-TW" sz="2400">
                <a:sym typeface="Symbol" panose="05050102010706020507" pitchFamily="18" charset="2"/>
              </a:rPr>
              <a:t>)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	= 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yz) 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yz)(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yz)(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</a:rPr>
              <a:t>4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 i(x,y,z) 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</a:t>
            </a:r>
          </a:p>
        </p:txBody>
      </p:sp>
      <p:sp>
        <p:nvSpPr>
          <p:cNvPr id="5" name="圓角矩形圖說文字 4">
            <a:extLst>
              <a:ext uri="{FF2B5EF4-FFF2-40B4-BE49-F238E27FC236}">
                <a16:creationId xmlns:a16="http://schemas.microsoft.com/office/drawing/2014/main" id="{6A9E452B-6B90-4B75-A536-226124EFC5F9}"/>
              </a:ext>
            </a:extLst>
          </p:cNvPr>
          <p:cNvSpPr/>
          <p:nvPr/>
        </p:nvSpPr>
        <p:spPr>
          <a:xfrm>
            <a:off x="7848600" y="3657600"/>
            <a:ext cx="1295400" cy="685800"/>
          </a:xfrm>
          <a:prstGeom prst="wedgeRoundRectCallout">
            <a:avLst>
              <a:gd name="adj1" fmla="val -47891"/>
              <a:gd name="adj2" fmla="val 22797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 err="1">
                <a:solidFill>
                  <a:srgbClr val="FF0000"/>
                </a:solidFill>
              </a:rPr>
              <a:t>fixpoint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圓角矩形圖說文字 6">
            <a:extLst>
              <a:ext uri="{FF2B5EF4-FFF2-40B4-BE49-F238E27FC236}">
                <a16:creationId xmlns:a16="http://schemas.microsoft.com/office/drawing/2014/main" id="{6592B85E-413D-4D14-A4AE-862EDBC72555}"/>
              </a:ext>
            </a:extLst>
          </p:cNvPr>
          <p:cNvSpPr/>
          <p:nvPr/>
        </p:nvSpPr>
        <p:spPr>
          <a:xfrm>
            <a:off x="4800600" y="5943600"/>
            <a:ext cx="3429000" cy="914400"/>
          </a:xfrm>
          <a:prstGeom prst="wedgeRoundRectCallout">
            <a:avLst>
              <a:gd name="adj1" fmla="val -71959"/>
              <a:gd name="adj2" fmla="val -1543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</a:rPr>
              <a:t>non-empty intersection with the initial condition </a:t>
            </a:r>
          </a:p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  <a:sym typeface="Wingdings" pitchFamily="2" charset="2"/>
              </a:rPr>
              <a:t> risk detected.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116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  <p:bldP spid="5" grpId="0" animBg="1"/>
      <p:bldP spid="7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內容版面配置區 2">
            <a:extLst>
              <a:ext uri="{FF2B5EF4-FFF2-40B4-BE49-F238E27FC236}">
                <a16:creationId xmlns:a16="http://schemas.microsoft.com/office/drawing/2014/main" id="{4C00D6E7-F590-458C-B0D3-ADA242C1A8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One assumption for the correctness!</a:t>
            </a:r>
          </a:p>
          <a:p>
            <a:r>
              <a:rPr lang="en-US" altLang="zh-TW"/>
              <a:t>Two states cannot be with the same proposition labeling.  </a:t>
            </a:r>
          </a:p>
          <a:p>
            <a:r>
              <a:rPr lang="en-US" altLang="zh-TW"/>
              <a:t>Otherwise, the collapsing of the states may cause problem. </a:t>
            </a:r>
            <a:endParaRPr lang="zh-TW" altLang="en-US"/>
          </a:p>
        </p:txBody>
      </p:sp>
      <p:sp>
        <p:nvSpPr>
          <p:cNvPr id="359427" name="標題 1">
            <a:extLst>
              <a:ext uri="{FF2B5EF4-FFF2-40B4-BE49-F238E27FC236}">
                <a16:creationId xmlns:a16="http://schemas.microsoft.com/office/drawing/2014/main" id="{F0444695-2C9D-4BA6-9372-02F2D319B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safety analysis (backward)</a:t>
            </a:r>
            <a:endParaRPr lang="zh-TW" altLang="en-US"/>
          </a:p>
        </p:txBody>
      </p:sp>
      <p:sp>
        <p:nvSpPr>
          <p:cNvPr id="359428" name="投影片編號版面配置區 3">
            <a:extLst>
              <a:ext uri="{FF2B5EF4-FFF2-40B4-BE49-F238E27FC236}">
                <a16:creationId xmlns:a16="http://schemas.microsoft.com/office/drawing/2014/main" id="{EA47BD4D-9ADB-4661-BE5B-6823C9D383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59602C-31F5-4366-B6E9-FB3D9EBD024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grpSp>
        <p:nvGrpSpPr>
          <p:cNvPr id="359429" name="群組 34">
            <a:extLst>
              <a:ext uri="{FF2B5EF4-FFF2-40B4-BE49-F238E27FC236}">
                <a16:creationId xmlns:a16="http://schemas.microsoft.com/office/drawing/2014/main" id="{E2AB0FE7-BF82-4C76-A6DE-3F018C246FF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267200"/>
            <a:ext cx="7315200" cy="1676400"/>
            <a:chOff x="533400" y="4267200"/>
            <a:chExt cx="7315200" cy="1676400"/>
          </a:xfrm>
        </p:grpSpPr>
        <p:sp>
          <p:nvSpPr>
            <p:cNvPr id="359432" name="Oval 8">
              <a:extLst>
                <a:ext uri="{FF2B5EF4-FFF2-40B4-BE49-F238E27FC236}">
                  <a16:creationId xmlns:a16="http://schemas.microsoft.com/office/drawing/2014/main" id="{A2456B98-FB7D-472F-8BFF-A0823A0BC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800600"/>
              <a:ext cx="15240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Wingdings 2" panose="05020102010507070707" pitchFamily="18" charset="2"/>
                </a:rPr>
                <a:t> 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</a:rPr>
                <a:t>p, q</a:t>
              </a:r>
            </a:p>
          </p:txBody>
        </p:sp>
        <p:grpSp>
          <p:nvGrpSpPr>
            <p:cNvPr id="3" name="群組 23">
              <a:extLst>
                <a:ext uri="{FF2B5EF4-FFF2-40B4-BE49-F238E27FC236}">
                  <a16:creationId xmlns:a16="http://schemas.microsoft.com/office/drawing/2014/main" id="{058FE1F8-35CC-4FE1-B355-EFDDC083C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200" y="4267200"/>
              <a:ext cx="6019800" cy="1600200"/>
              <a:chOff x="1219200" y="5486400"/>
              <a:chExt cx="6019800" cy="1600200"/>
            </a:xfrm>
            <a:solidFill>
              <a:srgbClr val="66FFFF"/>
            </a:solidFill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FBEDAF5F-9579-4678-BF0A-BD0D8408D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0" y="5943600"/>
                <a:ext cx="1524000" cy="1143000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TW" sz="2400" b="1" dirty="0">
                    <a:solidFill>
                      <a:srgbClr val="0000FF"/>
                    </a:solidFill>
                    <a:sym typeface="Symbol" pitchFamily="18" charset="2"/>
                  </a:rPr>
                  <a:t></a:t>
                </a:r>
                <a:r>
                  <a:rPr lang="en-US" altLang="zh-TW" sz="2400" b="1" dirty="0">
                    <a:solidFill>
                      <a:srgbClr val="0000FF"/>
                    </a:solidFill>
                    <a:sym typeface="Wingdings 2" pitchFamily="18" charset="2"/>
                  </a:rPr>
                  <a:t></a:t>
                </a:r>
                <a:r>
                  <a:rPr lang="en-US" altLang="zh-TW" sz="2400" b="1" dirty="0">
                    <a:solidFill>
                      <a:srgbClr val="0000FF"/>
                    </a:solidFill>
                    <a:sym typeface="Symbol"/>
                  </a:rPr>
                  <a:t></a:t>
                </a:r>
                <a:r>
                  <a:rPr lang="en-US" altLang="zh-TW" sz="2400" b="1" dirty="0">
                    <a:solidFill>
                      <a:srgbClr val="0000FF"/>
                    </a:solidFill>
                    <a:sym typeface="Wingdings 2" pitchFamily="18" charset="2"/>
                  </a:rPr>
                  <a:t>q  </a:t>
                </a:r>
              </a:p>
              <a:p>
                <a:pPr algn="ctr">
                  <a:defRPr/>
                </a:pPr>
                <a:r>
                  <a:rPr lang="en-US" altLang="zh-TW" sz="2400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  <p:sp>
            <p:nvSpPr>
              <p:cNvPr id="11" name="Line 13">
                <a:extLst>
                  <a:ext uri="{FF2B5EF4-FFF2-40B4-BE49-F238E27FC236}">
                    <a16:creationId xmlns:a16="http://schemas.microsoft.com/office/drawing/2014/main" id="{58B5FFB8-59E5-4B9E-8CFA-408D420C4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799" y="6400800"/>
                <a:ext cx="838201" cy="152399"/>
              </a:xfrm>
              <a:prstGeom prst="line">
                <a:avLst/>
              </a:prstGeom>
              <a:grpFill/>
              <a:ln w="57150">
                <a:solidFill>
                  <a:srgbClr val="0000FF"/>
                </a:solidFill>
                <a:round/>
                <a:headEnd type="none" w="lg" len="sm"/>
                <a:tailEnd type="triangle" w="med" len="med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2" name="Line 14">
                <a:extLst>
                  <a:ext uri="{FF2B5EF4-FFF2-40B4-BE49-F238E27FC236}">
                    <a16:creationId xmlns:a16="http://schemas.microsoft.com/office/drawing/2014/main" id="{3568F195-C000-4245-B8DA-A5C0D7408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9200" y="5486400"/>
                <a:ext cx="304800" cy="609600"/>
              </a:xfrm>
              <a:prstGeom prst="line">
                <a:avLst/>
              </a:prstGeom>
              <a:grpFill/>
              <a:ln w="57150">
                <a:solidFill>
                  <a:srgbClr val="0000FF"/>
                </a:solidFill>
                <a:round/>
                <a:headEnd type="none" w="lg" len="sm"/>
                <a:tailEnd type="triangle" w="med" len="med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3" name="Line 15">
                <a:extLst>
                  <a:ext uri="{FF2B5EF4-FFF2-40B4-BE49-F238E27FC236}">
                    <a16:creationId xmlns:a16="http://schemas.microsoft.com/office/drawing/2014/main" id="{65DC00E2-F3A1-492F-AD09-8F4D4C5AB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43200" y="6324601"/>
                <a:ext cx="685800" cy="152400"/>
              </a:xfrm>
              <a:prstGeom prst="line">
                <a:avLst/>
              </a:prstGeom>
              <a:grpFill/>
              <a:ln w="57150">
                <a:solidFill>
                  <a:srgbClr val="0000FF"/>
                </a:solidFill>
                <a:round/>
                <a:headEnd type="none" w="lg" len="sm"/>
                <a:tailEnd type="triangle" w="med" len="med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</p:grpSp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98DB0BC9-78A3-4824-881C-16F3642709E1}"/>
                </a:ext>
              </a:extLst>
            </p:cNvPr>
            <p:cNvSpPr/>
            <p:nvPr/>
          </p:nvSpPr>
          <p:spPr>
            <a:xfrm>
              <a:off x="6934200" y="4876800"/>
              <a:ext cx="914400" cy="914400"/>
            </a:xfrm>
            <a:prstGeom prst="arc">
              <a:avLst>
                <a:gd name="adj1" fmla="val 13645176"/>
                <a:gd name="adj2" fmla="val 8507339"/>
              </a:avLst>
            </a:prstGeom>
            <a:ln w="571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/>
            </a:p>
          </p:txBody>
        </p:sp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08FA1831-325E-4B59-AF53-4CDDCE470C72}"/>
                </a:ext>
              </a:extLst>
            </p:cNvPr>
            <p:cNvSpPr/>
            <p:nvPr/>
          </p:nvSpPr>
          <p:spPr>
            <a:xfrm flipH="1">
              <a:off x="533400" y="4953000"/>
              <a:ext cx="914400" cy="914400"/>
            </a:xfrm>
            <a:prstGeom prst="arc">
              <a:avLst>
                <a:gd name="adj1" fmla="val 13645176"/>
                <a:gd name="adj2" fmla="val 8507339"/>
              </a:avLst>
            </a:prstGeom>
            <a:ln w="571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TW" altLang="en-US"/>
            </a:p>
          </p:txBody>
        </p:sp>
        <p:sp>
          <p:nvSpPr>
            <p:cNvPr id="359436" name="Oval 8">
              <a:extLst>
                <a:ext uri="{FF2B5EF4-FFF2-40B4-BE49-F238E27FC236}">
                  <a16:creationId xmlns:a16="http://schemas.microsoft.com/office/drawing/2014/main" id="{91BA1563-3241-4441-B550-2FC205841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572000"/>
              <a:ext cx="15240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</a:t>
              </a:r>
              <a:r>
                <a:rPr lang="en-US" altLang="zh-TW" sz="2400" b="1">
                  <a:solidFill>
                    <a:srgbClr val="0000FF"/>
                  </a:solidFill>
                  <a:sym typeface="Wingdings 2" panose="05020102010507070707" pitchFamily="18" charset="2"/>
                </a:rPr>
                <a:t></a:t>
              </a: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</a:t>
              </a:r>
              <a:r>
                <a:rPr lang="en-US" altLang="zh-TW" sz="2400" b="1">
                  <a:solidFill>
                    <a:srgbClr val="0000FF"/>
                  </a:solidFill>
                  <a:sym typeface="Wingdings 2" panose="05020102010507070707" pitchFamily="18" charset="2"/>
                </a:rPr>
                <a:t>q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</a:rPr>
                <a:t>p, q</a:t>
              </a:r>
            </a:p>
          </p:txBody>
        </p:sp>
      </p:grpSp>
      <p:sp>
        <p:nvSpPr>
          <p:cNvPr id="36" name="矩形圖說文字 35">
            <a:extLst>
              <a:ext uri="{FF2B5EF4-FFF2-40B4-BE49-F238E27FC236}">
                <a16:creationId xmlns:a16="http://schemas.microsoft.com/office/drawing/2014/main" id="{91F40809-23BD-40D8-9545-BFC39C2CEDBE}"/>
              </a:ext>
            </a:extLst>
          </p:cNvPr>
          <p:cNvSpPr/>
          <p:nvPr/>
        </p:nvSpPr>
        <p:spPr>
          <a:xfrm>
            <a:off x="4114800" y="3733800"/>
            <a:ext cx="4343400" cy="685800"/>
          </a:xfrm>
          <a:prstGeom prst="wedgeRectCallout">
            <a:avLst>
              <a:gd name="adj1" fmla="val -35570"/>
              <a:gd name="adj2" fmla="val 739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/>
              <a:t>may need a few propositions for the names of the states.</a:t>
            </a:r>
            <a:endParaRPr lang="zh-TW" altLang="en-US" sz="2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DC0C755-73F1-40CA-91AA-CCEF4459E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1054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, r</a:t>
            </a:r>
            <a:endParaRPr lang="zh-TW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投影片編號版面配置區 5">
            <a:extLst>
              <a:ext uri="{FF2B5EF4-FFF2-40B4-BE49-F238E27FC236}">
                <a16:creationId xmlns:a16="http://schemas.microsoft.com/office/drawing/2014/main" id="{4D5FAB19-52C0-43E6-BB7C-7D043FEBC4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EEF0B6-EED3-4DAD-ABCF-E6733359AA1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1475" name="Rectangle 2">
            <a:extLst>
              <a:ext uri="{FF2B5EF4-FFF2-40B4-BE49-F238E27FC236}">
                <a16:creationId xmlns:a16="http://schemas.microsoft.com/office/drawing/2014/main" id="{7B5455BC-AA69-4A79-99A3-BE791F92D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safety analysis (forward)</a:t>
            </a:r>
          </a:p>
        </p:txBody>
      </p:sp>
      <p:sp>
        <p:nvSpPr>
          <p:cNvPr id="361476" name="Rectangle 3">
            <a:extLst>
              <a:ext uri="{FF2B5EF4-FFF2-40B4-BE49-F238E27FC236}">
                <a16:creationId xmlns:a16="http://schemas.microsoft.com/office/drawing/2014/main" id="{7BCD591B-23D3-4170-A17B-3E896A60E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risk state set as r 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t(</a:t>
            </a:r>
            <a:r>
              <a:rPr lang="en-US" altLang="zh-TW" sz="2400"/>
              <a:t>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ym typeface="Symbol" panose="05050102010706020507" pitchFamily="18" charset="2"/>
              </a:rPr>
              <a:t>n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(x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)f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));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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(f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r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))  false,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safe</a:t>
            </a:r>
            <a:r>
              <a:rPr lang="en-US" altLang="zh-TW" sz="2400">
                <a:sym typeface="Symbol" panose="05050102010706020507" pitchFamily="18" charset="2"/>
              </a:rPr>
              <a:t>’; 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risky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9F83888C-FC47-434D-BEBA-2680C0A8DEE6}"/>
              </a:ext>
            </a:extLst>
          </p:cNvPr>
          <p:cNvSpPr/>
          <p:nvPr/>
        </p:nvSpPr>
        <p:spPr>
          <a:xfrm>
            <a:off x="7162800" y="2133600"/>
            <a:ext cx="1828800" cy="1450975"/>
          </a:xfrm>
          <a:prstGeom prst="wedgeRectCallout">
            <a:avLst>
              <a:gd name="adj1" fmla="val -10389"/>
              <a:gd name="adj2" fmla="val 96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/>
              <a:t>change all primed variable to </a:t>
            </a:r>
            <a:r>
              <a:rPr lang="en-US" altLang="zh-TW" sz="2000" dirty="0" err="1"/>
              <a:t>umprimed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投影片編號版面配置區 5">
            <a:extLst>
              <a:ext uri="{FF2B5EF4-FFF2-40B4-BE49-F238E27FC236}">
                <a16:creationId xmlns:a16="http://schemas.microsoft.com/office/drawing/2014/main" id="{44FF7159-9C48-4893-BEA9-A608BF4C85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148E18-9301-4FDD-9650-FD9B67E528F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3523" name="Rectangle 2">
            <a:extLst>
              <a:ext uri="{FF2B5EF4-FFF2-40B4-BE49-F238E27FC236}">
                <a16:creationId xmlns:a16="http://schemas.microsoft.com/office/drawing/2014/main" id="{D0DDB6BF-C7F3-4190-98D5-3B453B32D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safety analysis (forward)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9C1A5F95-8AC9-42A5-B3B5-56B20AA45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7630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0</a:t>
            </a:r>
            <a:r>
              <a:rPr lang="en-US" altLang="zh-TW" sz="2400"/>
              <a:t> =</a:t>
            </a:r>
            <a:r>
              <a:rPr lang="en-US" altLang="zh-TW" sz="2400">
                <a:sym typeface="Symbol" panose="05050102010706020507" pitchFamily="18" charset="2"/>
              </a:rPr>
              <a:t> i(x,y,z)  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</a:t>
            </a:r>
            <a:endParaRPr lang="en-US" altLang="zh-TW" sz="2400"/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 = f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 (xyz(t(x,y,z,x’,y’,z’) f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))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 (xyz(t(x,y,z,x’,y’,z’) 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yz))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z)(xyz(</a:t>
            </a:r>
            <a:r>
              <a:rPr lang="en-US" altLang="zh-TW" sz="2400">
                <a:solidFill>
                  <a:srgbClr val="0000FF"/>
                </a:solidFill>
              </a:rPr>
              <a:t>x’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y’z’ 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yz)) 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z)(</a:t>
            </a:r>
            <a:r>
              <a:rPr lang="en-US" altLang="zh-TW" sz="2400">
                <a:solidFill>
                  <a:srgbClr val="0000FF"/>
                </a:solidFill>
              </a:rPr>
              <a:t>x’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y’z’)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 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yz) = 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2</a:t>
            </a:r>
            <a:r>
              <a:rPr lang="en-US" altLang="zh-TW" sz="2400"/>
              <a:t> = f</a:t>
            </a:r>
            <a:r>
              <a:rPr lang="en-US" altLang="zh-TW" sz="2400" baseline="-25000"/>
              <a:t>1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 (xyz(t(x,y,z,x’,y’,z’) </a:t>
            </a:r>
            <a:r>
              <a:rPr lang="en-US" altLang="zh-TW" sz="2400"/>
              <a:t> f</a:t>
            </a:r>
            <a:r>
              <a:rPr lang="en-US" altLang="zh-TW" sz="2400" baseline="-25000"/>
              <a:t>1</a:t>
            </a:r>
            <a:r>
              <a:rPr lang="en-US" altLang="zh-TW" sz="2400">
                <a:sym typeface="Symbol" panose="05050102010706020507" pitchFamily="18" charset="2"/>
              </a:rPr>
              <a:t>) = 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y)(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yz)</a:t>
            </a:r>
            <a:r>
              <a:rPr lang="en-US" altLang="zh-TW" sz="2400"/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</a:rPr>
              <a:t>3</a:t>
            </a:r>
            <a:r>
              <a:rPr lang="en-US" altLang="zh-TW" sz="2400">
                <a:solidFill>
                  <a:srgbClr val="0000FF"/>
                </a:solidFill>
              </a:rPr>
              <a:t> = f</a:t>
            </a:r>
            <a:r>
              <a:rPr lang="en-US" altLang="zh-TW" sz="2400" baseline="-25000">
                <a:solidFill>
                  <a:srgbClr val="0000FF"/>
                </a:solidFill>
              </a:rPr>
              <a:t>2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 (xyz(t(x,y,z,x’,y’,z’) </a:t>
            </a:r>
            <a:r>
              <a:rPr lang="en-US" altLang="zh-TW" sz="2400">
                <a:solidFill>
                  <a:srgbClr val="0000FF"/>
                </a:solidFill>
              </a:rPr>
              <a:t> f</a:t>
            </a:r>
            <a:r>
              <a:rPr lang="en-US" altLang="zh-TW" sz="2400" baseline="-25000">
                <a:solidFill>
                  <a:srgbClr val="0000FF"/>
                </a:solidFill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) = (y)(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4</a:t>
            </a:r>
            <a:r>
              <a:rPr lang="en-US" altLang="zh-TW" sz="2400"/>
              <a:t> = f</a:t>
            </a:r>
            <a:r>
              <a:rPr lang="en-US" altLang="zh-TW" sz="2400" baseline="-25000"/>
              <a:t>3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 (xyz(t(x,y,z,x’,y’,z’) </a:t>
            </a:r>
            <a:r>
              <a:rPr lang="en-US" altLang="zh-TW" sz="2400"/>
              <a:t> f</a:t>
            </a:r>
            <a:r>
              <a:rPr lang="en-US" altLang="zh-TW" sz="2400" baseline="-25000"/>
              <a:t>3</a:t>
            </a:r>
            <a:r>
              <a:rPr lang="en-US" altLang="zh-TW" sz="2400">
                <a:sym typeface="Symbol" panose="05050102010706020507" pitchFamily="18" charset="2"/>
              </a:rPr>
              <a:t>) = (y)(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</a:rPr>
              <a:t>4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 r(x,y,z) = ((y)(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yz)) (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 = 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</a:t>
            </a:r>
          </a:p>
        </p:txBody>
      </p:sp>
      <p:sp>
        <p:nvSpPr>
          <p:cNvPr id="5" name="圓角矩形圖說文字 4">
            <a:extLst>
              <a:ext uri="{FF2B5EF4-FFF2-40B4-BE49-F238E27FC236}">
                <a16:creationId xmlns:a16="http://schemas.microsoft.com/office/drawing/2014/main" id="{0B5F2AD0-03B1-4A17-B5BE-C4E660420367}"/>
              </a:ext>
            </a:extLst>
          </p:cNvPr>
          <p:cNvSpPr/>
          <p:nvPr/>
        </p:nvSpPr>
        <p:spPr>
          <a:xfrm>
            <a:off x="7848600" y="2895600"/>
            <a:ext cx="1295400" cy="685800"/>
          </a:xfrm>
          <a:prstGeom prst="wedgeRoundRectCallout">
            <a:avLst>
              <a:gd name="adj1" fmla="val -47891"/>
              <a:gd name="adj2" fmla="val 22797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 err="1">
                <a:solidFill>
                  <a:srgbClr val="FF0000"/>
                </a:solidFill>
              </a:rPr>
              <a:t>fixpoint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圓角矩形圖說文字 6">
            <a:extLst>
              <a:ext uri="{FF2B5EF4-FFF2-40B4-BE49-F238E27FC236}">
                <a16:creationId xmlns:a16="http://schemas.microsoft.com/office/drawing/2014/main" id="{C42C50B3-1957-43B0-BF5B-40B2DAA0F3BD}"/>
              </a:ext>
            </a:extLst>
          </p:cNvPr>
          <p:cNvSpPr/>
          <p:nvPr/>
        </p:nvSpPr>
        <p:spPr>
          <a:xfrm>
            <a:off x="4800600" y="5943600"/>
            <a:ext cx="3429000" cy="914400"/>
          </a:xfrm>
          <a:prstGeom prst="wedgeRoundRectCallout">
            <a:avLst>
              <a:gd name="adj1" fmla="val 15597"/>
              <a:gd name="adj2" fmla="val -10043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</a:rPr>
              <a:t>non-empty intersection with the risk condition </a:t>
            </a:r>
          </a:p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  <a:sym typeface="Wingdings" pitchFamily="2" charset="2"/>
              </a:rPr>
              <a:t> risk detected.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  <p:bldP spid="5" grpId="0" animBg="1"/>
      <p:bldP spid="7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投影片編號版面配置區 5">
            <a:extLst>
              <a:ext uri="{FF2B5EF4-FFF2-40B4-BE49-F238E27FC236}">
                <a16:creationId xmlns:a16="http://schemas.microsoft.com/office/drawing/2014/main" id="{8C4D094F-31DE-476D-BB02-7130F1EB99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48205C-6CEE-4749-A43B-CDEB2CB68DE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5571" name="Rectangle 2">
            <a:extLst>
              <a:ext uri="{FF2B5EF4-FFF2-40B4-BE49-F238E27FC236}">
                <a16:creationId xmlns:a16="http://schemas.microsoft.com/office/drawing/2014/main" id="{5330866F-372E-4D12-97BC-24E994131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Bounded model-checking</a:t>
            </a:r>
          </a:p>
        </p:txBody>
      </p:sp>
      <p:sp>
        <p:nvSpPr>
          <p:cNvPr id="365572" name="Rectangle 3">
            <a:extLst>
              <a:ext uri="{FF2B5EF4-FFF2-40B4-BE49-F238E27FC236}">
                <a16:creationId xmlns:a16="http://schemas.microsoft.com/office/drawing/2014/main" id="{39E629A4-2789-4C31-8E83-EB2D0D69A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</a:t>
            </a:r>
            <a:r>
              <a:rPr lang="en-US" altLang="zh-TW" sz="2400" baseline="-25000"/>
              <a:t>0,k</a:t>
            </a:r>
            <a:r>
              <a:rPr lang="en-US" altLang="zh-TW" sz="2400"/>
              <a:t>,x</a:t>
            </a:r>
            <a:r>
              <a:rPr lang="en-US" altLang="zh-TW" sz="2400" baseline="-25000"/>
              <a:t>1,k</a:t>
            </a:r>
            <a:r>
              <a:rPr lang="en-US" altLang="zh-TW" sz="2400"/>
              <a:t>,…,x</a:t>
            </a:r>
            <a:r>
              <a:rPr lang="en-US" altLang="zh-TW" sz="2400" baseline="-25000"/>
              <a:t>n,k</a:t>
            </a:r>
            <a:r>
              <a:rPr lang="en-US" altLang="zh-TW" sz="2400"/>
              <a:t>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0,k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1,k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n,k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risk state set as r(x</a:t>
            </a:r>
            <a:r>
              <a:rPr lang="en-US" altLang="zh-TW" sz="2400" baseline="-25000"/>
              <a:t>0,k</a:t>
            </a:r>
            <a:r>
              <a:rPr lang="en-US" altLang="zh-TW" sz="2400"/>
              <a:t>,x</a:t>
            </a:r>
            <a:r>
              <a:rPr lang="en-US" altLang="zh-TW" sz="2400" baseline="-25000"/>
              <a:t>1,k</a:t>
            </a:r>
            <a:r>
              <a:rPr lang="en-US" altLang="zh-TW" sz="2400"/>
              <a:t>,…,x</a:t>
            </a:r>
            <a:r>
              <a:rPr lang="en-US" altLang="zh-TW" sz="2400" baseline="-25000"/>
              <a:t>n,k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0,0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1,0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n,0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t(</a:t>
            </a:r>
            <a:r>
              <a:rPr lang="en-US" altLang="zh-TW" sz="2400"/>
              <a:t>x</a:t>
            </a:r>
            <a:r>
              <a:rPr lang="en-US" altLang="zh-TW" sz="2400" baseline="-25000"/>
              <a:t>0,k-1</a:t>
            </a:r>
            <a:r>
              <a:rPr lang="en-US" altLang="zh-TW" sz="2400"/>
              <a:t>,x</a:t>
            </a:r>
            <a:r>
              <a:rPr lang="en-US" altLang="zh-TW" sz="2400" baseline="-25000"/>
              <a:t>1,k-1</a:t>
            </a:r>
            <a:r>
              <a:rPr lang="en-US" altLang="zh-TW" sz="2400"/>
              <a:t>,…,x</a:t>
            </a:r>
            <a:r>
              <a:rPr lang="en-US" altLang="zh-TW" sz="2400" baseline="-25000"/>
              <a:t>n,k-1</a:t>
            </a:r>
            <a:r>
              <a:rPr lang="en-US" altLang="zh-TW" sz="2400"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ym typeface="Symbol" panose="05050102010706020507" pitchFamily="18" charset="2"/>
              </a:rPr>
              <a:t>0,k</a:t>
            </a:r>
            <a:r>
              <a:rPr lang="en-US" altLang="zh-TW" sz="2400"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ym typeface="Symbol" panose="05050102010706020507" pitchFamily="18" charset="2"/>
              </a:rPr>
              <a:t>1,k</a:t>
            </a:r>
            <a:r>
              <a:rPr lang="en-US" altLang="zh-TW" sz="2400">
                <a:sym typeface="Symbol" panose="05050102010706020507" pitchFamily="18" charset="2"/>
              </a:rPr>
              <a:t>,…,x</a:t>
            </a:r>
            <a:r>
              <a:rPr lang="en-US" altLang="zh-TW" sz="2400" baseline="-25000">
                <a:sym typeface="Symbol" panose="05050102010706020507" pitchFamily="18" charset="2"/>
              </a:rPr>
              <a:t>n,k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0,0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1,0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n,0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0,0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1,0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n,0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0,k-1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1,k-1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0,k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1,k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n,k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)f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r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0,k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1,k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n,k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 false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EE8B12F9-7CE5-4C6E-9B0C-0E827CE43E08}"/>
              </a:ext>
            </a:extLst>
          </p:cNvPr>
          <p:cNvSpPr/>
          <p:nvPr/>
        </p:nvSpPr>
        <p:spPr>
          <a:xfrm>
            <a:off x="7391400" y="304800"/>
            <a:ext cx="1524000" cy="1066800"/>
          </a:xfrm>
          <a:prstGeom prst="wedgeRectCallout">
            <a:avLst>
              <a:gd name="adj1" fmla="val -95500"/>
              <a:gd name="adj2" fmla="val 481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/>
              <a:t>The value of </a:t>
            </a:r>
            <a:r>
              <a:rPr lang="en-US" altLang="zh-TW" sz="2000" dirty="0" err="1"/>
              <a:t>x</a:t>
            </a:r>
            <a:r>
              <a:rPr lang="en-US" altLang="zh-TW" sz="2000" baseline="-25000" dirty="0" err="1"/>
              <a:t>n</a:t>
            </a:r>
            <a:r>
              <a:rPr lang="en-US" altLang="zh-TW" sz="2000" dirty="0"/>
              <a:t> at state k.</a:t>
            </a:r>
            <a:endParaRPr lang="zh-TW" altLang="en-US" sz="2000" dirty="0"/>
          </a:p>
        </p:txBody>
      </p:sp>
      <p:sp>
        <p:nvSpPr>
          <p:cNvPr id="8" name="矩形圖說文字 7">
            <a:extLst>
              <a:ext uri="{FF2B5EF4-FFF2-40B4-BE49-F238E27FC236}">
                <a16:creationId xmlns:a16="http://schemas.microsoft.com/office/drawing/2014/main" id="{CED4A261-4EBF-4D47-A982-2F24CC3C2944}"/>
              </a:ext>
            </a:extLst>
          </p:cNvPr>
          <p:cNvSpPr/>
          <p:nvPr/>
        </p:nvSpPr>
        <p:spPr>
          <a:xfrm>
            <a:off x="5486400" y="5334000"/>
            <a:ext cx="3429000" cy="1066800"/>
          </a:xfrm>
          <a:prstGeom prst="wedgeRectCallout">
            <a:avLst>
              <a:gd name="adj1" fmla="val -66898"/>
              <a:gd name="adj2" fmla="val -9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dirty="0"/>
              <a:t>When to stop ?</a:t>
            </a: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en-US" altLang="zh-TW" dirty="0"/>
              <a:t>diameter of the state graph</a:t>
            </a: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en-US" altLang="zh-TW" dirty="0"/>
              <a:t>explosion up to tens of steps. </a:t>
            </a:r>
            <a:endParaRPr lang="zh-TW" altLang="en-US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投影片編號版面配置區 5">
            <a:extLst>
              <a:ext uri="{FF2B5EF4-FFF2-40B4-BE49-F238E27FC236}">
                <a16:creationId xmlns:a16="http://schemas.microsoft.com/office/drawing/2014/main" id="{A71DECC4-6220-4E5B-B33E-91A9E630B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C47E9E-CBA5-46DC-B0AB-2D830A7F79E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7619" name="Rectangle 2">
            <a:extLst>
              <a:ext uri="{FF2B5EF4-FFF2-40B4-BE49-F238E27FC236}">
                <a16:creationId xmlns:a16="http://schemas.microsoft.com/office/drawing/2014/main" id="{B199677A-FF64-4F0B-86CB-EEFAE8741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Bounded model-checking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22BEF114-3C94-4057-B411-2C84F0B64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7630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0</a:t>
            </a:r>
            <a:r>
              <a:rPr lang="en-US" altLang="zh-TW" sz="2400"/>
              <a:t> =</a:t>
            </a:r>
            <a:r>
              <a:rPr lang="en-US" altLang="zh-TW" sz="2400">
                <a:sym typeface="Symbol" panose="05050102010706020507" pitchFamily="18" charset="2"/>
              </a:rPr>
              <a:t> i(x,y,z)  </a:t>
            </a:r>
            <a:r>
              <a:rPr lang="en-US" altLang="zh-TW" sz="2400"/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endParaRPr lang="en-US" altLang="zh-TW" sz="2400"/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t(x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f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= 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2</a:t>
            </a:r>
            <a:r>
              <a:rPr lang="en-US" altLang="zh-TW" sz="2400"/>
              <a:t>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t(x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r>
              <a:rPr lang="en-US" altLang="zh-TW" sz="2400">
                <a:sym typeface="Symbol" panose="05050102010706020507" pitchFamily="18" charset="2"/>
              </a:rPr>
              <a:t></a:t>
            </a:r>
            <a:r>
              <a:rPr lang="en-US" altLang="zh-TW" sz="2400"/>
              <a:t> f</a:t>
            </a:r>
            <a:r>
              <a:rPr lang="en-US" altLang="zh-TW" sz="2400" baseline="-25000"/>
              <a:t>1</a:t>
            </a:r>
            <a:r>
              <a:rPr lang="en-US" altLang="zh-TW" sz="2400">
                <a:sym typeface="Symbol" panose="05050102010706020507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((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</a:t>
            </a:r>
            <a:endParaRPr lang="en-US" altLang="zh-TW" sz="2400"/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f</a:t>
            </a:r>
            <a:r>
              <a:rPr lang="en-US" altLang="zh-TW" sz="2400" baseline="-25000"/>
              <a:t>3</a:t>
            </a:r>
            <a:r>
              <a:rPr lang="en-US" altLang="zh-TW" sz="2400"/>
              <a:t>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t(x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r>
              <a:rPr lang="en-US" altLang="zh-TW" sz="2400">
                <a:sym typeface="Symbol" panose="05050102010706020507" pitchFamily="18" charset="2"/>
              </a:rPr>
              <a:t></a:t>
            </a:r>
            <a:r>
              <a:rPr lang="en-US" altLang="zh-TW" sz="2400"/>
              <a:t> f</a:t>
            </a:r>
            <a:r>
              <a:rPr lang="en-US" altLang="zh-TW" sz="2400" baseline="-25000"/>
              <a:t>2</a:t>
            </a:r>
            <a:r>
              <a:rPr lang="en-US" altLang="zh-TW" sz="2400">
                <a:sym typeface="Symbol" panose="05050102010706020507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   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( 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((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)(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   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((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f</a:t>
            </a:r>
            <a:r>
              <a:rPr lang="en-US" altLang="zh-TW" sz="2400" baseline="-25000">
                <a:solidFill>
                  <a:srgbClr val="0000FF"/>
                </a:solidFill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 r(x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= 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z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116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投影片編號版面配置區 5">
            <a:extLst>
              <a:ext uri="{FF2B5EF4-FFF2-40B4-BE49-F238E27FC236}">
                <a16:creationId xmlns:a16="http://schemas.microsoft.com/office/drawing/2014/main" id="{DEAE216F-07B8-46CC-B278-CC569B26C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F49200-76EF-4324-B921-DB8512E3014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69667" name="Rectangle 2">
            <a:extLst>
              <a:ext uri="{FF2B5EF4-FFF2-40B4-BE49-F238E27FC236}">
                <a16:creationId xmlns:a16="http://schemas.microsoft.com/office/drawing/2014/main" id="{8A15FA46-8F0D-454D-BC1E-6DA719442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inevitability analysis</a:t>
            </a:r>
          </a:p>
        </p:txBody>
      </p:sp>
      <p:sp>
        <p:nvSpPr>
          <p:cNvPr id="369668" name="Rectangle 3">
            <a:extLst>
              <a:ext uri="{FF2B5EF4-FFF2-40B4-BE49-F238E27FC236}">
                <a16:creationId xmlns:a16="http://schemas.microsoft.com/office/drawing/2014/main" id="{6FF52556-D0DB-4CF9-9BFE-87A1ACB50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257800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x0,x1,…,xn.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negated inevitability state set as b(x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t(</a:t>
            </a:r>
            <a:r>
              <a:rPr lang="en-US" altLang="zh-TW" sz="2400"/>
              <a:t>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ym typeface="Symbol" panose="05050102010706020507" pitchFamily="18" charset="2"/>
              </a:rPr>
              <a:t>n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)b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);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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i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))  false,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inevitable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not inevitable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EA775423-8B6C-4BA1-A0AA-2EDD1E0CF634}"/>
              </a:ext>
            </a:extLst>
          </p:cNvPr>
          <p:cNvSpPr/>
          <p:nvPr/>
        </p:nvSpPr>
        <p:spPr>
          <a:xfrm>
            <a:off x="7315200" y="2057400"/>
            <a:ext cx="1828800" cy="1450975"/>
          </a:xfrm>
          <a:prstGeom prst="wedgeRectCallout">
            <a:avLst>
              <a:gd name="adj1" fmla="val -9213"/>
              <a:gd name="adj2" fmla="val 986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/>
              <a:t>change all </a:t>
            </a:r>
            <a:r>
              <a:rPr lang="en-US" altLang="zh-TW" sz="2000" dirty="0" err="1"/>
              <a:t>umprimed</a:t>
            </a:r>
            <a:r>
              <a:rPr lang="en-US" altLang="zh-TW" sz="2000" dirty="0"/>
              <a:t> variable in b</a:t>
            </a:r>
            <a:r>
              <a:rPr lang="en-US" altLang="zh-TW" sz="2000" baseline="-25000" dirty="0"/>
              <a:t>k-1</a:t>
            </a:r>
            <a:r>
              <a:rPr lang="en-US" altLang="zh-TW" sz="2000" dirty="0"/>
              <a:t> to primed.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投影片編號版面配置區 5">
            <a:extLst>
              <a:ext uri="{FF2B5EF4-FFF2-40B4-BE49-F238E27FC236}">
                <a16:creationId xmlns:a16="http://schemas.microsoft.com/office/drawing/2014/main" id="{28816B66-A017-418F-B0AD-D8154F9730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DCF15E-4E13-42A2-B80C-8403AC1C38B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71715" name="Rectangle 2">
            <a:extLst>
              <a:ext uri="{FF2B5EF4-FFF2-40B4-BE49-F238E27FC236}">
                <a16:creationId xmlns:a16="http://schemas.microsoft.com/office/drawing/2014/main" id="{F638BB5E-BDD6-4F56-AC7B-FB1FF4312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inevitability analysis</a:t>
            </a:r>
          </a:p>
        </p:txBody>
      </p:sp>
      <p:sp>
        <p:nvSpPr>
          <p:cNvPr id="371716" name="Rectangle 3">
            <a:extLst>
              <a:ext uri="{FF2B5EF4-FFF2-40B4-BE49-F238E27FC236}">
                <a16:creationId xmlns:a16="http://schemas.microsoft.com/office/drawing/2014/main" id="{1B0A2945-DF5E-4B60-BA5A-07A10C09D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5257800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x0,x1,…,xn.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negated inevitability state set as b(x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t(</a:t>
            </a:r>
            <a:r>
              <a:rPr lang="en-US" altLang="zh-TW" sz="2400"/>
              <a:t>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ym typeface="Symbol" panose="05050102010706020507" pitchFamily="18" charset="2"/>
              </a:rPr>
              <a:t>n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x’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x’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…x’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(t(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)b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);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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i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))  false,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inevitable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not inevitable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0B93DA6D-A5E9-48A5-99DF-1ADACB0554A3}"/>
              </a:ext>
            </a:extLst>
          </p:cNvPr>
          <p:cNvSpPr/>
          <p:nvPr/>
        </p:nvSpPr>
        <p:spPr>
          <a:xfrm>
            <a:off x="7315200" y="2057400"/>
            <a:ext cx="1828800" cy="1450975"/>
          </a:xfrm>
          <a:prstGeom prst="wedgeRectCallout">
            <a:avLst>
              <a:gd name="adj1" fmla="val -9213"/>
              <a:gd name="adj2" fmla="val 986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/>
              <a:t>change all </a:t>
            </a:r>
            <a:r>
              <a:rPr lang="en-US" altLang="zh-TW" sz="2000" dirty="0" err="1"/>
              <a:t>umprimed</a:t>
            </a:r>
            <a:r>
              <a:rPr lang="en-US" altLang="zh-TW" sz="2000" dirty="0"/>
              <a:t> variable in b</a:t>
            </a:r>
            <a:r>
              <a:rPr lang="en-US" altLang="zh-TW" sz="2000" baseline="-25000" dirty="0"/>
              <a:t>k-1</a:t>
            </a:r>
            <a:r>
              <a:rPr lang="en-US" altLang="zh-TW" sz="2000" dirty="0"/>
              <a:t> to primed.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投影片編號版面配置區 5">
            <a:extLst>
              <a:ext uri="{FF2B5EF4-FFF2-40B4-BE49-F238E27FC236}">
                <a16:creationId xmlns:a16="http://schemas.microsoft.com/office/drawing/2014/main" id="{328ADA96-6AAE-4DF3-98E9-3FF7D5F3A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EA7205-8FAB-4974-A25E-F5D279E567A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73763" name="Rectangle 5">
            <a:extLst>
              <a:ext uri="{FF2B5EF4-FFF2-40B4-BE49-F238E27FC236}">
                <a16:creationId xmlns:a16="http://schemas.microsoft.com/office/drawing/2014/main" id="{49AECBAB-E411-49FC-B8F6-16E05D766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symbolic inevitability analysis</a:t>
            </a:r>
          </a:p>
        </p:txBody>
      </p:sp>
      <p:sp>
        <p:nvSpPr>
          <p:cNvPr id="373764" name="Rectangle 6">
            <a:extLst>
              <a:ext uri="{FF2B5EF4-FFF2-40B4-BE49-F238E27FC236}">
                <a16:creationId xmlns:a16="http://schemas.microsoft.com/office/drawing/2014/main" id="{0F95EB65-1706-433D-BD42-52DC2499C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800600"/>
            <a:ext cx="83820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states:  s(x,y,z)  </a:t>
            </a:r>
            <a:r>
              <a:rPr lang="en-US" altLang="zh-TW" sz="2400">
                <a:sym typeface="Symbol" panose="05050102010706020507" pitchFamily="18" charset="2"/>
              </a:rPr>
              <a:t> 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z)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 z)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                   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 z)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z)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                   </a:t>
            </a:r>
            <a:r>
              <a:rPr lang="en-US" altLang="zh-TW" sz="2400"/>
              <a:t> 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 (x</a:t>
            </a:r>
            <a:r>
              <a:rPr lang="en-US" altLang="zh-TW" sz="2400">
                <a:sym typeface="Symbol" panose="05050102010706020507" pitchFamily="18" charset="2"/>
              </a:rPr>
              <a:t>y)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initial state: i(x,y,z)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 z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non-liveness state: b(x,y,z)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/>
          </a:p>
        </p:txBody>
      </p:sp>
      <p:grpSp>
        <p:nvGrpSpPr>
          <p:cNvPr id="373765" name="群組 23">
            <a:extLst>
              <a:ext uri="{FF2B5EF4-FFF2-40B4-BE49-F238E27FC236}">
                <a16:creationId xmlns:a16="http://schemas.microsoft.com/office/drawing/2014/main" id="{69B75AF9-B6C0-4687-A5A0-0F2DCBAC195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"/>
            <a:ext cx="8001000" cy="4267200"/>
            <a:chOff x="685800" y="1600200"/>
            <a:chExt cx="8001000" cy="4267200"/>
          </a:xfrm>
        </p:grpSpPr>
        <p:sp>
          <p:nvSpPr>
            <p:cNvPr id="373766" name="Oval 8">
              <a:extLst>
                <a:ext uri="{FF2B5EF4-FFF2-40B4-BE49-F238E27FC236}">
                  <a16:creationId xmlns:a16="http://schemas.microsoft.com/office/drawing/2014/main" id="{774CDF43-622B-4EBF-9B92-A6D47342A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125" y="4419600"/>
              <a:ext cx="1184275" cy="1143000"/>
            </a:xfrm>
            <a:prstGeom prst="ellipse">
              <a:avLst/>
            </a:prstGeom>
            <a:solidFill>
              <a:schemeClr val="hlink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sym typeface="Symbol" panose="05050102010706020507" pitchFamily="18" charset="2"/>
                </a:rPr>
                <a:t></a:t>
              </a: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</p:txBody>
        </p:sp>
        <p:sp>
          <p:nvSpPr>
            <p:cNvPr id="373767" name="Oval 9">
              <a:extLst>
                <a:ext uri="{FF2B5EF4-FFF2-40B4-BE49-F238E27FC236}">
                  <a16:creationId xmlns:a16="http://schemas.microsoft.com/office/drawing/2014/main" id="{49140F65-C263-4717-9248-D13DEAE2E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3657600"/>
              <a:ext cx="1160462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</p:txBody>
        </p:sp>
        <p:sp>
          <p:nvSpPr>
            <p:cNvPr id="373768" name="Oval 10">
              <a:extLst>
                <a:ext uri="{FF2B5EF4-FFF2-40B4-BE49-F238E27FC236}">
                  <a16:creationId xmlns:a16="http://schemas.microsoft.com/office/drawing/2014/main" id="{B936727A-03E2-4A72-A003-52B61D9F1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52800"/>
              <a:ext cx="1143000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69" name="Oval 11">
              <a:extLst>
                <a:ext uri="{FF2B5EF4-FFF2-40B4-BE49-F238E27FC236}">
                  <a16:creationId xmlns:a16="http://schemas.microsoft.com/office/drawing/2014/main" id="{41E36480-4D71-427C-8A15-0148D2BFD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4724400"/>
              <a:ext cx="12192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70" name="Oval 12">
              <a:extLst>
                <a:ext uri="{FF2B5EF4-FFF2-40B4-BE49-F238E27FC236}">
                  <a16:creationId xmlns:a16="http://schemas.microsoft.com/office/drawing/2014/main" id="{2164B08F-CC4F-427B-945B-5D7675CD2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352800"/>
              <a:ext cx="1068388" cy="9906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71" name="Line 13">
              <a:extLst>
                <a:ext uri="{FF2B5EF4-FFF2-40B4-BE49-F238E27FC236}">
                  <a16:creationId xmlns:a16="http://schemas.microsoft.com/office/drawing/2014/main" id="{4F309029-2BC9-4E1D-9B3E-E339D0B64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5084763"/>
              <a:ext cx="1101725" cy="17303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3772" name="Line 14">
              <a:extLst>
                <a:ext uri="{FF2B5EF4-FFF2-40B4-BE49-F238E27FC236}">
                  <a16:creationId xmlns:a16="http://schemas.microsoft.com/office/drawing/2014/main" id="{F9B6BC83-E006-458E-95CC-5E6A52D88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4495800"/>
              <a:ext cx="609600" cy="3048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3773" name="Line 15">
              <a:extLst>
                <a:ext uri="{FF2B5EF4-FFF2-40B4-BE49-F238E27FC236}">
                  <a16:creationId xmlns:a16="http://schemas.microsoft.com/office/drawing/2014/main" id="{FA8056C7-FEFD-4F2F-81A3-3603570A5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962400"/>
              <a:ext cx="1049338" cy="258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3774" name="Arc 16">
              <a:extLst>
                <a:ext uri="{FF2B5EF4-FFF2-40B4-BE49-F238E27FC236}">
                  <a16:creationId xmlns:a16="http://schemas.microsoft.com/office/drawing/2014/main" id="{B7641EF3-D26D-40B4-88FD-FC63E3FEB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613" y="3292475"/>
              <a:ext cx="1185862" cy="698500"/>
            </a:xfrm>
            <a:custGeom>
              <a:avLst/>
              <a:gdLst>
                <a:gd name="T0" fmla="*/ 0 w 28018"/>
                <a:gd name="T1" fmla="*/ 2147483646 h 21600"/>
                <a:gd name="T2" fmla="*/ 2147483646 w 28018"/>
                <a:gd name="T3" fmla="*/ 2147483646 h 21600"/>
                <a:gd name="T4" fmla="*/ 2147483646 w 2801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8018"/>
                <a:gd name="T10" fmla="*/ 0 h 21600"/>
                <a:gd name="T11" fmla="*/ 28018 w 280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18" h="21600" fill="none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</a:path>
                <a:path w="28018" h="21600" stroke="0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  <a:lnTo>
                    <a:pt x="12020" y="21600"/>
                  </a:lnTo>
                  <a:lnTo>
                    <a:pt x="0" y="3653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3775" name="Arc 17">
              <a:extLst>
                <a:ext uri="{FF2B5EF4-FFF2-40B4-BE49-F238E27FC236}">
                  <a16:creationId xmlns:a16="http://schemas.microsoft.com/office/drawing/2014/main" id="{E4BBCDB5-F40D-4EC2-93D2-3488D4D4EDD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600200" y="3789363"/>
              <a:ext cx="1289050" cy="698500"/>
            </a:xfrm>
            <a:custGeom>
              <a:avLst/>
              <a:gdLst>
                <a:gd name="T0" fmla="*/ 0 w 30437"/>
                <a:gd name="T1" fmla="*/ 2147483646 h 21600"/>
                <a:gd name="T2" fmla="*/ 2147483646 w 30437"/>
                <a:gd name="T3" fmla="*/ 2147483646 h 21600"/>
                <a:gd name="T4" fmla="*/ 2147483646 w 30437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30437"/>
                <a:gd name="T10" fmla="*/ 0 h 21600"/>
                <a:gd name="T11" fmla="*/ 30437 w 3043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37" h="21600" fill="none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</a:path>
                <a:path w="30437" h="21600" stroke="0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  <a:lnTo>
                    <a:pt x="16492" y="21600"/>
                  </a:lnTo>
                  <a:lnTo>
                    <a:pt x="0" y="7651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3776" name="Oval 18">
              <a:extLst>
                <a:ext uri="{FF2B5EF4-FFF2-40B4-BE49-F238E27FC236}">
                  <a16:creationId xmlns:a16="http://schemas.microsoft.com/office/drawing/2014/main" id="{473CF4A4-E5D6-4E36-A3D8-2536891A0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1600200"/>
              <a:ext cx="1235075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77" name="Line 19">
              <a:extLst>
                <a:ext uri="{FF2B5EF4-FFF2-40B4-BE49-F238E27FC236}">
                  <a16:creationId xmlns:a16="http://schemas.microsoft.com/office/drawing/2014/main" id="{A36CEA64-E2B4-40B4-8B59-3AA88F99D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2514600"/>
              <a:ext cx="1676400" cy="13716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3778" name="Text Box 20">
              <a:extLst>
                <a:ext uri="{FF2B5EF4-FFF2-40B4-BE49-F238E27FC236}">
                  <a16:creationId xmlns:a16="http://schemas.microsoft.com/office/drawing/2014/main" id="{5F6046C6-61F5-4C7A-B8FF-105CE9293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5181600"/>
              <a:ext cx="682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79" name="Text Box 21">
              <a:extLst>
                <a:ext uri="{FF2B5EF4-FFF2-40B4-BE49-F238E27FC236}">
                  <a16:creationId xmlns:a16="http://schemas.microsoft.com/office/drawing/2014/main" id="{A02C6445-DCF5-411A-9A00-E20DCDCF6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4038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80" name="Text Box 22">
              <a:extLst>
                <a:ext uri="{FF2B5EF4-FFF2-40B4-BE49-F238E27FC236}">
                  <a16:creationId xmlns:a16="http://schemas.microsoft.com/office/drawing/2014/main" id="{7F3F566A-0902-452B-B94A-3C8FBAFA55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7338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81" name="Text Box 23">
              <a:extLst>
                <a:ext uri="{FF2B5EF4-FFF2-40B4-BE49-F238E27FC236}">
                  <a16:creationId xmlns:a16="http://schemas.microsoft.com/office/drawing/2014/main" id="{B599DB4F-646F-4995-8E59-EB7357EA8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657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82" name="Text Box 24">
              <a:extLst>
                <a:ext uri="{FF2B5EF4-FFF2-40B4-BE49-F238E27FC236}">
                  <a16:creationId xmlns:a16="http://schemas.microsoft.com/office/drawing/2014/main" id="{3051E40F-D217-4F9D-BE6A-D0AAA76E7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4800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83" name="Text Box 20">
              <a:extLst>
                <a:ext uri="{FF2B5EF4-FFF2-40B4-BE49-F238E27FC236}">
                  <a16:creationId xmlns:a16="http://schemas.microsoft.com/office/drawing/2014/main" id="{C7596A18-385C-40D0-9FB2-2233C97CD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19812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3784" name="Line 15">
              <a:extLst>
                <a:ext uri="{FF2B5EF4-FFF2-40B4-BE49-F238E27FC236}">
                  <a16:creationId xmlns:a16="http://schemas.microsoft.com/office/drawing/2014/main" id="{2FF3DE33-F87B-456B-80D8-FAA73A52C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19400"/>
              <a:ext cx="363538" cy="639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投影片編號版面配置區 5">
            <a:extLst>
              <a:ext uri="{FF2B5EF4-FFF2-40B4-BE49-F238E27FC236}">
                <a16:creationId xmlns:a16="http://schemas.microsoft.com/office/drawing/2014/main" id="{B48A194C-D0C7-4448-B6FD-58B5A843CE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87631A-9299-4CE4-AF35-367901FFFCC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75811" name="Rectangle 5">
            <a:extLst>
              <a:ext uri="{FF2B5EF4-FFF2-40B4-BE49-F238E27FC236}">
                <a16:creationId xmlns:a16="http://schemas.microsoft.com/office/drawing/2014/main" id="{D55B45A1-04D0-41DD-8DEC-75054D476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Kripke structure  </a:t>
            </a:r>
            <a:br>
              <a:rPr lang="en-US" altLang="zh-TW"/>
            </a:br>
            <a:r>
              <a:rPr lang="en-US" altLang="zh-TW"/>
              <a:t> - symbolic inevitability analysis</a:t>
            </a:r>
          </a:p>
        </p:txBody>
      </p:sp>
      <p:sp>
        <p:nvSpPr>
          <p:cNvPr id="375812" name="Rectangle 6">
            <a:extLst>
              <a:ext uri="{FF2B5EF4-FFF2-40B4-BE49-F238E27FC236}">
                <a16:creationId xmlns:a16="http://schemas.microsoft.com/office/drawing/2014/main" id="{734415D8-9176-4302-8FDC-52CA07F27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800600"/>
            <a:ext cx="8382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transitions: T(x,y,z,x’,y’,z’)</a:t>
            </a:r>
            <a:r>
              <a:rPr lang="en-US" altLang="zh-TW" sz="2400">
                <a:sym typeface="Symbol" panose="05050102010706020507" pitchFamily="18" charset="2"/>
              </a:rPr>
              <a:t>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yz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yz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y’z’)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yz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y’z’)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yz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y’z’)</a:t>
            </a:r>
            <a:endParaRPr lang="en-US" altLang="zh-TW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/>
          </a:p>
        </p:txBody>
      </p:sp>
      <p:grpSp>
        <p:nvGrpSpPr>
          <p:cNvPr id="375813" name="群組 23">
            <a:extLst>
              <a:ext uri="{FF2B5EF4-FFF2-40B4-BE49-F238E27FC236}">
                <a16:creationId xmlns:a16="http://schemas.microsoft.com/office/drawing/2014/main" id="{1F38DEF7-B637-4032-8567-E3ED8E4D3D9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"/>
            <a:ext cx="8001000" cy="4267200"/>
            <a:chOff x="685800" y="1600200"/>
            <a:chExt cx="8001000" cy="4267200"/>
          </a:xfrm>
        </p:grpSpPr>
        <p:sp>
          <p:nvSpPr>
            <p:cNvPr id="375814" name="Oval 8">
              <a:extLst>
                <a:ext uri="{FF2B5EF4-FFF2-40B4-BE49-F238E27FC236}">
                  <a16:creationId xmlns:a16="http://schemas.microsoft.com/office/drawing/2014/main" id="{460257C8-2894-49BC-B332-C984088E9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125" y="4419600"/>
              <a:ext cx="1184275" cy="1143000"/>
            </a:xfrm>
            <a:prstGeom prst="ellipse">
              <a:avLst/>
            </a:prstGeom>
            <a:solidFill>
              <a:schemeClr val="hlink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sym typeface="Symbol" panose="05050102010706020507" pitchFamily="18" charset="2"/>
                </a:rPr>
                <a:t></a:t>
              </a: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>
                <a:solidFill>
                  <a:srgbClr val="0000FF"/>
                </a:solidFill>
              </a:endParaRPr>
            </a:p>
          </p:txBody>
        </p:sp>
        <p:sp>
          <p:nvSpPr>
            <p:cNvPr id="375815" name="Oval 9">
              <a:extLst>
                <a:ext uri="{FF2B5EF4-FFF2-40B4-BE49-F238E27FC236}">
                  <a16:creationId xmlns:a16="http://schemas.microsoft.com/office/drawing/2014/main" id="{8CEEFE75-B127-4EAE-A52B-23653C709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3657600"/>
              <a:ext cx="1160462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800" b="1">
                <a:solidFill>
                  <a:srgbClr val="0000FF"/>
                </a:solidFill>
              </a:endParaRPr>
            </a:p>
          </p:txBody>
        </p:sp>
        <p:sp>
          <p:nvSpPr>
            <p:cNvPr id="375816" name="Oval 10">
              <a:extLst>
                <a:ext uri="{FF2B5EF4-FFF2-40B4-BE49-F238E27FC236}">
                  <a16:creationId xmlns:a16="http://schemas.microsoft.com/office/drawing/2014/main" id="{FC6065BF-B3F6-434E-BE7F-35D8BD4C0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52800"/>
              <a:ext cx="1143000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17" name="Oval 11">
              <a:extLst>
                <a:ext uri="{FF2B5EF4-FFF2-40B4-BE49-F238E27FC236}">
                  <a16:creationId xmlns:a16="http://schemas.microsoft.com/office/drawing/2014/main" id="{7B5755BF-1189-4741-BF70-FDE5DB432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4724400"/>
              <a:ext cx="1219200" cy="1143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18" name="Oval 12">
              <a:extLst>
                <a:ext uri="{FF2B5EF4-FFF2-40B4-BE49-F238E27FC236}">
                  <a16:creationId xmlns:a16="http://schemas.microsoft.com/office/drawing/2014/main" id="{6B5B3EA2-8266-458C-AC46-0A628B5F0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352800"/>
              <a:ext cx="1068388" cy="9906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19" name="Line 13">
              <a:extLst>
                <a:ext uri="{FF2B5EF4-FFF2-40B4-BE49-F238E27FC236}">
                  <a16:creationId xmlns:a16="http://schemas.microsoft.com/office/drawing/2014/main" id="{06207233-B3A8-4B01-A877-CFDBF99D6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6400" y="5084763"/>
              <a:ext cx="1101725" cy="17303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5820" name="Line 14">
              <a:extLst>
                <a:ext uri="{FF2B5EF4-FFF2-40B4-BE49-F238E27FC236}">
                  <a16:creationId xmlns:a16="http://schemas.microsoft.com/office/drawing/2014/main" id="{79238B42-35D1-43D1-A0C3-B8E4020E3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4495800"/>
              <a:ext cx="609600" cy="3048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5821" name="Line 15">
              <a:extLst>
                <a:ext uri="{FF2B5EF4-FFF2-40B4-BE49-F238E27FC236}">
                  <a16:creationId xmlns:a16="http://schemas.microsoft.com/office/drawing/2014/main" id="{454BD658-2026-489B-AE5A-6B03BCDEF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962400"/>
              <a:ext cx="1049338" cy="258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5822" name="Arc 16">
              <a:extLst>
                <a:ext uri="{FF2B5EF4-FFF2-40B4-BE49-F238E27FC236}">
                  <a16:creationId xmlns:a16="http://schemas.microsoft.com/office/drawing/2014/main" id="{90F495E6-EC04-4845-AEAD-99D65AE35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613" y="3292475"/>
              <a:ext cx="1185862" cy="698500"/>
            </a:xfrm>
            <a:custGeom>
              <a:avLst/>
              <a:gdLst>
                <a:gd name="T0" fmla="*/ 0 w 28018"/>
                <a:gd name="T1" fmla="*/ 2147483646 h 21600"/>
                <a:gd name="T2" fmla="*/ 2147483646 w 28018"/>
                <a:gd name="T3" fmla="*/ 2147483646 h 21600"/>
                <a:gd name="T4" fmla="*/ 2147483646 w 2801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8018"/>
                <a:gd name="T10" fmla="*/ 0 h 21600"/>
                <a:gd name="T11" fmla="*/ 28018 w 280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18" h="21600" fill="none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</a:path>
                <a:path w="28018" h="21600" stroke="0" extrusionOk="0">
                  <a:moveTo>
                    <a:pt x="0" y="3653"/>
                  </a:moveTo>
                  <a:cubicBezTo>
                    <a:pt x="3556" y="1271"/>
                    <a:pt x="7739" y="-1"/>
                    <a:pt x="12020" y="0"/>
                  </a:cubicBezTo>
                  <a:cubicBezTo>
                    <a:pt x="18113" y="0"/>
                    <a:pt x="23923" y="2573"/>
                    <a:pt x="28017" y="7087"/>
                  </a:cubicBezTo>
                  <a:lnTo>
                    <a:pt x="12020" y="21600"/>
                  </a:lnTo>
                  <a:lnTo>
                    <a:pt x="0" y="3653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5823" name="Arc 17">
              <a:extLst>
                <a:ext uri="{FF2B5EF4-FFF2-40B4-BE49-F238E27FC236}">
                  <a16:creationId xmlns:a16="http://schemas.microsoft.com/office/drawing/2014/main" id="{CA7B7AFC-FCCE-48DB-9251-DE97B8BB7F0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600200" y="3789363"/>
              <a:ext cx="1289050" cy="698500"/>
            </a:xfrm>
            <a:custGeom>
              <a:avLst/>
              <a:gdLst>
                <a:gd name="T0" fmla="*/ 0 w 30437"/>
                <a:gd name="T1" fmla="*/ 2147483646 h 21600"/>
                <a:gd name="T2" fmla="*/ 2147483646 w 30437"/>
                <a:gd name="T3" fmla="*/ 2147483646 h 21600"/>
                <a:gd name="T4" fmla="*/ 2147483646 w 30437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30437"/>
                <a:gd name="T10" fmla="*/ 0 h 21600"/>
                <a:gd name="T11" fmla="*/ 30437 w 3043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37" h="21600" fill="none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</a:path>
                <a:path w="30437" h="21600" stroke="0" extrusionOk="0">
                  <a:moveTo>
                    <a:pt x="0" y="7651"/>
                  </a:moveTo>
                  <a:cubicBezTo>
                    <a:pt x="4104" y="2798"/>
                    <a:pt x="10136" y="-1"/>
                    <a:pt x="16492" y="0"/>
                  </a:cubicBezTo>
                  <a:cubicBezTo>
                    <a:pt x="21597" y="0"/>
                    <a:pt x="26538" y="1808"/>
                    <a:pt x="30437" y="5104"/>
                  </a:cubicBezTo>
                  <a:lnTo>
                    <a:pt x="16492" y="21600"/>
                  </a:lnTo>
                  <a:lnTo>
                    <a:pt x="0" y="7651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5824" name="Oval 18">
              <a:extLst>
                <a:ext uri="{FF2B5EF4-FFF2-40B4-BE49-F238E27FC236}">
                  <a16:creationId xmlns:a16="http://schemas.microsoft.com/office/drawing/2014/main" id="{923867A1-2751-4F3C-B6F7-5D660990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1600200"/>
              <a:ext cx="1235075" cy="1066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TW" sz="2400" b="1">
                  <a:solidFill>
                    <a:srgbClr val="0000FF"/>
                  </a:solidFill>
                </a:rPr>
                <a:t>η</a:t>
              </a: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25" name="Line 19">
              <a:extLst>
                <a:ext uri="{FF2B5EF4-FFF2-40B4-BE49-F238E27FC236}">
                  <a16:creationId xmlns:a16="http://schemas.microsoft.com/office/drawing/2014/main" id="{906C12A8-BB4C-406C-8952-CE60FC4989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2514600"/>
              <a:ext cx="1676400" cy="137160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5826" name="Text Box 20">
              <a:extLst>
                <a:ext uri="{FF2B5EF4-FFF2-40B4-BE49-F238E27FC236}">
                  <a16:creationId xmlns:a16="http://schemas.microsoft.com/office/drawing/2014/main" id="{76B30064-CEE2-47EC-A746-0C5904CEE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5181600"/>
              <a:ext cx="682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27" name="Text Box 21">
              <a:extLst>
                <a:ext uri="{FF2B5EF4-FFF2-40B4-BE49-F238E27FC236}">
                  <a16:creationId xmlns:a16="http://schemas.microsoft.com/office/drawing/2014/main" id="{6C634434-9AD6-45EE-8A4D-AF0A89D40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4038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010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28" name="Text Box 22">
              <a:extLst>
                <a:ext uri="{FF2B5EF4-FFF2-40B4-BE49-F238E27FC236}">
                  <a16:creationId xmlns:a16="http://schemas.microsoft.com/office/drawing/2014/main" id="{527EEF9E-1428-4F6C-B613-527936274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7338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29" name="Text Box 23">
              <a:extLst>
                <a:ext uri="{FF2B5EF4-FFF2-40B4-BE49-F238E27FC236}">
                  <a16:creationId xmlns:a16="http://schemas.microsoft.com/office/drawing/2014/main" id="{FB0B80AA-C54E-445F-9827-E17461FD2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3657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000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30" name="Text Box 24">
              <a:extLst>
                <a:ext uri="{FF2B5EF4-FFF2-40B4-BE49-F238E27FC236}">
                  <a16:creationId xmlns:a16="http://schemas.microsoft.com/office/drawing/2014/main" id="{676F91D4-0EA6-43BC-9CAD-64F9FF0CB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48006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100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31" name="Text Box 20">
              <a:extLst>
                <a:ext uri="{FF2B5EF4-FFF2-40B4-BE49-F238E27FC236}">
                  <a16:creationId xmlns:a16="http://schemas.microsoft.com/office/drawing/2014/main" id="{78EA9685-65D7-4B21-BF4F-975B9ED62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1981200"/>
              <a:ext cx="699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>
                  <a:solidFill>
                    <a:srgbClr val="0000FF"/>
                  </a:solidFill>
                  <a:sym typeface="Symbol" panose="05050102010706020507" pitchFamily="18" charset="2"/>
                </a:rPr>
                <a:t>101</a:t>
              </a:r>
              <a:endParaRPr lang="en-US" altLang="zh-TW" sz="2400" b="1">
                <a:solidFill>
                  <a:srgbClr val="0000FF"/>
                </a:solidFill>
              </a:endParaRPr>
            </a:p>
          </p:txBody>
        </p:sp>
        <p:sp>
          <p:nvSpPr>
            <p:cNvPr id="375832" name="Line 15">
              <a:extLst>
                <a:ext uri="{FF2B5EF4-FFF2-40B4-BE49-F238E27FC236}">
                  <a16:creationId xmlns:a16="http://schemas.microsoft.com/office/drawing/2014/main" id="{CFEF9874-79A5-4CB2-8A69-8408DE07E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19400"/>
              <a:ext cx="363538" cy="639763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none" w="lg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投影片編號版面配置區 5">
            <a:extLst>
              <a:ext uri="{FF2B5EF4-FFF2-40B4-BE49-F238E27FC236}">
                <a16:creationId xmlns:a16="http://schemas.microsoft.com/office/drawing/2014/main" id="{80B550CC-A6FE-4BAF-90B4-900147754D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A6E864-FA44-4C2B-AB27-3509D1C63E3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77859" name="Rectangle 2">
            <a:extLst>
              <a:ext uri="{FF2B5EF4-FFF2-40B4-BE49-F238E27FC236}">
                <a16:creationId xmlns:a16="http://schemas.microsoft.com/office/drawing/2014/main" id="{8B60D370-5DC5-4004-876C-F2CC49D59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inevitability analysis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D9E2A0B-9C43-41FB-A64D-3C37965DC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6106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b0 =</a:t>
            </a:r>
            <a:r>
              <a:rPr lang="en-US" altLang="zh-TW" sz="2400">
                <a:sym typeface="Symbol" panose="05050102010706020507" pitchFamily="18" charset="2"/>
              </a:rPr>
              <a:t> b(x,y,z)  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  <a:endParaRPr lang="en-US" altLang="zh-TW" sz="2400"/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</a:rPr>
              <a:t>b1 = b0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 x’y’z’(T(x,y,z,x’,y’,z’) b0’)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 x’y’z’(T(x,y,z,x’,y’,z’) </a:t>
            </a:r>
            <a:r>
              <a:rPr lang="en-US" altLang="zh-TW" sz="2400">
                <a:solidFill>
                  <a:srgbClr val="0000FF"/>
                </a:solidFill>
              </a:rPr>
              <a:t> (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(x’</a:t>
            </a:r>
            <a:r>
              <a:rPr lang="en-US" altLang="zh-TW" sz="2400">
                <a:sym typeface="Symbol" panose="05050102010706020507" pitchFamily="18" charset="2"/>
              </a:rPr>
              <a:t>y’z’)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</a:t>
            </a:r>
            <a:r>
              <a:rPr lang="en-US" altLang="zh-TW" sz="2400">
                <a:sym typeface="Symbol" panose="05050102010706020507" pitchFamily="18" charset="2"/>
              </a:rPr>
              <a:t>y z)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 x’y’z’(  ((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yz)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yz))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             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/>
              <a:t>(</a:t>
            </a:r>
            <a:r>
              <a:rPr lang="en-US" altLang="zh-TW" sz="2400">
                <a:sym typeface="Symbol" panose="05050102010706020507" pitchFamily="18" charset="2"/>
              </a:rPr>
              <a:t></a:t>
            </a:r>
            <a:r>
              <a:rPr lang="en-US" altLang="zh-TW" sz="2400"/>
              <a:t>x’</a:t>
            </a:r>
            <a:r>
              <a:rPr lang="en-US" altLang="zh-TW" sz="2400">
                <a:sym typeface="Symbol" panose="05050102010706020507" pitchFamily="18" charset="2"/>
              </a:rPr>
              <a:t>)</a:t>
            </a:r>
            <a:r>
              <a:rPr lang="en-US" altLang="zh-TW" sz="2400"/>
              <a:t>(x’</a:t>
            </a:r>
            <a:r>
              <a:rPr lang="en-US" altLang="zh-TW" sz="2400">
                <a:sym typeface="Symbol" panose="05050102010706020507" pitchFamily="18" charset="2"/>
              </a:rPr>
              <a:t>y’z’)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	= 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yz)</a:t>
            </a:r>
            <a:r>
              <a:rPr lang="en-US" altLang="zh-TW" sz="2400">
                <a:solidFill>
                  <a:srgbClr val="0000FF"/>
                </a:solidFill>
              </a:rPr>
              <a:t>(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yz)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b2 = b1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400">
                <a:sym typeface="Symbol" panose="05050102010706020507" pitchFamily="18" charset="2"/>
              </a:rPr>
              <a:t> x’y’z’(T(x,y,z,x’,y’,z’) b1’)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	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</a:t>
            </a:r>
            <a:endParaRPr lang="en-US" altLang="zh-TW" sz="2400"/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b3 = b2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400">
                <a:sym typeface="Symbol" panose="05050102010706020507" pitchFamily="18" charset="2"/>
              </a:rPr>
              <a:t> x’y’z’(T(x,y,z,x’,y’,z’) b2’)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	=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yz)(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yz)</a:t>
            </a:r>
            <a:endParaRPr lang="en-US" altLang="zh-TW" sz="2400">
              <a:sym typeface="Symbol" panose="05050102010706020507" pitchFamily="18" charset="2"/>
            </a:endParaRPr>
          </a:p>
        </p:txBody>
      </p:sp>
      <p:sp>
        <p:nvSpPr>
          <p:cNvPr id="5" name="圓角矩形圖說文字 4">
            <a:extLst>
              <a:ext uri="{FF2B5EF4-FFF2-40B4-BE49-F238E27FC236}">
                <a16:creationId xmlns:a16="http://schemas.microsoft.com/office/drawing/2014/main" id="{A435FFED-0E1D-403C-A130-63562A1F8A83}"/>
              </a:ext>
            </a:extLst>
          </p:cNvPr>
          <p:cNvSpPr/>
          <p:nvPr/>
        </p:nvSpPr>
        <p:spPr>
          <a:xfrm>
            <a:off x="7848600" y="3657600"/>
            <a:ext cx="1295400" cy="685800"/>
          </a:xfrm>
          <a:prstGeom prst="wedgeRoundRectCallout">
            <a:avLst>
              <a:gd name="adj1" fmla="val -327891"/>
              <a:gd name="adj2" fmla="val 29686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 err="1">
                <a:solidFill>
                  <a:srgbClr val="FF0000"/>
                </a:solidFill>
              </a:rPr>
              <a:t>fixpoint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圓角矩形圖說文字 6">
            <a:extLst>
              <a:ext uri="{FF2B5EF4-FFF2-40B4-BE49-F238E27FC236}">
                <a16:creationId xmlns:a16="http://schemas.microsoft.com/office/drawing/2014/main" id="{C8C6ED2B-29BF-46CF-8BC6-CE625F03490A}"/>
              </a:ext>
            </a:extLst>
          </p:cNvPr>
          <p:cNvSpPr/>
          <p:nvPr/>
        </p:nvSpPr>
        <p:spPr>
          <a:xfrm>
            <a:off x="6400800" y="4953000"/>
            <a:ext cx="2743200" cy="1524000"/>
          </a:xfrm>
          <a:prstGeom prst="wedgeRoundRectCallout">
            <a:avLst>
              <a:gd name="adj1" fmla="val -109737"/>
              <a:gd name="adj2" fmla="val 35815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</a:rPr>
              <a:t>non-empty intersection with the initial condition </a:t>
            </a:r>
          </a:p>
          <a:p>
            <a:pPr algn="ctr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  <a:sym typeface="Wingdings" pitchFamily="2" charset="2"/>
              </a:rPr>
              <a:t> non-inevitability detected.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116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116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  <p:bldP spid="5" grpId="0" animBg="1"/>
      <p:bldP spid="7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投影片編號版面配置區 5">
            <a:extLst>
              <a:ext uri="{FF2B5EF4-FFF2-40B4-BE49-F238E27FC236}">
                <a16:creationId xmlns:a16="http://schemas.microsoft.com/office/drawing/2014/main" id="{DB5A87ED-0957-495D-8F65-B3DD249A6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0832F6-FAD9-4C83-A347-AA77FAE54DC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379907" name="Rectangle 2">
            <a:extLst>
              <a:ext uri="{FF2B5EF4-FFF2-40B4-BE49-F238E27FC236}">
                <a16:creationId xmlns:a16="http://schemas.microsoft.com/office/drawing/2014/main" id="{ADB3B775-692B-4B4A-B654-5E6E1D4FA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05800" cy="1139825"/>
          </a:xfrm>
        </p:spPr>
        <p:txBody>
          <a:bodyPr/>
          <a:lstStyle/>
          <a:p>
            <a:pPr eaLnBrk="1" hangingPunct="1"/>
            <a:r>
              <a:rPr lang="en-US" altLang="zh-TW" sz="4000"/>
              <a:t>Symbolic model-checking </a:t>
            </a:r>
            <a:br>
              <a:rPr lang="en-US" altLang="zh-TW" sz="4000"/>
            </a:br>
            <a:r>
              <a:rPr lang="en-US" altLang="zh-TW" sz="4000"/>
              <a:t>- with real-world programs </a:t>
            </a:r>
            <a:br>
              <a:rPr lang="en-US" altLang="zh-TW" sz="4000"/>
            </a:br>
            <a:endParaRPr lang="en-US" altLang="zh-TW" sz="4000"/>
          </a:p>
        </p:txBody>
      </p:sp>
      <p:sp>
        <p:nvSpPr>
          <p:cNvPr id="379908" name="Rectangle 3">
            <a:extLst>
              <a:ext uri="{FF2B5EF4-FFF2-40B4-BE49-F238E27FC236}">
                <a16:creationId xmlns:a16="http://schemas.microsoft.com/office/drawing/2014/main" id="{417F859F-19B0-44FC-BCFC-B3FB3188C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686800" cy="4225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Consider transition rules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TW" sz="2800"/>
              <a:t> Guard </a:t>
            </a:r>
            <a:r>
              <a:rPr lang="en-US" altLang="zh-TW" sz="2800">
                <a:sym typeface="Wingdings" panose="05000000000000000000" pitchFamily="2" charset="2"/>
              </a:rPr>
              <a:t>  Actions</a:t>
            </a:r>
          </a:p>
          <a:p>
            <a:pPr eaLnBrk="1" hangingPunct="1"/>
            <a:r>
              <a:rPr lang="en-US" altLang="zh-TW" sz="2800">
                <a:sym typeface="Wingdings" panose="05000000000000000000" pitchFamily="2" charset="2"/>
              </a:rPr>
              <a:t>Guard is a propositional formula of state variables. </a:t>
            </a:r>
          </a:p>
          <a:p>
            <a:pPr eaLnBrk="1" hangingPunct="1"/>
            <a:r>
              <a:rPr lang="en-US" altLang="zh-TW" sz="2800">
                <a:sym typeface="Wingdings" panose="05000000000000000000" pitchFamily="2" charset="2"/>
              </a:rPr>
              <a:t>Actions is a command of the following syntax.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80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Wingdings" panose="05000000000000000000" pitchFamily="2" charset="2"/>
              </a:rPr>
              <a:t>   C ::= ACT |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{</a:t>
            </a:r>
            <a:r>
              <a:rPr lang="en-US" altLang="zh-TW" sz="2800">
                <a:sym typeface="Wingdings" panose="05000000000000000000" pitchFamily="2" charset="2"/>
              </a:rPr>
              <a:t>C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}</a:t>
            </a:r>
            <a:r>
              <a:rPr lang="en-US" altLang="zh-TW" sz="2800">
                <a:sym typeface="Wingdings" panose="05000000000000000000" pitchFamily="2" charset="2"/>
              </a:rPr>
              <a:t> | C C |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if (</a:t>
            </a:r>
            <a:r>
              <a:rPr lang="en-US" altLang="zh-TW" sz="2800">
                <a:sym typeface="Wingdings" panose="05000000000000000000" pitchFamily="2" charset="2"/>
              </a:rPr>
              <a:t>B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)</a:t>
            </a:r>
            <a:r>
              <a:rPr lang="en-US" altLang="zh-TW" sz="2800">
                <a:sym typeface="Wingdings" panose="05000000000000000000" pitchFamily="2" charset="2"/>
              </a:rPr>
              <a:t> C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else</a:t>
            </a:r>
            <a:r>
              <a:rPr lang="en-US" altLang="zh-TW" sz="2800">
                <a:sym typeface="Wingdings" panose="05000000000000000000" pitchFamily="2" charset="2"/>
              </a:rPr>
              <a:t> C |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while (</a:t>
            </a:r>
            <a:r>
              <a:rPr lang="en-US" altLang="zh-TW" sz="2800">
                <a:sym typeface="Wingdings" panose="05000000000000000000" pitchFamily="2" charset="2"/>
              </a:rPr>
              <a:t>B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)</a:t>
            </a:r>
            <a:r>
              <a:rPr lang="en-US" altLang="zh-TW" sz="2800">
                <a:sym typeface="Wingdings" panose="05000000000000000000" pitchFamily="2" charset="2"/>
              </a:rPr>
              <a:t> C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sym typeface="Wingdings" panose="05000000000000000000" pitchFamily="2" charset="2"/>
              </a:rPr>
              <a:t>   ACT ::=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;</a:t>
            </a:r>
            <a:r>
              <a:rPr lang="en-US" altLang="zh-TW" sz="2800">
                <a:sym typeface="Wingdings" panose="05000000000000000000" pitchFamily="2" charset="2"/>
              </a:rPr>
              <a:t> |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goto</a:t>
            </a:r>
            <a:r>
              <a:rPr lang="en-US" altLang="zh-TW" sz="2800">
                <a:sym typeface="Wingdings" panose="05000000000000000000" pitchFamily="2" charset="2"/>
              </a:rPr>
              <a:t> 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;</a:t>
            </a:r>
            <a:r>
              <a:rPr lang="en-US" altLang="zh-TW" sz="2800">
                <a:sym typeface="Wingdings" panose="05000000000000000000" pitchFamily="2" charset="2"/>
              </a:rPr>
              <a:t> | </a:t>
            </a:r>
            <a:r>
              <a:rPr lang="en-US" altLang="zh-TW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=</a:t>
            </a:r>
            <a:r>
              <a:rPr lang="en-US" altLang="zh-TW" sz="2800">
                <a:sym typeface="Wingdings" panose="05000000000000000000" pitchFamily="2" charset="2"/>
              </a:rPr>
              <a:t> E </a:t>
            </a:r>
            <a:r>
              <a:rPr lang="en-US" altLang="zh-TW" sz="2800" i="1">
                <a:solidFill>
                  <a:srgbClr val="0000FF"/>
                </a:solidFill>
                <a:sym typeface="Wingdings" panose="05000000000000000000" pitchFamily="2" charset="2"/>
              </a:rPr>
              <a:t>;</a:t>
            </a:r>
            <a:r>
              <a:rPr lang="en-US" altLang="zh-TW" sz="2800">
                <a:sym typeface="Wingdings" panose="05000000000000000000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內容版面配置區 2">
            <a:extLst>
              <a:ext uri="{FF2B5EF4-FFF2-40B4-BE49-F238E27FC236}">
                <a16:creationId xmlns:a16="http://schemas.microsoft.com/office/drawing/2014/main" id="{39FCEA69-B08C-419E-A111-40139846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4800600" cy="4530725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1:  w = 0;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2:  x = 0;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3:  y = z*z;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4:  while (x &lt; y)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5:    w = w + x*z;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6:    x = x + 1;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7:  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/>
              <a:t>8:  if (w &gt; z*z*z) w = z*z*z;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dirty="0">
                <a:solidFill>
                  <a:srgbClr val="C00000"/>
                </a:solidFill>
                <a:latin typeface="Albertus Extra Bold" pitchFamily="34" charset="0"/>
              </a:rPr>
              <a:t>program</a:t>
            </a:r>
          </a:p>
          <a:p>
            <a:pPr eaLnBrk="1" hangingPunct="1">
              <a:defRPr/>
            </a:pPr>
            <a:endParaRPr lang="zh-TW" altLang="en-US" dirty="0"/>
          </a:p>
        </p:txBody>
      </p:sp>
      <p:sp>
        <p:nvSpPr>
          <p:cNvPr id="381955" name="投影片編號版面配置區 3">
            <a:extLst>
              <a:ext uri="{FF2B5EF4-FFF2-40B4-BE49-F238E27FC236}">
                <a16:creationId xmlns:a16="http://schemas.microsoft.com/office/drawing/2014/main" id="{A0419986-7A33-4450-8899-D65053C11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14414A-AD5A-4345-98FE-C30443DD156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4E855C07-CB9F-4D4E-9F1B-7D644873AD12}"/>
              </a:ext>
            </a:extLst>
          </p:cNvPr>
          <p:cNvSpPr txBox="1">
            <a:spLocks/>
          </p:cNvSpPr>
          <p:nvPr/>
        </p:nvSpPr>
        <p:spPr bwMode="auto">
          <a:xfrm>
            <a:off x="4572000" y="1066800"/>
            <a:ext cx="4572000" cy="5105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3000" kern="0" dirty="0">
                <a:solidFill>
                  <a:srgbClr val="00B050"/>
                </a:solidFill>
                <a:latin typeface="Albertus Extra Bold" pitchFamily="34" charset="0"/>
                <a:ea typeface="+mn-ea"/>
              </a:rPr>
              <a:t>guarded commands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(pc==1)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 w = 0; pc=2;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(pc==2)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x = 0; pc=3;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(pc==3)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y = z*z; pc=4;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(pc==4&amp;&amp;x&gt;=y)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 pc=8;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(pc==4&amp;&amp;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x &lt; y)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 pc=5; </a:t>
            </a:r>
            <a:endParaRPr lang="en-US" altLang="zh-TW" sz="2400" kern="0" dirty="0">
              <a:solidFill>
                <a:srgbClr val="0000FF"/>
              </a:solidFill>
              <a:latin typeface="+mn-lt"/>
              <a:ea typeface="+mn-ea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(pc==5)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 w=</a:t>
            </a:r>
            <a:r>
              <a:rPr lang="en-US" altLang="zh-TW" sz="2400" kern="0" dirty="0" err="1">
                <a:solidFill>
                  <a:srgbClr val="0000FF"/>
                </a:solidFill>
                <a:latin typeface="+mn-lt"/>
                <a:ea typeface="+mn-ea"/>
              </a:rPr>
              <a:t>w+x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*z; pc=6; 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(pc==6)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 x=x+1; pc=4;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(pc==8) 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  <a:sym typeface="Wingdings" pitchFamily="2" charset="2"/>
              </a:rPr>
              <a:t></a:t>
            </a:r>
            <a:r>
              <a:rPr lang="en-US" altLang="zh-TW" sz="2400" kern="0" dirty="0">
                <a:solidFill>
                  <a:srgbClr val="0000FF"/>
                </a:solidFill>
                <a:latin typeface="+mn-lt"/>
                <a:ea typeface="+mn-ea"/>
              </a:rPr>
              <a:t> if (w&gt;z*z*z) w= z*z*z;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zh-TW" altLang="en-US" sz="3000" kern="0" dirty="0">
              <a:latin typeface="+mn-lt"/>
              <a:ea typeface="+mn-ea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0C9D8560-15CF-47A8-B33B-C80808E6E4D2}"/>
              </a:ext>
            </a:extLst>
          </p:cNvPr>
          <p:cNvCxnSpPr/>
          <p:nvPr/>
        </p:nvCxnSpPr>
        <p:spPr>
          <a:xfrm flipV="1">
            <a:off x="1828800" y="1752600"/>
            <a:ext cx="2743200" cy="762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358F43C-957C-4542-BC53-224CA56CC7BA}"/>
              </a:ext>
            </a:extLst>
          </p:cNvPr>
          <p:cNvCxnSpPr/>
          <p:nvPr/>
        </p:nvCxnSpPr>
        <p:spPr>
          <a:xfrm flipV="1">
            <a:off x="1524000" y="2133600"/>
            <a:ext cx="3048000" cy="2286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34E39AF-53E5-4552-8972-9189A53EC58D}"/>
              </a:ext>
            </a:extLst>
          </p:cNvPr>
          <p:cNvCxnSpPr/>
          <p:nvPr/>
        </p:nvCxnSpPr>
        <p:spPr>
          <a:xfrm flipV="1">
            <a:off x="1905000" y="2590800"/>
            <a:ext cx="274320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8D14A4F-8C06-4385-81C5-635E53699FB7}"/>
              </a:ext>
            </a:extLst>
          </p:cNvPr>
          <p:cNvCxnSpPr/>
          <p:nvPr/>
        </p:nvCxnSpPr>
        <p:spPr>
          <a:xfrm>
            <a:off x="2971800" y="3352800"/>
            <a:ext cx="1676400" cy="762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F670A3F-C524-42B6-830B-09D85A9B83B3}"/>
              </a:ext>
            </a:extLst>
          </p:cNvPr>
          <p:cNvCxnSpPr/>
          <p:nvPr/>
        </p:nvCxnSpPr>
        <p:spPr>
          <a:xfrm flipV="1">
            <a:off x="2971800" y="2971800"/>
            <a:ext cx="1676400" cy="3048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DAE8538-C542-4ABC-A868-7608D4C31E49}"/>
              </a:ext>
            </a:extLst>
          </p:cNvPr>
          <p:cNvCxnSpPr/>
          <p:nvPr/>
        </p:nvCxnSpPr>
        <p:spPr>
          <a:xfrm flipV="1">
            <a:off x="2895600" y="3810000"/>
            <a:ext cx="1752600" cy="762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BD15CEE-9F31-4E44-848D-A40244E05A70}"/>
              </a:ext>
            </a:extLst>
          </p:cNvPr>
          <p:cNvCxnSpPr/>
          <p:nvPr/>
        </p:nvCxnSpPr>
        <p:spPr>
          <a:xfrm flipV="1">
            <a:off x="2362200" y="4267200"/>
            <a:ext cx="2286000" cy="152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6E9EC78-B4F7-4B02-8C1A-72A404B10F1C}"/>
              </a:ext>
            </a:extLst>
          </p:cNvPr>
          <p:cNvCxnSpPr/>
          <p:nvPr/>
        </p:nvCxnSpPr>
        <p:spPr>
          <a:xfrm rot="5400000" flipH="1" flipV="1">
            <a:off x="4267200" y="5029200"/>
            <a:ext cx="609600" cy="152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1965" name="標題 1">
            <a:extLst>
              <a:ext uri="{FF2B5EF4-FFF2-40B4-BE49-F238E27FC236}">
                <a16:creationId xmlns:a16="http://schemas.microsoft.com/office/drawing/2014/main" id="{9CB618F9-FAD0-4686-A3B5-B1C634C61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n-US" altLang="zh-TW" sz="4000"/>
              <a:t>Transition rules from programs</a:t>
            </a:r>
            <a:br>
              <a:rPr lang="en-US" altLang="zh-TW"/>
            </a:br>
            <a:endParaRPr lang="zh-TW" altLang="en-US" sz="320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標題 1">
            <a:extLst>
              <a:ext uri="{FF2B5EF4-FFF2-40B4-BE49-F238E27FC236}">
                <a16:creationId xmlns:a16="http://schemas.microsoft.com/office/drawing/2014/main" id="{001EE8D9-FD67-4EF1-BAD5-EEDD81A78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086600" cy="1447800"/>
          </a:xfrm>
        </p:spPr>
        <p:txBody>
          <a:bodyPr/>
          <a:lstStyle/>
          <a:p>
            <a:pPr eaLnBrk="1" hangingPunct="1"/>
            <a:r>
              <a:rPr lang="en-US" altLang="zh-TW" sz="4400"/>
              <a:t>A state-transition </a:t>
            </a:r>
            <a:br>
              <a:rPr lang="en-US" altLang="zh-TW" sz="4400"/>
            </a:br>
            <a:r>
              <a:rPr lang="en-US" altLang="zh-TW" sz="3600"/>
              <a:t>- represented as a transition rules</a:t>
            </a:r>
            <a:endParaRPr lang="zh-TW" altLang="en-US" sz="3600"/>
          </a:p>
        </p:txBody>
      </p:sp>
      <p:sp>
        <p:nvSpPr>
          <p:cNvPr id="384003" name="投影片編號版面配置區 3">
            <a:extLst>
              <a:ext uri="{FF2B5EF4-FFF2-40B4-BE49-F238E27FC236}">
                <a16:creationId xmlns:a16="http://schemas.microsoft.com/office/drawing/2014/main" id="{FB5CCCE8-CF08-4B11-8619-2F1A684B82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122B97-84BF-4BB9-B43F-CC15CFE00C4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1" name="內容版面配置區 2">
            <a:extLst>
              <a:ext uri="{FF2B5EF4-FFF2-40B4-BE49-F238E27FC236}">
                <a16:creationId xmlns:a16="http://schemas.microsoft.com/office/drawing/2014/main" id="{9BD80EC8-9685-4671-89EC-DD6407A2BC25}"/>
              </a:ext>
            </a:extLst>
          </p:cNvPr>
          <p:cNvSpPr txBox="1">
            <a:spLocks/>
          </p:cNvSpPr>
          <p:nvPr/>
        </p:nvSpPr>
        <p:spPr bwMode="auto">
          <a:xfrm>
            <a:off x="381000" y="1828800"/>
            <a:ext cx="8534400" cy="426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8 rules in total: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endParaRPr lang="en-US" altLang="zh-TW" sz="2400" kern="0" dirty="0">
              <a:latin typeface="+mn-lt"/>
              <a:ea typeface="+mn-ea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(a1)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latin typeface="+mn-lt"/>
                <a:ea typeface="+mn-ea"/>
              </a:rPr>
              <a:t>w = 0; </a:t>
            </a:r>
            <a:r>
              <a:rPr lang="en-US" altLang="zh-TW" sz="2400" kern="0" dirty="0" err="1">
                <a:latin typeface="+mn-lt"/>
                <a:ea typeface="+mn-ea"/>
              </a:rPr>
              <a:t>goto</a:t>
            </a:r>
            <a:r>
              <a:rPr lang="en-US" altLang="zh-TW" sz="2400" kern="0" dirty="0">
                <a:latin typeface="+mn-lt"/>
                <a:ea typeface="+mn-ea"/>
              </a:rPr>
              <a:t> a2;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(a2)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latin typeface="+mn-lt"/>
                <a:ea typeface="+mn-ea"/>
              </a:rPr>
              <a:t>x = 0; </a:t>
            </a:r>
            <a:r>
              <a:rPr lang="en-US" altLang="zh-TW" sz="2400" kern="0" dirty="0" err="1">
                <a:latin typeface="+mn-lt"/>
                <a:ea typeface="+mn-ea"/>
              </a:rPr>
              <a:t>goto</a:t>
            </a:r>
            <a:r>
              <a:rPr lang="en-US" altLang="zh-TW" sz="2400" kern="0" dirty="0">
                <a:latin typeface="+mn-lt"/>
                <a:ea typeface="+mn-ea"/>
              </a:rPr>
              <a:t> a3;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(a3)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latin typeface="+mn-lt"/>
                <a:ea typeface="+mn-ea"/>
              </a:rPr>
              <a:t>y = z*z; </a:t>
            </a:r>
            <a:r>
              <a:rPr lang="en-US" altLang="zh-TW" sz="2400" kern="0" dirty="0" err="1">
                <a:latin typeface="+mn-lt"/>
                <a:ea typeface="+mn-ea"/>
              </a:rPr>
              <a:t>goto</a:t>
            </a:r>
            <a:r>
              <a:rPr lang="en-US" altLang="zh-TW" sz="2400" kern="0" dirty="0">
                <a:latin typeface="+mn-lt"/>
                <a:ea typeface="+mn-ea"/>
              </a:rPr>
              <a:t> a4;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(a4&amp;&amp;x&gt;=y)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 err="1">
                <a:latin typeface="+mn-lt"/>
                <a:ea typeface="+mn-ea"/>
                <a:sym typeface="Wingdings" pitchFamily="2" charset="2"/>
              </a:rPr>
              <a:t>goto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 a8;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(a4&amp;&amp;</a:t>
            </a:r>
            <a:r>
              <a:rPr lang="en-US" altLang="zh-TW" sz="2400" kern="0" dirty="0">
                <a:latin typeface="+mn-lt"/>
                <a:ea typeface="+mn-ea"/>
              </a:rPr>
              <a:t>x &lt; y)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 err="1">
                <a:latin typeface="+mn-lt"/>
                <a:ea typeface="+mn-ea"/>
                <a:sym typeface="Wingdings" pitchFamily="2" charset="2"/>
              </a:rPr>
              <a:t>goto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 a5; </a:t>
            </a:r>
            <a:endParaRPr lang="en-US" altLang="zh-TW" sz="2400" kern="0" dirty="0">
              <a:latin typeface="+mn-lt"/>
              <a:ea typeface="+mn-ea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(a5)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  </a:t>
            </a:r>
            <a:r>
              <a:rPr lang="en-US" altLang="zh-TW" sz="2400" kern="0" dirty="0">
                <a:latin typeface="+mn-lt"/>
                <a:ea typeface="+mn-ea"/>
              </a:rPr>
              <a:t>w=</a:t>
            </a:r>
            <a:r>
              <a:rPr lang="en-US" altLang="zh-TW" sz="2400" kern="0" dirty="0" err="1">
                <a:latin typeface="+mn-lt"/>
                <a:ea typeface="+mn-ea"/>
              </a:rPr>
              <a:t>w+x</a:t>
            </a:r>
            <a:r>
              <a:rPr lang="en-US" altLang="zh-TW" sz="2400" kern="0" dirty="0">
                <a:latin typeface="+mn-lt"/>
                <a:ea typeface="+mn-ea"/>
              </a:rPr>
              <a:t>*z; </a:t>
            </a:r>
            <a:r>
              <a:rPr lang="en-US" altLang="zh-TW" sz="2400" kern="0" dirty="0" err="1">
                <a:latin typeface="+mn-lt"/>
                <a:ea typeface="+mn-ea"/>
              </a:rPr>
              <a:t>goto</a:t>
            </a:r>
            <a:r>
              <a:rPr lang="en-US" altLang="zh-TW" sz="2400" kern="0" dirty="0">
                <a:latin typeface="+mn-lt"/>
                <a:ea typeface="+mn-ea"/>
              </a:rPr>
              <a:t> a6;  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(a6)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latin typeface="+mn-lt"/>
                <a:ea typeface="+mn-ea"/>
              </a:rPr>
              <a:t>x=x+1; </a:t>
            </a:r>
            <a:r>
              <a:rPr lang="en-US" altLang="zh-TW" sz="2400" kern="0" dirty="0" err="1">
                <a:latin typeface="+mn-lt"/>
                <a:ea typeface="+mn-ea"/>
              </a:rPr>
              <a:t>goto</a:t>
            </a:r>
            <a:r>
              <a:rPr lang="en-US" altLang="zh-TW" sz="2400" kern="0" dirty="0">
                <a:latin typeface="+mn-lt"/>
                <a:ea typeface="+mn-ea"/>
              </a:rPr>
              <a:t> a4;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TW" sz="2400" kern="0" dirty="0">
                <a:latin typeface="+mn-lt"/>
                <a:ea typeface="+mn-ea"/>
              </a:rPr>
              <a:t>(a8) </a:t>
            </a:r>
            <a:r>
              <a:rPr lang="en-US" altLang="zh-TW" sz="2400" kern="0" dirty="0">
                <a:latin typeface="+mn-lt"/>
                <a:ea typeface="+mn-ea"/>
                <a:sym typeface="Wingdings" pitchFamily="2" charset="2"/>
              </a:rPr>
              <a:t> </a:t>
            </a:r>
            <a:r>
              <a:rPr lang="en-US" altLang="zh-TW" sz="2400" kern="0" dirty="0">
                <a:latin typeface="+mn-lt"/>
                <a:ea typeface="+mn-ea"/>
              </a:rPr>
              <a:t>if (w&gt;z*z*z) w= z*z*z; }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zh-TW" altLang="en-US" sz="2400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標題 1">
            <a:extLst>
              <a:ext uri="{FF2B5EF4-FFF2-40B4-BE49-F238E27FC236}">
                <a16:creationId xmlns:a16="http://schemas.microsoft.com/office/drawing/2014/main" id="{89A74483-10C1-4A57-B6A4-39999A79B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6629400" cy="1447800"/>
          </a:xfrm>
        </p:spPr>
        <p:txBody>
          <a:bodyPr/>
          <a:lstStyle/>
          <a:p>
            <a:pPr eaLnBrk="1" hangingPunct="1"/>
            <a:r>
              <a:rPr lang="en-US" altLang="zh-TW" sz="4400"/>
              <a:t>A state-transition </a:t>
            </a:r>
            <a:br>
              <a:rPr lang="en-US" altLang="zh-TW" sz="4400"/>
            </a:br>
            <a:r>
              <a:rPr lang="en-US" altLang="zh-TW" sz="3600"/>
              <a:t>- represented as a transition rules</a:t>
            </a:r>
            <a:endParaRPr lang="zh-TW" altLang="en-US" sz="3600"/>
          </a:p>
        </p:txBody>
      </p:sp>
      <p:sp>
        <p:nvSpPr>
          <p:cNvPr id="386051" name="投影片編號版面配置區 3">
            <a:extLst>
              <a:ext uri="{FF2B5EF4-FFF2-40B4-BE49-F238E27FC236}">
                <a16:creationId xmlns:a16="http://schemas.microsoft.com/office/drawing/2014/main" id="{C4464FC2-5D04-4144-A0B4-BECD14E85C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B0BC26-5C7B-48D3-AC4C-B406FDDEE97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CBC874C-C160-4FD7-BB80-65181A42C02D}"/>
              </a:ext>
            </a:extLst>
          </p:cNvPr>
          <p:cNvCxnSpPr/>
          <p:nvPr/>
        </p:nvCxnSpPr>
        <p:spPr>
          <a:xfrm>
            <a:off x="533400" y="2209800"/>
            <a:ext cx="457200" cy="1524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6053" name="群組 30">
            <a:extLst>
              <a:ext uri="{FF2B5EF4-FFF2-40B4-BE49-F238E27FC236}">
                <a16:creationId xmlns:a16="http://schemas.microsoft.com/office/drawing/2014/main" id="{E7C9E74D-B818-4AA7-9049-CBC57409FB43}"/>
              </a:ext>
            </a:extLst>
          </p:cNvPr>
          <p:cNvGrpSpPr>
            <a:grpSpLocks/>
          </p:cNvGrpSpPr>
          <p:nvPr/>
        </p:nvGrpSpPr>
        <p:grpSpPr bwMode="auto">
          <a:xfrm>
            <a:off x="0" y="1600200"/>
            <a:ext cx="8077200" cy="4511675"/>
            <a:chOff x="0" y="1600200"/>
            <a:chExt cx="8077200" cy="451167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D2CCEC17-E65D-45C3-8BE0-7DF6C485AB48}"/>
                </a:ext>
              </a:extLst>
            </p:cNvPr>
            <p:cNvSpPr/>
            <p:nvPr/>
          </p:nvSpPr>
          <p:spPr>
            <a:xfrm>
              <a:off x="3657600" y="26670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a2</a:t>
              </a:r>
              <a:endParaRPr lang="zh-TW" altLang="en-US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266FCD4A-E4C5-414E-8E5B-6D44C4D3C059}"/>
                </a:ext>
              </a:extLst>
            </p:cNvPr>
            <p:cNvSpPr/>
            <p:nvPr/>
          </p:nvSpPr>
          <p:spPr>
            <a:xfrm>
              <a:off x="1600200" y="33528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a3</a:t>
              </a:r>
              <a:endParaRPr lang="zh-TW" altLang="en-US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098F6F78-44F5-4878-9ED0-930047579655}"/>
                </a:ext>
              </a:extLst>
            </p:cNvPr>
            <p:cNvSpPr/>
            <p:nvPr/>
          </p:nvSpPr>
          <p:spPr>
            <a:xfrm>
              <a:off x="1600200" y="43434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a4</a:t>
              </a:r>
              <a:endParaRPr lang="zh-TW" altLang="en-US" dirty="0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7D0D2070-9F49-4450-A2ED-9EE165122A94}"/>
                </a:ext>
              </a:extLst>
            </p:cNvPr>
            <p:cNvSpPr/>
            <p:nvPr/>
          </p:nvSpPr>
          <p:spPr>
            <a:xfrm>
              <a:off x="1600200" y="54864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a8</a:t>
              </a:r>
              <a:endParaRPr lang="zh-TW" altLang="en-US" dirty="0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F1EAB15-B658-44EC-B504-9DCA5996BD15}"/>
                </a:ext>
              </a:extLst>
            </p:cNvPr>
            <p:cNvSpPr/>
            <p:nvPr/>
          </p:nvSpPr>
          <p:spPr>
            <a:xfrm>
              <a:off x="4191000" y="44196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a5</a:t>
              </a:r>
              <a:endParaRPr lang="zh-TW" altLang="en-US" dirty="0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CEBF527E-65A4-491F-B1E7-9EB922115CE6}"/>
                </a:ext>
              </a:extLst>
            </p:cNvPr>
            <p:cNvSpPr/>
            <p:nvPr/>
          </p:nvSpPr>
          <p:spPr>
            <a:xfrm>
              <a:off x="7391400" y="44196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a6</a:t>
              </a:r>
              <a:endParaRPr lang="zh-TW" altLang="en-US" dirty="0"/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348EFFF6-E5F5-46FB-84EB-B444D8C74C7B}"/>
                </a:ext>
              </a:extLst>
            </p:cNvPr>
            <p:cNvCxnSpPr>
              <a:stCxn id="5" idx="6"/>
              <a:endCxn id="6" idx="1"/>
            </p:cNvCxnSpPr>
            <p:nvPr/>
          </p:nvCxnSpPr>
          <p:spPr>
            <a:xfrm>
              <a:off x="1676400" y="2400300"/>
              <a:ext cx="2081213" cy="34448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BD58D615-49FF-41FA-8D54-16EBAB4A422B}"/>
                </a:ext>
              </a:extLst>
            </p:cNvPr>
            <p:cNvSpPr/>
            <p:nvPr/>
          </p:nvSpPr>
          <p:spPr>
            <a:xfrm>
              <a:off x="990600" y="2133600"/>
              <a:ext cx="6858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a1</a:t>
              </a:r>
              <a:endParaRPr lang="zh-TW" altLang="en-US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B67D20E9-F468-4934-BE78-94C9AEE92959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>
              <a:off x="2286000" y="4610100"/>
              <a:ext cx="1905000" cy="7620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8B1C3FFB-24F2-4F49-9FB2-126101FAB8E2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 rot="5400000">
              <a:off x="1638301" y="5181600"/>
              <a:ext cx="609600" cy="317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2D7A8B50-95EB-443E-8081-A075510B6086}"/>
                </a:ext>
              </a:extLst>
            </p:cNvPr>
            <p:cNvCxnSpPr/>
            <p:nvPr/>
          </p:nvCxnSpPr>
          <p:spPr>
            <a:xfrm rot="5400000">
              <a:off x="1721644" y="4099719"/>
              <a:ext cx="457200" cy="158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A1D66A58-DDD1-4D26-8324-AB3D5D8A2299}"/>
                </a:ext>
              </a:extLst>
            </p:cNvPr>
            <p:cNvCxnSpPr>
              <a:stCxn id="6" idx="3"/>
              <a:endCxn id="7" idx="7"/>
            </p:cNvCxnSpPr>
            <p:nvPr/>
          </p:nvCxnSpPr>
          <p:spPr>
            <a:xfrm rot="5400000">
              <a:off x="2817813" y="2490788"/>
              <a:ext cx="307975" cy="157162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A701CD-FC17-47FB-A663-02A939B02CD4}"/>
                </a:ext>
              </a:extLst>
            </p:cNvPr>
            <p:cNvCxnSpPr>
              <a:stCxn id="10" idx="6"/>
              <a:endCxn id="11" idx="2"/>
            </p:cNvCxnSpPr>
            <p:nvPr/>
          </p:nvCxnSpPr>
          <p:spPr>
            <a:xfrm>
              <a:off x="4876800" y="4686300"/>
              <a:ext cx="2514600" cy="158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43985B02-40C3-4D46-9738-5FFBCA35DC53}"/>
                </a:ext>
              </a:extLst>
            </p:cNvPr>
            <p:cNvCxnSpPr>
              <a:stCxn id="11" idx="0"/>
              <a:endCxn id="8" idx="7"/>
            </p:cNvCxnSpPr>
            <p:nvPr/>
          </p:nvCxnSpPr>
          <p:spPr>
            <a:xfrm rot="16200000" flipH="1" flipV="1">
              <a:off x="4959350" y="1646238"/>
              <a:ext cx="1588" cy="5548312"/>
            </a:xfrm>
            <a:prstGeom prst="curvedConnector3">
              <a:avLst>
                <a:gd name="adj1" fmla="val -34220376"/>
              </a:avLst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068" name="文字方塊 42">
              <a:extLst>
                <a:ext uri="{FF2B5EF4-FFF2-40B4-BE49-F238E27FC236}">
                  <a16:creationId xmlns:a16="http://schemas.microsoft.com/office/drawing/2014/main" id="{6970F895-BC26-4FEA-9D6F-2FC099700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1600200"/>
              <a:ext cx="1841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249B0D69-93AC-4938-AB7F-D6E01BDF0856}"/>
                </a:ext>
              </a:extLst>
            </p:cNvPr>
            <p:cNvSpPr txBox="1"/>
            <p:nvPr/>
          </p:nvSpPr>
          <p:spPr>
            <a:xfrm>
              <a:off x="2133600" y="2133600"/>
              <a:ext cx="17526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(a1)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w = 0;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69EF4DBB-3461-4EEC-ADC2-E0BC853845CB}"/>
                </a:ext>
              </a:extLst>
            </p:cNvPr>
            <p:cNvSpPr txBox="1"/>
            <p:nvPr/>
          </p:nvSpPr>
          <p:spPr>
            <a:xfrm>
              <a:off x="4876800" y="4724400"/>
              <a:ext cx="23622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(a5)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w = </a:t>
              </a:r>
              <a:r>
                <a:rPr lang="en-US" altLang="zh-TW" sz="2000" kern="0" dirty="0" err="1">
                  <a:solidFill>
                    <a:srgbClr val="0000FF"/>
                  </a:solidFill>
                  <a:latin typeface="Arial" charset="0"/>
                </a:rPr>
                <a:t>w+x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*z;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49658690-BA1D-4AD5-914C-8E6C3D7CEE3F}"/>
                </a:ext>
              </a:extLst>
            </p:cNvPr>
            <p:cNvSpPr txBox="1"/>
            <p:nvPr/>
          </p:nvSpPr>
          <p:spPr>
            <a:xfrm>
              <a:off x="0" y="3886200"/>
              <a:ext cx="19050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(a3)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y = z*z;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C7C341E2-F5FB-41EA-AF5B-CF2CB5040B36}"/>
                </a:ext>
              </a:extLst>
            </p:cNvPr>
            <p:cNvSpPr txBox="1"/>
            <p:nvPr/>
          </p:nvSpPr>
          <p:spPr>
            <a:xfrm>
              <a:off x="2514600" y="5334000"/>
              <a:ext cx="35052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(a8)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if(w&gt;z*z*z)w = z*z*z;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965A9525-2439-43D0-B926-A538B330F16B}"/>
                </a:ext>
              </a:extLst>
            </p:cNvPr>
            <p:cNvSpPr txBox="1"/>
            <p:nvPr/>
          </p:nvSpPr>
          <p:spPr>
            <a:xfrm>
              <a:off x="1905000" y="2895600"/>
              <a:ext cx="16002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(a2)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x = 0;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843F360-8D0A-43D9-BD70-7D7CDE07AB53}"/>
                </a:ext>
              </a:extLst>
            </p:cNvPr>
            <p:cNvSpPr txBox="1"/>
            <p:nvPr/>
          </p:nvSpPr>
          <p:spPr>
            <a:xfrm>
              <a:off x="3810000" y="3810000"/>
              <a:ext cx="19050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(a6)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x= x+1;</a:t>
              </a:r>
              <a:endParaRPr lang="zh-TW" altLang="en-US" sz="2000" dirty="0">
                <a:latin typeface="Arial" charset="0"/>
              </a:endParaRPr>
            </a:p>
          </p:txBody>
        </p: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B93239BF-6758-4724-A7E9-4FFDB7EED8F3}"/>
                </a:ext>
              </a:extLst>
            </p:cNvPr>
            <p:cNvCxnSpPr>
              <a:stCxn id="9" idx="6"/>
              <a:endCxn id="53" idx="1"/>
            </p:cNvCxnSpPr>
            <p:nvPr/>
          </p:nvCxnSpPr>
          <p:spPr>
            <a:xfrm>
              <a:off x="2286000" y="5753100"/>
              <a:ext cx="3733800" cy="8413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3D76C218-944D-41B0-AB30-121178EA9039}"/>
                </a:ext>
              </a:extLst>
            </p:cNvPr>
            <p:cNvSpPr/>
            <p:nvPr/>
          </p:nvSpPr>
          <p:spPr>
            <a:xfrm>
              <a:off x="6019800" y="5562600"/>
              <a:ext cx="609600" cy="5492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a0</a:t>
              </a:r>
              <a:endParaRPr lang="zh-TW" altLang="en-US" dirty="0"/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53E38DDC-AF20-4A8F-9918-CC507174E4A0}"/>
                </a:ext>
              </a:extLst>
            </p:cNvPr>
            <p:cNvSpPr txBox="1"/>
            <p:nvPr/>
          </p:nvSpPr>
          <p:spPr>
            <a:xfrm>
              <a:off x="2743200" y="4648200"/>
              <a:ext cx="15240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(a4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Symbol"/>
                </a:rPr>
                <a:t>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x&lt;y)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;</a:t>
              </a:r>
              <a:endParaRPr lang="zh-TW" altLang="en-US" sz="2000" dirty="0">
                <a:latin typeface="Arial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41910DA6-3FF2-4931-A432-81D1050AA839}"/>
                </a:ext>
              </a:extLst>
            </p:cNvPr>
            <p:cNvSpPr txBox="1"/>
            <p:nvPr/>
          </p:nvSpPr>
          <p:spPr>
            <a:xfrm>
              <a:off x="228600" y="4800600"/>
              <a:ext cx="1676400" cy="40005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(a4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Symbol"/>
                </a:rPr>
                <a:t>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x&gt;=y)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  <a:sym typeface="Wingdings" pitchFamily="2" charset="2"/>
                </a:rPr>
                <a:t></a:t>
              </a:r>
              <a:r>
                <a:rPr lang="en-US" altLang="zh-TW" sz="2000" kern="0" dirty="0">
                  <a:solidFill>
                    <a:srgbClr val="0000FF"/>
                  </a:solidFill>
                  <a:latin typeface="Arial" charset="0"/>
                </a:rPr>
                <a:t>;</a:t>
              </a:r>
              <a:endParaRPr lang="zh-TW" altLang="en-US" sz="2000" dirty="0">
                <a:latin typeface="Arial" charset="0"/>
              </a:endParaRPr>
            </a:p>
          </p:txBody>
        </p:sp>
      </p:grp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標題 1">
            <a:extLst>
              <a:ext uri="{FF2B5EF4-FFF2-40B4-BE49-F238E27FC236}">
                <a16:creationId xmlns:a16="http://schemas.microsoft.com/office/drawing/2014/main" id="{7E1534E4-64F4-47C9-8B3F-936E4801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Transition relation </a:t>
            </a:r>
            <a:br>
              <a:rPr lang="en-US" altLang="zh-TW"/>
            </a:br>
            <a:r>
              <a:rPr lang="en-US" altLang="zh-TW"/>
              <a:t>- from state-transition graphs</a:t>
            </a:r>
            <a:endParaRPr lang="zh-TW" altLang="en-US"/>
          </a:p>
        </p:txBody>
      </p:sp>
      <p:sp>
        <p:nvSpPr>
          <p:cNvPr id="388099" name="內容版面配置區 2">
            <a:extLst>
              <a:ext uri="{FF2B5EF4-FFF2-40B4-BE49-F238E27FC236}">
                <a16:creationId xmlns:a16="http://schemas.microsoft.com/office/drawing/2014/main" id="{E64329AB-A10C-4544-9E7C-24C46B19D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Given a set of rules r</a:t>
            </a:r>
            <a:r>
              <a:rPr lang="en-US" altLang="zh-TW" baseline="-25000"/>
              <a:t>1</a:t>
            </a:r>
            <a:r>
              <a:rPr lang="en-US" altLang="zh-TW"/>
              <a:t>, r</a:t>
            </a:r>
            <a:r>
              <a:rPr lang="en-US" altLang="zh-TW" baseline="-25000"/>
              <a:t>2</a:t>
            </a:r>
            <a:r>
              <a:rPr lang="en-US" altLang="zh-TW"/>
              <a:t>, …, r</a:t>
            </a:r>
            <a:r>
              <a:rPr lang="en-US" altLang="zh-TW" baseline="-25000"/>
              <a:t>m</a:t>
            </a:r>
            <a:r>
              <a:rPr lang="zh-TW" altLang="en-US"/>
              <a:t> </a:t>
            </a:r>
            <a:r>
              <a:rPr lang="en-US" altLang="zh-TW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r</a:t>
            </a:r>
            <a:r>
              <a:rPr lang="en-US" altLang="zh-TW" baseline="-25000"/>
              <a:t>k</a:t>
            </a:r>
            <a:r>
              <a:rPr lang="en-US" altLang="zh-TW">
                <a:sym typeface="Symbol" panose="05050102010706020507" pitchFamily="18" charset="2"/>
              </a:rPr>
              <a:t>: when (</a:t>
            </a:r>
            <a:r>
              <a:rPr lang="en-US" altLang="zh-TW" baseline="-25000"/>
              <a:t>k</a:t>
            </a:r>
            <a:r>
              <a:rPr lang="en-US" altLang="zh-TW">
                <a:sym typeface="Symbol" panose="05050102010706020507" pitchFamily="18" charset="2"/>
              </a:rPr>
              <a:t>) may</a:t>
            </a:r>
            <a:r>
              <a:rPr lang="en-US" altLang="zh-TW" sz="3200"/>
              <a:t> y</a:t>
            </a:r>
            <a:r>
              <a:rPr lang="en-US" altLang="zh-TW" sz="3200" baseline="-25000"/>
              <a:t>k,0</a:t>
            </a:r>
            <a:r>
              <a:rPr lang="en-US" altLang="zh-TW" sz="3200"/>
              <a:t>=d</a:t>
            </a:r>
            <a:r>
              <a:rPr lang="en-US" altLang="zh-TW" sz="3200" baseline="-25000"/>
              <a:t>0</a:t>
            </a:r>
            <a:r>
              <a:rPr lang="en-US" altLang="zh-TW" sz="3200"/>
              <a:t>; y</a:t>
            </a:r>
            <a:r>
              <a:rPr lang="en-US" altLang="zh-TW" sz="3200" baseline="-25000"/>
              <a:t>k,1</a:t>
            </a:r>
            <a:r>
              <a:rPr lang="en-US" altLang="zh-TW" sz="3200"/>
              <a:t>=d</a:t>
            </a:r>
            <a:r>
              <a:rPr lang="en-US" altLang="zh-TW" sz="3200" baseline="-25000"/>
              <a:t>1</a:t>
            </a:r>
            <a:r>
              <a:rPr lang="en-US" altLang="zh-TW" sz="3200"/>
              <a:t>; …; y</a:t>
            </a:r>
            <a:r>
              <a:rPr lang="en-US" altLang="zh-TW" sz="3200" baseline="-25000"/>
              <a:t>k,nk</a:t>
            </a:r>
            <a:r>
              <a:rPr lang="en-US" altLang="zh-TW" sz="3200"/>
              <a:t>=d</a:t>
            </a:r>
            <a:r>
              <a:rPr lang="en-US" altLang="zh-TW" sz="3200" baseline="-25000"/>
              <a:t>nk</a:t>
            </a:r>
            <a:r>
              <a:rPr lang="en-US" altLang="zh-TW" sz="3200"/>
              <a:t>;</a:t>
            </a:r>
            <a:endParaRPr lang="en-US" altLang="zh-TW" baseline="-25000"/>
          </a:p>
          <a:p>
            <a:pPr>
              <a:buFont typeface="Wingdings" panose="05000000000000000000" pitchFamily="2" charset="2"/>
              <a:buNone/>
            </a:pPr>
            <a:endParaRPr lang="en-US" altLang="zh-TW"/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t(</a:t>
            </a:r>
            <a:r>
              <a:rPr lang="en-US" altLang="zh-TW" sz="2800"/>
              <a:t>x</a:t>
            </a:r>
            <a:r>
              <a:rPr lang="en-US" altLang="zh-TW" sz="2800" baseline="-25000"/>
              <a:t>0</a:t>
            </a:r>
            <a:r>
              <a:rPr lang="en-US" altLang="zh-TW" sz="2800"/>
              <a:t>,x</a:t>
            </a:r>
            <a:r>
              <a:rPr lang="en-US" altLang="zh-TW" sz="2800" baseline="-25000"/>
              <a:t>1</a:t>
            </a:r>
            <a:r>
              <a:rPr lang="en-US" altLang="zh-TW" sz="2800"/>
              <a:t>,…,x</a:t>
            </a:r>
            <a:r>
              <a:rPr lang="en-US" altLang="zh-TW" sz="2800" baseline="-25000"/>
              <a:t>n</a:t>
            </a:r>
            <a:r>
              <a:rPr lang="en-US" altLang="zh-TW" sz="2800"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ym typeface="Symbol" panose="05050102010706020507" pitchFamily="18" charset="2"/>
              </a:rPr>
              <a:t>0</a:t>
            </a:r>
            <a:r>
              <a:rPr lang="en-US" altLang="zh-TW" sz="2800"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 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 </a:t>
            </a:r>
            <a:r>
              <a:rPr lang="en-US" altLang="zh-TW" sz="6000">
                <a:sym typeface="Symbol" panose="05050102010706020507" pitchFamily="18" charset="2"/>
              </a:rPr>
              <a:t></a:t>
            </a:r>
            <a:r>
              <a:rPr lang="en-US" altLang="zh-TW" sz="3200" baseline="-25000">
                <a:sym typeface="Symbol" panose="05050102010706020507" pitchFamily="18" charset="2"/>
              </a:rPr>
              <a:t>k[1,m]</a:t>
            </a:r>
            <a:r>
              <a:rPr lang="en-US" altLang="zh-TW" baseline="-25000">
                <a:sym typeface="Symbol" panose="05050102010706020507" pitchFamily="18" charset="2"/>
              </a:rPr>
              <a:t> </a:t>
            </a:r>
            <a:r>
              <a:rPr lang="en-US" altLang="zh-TW" sz="4800">
                <a:sym typeface="Symbol" panose="05050102010706020507" pitchFamily="18" charset="2"/>
              </a:rPr>
              <a:t>(</a:t>
            </a:r>
            <a:r>
              <a:rPr lang="en-US" altLang="zh-TW">
                <a:sym typeface="Symbol" panose="05050102010706020507" pitchFamily="18" charset="2"/>
              </a:rPr>
              <a:t>   </a:t>
            </a:r>
            <a:r>
              <a:rPr lang="en-US" altLang="zh-TW" sz="2400">
                <a:sym typeface="Symbol" panose="05050102010706020507" pitchFamily="18" charset="2"/>
              </a:rPr>
              <a:t></a:t>
            </a:r>
            <a:r>
              <a:rPr lang="en-US" altLang="zh-TW" sz="2400" baseline="-25000"/>
              <a:t>k</a:t>
            </a:r>
            <a:r>
              <a:rPr lang="en-US" altLang="zh-TW" sz="2400">
                <a:sym typeface="Symbol" panose="05050102010706020507" pitchFamily="18" charset="2"/>
              </a:rPr>
              <a:t>  </a:t>
            </a:r>
            <a:r>
              <a:rPr lang="en-US" altLang="zh-TW" sz="2400"/>
              <a:t>y’</a:t>
            </a:r>
            <a:r>
              <a:rPr lang="en-US" altLang="zh-TW" sz="2400" baseline="-25000"/>
              <a:t>k,0</a:t>
            </a:r>
            <a:r>
              <a:rPr lang="en-US" altLang="zh-TW" sz="2400"/>
              <a:t>==d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</a:t>
            </a:r>
            <a:r>
              <a:rPr lang="en-US" altLang="zh-TW" sz="2400"/>
              <a:t>y’</a:t>
            </a:r>
            <a:r>
              <a:rPr lang="en-US" altLang="zh-TW" sz="2400" baseline="-25000"/>
              <a:t>k,1</a:t>
            </a:r>
            <a:r>
              <a:rPr lang="en-US" altLang="zh-TW" sz="2400"/>
              <a:t>==d</a:t>
            </a:r>
            <a:r>
              <a:rPr lang="en-US" altLang="zh-TW" sz="2400" baseline="-25000"/>
              <a:t>1</a:t>
            </a:r>
            <a:r>
              <a:rPr lang="en-US" altLang="zh-TW" sz="2400">
                <a:sym typeface="Symbol" panose="05050102010706020507" pitchFamily="18" charset="2"/>
              </a:rPr>
              <a:t></a:t>
            </a:r>
            <a:r>
              <a:rPr lang="en-US" altLang="zh-TW" sz="2400"/>
              <a:t>…</a:t>
            </a:r>
            <a:r>
              <a:rPr lang="en-US" altLang="zh-TW" sz="2400">
                <a:sym typeface="Symbol" panose="05050102010706020507" pitchFamily="18" charset="2"/>
              </a:rPr>
              <a:t> </a:t>
            </a:r>
            <a:r>
              <a:rPr lang="en-US" altLang="zh-TW" sz="2400"/>
              <a:t>y’</a:t>
            </a:r>
            <a:r>
              <a:rPr lang="en-US" altLang="zh-TW" sz="2400" baseline="-25000"/>
              <a:t>k,nk</a:t>
            </a:r>
            <a:r>
              <a:rPr lang="en-US" altLang="zh-TW" sz="2400"/>
              <a:t>==d</a:t>
            </a:r>
            <a:r>
              <a:rPr lang="en-US" altLang="zh-TW" sz="2400" baseline="-25000"/>
              <a:t>nk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>
                <a:sym typeface="Symbol" panose="05050102010706020507" pitchFamily="18" charset="2"/>
              </a:rPr>
              <a:t>                   </a:t>
            </a:r>
            <a:r>
              <a:rPr lang="en-US" altLang="zh-TW" sz="6000">
                <a:sym typeface="Symbol" panose="05050102010706020507" pitchFamily="18" charset="2"/>
              </a:rPr>
              <a:t></a:t>
            </a:r>
            <a:r>
              <a:rPr lang="en-US" altLang="zh-TW" sz="2800" baseline="-25000">
                <a:sym typeface="Symbol" panose="05050102010706020507" pitchFamily="18" charset="2"/>
              </a:rPr>
              <a:t>h[1,n] </a:t>
            </a:r>
            <a:r>
              <a:rPr lang="en-US" altLang="zh-TW" sz="4000">
                <a:sym typeface="Symbol" panose="05050102010706020507" pitchFamily="18" charset="2"/>
              </a:rPr>
              <a:t>(</a:t>
            </a:r>
            <a:r>
              <a:rPr lang="en-US" altLang="zh-TW" sz="2400">
                <a:sym typeface="Symbol" panose="05050102010706020507" pitchFamily="18" charset="2"/>
              </a:rPr>
              <a:t>x</a:t>
            </a:r>
            <a:r>
              <a:rPr lang="en-US" altLang="zh-TW" sz="2400" baseline="-25000">
                <a:sym typeface="Symbol" panose="05050102010706020507" pitchFamily="18" charset="2"/>
              </a:rPr>
              <a:t> h</a:t>
            </a:r>
            <a:r>
              <a:rPr lang="en-US" altLang="zh-TW" sz="2400">
                <a:sym typeface="Symbol" panose="05050102010706020507" pitchFamily="18" charset="2"/>
              </a:rPr>
              <a:t>{</a:t>
            </a:r>
            <a:r>
              <a:rPr lang="en-US" altLang="zh-TW" sz="2400"/>
              <a:t>y</a:t>
            </a:r>
            <a:r>
              <a:rPr lang="en-US" altLang="zh-TW" sz="2400" baseline="-25000"/>
              <a:t>k,0</a:t>
            </a:r>
            <a:r>
              <a:rPr lang="en-US" altLang="zh-TW" sz="2400"/>
              <a:t>, y</a:t>
            </a:r>
            <a:r>
              <a:rPr lang="en-US" altLang="zh-TW" sz="2400" baseline="-25000"/>
              <a:t>k,1</a:t>
            </a:r>
            <a:r>
              <a:rPr lang="en-US" altLang="zh-TW" sz="2400"/>
              <a:t>, …, y</a:t>
            </a:r>
            <a:r>
              <a:rPr lang="en-US" altLang="zh-TW" sz="2400" baseline="-25000"/>
              <a:t>k,nk</a:t>
            </a:r>
            <a:r>
              <a:rPr lang="en-US" altLang="zh-TW" sz="2400"/>
              <a:t>}=&gt;</a:t>
            </a:r>
            <a:r>
              <a:rPr lang="en-US" altLang="zh-TW" sz="2400">
                <a:sym typeface="Symbol" panose="05050102010706020507" pitchFamily="18" charset="2"/>
              </a:rPr>
              <a:t>x</a:t>
            </a:r>
            <a:r>
              <a:rPr lang="en-US" altLang="zh-TW" sz="2400" baseline="-25000">
                <a:sym typeface="Symbol" panose="05050102010706020507" pitchFamily="18" charset="2"/>
              </a:rPr>
              <a:t> h</a:t>
            </a:r>
            <a:r>
              <a:rPr lang="en-US" altLang="zh-TW" sz="2400"/>
              <a:t>==</a:t>
            </a:r>
            <a:r>
              <a:rPr lang="en-US" altLang="zh-TW" sz="2400">
                <a:sym typeface="Symbol" panose="05050102010706020507" pitchFamily="18" charset="2"/>
              </a:rPr>
              <a:t> x’</a:t>
            </a:r>
            <a:r>
              <a:rPr lang="en-US" altLang="zh-TW" sz="2400" baseline="-25000">
                <a:sym typeface="Symbol" panose="05050102010706020507" pitchFamily="18" charset="2"/>
              </a:rPr>
              <a:t>h</a:t>
            </a:r>
            <a:r>
              <a:rPr lang="en-US" altLang="zh-TW" sz="4000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3200"/>
              <a:t>                 </a:t>
            </a:r>
            <a:r>
              <a:rPr lang="en-US" altLang="zh-TW" sz="4800"/>
              <a:t>)</a:t>
            </a:r>
            <a:r>
              <a:rPr lang="en-US" altLang="zh-TW" sz="3200"/>
              <a:t> </a:t>
            </a:r>
            <a:endParaRPr lang="en-US" altLang="zh-TW"/>
          </a:p>
        </p:txBody>
      </p:sp>
      <p:sp>
        <p:nvSpPr>
          <p:cNvPr id="388100" name="投影片編號版面配置區 3">
            <a:extLst>
              <a:ext uri="{FF2B5EF4-FFF2-40B4-BE49-F238E27FC236}">
                <a16:creationId xmlns:a16="http://schemas.microsoft.com/office/drawing/2014/main" id="{DDE49127-1A30-4A2D-99B6-AB8F1A1884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A3F3A7-D57E-49A1-B5C8-EBBE0DBD3F4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標題 1">
            <a:extLst>
              <a:ext uri="{FF2B5EF4-FFF2-40B4-BE49-F238E27FC236}">
                <a16:creationId xmlns:a16="http://schemas.microsoft.com/office/drawing/2014/main" id="{9FA961FB-389E-4728-8A0D-701697D8B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r>
              <a:rPr lang="en-US" altLang="zh-TW"/>
              <a:t>Transition relation </a:t>
            </a:r>
            <a:br>
              <a:rPr lang="en-US" altLang="zh-TW"/>
            </a:br>
            <a:r>
              <a:rPr lang="en-US" altLang="zh-TW"/>
              <a:t>- from transition rules.</a:t>
            </a:r>
            <a:endParaRPr lang="zh-TW" altLang="en-US"/>
          </a:p>
        </p:txBody>
      </p:sp>
      <p:sp>
        <p:nvSpPr>
          <p:cNvPr id="390147" name="內容版面配置區 2">
            <a:extLst>
              <a:ext uri="{FF2B5EF4-FFF2-40B4-BE49-F238E27FC236}">
                <a16:creationId xmlns:a16="http://schemas.microsoft.com/office/drawing/2014/main" id="{E6152845-028D-4E9D-B0E8-2D8101ED4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for X={x,y,z}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r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: when (x&lt;y&amp;&amp; y&gt;2) may</a:t>
            </a:r>
            <a:r>
              <a:rPr lang="en-US" altLang="zh-TW" sz="2800"/>
              <a:t> y=x+y; x=3;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r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: when (z&gt;=2) may</a:t>
            </a:r>
            <a:r>
              <a:rPr lang="en-US" altLang="zh-TW" sz="2800"/>
              <a:t> y=x+1; z=0;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r</a:t>
            </a:r>
            <a:r>
              <a:rPr lang="en-US" altLang="zh-TW" sz="2800" baseline="-25000">
                <a:sym typeface="Symbol" panose="05050102010706020507" pitchFamily="18" charset="2"/>
              </a:rPr>
              <a:t>3</a:t>
            </a:r>
            <a:r>
              <a:rPr lang="en-US" altLang="zh-TW" sz="2800">
                <a:sym typeface="Symbol" panose="05050102010706020507" pitchFamily="18" charset="2"/>
              </a:rPr>
              <a:t>: when (x&lt;2) may</a:t>
            </a:r>
            <a:r>
              <a:rPr lang="en-US" altLang="zh-TW" sz="2800"/>
              <a:t> x=0;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t(</a:t>
            </a:r>
            <a:r>
              <a:rPr lang="en-US" altLang="zh-TW" sz="2800">
                <a:solidFill>
                  <a:srgbClr val="0000FF"/>
                </a:solidFill>
              </a:rPr>
              <a:t>x</a:t>
            </a:r>
            <a:r>
              <a:rPr lang="en-US" altLang="zh-TW" sz="2800" baseline="-25000">
                <a:solidFill>
                  <a:srgbClr val="0000FF"/>
                </a:solidFill>
              </a:rPr>
              <a:t>0</a:t>
            </a:r>
            <a:r>
              <a:rPr lang="en-US" altLang="zh-TW" sz="2800">
                <a:solidFill>
                  <a:srgbClr val="0000FF"/>
                </a:solidFill>
              </a:rPr>
              <a:t>,x</a:t>
            </a:r>
            <a:r>
              <a:rPr lang="en-US" altLang="zh-TW" sz="2800" baseline="-25000">
                <a:solidFill>
                  <a:srgbClr val="0000FF"/>
                </a:solidFill>
              </a:rPr>
              <a:t>1</a:t>
            </a:r>
            <a:r>
              <a:rPr lang="en-US" altLang="zh-TW" sz="2800">
                <a:solidFill>
                  <a:srgbClr val="0000FF"/>
                </a:solidFill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endParaRPr lang="en-US" altLang="zh-TW" sz="2800">
              <a:sym typeface="Symbol" panose="05050102010706020507" pitchFamily="18" charset="2"/>
            </a:endParaRP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   </a:t>
            </a:r>
            <a:r>
              <a:rPr lang="en-US" altLang="zh-TW" sz="2800" baseline="-25000"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(x&lt;y  y&gt;2  </a:t>
            </a:r>
            <a:r>
              <a:rPr lang="en-US" altLang="zh-TW" sz="2800"/>
              <a:t>y’==x+y</a:t>
            </a:r>
            <a:r>
              <a:rPr lang="en-US" altLang="zh-TW" sz="2800">
                <a:sym typeface="Symbol" panose="05050102010706020507" pitchFamily="18" charset="2"/>
              </a:rPr>
              <a:t>  </a:t>
            </a:r>
            <a:r>
              <a:rPr lang="en-US" altLang="zh-TW" sz="2800"/>
              <a:t>x’==3</a:t>
            </a:r>
            <a:r>
              <a:rPr lang="en-US" altLang="zh-TW" sz="2800">
                <a:sym typeface="Symbol" panose="05050102010706020507" pitchFamily="18" charset="2"/>
              </a:rPr>
              <a:t>  z’==z)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(z&gt;=2  </a:t>
            </a:r>
            <a:r>
              <a:rPr lang="en-US" altLang="zh-TW" sz="2800"/>
              <a:t>y’==x+1</a:t>
            </a:r>
            <a:r>
              <a:rPr lang="en-US" altLang="zh-TW" sz="2800">
                <a:sym typeface="Symbol" panose="05050102010706020507" pitchFamily="18" charset="2"/>
              </a:rPr>
              <a:t>  </a:t>
            </a:r>
            <a:r>
              <a:rPr lang="en-US" altLang="zh-TW" sz="2800"/>
              <a:t>z’==0</a:t>
            </a:r>
            <a:r>
              <a:rPr lang="en-US" altLang="zh-TW" sz="2800">
                <a:sym typeface="Symbol" panose="05050102010706020507" pitchFamily="18" charset="2"/>
              </a:rPr>
              <a:t>  x’==x)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(x&lt;2  x</a:t>
            </a:r>
            <a:r>
              <a:rPr lang="en-US" altLang="zh-TW" sz="2800"/>
              <a:t>’==0</a:t>
            </a:r>
            <a:r>
              <a:rPr lang="en-US" altLang="zh-TW" sz="2800">
                <a:sym typeface="Symbol" panose="05050102010706020507" pitchFamily="18" charset="2"/>
              </a:rPr>
              <a:t>  </a:t>
            </a:r>
            <a:r>
              <a:rPr lang="en-US" altLang="zh-TW" sz="2800"/>
              <a:t>y’==y</a:t>
            </a:r>
            <a:r>
              <a:rPr lang="en-US" altLang="zh-TW" sz="2800">
                <a:sym typeface="Symbol" panose="05050102010706020507" pitchFamily="18" charset="2"/>
              </a:rPr>
              <a:t>  z’==z)</a:t>
            </a:r>
          </a:p>
        </p:txBody>
      </p:sp>
      <p:sp>
        <p:nvSpPr>
          <p:cNvPr id="390148" name="投影片編號版面配置區 3">
            <a:extLst>
              <a:ext uri="{FF2B5EF4-FFF2-40B4-BE49-F238E27FC236}">
                <a16:creationId xmlns:a16="http://schemas.microsoft.com/office/drawing/2014/main" id="{C3DD3D6E-FE5B-49B4-993F-609A3B68B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C81B3B-87B5-4AB1-B369-45661A878A8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標題 1">
            <a:extLst>
              <a:ext uri="{FF2B5EF4-FFF2-40B4-BE49-F238E27FC236}">
                <a16:creationId xmlns:a16="http://schemas.microsoft.com/office/drawing/2014/main" id="{AFD520C7-F6EF-4FD4-B490-558D092D7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Transition relation </a:t>
            </a:r>
            <a:br>
              <a:rPr lang="en-US" altLang="zh-TW"/>
            </a:br>
            <a:r>
              <a:rPr lang="en-US" altLang="zh-TW"/>
              <a:t>- from state-transition graphs</a:t>
            </a:r>
            <a:endParaRPr lang="zh-TW" altLang="en-US"/>
          </a:p>
        </p:txBody>
      </p:sp>
      <p:sp>
        <p:nvSpPr>
          <p:cNvPr id="392195" name="內容版面配置區 2">
            <a:extLst>
              <a:ext uri="{FF2B5EF4-FFF2-40B4-BE49-F238E27FC236}">
                <a16:creationId xmlns:a16="http://schemas.microsoft.com/office/drawing/2014/main" id="{6EC9D750-6623-4961-A665-4830458175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/>
              <a:t>In general, transition relation is expensive to construct.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Can we do the following state-space construction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800">
                <a:solidFill>
                  <a:srgbClr val="0000FF"/>
                </a:solidFill>
              </a:rPr>
              <a:t>x</a:t>
            </a:r>
            <a:r>
              <a:rPr lang="en-US" altLang="zh-TW" sz="2800" baseline="-25000">
                <a:solidFill>
                  <a:srgbClr val="0000FF"/>
                </a:solidFill>
              </a:rPr>
              <a:t>0</a:t>
            </a:r>
            <a:r>
              <a:rPr lang="en-US" altLang="zh-TW" sz="2800">
                <a:solidFill>
                  <a:srgbClr val="0000FF"/>
                </a:solidFill>
              </a:rPr>
              <a:t>,x</a:t>
            </a:r>
            <a:r>
              <a:rPr lang="en-US" altLang="zh-TW" sz="2800" baseline="-25000">
                <a:solidFill>
                  <a:srgbClr val="0000FF"/>
                </a:solidFill>
              </a:rPr>
              <a:t>1</a:t>
            </a:r>
            <a:r>
              <a:rPr lang="en-US" altLang="zh-TW" sz="2800">
                <a:solidFill>
                  <a:srgbClr val="0000FF"/>
                </a:solidFill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)(b</a:t>
            </a:r>
            <a:r>
              <a:rPr lang="en-US" altLang="zh-TW" sz="2800" baseline="-25000">
                <a:solidFill>
                  <a:srgbClr val="0000FF"/>
                </a:solidFill>
              </a:rPr>
              <a:t>k-1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))</a:t>
            </a:r>
            <a:endParaRPr lang="en-US" altLang="zh-TW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directly with the GCM rules ?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/>
          </a:p>
          <a:p>
            <a:pPr>
              <a:buFont typeface="Wingdings" panose="05000000000000000000" pitchFamily="2" charset="2"/>
              <a:buNone/>
            </a:pPr>
            <a:r>
              <a:rPr lang="en-US" altLang="zh-TW"/>
              <a:t>Yes, </a:t>
            </a:r>
            <a:r>
              <a:rPr lang="en-US" altLang="zh-TW" b="1" i="1">
                <a:solidFill>
                  <a:srgbClr val="FF0000"/>
                </a:solidFill>
              </a:rPr>
              <a:t>it is possible</a:t>
            </a:r>
            <a:r>
              <a:rPr lang="en-US" altLang="zh-TW"/>
              <a:t>. </a:t>
            </a:r>
          </a:p>
        </p:txBody>
      </p:sp>
      <p:sp>
        <p:nvSpPr>
          <p:cNvPr id="392196" name="投影片編號版面配置區 3">
            <a:extLst>
              <a:ext uri="{FF2B5EF4-FFF2-40B4-BE49-F238E27FC236}">
                <a16:creationId xmlns:a16="http://schemas.microsoft.com/office/drawing/2014/main" id="{B54F07E3-91E0-4490-8591-5400C6DA82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082089-9058-4E17-8D85-8638A91405E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標題 1">
            <a:extLst>
              <a:ext uri="{FF2B5EF4-FFF2-40B4-BE49-F238E27FC236}">
                <a16:creationId xmlns:a16="http://schemas.microsoft.com/office/drawing/2014/main" id="{08624AFD-E357-4C9B-8891-1DA5A8B0D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- with transition rules.</a:t>
            </a:r>
            <a:endParaRPr lang="zh-TW" altLang="en-US"/>
          </a:p>
        </p:txBody>
      </p:sp>
      <p:sp>
        <p:nvSpPr>
          <p:cNvPr id="394243" name="內容版面配置區 2">
            <a:extLst>
              <a:ext uri="{FF2B5EF4-FFF2-40B4-BE49-F238E27FC236}">
                <a16:creationId xmlns:a16="http://schemas.microsoft.com/office/drawing/2014/main" id="{83089D68-FFBA-4C78-BC88-D193EC2F9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r</a:t>
            </a:r>
            <a:r>
              <a:rPr lang="en-US" altLang="zh-TW" sz="2800" baseline="-25000"/>
              <a:t>1</a:t>
            </a:r>
            <a:r>
              <a:rPr lang="en-US" altLang="zh-TW" sz="2800"/>
              <a:t>, r</a:t>
            </a:r>
            <a:r>
              <a:rPr lang="en-US" altLang="zh-TW" sz="2800" baseline="-25000"/>
              <a:t>2</a:t>
            </a:r>
            <a:r>
              <a:rPr lang="en-US" altLang="zh-TW" sz="2800"/>
              <a:t>, …, r</a:t>
            </a:r>
            <a:r>
              <a:rPr lang="en-US" altLang="zh-TW" sz="2800" baseline="-25000"/>
              <a:t>m</a:t>
            </a:r>
            <a:r>
              <a:rPr lang="zh-TW" altLang="en-US" sz="2800"/>
              <a:t> </a:t>
            </a:r>
            <a:r>
              <a:rPr lang="en-US" altLang="zh-TW" sz="2800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r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: when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) may</a:t>
            </a:r>
            <a:r>
              <a:rPr lang="en-US" altLang="zh-TW" sz="2800"/>
              <a:t> y</a:t>
            </a:r>
            <a:r>
              <a:rPr lang="en-US" altLang="zh-TW" sz="2800" baseline="-25000"/>
              <a:t>k,0</a:t>
            </a:r>
            <a:r>
              <a:rPr lang="en-US" altLang="zh-TW" sz="2800"/>
              <a:t>=d</a:t>
            </a:r>
            <a:r>
              <a:rPr lang="en-US" altLang="zh-TW" sz="2800" baseline="-25000"/>
              <a:t>0</a:t>
            </a:r>
            <a:r>
              <a:rPr lang="en-US" altLang="zh-TW" sz="2800"/>
              <a:t>; y</a:t>
            </a:r>
            <a:r>
              <a:rPr lang="en-US" altLang="zh-TW" sz="2800" baseline="-25000"/>
              <a:t>k,1</a:t>
            </a:r>
            <a:r>
              <a:rPr lang="en-US" altLang="zh-TW" sz="2800"/>
              <a:t>=d</a:t>
            </a:r>
            <a:r>
              <a:rPr lang="en-US" altLang="zh-TW" sz="2800" baseline="-25000"/>
              <a:t>1</a:t>
            </a:r>
            <a:r>
              <a:rPr lang="en-US" altLang="zh-TW" sz="2800"/>
              <a:t>; …; y</a:t>
            </a:r>
            <a:r>
              <a:rPr lang="en-US" altLang="zh-TW" sz="2800" baseline="-25000"/>
              <a:t>k,nk</a:t>
            </a:r>
            <a:r>
              <a:rPr lang="en-US" altLang="zh-TW" sz="2800"/>
              <a:t>=d</a:t>
            </a:r>
            <a:r>
              <a:rPr lang="en-US" altLang="zh-TW" sz="2800" baseline="-25000"/>
              <a:t>nk</a:t>
            </a:r>
            <a:r>
              <a:rPr lang="en-US" altLang="zh-TW" sz="2800"/>
              <a:t>;</a:t>
            </a:r>
            <a:endParaRPr lang="en-US" altLang="zh-TW" sz="2800" baseline="-25000"/>
          </a:p>
          <a:p>
            <a:pPr>
              <a:buFont typeface="Wingdings" panose="05000000000000000000" pitchFamily="2" charset="2"/>
              <a:buNone/>
            </a:pPr>
            <a:endParaRPr lang="en-US" altLang="zh-TW"/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800">
                <a:solidFill>
                  <a:srgbClr val="0000FF"/>
                </a:solidFill>
              </a:rPr>
              <a:t>x</a:t>
            </a:r>
            <a:r>
              <a:rPr lang="en-US" altLang="zh-TW" sz="2800" baseline="-25000">
                <a:solidFill>
                  <a:srgbClr val="0000FF"/>
                </a:solidFill>
              </a:rPr>
              <a:t>0</a:t>
            </a:r>
            <a:r>
              <a:rPr lang="en-US" altLang="zh-TW" sz="2800">
                <a:solidFill>
                  <a:srgbClr val="0000FF"/>
                </a:solidFill>
              </a:rPr>
              <a:t>,x</a:t>
            </a:r>
            <a:r>
              <a:rPr lang="en-US" altLang="zh-TW" sz="2800" baseline="-25000">
                <a:solidFill>
                  <a:srgbClr val="0000FF"/>
                </a:solidFill>
              </a:rPr>
              <a:t>1</a:t>
            </a:r>
            <a:r>
              <a:rPr lang="en-US" altLang="zh-TW" sz="2800">
                <a:solidFill>
                  <a:srgbClr val="0000FF"/>
                </a:solidFill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)(b))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 </a:t>
            </a:r>
            <a:r>
              <a:rPr lang="en-US" altLang="zh-TW" sz="6000">
                <a:sym typeface="Symbol" panose="05050102010706020507" pitchFamily="18" charset="2"/>
              </a:rPr>
              <a:t></a:t>
            </a:r>
            <a:r>
              <a:rPr lang="en-US" altLang="zh-TW" sz="3200" baseline="-25000">
                <a:sym typeface="Symbol" panose="05050102010706020507" pitchFamily="18" charset="2"/>
              </a:rPr>
              <a:t>k[1,m]</a:t>
            </a:r>
            <a:r>
              <a:rPr lang="en-US" altLang="zh-TW" baseline="-25000">
                <a:sym typeface="Symbol" panose="05050102010706020507" pitchFamily="18" charset="2"/>
              </a:rPr>
              <a:t> </a:t>
            </a:r>
            <a:r>
              <a:rPr lang="en-US" altLang="zh-TW" sz="4800">
                <a:sym typeface="Symbol" panose="05050102010706020507" pitchFamily="18" charset="2"/>
              </a:rPr>
              <a:t>(</a:t>
            </a:r>
            <a:r>
              <a:rPr lang="en-US" altLang="zh-TW" sz="2800">
                <a:sym typeface="Symbol" panose="05050102010706020507" pitchFamily="18" charset="2"/>
              </a:rPr>
              <a:t>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  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  </a:t>
            </a:r>
            <a:r>
              <a:rPr lang="en-US" altLang="zh-TW" sz="2800">
                <a:sym typeface="Symbol" panose="05050102010706020507" pitchFamily="18" charset="2"/>
              </a:rPr>
              <a:t>y</a:t>
            </a:r>
            <a:r>
              <a:rPr lang="en-US" altLang="zh-TW" sz="2800" baseline="-25000">
                <a:sym typeface="Symbol" panose="05050102010706020507" pitchFamily="18" charset="2"/>
              </a:rPr>
              <a:t>k,0</a:t>
            </a:r>
            <a:r>
              <a:rPr lang="en-US" altLang="zh-TW" sz="2800">
                <a:sym typeface="Symbol" panose="05050102010706020507" pitchFamily="18" charset="2"/>
              </a:rPr>
              <a:t>y</a:t>
            </a:r>
            <a:r>
              <a:rPr lang="en-US" altLang="zh-TW" sz="2800" baseline="-25000">
                <a:sym typeface="Symbol" panose="05050102010706020507" pitchFamily="18" charset="2"/>
              </a:rPr>
              <a:t>k,1</a:t>
            </a:r>
            <a:r>
              <a:rPr lang="en-US" altLang="zh-TW" sz="2800">
                <a:sym typeface="Symbol" panose="05050102010706020507" pitchFamily="18" charset="2"/>
              </a:rPr>
              <a:t>…y</a:t>
            </a:r>
            <a:r>
              <a:rPr lang="en-US" altLang="zh-TW" sz="2800" baseline="-25000">
                <a:sym typeface="Symbol" panose="05050102010706020507" pitchFamily="18" charset="2"/>
              </a:rPr>
              <a:t>k,nk </a:t>
            </a:r>
            <a:r>
              <a:rPr lang="en-US" altLang="zh-TW" sz="5400">
                <a:sym typeface="Symbol" panose="05050102010706020507" pitchFamily="18" charset="2"/>
              </a:rPr>
              <a:t>(</a:t>
            </a:r>
            <a:r>
              <a:rPr lang="en-US" altLang="zh-TW" sz="2800">
                <a:sym typeface="Symbol" panose="05050102010706020507" pitchFamily="18" charset="2"/>
              </a:rPr>
              <a:t>b  </a:t>
            </a:r>
            <a:r>
              <a:rPr lang="en-US" altLang="zh-TW" sz="5400">
                <a:sym typeface="Symbol" panose="05050102010706020507" pitchFamily="18" charset="2"/>
              </a:rPr>
              <a:t></a:t>
            </a:r>
            <a:r>
              <a:rPr lang="en-US" altLang="zh-TW" sz="2800" baseline="-25000">
                <a:sym typeface="Symbol" panose="05050102010706020507" pitchFamily="18" charset="2"/>
              </a:rPr>
              <a:t> h[0,nk]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/>
              <a:t>y</a:t>
            </a:r>
            <a:r>
              <a:rPr lang="en-US" altLang="zh-TW" sz="2800" baseline="-25000"/>
              <a:t>k,h</a:t>
            </a:r>
            <a:r>
              <a:rPr lang="en-US" altLang="zh-TW" sz="2800"/>
              <a:t>==d</a:t>
            </a:r>
            <a:r>
              <a:rPr lang="en-US" altLang="zh-TW" sz="2800" baseline="-25000"/>
              <a:t>h</a:t>
            </a:r>
            <a:r>
              <a:rPr lang="en-US" altLang="zh-TW" sz="5400"/>
              <a:t>)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4800"/>
              <a:t>  )</a:t>
            </a:r>
            <a:r>
              <a:rPr lang="en-US" altLang="zh-TW" sz="3200"/>
              <a:t> 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FF0000"/>
                </a:solidFill>
              </a:rPr>
              <a:t>However, transition rules are more complex than that. </a:t>
            </a:r>
          </a:p>
        </p:txBody>
      </p:sp>
      <p:sp>
        <p:nvSpPr>
          <p:cNvPr id="394244" name="投影片編號版面配置區 3">
            <a:extLst>
              <a:ext uri="{FF2B5EF4-FFF2-40B4-BE49-F238E27FC236}">
                <a16:creationId xmlns:a16="http://schemas.microsoft.com/office/drawing/2014/main" id="{66FA9A66-3BA8-4E64-BB3A-D9B8C4340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D4AB5D-FAD8-41F1-B042-75E7B5E6F40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標題 1">
            <a:extLst>
              <a:ext uri="{FF2B5EF4-FFF2-40B4-BE49-F238E27FC236}">
                <a16:creationId xmlns:a16="http://schemas.microsoft.com/office/drawing/2014/main" id="{B8608CD5-B462-49DE-A10D-07D1A5DB2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396291" name="內容版面配置區 2">
            <a:extLst>
              <a:ext uri="{FF2B5EF4-FFF2-40B4-BE49-F238E27FC236}">
                <a16:creationId xmlns:a16="http://schemas.microsoft.com/office/drawing/2014/main" id="{AA50A1BC-C403-47CE-ACBB-287E1C3F9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)(b))</a:t>
            </a:r>
            <a:r>
              <a:rPr lang="en-US" altLang="zh-TW" sz="2400">
                <a:sym typeface="Symbol" panose="05050102010706020507" pitchFamily="18" charset="2"/>
              </a:rPr>
              <a:t> 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 </a:t>
            </a:r>
            <a:r>
              <a:rPr lang="en-US" altLang="zh-TW" sz="2400" baseline="-25000">
                <a:sym typeface="Symbol" panose="05050102010706020507" pitchFamily="18" charset="2"/>
              </a:rPr>
              <a:t>k[1,m] </a:t>
            </a:r>
            <a:r>
              <a:rPr lang="en-US" altLang="zh-TW" sz="2400">
                <a:sym typeface="Symbol" panose="05050102010706020507" pitchFamily="18" charset="2"/>
              </a:rPr>
              <a:t>(</a:t>
            </a:r>
            <a:r>
              <a:rPr lang="en-US" altLang="zh-TW" sz="2400" baseline="-25000"/>
              <a:t>k</a:t>
            </a:r>
            <a:r>
              <a:rPr lang="en-US" altLang="zh-TW" sz="2400">
                <a:sym typeface="Symbol" panose="05050102010706020507" pitchFamily="18" charset="2"/>
              </a:rPr>
              <a:t>  y</a:t>
            </a:r>
            <a:r>
              <a:rPr lang="en-US" altLang="zh-TW" sz="2400" baseline="-25000">
                <a:sym typeface="Symbol" panose="05050102010706020507" pitchFamily="18" charset="2"/>
              </a:rPr>
              <a:t>k,0</a:t>
            </a:r>
            <a:r>
              <a:rPr lang="en-US" altLang="zh-TW" sz="2400">
                <a:sym typeface="Symbol" panose="05050102010706020507" pitchFamily="18" charset="2"/>
              </a:rPr>
              <a:t>y</a:t>
            </a:r>
            <a:r>
              <a:rPr lang="en-US" altLang="zh-TW" sz="2400" baseline="-25000">
                <a:sym typeface="Symbol" panose="05050102010706020507" pitchFamily="18" charset="2"/>
              </a:rPr>
              <a:t>k,1</a:t>
            </a:r>
            <a:r>
              <a:rPr lang="en-US" altLang="zh-TW" sz="2400">
                <a:sym typeface="Symbol" panose="05050102010706020507" pitchFamily="18" charset="2"/>
              </a:rPr>
              <a:t>…y</a:t>
            </a:r>
            <a:r>
              <a:rPr lang="en-US" altLang="zh-TW" sz="2400" baseline="-25000">
                <a:sym typeface="Symbol" panose="05050102010706020507" pitchFamily="18" charset="2"/>
              </a:rPr>
              <a:t>k,nk </a:t>
            </a:r>
            <a:r>
              <a:rPr lang="en-US" altLang="zh-TW" sz="2400">
                <a:sym typeface="Symbol" panose="05050102010706020507" pitchFamily="18" charset="2"/>
              </a:rPr>
              <a:t>(b  </a:t>
            </a:r>
            <a:r>
              <a:rPr lang="en-US" altLang="zh-TW" sz="2400" baseline="-25000">
                <a:sym typeface="Symbol" panose="05050102010706020507" pitchFamily="18" charset="2"/>
              </a:rPr>
              <a:t> h[0,nk]</a:t>
            </a:r>
            <a:r>
              <a:rPr lang="en-US" altLang="zh-TW" sz="2400">
                <a:sym typeface="Symbol" panose="05050102010706020507" pitchFamily="18" charset="2"/>
              </a:rPr>
              <a:t> </a:t>
            </a:r>
            <a:r>
              <a:rPr lang="en-US" altLang="zh-TW" sz="2400"/>
              <a:t>y</a:t>
            </a:r>
            <a:r>
              <a:rPr lang="en-US" altLang="zh-TW" sz="2400" baseline="-25000"/>
              <a:t>k,h</a:t>
            </a:r>
            <a:r>
              <a:rPr lang="en-US" altLang="zh-TW" sz="2400"/>
              <a:t>==d</a:t>
            </a:r>
            <a:r>
              <a:rPr lang="en-US" altLang="zh-TW" sz="2400" baseline="-25000"/>
              <a:t>h</a:t>
            </a:r>
            <a:r>
              <a:rPr lang="en-US" altLang="zh-TW" sz="2400"/>
              <a:t>) 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pre(b) {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r = false;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for k = 1 to m, {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  let f = b;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  for h=nk to 0, f = </a:t>
            </a:r>
            <a:r>
              <a:rPr lang="en-US" altLang="zh-TW" sz="2800">
                <a:sym typeface="Symbol" panose="05050102010706020507" pitchFamily="18" charset="2"/>
              </a:rPr>
              <a:t>y</a:t>
            </a:r>
            <a:r>
              <a:rPr lang="en-US" altLang="zh-TW" sz="2800" baseline="-25000">
                <a:sym typeface="Symbol" panose="05050102010706020507" pitchFamily="18" charset="2"/>
              </a:rPr>
              <a:t>k,h</a:t>
            </a:r>
            <a:r>
              <a:rPr lang="en-US" altLang="zh-TW" sz="2800"/>
              <a:t>(f </a:t>
            </a:r>
            <a:r>
              <a:rPr lang="en-US" altLang="zh-TW" sz="2800">
                <a:sym typeface="Symbol" panose="05050102010706020507" pitchFamily="18" charset="2"/>
              </a:rPr>
              <a:t></a:t>
            </a:r>
            <a:r>
              <a:rPr lang="en-US" altLang="zh-TW" sz="2800" baseline="-25000">
                <a:sym typeface="Symbol" panose="05050102010706020507" pitchFamily="18" charset="2"/>
              </a:rPr>
              <a:t> </a:t>
            </a:r>
            <a:r>
              <a:rPr lang="en-US" altLang="zh-TW" sz="2800"/>
              <a:t>y</a:t>
            </a:r>
            <a:r>
              <a:rPr lang="en-US" altLang="zh-TW" sz="2800" baseline="-25000"/>
              <a:t>k,h</a:t>
            </a:r>
            <a:r>
              <a:rPr lang="en-US" altLang="zh-TW" sz="2800"/>
              <a:t>==d</a:t>
            </a:r>
            <a:r>
              <a:rPr lang="en-US" altLang="zh-TW" sz="2800" baseline="-25000"/>
              <a:t>h</a:t>
            </a:r>
            <a:r>
              <a:rPr lang="en-US" altLang="zh-TW" sz="2800"/>
              <a:t>);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  r = r </a:t>
            </a:r>
            <a:r>
              <a:rPr lang="en-US" altLang="zh-TW" sz="2800">
                <a:sym typeface="Symbol" panose="05050102010706020507" pitchFamily="18" charset="2"/>
              </a:rPr>
              <a:t>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  f); </a:t>
            </a:r>
            <a:endParaRPr lang="en-US" altLang="zh-TW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}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  return (r);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/>
              <a:t>} </a:t>
            </a:r>
          </a:p>
        </p:txBody>
      </p:sp>
      <p:sp>
        <p:nvSpPr>
          <p:cNvPr id="396292" name="投影片編號版面配置區 3">
            <a:extLst>
              <a:ext uri="{FF2B5EF4-FFF2-40B4-BE49-F238E27FC236}">
                <a16:creationId xmlns:a16="http://schemas.microsoft.com/office/drawing/2014/main" id="{303C20F3-A1B1-4D4F-9AA5-075C0AFD9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185813-FCFE-457B-92A1-7EB7EC680BA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標題 1">
            <a:extLst>
              <a:ext uri="{FF2B5EF4-FFF2-40B4-BE49-F238E27FC236}">
                <a16:creationId xmlns:a16="http://schemas.microsoft.com/office/drawing/2014/main" id="{28012133-C794-4318-987E-8A5ABAD41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- with transition rules.</a:t>
            </a:r>
            <a:endParaRPr lang="zh-TW" altLang="en-US"/>
          </a:p>
        </p:txBody>
      </p:sp>
      <p:sp>
        <p:nvSpPr>
          <p:cNvPr id="398339" name="內容版面配置區 2">
            <a:extLst>
              <a:ext uri="{FF2B5EF4-FFF2-40B4-BE49-F238E27FC236}">
                <a16:creationId xmlns:a16="http://schemas.microsoft.com/office/drawing/2014/main" id="{49940191-08DE-49F8-A909-7E53C2CC1A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6868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for X={x,y,z}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: when (x&lt;y&amp;&amp; y&gt;2) may</a:t>
            </a:r>
            <a:r>
              <a:rPr lang="en-US" altLang="zh-TW" sz="2800">
                <a:solidFill>
                  <a:srgbClr val="0000FF"/>
                </a:solidFill>
              </a:rPr>
              <a:t> y=z; x=3;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r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: when (z&gt;=2) may</a:t>
            </a:r>
            <a:r>
              <a:rPr lang="en-US" altLang="zh-TW" sz="2800"/>
              <a:t> y=x+1; z=7;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r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: when (x&lt;2) may</a:t>
            </a:r>
            <a:r>
              <a:rPr lang="en-US" altLang="zh-TW" sz="2800">
                <a:solidFill>
                  <a:srgbClr val="0000FF"/>
                </a:solidFill>
              </a:rPr>
              <a:t> z=0;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ym typeface="Symbol" panose="05050102010706020507" pitchFamily="18" charset="2"/>
              </a:rPr>
              <a:t>0</a:t>
            </a:r>
            <a:r>
              <a:rPr lang="en-US" altLang="zh-TW" sz="2800"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…x’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(R(</a:t>
            </a:r>
            <a:r>
              <a:rPr lang="en-US" altLang="zh-TW" sz="2800"/>
              <a:t>x</a:t>
            </a:r>
            <a:r>
              <a:rPr lang="en-US" altLang="zh-TW" sz="2800" baseline="-25000"/>
              <a:t>0</a:t>
            </a:r>
            <a:r>
              <a:rPr lang="en-US" altLang="zh-TW" sz="2800"/>
              <a:t>,x</a:t>
            </a:r>
            <a:r>
              <a:rPr lang="en-US" altLang="zh-TW" sz="2800" baseline="-25000"/>
              <a:t>1</a:t>
            </a:r>
            <a:r>
              <a:rPr lang="en-US" altLang="zh-TW" sz="2800"/>
              <a:t>,…,x</a:t>
            </a:r>
            <a:r>
              <a:rPr lang="en-US" altLang="zh-TW" sz="2800" baseline="-25000"/>
              <a:t>n</a:t>
            </a:r>
            <a:r>
              <a:rPr lang="en-US" altLang="zh-TW" sz="2800"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ym typeface="Symbol" panose="05050102010706020507" pitchFamily="18" charset="2"/>
              </a:rPr>
              <a:t>0</a:t>
            </a:r>
            <a:r>
              <a:rPr lang="en-US" altLang="zh-TW" sz="2800"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)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(x&lt;4z&gt;5)</a:t>
            </a:r>
            <a:r>
              <a:rPr lang="en-US" altLang="zh-TW" sz="2800">
                <a:sym typeface="Symbol" panose="05050102010706020507" pitchFamily="18" charset="2"/>
              </a:rPr>
              <a:t>) 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   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(x&lt;y  y&gt;2  yx( 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x&lt;4z&gt;5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 </a:t>
            </a:r>
            <a:r>
              <a:rPr lang="en-US" altLang="zh-TW" sz="2800">
                <a:solidFill>
                  <a:srgbClr val="0000FF"/>
                </a:solidFill>
              </a:rPr>
              <a:t>y==z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  </a:t>
            </a:r>
            <a:r>
              <a:rPr lang="en-US" altLang="zh-TW" sz="2800">
                <a:solidFill>
                  <a:srgbClr val="0000FF"/>
                </a:solidFill>
              </a:rPr>
              <a:t>x==3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))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   (z&gt;=2  yz( 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x&lt;4z&gt;5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 </a:t>
            </a:r>
            <a:r>
              <a:rPr lang="en-US" altLang="zh-TW" sz="2800">
                <a:solidFill>
                  <a:srgbClr val="0000FF"/>
                </a:solidFill>
              </a:rPr>
              <a:t>y==x+1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  </a:t>
            </a:r>
            <a:r>
              <a:rPr lang="en-US" altLang="zh-TW" sz="2800">
                <a:solidFill>
                  <a:srgbClr val="0000FF"/>
                </a:solidFill>
              </a:rPr>
              <a:t>z==7)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   (x&lt;2  z( </a:t>
            </a:r>
            <a:r>
              <a:rPr lang="en-US" altLang="zh-TW" sz="2800">
                <a:solidFill>
                  <a:srgbClr val="FF0000"/>
                </a:solidFill>
                <a:sym typeface="Symbol" panose="05050102010706020507" pitchFamily="18" charset="2"/>
              </a:rPr>
              <a:t>x&lt;4z&gt;5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 z</a:t>
            </a:r>
            <a:r>
              <a:rPr lang="en-US" altLang="zh-TW" sz="2800">
                <a:solidFill>
                  <a:srgbClr val="0000FF"/>
                </a:solidFill>
              </a:rPr>
              <a:t>==0)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   </a:t>
            </a:r>
            <a:r>
              <a:rPr lang="en-US" altLang="zh-TW" sz="2800" baseline="-25000">
                <a:sym typeface="Symbol" panose="05050102010706020507" pitchFamily="18" charset="2"/>
              </a:rPr>
              <a:t> </a:t>
            </a:r>
            <a:r>
              <a:rPr lang="en-US" altLang="zh-TW" sz="2800">
                <a:sym typeface="Symbol" panose="05050102010706020507" pitchFamily="18" charset="2"/>
              </a:rPr>
              <a:t>(x&lt;y  y&gt;2  z&gt;5) (z&gt;=2  x&lt;4)(x&lt;2  z(false</a:t>
            </a:r>
            <a:r>
              <a:rPr lang="en-US" altLang="zh-TW" sz="2800"/>
              <a:t>)</a:t>
            </a:r>
            <a:r>
              <a:rPr lang="en-US" altLang="zh-TW" sz="2800">
                <a:sym typeface="Symbol" panose="05050102010706020507" pitchFamily="18" charset="2"/>
              </a:rPr>
              <a:t>)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   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(x&lt;y  y&gt;2  z&gt;5) (z&gt;=2  x&lt;4)</a:t>
            </a: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2000">
              <a:sym typeface="Symbol" panose="05050102010706020507" pitchFamily="18" charset="2"/>
            </a:endParaRPr>
          </a:p>
          <a:p>
            <a:pPr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2000">
              <a:sym typeface="Symbol" panose="05050102010706020507" pitchFamily="18" charset="2"/>
            </a:endParaRPr>
          </a:p>
        </p:txBody>
      </p:sp>
      <p:sp>
        <p:nvSpPr>
          <p:cNvPr id="398340" name="投影片編號版面配置區 3">
            <a:extLst>
              <a:ext uri="{FF2B5EF4-FFF2-40B4-BE49-F238E27FC236}">
                <a16:creationId xmlns:a16="http://schemas.microsoft.com/office/drawing/2014/main" id="{7D6A5747-8057-4181-B035-06AC436D9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80445C-3B2F-47A4-A2B1-2F682D625E3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CA1F68DE-A09E-46F3-94D4-5BD4841158DF}"/>
              </a:ext>
            </a:extLst>
          </p:cNvPr>
          <p:cNvSpPr/>
          <p:nvPr/>
        </p:nvSpPr>
        <p:spPr>
          <a:xfrm>
            <a:off x="7086600" y="2057400"/>
            <a:ext cx="1524000" cy="1219200"/>
          </a:xfrm>
          <a:prstGeom prst="wedgeRectCallout">
            <a:avLst>
              <a:gd name="adj1" fmla="val -24261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/>
              <a:t>B</a:t>
            </a:r>
            <a:endParaRPr lang="zh-TW" altLang="en-US" sz="2800" baseline="-25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標題 1">
            <a:extLst>
              <a:ext uri="{FF2B5EF4-FFF2-40B4-BE49-F238E27FC236}">
                <a16:creationId xmlns:a16="http://schemas.microsoft.com/office/drawing/2014/main" id="{2D0A1339-9403-4891-8DD0-F133B5DB4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400387" name="內容版面配置區 2">
            <a:extLst>
              <a:ext uri="{FF2B5EF4-FFF2-40B4-BE49-F238E27FC236}">
                <a16:creationId xmlns:a16="http://schemas.microsoft.com/office/drawing/2014/main" id="{E61990A8-B4C7-4CA3-8F1A-7A5651CFDB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r</a:t>
            </a:r>
            <a:r>
              <a:rPr lang="en-US" altLang="zh-TW" sz="2800" baseline="-25000"/>
              <a:t>1</a:t>
            </a:r>
            <a:r>
              <a:rPr lang="en-US" altLang="zh-TW" sz="2800"/>
              <a:t>, r</a:t>
            </a:r>
            <a:r>
              <a:rPr lang="en-US" altLang="zh-TW" sz="2800" baseline="-25000"/>
              <a:t>2</a:t>
            </a:r>
            <a:r>
              <a:rPr lang="en-US" altLang="zh-TW" sz="2800"/>
              <a:t>, …, r</a:t>
            </a:r>
            <a:r>
              <a:rPr lang="en-US" altLang="zh-TW" sz="2800" baseline="-25000"/>
              <a:t>m</a:t>
            </a:r>
            <a:r>
              <a:rPr lang="zh-TW" altLang="en-US" sz="2800"/>
              <a:t> </a:t>
            </a:r>
            <a:r>
              <a:rPr lang="en-US" altLang="zh-TW" sz="2800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r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: when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) may</a:t>
            </a:r>
            <a:r>
              <a:rPr lang="en-US" altLang="zh-TW" sz="2800"/>
              <a:t> s</a:t>
            </a:r>
            <a:r>
              <a:rPr lang="en-US" altLang="zh-TW" sz="2800" baseline="-25000"/>
              <a:t>k</a:t>
            </a:r>
            <a:r>
              <a:rPr lang="en-US" altLang="zh-TW" sz="2800"/>
              <a:t>;</a:t>
            </a:r>
            <a:endParaRPr lang="en-US" altLang="zh-TW"/>
          </a:p>
          <a:p>
            <a:pPr>
              <a:buFont typeface="Wingdings" panose="05000000000000000000" pitchFamily="2" charset="2"/>
              <a:buNone/>
            </a:pPr>
            <a:endParaRPr lang="en-US" altLang="zh-TW" sz="28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800">
                <a:solidFill>
                  <a:srgbClr val="0000FF"/>
                </a:solidFill>
              </a:rPr>
              <a:t>x</a:t>
            </a:r>
            <a:r>
              <a:rPr lang="en-US" altLang="zh-TW" sz="2800" baseline="-25000">
                <a:solidFill>
                  <a:srgbClr val="0000FF"/>
                </a:solidFill>
              </a:rPr>
              <a:t>0</a:t>
            </a:r>
            <a:r>
              <a:rPr lang="en-US" altLang="zh-TW" sz="2800">
                <a:solidFill>
                  <a:srgbClr val="0000FF"/>
                </a:solidFill>
              </a:rPr>
              <a:t>,x</a:t>
            </a:r>
            <a:r>
              <a:rPr lang="en-US" altLang="zh-TW" sz="2800" baseline="-25000">
                <a:solidFill>
                  <a:srgbClr val="0000FF"/>
                </a:solidFill>
              </a:rPr>
              <a:t>1</a:t>
            </a:r>
            <a:r>
              <a:rPr lang="en-US" altLang="zh-TW" sz="2800">
                <a:solidFill>
                  <a:srgbClr val="0000FF"/>
                </a:solidFill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)(b))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</a:p>
          <a:p>
            <a:pPr>
              <a:lnSpc>
                <a:spcPts val="48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 </a:t>
            </a:r>
            <a:r>
              <a:rPr lang="en-US" altLang="zh-TW" sz="6000">
                <a:sym typeface="Symbol" panose="05050102010706020507" pitchFamily="18" charset="2"/>
              </a:rPr>
              <a:t></a:t>
            </a:r>
            <a:r>
              <a:rPr lang="en-US" altLang="zh-TW" sz="3200" baseline="-25000">
                <a:sym typeface="Symbol" panose="05050102010706020507" pitchFamily="18" charset="2"/>
              </a:rPr>
              <a:t>k[1,m]</a:t>
            </a:r>
            <a:r>
              <a:rPr lang="en-US" altLang="zh-TW" baseline="-25000">
                <a:sym typeface="Symbol" panose="05050102010706020507" pitchFamily="18" charset="2"/>
              </a:rPr>
              <a:t> </a:t>
            </a:r>
            <a:r>
              <a:rPr lang="en-US" altLang="zh-TW" sz="4800">
                <a:sym typeface="Symbol" panose="05050102010706020507" pitchFamily="18" charset="2"/>
              </a:rPr>
              <a:t>(</a:t>
            </a:r>
            <a:r>
              <a:rPr lang="en-US" altLang="zh-TW" sz="2800">
                <a:sym typeface="Symbol" panose="05050102010706020507" pitchFamily="18" charset="2"/>
              </a:rPr>
              <a:t>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  pre(s</a:t>
            </a:r>
            <a:r>
              <a:rPr lang="en-US" altLang="zh-TW" sz="2800" baseline="-25000">
                <a:sym typeface="Symbol" panose="05050102010706020507" pitchFamily="18" charset="2"/>
              </a:rPr>
              <a:t>k</a:t>
            </a:r>
            <a:r>
              <a:rPr lang="en-US" altLang="zh-TW" sz="5400">
                <a:sym typeface="Symbol" panose="05050102010706020507" pitchFamily="18" charset="2"/>
              </a:rPr>
              <a:t>,</a:t>
            </a:r>
            <a:r>
              <a:rPr lang="en-US" altLang="zh-TW" sz="2800">
                <a:sym typeface="Symbol" panose="05050102010706020507" pitchFamily="18" charset="2"/>
              </a:rPr>
              <a:t>b )</a:t>
            </a:r>
            <a:r>
              <a:rPr lang="en-US" altLang="zh-TW" sz="4800"/>
              <a:t>)</a:t>
            </a:r>
            <a:endParaRPr lang="en-US" altLang="zh-TW" sz="3200"/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endParaRPr lang="en-US" altLang="zh-TW" sz="2800">
              <a:solidFill>
                <a:srgbClr val="FF0000"/>
              </a:solidFill>
            </a:endParaRP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What is </a:t>
            </a:r>
            <a:r>
              <a:rPr lang="en-US" altLang="zh-TW" sz="2800">
                <a:sym typeface="Symbol" panose="05050102010706020507" pitchFamily="18" charset="2"/>
              </a:rPr>
              <a:t>pre(s</a:t>
            </a:r>
            <a:r>
              <a:rPr lang="en-US" altLang="zh-TW" sz="5400">
                <a:sym typeface="Symbol" panose="05050102010706020507" pitchFamily="18" charset="2"/>
              </a:rPr>
              <a:t>,</a:t>
            </a:r>
            <a:r>
              <a:rPr lang="en-US" altLang="zh-TW" sz="2800">
                <a:sym typeface="Symbol" panose="05050102010706020507" pitchFamily="18" charset="2"/>
              </a:rPr>
              <a:t>b) ? 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0388" name="投影片編號版面配置區 3">
            <a:extLst>
              <a:ext uri="{FF2B5EF4-FFF2-40B4-BE49-F238E27FC236}">
                <a16:creationId xmlns:a16="http://schemas.microsoft.com/office/drawing/2014/main" id="{AD996D51-59FF-4147-8289-1199202D68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C4E720-53AA-461B-AA92-986CF1BF35C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7AF57A28-EE84-4CF3-9E0A-31477FCBB6E3}"/>
              </a:ext>
            </a:extLst>
          </p:cNvPr>
          <p:cNvSpPr/>
          <p:nvPr/>
        </p:nvSpPr>
        <p:spPr>
          <a:xfrm>
            <a:off x="3733800" y="4267200"/>
            <a:ext cx="4724400" cy="612775"/>
          </a:xfrm>
          <a:prstGeom prst="wedgeRectCallout">
            <a:avLst>
              <a:gd name="adj1" fmla="val -66805"/>
              <a:gd name="adj2" fmla="val 1222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A  general propositional formula</a:t>
            </a:r>
            <a:endParaRPr lang="zh-TW" altLang="en-US" sz="2400" dirty="0"/>
          </a:p>
        </p:txBody>
      </p:sp>
      <p:sp>
        <p:nvSpPr>
          <p:cNvPr id="6" name="矩形圖說文字 5">
            <a:extLst>
              <a:ext uri="{FF2B5EF4-FFF2-40B4-BE49-F238E27FC236}">
                <a16:creationId xmlns:a16="http://schemas.microsoft.com/office/drawing/2014/main" id="{BB456BA7-75D5-453C-ADEA-AFCCAB9E24BD}"/>
              </a:ext>
            </a:extLst>
          </p:cNvPr>
          <p:cNvSpPr/>
          <p:nvPr/>
        </p:nvSpPr>
        <p:spPr>
          <a:xfrm>
            <a:off x="2133600" y="5943600"/>
            <a:ext cx="3429000" cy="612775"/>
          </a:xfrm>
          <a:prstGeom prst="wedgeRectCallout">
            <a:avLst>
              <a:gd name="adj1" fmla="val -38468"/>
              <a:gd name="adj2" fmla="val -1091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A  transition statement</a:t>
            </a:r>
            <a:endParaRPr lang="zh-TW" altLang="en-US" sz="2400" dirty="0"/>
          </a:p>
        </p:txBody>
      </p:sp>
      <p:sp>
        <p:nvSpPr>
          <p:cNvPr id="7" name="矩形圖說文字 6">
            <a:extLst>
              <a:ext uri="{FF2B5EF4-FFF2-40B4-BE49-F238E27FC236}">
                <a16:creationId xmlns:a16="http://schemas.microsoft.com/office/drawing/2014/main" id="{28CC6ED6-0B4C-4221-A30A-E2808D788239}"/>
              </a:ext>
            </a:extLst>
          </p:cNvPr>
          <p:cNvSpPr/>
          <p:nvPr/>
        </p:nvSpPr>
        <p:spPr>
          <a:xfrm>
            <a:off x="304800" y="4267200"/>
            <a:ext cx="2362200" cy="762000"/>
          </a:xfrm>
          <a:prstGeom prst="wedgeRectCallout">
            <a:avLst>
              <a:gd name="adj1" fmla="val 24063"/>
              <a:gd name="adj2" fmla="val 86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 dirty="0"/>
              <a:t>precondition procedure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標題 1">
            <a:extLst>
              <a:ext uri="{FF2B5EF4-FFF2-40B4-BE49-F238E27FC236}">
                <a16:creationId xmlns:a16="http://schemas.microsoft.com/office/drawing/2014/main" id="{7B59FB06-44EF-4734-9BE6-074ED7D8D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Precondition calculation</a:t>
            </a:r>
            <a:br>
              <a:rPr lang="en-US" altLang="zh-TW"/>
            </a:br>
            <a:r>
              <a:rPr lang="en-US" altLang="zh-TW"/>
              <a:t>- with substituion.</a:t>
            </a:r>
            <a:endParaRPr lang="zh-TW" altLang="en-US"/>
          </a:p>
        </p:txBody>
      </p:sp>
      <p:sp>
        <p:nvSpPr>
          <p:cNvPr id="402435" name="內容版面配置區 2">
            <a:extLst>
              <a:ext uri="{FF2B5EF4-FFF2-40B4-BE49-F238E27FC236}">
                <a16:creationId xmlns:a16="http://schemas.microsoft.com/office/drawing/2014/main" id="{6282C797-6946-4F10-9C53-BC88B2215C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7630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r</a:t>
            </a:r>
            <a:r>
              <a:rPr lang="en-US" altLang="zh-TW" sz="2800" baseline="-25000"/>
              <a:t>1</a:t>
            </a:r>
            <a:r>
              <a:rPr lang="en-US" altLang="zh-TW" sz="2800"/>
              <a:t>, r</a:t>
            </a:r>
            <a:r>
              <a:rPr lang="en-US" altLang="zh-TW" sz="2800" baseline="-25000"/>
              <a:t>2</a:t>
            </a:r>
            <a:r>
              <a:rPr lang="en-US" altLang="zh-TW" sz="2800"/>
              <a:t>, …, r</a:t>
            </a:r>
            <a:r>
              <a:rPr lang="en-US" altLang="zh-TW" sz="2800" baseline="-25000"/>
              <a:t>m</a:t>
            </a:r>
            <a:r>
              <a:rPr lang="zh-TW" altLang="en-US" sz="2800"/>
              <a:t> </a:t>
            </a:r>
            <a:r>
              <a:rPr lang="en-US" altLang="zh-TW" sz="2800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r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: when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) may</a:t>
            </a:r>
            <a:r>
              <a:rPr lang="en-US" altLang="zh-TW" sz="2800"/>
              <a:t> s</a:t>
            </a:r>
            <a:r>
              <a:rPr lang="en-US" altLang="zh-TW" sz="2800" baseline="-25000"/>
              <a:t>k</a:t>
            </a:r>
            <a:r>
              <a:rPr lang="en-US" altLang="zh-TW" sz="2800"/>
              <a:t>;</a:t>
            </a:r>
            <a:endParaRPr lang="en-US" altLang="zh-TW" sz="2800">
              <a:solidFill>
                <a:srgbClr val="FF0000"/>
              </a:solidFill>
            </a:endParaRP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What is </a:t>
            </a:r>
            <a:r>
              <a:rPr lang="en-US" altLang="zh-TW" sz="2800">
                <a:sym typeface="Symbol" panose="05050102010706020507" pitchFamily="18" charset="2"/>
              </a:rPr>
              <a:t>pre(s</a:t>
            </a:r>
            <a:r>
              <a:rPr lang="en-US" altLang="zh-TW" sz="5400">
                <a:sym typeface="Symbol" panose="05050102010706020507" pitchFamily="18" charset="2"/>
              </a:rPr>
              <a:t>,</a:t>
            </a:r>
            <a:r>
              <a:rPr lang="en-US" altLang="zh-TW" sz="2800">
                <a:sym typeface="Symbol" panose="05050102010706020507" pitchFamily="18" charset="2"/>
              </a:rPr>
              <a:t>b) ? </a:t>
            </a:r>
          </a:p>
          <a:p>
            <a:pPr>
              <a:lnSpc>
                <a:spcPts val="4800"/>
              </a:lnSpc>
            </a:pPr>
            <a:r>
              <a:rPr lang="en-US" altLang="zh-TW" sz="2800">
                <a:sym typeface="Symbol" panose="05050102010706020507" pitchFamily="18" charset="2"/>
              </a:rPr>
              <a:t>pre( </a:t>
            </a:r>
            <a:r>
              <a:rPr lang="en-US" altLang="zh-TW" sz="2800" i="1">
                <a:sym typeface="Symbol" panose="05050102010706020507" pitchFamily="18" charset="2"/>
              </a:rPr>
              <a:t>x</a:t>
            </a:r>
            <a:r>
              <a:rPr lang="en-US" altLang="zh-TW" sz="2800">
                <a:sym typeface="Symbol" panose="05050102010706020507" pitchFamily="18" charset="2"/>
              </a:rPr>
              <a:t> = </a:t>
            </a:r>
            <a:r>
              <a:rPr lang="en-US" altLang="zh-TW" sz="2800" i="1">
                <a:sym typeface="Symbol" panose="05050102010706020507" pitchFamily="18" charset="2"/>
              </a:rPr>
              <a:t>E</a:t>
            </a:r>
            <a:r>
              <a:rPr lang="en-US" altLang="zh-TW" sz="2800">
                <a:sym typeface="Symbol" panose="05050102010706020507" pitchFamily="18" charset="2"/>
              </a:rPr>
              <a:t>;, b)   b[x/E]</a:t>
            </a:r>
          </a:p>
          <a:p>
            <a:pPr>
              <a:lnSpc>
                <a:spcPts val="4800"/>
              </a:lnSpc>
            </a:pPr>
            <a:endParaRPr lang="en-US" altLang="zh-TW" sz="2800">
              <a:solidFill>
                <a:srgbClr val="FF0000"/>
              </a:solidFill>
            </a:endParaRPr>
          </a:p>
        </p:txBody>
      </p:sp>
      <p:sp>
        <p:nvSpPr>
          <p:cNvPr id="402436" name="投影片編號版面配置區 3">
            <a:extLst>
              <a:ext uri="{FF2B5EF4-FFF2-40B4-BE49-F238E27FC236}">
                <a16:creationId xmlns:a16="http://schemas.microsoft.com/office/drawing/2014/main" id="{714C4B7D-2E20-413A-8F55-07F5F3B8AF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F05853-3C15-41F5-92A3-17AE816C99A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3E7C9E4F-08D9-46F8-9D9B-7C47E9674263}"/>
              </a:ext>
            </a:extLst>
          </p:cNvPr>
          <p:cNvSpPr/>
          <p:nvPr/>
        </p:nvSpPr>
        <p:spPr>
          <a:xfrm>
            <a:off x="4724400" y="2667000"/>
            <a:ext cx="4191000" cy="762000"/>
          </a:xfrm>
          <a:prstGeom prst="wedgeRectCallout">
            <a:avLst>
              <a:gd name="adj1" fmla="val -57154"/>
              <a:gd name="adj2" fmla="val 83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new expression obtained from b by replacing every occurrence of x with E. </a:t>
            </a:r>
            <a:endParaRPr lang="zh-TW" altLang="en-US" dirty="0"/>
          </a:p>
        </p:txBody>
      </p:sp>
      <p:sp>
        <p:nvSpPr>
          <p:cNvPr id="6" name="矩形圖說文字 5">
            <a:extLst>
              <a:ext uri="{FF2B5EF4-FFF2-40B4-BE49-F238E27FC236}">
                <a16:creationId xmlns:a16="http://schemas.microsoft.com/office/drawing/2014/main" id="{A669472F-1C10-494D-A68A-DF8809846913}"/>
              </a:ext>
            </a:extLst>
          </p:cNvPr>
          <p:cNvSpPr/>
          <p:nvPr/>
        </p:nvSpPr>
        <p:spPr>
          <a:xfrm>
            <a:off x="533400" y="4038600"/>
            <a:ext cx="8077200" cy="762000"/>
          </a:xfrm>
          <a:prstGeom prst="wedgeRectCallout">
            <a:avLst>
              <a:gd name="adj1" fmla="val -49947"/>
              <a:gd name="adj2" fmla="val -24079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/>
              <a:t>Ex 1. </a:t>
            </a:r>
            <a:r>
              <a:rPr lang="en-US" altLang="zh-TW" sz="2400" dirty="0">
                <a:solidFill>
                  <a:schemeClr val="bg1"/>
                </a:solidFill>
              </a:rPr>
              <a:t>b: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</a:t>
            </a:r>
            <a:r>
              <a:rPr lang="en-US" altLang="zh-TW" sz="2400" dirty="0">
                <a:solidFill>
                  <a:schemeClr val="bg1"/>
                </a:solidFill>
              </a:rPr>
              <a:t> to s:x=</a:t>
            </a:r>
            <a:r>
              <a:rPr lang="en-US" altLang="zh-TW" sz="2400" dirty="0" err="1">
                <a:solidFill>
                  <a:schemeClr val="bg1"/>
                </a:solidFill>
              </a:rPr>
              <a:t>x+z</a:t>
            </a:r>
            <a:r>
              <a:rPr lang="en-US" altLang="zh-TW" sz="2400" dirty="0">
                <a:solidFill>
                  <a:schemeClr val="bg1"/>
                </a:solidFill>
              </a:rPr>
              <a:t>; </a:t>
            </a:r>
          </a:p>
          <a:p>
            <a:pPr eaLnBrk="1" hangingPunct="1">
              <a:defRPr/>
            </a:pPr>
            <a:r>
              <a:rPr lang="en-US" altLang="zh-TW" sz="2400" dirty="0">
                <a:solidFill>
                  <a:schemeClr val="bg1"/>
                </a:solidFill>
              </a:rPr>
              <a:t> 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</a:t>
            </a:r>
            <a:r>
              <a:rPr lang="en-US" altLang="zh-TW" sz="24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[x/</a:t>
            </a:r>
            <a:r>
              <a:rPr lang="en-US" altLang="zh-TW" sz="24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]  </a:t>
            </a:r>
            <a:r>
              <a:rPr lang="en-US" altLang="zh-TW" sz="24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==y+2  </a:t>
            </a:r>
            <a:r>
              <a:rPr lang="en-US" altLang="zh-TW" sz="24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&lt;4z&gt;5</a:t>
            </a:r>
          </a:p>
        </p:txBody>
      </p:sp>
      <p:sp>
        <p:nvSpPr>
          <p:cNvPr id="7" name="矩形圖說文字 6">
            <a:extLst>
              <a:ext uri="{FF2B5EF4-FFF2-40B4-BE49-F238E27FC236}">
                <a16:creationId xmlns:a16="http://schemas.microsoft.com/office/drawing/2014/main" id="{0AB8DAF5-3113-45C7-92F7-BCB7FF7D8B00}"/>
              </a:ext>
            </a:extLst>
          </p:cNvPr>
          <p:cNvSpPr/>
          <p:nvPr/>
        </p:nvSpPr>
        <p:spPr>
          <a:xfrm>
            <a:off x="533400" y="4876800"/>
            <a:ext cx="8077200" cy="762000"/>
          </a:xfrm>
          <a:prstGeom prst="wedgeRectCallout">
            <a:avLst>
              <a:gd name="adj1" fmla="val -49947"/>
              <a:gd name="adj2" fmla="val -24079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/>
              <a:t>Ex 2.</a:t>
            </a:r>
            <a:r>
              <a:rPr lang="en-US" altLang="zh-TW" sz="2400" dirty="0">
                <a:solidFill>
                  <a:schemeClr val="bg1"/>
                </a:solidFill>
              </a:rPr>
              <a:t> b: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 </a:t>
            </a:r>
            <a:r>
              <a:rPr lang="en-US" altLang="zh-TW" sz="2400" dirty="0">
                <a:solidFill>
                  <a:schemeClr val="bg1"/>
                </a:solidFill>
              </a:rPr>
              <a:t>to s:x=5; </a:t>
            </a:r>
          </a:p>
          <a:p>
            <a:pPr eaLnBrk="1" hangingPunct="1">
              <a:defRPr/>
            </a:pPr>
            <a:r>
              <a:rPr lang="en-US" altLang="zh-TW" sz="2400" dirty="0">
                <a:solidFill>
                  <a:schemeClr val="bg1"/>
                </a:solidFill>
              </a:rPr>
              <a:t> 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 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[x/5]  5==y+2  5&lt;4z&gt;5</a:t>
            </a:r>
          </a:p>
        </p:txBody>
      </p:sp>
      <p:sp>
        <p:nvSpPr>
          <p:cNvPr id="8" name="矩形圖說文字 7">
            <a:extLst>
              <a:ext uri="{FF2B5EF4-FFF2-40B4-BE49-F238E27FC236}">
                <a16:creationId xmlns:a16="http://schemas.microsoft.com/office/drawing/2014/main" id="{CE1ACE58-3583-4764-B103-4859E472ED42}"/>
              </a:ext>
            </a:extLst>
          </p:cNvPr>
          <p:cNvSpPr/>
          <p:nvPr/>
        </p:nvSpPr>
        <p:spPr>
          <a:xfrm>
            <a:off x="533400" y="5715000"/>
            <a:ext cx="8610600" cy="762000"/>
          </a:xfrm>
          <a:prstGeom prst="wedgeRectCallout">
            <a:avLst>
              <a:gd name="adj1" fmla="val -49947"/>
              <a:gd name="adj2" fmla="val -24079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/>
              <a:t>Ex 3</a:t>
            </a:r>
            <a:r>
              <a:rPr lang="en-US" altLang="zh-TW" sz="2400" dirty="0">
                <a:solidFill>
                  <a:schemeClr val="bg1"/>
                </a:solidFill>
              </a:rPr>
              <a:t>. b: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 </a:t>
            </a:r>
            <a:r>
              <a:rPr lang="en-US" altLang="zh-TW" sz="2400" dirty="0">
                <a:solidFill>
                  <a:schemeClr val="bg1"/>
                </a:solidFill>
              </a:rPr>
              <a:t>to s: x=2*x+1; </a:t>
            </a:r>
          </a:p>
          <a:p>
            <a:pPr eaLnBrk="1" hangingPunct="1">
              <a:defRPr/>
            </a:pPr>
            <a:r>
              <a:rPr lang="en-US" altLang="zh-TW" sz="2400" dirty="0">
                <a:solidFill>
                  <a:schemeClr val="bg1"/>
                </a:solidFill>
              </a:rPr>
              <a:t> </a:t>
            </a:r>
            <a:r>
              <a:rPr lang="en-US" altLang="zh-TW" sz="2400" b="1" dirty="0">
                <a:solidFill>
                  <a:srgbClr val="FFFF00"/>
                </a:solidFill>
              </a:rPr>
              <a:t>(x==y+2</a:t>
            </a:r>
            <a:r>
              <a:rPr lang="en-US" altLang="zh-TW" sz="2400" b="1" dirty="0">
                <a:solidFill>
                  <a:srgbClr val="FFFF00"/>
                </a:solidFill>
                <a:sym typeface="Symbol" pitchFamily="18" charset="2"/>
              </a:rPr>
              <a:t>  x&lt;4z&gt;5) </a:t>
            </a:r>
            <a:r>
              <a:rPr lang="en-US" altLang="zh-TW" sz="2400" dirty="0">
                <a:solidFill>
                  <a:schemeClr val="bg1"/>
                </a:solidFill>
                <a:sym typeface="Symbol" pitchFamily="18" charset="2"/>
              </a:rPr>
              <a:t>[x/2*x+1]  2*x+1==y+2  2*x+1&lt;4z&gt;5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標題 1">
            <a:extLst>
              <a:ext uri="{FF2B5EF4-FFF2-40B4-BE49-F238E27FC236}">
                <a16:creationId xmlns:a16="http://schemas.microsoft.com/office/drawing/2014/main" id="{837C8195-BE5F-4494-B151-39EA46350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404483" name="內容版面配置區 2">
            <a:extLst>
              <a:ext uri="{FF2B5EF4-FFF2-40B4-BE49-F238E27FC236}">
                <a16:creationId xmlns:a16="http://schemas.microsoft.com/office/drawing/2014/main" id="{A1630F3A-96D0-4E8D-8587-6A52A10B6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7630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r</a:t>
            </a:r>
            <a:r>
              <a:rPr lang="en-US" altLang="zh-TW" sz="2800" baseline="-25000"/>
              <a:t>1</a:t>
            </a:r>
            <a:r>
              <a:rPr lang="en-US" altLang="zh-TW" sz="2800"/>
              <a:t>, r</a:t>
            </a:r>
            <a:r>
              <a:rPr lang="en-US" altLang="zh-TW" sz="2800" baseline="-25000"/>
              <a:t>2</a:t>
            </a:r>
            <a:r>
              <a:rPr lang="en-US" altLang="zh-TW" sz="2800"/>
              <a:t>, …, r</a:t>
            </a:r>
            <a:r>
              <a:rPr lang="en-US" altLang="zh-TW" sz="2800" baseline="-25000"/>
              <a:t>m</a:t>
            </a:r>
            <a:r>
              <a:rPr lang="zh-TW" altLang="en-US" sz="2800"/>
              <a:t> </a:t>
            </a:r>
            <a:r>
              <a:rPr lang="en-US" altLang="zh-TW" sz="2800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r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: when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) may</a:t>
            </a:r>
            <a:r>
              <a:rPr lang="en-US" altLang="zh-TW" sz="2800"/>
              <a:t> s</a:t>
            </a:r>
            <a:r>
              <a:rPr lang="en-US" altLang="zh-TW" sz="2800" baseline="-25000"/>
              <a:t>k</a:t>
            </a:r>
            <a:r>
              <a:rPr lang="en-US" altLang="zh-TW" sz="2800"/>
              <a:t>;</a:t>
            </a:r>
            <a:endParaRPr lang="en-US" altLang="zh-TW" sz="2800">
              <a:solidFill>
                <a:srgbClr val="FF0000"/>
              </a:solidFill>
            </a:endParaRP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What is </a:t>
            </a:r>
            <a:r>
              <a:rPr lang="en-US" altLang="zh-TW" sz="2800">
                <a:sym typeface="Symbol" panose="05050102010706020507" pitchFamily="18" charset="2"/>
              </a:rPr>
              <a:t>pre(s</a:t>
            </a:r>
            <a:r>
              <a:rPr lang="en-US" altLang="zh-TW" sz="5400">
                <a:sym typeface="Symbol" panose="05050102010706020507" pitchFamily="18" charset="2"/>
              </a:rPr>
              <a:t>,</a:t>
            </a:r>
            <a:r>
              <a:rPr lang="en-US" altLang="zh-TW" sz="2800">
                <a:sym typeface="Symbol" panose="05050102010706020507" pitchFamily="18" charset="2"/>
              </a:rPr>
              <a:t>b) ? </a:t>
            </a:r>
          </a:p>
          <a:p>
            <a:pPr>
              <a:lnSpc>
                <a:spcPts val="4800"/>
              </a:lnSpc>
            </a:pPr>
            <a:r>
              <a:rPr lang="en-US" altLang="zh-TW" sz="2800">
                <a:sym typeface="Symbol" panose="05050102010706020507" pitchFamily="18" charset="2"/>
              </a:rPr>
              <a:t>pre( </a:t>
            </a:r>
            <a:r>
              <a:rPr lang="en-US" altLang="zh-TW" sz="2800" i="1">
                <a:sym typeface="Symbol" panose="05050102010706020507" pitchFamily="18" charset="2"/>
              </a:rPr>
              <a:t>x</a:t>
            </a:r>
            <a:r>
              <a:rPr lang="en-US" altLang="zh-TW" sz="2800">
                <a:sym typeface="Symbol" panose="05050102010706020507" pitchFamily="18" charset="2"/>
              </a:rPr>
              <a:t> = </a:t>
            </a:r>
            <a:r>
              <a:rPr lang="en-US" altLang="zh-TW" sz="2800" i="1">
                <a:sym typeface="Symbol" panose="05050102010706020507" pitchFamily="18" charset="2"/>
              </a:rPr>
              <a:t>E</a:t>
            </a:r>
            <a:r>
              <a:rPr lang="en-US" altLang="zh-TW" sz="2800">
                <a:sym typeface="Symbol" panose="05050102010706020507" pitchFamily="18" charset="2"/>
              </a:rPr>
              <a:t>;, b)   b[x/E]</a:t>
            </a:r>
          </a:p>
          <a:p>
            <a:pPr>
              <a:lnSpc>
                <a:spcPts val="4800"/>
              </a:lnSpc>
            </a:pPr>
            <a:r>
              <a:rPr lang="en-US" altLang="zh-TW" sz="2800">
                <a:sym typeface="Symbol" panose="05050102010706020507" pitchFamily="18" charset="2"/>
              </a:rPr>
              <a:t>pre(s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, b)  pre(s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 pre(s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, b)) </a:t>
            </a:r>
          </a:p>
          <a:p>
            <a:pPr>
              <a:lnSpc>
                <a:spcPts val="4800"/>
              </a:lnSpc>
            </a:pPr>
            <a:r>
              <a:rPr lang="en-US" altLang="zh-TW" sz="2800">
                <a:sym typeface="Symbol" panose="05050102010706020507" pitchFamily="18" charset="2"/>
              </a:rPr>
              <a:t>pre(if (B) 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else 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)  (Bpre(s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 b))(Bpre(s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,b)) </a:t>
            </a:r>
          </a:p>
          <a:p>
            <a:pPr>
              <a:lnSpc>
                <a:spcPts val="4800"/>
              </a:lnSpc>
            </a:pPr>
            <a:r>
              <a:rPr lang="en-US" altLang="zh-TW" sz="2800">
                <a:sym typeface="Symbol" panose="05050102010706020507" pitchFamily="18" charset="2"/>
              </a:rPr>
              <a:t>pre(while (B) s, b)  ….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4484" name="投影片編號版面配置區 3">
            <a:extLst>
              <a:ext uri="{FF2B5EF4-FFF2-40B4-BE49-F238E27FC236}">
                <a16:creationId xmlns:a16="http://schemas.microsoft.com/office/drawing/2014/main" id="{C5800315-9072-49CF-B75F-2781F0C8D7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73B64D-95E4-4571-AFFF-CBCA30E3885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916DE733-BB31-4FB1-9191-AE655CC7F16B}"/>
              </a:ext>
            </a:extLst>
          </p:cNvPr>
          <p:cNvSpPr/>
          <p:nvPr/>
        </p:nvSpPr>
        <p:spPr>
          <a:xfrm>
            <a:off x="4724400" y="2667000"/>
            <a:ext cx="4191000" cy="762000"/>
          </a:xfrm>
          <a:prstGeom prst="wedgeRectCallout">
            <a:avLst>
              <a:gd name="adj1" fmla="val -57154"/>
              <a:gd name="adj2" fmla="val 83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new expression obtained from b by replacing every occurrence of x with E. </a:t>
            </a:r>
            <a:endParaRPr lang="zh-TW" altLang="en-US" dirty="0"/>
          </a:p>
        </p:txBody>
      </p:sp>
      <p:sp>
        <p:nvSpPr>
          <p:cNvPr id="6" name="矩形圖說文字 5">
            <a:extLst>
              <a:ext uri="{FF2B5EF4-FFF2-40B4-BE49-F238E27FC236}">
                <a16:creationId xmlns:a16="http://schemas.microsoft.com/office/drawing/2014/main" id="{017BB942-1811-42CB-8892-9E5FAE5CD725}"/>
              </a:ext>
            </a:extLst>
          </p:cNvPr>
          <p:cNvSpPr/>
          <p:nvPr/>
        </p:nvSpPr>
        <p:spPr>
          <a:xfrm>
            <a:off x="5715000" y="3657600"/>
            <a:ext cx="3657600" cy="1066800"/>
          </a:xfrm>
          <a:prstGeom prst="wedgeRectCallout">
            <a:avLst>
              <a:gd name="adj1" fmla="val -85661"/>
              <a:gd name="adj2" fmla="val -375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000" dirty="0"/>
              <a:t>Ex</a:t>
            </a:r>
            <a:r>
              <a:rPr lang="en-US" altLang="zh-TW" sz="2000" dirty="0">
                <a:solidFill>
                  <a:schemeClr val="bg1"/>
                </a:solidFill>
              </a:rPr>
              <a:t>. the precondition to x=</a:t>
            </a:r>
            <a:r>
              <a:rPr lang="en-US" altLang="zh-TW" sz="2000" dirty="0" err="1">
                <a:solidFill>
                  <a:schemeClr val="bg1"/>
                </a:solidFill>
              </a:rPr>
              <a:t>x+z</a:t>
            </a:r>
            <a:r>
              <a:rPr lang="en-US" altLang="zh-TW" sz="2000" dirty="0">
                <a:solidFill>
                  <a:schemeClr val="bg1"/>
                </a:solidFill>
              </a:rPr>
              <a:t>; </a:t>
            </a:r>
          </a:p>
          <a:p>
            <a:pPr eaLnBrk="1" hangingPunct="1">
              <a:defRPr/>
            </a:pPr>
            <a:r>
              <a:rPr lang="en-US" altLang="zh-TW" sz="2000" dirty="0">
                <a:solidFill>
                  <a:schemeClr val="bg1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(x==y+2</a:t>
            </a:r>
            <a:r>
              <a:rPr lang="en-US" altLang="zh-TW" sz="2000" b="1" dirty="0">
                <a:solidFill>
                  <a:srgbClr val="FF0000"/>
                </a:solidFill>
                <a:sym typeface="Symbol" pitchFamily="18" charset="2"/>
              </a:rPr>
              <a:t>  x&lt;4z&gt;5) </a:t>
            </a:r>
            <a:r>
              <a:rPr lang="en-US" altLang="zh-TW" sz="2000" dirty="0">
                <a:solidFill>
                  <a:schemeClr val="bg1"/>
                </a:solidFill>
                <a:sym typeface="Symbol" pitchFamily="18" charset="2"/>
              </a:rPr>
              <a:t>[x/</a:t>
            </a:r>
            <a:r>
              <a:rPr lang="en-US" altLang="zh-TW" sz="20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000" dirty="0">
                <a:solidFill>
                  <a:schemeClr val="bg1"/>
                </a:solidFill>
                <a:sym typeface="Symbol" pitchFamily="18" charset="2"/>
              </a:rPr>
              <a:t>]</a:t>
            </a:r>
          </a:p>
          <a:p>
            <a:pPr eaLnBrk="1" hangingPunct="1">
              <a:defRPr/>
            </a:pPr>
            <a:r>
              <a:rPr lang="en-US" altLang="zh-TW" sz="2000" dirty="0">
                <a:solidFill>
                  <a:schemeClr val="bg1"/>
                </a:solidFill>
                <a:sym typeface="Symbol" pitchFamily="18" charset="2"/>
              </a:rPr>
              <a:t> </a:t>
            </a:r>
            <a:r>
              <a:rPr lang="en-US" altLang="zh-TW" sz="20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000" dirty="0">
                <a:solidFill>
                  <a:schemeClr val="bg1"/>
                </a:solidFill>
                <a:sym typeface="Symbol" pitchFamily="18" charset="2"/>
              </a:rPr>
              <a:t>==y+2  </a:t>
            </a:r>
            <a:r>
              <a:rPr lang="en-US" altLang="zh-TW" sz="2000" dirty="0" err="1">
                <a:solidFill>
                  <a:schemeClr val="bg1"/>
                </a:solidFill>
                <a:sym typeface="Symbol" pitchFamily="18" charset="2"/>
              </a:rPr>
              <a:t>x+z</a:t>
            </a:r>
            <a:r>
              <a:rPr lang="en-US" altLang="zh-TW" sz="2000" dirty="0">
                <a:solidFill>
                  <a:schemeClr val="bg1"/>
                </a:solidFill>
                <a:sym typeface="Symbol" pitchFamily="18" charset="2"/>
              </a:rPr>
              <a:t>&lt;4z&gt;5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標題 1">
            <a:extLst>
              <a:ext uri="{FF2B5EF4-FFF2-40B4-BE49-F238E27FC236}">
                <a16:creationId xmlns:a16="http://schemas.microsoft.com/office/drawing/2014/main" id="{A849C3E8-4E61-4D7B-B347-8A5AA7A99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406531" name="內容版面配置區 2">
            <a:extLst>
              <a:ext uri="{FF2B5EF4-FFF2-40B4-BE49-F238E27FC236}">
                <a16:creationId xmlns:a16="http://schemas.microsoft.com/office/drawing/2014/main" id="{C9CE469B-5457-4E82-92B9-7D39B996A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4582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800"/>
              <a:t>Given a set of rules r</a:t>
            </a:r>
            <a:r>
              <a:rPr lang="en-US" altLang="zh-TW" sz="2800" baseline="-25000"/>
              <a:t>1</a:t>
            </a:r>
            <a:r>
              <a:rPr lang="en-US" altLang="zh-TW" sz="2800"/>
              <a:t>, r</a:t>
            </a:r>
            <a:r>
              <a:rPr lang="en-US" altLang="zh-TW" sz="2800" baseline="-25000"/>
              <a:t>2</a:t>
            </a:r>
            <a:r>
              <a:rPr lang="en-US" altLang="zh-TW" sz="2800"/>
              <a:t>, …, r</a:t>
            </a:r>
            <a:r>
              <a:rPr lang="en-US" altLang="zh-TW" sz="2800" baseline="-25000"/>
              <a:t>m</a:t>
            </a:r>
            <a:r>
              <a:rPr lang="zh-TW" altLang="en-US" sz="2800"/>
              <a:t> </a:t>
            </a:r>
            <a:r>
              <a:rPr lang="en-US" altLang="zh-TW" sz="2800"/>
              <a:t>of the form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r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: when (</a:t>
            </a:r>
            <a:r>
              <a:rPr lang="en-US" altLang="zh-TW" sz="2800" baseline="-25000"/>
              <a:t>k</a:t>
            </a:r>
            <a:r>
              <a:rPr lang="en-US" altLang="zh-TW" sz="2800">
                <a:sym typeface="Symbol" panose="05050102010706020507" pitchFamily="18" charset="2"/>
              </a:rPr>
              <a:t>) may</a:t>
            </a:r>
            <a:r>
              <a:rPr lang="en-US" altLang="zh-TW" sz="2800"/>
              <a:t> s</a:t>
            </a:r>
            <a:r>
              <a:rPr lang="en-US" altLang="zh-TW" sz="2800" baseline="-25000"/>
              <a:t>k</a:t>
            </a:r>
            <a:r>
              <a:rPr lang="en-US" altLang="zh-TW" sz="2800"/>
              <a:t>;</a:t>
            </a:r>
            <a:endParaRPr lang="en-US" altLang="zh-TW" sz="2800">
              <a:solidFill>
                <a:srgbClr val="FF0000"/>
              </a:solidFill>
            </a:endParaRP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What is </a:t>
            </a:r>
            <a:r>
              <a:rPr lang="en-US" altLang="zh-TW" sz="2800">
                <a:sym typeface="Symbol" panose="05050102010706020507" pitchFamily="18" charset="2"/>
              </a:rPr>
              <a:t>pre(s</a:t>
            </a:r>
            <a:r>
              <a:rPr lang="en-US" altLang="zh-TW" sz="5400">
                <a:sym typeface="Symbol" panose="05050102010706020507" pitchFamily="18" charset="2"/>
              </a:rPr>
              <a:t>,</a:t>
            </a:r>
            <a:r>
              <a:rPr lang="en-US" altLang="zh-TW" sz="2800">
                <a:sym typeface="Symbol" panose="05050102010706020507" pitchFamily="18" charset="2"/>
              </a:rPr>
              <a:t>b) ? </a:t>
            </a:r>
          </a:p>
          <a:p>
            <a:pPr lvl="1"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pre(while (K) s, b)  formula L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L</a:t>
            </a:r>
            <a:r>
              <a:rPr lang="en-US" altLang="zh-TW" sz="2800" baseline="-25000">
                <a:sym typeface="Symbol" panose="05050102010706020507" pitchFamily="18" charset="2"/>
              </a:rPr>
              <a:t>2</a:t>
            </a:r>
            <a:r>
              <a:rPr lang="en-US" altLang="zh-TW" sz="2800">
                <a:sym typeface="Symbol" panose="05050102010706020507" pitchFamily="18" charset="2"/>
              </a:rPr>
              <a:t> for </a:t>
            </a:r>
          </a:p>
          <a:p>
            <a:pPr lvl="1"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L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: those states that reach Kb with finite steps of s through states in K; and </a:t>
            </a:r>
          </a:p>
          <a:p>
            <a:pPr lvl="1"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L</a:t>
            </a:r>
            <a:r>
              <a:rPr lang="en-US" altLang="zh-TW" sz="2400" baseline="-25000">
                <a:sym typeface="Symbol" panose="05050102010706020507" pitchFamily="18" charset="2"/>
              </a:rPr>
              <a:t>2</a:t>
            </a:r>
            <a:r>
              <a:rPr lang="en-US" altLang="zh-TW" sz="2400">
                <a:sym typeface="Symbol" panose="05050102010706020507" pitchFamily="18" charset="2"/>
              </a:rPr>
              <a:t>: those states that never leave K with steps of s.  </a:t>
            </a: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06532" name="投影片編號版面配置區 3">
            <a:extLst>
              <a:ext uri="{FF2B5EF4-FFF2-40B4-BE49-F238E27FC236}">
                <a16:creationId xmlns:a16="http://schemas.microsoft.com/office/drawing/2014/main" id="{AEF62777-08B9-4597-B464-9F6FD7911D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59D32E-BEAA-463E-AAB4-34D892CA41B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標題 1">
            <a:extLst>
              <a:ext uri="{FF2B5EF4-FFF2-40B4-BE49-F238E27FC236}">
                <a16:creationId xmlns:a16="http://schemas.microsoft.com/office/drawing/2014/main" id="{243E2D51-E0CA-4CC4-8253-3967FEDA2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724EEF-96F2-40DF-A6B9-A4D8A849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30725"/>
          </a:xfrm>
        </p:spPr>
        <p:txBody>
          <a:bodyPr/>
          <a:lstStyle/>
          <a:p>
            <a:pPr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/>
              </a:rPr>
              <a:t>L</a:t>
            </a:r>
            <a:r>
              <a:rPr lang="en-US" altLang="zh-TW" sz="2800" baseline="-25000" dirty="0">
                <a:sym typeface="Symbol"/>
              </a:rPr>
              <a:t>1</a:t>
            </a:r>
            <a:r>
              <a:rPr lang="en-US" altLang="zh-TW" sz="2800" dirty="0">
                <a:sym typeface="Symbol"/>
              </a:rPr>
              <a:t>: those states that reach </a:t>
            </a:r>
            <a:r>
              <a:rPr lang="en-US" altLang="zh-TW" sz="2800" dirty="0" err="1">
                <a:sym typeface="Symbol"/>
              </a:rPr>
              <a:t>Kb</a:t>
            </a:r>
            <a:r>
              <a:rPr lang="en-US" altLang="zh-TW" sz="2800" dirty="0">
                <a:sym typeface="Symbol"/>
              </a:rPr>
              <a:t> with finite steps of s through states in K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800" dirty="0" err="1">
                <a:solidFill>
                  <a:srgbClr val="0000FF"/>
                </a:solidFill>
                <a:sym typeface="Symbol"/>
              </a:rPr>
              <a:t>Kb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=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(</a:t>
            </a:r>
            <a:r>
              <a:rPr lang="en-US" altLang="zh-TW" sz="2800" dirty="0" err="1">
                <a:solidFill>
                  <a:srgbClr val="0000FF"/>
                </a:solidFill>
                <a:sym typeface="Symbol"/>
              </a:rPr>
              <a:t>Kpre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(s,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));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return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ym typeface="Symbol" pitchFamily="18" charset="2"/>
              </a:rPr>
              <a:t>; </a:t>
            </a:r>
          </a:p>
        </p:txBody>
      </p:sp>
      <p:sp>
        <p:nvSpPr>
          <p:cNvPr id="408580" name="投影片編號版面配置區 3">
            <a:extLst>
              <a:ext uri="{FF2B5EF4-FFF2-40B4-BE49-F238E27FC236}">
                <a16:creationId xmlns:a16="http://schemas.microsoft.com/office/drawing/2014/main" id="{1C89F1A2-9594-4719-949F-E85370EF58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752860-E3C6-415C-8E53-6DF78DF437C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F71DE4-DBD4-44E5-B5E6-B49CADF0270C}"/>
              </a:ext>
            </a:extLst>
          </p:cNvPr>
          <p:cNvSpPr/>
          <p:nvPr/>
        </p:nvSpPr>
        <p:spPr>
          <a:xfrm>
            <a:off x="3429000" y="3276600"/>
            <a:ext cx="5410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/>
              <a:t>also a least </a:t>
            </a:r>
            <a:r>
              <a:rPr lang="en-US" altLang="zh-TW" sz="2800" dirty="0" err="1"/>
              <a:t>fixpoint</a:t>
            </a:r>
            <a:r>
              <a:rPr lang="en-US" altLang="zh-TW" sz="2800" dirty="0"/>
              <a:t> procedure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標題 1">
            <a:extLst>
              <a:ext uri="{FF2B5EF4-FFF2-40B4-BE49-F238E27FC236}">
                <a16:creationId xmlns:a16="http://schemas.microsoft.com/office/drawing/2014/main" id="{45122AB6-BA2A-4539-B710-98CB12DA6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Precondition to b </a:t>
            </a:r>
            <a:br>
              <a:rPr lang="en-US" altLang="zh-TW"/>
            </a:br>
            <a:r>
              <a:rPr lang="en-US" altLang="zh-TW"/>
              <a:t>  through while (K) s; 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2FB2B7-FD3A-475D-9EC7-F89856664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/>
              <a:t>Example: </a:t>
            </a:r>
            <a:r>
              <a:rPr lang="en-US" altLang="zh-TW" sz="2800" dirty="0"/>
              <a:t>b </a:t>
            </a:r>
            <a:r>
              <a:rPr lang="en-US" altLang="zh-TW" sz="2800" dirty="0">
                <a:sym typeface="Symbol"/>
              </a:rPr>
              <a:t> x==2  y == 3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/>
              <a:t>while ( x &lt; y)  x = x+1;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/>
              <a:t>L1 computation.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3200" dirty="0">
                <a:sym typeface="Symbol"/>
              </a:rPr>
              <a:t>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x&gt;=y </a:t>
            </a:r>
            <a:r>
              <a:rPr lang="en-US" altLang="zh-TW" sz="3200" dirty="0">
                <a:sym typeface="Symbol"/>
              </a:rPr>
              <a:t> x==2  y==3  false 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; k = 1;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false  (x&lt;y  pre(x=x+1, false))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false  (x&lt;y  false)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false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</a:t>
            </a:r>
            <a:r>
              <a:rPr lang="en-US" altLang="zh-TW" sz="2800" dirty="0">
                <a:sym typeface="Symbol"/>
              </a:rPr>
              <a:t> </a:t>
            </a:r>
            <a:endParaRPr lang="en-US" altLang="zh-TW" sz="2800" dirty="0"/>
          </a:p>
          <a:p>
            <a:pPr>
              <a:buFont typeface="Wingdings" panose="05000000000000000000" pitchFamily="2" charset="2"/>
              <a:buNone/>
              <a:defRPr/>
            </a:pPr>
            <a:endParaRPr lang="zh-TW" altLang="en-US" dirty="0"/>
          </a:p>
        </p:txBody>
      </p:sp>
      <p:sp>
        <p:nvSpPr>
          <p:cNvPr id="410628" name="投影片編號版面配置區 3">
            <a:extLst>
              <a:ext uri="{FF2B5EF4-FFF2-40B4-BE49-F238E27FC236}">
                <a16:creationId xmlns:a16="http://schemas.microsoft.com/office/drawing/2014/main" id="{76AB2AD7-D328-46B8-B993-A4BB8A8DFF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E96566-E27D-464E-820B-D0F671A7918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8F1DA2F-90AD-4E2B-B534-D178CB3D5F43}"/>
              </a:ext>
            </a:extLst>
          </p:cNvPr>
          <p:cNvSpPr txBox="1"/>
          <p:nvPr/>
        </p:nvSpPr>
        <p:spPr>
          <a:xfrm>
            <a:off x="5638800" y="381000"/>
            <a:ext cx="3152775" cy="20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dirty="0" err="1">
                <a:solidFill>
                  <a:srgbClr val="0000FF"/>
                </a:solidFill>
                <a:sym typeface="Symbol"/>
              </a:rPr>
              <a:t>Kb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(</a:t>
            </a:r>
            <a:r>
              <a:rPr lang="en-US" altLang="zh-TW" dirty="0" err="1">
                <a:solidFill>
                  <a:srgbClr val="0000FF"/>
                </a:solidFill>
                <a:sym typeface="Symbol"/>
              </a:rPr>
              <a:t>Kpre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(s,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));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return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ym typeface="Symbol" pitchFamily="18" charset="2"/>
              </a:rPr>
              <a:t>; </a:t>
            </a:r>
          </a:p>
          <a:p>
            <a:pPr eaLnBrk="1" hangingPunct="1"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標題 1">
            <a:extLst>
              <a:ext uri="{FF2B5EF4-FFF2-40B4-BE49-F238E27FC236}">
                <a16:creationId xmlns:a16="http://schemas.microsoft.com/office/drawing/2014/main" id="{2EF0B644-5341-4105-A3A4-B840B96DF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On-the-fly precondition calculation</a:t>
            </a:r>
            <a:br>
              <a:rPr lang="en-US" altLang="zh-TW"/>
            </a:br>
            <a:r>
              <a:rPr lang="en-US" altLang="zh-TW"/>
              <a:t>  with transition rules.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4E7FCC-AF03-44F3-BB75-2BDD9147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800" dirty="0"/>
              <a:t>Given a set of rules r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 r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 …, </a:t>
            </a:r>
            <a:r>
              <a:rPr lang="en-US" altLang="zh-TW" sz="2800" dirty="0" err="1"/>
              <a:t>r</a:t>
            </a:r>
            <a:r>
              <a:rPr lang="en-US" altLang="zh-TW" sz="2800" baseline="-25000" dirty="0" err="1"/>
              <a:t>m</a:t>
            </a:r>
            <a:r>
              <a:rPr lang="zh-TW" altLang="en-US" sz="2800" dirty="0"/>
              <a:t> </a:t>
            </a:r>
            <a:r>
              <a:rPr lang="en-US" altLang="zh-TW" sz="2800" dirty="0"/>
              <a:t>of the form</a:t>
            </a: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pre(while (K) s, b) </a:t>
            </a: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/>
              </a:rPr>
              <a:t>L</a:t>
            </a:r>
            <a:r>
              <a:rPr lang="en-US" altLang="zh-TW" sz="2800" baseline="-25000" dirty="0">
                <a:sym typeface="Symbol"/>
              </a:rPr>
              <a:t>2</a:t>
            </a:r>
            <a:r>
              <a:rPr lang="en-US" altLang="zh-TW" sz="2800" dirty="0">
                <a:sym typeface="Symbol"/>
              </a:rPr>
              <a:t>: those states that never leave K with steps of s.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sz="2800" dirty="0" err="1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 err="1">
                <a:solidFill>
                  <a:srgbClr val="0000FF"/>
                </a:solidFill>
                <a:sym typeface="Symbol"/>
              </a:rPr>
              <a:t>pre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(s,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ym typeface="Symbol" pitchFamily="18" charset="2"/>
              </a:rPr>
              <a:t>return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sz="2800" dirty="0">
                <a:sym typeface="Symbol" pitchFamily="18" charset="2"/>
              </a:rPr>
              <a:t>; </a:t>
            </a:r>
            <a:r>
              <a:rPr lang="en-US" altLang="zh-TW" sz="2800" dirty="0">
                <a:sym typeface="Symbol"/>
              </a:rPr>
              <a:t>  </a:t>
            </a:r>
            <a:endParaRPr lang="en-US" altLang="zh-TW" sz="2800" dirty="0">
              <a:sym typeface="Symbol" pitchFamily="18" charset="2"/>
            </a:endParaRPr>
          </a:p>
          <a:p>
            <a:pPr>
              <a:lnSpc>
                <a:spcPts val="48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11652" name="投影片編號版面配置區 3">
            <a:extLst>
              <a:ext uri="{FF2B5EF4-FFF2-40B4-BE49-F238E27FC236}">
                <a16:creationId xmlns:a16="http://schemas.microsoft.com/office/drawing/2014/main" id="{E4A9FBDF-E39A-4338-80EA-FF88AA2D30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6A49BD-CEE7-416A-86F7-DFBC63D2921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76CA7F-AF8A-4156-B35B-15B481054D7A}"/>
              </a:ext>
            </a:extLst>
          </p:cNvPr>
          <p:cNvSpPr/>
          <p:nvPr/>
        </p:nvSpPr>
        <p:spPr>
          <a:xfrm>
            <a:off x="3429000" y="3581400"/>
            <a:ext cx="5410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/>
              <a:t>a </a:t>
            </a:r>
            <a:r>
              <a:rPr lang="en-US" altLang="zh-TW" sz="2800" i="1" dirty="0"/>
              <a:t>greatest</a:t>
            </a:r>
            <a:r>
              <a:rPr lang="en-US" altLang="zh-TW" sz="2800" dirty="0"/>
              <a:t> </a:t>
            </a:r>
            <a:r>
              <a:rPr lang="en-US" altLang="zh-TW" sz="2800" dirty="0" err="1"/>
              <a:t>fixpoint</a:t>
            </a:r>
            <a:r>
              <a:rPr lang="en-US" altLang="zh-TW" sz="2800" dirty="0"/>
              <a:t> procedure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標題 1">
            <a:extLst>
              <a:ext uri="{FF2B5EF4-FFF2-40B4-BE49-F238E27FC236}">
                <a16:creationId xmlns:a16="http://schemas.microsoft.com/office/drawing/2014/main" id="{6F6672FA-324D-4260-A787-B2F6CAE19D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Precondition to b </a:t>
            </a:r>
            <a:br>
              <a:rPr lang="en-US" altLang="zh-TW"/>
            </a:br>
            <a:r>
              <a:rPr lang="en-US" altLang="zh-TW"/>
              <a:t>  through while (K) s; 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8EB38C-819D-4CE1-BB41-FC322A326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/>
              <a:t>Example:</a:t>
            </a:r>
            <a:endParaRPr lang="en-US" altLang="zh-TW" sz="2800" dirty="0">
              <a:sym typeface="Symbol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/>
              <a:t>while ( x&lt;y &amp;&amp; x&gt;0)  x = x+1;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lang="en-US" altLang="zh-TW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/>
              <a:t>L2 computation.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3200" dirty="0">
                <a:sym typeface="Symbol"/>
              </a:rPr>
              <a:t>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x&lt;</a:t>
            </a:r>
            <a:r>
              <a:rPr lang="en-US" altLang="zh-TW" sz="3200" dirty="0" err="1">
                <a:solidFill>
                  <a:srgbClr val="0000FF"/>
                </a:solidFill>
                <a:sym typeface="Symbol" pitchFamily="18" charset="2"/>
              </a:rPr>
              <a:t>y</a:t>
            </a:r>
            <a:r>
              <a:rPr lang="en-US" altLang="zh-TW" sz="3200" dirty="0" err="1">
                <a:sym typeface="Symbol"/>
              </a:rPr>
              <a:t>x</a:t>
            </a:r>
            <a:r>
              <a:rPr lang="en-US" altLang="zh-TW" sz="3200" dirty="0">
                <a:sym typeface="Symbol"/>
              </a:rPr>
              <a:t>&gt;0 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; k = 1;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x&lt;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pre(x=x+1, x&lt;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x+1&lt;yx+1&gt;0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x&gt;0  x+1&lt;y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lang="en-US" altLang="zh-TW" sz="2800" dirty="0">
              <a:sym typeface="Symbol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2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x+1&lt;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pre(x=x+1, x+1&lt;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x+1&lt;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x+2&lt;yx+1&gt;0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x&gt;0  x+2&lt;y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non-terminating for algorithms and protocols!</a:t>
            </a:r>
            <a:endParaRPr lang="en-US" altLang="zh-TW" sz="2800" dirty="0">
              <a:sym typeface="Symbol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TW" altLang="en-US" dirty="0"/>
          </a:p>
        </p:txBody>
      </p:sp>
      <p:sp>
        <p:nvSpPr>
          <p:cNvPr id="413700" name="投影片編號版面配置區 3">
            <a:extLst>
              <a:ext uri="{FF2B5EF4-FFF2-40B4-BE49-F238E27FC236}">
                <a16:creationId xmlns:a16="http://schemas.microsoft.com/office/drawing/2014/main" id="{7C2F2404-C328-43C9-843C-0DF9F8ABE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A9C1B-142A-41AB-8E56-C42CC10C7B4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F99B2A-CA92-42D6-A943-546FE107A0A1}"/>
              </a:ext>
            </a:extLst>
          </p:cNvPr>
          <p:cNvSpPr txBox="1"/>
          <p:nvPr/>
        </p:nvSpPr>
        <p:spPr>
          <a:xfrm>
            <a:off x="5638800" y="381000"/>
            <a:ext cx="2706688" cy="20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pre(s,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);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return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ym typeface="Symbol" pitchFamily="18" charset="2"/>
              </a:rPr>
              <a:t>; </a:t>
            </a:r>
            <a:r>
              <a:rPr lang="en-US" altLang="zh-TW" dirty="0">
                <a:sym typeface="Symbol"/>
              </a:rPr>
              <a:t>  </a:t>
            </a:r>
            <a:endParaRPr lang="en-US" altLang="zh-TW" dirty="0">
              <a:sym typeface="Symbol" pitchFamily="18" charset="2"/>
            </a:endParaRPr>
          </a:p>
          <a:p>
            <a:pPr eaLnBrk="1" hangingPunct="1"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標題 1">
            <a:extLst>
              <a:ext uri="{FF2B5EF4-FFF2-40B4-BE49-F238E27FC236}">
                <a16:creationId xmlns:a16="http://schemas.microsoft.com/office/drawing/2014/main" id="{394BFE9D-734B-4E38-BBE5-ABD66735D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Precondition to b </a:t>
            </a:r>
            <a:br>
              <a:rPr lang="en-US" altLang="zh-TW"/>
            </a:br>
            <a:r>
              <a:rPr lang="en-US" altLang="zh-TW"/>
              <a:t>  through while (K) s; 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E0E9CA-3B92-4549-9658-560D97E02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/>
              <a:t>Example:</a:t>
            </a:r>
            <a:endParaRPr lang="en-US" altLang="zh-TW" sz="2800" dirty="0">
              <a:sym typeface="Symbol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/>
              <a:t>while ( x&gt;y &amp;&amp; x&gt;0)  x = x+1;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lang="en-US" altLang="zh-TW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/>
              <a:t>L2 computation.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3200" dirty="0">
                <a:sym typeface="Symbol"/>
              </a:rPr>
              <a:t>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x&gt;</a:t>
            </a:r>
            <a:r>
              <a:rPr lang="en-US" altLang="zh-TW" sz="3200" dirty="0" err="1">
                <a:solidFill>
                  <a:srgbClr val="0000FF"/>
                </a:solidFill>
                <a:sym typeface="Symbol" pitchFamily="18" charset="2"/>
              </a:rPr>
              <a:t>y</a:t>
            </a:r>
            <a:r>
              <a:rPr lang="en-US" altLang="zh-TW" sz="3200" dirty="0" err="1">
                <a:sym typeface="Symbol"/>
              </a:rPr>
              <a:t>x</a:t>
            </a:r>
            <a:r>
              <a:rPr lang="en-US" altLang="zh-TW" sz="3200" dirty="0">
                <a:sym typeface="Symbol"/>
              </a:rPr>
              <a:t>&gt;0 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; k = 1;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3200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zh-TW" sz="32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 x&gt;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pre(x=x+1, x&gt;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x&gt;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  x+1&gt;yx+1&gt;0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x&gt;y  x&gt;0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endParaRPr lang="en-US" altLang="zh-TW" sz="2800" dirty="0">
              <a:sym typeface="Symbol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terminating for algorithms and protocols!</a:t>
            </a:r>
            <a:endParaRPr lang="en-US" altLang="zh-TW" sz="2800" dirty="0">
              <a:sym typeface="Symbol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TW" altLang="en-US" dirty="0"/>
          </a:p>
        </p:txBody>
      </p:sp>
      <p:sp>
        <p:nvSpPr>
          <p:cNvPr id="414724" name="投影片編號版面配置區 3">
            <a:extLst>
              <a:ext uri="{FF2B5EF4-FFF2-40B4-BE49-F238E27FC236}">
                <a16:creationId xmlns:a16="http://schemas.microsoft.com/office/drawing/2014/main" id="{CDFBDCDF-1E53-4A81-9942-D11D6E545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AEE536-1D07-41AD-BAF5-97A9F3AF704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710680A-CEFE-4D82-85E4-CB5CD60538CD}"/>
              </a:ext>
            </a:extLst>
          </p:cNvPr>
          <p:cNvSpPr txBox="1"/>
          <p:nvPr/>
        </p:nvSpPr>
        <p:spPr>
          <a:xfrm>
            <a:off x="5638800" y="381000"/>
            <a:ext cx="2479675" cy="20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 err="1">
                <a:solidFill>
                  <a:srgbClr val="0000FF"/>
                </a:solidFill>
                <a:sym typeface="Symbol"/>
              </a:rPr>
              <a:t>pre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(s,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);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return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ym typeface="Symbol" pitchFamily="18" charset="2"/>
              </a:rPr>
              <a:t>; </a:t>
            </a:r>
            <a:r>
              <a:rPr lang="en-US" altLang="zh-TW" dirty="0">
                <a:sym typeface="Symbol"/>
              </a:rPr>
              <a:t>  </a:t>
            </a:r>
            <a:endParaRPr lang="en-US" altLang="zh-TW" dirty="0">
              <a:sym typeface="Symbol" pitchFamily="18" charset="2"/>
            </a:endParaRPr>
          </a:p>
          <a:p>
            <a:pPr eaLnBrk="1" hangingPunct="1"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標題 1">
            <a:extLst>
              <a:ext uri="{FF2B5EF4-FFF2-40B4-BE49-F238E27FC236}">
                <a16:creationId xmlns:a16="http://schemas.microsoft.com/office/drawing/2014/main" id="{3C7FF681-2B7D-4CF3-A4BA-3BBB89E9C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Precondition to b </a:t>
            </a:r>
            <a:br>
              <a:rPr lang="en-US" altLang="zh-TW"/>
            </a:br>
            <a:r>
              <a:rPr lang="en-US" altLang="zh-TW"/>
              <a:t>  through while (K) s; 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9010AA-6A99-4EC3-BD86-4BCCAE920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307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/>
              <a:t>Example:</a:t>
            </a:r>
            <a:r>
              <a:rPr lang="en-US" altLang="zh-TW" sz="3200" dirty="0"/>
              <a:t> b </a:t>
            </a:r>
            <a:r>
              <a:rPr lang="en-US" altLang="zh-TW" sz="3200" dirty="0">
                <a:sym typeface="Symbol"/>
              </a:rPr>
              <a:t> x==2y==3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200" dirty="0"/>
              <a:t>while ( x&gt;y &amp;&amp; x&gt;0)  x = x+1;</a:t>
            </a:r>
            <a:endParaRPr lang="en-US" altLang="zh-TW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/>
              <a:t>L</a:t>
            </a:r>
            <a:r>
              <a:rPr lang="en-US" altLang="zh-TW" baseline="-25000" dirty="0"/>
              <a:t>1</a:t>
            </a:r>
            <a:r>
              <a:rPr lang="en-US" altLang="zh-TW" dirty="0"/>
              <a:t> computation.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(x&lt;=</a:t>
            </a:r>
            <a:r>
              <a:rPr lang="en-US" altLang="zh-TW" sz="2800" dirty="0" err="1">
                <a:solidFill>
                  <a:srgbClr val="0000FF"/>
                </a:solidFill>
                <a:sym typeface="Symbol" pitchFamily="18" charset="2"/>
              </a:rPr>
              <a:t>y</a:t>
            </a:r>
            <a:r>
              <a:rPr lang="en-US" altLang="zh-TW" sz="2800" dirty="0" err="1">
                <a:solidFill>
                  <a:srgbClr val="0000FF"/>
                </a:solidFill>
                <a:sym typeface="Symbol"/>
              </a:rPr>
              <a:t>x</a:t>
            </a:r>
            <a:r>
              <a:rPr lang="en-US" altLang="zh-TW" sz="2800" dirty="0">
                <a:solidFill>
                  <a:srgbClr val="0000FF"/>
                </a:solidFill>
                <a:sym typeface="Symbol"/>
              </a:rPr>
              <a:t>&lt;=0)</a:t>
            </a:r>
            <a:r>
              <a:rPr lang="en-US" altLang="zh-TW" sz="2800" dirty="0">
                <a:sym typeface="Symbol"/>
              </a:rPr>
              <a:t>x==2y==3 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x==2y==3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sz="2800" baseline="-25000" dirty="0">
                <a:solidFill>
                  <a:srgbClr val="0000FF"/>
                </a:solidFill>
                <a:sym typeface="Symbol" pitchFamily="18" charset="2"/>
              </a:rPr>
              <a:t>1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800" dirty="0">
                <a:sym typeface="Symbol"/>
              </a:rPr>
              <a:t>x==2y==3)(x&gt;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&gt;0pre(x=x+1,x==2y==3))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800" dirty="0">
                <a:sym typeface="Symbol"/>
              </a:rPr>
              <a:t>x==2y==3)(x&gt;</a:t>
            </a:r>
            <a:r>
              <a:rPr lang="en-US" altLang="zh-TW" sz="2800" dirty="0" err="1">
                <a:sym typeface="Symbol"/>
              </a:rPr>
              <a:t>yx</a:t>
            </a:r>
            <a:r>
              <a:rPr lang="en-US" altLang="zh-TW" sz="2800" dirty="0">
                <a:sym typeface="Symbol"/>
              </a:rPr>
              <a:t>&gt;0x==1y==3)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</a:t>
            </a:r>
            <a:r>
              <a:rPr lang="en-US" altLang="zh-TW" sz="2800" dirty="0">
                <a:sym typeface="Symbol"/>
              </a:rPr>
              <a:t>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800" dirty="0">
                <a:sym typeface="Symbol"/>
              </a:rPr>
              <a:t>x==2y==3)  false</a:t>
            </a:r>
            <a:endParaRPr lang="en-US" altLang="zh-TW" sz="28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     </a:t>
            </a:r>
            <a:r>
              <a:rPr lang="en-US" altLang="zh-TW" sz="2800" dirty="0">
                <a:sym typeface="Symbol"/>
              </a:rPr>
              <a:t> x==2y==3 </a:t>
            </a:r>
            <a:endParaRPr lang="en-US" altLang="zh-TW" sz="2800" dirty="0"/>
          </a:p>
          <a:p>
            <a:pPr>
              <a:buFont typeface="Wingdings" panose="05000000000000000000" pitchFamily="2" charset="2"/>
              <a:buNone/>
              <a:defRPr/>
            </a:pPr>
            <a:endParaRPr lang="zh-TW" altLang="en-US" sz="2800" dirty="0"/>
          </a:p>
        </p:txBody>
      </p:sp>
      <p:sp>
        <p:nvSpPr>
          <p:cNvPr id="415748" name="投影片編號版面配置區 3">
            <a:extLst>
              <a:ext uri="{FF2B5EF4-FFF2-40B4-BE49-F238E27FC236}">
                <a16:creationId xmlns:a16="http://schemas.microsoft.com/office/drawing/2014/main" id="{1F3FC28A-BC33-474E-A358-9FA0B404D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F59940-78DB-4DD8-B007-F919B253DA4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6A45CB1-A853-450B-8E3C-CE656AF9EF34}"/>
              </a:ext>
            </a:extLst>
          </p:cNvPr>
          <p:cNvSpPr txBox="1"/>
          <p:nvPr/>
        </p:nvSpPr>
        <p:spPr>
          <a:xfrm>
            <a:off x="5638800" y="381000"/>
            <a:ext cx="3152775" cy="20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0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dirty="0" err="1">
                <a:solidFill>
                  <a:srgbClr val="0000FF"/>
                </a:solidFill>
                <a:sym typeface="Symbol"/>
              </a:rPr>
              <a:t>Kb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k = 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repeat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 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=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(</a:t>
            </a:r>
            <a:r>
              <a:rPr lang="en-US" altLang="zh-TW" dirty="0" err="1">
                <a:solidFill>
                  <a:srgbClr val="0000FF"/>
                </a:solidFill>
                <a:sym typeface="Symbol"/>
              </a:rPr>
              <a:t>Kpre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(s,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));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    k = k +1;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 until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  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k-1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; 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altLang="zh-TW" dirty="0">
                <a:sym typeface="Symbol" pitchFamily="18" charset="2"/>
              </a:rPr>
              <a:t>return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w</a:t>
            </a:r>
            <a:r>
              <a:rPr lang="en-US" altLang="zh-TW" baseline="-25000" dirty="0">
                <a:solidFill>
                  <a:srgbClr val="0000FF"/>
                </a:solidFill>
                <a:sym typeface="Symbol" pitchFamily="18" charset="2"/>
              </a:rPr>
              <a:t>k</a:t>
            </a:r>
            <a:r>
              <a:rPr lang="en-US" altLang="zh-TW" dirty="0">
                <a:sym typeface="Symbol" pitchFamily="18" charset="2"/>
              </a:rPr>
              <a:t>; </a:t>
            </a:r>
          </a:p>
          <a:p>
            <a:pPr eaLnBrk="1" hangingPunct="1">
              <a:defRPr/>
            </a:pPr>
            <a:endParaRPr lang="zh-TW" altLang="en-US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投影片編號版面配置區 5">
            <a:extLst>
              <a:ext uri="{FF2B5EF4-FFF2-40B4-BE49-F238E27FC236}">
                <a16:creationId xmlns:a16="http://schemas.microsoft.com/office/drawing/2014/main" id="{1E0ABA0A-69FF-4C61-A4E9-173F7993A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9EF018-8543-4BCC-B5F5-E71B9AF8216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16771" name="Rectangle 2">
            <a:extLst>
              <a:ext uri="{FF2B5EF4-FFF2-40B4-BE49-F238E27FC236}">
                <a16:creationId xmlns:a16="http://schemas.microsoft.com/office/drawing/2014/main" id="{532B28D3-7D31-41CB-AE82-34E24D6E0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safety analysis (backward)</a:t>
            </a:r>
            <a:br>
              <a:rPr lang="en-US" altLang="zh-TW"/>
            </a:br>
            <a:r>
              <a:rPr lang="en-US" altLang="zh-TW"/>
              <a:t>- without transition relation</a:t>
            </a:r>
          </a:p>
        </p:txBody>
      </p:sp>
      <p:sp>
        <p:nvSpPr>
          <p:cNvPr id="416772" name="Rectangle 3">
            <a:extLst>
              <a:ext uri="{FF2B5EF4-FFF2-40B4-BE49-F238E27FC236}">
                <a16:creationId xmlns:a16="http://schemas.microsoft.com/office/drawing/2014/main" id="{D7EE8A61-4940-41F9-8078-1AAB5FE64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98792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/>
              <a:t>Encode the states with variables 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.  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 as a proposition formula: S(x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/>
              <a:t>the risk state set as 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</a:rPr>
              <a:t>η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/>
              <a:t>)</a:t>
            </a:r>
            <a:endParaRPr lang="en-US" altLang="zh-TW" sz="2400"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I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precondition procedure pre(</a:t>
            </a:r>
            <a:r>
              <a:rPr lang="en-US" altLang="zh-TW" sz="2400"/>
              <a:t>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</a:t>
            </a:r>
            <a:r>
              <a:rPr lang="en-US" altLang="zh-TW" sz="2400">
                <a:solidFill>
                  <a:schemeClr val="accent1"/>
                </a:solidFill>
                <a:sym typeface="Symbol" panose="05050102010706020507" pitchFamily="18" charset="2"/>
              </a:rPr>
              <a:t></a:t>
            </a:r>
            <a:r>
              <a:rPr lang="el-GR" altLang="zh-TW" sz="2400">
                <a:solidFill>
                  <a:schemeClr val="accent1"/>
                </a:solidFill>
              </a:rPr>
              <a:t>η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k = 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repeat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 pre(b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k = k +1;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until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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I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))  false,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safe</a:t>
            </a:r>
            <a:r>
              <a:rPr lang="en-US" altLang="zh-TW" sz="2400">
                <a:sym typeface="Symbol" panose="05050102010706020507" pitchFamily="18" charset="2"/>
              </a:rPr>
              <a:t>’; 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risky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63287D-20FE-440F-95A9-186F93408FBE}"/>
              </a:ext>
            </a:extLst>
          </p:cNvPr>
          <p:cNvSpPr/>
          <p:nvPr/>
        </p:nvSpPr>
        <p:spPr>
          <a:xfrm>
            <a:off x="2895600" y="5562600"/>
            <a:ext cx="4267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800" dirty="0"/>
              <a:t>a least </a:t>
            </a:r>
            <a:r>
              <a:rPr lang="en-US" altLang="zh-TW" sz="2800" dirty="0" err="1"/>
              <a:t>fixpoint</a:t>
            </a:r>
            <a:r>
              <a:rPr lang="en-US" altLang="zh-TW" sz="2800" dirty="0"/>
              <a:t> procedure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投影片編號版面配置區 5">
            <a:extLst>
              <a:ext uri="{FF2B5EF4-FFF2-40B4-BE49-F238E27FC236}">
                <a16:creationId xmlns:a16="http://schemas.microsoft.com/office/drawing/2014/main" id="{ED8ACBB6-1DED-47F9-B045-3DA98B721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FA5B7A-172E-4121-AA0C-1A699F67A72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18819" name="Rectangle 2">
            <a:extLst>
              <a:ext uri="{FF2B5EF4-FFF2-40B4-BE49-F238E27FC236}">
                <a16:creationId xmlns:a16="http://schemas.microsoft.com/office/drawing/2014/main" id="{2C3D13D6-755C-4678-81AB-ECB5DBB0D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CTL </a:t>
            </a:r>
            <a:br>
              <a:rPr lang="en-US" altLang="zh-TW" sz="3800"/>
            </a:br>
            <a:r>
              <a:rPr lang="en-US" altLang="zh-TW" sz="3800"/>
              <a:t> - symbolic model-checking algorithm</a:t>
            </a:r>
          </a:p>
        </p:txBody>
      </p:sp>
      <p:sp>
        <p:nvSpPr>
          <p:cNvPr id="418820" name="Rectangle 3">
            <a:extLst>
              <a:ext uri="{FF2B5EF4-FFF2-40B4-BE49-F238E27FC236}">
                <a16:creationId xmlns:a16="http://schemas.microsoft.com/office/drawing/2014/main" id="{90AC75C5-C907-4845-AA0E-2B0CEC505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610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label(φ 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</a:rPr>
              <a:t>true</a:t>
            </a:r>
            <a:r>
              <a:rPr lang="en-US" altLang="zh-TW" sz="2800"/>
              <a:t>, return </a:t>
            </a:r>
            <a:r>
              <a:rPr lang="en-US" altLang="zh-TW" sz="2800">
                <a:sym typeface="Symbol" panose="05050102010706020507" pitchFamily="18" charset="2"/>
              </a:rPr>
              <a:t>s(x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</a:t>
            </a:r>
            <a:r>
              <a:rPr lang="en-US" altLang="zh-TW" sz="280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</a:rPr>
              <a:t>p</a:t>
            </a:r>
            <a:r>
              <a:rPr lang="en-US" altLang="zh-TW" sz="2800"/>
              <a:t>, return p</a:t>
            </a:r>
            <a:r>
              <a:rPr lang="en-US" altLang="zh-TW" sz="2800">
                <a:sym typeface="Symbol" panose="05050102010706020507" pitchFamily="18" charset="2"/>
              </a:rPr>
              <a:t>s(x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</a:t>
            </a:r>
            <a:r>
              <a:rPr lang="en-US" altLang="zh-TW" sz="280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</a:t>
            </a:r>
            <a:r>
              <a:rPr lang="en-US" altLang="zh-TW" sz="2800" b="1">
                <a:solidFill>
                  <a:srgbClr val="00B050"/>
                </a:solidFill>
              </a:rPr>
              <a:t>φ</a:t>
            </a:r>
            <a:r>
              <a:rPr lang="en-US" altLang="zh-TW" sz="2800"/>
              <a:t>, return </a:t>
            </a:r>
            <a:r>
              <a:rPr lang="en-US" altLang="zh-TW" sz="2800">
                <a:sym typeface="Symbol" panose="05050102010706020507" pitchFamily="18" charset="2"/>
              </a:rPr>
              <a:t>s(x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 </a:t>
            </a:r>
            <a:r>
              <a:rPr lang="en-US" altLang="zh-TW" sz="2800"/>
              <a:t> </a:t>
            </a:r>
            <a:r>
              <a:rPr lang="en-US" altLang="zh-TW" sz="2800">
                <a:sym typeface="Symbol" panose="05050102010706020507" pitchFamily="18" charset="2"/>
              </a:rPr>
              <a:t>label(</a:t>
            </a:r>
            <a:r>
              <a:rPr lang="en-US" altLang="zh-TW" sz="2800"/>
              <a:t>φ);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</a:rPr>
              <a:t>φ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</a:t>
            </a:r>
            <a:r>
              <a:rPr lang="en-US" altLang="zh-TW" sz="2800" b="1">
                <a:solidFill>
                  <a:srgbClr val="00B050"/>
                </a:solidFill>
              </a:rPr>
              <a:t>ψ</a:t>
            </a:r>
            <a:r>
              <a:rPr lang="en-US" altLang="zh-TW" sz="2800"/>
              <a:t>, return </a:t>
            </a:r>
            <a:r>
              <a:rPr lang="en-US" altLang="zh-TW" sz="2800">
                <a:sym typeface="Symbol" panose="05050102010706020507" pitchFamily="18" charset="2"/>
              </a:rPr>
              <a:t>s(x</a:t>
            </a:r>
            <a:r>
              <a:rPr lang="en-US" altLang="zh-TW" sz="2800" baseline="-25000">
                <a:sym typeface="Symbol" panose="05050102010706020507" pitchFamily="18" charset="2"/>
              </a:rPr>
              <a:t>1</a:t>
            </a:r>
            <a:r>
              <a:rPr lang="en-US" altLang="zh-TW" sz="2800">
                <a:sym typeface="Symbol" panose="05050102010706020507" pitchFamily="18" charset="2"/>
              </a:rPr>
              <a:t>,…,x</a:t>
            </a:r>
            <a:r>
              <a:rPr lang="en-US" altLang="zh-TW" sz="2800" baseline="-25000">
                <a:sym typeface="Symbol" panose="05050102010706020507" pitchFamily="18" charset="2"/>
              </a:rPr>
              <a:t>n</a:t>
            </a:r>
            <a:r>
              <a:rPr lang="en-US" altLang="zh-TW" sz="2800">
                <a:sym typeface="Symbol" panose="05050102010706020507" pitchFamily="18" charset="2"/>
              </a:rPr>
              <a:t>) </a:t>
            </a:r>
            <a:r>
              <a:rPr lang="en-US" altLang="zh-TW" sz="2800"/>
              <a:t> (label(φ)</a:t>
            </a:r>
            <a:r>
              <a:rPr lang="en-US" altLang="zh-TW" sz="2800">
                <a:sym typeface="Symbol" panose="05050102010706020507" pitchFamily="18" charset="2"/>
              </a:rPr>
              <a:t>  label(</a:t>
            </a:r>
            <a:r>
              <a:rPr lang="en-US" altLang="zh-TW" sz="2800"/>
              <a:t>ψ));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800" b="1">
                <a:solidFill>
                  <a:srgbClr val="00B050"/>
                </a:solidFill>
                <a:sym typeface="Wingdings 2" panose="05020102010507070707" pitchFamily="18" charset="2"/>
              </a:rPr>
              <a:t></a:t>
            </a:r>
            <a:r>
              <a:rPr lang="en-US" altLang="zh-TW" sz="2800" b="1">
                <a:solidFill>
                  <a:srgbClr val="00B050"/>
                </a:solidFill>
              </a:rPr>
              <a:t>φ</a:t>
            </a:r>
            <a:r>
              <a:rPr lang="en-US" altLang="zh-TW" sz="2800"/>
              <a:t>, </a:t>
            </a:r>
            <a:r>
              <a:rPr lang="en-US" altLang="zh-TW" sz="2800">
                <a:sym typeface="Symbol" panose="05050102010706020507" pitchFamily="18" charset="2"/>
              </a:rPr>
              <a:t>return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ym typeface="Symbol" panose="05050102010706020507" pitchFamily="18" charset="2"/>
              </a:rPr>
              <a:t>   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s(x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  x’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(t(</a:t>
            </a:r>
            <a:r>
              <a:rPr lang="en-US" altLang="zh-TW" sz="2800">
                <a:solidFill>
                  <a:srgbClr val="0000FF"/>
                </a:solidFill>
              </a:rPr>
              <a:t>x</a:t>
            </a:r>
            <a:r>
              <a:rPr lang="en-US" altLang="zh-TW" sz="2800" baseline="-25000">
                <a:solidFill>
                  <a:srgbClr val="0000FF"/>
                </a:solidFill>
              </a:rPr>
              <a:t>0</a:t>
            </a:r>
            <a:r>
              <a:rPr lang="en-US" altLang="zh-TW" sz="2800">
                <a:solidFill>
                  <a:srgbClr val="0000FF"/>
                </a:solidFill>
              </a:rPr>
              <a:t>,x</a:t>
            </a:r>
            <a:r>
              <a:rPr lang="en-US" altLang="zh-TW" sz="2800" baseline="-25000">
                <a:solidFill>
                  <a:srgbClr val="0000FF"/>
                </a:solidFill>
              </a:rPr>
              <a:t>1</a:t>
            </a:r>
            <a:r>
              <a:rPr lang="en-US" altLang="zh-TW" sz="2800">
                <a:solidFill>
                  <a:srgbClr val="0000FF"/>
                </a:solidFill>
              </a:rPr>
              <a:t>,…,x</a:t>
            </a:r>
            <a:r>
              <a:rPr lang="en-US" altLang="zh-TW" sz="2800" baseline="-25000">
                <a:solidFill>
                  <a:srgbClr val="0000FF"/>
                </a:solidFill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8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TW" sz="2800">
                <a:sym typeface="Symbol" panose="05050102010706020507" pitchFamily="18" charset="2"/>
              </a:rPr>
              <a:t> 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800">
                <a:sym typeface="Symbol" panose="05050102010706020507" pitchFamily="18" charset="2"/>
              </a:rPr>
              <a:t>label(</a:t>
            </a:r>
            <a:r>
              <a:rPr lang="en-US" altLang="zh-TW" sz="2800"/>
              <a:t>φ</a:t>
            </a:r>
            <a:r>
              <a:rPr lang="en-US" altLang="zh-TW" sz="2800">
                <a:sym typeface="Symbol" panose="05050102010706020507" pitchFamily="18" charset="2"/>
              </a:rPr>
              <a:t>)</a:t>
            </a:r>
            <a:r>
              <a:rPr lang="en-US" altLang="zh-TW" sz="2800">
                <a:solidFill>
                  <a:srgbClr val="0000FF"/>
                </a:solidFill>
                <a:sym typeface="Symbol" panose="05050102010706020507" pitchFamily="18" charset="2"/>
              </a:rPr>
              <a:t></a:t>
            </a:r>
            <a:r>
              <a:rPr lang="en-US" altLang="zh-TW" sz="2800">
                <a:sym typeface="Symbol" panose="05050102010706020507" pitchFamily="18" charset="2"/>
              </a:rPr>
              <a:t>); </a:t>
            </a:r>
            <a:endParaRPr lang="en-US" altLang="zh-TW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 </a:t>
            </a:r>
            <a:r>
              <a:rPr lang="en-US" altLang="zh-TW" sz="2800" b="1">
                <a:solidFill>
                  <a:srgbClr val="00B050"/>
                </a:solidFill>
              </a:rPr>
              <a:t>ψ</a:t>
            </a:r>
            <a:r>
              <a:rPr lang="en-US" altLang="zh-TW" sz="2800" b="1" baseline="-25000">
                <a:solidFill>
                  <a:srgbClr val="00B050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U</a:t>
            </a:r>
            <a:r>
              <a:rPr lang="en-US" altLang="zh-TW" sz="2800" b="1">
                <a:solidFill>
                  <a:srgbClr val="00B050"/>
                </a:solidFill>
              </a:rPr>
              <a:t>ψ</a:t>
            </a:r>
            <a:r>
              <a:rPr lang="en-US" altLang="zh-TW" sz="2800" b="1" baseline="-25000">
                <a:solidFill>
                  <a:srgbClr val="00B050"/>
                </a:solidFill>
                <a:sym typeface="Symbol" panose="05050102010706020507" pitchFamily="18" charset="2"/>
              </a:rPr>
              <a:t>2 </a:t>
            </a:r>
            <a:r>
              <a:rPr lang="en-US" altLang="zh-TW" sz="2800"/>
              <a:t>, return lfp(label(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/>
              <a:t>), label(</a:t>
            </a:r>
            <a:r>
              <a:rPr lang="en-US" altLang="zh-TW" sz="2800">
                <a:solidFill>
                  <a:schemeClr val="hlink"/>
                </a:solidFill>
                <a:sym typeface="Symbol" panose="05050102010706020507" pitchFamily="18" charset="2"/>
              </a:rPr>
              <a:t></a:t>
            </a:r>
            <a:r>
              <a:rPr lang="en-US" altLang="zh-TW" sz="2800" baseline="-25000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TW" sz="2800"/>
              <a:t>) 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case </a:t>
            </a:r>
            <a:r>
              <a:rPr lang="en-US" altLang="zh-TW" sz="2800" b="1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TW" sz="2800" b="1">
                <a:solidFill>
                  <a:srgbClr val="00B050"/>
                </a:solidFill>
                <a:sym typeface="Wingdings 2" panose="05020102010507070707" pitchFamily="18" charset="2"/>
              </a:rPr>
              <a:t></a:t>
            </a:r>
            <a:r>
              <a:rPr lang="en-US" altLang="zh-TW" sz="2800" b="1">
                <a:solidFill>
                  <a:srgbClr val="00B050"/>
                </a:solidFill>
              </a:rPr>
              <a:t>φ</a:t>
            </a:r>
            <a:r>
              <a:rPr lang="en-US" altLang="zh-TW" sz="2800"/>
              <a:t>, return gfp(label(φ));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}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投影片編號版面配置區 5">
            <a:extLst>
              <a:ext uri="{FF2B5EF4-FFF2-40B4-BE49-F238E27FC236}">
                <a16:creationId xmlns:a16="http://schemas.microsoft.com/office/drawing/2014/main" id="{54D38E7F-CB9E-477E-B357-2E4522732A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B3469A-ACC8-4A29-ABA5-AE5B0892042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20867" name="AutoShape 4">
            <a:extLst>
              <a:ext uri="{FF2B5EF4-FFF2-40B4-BE49-F238E27FC236}">
                <a16:creationId xmlns:a16="http://schemas.microsoft.com/office/drawing/2014/main" id="{030EDAA5-D5EA-47CA-BB2C-0C4033EC3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810000"/>
            <a:ext cx="2286000" cy="2438400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420868" name="Rectangle 2">
            <a:extLst>
              <a:ext uri="{FF2B5EF4-FFF2-40B4-BE49-F238E27FC236}">
                <a16:creationId xmlns:a16="http://schemas.microsoft.com/office/drawing/2014/main" id="{9A4098EF-97BA-4F8B-857E-34677FA7E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 Framework</a:t>
            </a:r>
          </a:p>
        </p:txBody>
      </p:sp>
      <p:sp>
        <p:nvSpPr>
          <p:cNvPr id="420869" name="Oval 3">
            <a:extLst>
              <a:ext uri="{FF2B5EF4-FFF2-40B4-BE49-F238E27FC236}">
                <a16:creationId xmlns:a16="http://schemas.microsoft.com/office/drawing/2014/main" id="{969D6986-E2C5-4A6B-9ED8-E393210AB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1447800" cy="990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Checker</a:t>
            </a:r>
          </a:p>
        </p:txBody>
      </p:sp>
      <p:sp>
        <p:nvSpPr>
          <p:cNvPr id="420870" name="Rectangle 5">
            <a:extLst>
              <a:ext uri="{FF2B5EF4-FFF2-40B4-BE49-F238E27FC236}">
                <a16:creationId xmlns:a16="http://schemas.microsoft.com/office/drawing/2014/main" id="{299F0790-47C9-4CFA-B440-828BDDF88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524000"/>
            <a:ext cx="3124200" cy="2286000"/>
          </a:xfrm>
          <a:prstGeom prst="rect">
            <a:avLst/>
          </a:prstGeom>
          <a:solidFill>
            <a:srgbClr val="66FFFF">
              <a:alpha val="70195"/>
            </a:srgb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Ctr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Answer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Yes</a:t>
            </a:r>
            <a:r>
              <a:rPr lang="en-US" altLang="zh-TW" sz="2800" b="1"/>
              <a:t> if the model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is equivalent to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the specification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No</a:t>
            </a:r>
            <a:r>
              <a:rPr lang="en-US" altLang="zh-TW" sz="2800" b="1"/>
              <a:t> if not. </a:t>
            </a:r>
          </a:p>
        </p:txBody>
      </p:sp>
      <p:sp>
        <p:nvSpPr>
          <p:cNvPr id="420871" name="Line 6">
            <a:extLst>
              <a:ext uri="{FF2B5EF4-FFF2-40B4-BE49-F238E27FC236}">
                <a16:creationId xmlns:a16="http://schemas.microsoft.com/office/drawing/2014/main" id="{8DC6002E-DD04-43AC-8675-EFB16F16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43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0872" name="Line 7">
            <a:extLst>
              <a:ext uri="{FF2B5EF4-FFF2-40B4-BE49-F238E27FC236}">
                <a16:creationId xmlns:a16="http://schemas.microsoft.com/office/drawing/2014/main" id="{6E22F386-CF90-47BF-8019-7849C88160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352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0873" name="Line 8">
            <a:extLst>
              <a:ext uri="{FF2B5EF4-FFF2-40B4-BE49-F238E27FC236}">
                <a16:creationId xmlns:a16="http://schemas.microsoft.com/office/drawing/2014/main" id="{074D1297-7AF4-4392-B2B4-1C9C59DAA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667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0874" name="AutoShape 9">
            <a:extLst>
              <a:ext uri="{FF2B5EF4-FFF2-40B4-BE49-F238E27FC236}">
                <a16:creationId xmlns:a16="http://schemas.microsoft.com/office/drawing/2014/main" id="{1C69A0CC-7511-4B96-B6C4-63A37D7C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57400"/>
            <a:ext cx="1447800" cy="1447800"/>
          </a:xfrm>
          <a:prstGeom prst="can">
            <a:avLst>
              <a:gd name="adj" fmla="val 25000"/>
            </a:avLst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Design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420875" name="AutoShape 10">
            <a:extLst>
              <a:ext uri="{FF2B5EF4-FFF2-40B4-BE49-F238E27FC236}">
                <a16:creationId xmlns:a16="http://schemas.microsoft.com/office/drawing/2014/main" id="{C6F87198-CDB8-45B0-80D5-331426C96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0"/>
            <a:ext cx="1676400" cy="609600"/>
          </a:xfrm>
          <a:prstGeom prst="curvedUpArrow">
            <a:avLst>
              <a:gd name="adj1" fmla="val 55000"/>
              <a:gd name="adj2" fmla="val 110000"/>
              <a:gd name="adj3" fmla="val 33333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Model construction</a:t>
            </a:r>
          </a:p>
        </p:txBody>
      </p:sp>
      <p:grpSp>
        <p:nvGrpSpPr>
          <p:cNvPr id="420876" name="Group 17">
            <a:extLst>
              <a:ext uri="{FF2B5EF4-FFF2-40B4-BE49-F238E27FC236}">
                <a16:creationId xmlns:a16="http://schemas.microsoft.com/office/drawing/2014/main" id="{F2EC6A84-65C9-48AB-B45F-308D71163C4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1066800" cy="1638300"/>
            <a:chOff x="878" y="1112"/>
            <a:chExt cx="808" cy="1032"/>
          </a:xfrm>
        </p:grpSpPr>
        <p:sp>
          <p:nvSpPr>
            <p:cNvPr id="420936" name="AutoShape 18">
              <a:extLst>
                <a:ext uri="{FF2B5EF4-FFF2-40B4-BE49-F238E27FC236}">
                  <a16:creationId xmlns:a16="http://schemas.microsoft.com/office/drawing/2014/main" id="{21D9A183-9340-4186-BE3D-BC4E29B7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37" name="AutoShape 19">
              <a:extLst>
                <a:ext uri="{FF2B5EF4-FFF2-40B4-BE49-F238E27FC236}">
                  <a16:creationId xmlns:a16="http://schemas.microsoft.com/office/drawing/2014/main" id="{F1BAF4FA-8477-4EDB-85EE-406AB47A5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38" name="AutoShape 20">
              <a:extLst>
                <a:ext uri="{FF2B5EF4-FFF2-40B4-BE49-F238E27FC236}">
                  <a16:creationId xmlns:a16="http://schemas.microsoft.com/office/drawing/2014/main" id="{9BA35BAE-C765-401D-A364-75F775754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39" name="AutoShape 21">
              <a:extLst>
                <a:ext uri="{FF2B5EF4-FFF2-40B4-BE49-F238E27FC236}">
                  <a16:creationId xmlns:a16="http://schemas.microsoft.com/office/drawing/2014/main" id="{FC723D76-E02B-4909-BFBD-D0A96598A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0" name="AutoShape 22">
              <a:extLst>
                <a:ext uri="{FF2B5EF4-FFF2-40B4-BE49-F238E27FC236}">
                  <a16:creationId xmlns:a16="http://schemas.microsoft.com/office/drawing/2014/main" id="{63860D0B-EE21-4E8D-B402-4EFD3D91B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1" name="AutoShape 23">
              <a:extLst>
                <a:ext uri="{FF2B5EF4-FFF2-40B4-BE49-F238E27FC236}">
                  <a16:creationId xmlns:a16="http://schemas.microsoft.com/office/drawing/2014/main" id="{9D2C307C-6C90-4198-957A-A11DABFFC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2" name="AutoShape 24">
              <a:extLst>
                <a:ext uri="{FF2B5EF4-FFF2-40B4-BE49-F238E27FC236}">
                  <a16:creationId xmlns:a16="http://schemas.microsoft.com/office/drawing/2014/main" id="{204D280B-E4D2-4BF0-A120-F0B978C0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3" name="AutoShape 25">
              <a:extLst>
                <a:ext uri="{FF2B5EF4-FFF2-40B4-BE49-F238E27FC236}">
                  <a16:creationId xmlns:a16="http://schemas.microsoft.com/office/drawing/2014/main" id="{29A99062-9023-4CDA-BB1C-84E2ABE40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4" name="AutoShape 26">
              <a:extLst>
                <a:ext uri="{FF2B5EF4-FFF2-40B4-BE49-F238E27FC236}">
                  <a16:creationId xmlns:a16="http://schemas.microsoft.com/office/drawing/2014/main" id="{CDC2F0EC-F31B-4EB8-97C0-6D43A4432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5" name="AutoShape 27">
              <a:extLst>
                <a:ext uri="{FF2B5EF4-FFF2-40B4-BE49-F238E27FC236}">
                  <a16:creationId xmlns:a16="http://schemas.microsoft.com/office/drawing/2014/main" id="{86C596CB-ED85-4380-92F7-5F2AA3256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6" name="AutoShape 28">
              <a:extLst>
                <a:ext uri="{FF2B5EF4-FFF2-40B4-BE49-F238E27FC236}">
                  <a16:creationId xmlns:a16="http://schemas.microsoft.com/office/drawing/2014/main" id="{2565454E-F3D7-40B5-A967-878F2D5AD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7" name="AutoShape 29">
              <a:extLst>
                <a:ext uri="{FF2B5EF4-FFF2-40B4-BE49-F238E27FC236}">
                  <a16:creationId xmlns:a16="http://schemas.microsoft.com/office/drawing/2014/main" id="{85306878-705B-4D7D-875B-0F82C3198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8" name="AutoShape 30">
              <a:extLst>
                <a:ext uri="{FF2B5EF4-FFF2-40B4-BE49-F238E27FC236}">
                  <a16:creationId xmlns:a16="http://schemas.microsoft.com/office/drawing/2014/main" id="{2306EE94-1165-449B-B6F3-24545B5CB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49" name="AutoShape 31">
              <a:extLst>
                <a:ext uri="{FF2B5EF4-FFF2-40B4-BE49-F238E27FC236}">
                  <a16:creationId xmlns:a16="http://schemas.microsoft.com/office/drawing/2014/main" id="{71A861D2-28A8-4D41-997B-D69F1768B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50" name="AutoShape 32">
              <a:extLst>
                <a:ext uri="{FF2B5EF4-FFF2-40B4-BE49-F238E27FC236}">
                  <a16:creationId xmlns:a16="http://schemas.microsoft.com/office/drawing/2014/main" id="{0CB7213E-021B-4EA9-AC7E-5AA0E77CD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51" name="Line 33">
              <a:extLst>
                <a:ext uri="{FF2B5EF4-FFF2-40B4-BE49-F238E27FC236}">
                  <a16:creationId xmlns:a16="http://schemas.microsoft.com/office/drawing/2014/main" id="{D993A483-EB49-4F1A-AD6A-286B9A185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2" name="Line 34">
              <a:extLst>
                <a:ext uri="{FF2B5EF4-FFF2-40B4-BE49-F238E27FC236}">
                  <a16:creationId xmlns:a16="http://schemas.microsoft.com/office/drawing/2014/main" id="{9F72FE34-075B-4CC4-8D73-F2E2EA035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3" name="Line 35">
              <a:extLst>
                <a:ext uri="{FF2B5EF4-FFF2-40B4-BE49-F238E27FC236}">
                  <a16:creationId xmlns:a16="http://schemas.microsoft.com/office/drawing/2014/main" id="{3DAA74F9-E2B8-4223-9F51-DB48A171C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4" name="Line 36">
              <a:extLst>
                <a:ext uri="{FF2B5EF4-FFF2-40B4-BE49-F238E27FC236}">
                  <a16:creationId xmlns:a16="http://schemas.microsoft.com/office/drawing/2014/main" id="{43BFD7D1-8401-433D-AF75-F2EC5305A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5" name="Line 37">
              <a:extLst>
                <a:ext uri="{FF2B5EF4-FFF2-40B4-BE49-F238E27FC236}">
                  <a16:creationId xmlns:a16="http://schemas.microsoft.com/office/drawing/2014/main" id="{1CF31E4E-3941-4CAB-9CA2-9DF8394D7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6" name="Line 38">
              <a:extLst>
                <a:ext uri="{FF2B5EF4-FFF2-40B4-BE49-F238E27FC236}">
                  <a16:creationId xmlns:a16="http://schemas.microsoft.com/office/drawing/2014/main" id="{9286E386-C065-41BB-9121-377BFE78B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7" name="Line 39">
              <a:extLst>
                <a:ext uri="{FF2B5EF4-FFF2-40B4-BE49-F238E27FC236}">
                  <a16:creationId xmlns:a16="http://schemas.microsoft.com/office/drawing/2014/main" id="{318C4658-5D14-4E1B-9507-BFA518DBE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8" name="Line 40">
              <a:extLst>
                <a:ext uri="{FF2B5EF4-FFF2-40B4-BE49-F238E27FC236}">
                  <a16:creationId xmlns:a16="http://schemas.microsoft.com/office/drawing/2014/main" id="{BCA2EAC0-4A9D-4F7B-825E-B1AE2B0B1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59" name="Line 41">
              <a:extLst>
                <a:ext uri="{FF2B5EF4-FFF2-40B4-BE49-F238E27FC236}">
                  <a16:creationId xmlns:a16="http://schemas.microsoft.com/office/drawing/2014/main" id="{D922F591-1A4F-4D05-8159-13B79E430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0" name="Line 42">
              <a:extLst>
                <a:ext uri="{FF2B5EF4-FFF2-40B4-BE49-F238E27FC236}">
                  <a16:creationId xmlns:a16="http://schemas.microsoft.com/office/drawing/2014/main" id="{661CE301-032A-4492-8AA4-1BE724807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1" name="Line 43">
              <a:extLst>
                <a:ext uri="{FF2B5EF4-FFF2-40B4-BE49-F238E27FC236}">
                  <a16:creationId xmlns:a16="http://schemas.microsoft.com/office/drawing/2014/main" id="{AD9C2F82-84B5-4E0A-9A1E-FF390064A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2" name="Line 44">
              <a:extLst>
                <a:ext uri="{FF2B5EF4-FFF2-40B4-BE49-F238E27FC236}">
                  <a16:creationId xmlns:a16="http://schemas.microsoft.com/office/drawing/2014/main" id="{9AD5B444-F265-4978-B48E-403DDB29C7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3" name="Line 45">
              <a:extLst>
                <a:ext uri="{FF2B5EF4-FFF2-40B4-BE49-F238E27FC236}">
                  <a16:creationId xmlns:a16="http://schemas.microsoft.com/office/drawing/2014/main" id="{659E8254-8427-46CA-9B52-ECFC3F151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4" name="Line 46">
              <a:extLst>
                <a:ext uri="{FF2B5EF4-FFF2-40B4-BE49-F238E27FC236}">
                  <a16:creationId xmlns:a16="http://schemas.microsoft.com/office/drawing/2014/main" id="{13A2B8AF-6843-4800-9EB0-698FDB0CA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5" name="Line 47">
              <a:extLst>
                <a:ext uri="{FF2B5EF4-FFF2-40B4-BE49-F238E27FC236}">
                  <a16:creationId xmlns:a16="http://schemas.microsoft.com/office/drawing/2014/main" id="{8C9EE370-812E-4981-9114-64D170AF2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6" name="Line 48">
              <a:extLst>
                <a:ext uri="{FF2B5EF4-FFF2-40B4-BE49-F238E27FC236}">
                  <a16:creationId xmlns:a16="http://schemas.microsoft.com/office/drawing/2014/main" id="{FBABC9A2-E6B8-4B74-A7ED-B7A1FB999F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7" name="Line 49">
              <a:extLst>
                <a:ext uri="{FF2B5EF4-FFF2-40B4-BE49-F238E27FC236}">
                  <a16:creationId xmlns:a16="http://schemas.microsoft.com/office/drawing/2014/main" id="{FF9AAE37-8A0A-43BA-ACF7-3F460CA75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68" name="AutoShape 50">
              <a:extLst>
                <a:ext uri="{FF2B5EF4-FFF2-40B4-BE49-F238E27FC236}">
                  <a16:creationId xmlns:a16="http://schemas.microsoft.com/office/drawing/2014/main" id="{25706F50-D5DC-4B91-8A26-A0A4ED8E0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69" name="AutoShape 51">
              <a:extLst>
                <a:ext uri="{FF2B5EF4-FFF2-40B4-BE49-F238E27FC236}">
                  <a16:creationId xmlns:a16="http://schemas.microsoft.com/office/drawing/2014/main" id="{0FBAF03C-AAF4-42D3-B0F7-12A9EC032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70" name="AutoShape 52">
              <a:extLst>
                <a:ext uri="{FF2B5EF4-FFF2-40B4-BE49-F238E27FC236}">
                  <a16:creationId xmlns:a16="http://schemas.microsoft.com/office/drawing/2014/main" id="{A149C785-ECAC-4A85-B482-A824033D9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71" name="AutoShape 53">
              <a:extLst>
                <a:ext uri="{FF2B5EF4-FFF2-40B4-BE49-F238E27FC236}">
                  <a16:creationId xmlns:a16="http://schemas.microsoft.com/office/drawing/2014/main" id="{869FE3CF-38F5-485A-BC93-ED86A01B5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72" name="AutoShape 54">
              <a:extLst>
                <a:ext uri="{FF2B5EF4-FFF2-40B4-BE49-F238E27FC236}">
                  <a16:creationId xmlns:a16="http://schemas.microsoft.com/office/drawing/2014/main" id="{494A4455-DB30-4E48-A1A6-27895188E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73" name="Line 55">
              <a:extLst>
                <a:ext uri="{FF2B5EF4-FFF2-40B4-BE49-F238E27FC236}">
                  <a16:creationId xmlns:a16="http://schemas.microsoft.com/office/drawing/2014/main" id="{062A0C96-6D7B-4501-9709-F4E07083C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4" name="Line 56">
              <a:extLst>
                <a:ext uri="{FF2B5EF4-FFF2-40B4-BE49-F238E27FC236}">
                  <a16:creationId xmlns:a16="http://schemas.microsoft.com/office/drawing/2014/main" id="{6AD2379B-05EC-4DB4-AD4F-C173245EEE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5" name="Line 57">
              <a:extLst>
                <a:ext uri="{FF2B5EF4-FFF2-40B4-BE49-F238E27FC236}">
                  <a16:creationId xmlns:a16="http://schemas.microsoft.com/office/drawing/2014/main" id="{08E40EDB-D3B4-4697-A2CE-6BFD0E683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6" name="Line 58">
              <a:extLst>
                <a:ext uri="{FF2B5EF4-FFF2-40B4-BE49-F238E27FC236}">
                  <a16:creationId xmlns:a16="http://schemas.microsoft.com/office/drawing/2014/main" id="{67275967-C9D0-48A0-BA6E-B3EBCB670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7" name="Line 59">
              <a:extLst>
                <a:ext uri="{FF2B5EF4-FFF2-40B4-BE49-F238E27FC236}">
                  <a16:creationId xmlns:a16="http://schemas.microsoft.com/office/drawing/2014/main" id="{FB8F6532-DB38-4084-BED1-6D13FB35A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8" name="Line 60">
              <a:extLst>
                <a:ext uri="{FF2B5EF4-FFF2-40B4-BE49-F238E27FC236}">
                  <a16:creationId xmlns:a16="http://schemas.microsoft.com/office/drawing/2014/main" id="{5B02D58E-3DB5-4467-A615-CF9C20972F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79" name="Line 61">
              <a:extLst>
                <a:ext uri="{FF2B5EF4-FFF2-40B4-BE49-F238E27FC236}">
                  <a16:creationId xmlns:a16="http://schemas.microsoft.com/office/drawing/2014/main" id="{D92B7D4C-73B2-4EDD-91BB-701692264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0" name="Line 62">
              <a:extLst>
                <a:ext uri="{FF2B5EF4-FFF2-40B4-BE49-F238E27FC236}">
                  <a16:creationId xmlns:a16="http://schemas.microsoft.com/office/drawing/2014/main" id="{F98F9275-B37B-4A32-BBF4-B037E460B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1" name="AutoShape 63">
              <a:extLst>
                <a:ext uri="{FF2B5EF4-FFF2-40B4-BE49-F238E27FC236}">
                  <a16:creationId xmlns:a16="http://schemas.microsoft.com/office/drawing/2014/main" id="{13E88BAA-9C71-428E-8AFC-B3E8904625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82" name="AutoShape 64">
              <a:extLst>
                <a:ext uri="{FF2B5EF4-FFF2-40B4-BE49-F238E27FC236}">
                  <a16:creationId xmlns:a16="http://schemas.microsoft.com/office/drawing/2014/main" id="{9D6D4EB5-28E2-4253-BCAD-8F5E1F706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83" name="Line 65">
              <a:extLst>
                <a:ext uri="{FF2B5EF4-FFF2-40B4-BE49-F238E27FC236}">
                  <a16:creationId xmlns:a16="http://schemas.microsoft.com/office/drawing/2014/main" id="{138DC46B-52CC-4119-A76E-D69C51124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4" name="Line 66">
              <a:extLst>
                <a:ext uri="{FF2B5EF4-FFF2-40B4-BE49-F238E27FC236}">
                  <a16:creationId xmlns:a16="http://schemas.microsoft.com/office/drawing/2014/main" id="{0366826F-1BE8-4FBD-AC91-3D283E5EE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5" name="AutoShape 67">
              <a:extLst>
                <a:ext uri="{FF2B5EF4-FFF2-40B4-BE49-F238E27FC236}">
                  <a16:creationId xmlns:a16="http://schemas.microsoft.com/office/drawing/2014/main" id="{CAF8109C-448A-4AB4-8E27-107F338BD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86" name="Line 68">
              <a:extLst>
                <a:ext uri="{FF2B5EF4-FFF2-40B4-BE49-F238E27FC236}">
                  <a16:creationId xmlns:a16="http://schemas.microsoft.com/office/drawing/2014/main" id="{85C13B95-787A-479B-9BEB-7B743178D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7" name="AutoShape 69">
              <a:extLst>
                <a:ext uri="{FF2B5EF4-FFF2-40B4-BE49-F238E27FC236}">
                  <a16:creationId xmlns:a16="http://schemas.microsoft.com/office/drawing/2014/main" id="{2C702253-F1E0-4862-B172-071B015C8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88" name="Line 70">
              <a:extLst>
                <a:ext uri="{FF2B5EF4-FFF2-40B4-BE49-F238E27FC236}">
                  <a16:creationId xmlns:a16="http://schemas.microsoft.com/office/drawing/2014/main" id="{270D9D07-C652-4E40-888C-6F8E02B56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89" name="Freeform 71">
              <a:extLst>
                <a:ext uri="{FF2B5EF4-FFF2-40B4-BE49-F238E27FC236}">
                  <a16:creationId xmlns:a16="http://schemas.microsoft.com/office/drawing/2014/main" id="{8227A1F3-6BF5-48C8-9684-5905FDD9E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90" name="Freeform 72">
              <a:extLst>
                <a:ext uri="{FF2B5EF4-FFF2-40B4-BE49-F238E27FC236}">
                  <a16:creationId xmlns:a16="http://schemas.microsoft.com/office/drawing/2014/main" id="{CB4659C8-BF01-44BC-91E7-F7BB13D85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420877" name="Text Box 73">
            <a:extLst>
              <a:ext uri="{FF2B5EF4-FFF2-40B4-BE49-F238E27FC236}">
                <a16:creationId xmlns:a16="http://schemas.microsoft.com/office/drawing/2014/main" id="{2DFE5E73-09B1-457E-B51B-2EC216B2E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/>
              <a:t>model</a:t>
            </a:r>
          </a:p>
        </p:txBody>
      </p:sp>
      <p:grpSp>
        <p:nvGrpSpPr>
          <p:cNvPr id="420878" name="Group 74">
            <a:extLst>
              <a:ext uri="{FF2B5EF4-FFF2-40B4-BE49-F238E27FC236}">
                <a16:creationId xmlns:a16="http://schemas.microsoft.com/office/drawing/2014/main" id="{C8D2FDB0-F238-48C5-8935-E4FE2A39C66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3810000" y="4114800"/>
            <a:ext cx="1282700" cy="2057400"/>
            <a:chOff x="878" y="1112"/>
            <a:chExt cx="808" cy="1032"/>
          </a:xfrm>
        </p:grpSpPr>
        <p:sp>
          <p:nvSpPr>
            <p:cNvPr id="420881" name="AutoShape 75">
              <a:extLst>
                <a:ext uri="{FF2B5EF4-FFF2-40B4-BE49-F238E27FC236}">
                  <a16:creationId xmlns:a16="http://schemas.microsoft.com/office/drawing/2014/main" id="{4F2973B8-59C2-426A-876C-076646A24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2" name="AutoShape 76">
              <a:extLst>
                <a:ext uri="{FF2B5EF4-FFF2-40B4-BE49-F238E27FC236}">
                  <a16:creationId xmlns:a16="http://schemas.microsoft.com/office/drawing/2014/main" id="{880A8F4B-E5B2-4967-BB45-BFF05BAFF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3" name="AutoShape 77">
              <a:extLst>
                <a:ext uri="{FF2B5EF4-FFF2-40B4-BE49-F238E27FC236}">
                  <a16:creationId xmlns:a16="http://schemas.microsoft.com/office/drawing/2014/main" id="{B1B51B0B-21FF-4029-8D55-A2D69E01B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4" name="AutoShape 78">
              <a:extLst>
                <a:ext uri="{FF2B5EF4-FFF2-40B4-BE49-F238E27FC236}">
                  <a16:creationId xmlns:a16="http://schemas.microsoft.com/office/drawing/2014/main" id="{C5B4EDCF-F07F-49E8-A4FD-A45BEE69C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5" name="AutoShape 79">
              <a:extLst>
                <a:ext uri="{FF2B5EF4-FFF2-40B4-BE49-F238E27FC236}">
                  <a16:creationId xmlns:a16="http://schemas.microsoft.com/office/drawing/2014/main" id="{204BB933-75F8-40F8-B365-9E17C9462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6" name="AutoShape 80">
              <a:extLst>
                <a:ext uri="{FF2B5EF4-FFF2-40B4-BE49-F238E27FC236}">
                  <a16:creationId xmlns:a16="http://schemas.microsoft.com/office/drawing/2014/main" id="{749E8E22-73DC-4787-9470-9DFA00976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7" name="AutoShape 81">
              <a:extLst>
                <a:ext uri="{FF2B5EF4-FFF2-40B4-BE49-F238E27FC236}">
                  <a16:creationId xmlns:a16="http://schemas.microsoft.com/office/drawing/2014/main" id="{7FCA0A04-F815-45B5-944F-32D4F385C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8" name="AutoShape 82">
              <a:extLst>
                <a:ext uri="{FF2B5EF4-FFF2-40B4-BE49-F238E27FC236}">
                  <a16:creationId xmlns:a16="http://schemas.microsoft.com/office/drawing/2014/main" id="{172EFA45-3E10-4C56-BC7C-29C6FBCDB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89" name="AutoShape 83">
              <a:extLst>
                <a:ext uri="{FF2B5EF4-FFF2-40B4-BE49-F238E27FC236}">
                  <a16:creationId xmlns:a16="http://schemas.microsoft.com/office/drawing/2014/main" id="{1B64DD49-8F39-4E8D-9FB7-DE78473A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0" name="AutoShape 84">
              <a:extLst>
                <a:ext uri="{FF2B5EF4-FFF2-40B4-BE49-F238E27FC236}">
                  <a16:creationId xmlns:a16="http://schemas.microsoft.com/office/drawing/2014/main" id="{23D74C3D-FD7D-4C86-94D9-BF52FFCD8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1" name="AutoShape 85">
              <a:extLst>
                <a:ext uri="{FF2B5EF4-FFF2-40B4-BE49-F238E27FC236}">
                  <a16:creationId xmlns:a16="http://schemas.microsoft.com/office/drawing/2014/main" id="{593F7CED-83DE-47D8-B0BF-3B1E22CEF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2" name="AutoShape 86">
              <a:extLst>
                <a:ext uri="{FF2B5EF4-FFF2-40B4-BE49-F238E27FC236}">
                  <a16:creationId xmlns:a16="http://schemas.microsoft.com/office/drawing/2014/main" id="{0EEE49B6-EB28-4B63-AA03-91233CF5B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3" name="AutoShape 87">
              <a:extLst>
                <a:ext uri="{FF2B5EF4-FFF2-40B4-BE49-F238E27FC236}">
                  <a16:creationId xmlns:a16="http://schemas.microsoft.com/office/drawing/2014/main" id="{55A71B3A-5FE7-4138-BED5-C0B1B8ADC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4" name="AutoShape 88">
              <a:extLst>
                <a:ext uri="{FF2B5EF4-FFF2-40B4-BE49-F238E27FC236}">
                  <a16:creationId xmlns:a16="http://schemas.microsoft.com/office/drawing/2014/main" id="{A3765AED-830B-4901-90E7-108ADA99E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5" name="AutoShape 89">
              <a:extLst>
                <a:ext uri="{FF2B5EF4-FFF2-40B4-BE49-F238E27FC236}">
                  <a16:creationId xmlns:a16="http://schemas.microsoft.com/office/drawing/2014/main" id="{CFF914AA-2217-46E8-815E-704CDB096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896" name="Line 90">
              <a:extLst>
                <a:ext uri="{FF2B5EF4-FFF2-40B4-BE49-F238E27FC236}">
                  <a16:creationId xmlns:a16="http://schemas.microsoft.com/office/drawing/2014/main" id="{C67E9CFC-9889-4345-88DE-933F8F41D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897" name="Line 91">
              <a:extLst>
                <a:ext uri="{FF2B5EF4-FFF2-40B4-BE49-F238E27FC236}">
                  <a16:creationId xmlns:a16="http://schemas.microsoft.com/office/drawing/2014/main" id="{3A1AFC93-836C-4180-B730-3A7CB0673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898" name="Line 92">
              <a:extLst>
                <a:ext uri="{FF2B5EF4-FFF2-40B4-BE49-F238E27FC236}">
                  <a16:creationId xmlns:a16="http://schemas.microsoft.com/office/drawing/2014/main" id="{8AA01812-91A6-4BEB-B274-2D7DA0185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899" name="Line 93">
              <a:extLst>
                <a:ext uri="{FF2B5EF4-FFF2-40B4-BE49-F238E27FC236}">
                  <a16:creationId xmlns:a16="http://schemas.microsoft.com/office/drawing/2014/main" id="{7462139C-E54C-4452-95B5-DD49FCBF1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0" name="Line 94">
              <a:extLst>
                <a:ext uri="{FF2B5EF4-FFF2-40B4-BE49-F238E27FC236}">
                  <a16:creationId xmlns:a16="http://schemas.microsoft.com/office/drawing/2014/main" id="{540B4339-7BA5-48FE-A91F-008870D2B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1" name="Line 95">
              <a:extLst>
                <a:ext uri="{FF2B5EF4-FFF2-40B4-BE49-F238E27FC236}">
                  <a16:creationId xmlns:a16="http://schemas.microsoft.com/office/drawing/2014/main" id="{5C7FD6FB-2122-4B80-9CAF-4CB07A415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2" name="Line 96">
              <a:extLst>
                <a:ext uri="{FF2B5EF4-FFF2-40B4-BE49-F238E27FC236}">
                  <a16:creationId xmlns:a16="http://schemas.microsoft.com/office/drawing/2014/main" id="{9011D594-B3FD-415B-9D36-A9D2D7439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3" name="Line 97">
              <a:extLst>
                <a:ext uri="{FF2B5EF4-FFF2-40B4-BE49-F238E27FC236}">
                  <a16:creationId xmlns:a16="http://schemas.microsoft.com/office/drawing/2014/main" id="{F00BF78F-5844-49C8-8B62-AC344FCDE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4" name="Line 98">
              <a:extLst>
                <a:ext uri="{FF2B5EF4-FFF2-40B4-BE49-F238E27FC236}">
                  <a16:creationId xmlns:a16="http://schemas.microsoft.com/office/drawing/2014/main" id="{B887D691-28EA-4FF1-85CA-DF1EC0277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5" name="Line 99">
              <a:extLst>
                <a:ext uri="{FF2B5EF4-FFF2-40B4-BE49-F238E27FC236}">
                  <a16:creationId xmlns:a16="http://schemas.microsoft.com/office/drawing/2014/main" id="{FA7270FC-514F-483B-B696-41FFC8680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6" name="Line 100">
              <a:extLst>
                <a:ext uri="{FF2B5EF4-FFF2-40B4-BE49-F238E27FC236}">
                  <a16:creationId xmlns:a16="http://schemas.microsoft.com/office/drawing/2014/main" id="{81E7541B-E0EF-4A28-BDEC-5F643B7DA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7" name="Line 101">
              <a:extLst>
                <a:ext uri="{FF2B5EF4-FFF2-40B4-BE49-F238E27FC236}">
                  <a16:creationId xmlns:a16="http://schemas.microsoft.com/office/drawing/2014/main" id="{F29947DD-87A7-4572-8FFA-850886EED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8" name="Line 102">
              <a:extLst>
                <a:ext uri="{FF2B5EF4-FFF2-40B4-BE49-F238E27FC236}">
                  <a16:creationId xmlns:a16="http://schemas.microsoft.com/office/drawing/2014/main" id="{655E8982-EBCF-4145-9284-40A0189AC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09" name="Line 103">
              <a:extLst>
                <a:ext uri="{FF2B5EF4-FFF2-40B4-BE49-F238E27FC236}">
                  <a16:creationId xmlns:a16="http://schemas.microsoft.com/office/drawing/2014/main" id="{2E7DB603-03BE-47AF-841B-B26DC1FD7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10" name="Line 104">
              <a:extLst>
                <a:ext uri="{FF2B5EF4-FFF2-40B4-BE49-F238E27FC236}">
                  <a16:creationId xmlns:a16="http://schemas.microsoft.com/office/drawing/2014/main" id="{5D5D020C-55A2-48D7-9335-141014992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11" name="Line 105">
              <a:extLst>
                <a:ext uri="{FF2B5EF4-FFF2-40B4-BE49-F238E27FC236}">
                  <a16:creationId xmlns:a16="http://schemas.microsoft.com/office/drawing/2014/main" id="{3B3E1AD6-CFD4-4658-9FFA-95C83AC16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12" name="Line 106">
              <a:extLst>
                <a:ext uri="{FF2B5EF4-FFF2-40B4-BE49-F238E27FC236}">
                  <a16:creationId xmlns:a16="http://schemas.microsoft.com/office/drawing/2014/main" id="{53D351E9-88C5-4F50-921E-462EFD0C1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13" name="AutoShape 107">
              <a:extLst>
                <a:ext uri="{FF2B5EF4-FFF2-40B4-BE49-F238E27FC236}">
                  <a16:creationId xmlns:a16="http://schemas.microsoft.com/office/drawing/2014/main" id="{C1D04763-499E-46F3-8EB7-5CA62E0C0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14" name="AutoShape 108">
              <a:extLst>
                <a:ext uri="{FF2B5EF4-FFF2-40B4-BE49-F238E27FC236}">
                  <a16:creationId xmlns:a16="http://schemas.microsoft.com/office/drawing/2014/main" id="{F494A05E-D29C-4F9F-9B97-2615D753E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15" name="AutoShape 109">
              <a:extLst>
                <a:ext uri="{FF2B5EF4-FFF2-40B4-BE49-F238E27FC236}">
                  <a16:creationId xmlns:a16="http://schemas.microsoft.com/office/drawing/2014/main" id="{83FCA7F4-F94E-443F-8E3F-A9E26C7E7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16" name="AutoShape 110">
              <a:extLst>
                <a:ext uri="{FF2B5EF4-FFF2-40B4-BE49-F238E27FC236}">
                  <a16:creationId xmlns:a16="http://schemas.microsoft.com/office/drawing/2014/main" id="{31EDCA20-9C91-4C2F-BD2C-5387E5008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17" name="AutoShape 111">
              <a:extLst>
                <a:ext uri="{FF2B5EF4-FFF2-40B4-BE49-F238E27FC236}">
                  <a16:creationId xmlns:a16="http://schemas.microsoft.com/office/drawing/2014/main" id="{B4E011B2-0B24-4D02-9A10-E0B783867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18" name="Line 112">
              <a:extLst>
                <a:ext uri="{FF2B5EF4-FFF2-40B4-BE49-F238E27FC236}">
                  <a16:creationId xmlns:a16="http://schemas.microsoft.com/office/drawing/2014/main" id="{9C634222-A00A-4CE8-93A2-0852810DC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19" name="Line 113">
              <a:extLst>
                <a:ext uri="{FF2B5EF4-FFF2-40B4-BE49-F238E27FC236}">
                  <a16:creationId xmlns:a16="http://schemas.microsoft.com/office/drawing/2014/main" id="{E7608D80-64FD-4E99-A29C-69F949B40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0" name="Line 114">
              <a:extLst>
                <a:ext uri="{FF2B5EF4-FFF2-40B4-BE49-F238E27FC236}">
                  <a16:creationId xmlns:a16="http://schemas.microsoft.com/office/drawing/2014/main" id="{2F11CDF3-3761-4FC6-944D-A77EBBAA6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1" name="Line 115">
              <a:extLst>
                <a:ext uri="{FF2B5EF4-FFF2-40B4-BE49-F238E27FC236}">
                  <a16:creationId xmlns:a16="http://schemas.microsoft.com/office/drawing/2014/main" id="{10EC511F-EA3D-4C44-86C9-3986DBDE9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2" name="Line 116">
              <a:extLst>
                <a:ext uri="{FF2B5EF4-FFF2-40B4-BE49-F238E27FC236}">
                  <a16:creationId xmlns:a16="http://schemas.microsoft.com/office/drawing/2014/main" id="{0FF06D11-3447-4AF2-A981-84D48C6BA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3" name="Line 117">
              <a:extLst>
                <a:ext uri="{FF2B5EF4-FFF2-40B4-BE49-F238E27FC236}">
                  <a16:creationId xmlns:a16="http://schemas.microsoft.com/office/drawing/2014/main" id="{218B8FE9-FC5B-475E-9CFB-84DE684DC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4" name="Line 118">
              <a:extLst>
                <a:ext uri="{FF2B5EF4-FFF2-40B4-BE49-F238E27FC236}">
                  <a16:creationId xmlns:a16="http://schemas.microsoft.com/office/drawing/2014/main" id="{9C7B84BA-9144-4F28-B199-3C60ACEDF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5" name="Line 119">
              <a:extLst>
                <a:ext uri="{FF2B5EF4-FFF2-40B4-BE49-F238E27FC236}">
                  <a16:creationId xmlns:a16="http://schemas.microsoft.com/office/drawing/2014/main" id="{43857DF4-4F1C-40DF-8562-5F34AECBF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6" name="AutoShape 120">
              <a:extLst>
                <a:ext uri="{FF2B5EF4-FFF2-40B4-BE49-F238E27FC236}">
                  <a16:creationId xmlns:a16="http://schemas.microsoft.com/office/drawing/2014/main" id="{6A5A54C7-BD56-4B96-80C6-98F3F93C40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27" name="AutoShape 121">
              <a:extLst>
                <a:ext uri="{FF2B5EF4-FFF2-40B4-BE49-F238E27FC236}">
                  <a16:creationId xmlns:a16="http://schemas.microsoft.com/office/drawing/2014/main" id="{8E9CB0BC-313D-4915-B14E-EF50E68EE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28" name="Line 122">
              <a:extLst>
                <a:ext uri="{FF2B5EF4-FFF2-40B4-BE49-F238E27FC236}">
                  <a16:creationId xmlns:a16="http://schemas.microsoft.com/office/drawing/2014/main" id="{29024DF4-FCD4-4F54-B5A9-93DE7BE7A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29" name="Line 123">
              <a:extLst>
                <a:ext uri="{FF2B5EF4-FFF2-40B4-BE49-F238E27FC236}">
                  <a16:creationId xmlns:a16="http://schemas.microsoft.com/office/drawing/2014/main" id="{E3D91DBF-0E56-4580-BD51-CC89B9589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30" name="AutoShape 124">
              <a:extLst>
                <a:ext uri="{FF2B5EF4-FFF2-40B4-BE49-F238E27FC236}">
                  <a16:creationId xmlns:a16="http://schemas.microsoft.com/office/drawing/2014/main" id="{F3698B9F-3EB7-4F30-ACEC-32559E43E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31" name="Line 125">
              <a:extLst>
                <a:ext uri="{FF2B5EF4-FFF2-40B4-BE49-F238E27FC236}">
                  <a16:creationId xmlns:a16="http://schemas.microsoft.com/office/drawing/2014/main" id="{A04FFA7F-2900-4163-979E-9FDA90E6F9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32" name="AutoShape 126">
              <a:extLst>
                <a:ext uri="{FF2B5EF4-FFF2-40B4-BE49-F238E27FC236}">
                  <a16:creationId xmlns:a16="http://schemas.microsoft.com/office/drawing/2014/main" id="{D131A16F-C057-450C-838C-3445582B2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20933" name="Line 127">
              <a:extLst>
                <a:ext uri="{FF2B5EF4-FFF2-40B4-BE49-F238E27FC236}">
                  <a16:creationId xmlns:a16="http://schemas.microsoft.com/office/drawing/2014/main" id="{79C918D1-AF0C-49D1-BB6B-FFDF297069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34" name="Freeform 128">
              <a:extLst>
                <a:ext uri="{FF2B5EF4-FFF2-40B4-BE49-F238E27FC236}">
                  <a16:creationId xmlns:a16="http://schemas.microsoft.com/office/drawing/2014/main" id="{757C0041-9BD0-4EA7-BECC-CF9CE174A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20935" name="Freeform 129">
              <a:extLst>
                <a:ext uri="{FF2B5EF4-FFF2-40B4-BE49-F238E27FC236}">
                  <a16:creationId xmlns:a16="http://schemas.microsoft.com/office/drawing/2014/main" id="{237D3ABC-ADDB-43F2-AAB4-C3D749949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420879" name="Text Box 130">
            <a:extLst>
              <a:ext uri="{FF2B5EF4-FFF2-40B4-BE49-F238E27FC236}">
                <a16:creationId xmlns:a16="http://schemas.microsoft.com/office/drawing/2014/main" id="{3DB384E8-0272-4850-BD77-693F4C368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2144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specification</a:t>
            </a:r>
          </a:p>
        </p:txBody>
      </p:sp>
      <p:sp>
        <p:nvSpPr>
          <p:cNvPr id="420880" name="Text Box 131">
            <a:extLst>
              <a:ext uri="{FF2B5EF4-FFF2-40B4-BE49-F238E27FC236}">
                <a16:creationId xmlns:a16="http://schemas.microsoft.com/office/drawing/2014/main" id="{74839FDF-3FFB-46B3-B614-0DA2AEAD8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243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implementation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投影片編號版面配置區 5">
            <a:extLst>
              <a:ext uri="{FF2B5EF4-FFF2-40B4-BE49-F238E27FC236}">
                <a16:creationId xmlns:a16="http://schemas.microsoft.com/office/drawing/2014/main" id="{D13337C1-3F84-47A8-B1E7-3679B238A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E3077D-FAC6-4E2C-BC62-0E2EFB14405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22915" name="Rectangle 2">
            <a:extLst>
              <a:ext uri="{FF2B5EF4-FFF2-40B4-BE49-F238E27FC236}">
                <a16:creationId xmlns:a16="http://schemas.microsoft.com/office/drawing/2014/main" id="{3C27E6A5-19B8-4B03-B9C4-DCF77AFBA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Bisimulation-checking</a:t>
            </a:r>
          </a:p>
        </p:txBody>
      </p:sp>
      <p:sp>
        <p:nvSpPr>
          <p:cNvPr id="422916" name="Rectangle 3">
            <a:extLst>
              <a:ext uri="{FF2B5EF4-FFF2-40B4-BE49-F238E27FC236}">
                <a16:creationId xmlns:a16="http://schemas.microsoft.com/office/drawing/2014/main" id="{7468846D-764F-4969-87E9-E4B319DF4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K = (S, S</a:t>
            </a:r>
            <a:r>
              <a:rPr lang="en-US" altLang="zh-TW" sz="2800" baseline="-25000"/>
              <a:t>0</a:t>
            </a:r>
            <a:r>
              <a:rPr lang="en-US" altLang="zh-TW" sz="2800"/>
              <a:t>, R, AP, L)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/>
              <a:t>    K’= (S’, S</a:t>
            </a:r>
            <a:r>
              <a:rPr lang="en-US" altLang="zh-TW" sz="2800" baseline="-25000"/>
              <a:t>0</a:t>
            </a:r>
            <a:r>
              <a:rPr lang="en-US" altLang="zh-TW" sz="2800"/>
              <a:t>’, R’, AP, L’)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Note K and K’ use the same set of atomic propositions AP.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B</a:t>
            </a:r>
            <a:r>
              <a:rPr lang="en-US" altLang="zh-TW" sz="2800">
                <a:sym typeface="Symbol" panose="05050102010706020507" pitchFamily="18" charset="2"/>
              </a:rPr>
              <a:t></a:t>
            </a:r>
            <a:r>
              <a:rPr lang="en-US" altLang="zh-TW" sz="2800"/>
              <a:t>S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 sz="2800"/>
              <a:t>S’ is a </a:t>
            </a:r>
            <a:r>
              <a:rPr lang="en-US" altLang="zh-TW" sz="2800">
                <a:solidFill>
                  <a:srgbClr val="FF33CC"/>
                </a:solidFill>
              </a:rPr>
              <a:t>bisimulation relation</a:t>
            </a:r>
            <a:r>
              <a:rPr lang="en-US" altLang="zh-TW" sz="2800"/>
              <a:t> between K and K’ iff for every B(s, s’):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L(s) = L’(s’)  </a:t>
            </a:r>
            <a:r>
              <a:rPr lang="en-US" altLang="zh-TW" sz="2400">
                <a:solidFill>
                  <a:srgbClr val="FF33CC"/>
                </a:solidFill>
              </a:rPr>
              <a:t>(BSIM 1)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If R(s, s</a:t>
            </a:r>
            <a:r>
              <a:rPr lang="en-US" altLang="zh-TW" sz="2400" baseline="-25000"/>
              <a:t>1</a:t>
            </a:r>
            <a:r>
              <a:rPr lang="en-US" altLang="zh-TW" sz="2400"/>
              <a:t>), then there exists s</a:t>
            </a:r>
            <a:r>
              <a:rPr lang="en-US" altLang="zh-TW" sz="2400" baseline="-25000"/>
              <a:t>1</a:t>
            </a:r>
            <a:r>
              <a:rPr lang="en-US" altLang="zh-TW" sz="2400"/>
              <a:t>’ such that R’(s’, s</a:t>
            </a:r>
            <a:r>
              <a:rPr lang="en-US" altLang="zh-TW" sz="2400" baseline="-25000"/>
              <a:t>1</a:t>
            </a:r>
            <a:r>
              <a:rPr lang="en-US" altLang="zh-TW" sz="2400"/>
              <a:t>’) and B(s</a:t>
            </a:r>
            <a:r>
              <a:rPr lang="en-US" altLang="zh-TW" sz="2400" baseline="-25000"/>
              <a:t>1</a:t>
            </a:r>
            <a:r>
              <a:rPr lang="en-US" altLang="zh-TW" sz="2400"/>
              <a:t>, s</a:t>
            </a:r>
            <a:r>
              <a:rPr lang="en-US" altLang="zh-TW" sz="2400" baseline="-25000"/>
              <a:t>1</a:t>
            </a:r>
            <a:r>
              <a:rPr lang="en-US" altLang="zh-TW" sz="2400"/>
              <a:t>’). </a:t>
            </a:r>
            <a:r>
              <a:rPr lang="en-US" altLang="zh-TW" sz="2400">
                <a:solidFill>
                  <a:srgbClr val="FF33CC"/>
                </a:solidFill>
              </a:rPr>
              <a:t>(BISIM 2)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If R(s’, s</a:t>
            </a:r>
            <a:r>
              <a:rPr lang="en-US" altLang="zh-TW" sz="2400" baseline="-25000"/>
              <a:t>2</a:t>
            </a:r>
            <a:r>
              <a:rPr lang="en-US" altLang="zh-TW" sz="2400"/>
              <a:t>’), then there exists s</a:t>
            </a:r>
            <a:r>
              <a:rPr lang="en-US" altLang="zh-TW" sz="2400" baseline="-25000"/>
              <a:t>2</a:t>
            </a:r>
            <a:r>
              <a:rPr lang="en-US" altLang="zh-TW" sz="2400"/>
              <a:t> such that R(s, s</a:t>
            </a:r>
            <a:r>
              <a:rPr lang="en-US" altLang="zh-TW" sz="2400" baseline="-25000"/>
              <a:t>2</a:t>
            </a:r>
            <a:r>
              <a:rPr lang="en-US" altLang="zh-TW" sz="2400"/>
              <a:t>) and B(s</a:t>
            </a:r>
            <a:r>
              <a:rPr lang="en-US" altLang="zh-TW" sz="2400" baseline="-25000"/>
              <a:t>2</a:t>
            </a:r>
            <a:r>
              <a:rPr lang="en-US" altLang="zh-TW" sz="2400"/>
              <a:t>, s</a:t>
            </a:r>
            <a:r>
              <a:rPr lang="en-US" altLang="zh-TW" sz="2400" baseline="-25000"/>
              <a:t>2</a:t>
            </a:r>
            <a:r>
              <a:rPr lang="en-US" altLang="zh-TW" sz="2400"/>
              <a:t>’). </a:t>
            </a:r>
            <a:r>
              <a:rPr lang="en-US" altLang="zh-TW" sz="2400">
                <a:solidFill>
                  <a:srgbClr val="FF33CC"/>
                </a:solidFill>
              </a:rPr>
              <a:t>(BISIM 3)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投影片編號版面配置區 4">
            <a:extLst>
              <a:ext uri="{FF2B5EF4-FFF2-40B4-BE49-F238E27FC236}">
                <a16:creationId xmlns:a16="http://schemas.microsoft.com/office/drawing/2014/main" id="{C10DFA50-B23B-4DB1-916A-36FD4269F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06E7E-0878-4485-8C38-F5C34E8CDD3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24963" name="Rectangle 2">
            <a:extLst>
              <a:ext uri="{FF2B5EF4-FFF2-40B4-BE49-F238E27FC236}">
                <a16:creationId xmlns:a16="http://schemas.microsoft.com/office/drawing/2014/main" id="{74AD6647-6FEE-4D1A-BDE4-CA32938CE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Bisimulations</a:t>
            </a:r>
          </a:p>
        </p:txBody>
      </p:sp>
      <p:sp>
        <p:nvSpPr>
          <p:cNvPr id="424964" name="Oval 3">
            <a:extLst>
              <a:ext uri="{FF2B5EF4-FFF2-40B4-BE49-F238E27FC236}">
                <a16:creationId xmlns:a16="http://schemas.microsoft.com/office/drawing/2014/main" id="{5F72D806-7536-4187-814E-B70864CA5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2819400" cy="1981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4965" name="Oval 4">
            <a:extLst>
              <a:ext uri="{FF2B5EF4-FFF2-40B4-BE49-F238E27FC236}">
                <a16:creationId xmlns:a16="http://schemas.microsoft.com/office/drawing/2014/main" id="{B136B278-A492-49B1-97F8-700EBBD6F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25908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4966" name="Text Box 5">
            <a:extLst>
              <a:ext uri="{FF2B5EF4-FFF2-40B4-BE49-F238E27FC236}">
                <a16:creationId xmlns:a16="http://schemas.microsoft.com/office/drawing/2014/main" id="{CF06FF7C-CA4E-47FC-8BEB-6244A9784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424967" name="Text Box 6">
            <a:extLst>
              <a:ext uri="{FF2B5EF4-FFF2-40B4-BE49-F238E27FC236}">
                <a16:creationId xmlns:a16="http://schemas.microsoft.com/office/drawing/2014/main" id="{6D4434E6-1715-4DBF-AC64-734C690BD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2672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K’</a:t>
            </a:r>
          </a:p>
        </p:txBody>
      </p:sp>
      <p:sp>
        <p:nvSpPr>
          <p:cNvPr id="424968" name="Oval 7">
            <a:extLst>
              <a:ext uri="{FF2B5EF4-FFF2-40B4-BE49-F238E27FC236}">
                <a16:creationId xmlns:a16="http://schemas.microsoft.com/office/drawing/2014/main" id="{6FCACDF1-0B3E-4FF4-AD70-B32CD04F4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4969" name="Oval 8">
            <a:extLst>
              <a:ext uri="{FF2B5EF4-FFF2-40B4-BE49-F238E27FC236}">
                <a16:creationId xmlns:a16="http://schemas.microsoft.com/office/drawing/2014/main" id="{DDB7F526-7DE9-4C37-9AD1-5845D5100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43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4970" name="Line 9">
            <a:extLst>
              <a:ext uri="{FF2B5EF4-FFF2-40B4-BE49-F238E27FC236}">
                <a16:creationId xmlns:a16="http://schemas.microsoft.com/office/drawing/2014/main" id="{9792F95C-C5E8-4B4C-A394-556DC0C0A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743200"/>
            <a:ext cx="42672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4971" name="Text Box 10">
            <a:extLst>
              <a:ext uri="{FF2B5EF4-FFF2-40B4-BE49-F238E27FC236}">
                <a16:creationId xmlns:a16="http://schemas.microsoft.com/office/drawing/2014/main" id="{F47E1248-0681-485E-9201-1D59A1FEE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14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4972" name="Text Box 11">
            <a:extLst>
              <a:ext uri="{FF2B5EF4-FFF2-40B4-BE49-F238E27FC236}">
                <a16:creationId xmlns:a16="http://schemas.microsoft.com/office/drawing/2014/main" id="{6C737172-4500-4674-8B74-6F6E7AB63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s’</a:t>
            </a:r>
          </a:p>
        </p:txBody>
      </p:sp>
      <p:sp>
        <p:nvSpPr>
          <p:cNvPr id="424973" name="Line 12">
            <a:extLst>
              <a:ext uri="{FF2B5EF4-FFF2-40B4-BE49-F238E27FC236}">
                <a16:creationId xmlns:a16="http://schemas.microsoft.com/office/drawing/2014/main" id="{41BF6F25-283F-47A0-99CB-1CF49429D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2819400"/>
            <a:ext cx="381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4974" name="Oval 13">
            <a:extLst>
              <a:ext uri="{FF2B5EF4-FFF2-40B4-BE49-F238E27FC236}">
                <a16:creationId xmlns:a16="http://schemas.microsoft.com/office/drawing/2014/main" id="{658DB6C9-D143-4871-8E6D-AE60A28DD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4975" name="Text Box 14">
            <a:extLst>
              <a:ext uri="{FF2B5EF4-FFF2-40B4-BE49-F238E27FC236}">
                <a16:creationId xmlns:a16="http://schemas.microsoft.com/office/drawing/2014/main" id="{6EF8D3E8-0036-4D02-9E88-62D913CCC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投影片編號版面配置區 4">
            <a:extLst>
              <a:ext uri="{FF2B5EF4-FFF2-40B4-BE49-F238E27FC236}">
                <a16:creationId xmlns:a16="http://schemas.microsoft.com/office/drawing/2014/main" id="{FED39E54-AEDA-4776-833A-896D57678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12C068-5A75-4893-8397-07053CDA47DE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27011" name="Rectangle 2">
            <a:extLst>
              <a:ext uri="{FF2B5EF4-FFF2-40B4-BE49-F238E27FC236}">
                <a16:creationId xmlns:a16="http://schemas.microsoft.com/office/drawing/2014/main" id="{D05B84FE-D063-4E19-91F0-BEDDB453A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Bisimulations</a:t>
            </a:r>
          </a:p>
        </p:txBody>
      </p:sp>
      <p:sp>
        <p:nvSpPr>
          <p:cNvPr id="427012" name="Oval 3">
            <a:extLst>
              <a:ext uri="{FF2B5EF4-FFF2-40B4-BE49-F238E27FC236}">
                <a16:creationId xmlns:a16="http://schemas.microsoft.com/office/drawing/2014/main" id="{F719CA99-026B-4299-B4C1-D1AE026E4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2819400" cy="1981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13" name="Oval 4">
            <a:extLst>
              <a:ext uri="{FF2B5EF4-FFF2-40B4-BE49-F238E27FC236}">
                <a16:creationId xmlns:a16="http://schemas.microsoft.com/office/drawing/2014/main" id="{5609F46E-F05F-4B66-808A-DFA32CCC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25908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14" name="Text Box 5">
            <a:extLst>
              <a:ext uri="{FF2B5EF4-FFF2-40B4-BE49-F238E27FC236}">
                <a16:creationId xmlns:a16="http://schemas.microsoft.com/office/drawing/2014/main" id="{66C5CB76-C575-461D-A17F-1D422C26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427015" name="Text Box 6">
            <a:extLst>
              <a:ext uri="{FF2B5EF4-FFF2-40B4-BE49-F238E27FC236}">
                <a16:creationId xmlns:a16="http://schemas.microsoft.com/office/drawing/2014/main" id="{4C138495-3CCD-4358-ADEA-4E7E20C5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2672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K’</a:t>
            </a:r>
          </a:p>
        </p:txBody>
      </p:sp>
      <p:sp>
        <p:nvSpPr>
          <p:cNvPr id="427016" name="Oval 7">
            <a:extLst>
              <a:ext uri="{FF2B5EF4-FFF2-40B4-BE49-F238E27FC236}">
                <a16:creationId xmlns:a16="http://schemas.microsoft.com/office/drawing/2014/main" id="{C76DC3D0-1AEE-42C1-A389-40A6DD2D6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17" name="Oval 8">
            <a:extLst>
              <a:ext uri="{FF2B5EF4-FFF2-40B4-BE49-F238E27FC236}">
                <a16:creationId xmlns:a16="http://schemas.microsoft.com/office/drawing/2014/main" id="{91D5A23E-B1BD-44A1-9F96-66591F2D5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43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18" name="Line 9">
            <a:extLst>
              <a:ext uri="{FF2B5EF4-FFF2-40B4-BE49-F238E27FC236}">
                <a16:creationId xmlns:a16="http://schemas.microsoft.com/office/drawing/2014/main" id="{DB710023-AC51-4583-ABC3-1E480C397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743200"/>
            <a:ext cx="42672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7019" name="Text Box 10">
            <a:extLst>
              <a:ext uri="{FF2B5EF4-FFF2-40B4-BE49-F238E27FC236}">
                <a16:creationId xmlns:a16="http://schemas.microsoft.com/office/drawing/2014/main" id="{19629B52-7099-47B1-BE01-01FAEE57C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14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7020" name="Text Box 11">
            <a:extLst>
              <a:ext uri="{FF2B5EF4-FFF2-40B4-BE49-F238E27FC236}">
                <a16:creationId xmlns:a16="http://schemas.microsoft.com/office/drawing/2014/main" id="{AF9959F7-3FD8-4C7E-BE1B-7D1C430A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s’</a:t>
            </a:r>
          </a:p>
        </p:txBody>
      </p:sp>
      <p:sp>
        <p:nvSpPr>
          <p:cNvPr id="427021" name="Line 12">
            <a:extLst>
              <a:ext uri="{FF2B5EF4-FFF2-40B4-BE49-F238E27FC236}">
                <a16:creationId xmlns:a16="http://schemas.microsoft.com/office/drawing/2014/main" id="{D4FC5C04-D0F1-4C6E-8D1A-8061D63C39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2819400"/>
            <a:ext cx="381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7022" name="Oval 13">
            <a:extLst>
              <a:ext uri="{FF2B5EF4-FFF2-40B4-BE49-F238E27FC236}">
                <a16:creationId xmlns:a16="http://schemas.microsoft.com/office/drawing/2014/main" id="{550E6591-8F97-43BB-940C-76EB38A7B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23" name="Text Box 14">
            <a:extLst>
              <a:ext uri="{FF2B5EF4-FFF2-40B4-BE49-F238E27FC236}">
                <a16:creationId xmlns:a16="http://schemas.microsoft.com/office/drawing/2014/main" id="{67681BA0-EEA0-4BF8-B951-A6DB06EB7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27024" name="Line 15">
            <a:extLst>
              <a:ext uri="{FF2B5EF4-FFF2-40B4-BE49-F238E27FC236}">
                <a16:creationId xmlns:a16="http://schemas.microsoft.com/office/drawing/2014/main" id="{F4EE96DA-AF73-486E-A0C0-2DD922E3DE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895600"/>
            <a:ext cx="3810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7025" name="Oval 16">
            <a:extLst>
              <a:ext uri="{FF2B5EF4-FFF2-40B4-BE49-F238E27FC236}">
                <a16:creationId xmlns:a16="http://schemas.microsoft.com/office/drawing/2014/main" id="{72FD8F29-B520-4AA9-9DA1-3C82627B7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352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7026" name="Text Box 17">
            <a:extLst>
              <a:ext uri="{FF2B5EF4-FFF2-40B4-BE49-F238E27FC236}">
                <a16:creationId xmlns:a16="http://schemas.microsoft.com/office/drawing/2014/main" id="{800AD009-884C-4F8B-9796-0BD863C0D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429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’</a:t>
            </a:r>
          </a:p>
        </p:txBody>
      </p:sp>
      <p:sp>
        <p:nvSpPr>
          <p:cNvPr id="427027" name="Line 18">
            <a:extLst>
              <a:ext uri="{FF2B5EF4-FFF2-40B4-BE49-F238E27FC236}">
                <a16:creationId xmlns:a16="http://schemas.microsoft.com/office/drawing/2014/main" id="{BCDA6227-C6EA-48AF-BABC-6CE71B1DAB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429000"/>
            <a:ext cx="51054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投影片編號版面配置區 4">
            <a:extLst>
              <a:ext uri="{FF2B5EF4-FFF2-40B4-BE49-F238E27FC236}">
                <a16:creationId xmlns:a16="http://schemas.microsoft.com/office/drawing/2014/main" id="{598B3643-197A-42BE-B1C3-10662EFC6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3E6637-A403-40B6-802F-DEC9D4EA443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29059" name="Rectangle 2">
            <a:extLst>
              <a:ext uri="{FF2B5EF4-FFF2-40B4-BE49-F238E27FC236}">
                <a16:creationId xmlns:a16="http://schemas.microsoft.com/office/drawing/2014/main" id="{D595FF82-19FB-49B6-B4AD-086BF5C62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Bisimulations</a:t>
            </a:r>
          </a:p>
        </p:txBody>
      </p:sp>
      <p:sp>
        <p:nvSpPr>
          <p:cNvPr id="429060" name="Oval 3">
            <a:extLst>
              <a:ext uri="{FF2B5EF4-FFF2-40B4-BE49-F238E27FC236}">
                <a16:creationId xmlns:a16="http://schemas.microsoft.com/office/drawing/2014/main" id="{CC2925E6-CBE7-48AC-9975-C9A340519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2819400" cy="1981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9061" name="Oval 4">
            <a:extLst>
              <a:ext uri="{FF2B5EF4-FFF2-40B4-BE49-F238E27FC236}">
                <a16:creationId xmlns:a16="http://schemas.microsoft.com/office/drawing/2014/main" id="{46FD4BBD-65C6-4DE8-A116-A5132D288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25908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9062" name="Text Box 5">
            <a:extLst>
              <a:ext uri="{FF2B5EF4-FFF2-40B4-BE49-F238E27FC236}">
                <a16:creationId xmlns:a16="http://schemas.microsoft.com/office/drawing/2014/main" id="{C99EFB73-9F7E-4D89-A50E-3F1A76F46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429063" name="Text Box 6">
            <a:extLst>
              <a:ext uri="{FF2B5EF4-FFF2-40B4-BE49-F238E27FC236}">
                <a16:creationId xmlns:a16="http://schemas.microsoft.com/office/drawing/2014/main" id="{D9334843-EB77-44C0-899D-D1F95D101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2672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K’</a:t>
            </a:r>
          </a:p>
        </p:txBody>
      </p:sp>
      <p:sp>
        <p:nvSpPr>
          <p:cNvPr id="429064" name="Oval 7">
            <a:extLst>
              <a:ext uri="{FF2B5EF4-FFF2-40B4-BE49-F238E27FC236}">
                <a16:creationId xmlns:a16="http://schemas.microsoft.com/office/drawing/2014/main" id="{11BCEE11-69CC-47E2-B54E-7396D0E9C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9065" name="Oval 8">
            <a:extLst>
              <a:ext uri="{FF2B5EF4-FFF2-40B4-BE49-F238E27FC236}">
                <a16:creationId xmlns:a16="http://schemas.microsoft.com/office/drawing/2014/main" id="{1661B7D9-AA81-4A8D-9924-4D9F0957D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43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9066" name="Line 9">
            <a:extLst>
              <a:ext uri="{FF2B5EF4-FFF2-40B4-BE49-F238E27FC236}">
                <a16:creationId xmlns:a16="http://schemas.microsoft.com/office/drawing/2014/main" id="{8139B7FE-E2C2-402F-AEFC-6BBFA0A82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743200"/>
            <a:ext cx="42672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9067" name="Text Box 10">
            <a:extLst>
              <a:ext uri="{FF2B5EF4-FFF2-40B4-BE49-F238E27FC236}">
                <a16:creationId xmlns:a16="http://schemas.microsoft.com/office/drawing/2014/main" id="{D7E93C5B-E74B-42BE-B9EB-BE85C1A2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14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9068" name="Text Box 11">
            <a:extLst>
              <a:ext uri="{FF2B5EF4-FFF2-40B4-BE49-F238E27FC236}">
                <a16:creationId xmlns:a16="http://schemas.microsoft.com/office/drawing/2014/main" id="{80FCD757-E783-44D1-A970-62CB66815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s’</a:t>
            </a:r>
          </a:p>
        </p:txBody>
      </p:sp>
      <p:sp>
        <p:nvSpPr>
          <p:cNvPr id="429069" name="Line 12">
            <a:extLst>
              <a:ext uri="{FF2B5EF4-FFF2-40B4-BE49-F238E27FC236}">
                <a16:creationId xmlns:a16="http://schemas.microsoft.com/office/drawing/2014/main" id="{FD8B099C-AA5A-4566-967E-62699CBF6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895600"/>
            <a:ext cx="3810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9070" name="Oval 13">
            <a:extLst>
              <a:ext uri="{FF2B5EF4-FFF2-40B4-BE49-F238E27FC236}">
                <a16:creationId xmlns:a16="http://schemas.microsoft.com/office/drawing/2014/main" id="{3D8D2190-5DBD-4D90-98F6-1778783AC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352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29071" name="Text Box 14">
            <a:extLst>
              <a:ext uri="{FF2B5EF4-FFF2-40B4-BE49-F238E27FC236}">
                <a16:creationId xmlns:a16="http://schemas.microsoft.com/office/drawing/2014/main" id="{DF1B80C2-6548-4648-9C2F-91A1DA61E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429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’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投影片編號版面配置區 4">
            <a:extLst>
              <a:ext uri="{FF2B5EF4-FFF2-40B4-BE49-F238E27FC236}">
                <a16:creationId xmlns:a16="http://schemas.microsoft.com/office/drawing/2014/main" id="{EE8E466E-2A3B-4250-B751-5D3D44F4E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B6E241-DBD0-427B-ADAA-725813E19CC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1107" name="Rectangle 2">
            <a:extLst>
              <a:ext uri="{FF2B5EF4-FFF2-40B4-BE49-F238E27FC236}">
                <a16:creationId xmlns:a16="http://schemas.microsoft.com/office/drawing/2014/main" id="{7C445172-3939-4573-9AE0-FEB8AABCD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Bisimulations</a:t>
            </a:r>
          </a:p>
        </p:txBody>
      </p:sp>
      <p:sp>
        <p:nvSpPr>
          <p:cNvPr id="431108" name="Oval 3">
            <a:extLst>
              <a:ext uri="{FF2B5EF4-FFF2-40B4-BE49-F238E27FC236}">
                <a16:creationId xmlns:a16="http://schemas.microsoft.com/office/drawing/2014/main" id="{1A2D203D-78B6-4F78-B10A-E17A54955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2819400" cy="1981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09" name="Oval 4">
            <a:extLst>
              <a:ext uri="{FF2B5EF4-FFF2-40B4-BE49-F238E27FC236}">
                <a16:creationId xmlns:a16="http://schemas.microsoft.com/office/drawing/2014/main" id="{34E074DB-B7C2-4D5C-925D-27151631D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362200"/>
            <a:ext cx="2590800" cy="1752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10" name="Text Box 5">
            <a:extLst>
              <a:ext uri="{FF2B5EF4-FFF2-40B4-BE49-F238E27FC236}">
                <a16:creationId xmlns:a16="http://schemas.microsoft.com/office/drawing/2014/main" id="{7DA814AE-E73A-433B-B0FB-84CB9BA79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431111" name="Text Box 6">
            <a:extLst>
              <a:ext uri="{FF2B5EF4-FFF2-40B4-BE49-F238E27FC236}">
                <a16:creationId xmlns:a16="http://schemas.microsoft.com/office/drawing/2014/main" id="{70953943-B308-4BF6-9FD4-487FE5F79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2672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K’</a:t>
            </a:r>
          </a:p>
        </p:txBody>
      </p:sp>
      <p:sp>
        <p:nvSpPr>
          <p:cNvPr id="431112" name="Oval 7">
            <a:extLst>
              <a:ext uri="{FF2B5EF4-FFF2-40B4-BE49-F238E27FC236}">
                <a16:creationId xmlns:a16="http://schemas.microsoft.com/office/drawing/2014/main" id="{0AA86A54-CA1A-4685-A855-B4867FEFE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13" name="Oval 8">
            <a:extLst>
              <a:ext uri="{FF2B5EF4-FFF2-40B4-BE49-F238E27FC236}">
                <a16:creationId xmlns:a16="http://schemas.microsoft.com/office/drawing/2014/main" id="{2EF90CC3-5785-48E0-AF82-1C875E01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432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14" name="Line 9">
            <a:extLst>
              <a:ext uri="{FF2B5EF4-FFF2-40B4-BE49-F238E27FC236}">
                <a16:creationId xmlns:a16="http://schemas.microsoft.com/office/drawing/2014/main" id="{B91E92B6-5B64-4C1C-8C3E-EBADFF212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743200"/>
            <a:ext cx="42672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1115" name="Text Box 10">
            <a:extLst>
              <a:ext uri="{FF2B5EF4-FFF2-40B4-BE49-F238E27FC236}">
                <a16:creationId xmlns:a16="http://schemas.microsoft.com/office/drawing/2014/main" id="{1C7EB8FC-D359-41BE-B30D-AABA2FC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14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1116" name="Text Box 11">
            <a:extLst>
              <a:ext uri="{FF2B5EF4-FFF2-40B4-BE49-F238E27FC236}">
                <a16:creationId xmlns:a16="http://schemas.microsoft.com/office/drawing/2014/main" id="{E4B026B1-B08A-4093-848F-8B40F0F6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s’</a:t>
            </a:r>
          </a:p>
        </p:txBody>
      </p:sp>
      <p:sp>
        <p:nvSpPr>
          <p:cNvPr id="431117" name="Line 12">
            <a:extLst>
              <a:ext uri="{FF2B5EF4-FFF2-40B4-BE49-F238E27FC236}">
                <a16:creationId xmlns:a16="http://schemas.microsoft.com/office/drawing/2014/main" id="{F7DD724C-DD8B-45E8-BCA8-65D96B317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2819400"/>
            <a:ext cx="381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1118" name="Oval 13">
            <a:extLst>
              <a:ext uri="{FF2B5EF4-FFF2-40B4-BE49-F238E27FC236}">
                <a16:creationId xmlns:a16="http://schemas.microsoft.com/office/drawing/2014/main" id="{3F0D331C-2811-4515-A1FB-B985113DD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52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19" name="Text Box 14">
            <a:extLst>
              <a:ext uri="{FF2B5EF4-FFF2-40B4-BE49-F238E27FC236}">
                <a16:creationId xmlns:a16="http://schemas.microsoft.com/office/drawing/2014/main" id="{4FE56A0D-532E-475C-ABC4-D6BF196E9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31120" name="Line 15">
            <a:extLst>
              <a:ext uri="{FF2B5EF4-FFF2-40B4-BE49-F238E27FC236}">
                <a16:creationId xmlns:a16="http://schemas.microsoft.com/office/drawing/2014/main" id="{903D0C44-4E84-4EB9-907F-CD35FFDCA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895600"/>
            <a:ext cx="3810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1121" name="Oval 16">
            <a:extLst>
              <a:ext uri="{FF2B5EF4-FFF2-40B4-BE49-F238E27FC236}">
                <a16:creationId xmlns:a16="http://schemas.microsoft.com/office/drawing/2014/main" id="{FF1329F7-0C1A-4D38-8A45-36BBCA3DE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3528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431122" name="Text Box 17">
            <a:extLst>
              <a:ext uri="{FF2B5EF4-FFF2-40B4-BE49-F238E27FC236}">
                <a16:creationId xmlns:a16="http://schemas.microsoft.com/office/drawing/2014/main" id="{3D962252-92B5-455B-AB3C-D9376F4D4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429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kumimoji="0" lang="en-US" altLang="zh-TW" sz="24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kumimoji="0" lang="en-US" altLang="zh-TW" sz="2400">
                <a:solidFill>
                  <a:schemeClr val="accent2"/>
                </a:solidFill>
                <a:latin typeface="Times New Roman" panose="02020603050405020304" pitchFamily="18" charset="0"/>
              </a:rPr>
              <a:t>’</a:t>
            </a:r>
          </a:p>
        </p:txBody>
      </p:sp>
      <p:sp>
        <p:nvSpPr>
          <p:cNvPr id="431123" name="Line 18">
            <a:extLst>
              <a:ext uri="{FF2B5EF4-FFF2-40B4-BE49-F238E27FC236}">
                <a16:creationId xmlns:a16="http://schemas.microsoft.com/office/drawing/2014/main" id="{FB7F452A-6B73-4D09-9AF7-EA12AB8D33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429000"/>
            <a:ext cx="5105400" cy="76200"/>
          </a:xfrm>
          <a:prstGeom prst="line">
            <a:avLst/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投影片編號版面配置區 4">
            <a:extLst>
              <a:ext uri="{FF2B5EF4-FFF2-40B4-BE49-F238E27FC236}">
                <a16:creationId xmlns:a16="http://schemas.microsoft.com/office/drawing/2014/main" id="{FF06ADC5-6FC6-410B-A5FC-974AEFB61D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518871-7DF0-4AA7-83FB-2CA747BFC11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3155" name="Rectangle 2">
            <a:extLst>
              <a:ext uri="{FF2B5EF4-FFF2-40B4-BE49-F238E27FC236}">
                <a16:creationId xmlns:a16="http://schemas.microsoft.com/office/drawing/2014/main" id="{4C237992-8EAF-47F6-AFB5-DCD6C82B6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33156" name="Oval 3">
            <a:extLst>
              <a:ext uri="{FF2B5EF4-FFF2-40B4-BE49-F238E27FC236}">
                <a16:creationId xmlns:a16="http://schemas.microsoft.com/office/drawing/2014/main" id="{DB851FAA-5B40-4446-BA8E-2328EE5D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362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3157" name="Oval 4">
            <a:extLst>
              <a:ext uri="{FF2B5EF4-FFF2-40B4-BE49-F238E27FC236}">
                <a16:creationId xmlns:a16="http://schemas.microsoft.com/office/drawing/2014/main" id="{89F1A9AE-C2A7-4E7C-9500-BE61D8983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438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cxnSp>
        <p:nvCxnSpPr>
          <p:cNvPr id="433158" name="AutoShape 5">
            <a:extLst>
              <a:ext uri="{FF2B5EF4-FFF2-40B4-BE49-F238E27FC236}">
                <a16:creationId xmlns:a16="http://schemas.microsoft.com/office/drawing/2014/main" id="{9D6E58CB-0354-4100-8639-A2436EF3E660}"/>
              </a:ext>
            </a:extLst>
          </p:cNvPr>
          <p:cNvCxnSpPr>
            <a:cxnSpLocks noChangeShapeType="1"/>
            <a:stCxn id="433156" idx="0"/>
            <a:endCxn id="433157" idx="0"/>
          </p:cNvCxnSpPr>
          <p:nvPr/>
        </p:nvCxnSpPr>
        <p:spPr bwMode="auto">
          <a:xfrm rot="5400000" flipV="1">
            <a:off x="4191000" y="762000"/>
            <a:ext cx="76200" cy="3276600"/>
          </a:xfrm>
          <a:prstGeom prst="curvedConnector3">
            <a:avLst>
              <a:gd name="adj1" fmla="val -3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3159" name="AutoShape 6">
            <a:extLst>
              <a:ext uri="{FF2B5EF4-FFF2-40B4-BE49-F238E27FC236}">
                <a16:creationId xmlns:a16="http://schemas.microsoft.com/office/drawing/2014/main" id="{E9280441-0A61-4FDC-AADE-95ECB6ACDD64}"/>
              </a:ext>
            </a:extLst>
          </p:cNvPr>
          <p:cNvCxnSpPr>
            <a:cxnSpLocks noChangeShapeType="1"/>
            <a:stCxn id="433157" idx="4"/>
            <a:endCxn id="433156" idx="4"/>
          </p:cNvCxnSpPr>
          <p:nvPr/>
        </p:nvCxnSpPr>
        <p:spPr bwMode="auto">
          <a:xfrm rot="16200000" flipV="1">
            <a:off x="4191000" y="1219200"/>
            <a:ext cx="76200" cy="3276600"/>
          </a:xfrm>
          <a:prstGeom prst="curvedConnector3">
            <a:avLst>
              <a:gd name="adj1" fmla="val -3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3160" name="Oval 7">
            <a:extLst>
              <a:ext uri="{FF2B5EF4-FFF2-40B4-BE49-F238E27FC236}">
                <a16:creationId xmlns:a16="http://schemas.microsoft.com/office/drawing/2014/main" id="{DF4C59C0-E9CB-453A-B05C-7CBD7D3F3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3161" name="Oval 8">
            <a:extLst>
              <a:ext uri="{FF2B5EF4-FFF2-40B4-BE49-F238E27FC236}">
                <a16:creationId xmlns:a16="http://schemas.microsoft.com/office/drawing/2014/main" id="{AF16214F-1A9F-4AD6-8166-4C899E26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3162" name="Oval 9">
            <a:extLst>
              <a:ext uri="{FF2B5EF4-FFF2-40B4-BE49-F238E27FC236}">
                <a16:creationId xmlns:a16="http://schemas.microsoft.com/office/drawing/2014/main" id="{AE18B9F4-105B-4E3F-BD0D-D7C1E77EB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3163" name="Oval 10">
            <a:extLst>
              <a:ext uri="{FF2B5EF4-FFF2-40B4-BE49-F238E27FC236}">
                <a16:creationId xmlns:a16="http://schemas.microsoft.com/office/drawing/2014/main" id="{3E339A8A-2A51-44FF-87AC-DEC69A601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3164" name="Oval 11">
            <a:extLst>
              <a:ext uri="{FF2B5EF4-FFF2-40B4-BE49-F238E27FC236}">
                <a16:creationId xmlns:a16="http://schemas.microsoft.com/office/drawing/2014/main" id="{43F89A40-B5CD-4503-99C8-8436C7815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3165" name="Oval 12">
            <a:extLst>
              <a:ext uri="{FF2B5EF4-FFF2-40B4-BE49-F238E27FC236}">
                <a16:creationId xmlns:a16="http://schemas.microsoft.com/office/drawing/2014/main" id="{2B0DDFE6-3499-42A9-80A5-599E7B7D4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3166" name="Text Box 13">
            <a:extLst>
              <a:ext uri="{FF2B5EF4-FFF2-40B4-BE49-F238E27FC236}">
                <a16:creationId xmlns:a16="http://schemas.microsoft.com/office/drawing/2014/main" id="{F299D498-2A4F-4073-A8C5-D6AA893FD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810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…..</a:t>
            </a:r>
          </a:p>
        </p:txBody>
      </p:sp>
      <p:sp>
        <p:nvSpPr>
          <p:cNvPr id="433167" name="Line 14">
            <a:extLst>
              <a:ext uri="{FF2B5EF4-FFF2-40B4-BE49-F238E27FC236}">
                <a16:creationId xmlns:a16="http://schemas.microsoft.com/office/drawing/2014/main" id="{6C4DFBFC-B8AC-4463-83DF-21BFCF1F0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68" name="Line 15">
            <a:extLst>
              <a:ext uri="{FF2B5EF4-FFF2-40B4-BE49-F238E27FC236}">
                <a16:creationId xmlns:a16="http://schemas.microsoft.com/office/drawing/2014/main" id="{8A01C697-3277-4680-AEE8-F5F5D9823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69" name="Line 16">
            <a:extLst>
              <a:ext uri="{FF2B5EF4-FFF2-40B4-BE49-F238E27FC236}">
                <a16:creationId xmlns:a16="http://schemas.microsoft.com/office/drawing/2014/main" id="{70BA7F99-DC04-41BB-84F6-33C12F838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0" name="Line 17">
            <a:extLst>
              <a:ext uri="{FF2B5EF4-FFF2-40B4-BE49-F238E27FC236}">
                <a16:creationId xmlns:a16="http://schemas.microsoft.com/office/drawing/2014/main" id="{91200315-070E-45CF-9EBD-EB917AAA5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1" name="Line 18">
            <a:extLst>
              <a:ext uri="{FF2B5EF4-FFF2-40B4-BE49-F238E27FC236}">
                <a16:creationId xmlns:a16="http://schemas.microsoft.com/office/drawing/2014/main" id="{31E12BEB-5339-40A0-86BE-54E8748CE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2" name="Line 19">
            <a:extLst>
              <a:ext uri="{FF2B5EF4-FFF2-40B4-BE49-F238E27FC236}">
                <a16:creationId xmlns:a16="http://schemas.microsoft.com/office/drawing/2014/main" id="{01054203-0992-4CD6-AC5D-0F5642269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3" name="Line 20">
            <a:extLst>
              <a:ext uri="{FF2B5EF4-FFF2-40B4-BE49-F238E27FC236}">
                <a16:creationId xmlns:a16="http://schemas.microsoft.com/office/drawing/2014/main" id="{8370ED09-5A34-4C19-BED2-012DB92FC1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2743200"/>
            <a:ext cx="11430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4" name="Line 21">
            <a:extLst>
              <a:ext uri="{FF2B5EF4-FFF2-40B4-BE49-F238E27FC236}">
                <a16:creationId xmlns:a16="http://schemas.microsoft.com/office/drawing/2014/main" id="{FD2D51ED-0CA3-4E4E-801E-7A905F4A4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43200"/>
            <a:ext cx="914400" cy="12192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5" name="Line 22">
            <a:extLst>
              <a:ext uri="{FF2B5EF4-FFF2-40B4-BE49-F238E27FC236}">
                <a16:creationId xmlns:a16="http://schemas.microsoft.com/office/drawing/2014/main" id="{060C1FCF-6309-4037-9EE6-D28A4B78A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667000"/>
            <a:ext cx="3505200" cy="12192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6" name="Line 23">
            <a:extLst>
              <a:ext uri="{FF2B5EF4-FFF2-40B4-BE49-F238E27FC236}">
                <a16:creationId xmlns:a16="http://schemas.microsoft.com/office/drawing/2014/main" id="{1037810D-B255-4261-AC85-70BB7458E1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743200"/>
            <a:ext cx="29718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7" name="Line 24">
            <a:extLst>
              <a:ext uri="{FF2B5EF4-FFF2-40B4-BE49-F238E27FC236}">
                <a16:creationId xmlns:a16="http://schemas.microsoft.com/office/drawing/2014/main" id="{A818CF72-5B1E-48C7-A240-34A57EC8B5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895600"/>
            <a:ext cx="609600" cy="9906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8" name="Line 25">
            <a:extLst>
              <a:ext uri="{FF2B5EF4-FFF2-40B4-BE49-F238E27FC236}">
                <a16:creationId xmlns:a16="http://schemas.microsoft.com/office/drawing/2014/main" id="{A5D06D77-108C-4787-B4A3-4BCCB14DA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43200"/>
            <a:ext cx="15240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3179" name="Line 26">
            <a:extLst>
              <a:ext uri="{FF2B5EF4-FFF2-40B4-BE49-F238E27FC236}">
                <a16:creationId xmlns:a16="http://schemas.microsoft.com/office/drawing/2014/main" id="{C712C7FB-630A-48DF-968F-C7EC9C7A7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352800"/>
            <a:ext cx="8305800" cy="7620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投影片編號版面配置區 4">
            <a:extLst>
              <a:ext uri="{FF2B5EF4-FFF2-40B4-BE49-F238E27FC236}">
                <a16:creationId xmlns:a16="http://schemas.microsoft.com/office/drawing/2014/main" id="{77FC627D-9F1E-4D31-ABF6-625414E55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991C08-7603-46A3-B635-FE589B5016A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5203" name="Rectangle 2">
            <a:extLst>
              <a:ext uri="{FF2B5EF4-FFF2-40B4-BE49-F238E27FC236}">
                <a16:creationId xmlns:a16="http://schemas.microsoft.com/office/drawing/2014/main" id="{CC976762-5971-48C2-AFCB-2D9E207D5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35204" name="Oval 3">
            <a:extLst>
              <a:ext uri="{FF2B5EF4-FFF2-40B4-BE49-F238E27FC236}">
                <a16:creationId xmlns:a16="http://schemas.microsoft.com/office/drawing/2014/main" id="{A852BE54-75C2-47AE-B8EA-F5ECED90B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362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5205" name="Oval 4">
            <a:extLst>
              <a:ext uri="{FF2B5EF4-FFF2-40B4-BE49-F238E27FC236}">
                <a16:creationId xmlns:a16="http://schemas.microsoft.com/office/drawing/2014/main" id="{818CC6DF-F6BA-4253-A3B7-A3CEEAA43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438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cxnSp>
        <p:nvCxnSpPr>
          <p:cNvPr id="435206" name="AutoShape 5">
            <a:extLst>
              <a:ext uri="{FF2B5EF4-FFF2-40B4-BE49-F238E27FC236}">
                <a16:creationId xmlns:a16="http://schemas.microsoft.com/office/drawing/2014/main" id="{A57FA346-90E9-4D51-B9B7-9DE1D48A340F}"/>
              </a:ext>
            </a:extLst>
          </p:cNvPr>
          <p:cNvCxnSpPr>
            <a:cxnSpLocks noChangeShapeType="1"/>
            <a:stCxn id="435204" idx="0"/>
            <a:endCxn id="435205" idx="0"/>
          </p:cNvCxnSpPr>
          <p:nvPr/>
        </p:nvCxnSpPr>
        <p:spPr bwMode="auto">
          <a:xfrm rot="5400000" flipV="1">
            <a:off x="4191000" y="762000"/>
            <a:ext cx="76200" cy="3276600"/>
          </a:xfrm>
          <a:prstGeom prst="curvedConnector3">
            <a:avLst>
              <a:gd name="adj1" fmla="val -3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5207" name="AutoShape 6">
            <a:extLst>
              <a:ext uri="{FF2B5EF4-FFF2-40B4-BE49-F238E27FC236}">
                <a16:creationId xmlns:a16="http://schemas.microsoft.com/office/drawing/2014/main" id="{DCC90B3F-51E8-4025-8974-1EC776F3DF71}"/>
              </a:ext>
            </a:extLst>
          </p:cNvPr>
          <p:cNvCxnSpPr>
            <a:cxnSpLocks noChangeShapeType="1"/>
            <a:stCxn id="435205" idx="4"/>
            <a:endCxn id="435204" idx="4"/>
          </p:cNvCxnSpPr>
          <p:nvPr/>
        </p:nvCxnSpPr>
        <p:spPr bwMode="auto">
          <a:xfrm rot="16200000" flipV="1">
            <a:off x="4191000" y="1219200"/>
            <a:ext cx="76200" cy="3276600"/>
          </a:xfrm>
          <a:prstGeom prst="curvedConnector3">
            <a:avLst>
              <a:gd name="adj1" fmla="val -3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5208" name="Oval 7">
            <a:extLst>
              <a:ext uri="{FF2B5EF4-FFF2-40B4-BE49-F238E27FC236}">
                <a16:creationId xmlns:a16="http://schemas.microsoft.com/office/drawing/2014/main" id="{3B86B2D9-EC7D-4F0E-BD6B-78D64A065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5209" name="Oval 8">
            <a:extLst>
              <a:ext uri="{FF2B5EF4-FFF2-40B4-BE49-F238E27FC236}">
                <a16:creationId xmlns:a16="http://schemas.microsoft.com/office/drawing/2014/main" id="{6813546B-0C05-45CA-B2F2-E97AFCBA2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5210" name="Oval 9">
            <a:extLst>
              <a:ext uri="{FF2B5EF4-FFF2-40B4-BE49-F238E27FC236}">
                <a16:creationId xmlns:a16="http://schemas.microsoft.com/office/drawing/2014/main" id="{32D5F948-3170-4F5F-BE11-B8C5D2388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5211" name="Oval 10">
            <a:extLst>
              <a:ext uri="{FF2B5EF4-FFF2-40B4-BE49-F238E27FC236}">
                <a16:creationId xmlns:a16="http://schemas.microsoft.com/office/drawing/2014/main" id="{7A6B9091-1C95-47DC-A16D-456940C3E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5212" name="Oval 11">
            <a:extLst>
              <a:ext uri="{FF2B5EF4-FFF2-40B4-BE49-F238E27FC236}">
                <a16:creationId xmlns:a16="http://schemas.microsoft.com/office/drawing/2014/main" id="{CFDDE27D-FA7C-4E7F-B5D7-01A64CE9D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5213" name="Oval 12">
            <a:extLst>
              <a:ext uri="{FF2B5EF4-FFF2-40B4-BE49-F238E27FC236}">
                <a16:creationId xmlns:a16="http://schemas.microsoft.com/office/drawing/2014/main" id="{60AE8570-4733-46AC-9BDF-5A0D9F535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86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5214" name="Text Box 13">
            <a:extLst>
              <a:ext uri="{FF2B5EF4-FFF2-40B4-BE49-F238E27FC236}">
                <a16:creationId xmlns:a16="http://schemas.microsoft.com/office/drawing/2014/main" id="{416C2C17-68B5-4684-97C1-47BB825A6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810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…..</a:t>
            </a:r>
          </a:p>
        </p:txBody>
      </p:sp>
      <p:sp>
        <p:nvSpPr>
          <p:cNvPr id="435215" name="Line 14">
            <a:extLst>
              <a:ext uri="{FF2B5EF4-FFF2-40B4-BE49-F238E27FC236}">
                <a16:creationId xmlns:a16="http://schemas.microsoft.com/office/drawing/2014/main" id="{7484A705-71E2-4AEB-AB50-D010B97BE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16" name="Line 15">
            <a:extLst>
              <a:ext uri="{FF2B5EF4-FFF2-40B4-BE49-F238E27FC236}">
                <a16:creationId xmlns:a16="http://schemas.microsoft.com/office/drawing/2014/main" id="{71172519-035D-4683-AF72-795005425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17" name="Line 16">
            <a:extLst>
              <a:ext uri="{FF2B5EF4-FFF2-40B4-BE49-F238E27FC236}">
                <a16:creationId xmlns:a16="http://schemas.microsoft.com/office/drawing/2014/main" id="{7C7B2EC3-C34C-4703-8678-DF8419AB8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18" name="Line 17">
            <a:extLst>
              <a:ext uri="{FF2B5EF4-FFF2-40B4-BE49-F238E27FC236}">
                <a16:creationId xmlns:a16="http://schemas.microsoft.com/office/drawing/2014/main" id="{39219A99-7926-4EE4-8051-8EA4A160E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19" name="Line 18">
            <a:extLst>
              <a:ext uri="{FF2B5EF4-FFF2-40B4-BE49-F238E27FC236}">
                <a16:creationId xmlns:a16="http://schemas.microsoft.com/office/drawing/2014/main" id="{14DFCD87-A282-4D4A-9AD7-7B80102C6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0" name="Line 19">
            <a:extLst>
              <a:ext uri="{FF2B5EF4-FFF2-40B4-BE49-F238E27FC236}">
                <a16:creationId xmlns:a16="http://schemas.microsoft.com/office/drawing/2014/main" id="{101D288A-7B5D-4FBD-BF43-E62B68524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1148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1" name="Line 20">
            <a:extLst>
              <a:ext uri="{FF2B5EF4-FFF2-40B4-BE49-F238E27FC236}">
                <a16:creationId xmlns:a16="http://schemas.microsoft.com/office/drawing/2014/main" id="{11E6EFAD-BA86-4BDC-B21F-52B1FB65D3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2743200"/>
            <a:ext cx="11430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2" name="Line 21">
            <a:extLst>
              <a:ext uri="{FF2B5EF4-FFF2-40B4-BE49-F238E27FC236}">
                <a16:creationId xmlns:a16="http://schemas.microsoft.com/office/drawing/2014/main" id="{4B7108DD-381B-4862-BCC4-9D2779151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43200"/>
            <a:ext cx="914400" cy="12192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3" name="Line 22">
            <a:extLst>
              <a:ext uri="{FF2B5EF4-FFF2-40B4-BE49-F238E27FC236}">
                <a16:creationId xmlns:a16="http://schemas.microsoft.com/office/drawing/2014/main" id="{12D6F794-FE12-4DFA-855F-792BE2B85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667000"/>
            <a:ext cx="3505200" cy="12192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4" name="Line 23">
            <a:extLst>
              <a:ext uri="{FF2B5EF4-FFF2-40B4-BE49-F238E27FC236}">
                <a16:creationId xmlns:a16="http://schemas.microsoft.com/office/drawing/2014/main" id="{7C073BB8-55AF-4B48-8E45-C3B82E5365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743200"/>
            <a:ext cx="29718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5" name="Line 24">
            <a:extLst>
              <a:ext uri="{FF2B5EF4-FFF2-40B4-BE49-F238E27FC236}">
                <a16:creationId xmlns:a16="http://schemas.microsoft.com/office/drawing/2014/main" id="{F963E6E3-69D5-4D9A-839B-E207C54610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895600"/>
            <a:ext cx="609600" cy="9906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6" name="Line 25">
            <a:extLst>
              <a:ext uri="{FF2B5EF4-FFF2-40B4-BE49-F238E27FC236}">
                <a16:creationId xmlns:a16="http://schemas.microsoft.com/office/drawing/2014/main" id="{BCA72A72-BFDD-4E38-B118-F3663E487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43200"/>
            <a:ext cx="1524000" cy="11430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7" name="Line 26">
            <a:extLst>
              <a:ext uri="{FF2B5EF4-FFF2-40B4-BE49-F238E27FC236}">
                <a16:creationId xmlns:a16="http://schemas.microsoft.com/office/drawing/2014/main" id="{762A3E04-43AF-4446-83E2-BB86692C6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352800"/>
            <a:ext cx="8305800" cy="7620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5228" name="Text Box 27">
            <a:extLst>
              <a:ext uri="{FF2B5EF4-FFF2-40B4-BE49-F238E27FC236}">
                <a16:creationId xmlns:a16="http://schemas.microsoft.com/office/drawing/2014/main" id="{A797407B-7FC3-4F5B-9CF8-AE1F4D610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006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>
                <a:solidFill>
                  <a:srgbClr val="FF33CC"/>
                </a:solidFill>
                <a:latin typeface="Times New Roman" panose="02020603050405020304" pitchFamily="18" charset="0"/>
              </a:rPr>
              <a:t>Unwinding preserves bisimulation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投影片編號版面配置區 4">
            <a:extLst>
              <a:ext uri="{FF2B5EF4-FFF2-40B4-BE49-F238E27FC236}">
                <a16:creationId xmlns:a16="http://schemas.microsoft.com/office/drawing/2014/main" id="{8428CF0E-5656-4719-B232-76D5F9BC16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6EB7A6-09CD-4F33-8DA5-B97229263F98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7251" name="Rectangle 2">
            <a:extLst>
              <a:ext uri="{FF2B5EF4-FFF2-40B4-BE49-F238E27FC236}">
                <a16:creationId xmlns:a16="http://schemas.microsoft.com/office/drawing/2014/main" id="{06342CF2-4343-45B6-A5FF-3525A2D46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37252" name="Oval 3">
            <a:extLst>
              <a:ext uri="{FF2B5EF4-FFF2-40B4-BE49-F238E27FC236}">
                <a16:creationId xmlns:a16="http://schemas.microsoft.com/office/drawing/2014/main" id="{AD14A3BC-CDF7-4502-8282-A4280F5C4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7253" name="Oval 4">
            <a:extLst>
              <a:ext uri="{FF2B5EF4-FFF2-40B4-BE49-F238E27FC236}">
                <a16:creationId xmlns:a16="http://schemas.microsoft.com/office/drawing/2014/main" id="{68A6AD41-FB6E-4A5B-8680-029BE85A4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7254" name="Oval 5">
            <a:extLst>
              <a:ext uri="{FF2B5EF4-FFF2-40B4-BE49-F238E27FC236}">
                <a16:creationId xmlns:a16="http://schemas.microsoft.com/office/drawing/2014/main" id="{DC1F2FEF-78A2-42C1-A3F3-907C0B3C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7255" name="Oval 6">
            <a:extLst>
              <a:ext uri="{FF2B5EF4-FFF2-40B4-BE49-F238E27FC236}">
                <a16:creationId xmlns:a16="http://schemas.microsoft.com/office/drawing/2014/main" id="{BED6D619-1208-4C77-83AB-EE85458AA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7256" name="Oval 7">
            <a:extLst>
              <a:ext uri="{FF2B5EF4-FFF2-40B4-BE49-F238E27FC236}">
                <a16:creationId xmlns:a16="http://schemas.microsoft.com/office/drawing/2014/main" id="{7CCA2688-71D9-413A-A2ED-20DE7EE7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7257" name="Oval 8">
            <a:extLst>
              <a:ext uri="{FF2B5EF4-FFF2-40B4-BE49-F238E27FC236}">
                <a16:creationId xmlns:a16="http://schemas.microsoft.com/office/drawing/2014/main" id="{D4EC9463-71BF-4826-A1C7-1E4130EA0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7258" name="Line 9">
            <a:extLst>
              <a:ext uri="{FF2B5EF4-FFF2-40B4-BE49-F238E27FC236}">
                <a16:creationId xmlns:a16="http://schemas.microsoft.com/office/drawing/2014/main" id="{9F6242C7-9D16-4597-8180-DD6DC6B9FF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59" name="Line 10">
            <a:extLst>
              <a:ext uri="{FF2B5EF4-FFF2-40B4-BE49-F238E27FC236}">
                <a16:creationId xmlns:a16="http://schemas.microsoft.com/office/drawing/2014/main" id="{44DE465F-18B3-4AEE-AADF-6AB556887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60" name="Line 11">
            <a:extLst>
              <a:ext uri="{FF2B5EF4-FFF2-40B4-BE49-F238E27FC236}">
                <a16:creationId xmlns:a16="http://schemas.microsoft.com/office/drawing/2014/main" id="{6B97E30F-FF05-4983-983D-93C527DE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61" name="Line 12">
            <a:extLst>
              <a:ext uri="{FF2B5EF4-FFF2-40B4-BE49-F238E27FC236}">
                <a16:creationId xmlns:a16="http://schemas.microsoft.com/office/drawing/2014/main" id="{73B01B55-D7DE-41EF-97B3-1394FE0F8A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62" name="Line 13">
            <a:extLst>
              <a:ext uri="{FF2B5EF4-FFF2-40B4-BE49-F238E27FC236}">
                <a16:creationId xmlns:a16="http://schemas.microsoft.com/office/drawing/2014/main" id="{C575C982-F95C-4872-BC75-747FBD1F7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63" name="Line 14">
            <a:extLst>
              <a:ext uri="{FF2B5EF4-FFF2-40B4-BE49-F238E27FC236}">
                <a16:creationId xmlns:a16="http://schemas.microsoft.com/office/drawing/2014/main" id="{6F2636C3-ED45-4077-8255-AF2D1E53F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37264" name="AutoShape 15">
            <a:extLst>
              <a:ext uri="{FF2B5EF4-FFF2-40B4-BE49-F238E27FC236}">
                <a16:creationId xmlns:a16="http://schemas.microsoft.com/office/drawing/2014/main" id="{5D8A0C69-79B2-4905-B19D-C89794BD311A}"/>
              </a:ext>
            </a:extLst>
          </p:cNvPr>
          <p:cNvCxnSpPr>
            <a:cxnSpLocks noChangeShapeType="1"/>
            <a:stCxn id="437255" idx="4"/>
            <a:endCxn id="437255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265" name="AutoShape 16">
            <a:extLst>
              <a:ext uri="{FF2B5EF4-FFF2-40B4-BE49-F238E27FC236}">
                <a16:creationId xmlns:a16="http://schemas.microsoft.com/office/drawing/2014/main" id="{005C0BEF-134D-4DF2-B5E5-04ED8F8A1E9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266" name="AutoShape 17">
            <a:extLst>
              <a:ext uri="{FF2B5EF4-FFF2-40B4-BE49-F238E27FC236}">
                <a16:creationId xmlns:a16="http://schemas.microsoft.com/office/drawing/2014/main" id="{69646AD8-4AE6-44F4-8BCE-05BDEB84D9B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7267" name="Oval 18">
            <a:extLst>
              <a:ext uri="{FF2B5EF4-FFF2-40B4-BE49-F238E27FC236}">
                <a16:creationId xmlns:a16="http://schemas.microsoft.com/office/drawing/2014/main" id="{647009B3-3F47-4C4F-BB78-5302556D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7268" name="Oval 19">
            <a:extLst>
              <a:ext uri="{FF2B5EF4-FFF2-40B4-BE49-F238E27FC236}">
                <a16:creationId xmlns:a16="http://schemas.microsoft.com/office/drawing/2014/main" id="{E03C4275-FD48-4A80-B242-E5C14B1B0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7269" name="Oval 20">
            <a:extLst>
              <a:ext uri="{FF2B5EF4-FFF2-40B4-BE49-F238E27FC236}">
                <a16:creationId xmlns:a16="http://schemas.microsoft.com/office/drawing/2014/main" id="{B46E8D1B-7E0A-4048-BC48-1069856EE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7270" name="Oval 21">
            <a:extLst>
              <a:ext uri="{FF2B5EF4-FFF2-40B4-BE49-F238E27FC236}">
                <a16:creationId xmlns:a16="http://schemas.microsoft.com/office/drawing/2014/main" id="{B0C1B5E9-D7A6-4974-BC76-C40C2F2B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7271" name="Oval 22">
            <a:extLst>
              <a:ext uri="{FF2B5EF4-FFF2-40B4-BE49-F238E27FC236}">
                <a16:creationId xmlns:a16="http://schemas.microsoft.com/office/drawing/2014/main" id="{B37D40C9-21D1-4F5C-81D1-53A5FDFBD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7272" name="Oval 23">
            <a:extLst>
              <a:ext uri="{FF2B5EF4-FFF2-40B4-BE49-F238E27FC236}">
                <a16:creationId xmlns:a16="http://schemas.microsoft.com/office/drawing/2014/main" id="{D694A3A3-6ECD-4D70-9C14-55FB30AE3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7273" name="Line 24">
            <a:extLst>
              <a:ext uri="{FF2B5EF4-FFF2-40B4-BE49-F238E27FC236}">
                <a16:creationId xmlns:a16="http://schemas.microsoft.com/office/drawing/2014/main" id="{3DFCE973-58D7-4A41-8DB0-917F9BCB0F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74" name="Line 25">
            <a:extLst>
              <a:ext uri="{FF2B5EF4-FFF2-40B4-BE49-F238E27FC236}">
                <a16:creationId xmlns:a16="http://schemas.microsoft.com/office/drawing/2014/main" id="{14DCA5BD-9B20-4B5D-AFEB-81157E1D0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75" name="Line 26">
            <a:extLst>
              <a:ext uri="{FF2B5EF4-FFF2-40B4-BE49-F238E27FC236}">
                <a16:creationId xmlns:a16="http://schemas.microsoft.com/office/drawing/2014/main" id="{55DF64E3-2673-44F7-86AA-98D5EC68A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8862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76" name="Line 27">
            <a:extLst>
              <a:ext uri="{FF2B5EF4-FFF2-40B4-BE49-F238E27FC236}">
                <a16:creationId xmlns:a16="http://schemas.microsoft.com/office/drawing/2014/main" id="{B874903F-9EBF-4D26-8F4D-F009FA9A6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77" name="Line 28">
            <a:extLst>
              <a:ext uri="{FF2B5EF4-FFF2-40B4-BE49-F238E27FC236}">
                <a16:creationId xmlns:a16="http://schemas.microsoft.com/office/drawing/2014/main" id="{EA8836A4-640F-4F5E-BF8B-0080DE66E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7278" name="Line 29">
            <a:extLst>
              <a:ext uri="{FF2B5EF4-FFF2-40B4-BE49-F238E27FC236}">
                <a16:creationId xmlns:a16="http://schemas.microsoft.com/office/drawing/2014/main" id="{54791C6F-E772-4639-BFC4-59785364A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37279" name="AutoShape 30">
            <a:extLst>
              <a:ext uri="{FF2B5EF4-FFF2-40B4-BE49-F238E27FC236}">
                <a16:creationId xmlns:a16="http://schemas.microsoft.com/office/drawing/2014/main" id="{12EC7385-9D0C-4098-82FE-078DE8C82B57}"/>
              </a:ext>
            </a:extLst>
          </p:cNvPr>
          <p:cNvCxnSpPr>
            <a:cxnSpLocks noChangeShapeType="1"/>
            <a:stCxn id="437270" idx="4"/>
            <a:endCxn id="437270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280" name="AutoShape 31">
            <a:extLst>
              <a:ext uri="{FF2B5EF4-FFF2-40B4-BE49-F238E27FC236}">
                <a16:creationId xmlns:a16="http://schemas.microsoft.com/office/drawing/2014/main" id="{819F9C7C-56BB-4269-B5E6-1FC65A631C9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281" name="AutoShape 32">
            <a:extLst>
              <a:ext uri="{FF2B5EF4-FFF2-40B4-BE49-F238E27FC236}">
                <a16:creationId xmlns:a16="http://schemas.microsoft.com/office/drawing/2014/main" id="{A7A47A50-3331-470F-9102-0DCA9CA22F0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投影片編號版面配置區 4">
            <a:extLst>
              <a:ext uri="{FF2B5EF4-FFF2-40B4-BE49-F238E27FC236}">
                <a16:creationId xmlns:a16="http://schemas.microsoft.com/office/drawing/2014/main" id="{D7C9D491-AF00-4F96-B740-C4EC58A1D6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21E6D4-8F0C-432C-B053-305607EA384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39299" name="Rectangle 2">
            <a:extLst>
              <a:ext uri="{FF2B5EF4-FFF2-40B4-BE49-F238E27FC236}">
                <a16:creationId xmlns:a16="http://schemas.microsoft.com/office/drawing/2014/main" id="{B2D95EAE-C576-416F-8754-754280CD1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39300" name="Oval 3">
            <a:extLst>
              <a:ext uri="{FF2B5EF4-FFF2-40B4-BE49-F238E27FC236}">
                <a16:creationId xmlns:a16="http://schemas.microsoft.com/office/drawing/2014/main" id="{AB64A681-C18D-4515-BC23-97E4A70B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9301" name="Oval 4">
            <a:extLst>
              <a:ext uri="{FF2B5EF4-FFF2-40B4-BE49-F238E27FC236}">
                <a16:creationId xmlns:a16="http://schemas.microsoft.com/office/drawing/2014/main" id="{F81CD9D1-F56D-4FEB-81D5-65777A4A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9302" name="Oval 5">
            <a:extLst>
              <a:ext uri="{FF2B5EF4-FFF2-40B4-BE49-F238E27FC236}">
                <a16:creationId xmlns:a16="http://schemas.microsoft.com/office/drawing/2014/main" id="{3B47C5FD-3998-4EF4-A0C2-66B770273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9303" name="Oval 6">
            <a:extLst>
              <a:ext uri="{FF2B5EF4-FFF2-40B4-BE49-F238E27FC236}">
                <a16:creationId xmlns:a16="http://schemas.microsoft.com/office/drawing/2014/main" id="{E5044247-FBB7-41BE-835C-4BD715CC2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9304" name="Oval 7">
            <a:extLst>
              <a:ext uri="{FF2B5EF4-FFF2-40B4-BE49-F238E27FC236}">
                <a16:creationId xmlns:a16="http://schemas.microsoft.com/office/drawing/2014/main" id="{6F48D9A2-A0BE-41F5-9027-8E29961E6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9305" name="Oval 8">
            <a:extLst>
              <a:ext uri="{FF2B5EF4-FFF2-40B4-BE49-F238E27FC236}">
                <a16:creationId xmlns:a16="http://schemas.microsoft.com/office/drawing/2014/main" id="{D1A39EC3-D75F-4E20-9F68-462C9C2C3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9306" name="Line 9">
            <a:extLst>
              <a:ext uri="{FF2B5EF4-FFF2-40B4-BE49-F238E27FC236}">
                <a16:creationId xmlns:a16="http://schemas.microsoft.com/office/drawing/2014/main" id="{46D6E1A0-0C3A-4DD9-8D13-33E364E17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07" name="Line 10">
            <a:extLst>
              <a:ext uri="{FF2B5EF4-FFF2-40B4-BE49-F238E27FC236}">
                <a16:creationId xmlns:a16="http://schemas.microsoft.com/office/drawing/2014/main" id="{9856229A-960F-4C09-A54D-72F90A03F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08" name="Line 11">
            <a:extLst>
              <a:ext uri="{FF2B5EF4-FFF2-40B4-BE49-F238E27FC236}">
                <a16:creationId xmlns:a16="http://schemas.microsoft.com/office/drawing/2014/main" id="{B6A406D6-9362-434D-AD55-F45646374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09" name="Line 12">
            <a:extLst>
              <a:ext uri="{FF2B5EF4-FFF2-40B4-BE49-F238E27FC236}">
                <a16:creationId xmlns:a16="http://schemas.microsoft.com/office/drawing/2014/main" id="{C7BE77C5-43F0-47DE-9326-08C2BB7057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10" name="Line 13">
            <a:extLst>
              <a:ext uri="{FF2B5EF4-FFF2-40B4-BE49-F238E27FC236}">
                <a16:creationId xmlns:a16="http://schemas.microsoft.com/office/drawing/2014/main" id="{C10E8BD7-CC8E-417D-A636-7DA7F3BAE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11" name="Line 14">
            <a:extLst>
              <a:ext uri="{FF2B5EF4-FFF2-40B4-BE49-F238E27FC236}">
                <a16:creationId xmlns:a16="http://schemas.microsoft.com/office/drawing/2014/main" id="{43873802-DB42-4902-B2E5-190BAFEEB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39312" name="AutoShape 15">
            <a:extLst>
              <a:ext uri="{FF2B5EF4-FFF2-40B4-BE49-F238E27FC236}">
                <a16:creationId xmlns:a16="http://schemas.microsoft.com/office/drawing/2014/main" id="{961E9561-922E-46D1-BCB6-6A3BB2E88DF2}"/>
              </a:ext>
            </a:extLst>
          </p:cNvPr>
          <p:cNvCxnSpPr>
            <a:cxnSpLocks noChangeShapeType="1"/>
            <a:stCxn id="439303" idx="4"/>
            <a:endCxn id="439303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13" name="AutoShape 16">
            <a:extLst>
              <a:ext uri="{FF2B5EF4-FFF2-40B4-BE49-F238E27FC236}">
                <a16:creationId xmlns:a16="http://schemas.microsoft.com/office/drawing/2014/main" id="{4A5CA656-49D2-42A8-AFD0-D677AC825B0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14" name="AutoShape 17">
            <a:extLst>
              <a:ext uri="{FF2B5EF4-FFF2-40B4-BE49-F238E27FC236}">
                <a16:creationId xmlns:a16="http://schemas.microsoft.com/office/drawing/2014/main" id="{0D48E7B4-25AB-46C2-9D9F-BD5C172C5241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9315" name="Oval 18">
            <a:extLst>
              <a:ext uri="{FF2B5EF4-FFF2-40B4-BE49-F238E27FC236}">
                <a16:creationId xmlns:a16="http://schemas.microsoft.com/office/drawing/2014/main" id="{0541F81D-A0E9-4C4A-967C-43533863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39316" name="Oval 19">
            <a:extLst>
              <a:ext uri="{FF2B5EF4-FFF2-40B4-BE49-F238E27FC236}">
                <a16:creationId xmlns:a16="http://schemas.microsoft.com/office/drawing/2014/main" id="{EA96870F-8D68-4F73-B7A3-6AFF27CDC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9317" name="Oval 20">
            <a:extLst>
              <a:ext uri="{FF2B5EF4-FFF2-40B4-BE49-F238E27FC236}">
                <a16:creationId xmlns:a16="http://schemas.microsoft.com/office/drawing/2014/main" id="{90B8B84A-D1D3-48EB-A20F-54F42184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39318" name="Oval 21">
            <a:extLst>
              <a:ext uri="{FF2B5EF4-FFF2-40B4-BE49-F238E27FC236}">
                <a16:creationId xmlns:a16="http://schemas.microsoft.com/office/drawing/2014/main" id="{087CDD1E-3DB7-4C50-8F78-301C0E94E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9319" name="Oval 22">
            <a:extLst>
              <a:ext uri="{FF2B5EF4-FFF2-40B4-BE49-F238E27FC236}">
                <a16:creationId xmlns:a16="http://schemas.microsoft.com/office/drawing/2014/main" id="{E2CF72B4-9AD9-44D9-8E41-98FE3794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39320" name="Oval 23">
            <a:extLst>
              <a:ext uri="{FF2B5EF4-FFF2-40B4-BE49-F238E27FC236}">
                <a16:creationId xmlns:a16="http://schemas.microsoft.com/office/drawing/2014/main" id="{18443807-D52E-4B9B-B6AF-5018F92F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39321" name="Line 24">
            <a:extLst>
              <a:ext uri="{FF2B5EF4-FFF2-40B4-BE49-F238E27FC236}">
                <a16:creationId xmlns:a16="http://schemas.microsoft.com/office/drawing/2014/main" id="{C6946D32-B64E-4FF9-A9C9-B7DF045D97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22" name="Line 25">
            <a:extLst>
              <a:ext uri="{FF2B5EF4-FFF2-40B4-BE49-F238E27FC236}">
                <a16:creationId xmlns:a16="http://schemas.microsoft.com/office/drawing/2014/main" id="{9FA72C66-515B-4208-88AE-7F14F2228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23" name="Line 26">
            <a:extLst>
              <a:ext uri="{FF2B5EF4-FFF2-40B4-BE49-F238E27FC236}">
                <a16:creationId xmlns:a16="http://schemas.microsoft.com/office/drawing/2014/main" id="{5F4BB098-FA2B-4657-92A6-AC6A4C676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8862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24" name="Line 27">
            <a:extLst>
              <a:ext uri="{FF2B5EF4-FFF2-40B4-BE49-F238E27FC236}">
                <a16:creationId xmlns:a16="http://schemas.microsoft.com/office/drawing/2014/main" id="{C265207F-E900-4A62-B1E0-E80AD1AB79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25" name="Line 28">
            <a:extLst>
              <a:ext uri="{FF2B5EF4-FFF2-40B4-BE49-F238E27FC236}">
                <a16:creationId xmlns:a16="http://schemas.microsoft.com/office/drawing/2014/main" id="{5792C6EF-0AAD-4D80-8144-607B8C2B0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9326" name="Line 29">
            <a:extLst>
              <a:ext uri="{FF2B5EF4-FFF2-40B4-BE49-F238E27FC236}">
                <a16:creationId xmlns:a16="http://schemas.microsoft.com/office/drawing/2014/main" id="{7F10097C-3A1A-41BC-B172-DFD7726B2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39327" name="AutoShape 30">
            <a:extLst>
              <a:ext uri="{FF2B5EF4-FFF2-40B4-BE49-F238E27FC236}">
                <a16:creationId xmlns:a16="http://schemas.microsoft.com/office/drawing/2014/main" id="{1B23C4F3-74D4-488A-9819-47ED744382D2}"/>
              </a:ext>
            </a:extLst>
          </p:cNvPr>
          <p:cNvCxnSpPr>
            <a:cxnSpLocks noChangeShapeType="1"/>
            <a:stCxn id="439318" idx="4"/>
            <a:endCxn id="439318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28" name="AutoShape 31">
            <a:extLst>
              <a:ext uri="{FF2B5EF4-FFF2-40B4-BE49-F238E27FC236}">
                <a16:creationId xmlns:a16="http://schemas.microsoft.com/office/drawing/2014/main" id="{B4FFE22A-F3E7-420F-8080-368173DF1BE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29" name="AutoShape 32">
            <a:extLst>
              <a:ext uri="{FF2B5EF4-FFF2-40B4-BE49-F238E27FC236}">
                <a16:creationId xmlns:a16="http://schemas.microsoft.com/office/drawing/2014/main" id="{4EB9DC4F-406D-4B48-8D3D-D6D29483DE6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9330" name="Line 33">
            <a:extLst>
              <a:ext uri="{FF2B5EF4-FFF2-40B4-BE49-F238E27FC236}">
                <a16:creationId xmlns:a16="http://schemas.microsoft.com/office/drawing/2014/main" id="{068FB457-6CCB-4964-A8E1-69A929CB0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667000"/>
            <a:ext cx="3581400" cy="7620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39331" name="AutoShape 34">
            <a:extLst>
              <a:ext uri="{FF2B5EF4-FFF2-40B4-BE49-F238E27FC236}">
                <a16:creationId xmlns:a16="http://schemas.microsoft.com/office/drawing/2014/main" id="{59ED14B0-0253-47A5-894C-940850C27ACC}"/>
              </a:ext>
            </a:extLst>
          </p:cNvPr>
          <p:cNvCxnSpPr>
            <a:cxnSpLocks noChangeShapeType="1"/>
            <a:stCxn id="439316" idx="7"/>
            <a:endCxn id="439301" idx="1"/>
          </p:cNvCxnSpPr>
          <p:nvPr/>
        </p:nvCxnSpPr>
        <p:spPr bwMode="auto">
          <a:xfrm rot="5400000" flipV="1">
            <a:off x="3733800" y="1752600"/>
            <a:ext cx="76200" cy="3714750"/>
          </a:xfrm>
          <a:prstGeom prst="curvedConnector3">
            <a:avLst>
              <a:gd name="adj1" fmla="val -387500"/>
            </a:avLst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32" name="AutoShape 35">
            <a:extLst>
              <a:ext uri="{FF2B5EF4-FFF2-40B4-BE49-F238E27FC236}">
                <a16:creationId xmlns:a16="http://schemas.microsoft.com/office/drawing/2014/main" id="{C41E5780-7783-464A-B142-3CF110AA7F2B}"/>
              </a:ext>
            </a:extLst>
          </p:cNvPr>
          <p:cNvCxnSpPr>
            <a:cxnSpLocks noChangeShapeType="1"/>
            <a:stCxn id="439317" idx="5"/>
            <a:endCxn id="439302" idx="2"/>
          </p:cNvCxnSpPr>
          <p:nvPr/>
        </p:nvCxnSpPr>
        <p:spPr bwMode="auto">
          <a:xfrm rot="5400000" flipH="1" flipV="1">
            <a:off x="5524500" y="2028825"/>
            <a:ext cx="85725" cy="3648075"/>
          </a:xfrm>
          <a:prstGeom prst="curvedConnector4">
            <a:avLst>
              <a:gd name="adj1" fmla="val -514815"/>
              <a:gd name="adj2" fmla="val 73542"/>
            </a:avLst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33" name="AutoShape 36">
            <a:extLst>
              <a:ext uri="{FF2B5EF4-FFF2-40B4-BE49-F238E27FC236}">
                <a16:creationId xmlns:a16="http://schemas.microsoft.com/office/drawing/2014/main" id="{5903D497-D6CF-418D-BA47-29D7B310B996}"/>
              </a:ext>
            </a:extLst>
          </p:cNvPr>
          <p:cNvCxnSpPr>
            <a:cxnSpLocks noChangeShapeType="1"/>
            <a:stCxn id="439318" idx="5"/>
            <a:endCxn id="439305" idx="4"/>
          </p:cNvCxnSpPr>
          <p:nvPr/>
        </p:nvCxnSpPr>
        <p:spPr bwMode="auto">
          <a:xfrm rot="16200000" flipH="1">
            <a:off x="4238625" y="2790825"/>
            <a:ext cx="142875" cy="4791075"/>
          </a:xfrm>
          <a:prstGeom prst="curvedConnector3">
            <a:avLst>
              <a:gd name="adj1" fmla="val 831111"/>
            </a:avLst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334" name="AutoShape 37">
            <a:extLst>
              <a:ext uri="{FF2B5EF4-FFF2-40B4-BE49-F238E27FC236}">
                <a16:creationId xmlns:a16="http://schemas.microsoft.com/office/drawing/2014/main" id="{79E1057D-BF35-4873-A4C3-B9300C7C7E22}"/>
              </a:ext>
            </a:extLst>
          </p:cNvPr>
          <p:cNvCxnSpPr>
            <a:cxnSpLocks noChangeShapeType="1"/>
            <a:stCxn id="439319" idx="5"/>
            <a:endCxn id="439305" idx="3"/>
          </p:cNvCxnSpPr>
          <p:nvPr/>
        </p:nvCxnSpPr>
        <p:spPr bwMode="auto">
          <a:xfrm rot="16200000" flipH="1">
            <a:off x="5105400" y="3752850"/>
            <a:ext cx="76200" cy="2800350"/>
          </a:xfrm>
          <a:prstGeom prst="curvedConnector3">
            <a:avLst>
              <a:gd name="adj1" fmla="val 829167"/>
            </a:avLst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投影片編號版面配置區 4">
            <a:extLst>
              <a:ext uri="{FF2B5EF4-FFF2-40B4-BE49-F238E27FC236}">
                <a16:creationId xmlns:a16="http://schemas.microsoft.com/office/drawing/2014/main" id="{7D0E9A32-0FB6-4AEC-A008-A2FA11447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B80DEF-D08C-4112-8466-196B0AE9A22C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41347" name="Rectangle 2">
            <a:extLst>
              <a:ext uri="{FF2B5EF4-FFF2-40B4-BE49-F238E27FC236}">
                <a16:creationId xmlns:a16="http://schemas.microsoft.com/office/drawing/2014/main" id="{8BE89C56-DA7A-41F8-B89E-147CBB48D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41348" name="Oval 3">
            <a:extLst>
              <a:ext uri="{FF2B5EF4-FFF2-40B4-BE49-F238E27FC236}">
                <a16:creationId xmlns:a16="http://schemas.microsoft.com/office/drawing/2014/main" id="{0609BE0A-2A54-4262-BBEF-0617693F5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1349" name="Oval 4">
            <a:extLst>
              <a:ext uri="{FF2B5EF4-FFF2-40B4-BE49-F238E27FC236}">
                <a16:creationId xmlns:a16="http://schemas.microsoft.com/office/drawing/2014/main" id="{DBD2548D-6836-4703-ADFB-B565E23E3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1350" name="Oval 5">
            <a:extLst>
              <a:ext uri="{FF2B5EF4-FFF2-40B4-BE49-F238E27FC236}">
                <a16:creationId xmlns:a16="http://schemas.microsoft.com/office/drawing/2014/main" id="{B4217722-0A47-45B6-B911-388F34C2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1351" name="Oval 6">
            <a:extLst>
              <a:ext uri="{FF2B5EF4-FFF2-40B4-BE49-F238E27FC236}">
                <a16:creationId xmlns:a16="http://schemas.microsoft.com/office/drawing/2014/main" id="{44E14369-6B00-4192-8578-29FBD403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1352" name="Oval 7">
            <a:extLst>
              <a:ext uri="{FF2B5EF4-FFF2-40B4-BE49-F238E27FC236}">
                <a16:creationId xmlns:a16="http://schemas.microsoft.com/office/drawing/2014/main" id="{2FB53D38-E113-4AD6-A5B2-59C61B1C6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1353" name="Oval 8">
            <a:extLst>
              <a:ext uri="{FF2B5EF4-FFF2-40B4-BE49-F238E27FC236}">
                <a16:creationId xmlns:a16="http://schemas.microsoft.com/office/drawing/2014/main" id="{7071CE5D-620E-464F-84F4-D25E8F40A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1354" name="Line 9">
            <a:extLst>
              <a:ext uri="{FF2B5EF4-FFF2-40B4-BE49-F238E27FC236}">
                <a16:creationId xmlns:a16="http://schemas.microsoft.com/office/drawing/2014/main" id="{870069DA-72DC-4543-8B76-3AB1B6630D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55" name="Line 10">
            <a:extLst>
              <a:ext uri="{FF2B5EF4-FFF2-40B4-BE49-F238E27FC236}">
                <a16:creationId xmlns:a16="http://schemas.microsoft.com/office/drawing/2014/main" id="{87569272-2706-4515-B8C5-98FB947AB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56" name="Line 11">
            <a:extLst>
              <a:ext uri="{FF2B5EF4-FFF2-40B4-BE49-F238E27FC236}">
                <a16:creationId xmlns:a16="http://schemas.microsoft.com/office/drawing/2014/main" id="{E4A9FD8F-22E4-44DD-AACF-58E4C4DB3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57" name="Line 12">
            <a:extLst>
              <a:ext uri="{FF2B5EF4-FFF2-40B4-BE49-F238E27FC236}">
                <a16:creationId xmlns:a16="http://schemas.microsoft.com/office/drawing/2014/main" id="{CA843444-66EC-4D66-BC45-E6AF73716B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58" name="Line 13">
            <a:extLst>
              <a:ext uri="{FF2B5EF4-FFF2-40B4-BE49-F238E27FC236}">
                <a16:creationId xmlns:a16="http://schemas.microsoft.com/office/drawing/2014/main" id="{0C9E1847-265A-4820-969C-747A76B36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59" name="Line 14">
            <a:extLst>
              <a:ext uri="{FF2B5EF4-FFF2-40B4-BE49-F238E27FC236}">
                <a16:creationId xmlns:a16="http://schemas.microsoft.com/office/drawing/2014/main" id="{991FE3C4-BBAD-4502-AB77-C80293E11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1360" name="AutoShape 15">
            <a:extLst>
              <a:ext uri="{FF2B5EF4-FFF2-40B4-BE49-F238E27FC236}">
                <a16:creationId xmlns:a16="http://schemas.microsoft.com/office/drawing/2014/main" id="{EE1C81E8-995C-48D4-BBA1-B5D63538DDB6}"/>
              </a:ext>
            </a:extLst>
          </p:cNvPr>
          <p:cNvCxnSpPr>
            <a:cxnSpLocks noChangeShapeType="1"/>
            <a:stCxn id="441351" idx="4"/>
            <a:endCxn id="441351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361" name="AutoShape 16">
            <a:extLst>
              <a:ext uri="{FF2B5EF4-FFF2-40B4-BE49-F238E27FC236}">
                <a16:creationId xmlns:a16="http://schemas.microsoft.com/office/drawing/2014/main" id="{F2F361D1-0F79-462E-B648-D0D24FC6158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362" name="AutoShape 17">
            <a:extLst>
              <a:ext uri="{FF2B5EF4-FFF2-40B4-BE49-F238E27FC236}">
                <a16:creationId xmlns:a16="http://schemas.microsoft.com/office/drawing/2014/main" id="{5C3E0391-345E-4D01-B785-62A282983BA9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1363" name="Oval 18">
            <a:extLst>
              <a:ext uri="{FF2B5EF4-FFF2-40B4-BE49-F238E27FC236}">
                <a16:creationId xmlns:a16="http://schemas.microsoft.com/office/drawing/2014/main" id="{C76BBFEC-F69A-4103-9D74-DC57BE88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1364" name="Oval 19">
            <a:extLst>
              <a:ext uri="{FF2B5EF4-FFF2-40B4-BE49-F238E27FC236}">
                <a16:creationId xmlns:a16="http://schemas.microsoft.com/office/drawing/2014/main" id="{C040C071-0F10-4C94-89FE-EE814F404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1365" name="Oval 20">
            <a:extLst>
              <a:ext uri="{FF2B5EF4-FFF2-40B4-BE49-F238E27FC236}">
                <a16:creationId xmlns:a16="http://schemas.microsoft.com/office/drawing/2014/main" id="{AF430FDD-1A01-4D86-857E-82F41536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1366" name="Oval 21">
            <a:extLst>
              <a:ext uri="{FF2B5EF4-FFF2-40B4-BE49-F238E27FC236}">
                <a16:creationId xmlns:a16="http://schemas.microsoft.com/office/drawing/2014/main" id="{031C2A13-14F4-44B9-9E41-93D4891FD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1367" name="Oval 22">
            <a:extLst>
              <a:ext uri="{FF2B5EF4-FFF2-40B4-BE49-F238E27FC236}">
                <a16:creationId xmlns:a16="http://schemas.microsoft.com/office/drawing/2014/main" id="{16B8CB5B-5E0B-4213-9B03-2F1E5398C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1368" name="Oval 23">
            <a:extLst>
              <a:ext uri="{FF2B5EF4-FFF2-40B4-BE49-F238E27FC236}">
                <a16:creationId xmlns:a16="http://schemas.microsoft.com/office/drawing/2014/main" id="{E05FB808-205B-4D75-91FB-4ADD33B7A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1369" name="Line 24">
            <a:extLst>
              <a:ext uri="{FF2B5EF4-FFF2-40B4-BE49-F238E27FC236}">
                <a16:creationId xmlns:a16="http://schemas.microsoft.com/office/drawing/2014/main" id="{4F7A61B9-7828-4E39-BF39-DE2218BB83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70" name="Line 25">
            <a:extLst>
              <a:ext uri="{FF2B5EF4-FFF2-40B4-BE49-F238E27FC236}">
                <a16:creationId xmlns:a16="http://schemas.microsoft.com/office/drawing/2014/main" id="{D47D3554-944F-49FC-879D-433785DA6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71" name="Line 26">
            <a:extLst>
              <a:ext uri="{FF2B5EF4-FFF2-40B4-BE49-F238E27FC236}">
                <a16:creationId xmlns:a16="http://schemas.microsoft.com/office/drawing/2014/main" id="{1D108BA9-B201-4B19-844D-79F6C5F135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72" name="Line 27">
            <a:extLst>
              <a:ext uri="{FF2B5EF4-FFF2-40B4-BE49-F238E27FC236}">
                <a16:creationId xmlns:a16="http://schemas.microsoft.com/office/drawing/2014/main" id="{BE8823CC-D2C0-417B-B3DA-790ED2C46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1373" name="Line 28">
            <a:extLst>
              <a:ext uri="{FF2B5EF4-FFF2-40B4-BE49-F238E27FC236}">
                <a16:creationId xmlns:a16="http://schemas.microsoft.com/office/drawing/2014/main" id="{75C9F994-4A8E-4230-BABE-843593CBD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1374" name="AutoShape 29">
            <a:extLst>
              <a:ext uri="{FF2B5EF4-FFF2-40B4-BE49-F238E27FC236}">
                <a16:creationId xmlns:a16="http://schemas.microsoft.com/office/drawing/2014/main" id="{94866E2D-2ECC-4F9A-9B99-C32A9D3A75D1}"/>
              </a:ext>
            </a:extLst>
          </p:cNvPr>
          <p:cNvCxnSpPr>
            <a:cxnSpLocks noChangeShapeType="1"/>
            <a:stCxn id="441366" idx="4"/>
            <a:endCxn id="441366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375" name="AutoShape 30">
            <a:extLst>
              <a:ext uri="{FF2B5EF4-FFF2-40B4-BE49-F238E27FC236}">
                <a16:creationId xmlns:a16="http://schemas.microsoft.com/office/drawing/2014/main" id="{4166A9D7-940E-4268-BC5C-2FB24E582F7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376" name="AutoShape 31">
            <a:extLst>
              <a:ext uri="{FF2B5EF4-FFF2-40B4-BE49-F238E27FC236}">
                <a16:creationId xmlns:a16="http://schemas.microsoft.com/office/drawing/2014/main" id="{4E402691-AEB5-4D42-A683-8B05EBF779F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投影片編號版面配置區 4">
            <a:extLst>
              <a:ext uri="{FF2B5EF4-FFF2-40B4-BE49-F238E27FC236}">
                <a16:creationId xmlns:a16="http://schemas.microsoft.com/office/drawing/2014/main" id="{53ABC6A4-C924-4950-AA34-9F8BF623D2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CBFF3B-0171-4F91-98D3-25B77DC7FBD0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43395" name="Rectangle 2">
            <a:extLst>
              <a:ext uri="{FF2B5EF4-FFF2-40B4-BE49-F238E27FC236}">
                <a16:creationId xmlns:a16="http://schemas.microsoft.com/office/drawing/2014/main" id="{8ED58B10-53F5-4AD7-B527-B73BBB2C5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43396" name="Oval 3">
            <a:extLst>
              <a:ext uri="{FF2B5EF4-FFF2-40B4-BE49-F238E27FC236}">
                <a16:creationId xmlns:a16="http://schemas.microsoft.com/office/drawing/2014/main" id="{0B9A8EF1-9053-4BC5-B372-C0AFD039C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3397" name="Oval 4">
            <a:extLst>
              <a:ext uri="{FF2B5EF4-FFF2-40B4-BE49-F238E27FC236}">
                <a16:creationId xmlns:a16="http://schemas.microsoft.com/office/drawing/2014/main" id="{7E264DA7-28CE-4ABE-B84C-F328F18E9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3398" name="Oval 5">
            <a:extLst>
              <a:ext uri="{FF2B5EF4-FFF2-40B4-BE49-F238E27FC236}">
                <a16:creationId xmlns:a16="http://schemas.microsoft.com/office/drawing/2014/main" id="{E4FD374D-9115-4EF1-8E8D-46080056C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3399" name="Oval 6">
            <a:extLst>
              <a:ext uri="{FF2B5EF4-FFF2-40B4-BE49-F238E27FC236}">
                <a16:creationId xmlns:a16="http://schemas.microsoft.com/office/drawing/2014/main" id="{2939EEEE-720D-4758-8FE1-A2A54DDB7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3400" name="Oval 7">
            <a:extLst>
              <a:ext uri="{FF2B5EF4-FFF2-40B4-BE49-F238E27FC236}">
                <a16:creationId xmlns:a16="http://schemas.microsoft.com/office/drawing/2014/main" id="{BC7B9641-99E2-49A7-86A1-CBC0E477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3401" name="Oval 8">
            <a:extLst>
              <a:ext uri="{FF2B5EF4-FFF2-40B4-BE49-F238E27FC236}">
                <a16:creationId xmlns:a16="http://schemas.microsoft.com/office/drawing/2014/main" id="{E4A6F049-4569-4F8B-9DDE-CC34D419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3402" name="Line 9">
            <a:extLst>
              <a:ext uri="{FF2B5EF4-FFF2-40B4-BE49-F238E27FC236}">
                <a16:creationId xmlns:a16="http://schemas.microsoft.com/office/drawing/2014/main" id="{878229C3-3AAA-427F-9C78-0197973128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03" name="Line 10">
            <a:extLst>
              <a:ext uri="{FF2B5EF4-FFF2-40B4-BE49-F238E27FC236}">
                <a16:creationId xmlns:a16="http://schemas.microsoft.com/office/drawing/2014/main" id="{CA358BDE-9916-4103-B7E7-D36666117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04" name="Line 11">
            <a:extLst>
              <a:ext uri="{FF2B5EF4-FFF2-40B4-BE49-F238E27FC236}">
                <a16:creationId xmlns:a16="http://schemas.microsoft.com/office/drawing/2014/main" id="{F5B31FD3-60F5-4E69-BF78-EA130F2C4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05" name="Line 12">
            <a:extLst>
              <a:ext uri="{FF2B5EF4-FFF2-40B4-BE49-F238E27FC236}">
                <a16:creationId xmlns:a16="http://schemas.microsoft.com/office/drawing/2014/main" id="{79A62FF9-83BC-456D-8F37-EC2C9DA2E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06" name="Line 13">
            <a:extLst>
              <a:ext uri="{FF2B5EF4-FFF2-40B4-BE49-F238E27FC236}">
                <a16:creationId xmlns:a16="http://schemas.microsoft.com/office/drawing/2014/main" id="{5622DA0B-223A-4C60-8BBA-F82FFE883A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07" name="Line 14">
            <a:extLst>
              <a:ext uri="{FF2B5EF4-FFF2-40B4-BE49-F238E27FC236}">
                <a16:creationId xmlns:a16="http://schemas.microsoft.com/office/drawing/2014/main" id="{75ABB7F5-F534-4A5C-BB8D-19683F79E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3408" name="AutoShape 15">
            <a:extLst>
              <a:ext uri="{FF2B5EF4-FFF2-40B4-BE49-F238E27FC236}">
                <a16:creationId xmlns:a16="http://schemas.microsoft.com/office/drawing/2014/main" id="{6DAD1CA1-5FB4-4C56-9AB5-58916DA451F7}"/>
              </a:ext>
            </a:extLst>
          </p:cNvPr>
          <p:cNvCxnSpPr>
            <a:cxnSpLocks noChangeShapeType="1"/>
            <a:stCxn id="443399" idx="4"/>
            <a:endCxn id="443399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409" name="AutoShape 16">
            <a:extLst>
              <a:ext uri="{FF2B5EF4-FFF2-40B4-BE49-F238E27FC236}">
                <a16:creationId xmlns:a16="http://schemas.microsoft.com/office/drawing/2014/main" id="{CE9941E1-C7C4-434A-A641-F503670BB74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410" name="AutoShape 17">
            <a:extLst>
              <a:ext uri="{FF2B5EF4-FFF2-40B4-BE49-F238E27FC236}">
                <a16:creationId xmlns:a16="http://schemas.microsoft.com/office/drawing/2014/main" id="{862B56DF-A56C-41E5-8792-EE783B74164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3411" name="Oval 18">
            <a:extLst>
              <a:ext uri="{FF2B5EF4-FFF2-40B4-BE49-F238E27FC236}">
                <a16:creationId xmlns:a16="http://schemas.microsoft.com/office/drawing/2014/main" id="{2A210BF6-E030-4289-A3D2-8CE483783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3412" name="Oval 19">
            <a:extLst>
              <a:ext uri="{FF2B5EF4-FFF2-40B4-BE49-F238E27FC236}">
                <a16:creationId xmlns:a16="http://schemas.microsoft.com/office/drawing/2014/main" id="{F86AE0EE-338D-43D2-BEE9-70D597324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3413" name="Oval 20">
            <a:extLst>
              <a:ext uri="{FF2B5EF4-FFF2-40B4-BE49-F238E27FC236}">
                <a16:creationId xmlns:a16="http://schemas.microsoft.com/office/drawing/2014/main" id="{B03652DB-111F-4F80-8269-B52556595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3414" name="Oval 21">
            <a:extLst>
              <a:ext uri="{FF2B5EF4-FFF2-40B4-BE49-F238E27FC236}">
                <a16:creationId xmlns:a16="http://schemas.microsoft.com/office/drawing/2014/main" id="{B532FAB8-3925-4CA2-BDC1-30AA9C351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3415" name="Oval 22">
            <a:extLst>
              <a:ext uri="{FF2B5EF4-FFF2-40B4-BE49-F238E27FC236}">
                <a16:creationId xmlns:a16="http://schemas.microsoft.com/office/drawing/2014/main" id="{248325BB-7C42-4946-AF39-5A2C41097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3416" name="Oval 23">
            <a:extLst>
              <a:ext uri="{FF2B5EF4-FFF2-40B4-BE49-F238E27FC236}">
                <a16:creationId xmlns:a16="http://schemas.microsoft.com/office/drawing/2014/main" id="{43660209-2DF7-4E2C-90E1-E2806ED07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3417" name="Line 24">
            <a:extLst>
              <a:ext uri="{FF2B5EF4-FFF2-40B4-BE49-F238E27FC236}">
                <a16:creationId xmlns:a16="http://schemas.microsoft.com/office/drawing/2014/main" id="{16FE6055-D06B-4A03-BDBC-99081314A1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18" name="Line 25">
            <a:extLst>
              <a:ext uri="{FF2B5EF4-FFF2-40B4-BE49-F238E27FC236}">
                <a16:creationId xmlns:a16="http://schemas.microsoft.com/office/drawing/2014/main" id="{A19D2A93-CF17-4775-ADB3-6C6F3B50D9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19" name="Line 26">
            <a:extLst>
              <a:ext uri="{FF2B5EF4-FFF2-40B4-BE49-F238E27FC236}">
                <a16:creationId xmlns:a16="http://schemas.microsoft.com/office/drawing/2014/main" id="{10F9C80E-77D2-4201-9426-8A4BF526DB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20" name="Line 27">
            <a:extLst>
              <a:ext uri="{FF2B5EF4-FFF2-40B4-BE49-F238E27FC236}">
                <a16:creationId xmlns:a16="http://schemas.microsoft.com/office/drawing/2014/main" id="{94560231-69DE-4E6B-AF9A-9771F995C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3421" name="Line 28">
            <a:extLst>
              <a:ext uri="{FF2B5EF4-FFF2-40B4-BE49-F238E27FC236}">
                <a16:creationId xmlns:a16="http://schemas.microsoft.com/office/drawing/2014/main" id="{9518F52D-F837-4A51-8E77-2D5A3E63B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3422" name="AutoShape 29">
            <a:extLst>
              <a:ext uri="{FF2B5EF4-FFF2-40B4-BE49-F238E27FC236}">
                <a16:creationId xmlns:a16="http://schemas.microsoft.com/office/drawing/2014/main" id="{5B4A5BC1-D203-4D19-993F-FA81F6C691AA}"/>
              </a:ext>
            </a:extLst>
          </p:cNvPr>
          <p:cNvCxnSpPr>
            <a:cxnSpLocks noChangeShapeType="1"/>
            <a:stCxn id="443414" idx="4"/>
            <a:endCxn id="443414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423" name="AutoShape 30">
            <a:extLst>
              <a:ext uri="{FF2B5EF4-FFF2-40B4-BE49-F238E27FC236}">
                <a16:creationId xmlns:a16="http://schemas.microsoft.com/office/drawing/2014/main" id="{81A66E97-D20F-4AC1-BE58-0B13F59E688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424" name="AutoShape 31">
            <a:extLst>
              <a:ext uri="{FF2B5EF4-FFF2-40B4-BE49-F238E27FC236}">
                <a16:creationId xmlns:a16="http://schemas.microsoft.com/office/drawing/2014/main" id="{94D1090F-0785-4661-8D0D-771696ECCCD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投影片編號版面配置區 4">
            <a:extLst>
              <a:ext uri="{FF2B5EF4-FFF2-40B4-BE49-F238E27FC236}">
                <a16:creationId xmlns:a16="http://schemas.microsoft.com/office/drawing/2014/main" id="{D0224043-646D-4E22-AFEA-DDE6BAFE7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41D90B-ED84-4442-8373-279E3B19A109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45443" name="Rectangle 2">
            <a:extLst>
              <a:ext uri="{FF2B5EF4-FFF2-40B4-BE49-F238E27FC236}">
                <a16:creationId xmlns:a16="http://schemas.microsoft.com/office/drawing/2014/main" id="{2681FBDB-8B3B-4685-AFEA-196905E1A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45444" name="Oval 3">
            <a:extLst>
              <a:ext uri="{FF2B5EF4-FFF2-40B4-BE49-F238E27FC236}">
                <a16:creationId xmlns:a16="http://schemas.microsoft.com/office/drawing/2014/main" id="{9B41A560-E6E4-45F0-AE71-B55CA3A94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5445" name="Oval 4">
            <a:extLst>
              <a:ext uri="{FF2B5EF4-FFF2-40B4-BE49-F238E27FC236}">
                <a16:creationId xmlns:a16="http://schemas.microsoft.com/office/drawing/2014/main" id="{751742A9-3347-4FB3-B2EC-8AF91627E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5446" name="Oval 5">
            <a:extLst>
              <a:ext uri="{FF2B5EF4-FFF2-40B4-BE49-F238E27FC236}">
                <a16:creationId xmlns:a16="http://schemas.microsoft.com/office/drawing/2014/main" id="{C984CE84-B9B6-4FE9-B6B2-25E608786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5447" name="Oval 6">
            <a:extLst>
              <a:ext uri="{FF2B5EF4-FFF2-40B4-BE49-F238E27FC236}">
                <a16:creationId xmlns:a16="http://schemas.microsoft.com/office/drawing/2014/main" id="{1C8AD881-2EDD-4A87-8DA1-C6EB39C53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5448" name="Oval 7">
            <a:extLst>
              <a:ext uri="{FF2B5EF4-FFF2-40B4-BE49-F238E27FC236}">
                <a16:creationId xmlns:a16="http://schemas.microsoft.com/office/drawing/2014/main" id="{E378561E-E231-4740-9FC2-03D42836D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5449" name="Oval 8">
            <a:extLst>
              <a:ext uri="{FF2B5EF4-FFF2-40B4-BE49-F238E27FC236}">
                <a16:creationId xmlns:a16="http://schemas.microsoft.com/office/drawing/2014/main" id="{78FBC3FA-3C45-4FE8-ACC7-E4118734E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5450" name="Line 9">
            <a:extLst>
              <a:ext uri="{FF2B5EF4-FFF2-40B4-BE49-F238E27FC236}">
                <a16:creationId xmlns:a16="http://schemas.microsoft.com/office/drawing/2014/main" id="{C9BE28C5-71B9-4C30-B05D-EEE95D1339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51" name="Line 10">
            <a:extLst>
              <a:ext uri="{FF2B5EF4-FFF2-40B4-BE49-F238E27FC236}">
                <a16:creationId xmlns:a16="http://schemas.microsoft.com/office/drawing/2014/main" id="{1DB69A31-E7EA-425A-AD2E-26ECFDA9E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52" name="Line 11">
            <a:extLst>
              <a:ext uri="{FF2B5EF4-FFF2-40B4-BE49-F238E27FC236}">
                <a16:creationId xmlns:a16="http://schemas.microsoft.com/office/drawing/2014/main" id="{25E080E6-F703-4239-B558-C9470D404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53" name="Line 12">
            <a:extLst>
              <a:ext uri="{FF2B5EF4-FFF2-40B4-BE49-F238E27FC236}">
                <a16:creationId xmlns:a16="http://schemas.microsoft.com/office/drawing/2014/main" id="{5C6372EE-54A6-4FC4-A1FD-43949D51B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54" name="Line 13">
            <a:extLst>
              <a:ext uri="{FF2B5EF4-FFF2-40B4-BE49-F238E27FC236}">
                <a16:creationId xmlns:a16="http://schemas.microsoft.com/office/drawing/2014/main" id="{D1637800-B4B0-4F32-B0B5-481B5CA12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55" name="Line 14">
            <a:extLst>
              <a:ext uri="{FF2B5EF4-FFF2-40B4-BE49-F238E27FC236}">
                <a16:creationId xmlns:a16="http://schemas.microsoft.com/office/drawing/2014/main" id="{A9C6C073-DF0C-440B-9EA8-20C2CDB329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5456" name="AutoShape 15">
            <a:extLst>
              <a:ext uri="{FF2B5EF4-FFF2-40B4-BE49-F238E27FC236}">
                <a16:creationId xmlns:a16="http://schemas.microsoft.com/office/drawing/2014/main" id="{A2C2D69D-390D-4D7A-92A2-19BC192446BA}"/>
              </a:ext>
            </a:extLst>
          </p:cNvPr>
          <p:cNvCxnSpPr>
            <a:cxnSpLocks noChangeShapeType="1"/>
            <a:stCxn id="445447" idx="4"/>
            <a:endCxn id="445447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5457" name="AutoShape 16">
            <a:extLst>
              <a:ext uri="{FF2B5EF4-FFF2-40B4-BE49-F238E27FC236}">
                <a16:creationId xmlns:a16="http://schemas.microsoft.com/office/drawing/2014/main" id="{9A30D0BD-3C3B-4E6E-BADF-D68B5C72D53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5458" name="AutoShape 17">
            <a:extLst>
              <a:ext uri="{FF2B5EF4-FFF2-40B4-BE49-F238E27FC236}">
                <a16:creationId xmlns:a16="http://schemas.microsoft.com/office/drawing/2014/main" id="{7B0A0F9C-64EF-4DEA-9550-4A57A0A0196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5459" name="Oval 18">
            <a:extLst>
              <a:ext uri="{FF2B5EF4-FFF2-40B4-BE49-F238E27FC236}">
                <a16:creationId xmlns:a16="http://schemas.microsoft.com/office/drawing/2014/main" id="{45F58A06-3C3A-4956-971B-C3335DF91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5460" name="Oval 19">
            <a:extLst>
              <a:ext uri="{FF2B5EF4-FFF2-40B4-BE49-F238E27FC236}">
                <a16:creationId xmlns:a16="http://schemas.microsoft.com/office/drawing/2014/main" id="{245EAFDB-8BB5-4F52-B2F6-ECBA5FFD3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5461" name="Oval 20">
            <a:extLst>
              <a:ext uri="{FF2B5EF4-FFF2-40B4-BE49-F238E27FC236}">
                <a16:creationId xmlns:a16="http://schemas.microsoft.com/office/drawing/2014/main" id="{0447149B-254A-4798-BAB7-B04C1FEDA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5462" name="Oval 21">
            <a:extLst>
              <a:ext uri="{FF2B5EF4-FFF2-40B4-BE49-F238E27FC236}">
                <a16:creationId xmlns:a16="http://schemas.microsoft.com/office/drawing/2014/main" id="{21DEF37E-F892-470E-824C-F22E304DF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5463" name="Oval 22">
            <a:extLst>
              <a:ext uri="{FF2B5EF4-FFF2-40B4-BE49-F238E27FC236}">
                <a16:creationId xmlns:a16="http://schemas.microsoft.com/office/drawing/2014/main" id="{2D3B5D7A-1008-4E13-AB0D-0D5255876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5464" name="Oval 23">
            <a:extLst>
              <a:ext uri="{FF2B5EF4-FFF2-40B4-BE49-F238E27FC236}">
                <a16:creationId xmlns:a16="http://schemas.microsoft.com/office/drawing/2014/main" id="{3805A124-8586-4EE1-8F3D-170735DB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5465" name="Line 24">
            <a:extLst>
              <a:ext uri="{FF2B5EF4-FFF2-40B4-BE49-F238E27FC236}">
                <a16:creationId xmlns:a16="http://schemas.microsoft.com/office/drawing/2014/main" id="{D4EB8A14-733B-4D52-979F-A6D4283983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66" name="Line 25">
            <a:extLst>
              <a:ext uri="{FF2B5EF4-FFF2-40B4-BE49-F238E27FC236}">
                <a16:creationId xmlns:a16="http://schemas.microsoft.com/office/drawing/2014/main" id="{6C589D86-75F6-4F8D-B389-4CAC5788E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67" name="Line 26">
            <a:extLst>
              <a:ext uri="{FF2B5EF4-FFF2-40B4-BE49-F238E27FC236}">
                <a16:creationId xmlns:a16="http://schemas.microsoft.com/office/drawing/2014/main" id="{AF2C23B1-A760-42F2-9DBE-6239831CA7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68" name="Line 27">
            <a:extLst>
              <a:ext uri="{FF2B5EF4-FFF2-40B4-BE49-F238E27FC236}">
                <a16:creationId xmlns:a16="http://schemas.microsoft.com/office/drawing/2014/main" id="{7F98DFAD-4293-4AB7-B666-D5B25BF34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5469" name="Line 28">
            <a:extLst>
              <a:ext uri="{FF2B5EF4-FFF2-40B4-BE49-F238E27FC236}">
                <a16:creationId xmlns:a16="http://schemas.microsoft.com/office/drawing/2014/main" id="{437CEAFF-84B3-4215-8D73-09B4384D1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5470" name="AutoShape 29">
            <a:extLst>
              <a:ext uri="{FF2B5EF4-FFF2-40B4-BE49-F238E27FC236}">
                <a16:creationId xmlns:a16="http://schemas.microsoft.com/office/drawing/2014/main" id="{E4965E3A-C58E-4D61-AD84-3C50D00CD378}"/>
              </a:ext>
            </a:extLst>
          </p:cNvPr>
          <p:cNvCxnSpPr>
            <a:cxnSpLocks noChangeShapeType="1"/>
            <a:stCxn id="445462" idx="4"/>
            <a:endCxn id="445462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5471" name="AutoShape 30">
            <a:extLst>
              <a:ext uri="{FF2B5EF4-FFF2-40B4-BE49-F238E27FC236}">
                <a16:creationId xmlns:a16="http://schemas.microsoft.com/office/drawing/2014/main" id="{7B6FEC39-7361-4987-95C9-AFB50DFE86D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5472" name="AutoShape 31">
            <a:extLst>
              <a:ext uri="{FF2B5EF4-FFF2-40B4-BE49-F238E27FC236}">
                <a16:creationId xmlns:a16="http://schemas.microsoft.com/office/drawing/2014/main" id="{7CDF7D93-2456-4B7D-AB39-E2DC3C9A8C0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投影片編號版面配置區 4">
            <a:extLst>
              <a:ext uri="{FF2B5EF4-FFF2-40B4-BE49-F238E27FC236}">
                <a16:creationId xmlns:a16="http://schemas.microsoft.com/office/drawing/2014/main" id="{8E6A512A-3B36-4290-BB6A-0039C793D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D315D7-D69C-4BE0-BF7D-1AEF3FD9D94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47491" name="Rectangle 2">
            <a:extLst>
              <a:ext uri="{FF2B5EF4-FFF2-40B4-BE49-F238E27FC236}">
                <a16:creationId xmlns:a16="http://schemas.microsoft.com/office/drawing/2014/main" id="{02210F46-289B-4031-92D2-C71652FFD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47492" name="Oval 3">
            <a:extLst>
              <a:ext uri="{FF2B5EF4-FFF2-40B4-BE49-F238E27FC236}">
                <a16:creationId xmlns:a16="http://schemas.microsoft.com/office/drawing/2014/main" id="{C6952C57-5472-4162-976A-02FBF18A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7493" name="Oval 4">
            <a:extLst>
              <a:ext uri="{FF2B5EF4-FFF2-40B4-BE49-F238E27FC236}">
                <a16:creationId xmlns:a16="http://schemas.microsoft.com/office/drawing/2014/main" id="{DA3C6158-16E9-4FEF-BFCB-9E0B28D5D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7494" name="Oval 5">
            <a:extLst>
              <a:ext uri="{FF2B5EF4-FFF2-40B4-BE49-F238E27FC236}">
                <a16:creationId xmlns:a16="http://schemas.microsoft.com/office/drawing/2014/main" id="{E38E329A-1C3A-4EED-B536-7B08DBB1D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7495" name="Oval 6">
            <a:extLst>
              <a:ext uri="{FF2B5EF4-FFF2-40B4-BE49-F238E27FC236}">
                <a16:creationId xmlns:a16="http://schemas.microsoft.com/office/drawing/2014/main" id="{FDF2082B-E76A-48F4-9C53-6E679B022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7496" name="Oval 7">
            <a:extLst>
              <a:ext uri="{FF2B5EF4-FFF2-40B4-BE49-F238E27FC236}">
                <a16:creationId xmlns:a16="http://schemas.microsoft.com/office/drawing/2014/main" id="{1D94C897-F67F-4DBA-AD55-299ECB7D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7497" name="Oval 8">
            <a:extLst>
              <a:ext uri="{FF2B5EF4-FFF2-40B4-BE49-F238E27FC236}">
                <a16:creationId xmlns:a16="http://schemas.microsoft.com/office/drawing/2014/main" id="{A4E49916-A244-4924-B7BE-D268AA01F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7498" name="Line 9">
            <a:extLst>
              <a:ext uri="{FF2B5EF4-FFF2-40B4-BE49-F238E27FC236}">
                <a16:creationId xmlns:a16="http://schemas.microsoft.com/office/drawing/2014/main" id="{F78AEC85-A661-454B-8170-663E7FE911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499" name="Line 10">
            <a:extLst>
              <a:ext uri="{FF2B5EF4-FFF2-40B4-BE49-F238E27FC236}">
                <a16:creationId xmlns:a16="http://schemas.microsoft.com/office/drawing/2014/main" id="{36AADF2B-D368-44F6-B8A0-D9408A20D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00" name="Line 11">
            <a:extLst>
              <a:ext uri="{FF2B5EF4-FFF2-40B4-BE49-F238E27FC236}">
                <a16:creationId xmlns:a16="http://schemas.microsoft.com/office/drawing/2014/main" id="{6CB7A489-56F8-4F90-9703-CB2419EC5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01" name="Line 12">
            <a:extLst>
              <a:ext uri="{FF2B5EF4-FFF2-40B4-BE49-F238E27FC236}">
                <a16:creationId xmlns:a16="http://schemas.microsoft.com/office/drawing/2014/main" id="{568B7E47-AC18-4810-B725-A8F787D892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02" name="Line 13">
            <a:extLst>
              <a:ext uri="{FF2B5EF4-FFF2-40B4-BE49-F238E27FC236}">
                <a16:creationId xmlns:a16="http://schemas.microsoft.com/office/drawing/2014/main" id="{B6A6E036-228C-4247-B662-93494BB1B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03" name="Line 14">
            <a:extLst>
              <a:ext uri="{FF2B5EF4-FFF2-40B4-BE49-F238E27FC236}">
                <a16:creationId xmlns:a16="http://schemas.microsoft.com/office/drawing/2014/main" id="{47FDE635-0262-47AE-9E9A-F90602F02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7504" name="AutoShape 15">
            <a:extLst>
              <a:ext uri="{FF2B5EF4-FFF2-40B4-BE49-F238E27FC236}">
                <a16:creationId xmlns:a16="http://schemas.microsoft.com/office/drawing/2014/main" id="{C17B23ED-8CEF-4FF2-9A2E-039625B05A97}"/>
              </a:ext>
            </a:extLst>
          </p:cNvPr>
          <p:cNvCxnSpPr>
            <a:cxnSpLocks noChangeShapeType="1"/>
            <a:stCxn id="447495" idx="4"/>
            <a:endCxn id="447495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7505" name="AutoShape 16">
            <a:extLst>
              <a:ext uri="{FF2B5EF4-FFF2-40B4-BE49-F238E27FC236}">
                <a16:creationId xmlns:a16="http://schemas.microsoft.com/office/drawing/2014/main" id="{3499401D-9F57-4F27-84A7-89A1271ABC1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7506" name="AutoShape 17">
            <a:extLst>
              <a:ext uri="{FF2B5EF4-FFF2-40B4-BE49-F238E27FC236}">
                <a16:creationId xmlns:a16="http://schemas.microsoft.com/office/drawing/2014/main" id="{641174D8-D7E1-4ACC-AF2D-66A95DC91E8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7507" name="Oval 18">
            <a:extLst>
              <a:ext uri="{FF2B5EF4-FFF2-40B4-BE49-F238E27FC236}">
                <a16:creationId xmlns:a16="http://schemas.microsoft.com/office/drawing/2014/main" id="{36053560-0D3C-4232-ACDB-1561C16F8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7508" name="Oval 19">
            <a:extLst>
              <a:ext uri="{FF2B5EF4-FFF2-40B4-BE49-F238E27FC236}">
                <a16:creationId xmlns:a16="http://schemas.microsoft.com/office/drawing/2014/main" id="{C826482E-9262-421F-A03C-EEB3E54D0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7509" name="Oval 20">
            <a:extLst>
              <a:ext uri="{FF2B5EF4-FFF2-40B4-BE49-F238E27FC236}">
                <a16:creationId xmlns:a16="http://schemas.microsoft.com/office/drawing/2014/main" id="{6FF4EFF3-9BBC-4800-9C0E-D1A57C59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7510" name="Oval 21">
            <a:extLst>
              <a:ext uri="{FF2B5EF4-FFF2-40B4-BE49-F238E27FC236}">
                <a16:creationId xmlns:a16="http://schemas.microsoft.com/office/drawing/2014/main" id="{C01DB7A8-BF43-48B0-96D3-1A98D790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7511" name="Oval 22">
            <a:extLst>
              <a:ext uri="{FF2B5EF4-FFF2-40B4-BE49-F238E27FC236}">
                <a16:creationId xmlns:a16="http://schemas.microsoft.com/office/drawing/2014/main" id="{C85F6212-DEB1-4941-8947-C0C472D01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7512" name="Oval 23">
            <a:extLst>
              <a:ext uri="{FF2B5EF4-FFF2-40B4-BE49-F238E27FC236}">
                <a16:creationId xmlns:a16="http://schemas.microsoft.com/office/drawing/2014/main" id="{D0B05CE2-84E9-44A5-AFE4-75E0FBCA5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7513" name="Line 24">
            <a:extLst>
              <a:ext uri="{FF2B5EF4-FFF2-40B4-BE49-F238E27FC236}">
                <a16:creationId xmlns:a16="http://schemas.microsoft.com/office/drawing/2014/main" id="{C4EFA620-4D3B-4D91-B16C-CE3401D9AC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14" name="Line 25">
            <a:extLst>
              <a:ext uri="{FF2B5EF4-FFF2-40B4-BE49-F238E27FC236}">
                <a16:creationId xmlns:a16="http://schemas.microsoft.com/office/drawing/2014/main" id="{4F690DC6-FB65-4365-98D6-C1CA3B5A4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15" name="Line 26">
            <a:extLst>
              <a:ext uri="{FF2B5EF4-FFF2-40B4-BE49-F238E27FC236}">
                <a16:creationId xmlns:a16="http://schemas.microsoft.com/office/drawing/2014/main" id="{4CEE52F6-20D1-4E8D-8445-184432FBDA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16" name="Line 27">
            <a:extLst>
              <a:ext uri="{FF2B5EF4-FFF2-40B4-BE49-F238E27FC236}">
                <a16:creationId xmlns:a16="http://schemas.microsoft.com/office/drawing/2014/main" id="{F409C527-A262-4E04-AF85-F52119DC6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7517" name="Line 28">
            <a:extLst>
              <a:ext uri="{FF2B5EF4-FFF2-40B4-BE49-F238E27FC236}">
                <a16:creationId xmlns:a16="http://schemas.microsoft.com/office/drawing/2014/main" id="{8800AE6B-5FC0-4927-AFB7-14E051114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7518" name="AutoShape 29">
            <a:extLst>
              <a:ext uri="{FF2B5EF4-FFF2-40B4-BE49-F238E27FC236}">
                <a16:creationId xmlns:a16="http://schemas.microsoft.com/office/drawing/2014/main" id="{390C4C8F-8287-4EC2-886B-1FED0C77C18B}"/>
              </a:ext>
            </a:extLst>
          </p:cNvPr>
          <p:cNvCxnSpPr>
            <a:cxnSpLocks noChangeShapeType="1"/>
            <a:stCxn id="447510" idx="4"/>
            <a:endCxn id="447510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7519" name="AutoShape 30">
            <a:extLst>
              <a:ext uri="{FF2B5EF4-FFF2-40B4-BE49-F238E27FC236}">
                <a16:creationId xmlns:a16="http://schemas.microsoft.com/office/drawing/2014/main" id="{AA6CFB87-5474-469E-983E-C21EA8E20F6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7520" name="AutoShape 31">
            <a:extLst>
              <a:ext uri="{FF2B5EF4-FFF2-40B4-BE49-F238E27FC236}">
                <a16:creationId xmlns:a16="http://schemas.microsoft.com/office/drawing/2014/main" id="{A901DE7C-6520-4971-8EB6-BBDD0FA8B49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投影片編號版面配置區 4">
            <a:extLst>
              <a:ext uri="{FF2B5EF4-FFF2-40B4-BE49-F238E27FC236}">
                <a16:creationId xmlns:a16="http://schemas.microsoft.com/office/drawing/2014/main" id="{EFCA2FE3-AFEB-4791-AA43-45E9656109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B7F85-882F-481E-A139-27FA74E8F15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49539" name="Rectangle 2">
            <a:extLst>
              <a:ext uri="{FF2B5EF4-FFF2-40B4-BE49-F238E27FC236}">
                <a16:creationId xmlns:a16="http://schemas.microsoft.com/office/drawing/2014/main" id="{52B218B3-5DD9-423F-A768-8C58BF831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49540" name="Oval 3">
            <a:extLst>
              <a:ext uri="{FF2B5EF4-FFF2-40B4-BE49-F238E27FC236}">
                <a16:creationId xmlns:a16="http://schemas.microsoft.com/office/drawing/2014/main" id="{B941A2A8-1447-41E9-AFD6-C31FA14B7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9541" name="Oval 4">
            <a:extLst>
              <a:ext uri="{FF2B5EF4-FFF2-40B4-BE49-F238E27FC236}">
                <a16:creationId xmlns:a16="http://schemas.microsoft.com/office/drawing/2014/main" id="{E5DA4F00-12A2-4706-8422-D31C84AAE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9542" name="Oval 5">
            <a:extLst>
              <a:ext uri="{FF2B5EF4-FFF2-40B4-BE49-F238E27FC236}">
                <a16:creationId xmlns:a16="http://schemas.microsoft.com/office/drawing/2014/main" id="{7515F2A1-DC25-4EEC-BC53-532714869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81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9543" name="Oval 6">
            <a:extLst>
              <a:ext uri="{FF2B5EF4-FFF2-40B4-BE49-F238E27FC236}">
                <a16:creationId xmlns:a16="http://schemas.microsoft.com/office/drawing/2014/main" id="{A8EEBCBD-B2F0-4195-B0C4-9C7ABD5C2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457200" cy="457200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9544" name="Oval 7">
            <a:extLst>
              <a:ext uri="{FF2B5EF4-FFF2-40B4-BE49-F238E27FC236}">
                <a16:creationId xmlns:a16="http://schemas.microsoft.com/office/drawing/2014/main" id="{93627869-2AB6-4E8A-A442-35E4CD0B1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9545" name="Oval 8">
            <a:extLst>
              <a:ext uri="{FF2B5EF4-FFF2-40B4-BE49-F238E27FC236}">
                <a16:creationId xmlns:a16="http://schemas.microsoft.com/office/drawing/2014/main" id="{408F2456-90F6-4E6C-A823-2E3111607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9546" name="Line 9">
            <a:extLst>
              <a:ext uri="{FF2B5EF4-FFF2-40B4-BE49-F238E27FC236}">
                <a16:creationId xmlns:a16="http://schemas.microsoft.com/office/drawing/2014/main" id="{11EABADE-47A3-40B8-8B06-6B60A979D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8956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47" name="Line 10">
            <a:extLst>
              <a:ext uri="{FF2B5EF4-FFF2-40B4-BE49-F238E27FC236}">
                <a16:creationId xmlns:a16="http://schemas.microsoft.com/office/drawing/2014/main" id="{9C6996B5-52EF-4314-8840-B16ACCD42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48" name="Line 11">
            <a:extLst>
              <a:ext uri="{FF2B5EF4-FFF2-40B4-BE49-F238E27FC236}">
                <a16:creationId xmlns:a16="http://schemas.microsoft.com/office/drawing/2014/main" id="{FBD989D3-9BD3-4D2C-9710-E2E2CB8565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49" name="Line 12">
            <a:extLst>
              <a:ext uri="{FF2B5EF4-FFF2-40B4-BE49-F238E27FC236}">
                <a16:creationId xmlns:a16="http://schemas.microsoft.com/office/drawing/2014/main" id="{5A796A3C-DD0D-45A6-B9B5-6A4C01FAF7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9624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50" name="Line 13">
            <a:extLst>
              <a:ext uri="{FF2B5EF4-FFF2-40B4-BE49-F238E27FC236}">
                <a16:creationId xmlns:a16="http://schemas.microsoft.com/office/drawing/2014/main" id="{C811F957-A84C-46A6-BB2A-F068E8B97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40386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51" name="Line 14">
            <a:extLst>
              <a:ext uri="{FF2B5EF4-FFF2-40B4-BE49-F238E27FC236}">
                <a16:creationId xmlns:a16="http://schemas.microsoft.com/office/drawing/2014/main" id="{D7FED2AD-A846-4B84-B59D-10904A030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18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9552" name="AutoShape 15">
            <a:extLst>
              <a:ext uri="{FF2B5EF4-FFF2-40B4-BE49-F238E27FC236}">
                <a16:creationId xmlns:a16="http://schemas.microsoft.com/office/drawing/2014/main" id="{37CFA829-EBA1-4D70-88E4-1BCAA7799A9B}"/>
              </a:ext>
            </a:extLst>
          </p:cNvPr>
          <p:cNvCxnSpPr>
            <a:cxnSpLocks noChangeShapeType="1"/>
            <a:stCxn id="449543" idx="4"/>
            <a:endCxn id="449543" idx="2"/>
          </p:cNvCxnSpPr>
          <p:nvPr/>
        </p:nvCxnSpPr>
        <p:spPr bwMode="auto">
          <a:xfrm rot="16200000" flipV="1">
            <a:off x="55626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553" name="AutoShape 16">
            <a:extLst>
              <a:ext uri="{FF2B5EF4-FFF2-40B4-BE49-F238E27FC236}">
                <a16:creationId xmlns:a16="http://schemas.microsoft.com/office/drawing/2014/main" id="{C68EF684-57F3-405D-BE60-CA8593C5635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65532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554" name="AutoShape 17">
            <a:extLst>
              <a:ext uri="{FF2B5EF4-FFF2-40B4-BE49-F238E27FC236}">
                <a16:creationId xmlns:a16="http://schemas.microsoft.com/office/drawing/2014/main" id="{2C5AA907-D82B-4F76-AD83-754ED303628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391400" y="51054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9555" name="Oval 18">
            <a:extLst>
              <a:ext uri="{FF2B5EF4-FFF2-40B4-BE49-F238E27FC236}">
                <a16:creationId xmlns:a16="http://schemas.microsoft.com/office/drawing/2014/main" id="{BEC70A2E-AAC3-4B67-8305-4292103D4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49556" name="Oval 19">
            <a:extLst>
              <a:ext uri="{FF2B5EF4-FFF2-40B4-BE49-F238E27FC236}">
                <a16:creationId xmlns:a16="http://schemas.microsoft.com/office/drawing/2014/main" id="{C5A41D6E-7AE8-49C8-8204-8EF9558FE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9557" name="Oval 20">
            <a:extLst>
              <a:ext uri="{FF2B5EF4-FFF2-40B4-BE49-F238E27FC236}">
                <a16:creationId xmlns:a16="http://schemas.microsoft.com/office/drawing/2014/main" id="{AA543018-358B-4E93-8C0F-B2FC0C02A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505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49558" name="Oval 21">
            <a:extLst>
              <a:ext uri="{FF2B5EF4-FFF2-40B4-BE49-F238E27FC236}">
                <a16:creationId xmlns:a16="http://schemas.microsoft.com/office/drawing/2014/main" id="{F35E0DFD-81C7-49DA-8678-8CC84A6D0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9559" name="Oval 22">
            <a:extLst>
              <a:ext uri="{FF2B5EF4-FFF2-40B4-BE49-F238E27FC236}">
                <a16:creationId xmlns:a16="http://schemas.microsoft.com/office/drawing/2014/main" id="{D9B3C22F-DEFD-4091-AF86-720CAB75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9560" name="Oval 23">
            <a:extLst>
              <a:ext uri="{FF2B5EF4-FFF2-40B4-BE49-F238E27FC236}">
                <a16:creationId xmlns:a16="http://schemas.microsoft.com/office/drawing/2014/main" id="{2076E54E-623F-402D-8F23-4331C85F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724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49561" name="Line 24">
            <a:extLst>
              <a:ext uri="{FF2B5EF4-FFF2-40B4-BE49-F238E27FC236}">
                <a16:creationId xmlns:a16="http://schemas.microsoft.com/office/drawing/2014/main" id="{C3F4ED2E-B9A0-45F5-9D7E-AD2DA69B5D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2819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62" name="Line 25">
            <a:extLst>
              <a:ext uri="{FF2B5EF4-FFF2-40B4-BE49-F238E27FC236}">
                <a16:creationId xmlns:a16="http://schemas.microsoft.com/office/drawing/2014/main" id="{6E81873B-FFFC-4EC1-A8CC-5F0EE55F2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63" name="Line 26">
            <a:extLst>
              <a:ext uri="{FF2B5EF4-FFF2-40B4-BE49-F238E27FC236}">
                <a16:creationId xmlns:a16="http://schemas.microsoft.com/office/drawing/2014/main" id="{2BAEA249-0E63-42C5-9EF6-FE9609B5D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86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64" name="Line 27">
            <a:extLst>
              <a:ext uri="{FF2B5EF4-FFF2-40B4-BE49-F238E27FC236}">
                <a16:creationId xmlns:a16="http://schemas.microsoft.com/office/drawing/2014/main" id="{66A5B8CB-1ACF-4B8A-AAD2-9A6E4926F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3962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9565" name="Line 28">
            <a:extLst>
              <a:ext uri="{FF2B5EF4-FFF2-40B4-BE49-F238E27FC236}">
                <a16:creationId xmlns:a16="http://schemas.microsoft.com/office/drawing/2014/main" id="{69939C45-C693-4F4F-8CB0-3AB68A500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895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49566" name="AutoShape 29">
            <a:extLst>
              <a:ext uri="{FF2B5EF4-FFF2-40B4-BE49-F238E27FC236}">
                <a16:creationId xmlns:a16="http://schemas.microsoft.com/office/drawing/2014/main" id="{009F5726-37F1-451C-A619-A88E17E83186}"/>
              </a:ext>
            </a:extLst>
          </p:cNvPr>
          <p:cNvCxnSpPr>
            <a:cxnSpLocks noChangeShapeType="1"/>
            <a:stCxn id="449558" idx="4"/>
            <a:endCxn id="449558" idx="2"/>
          </p:cNvCxnSpPr>
          <p:nvPr/>
        </p:nvCxnSpPr>
        <p:spPr bwMode="auto">
          <a:xfrm rot="16200000" flipV="1">
            <a:off x="15240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567" name="AutoShape 30">
            <a:extLst>
              <a:ext uri="{FF2B5EF4-FFF2-40B4-BE49-F238E27FC236}">
                <a16:creationId xmlns:a16="http://schemas.microsoft.com/office/drawing/2014/main" id="{6C03F575-C593-40CA-8B69-CC5D0C466F8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514600" y="4953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568" name="AutoShape 31">
            <a:extLst>
              <a:ext uri="{FF2B5EF4-FFF2-40B4-BE49-F238E27FC236}">
                <a16:creationId xmlns:a16="http://schemas.microsoft.com/office/drawing/2014/main" id="{C2C17DFB-0BB4-483C-B999-E2B41619574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352800" y="5029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投影片編號版面配置區 5">
            <a:extLst>
              <a:ext uri="{FF2B5EF4-FFF2-40B4-BE49-F238E27FC236}">
                <a16:creationId xmlns:a16="http://schemas.microsoft.com/office/drawing/2014/main" id="{11470867-585D-4A0B-B573-7820419D7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C9DFA2-1841-481C-8FB9-A56AC43F4CE1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1587" name="Rectangle 2">
            <a:extLst>
              <a:ext uri="{FF2B5EF4-FFF2-40B4-BE49-F238E27FC236}">
                <a16:creationId xmlns:a16="http://schemas.microsoft.com/office/drawing/2014/main" id="{E1EFF7E9-645E-42C0-87A2-F3345F70E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Bisimulations</a:t>
            </a:r>
          </a:p>
        </p:txBody>
      </p:sp>
      <p:sp>
        <p:nvSpPr>
          <p:cNvPr id="451588" name="Rectangle 3">
            <a:extLst>
              <a:ext uri="{FF2B5EF4-FFF2-40B4-BE49-F238E27FC236}">
                <a16:creationId xmlns:a16="http://schemas.microsoft.com/office/drawing/2014/main" id="{A7D47E72-459E-455A-9A69-D6F801FC0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600"/>
              <a:t>K = (S, S</a:t>
            </a:r>
            <a:r>
              <a:rPr lang="en-US" altLang="zh-TW" sz="2600" baseline="-25000"/>
              <a:t>0</a:t>
            </a:r>
            <a:r>
              <a:rPr lang="en-US" altLang="zh-TW" sz="2600"/>
              <a:t>, R, AP, L)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= (S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S</a:t>
            </a:r>
            <a:r>
              <a:rPr lang="en-US" altLang="zh-TW" sz="2600" baseline="-25000"/>
              <a:t>0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R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AP, L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K and 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are </a:t>
            </a:r>
            <a:r>
              <a:rPr lang="en-US" altLang="zh-TW" sz="2600">
                <a:solidFill>
                  <a:srgbClr val="FF33CC"/>
                </a:solidFill>
              </a:rPr>
              <a:t>bisimilar </a:t>
            </a:r>
            <a:r>
              <a:rPr lang="en-US" altLang="zh-TW" sz="2600"/>
              <a:t>(bisimulation equivalent) iff there exists a bisimulation relation </a:t>
            </a:r>
            <a:r>
              <a:rPr lang="en-US" altLang="zh-TW" sz="2600">
                <a:latin typeface="cmsy10"/>
              </a:rPr>
              <a:t>B</a:t>
            </a:r>
            <a:r>
              <a:rPr lang="en-US" altLang="zh-TW" sz="2600"/>
              <a:t> </a:t>
            </a:r>
            <a:r>
              <a:rPr lang="en-US" altLang="zh-TW" sz="2600" b="1">
                <a:latin typeface="cmsy10"/>
                <a:sym typeface="Symbol" panose="05050102010706020507" pitchFamily="18" charset="2"/>
              </a:rPr>
              <a:t></a:t>
            </a:r>
            <a:r>
              <a:rPr lang="en-US" altLang="zh-TW" sz="2600"/>
              <a:t> S </a:t>
            </a:r>
            <a:r>
              <a:rPr lang="en-US" altLang="zh-TW" sz="2600" b="1">
                <a:latin typeface="cmsy10"/>
                <a:sym typeface="Symbol" panose="05050102010706020507" pitchFamily="18" charset="2"/>
              </a:rPr>
              <a:t></a:t>
            </a:r>
            <a:r>
              <a:rPr lang="en-US" altLang="zh-TW" sz="2600"/>
              <a:t> S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between K and 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such that: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200"/>
              <a:t>For each s</a:t>
            </a:r>
            <a:r>
              <a:rPr lang="en-US" altLang="zh-TW" sz="2200" baseline="-25000"/>
              <a:t>0</a:t>
            </a:r>
            <a:r>
              <a:rPr lang="en-US" altLang="zh-TW" sz="2200"/>
              <a:t> in S</a:t>
            </a:r>
            <a:r>
              <a:rPr lang="en-US" altLang="zh-TW" sz="2200" baseline="-25000"/>
              <a:t>0</a:t>
            </a:r>
            <a:r>
              <a:rPr lang="en-US" altLang="zh-TW" sz="2200"/>
              <a:t> there exists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 in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 such that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200">
                <a:latin typeface="cmsy10"/>
              </a:rPr>
              <a:t>   B</a:t>
            </a:r>
            <a:r>
              <a:rPr lang="en-US" altLang="zh-TW" sz="2200"/>
              <a:t>(s</a:t>
            </a:r>
            <a:r>
              <a:rPr lang="en-US" altLang="zh-TW" sz="2200" baseline="-25000"/>
              <a:t>0</a:t>
            </a:r>
            <a:r>
              <a:rPr lang="en-US" altLang="zh-TW" sz="2200"/>
              <a:t> ,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200"/>
              <a:t>For each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 in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 there exists s</a:t>
            </a:r>
            <a:r>
              <a:rPr lang="en-US" altLang="zh-TW" sz="2200" baseline="-25000"/>
              <a:t>0</a:t>
            </a:r>
            <a:r>
              <a:rPr lang="en-US" altLang="zh-TW" sz="2200"/>
              <a:t> in S</a:t>
            </a:r>
            <a:r>
              <a:rPr lang="en-US" altLang="zh-TW" sz="2200" baseline="-25000"/>
              <a:t>0</a:t>
            </a:r>
            <a:r>
              <a:rPr lang="en-US" altLang="zh-TW" sz="2200"/>
              <a:t> such that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200">
                <a:latin typeface="cmsy10"/>
              </a:rPr>
              <a:t>   B</a:t>
            </a:r>
            <a:r>
              <a:rPr lang="en-US" altLang="zh-TW" sz="2200"/>
              <a:t>(s</a:t>
            </a:r>
            <a:r>
              <a:rPr lang="en-US" altLang="zh-TW" sz="2200" baseline="-25000"/>
              <a:t>0</a:t>
            </a:r>
            <a:r>
              <a:rPr lang="en-US" altLang="zh-TW" sz="2200"/>
              <a:t> , s</a:t>
            </a:r>
            <a:r>
              <a:rPr lang="en-US" altLang="zh-TW" sz="2200" baseline="-25000"/>
              <a:t>0</a:t>
            </a:r>
            <a:r>
              <a:rPr lang="en-US" altLang="zh-TW" sz="2200">
                <a:latin typeface="Times New Roman" panose="02020603050405020304" pitchFamily="18" charset="0"/>
              </a:rPr>
              <a:t>’</a:t>
            </a:r>
            <a:r>
              <a:rPr lang="en-US" altLang="zh-TW" sz="2200"/>
              <a:t>).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投影片編號版面配置區 5">
            <a:extLst>
              <a:ext uri="{FF2B5EF4-FFF2-40B4-BE49-F238E27FC236}">
                <a16:creationId xmlns:a16="http://schemas.microsoft.com/office/drawing/2014/main" id="{E2C59C5F-0189-4CB8-92C9-A39965EC3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1589A-E7D0-4EA0-A8F4-68F21A61EB7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3635" name="Rectangle 2">
            <a:extLst>
              <a:ext uri="{FF2B5EF4-FFF2-40B4-BE49-F238E27FC236}">
                <a16:creationId xmlns:a16="http://schemas.microsoft.com/office/drawing/2014/main" id="{A5A3C1A4-A93A-42F0-9E68-DFDFEE53F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Preservation Property.</a:t>
            </a:r>
          </a:p>
        </p:txBody>
      </p:sp>
      <p:sp>
        <p:nvSpPr>
          <p:cNvPr id="453636" name="Rectangle 3">
            <a:extLst>
              <a:ext uri="{FF2B5EF4-FFF2-40B4-BE49-F238E27FC236}">
                <a16:creationId xmlns:a16="http://schemas.microsoft.com/office/drawing/2014/main" id="{E39B65B7-601B-4742-9409-A8E86E740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K = (S, S</a:t>
            </a:r>
            <a:r>
              <a:rPr lang="en-US" altLang="zh-TW" baseline="-25000"/>
              <a:t>0</a:t>
            </a:r>
            <a:r>
              <a:rPr lang="en-US" altLang="zh-TW"/>
              <a:t>, R, AP, L)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/>
              <a:t>   K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= (S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S</a:t>
            </a:r>
            <a:r>
              <a:rPr lang="en-US" altLang="zh-TW" baseline="-25000"/>
              <a:t>0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R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AP, L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 </a:t>
            </a:r>
            <a:r>
              <a:rPr lang="en-US" altLang="zh-TW">
                <a:latin typeface="cmsy10"/>
              </a:rPr>
              <a:t>B</a:t>
            </a:r>
            <a:r>
              <a:rPr lang="en-US" altLang="zh-TW"/>
              <a:t> </a:t>
            </a:r>
            <a:r>
              <a:rPr lang="en-US" altLang="zh-TW" sz="3200" b="1">
                <a:latin typeface="cmsy10"/>
                <a:sym typeface="Symbol" panose="05050102010706020507" pitchFamily="18" charset="2"/>
              </a:rPr>
              <a:t></a:t>
            </a:r>
            <a:r>
              <a:rPr lang="en-US" altLang="zh-TW"/>
              <a:t> S</a:t>
            </a:r>
            <a:r>
              <a:rPr lang="en-US" altLang="zh-TW" sz="2800">
                <a:sym typeface="Symbol" panose="05050102010706020507" pitchFamily="18" charset="2"/>
              </a:rPr>
              <a:t></a:t>
            </a:r>
            <a:r>
              <a:rPr lang="en-US" altLang="zh-TW"/>
              <a:t>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a bisimulation.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Suppose </a:t>
            </a:r>
            <a:r>
              <a:rPr lang="en-US" altLang="zh-TW">
                <a:latin typeface="cmsy10"/>
              </a:rPr>
              <a:t>B</a:t>
            </a:r>
            <a:r>
              <a:rPr lang="en-US" altLang="zh-TW"/>
              <a:t>(s, 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>
                <a:solidFill>
                  <a:schemeClr val="accent2"/>
                </a:solidFill>
              </a:rPr>
              <a:t>FACT</a:t>
            </a:r>
            <a:r>
              <a:rPr lang="en-US" altLang="zh-TW"/>
              <a:t>: For any CTL* (or proposition mu-calculus)  formula </a:t>
            </a:r>
            <a:r>
              <a:rPr lang="en-US" altLang="zh-TW">
                <a:latin typeface="Symbol" panose="05050102010706020507" pitchFamily="18" charset="2"/>
              </a:rPr>
              <a:t>y</a:t>
            </a:r>
            <a:r>
              <a:rPr lang="en-US" altLang="zh-TW"/>
              <a:t> (over AP), K,s</a:t>
            </a:r>
            <a:r>
              <a:rPr lang="en-US" altLang="zh-TW" b="1">
                <a:latin typeface="msam10"/>
                <a:sym typeface="Euclid Math One" pitchFamily="18" charset="2"/>
              </a:rPr>
              <a:t></a:t>
            </a:r>
            <a:r>
              <a:rPr lang="en-US" altLang="zh-TW">
                <a:latin typeface="Symbol" panose="05050102010706020507" pitchFamily="18" charset="2"/>
              </a:rPr>
              <a:t>y</a:t>
            </a:r>
            <a:r>
              <a:rPr lang="en-US" altLang="zh-TW"/>
              <a:t> iff  K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 b="1">
                <a:latin typeface="msam10"/>
                <a:sym typeface="Euclid Math One" pitchFamily="18" charset="2"/>
              </a:rPr>
              <a:t></a:t>
            </a:r>
            <a:r>
              <a:rPr lang="en-US" altLang="zh-TW">
                <a:latin typeface="Symbol" panose="05050102010706020507" pitchFamily="18" charset="2"/>
              </a:rPr>
              <a:t>y</a:t>
            </a:r>
            <a:r>
              <a:rPr lang="en-US" altLang="zh-TW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If K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is smaller than K this is worth something.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投影片編號版面配置區 5">
            <a:extLst>
              <a:ext uri="{FF2B5EF4-FFF2-40B4-BE49-F238E27FC236}">
                <a16:creationId xmlns:a16="http://schemas.microsoft.com/office/drawing/2014/main" id="{5E9F4F77-5BCD-44A4-A456-8FE107ADA7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B0E16D-73E4-4BE7-9329-EFA6BDA6077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5683" name="AutoShape 2">
            <a:extLst>
              <a:ext uri="{FF2B5EF4-FFF2-40B4-BE49-F238E27FC236}">
                <a16:creationId xmlns:a16="http://schemas.microsoft.com/office/drawing/2014/main" id="{F48C6FD7-F640-44A8-9B42-6DA5EF421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810000"/>
            <a:ext cx="2286000" cy="2438400"/>
          </a:xfrm>
          <a:prstGeom prst="foldedCorner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  <a:p>
            <a:pPr algn="ctr"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455684" name="Rectangle 3">
            <a:extLst>
              <a:ext uri="{FF2B5EF4-FFF2-40B4-BE49-F238E27FC236}">
                <a16:creationId xmlns:a16="http://schemas.microsoft.com/office/drawing/2014/main" id="{7316A8D2-72DD-4E7A-9345-EB10DD52E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Simulation Framework</a:t>
            </a:r>
          </a:p>
        </p:txBody>
      </p:sp>
      <p:sp>
        <p:nvSpPr>
          <p:cNvPr id="455685" name="Oval 4">
            <a:extLst>
              <a:ext uri="{FF2B5EF4-FFF2-40B4-BE49-F238E27FC236}">
                <a16:creationId xmlns:a16="http://schemas.microsoft.com/office/drawing/2014/main" id="{1B21B79D-541E-4676-B8AA-71AF5059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1447800" cy="990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Checker</a:t>
            </a:r>
          </a:p>
        </p:txBody>
      </p:sp>
      <p:sp>
        <p:nvSpPr>
          <p:cNvPr id="455686" name="Rectangle 5">
            <a:extLst>
              <a:ext uri="{FF2B5EF4-FFF2-40B4-BE49-F238E27FC236}">
                <a16:creationId xmlns:a16="http://schemas.microsoft.com/office/drawing/2014/main" id="{32A4B254-D682-49DC-B6BB-52A67F810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524000"/>
            <a:ext cx="3124200" cy="2286000"/>
          </a:xfrm>
          <a:prstGeom prst="rect">
            <a:avLst/>
          </a:prstGeom>
          <a:solidFill>
            <a:srgbClr val="66FFFF">
              <a:alpha val="70195"/>
            </a:srgb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Ctr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Answer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Yes</a:t>
            </a:r>
            <a:r>
              <a:rPr lang="en-US" altLang="zh-TW" sz="2800" b="1"/>
              <a:t> if the model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satisfies the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  specification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0000"/>
                </a:solidFill>
              </a:rPr>
              <a:t>No</a:t>
            </a:r>
            <a:r>
              <a:rPr lang="en-US" altLang="zh-TW" sz="2800" b="1"/>
              <a:t> if not. </a:t>
            </a:r>
          </a:p>
        </p:txBody>
      </p:sp>
      <p:sp>
        <p:nvSpPr>
          <p:cNvPr id="455687" name="Line 6">
            <a:extLst>
              <a:ext uri="{FF2B5EF4-FFF2-40B4-BE49-F238E27FC236}">
                <a16:creationId xmlns:a16="http://schemas.microsoft.com/office/drawing/2014/main" id="{7F0A246F-934A-4F1F-84AD-F47F10304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43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5688" name="Line 7">
            <a:extLst>
              <a:ext uri="{FF2B5EF4-FFF2-40B4-BE49-F238E27FC236}">
                <a16:creationId xmlns:a16="http://schemas.microsoft.com/office/drawing/2014/main" id="{76F37CCE-DFB0-4BA2-A876-D375B1D8BA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352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5689" name="Line 8">
            <a:extLst>
              <a:ext uri="{FF2B5EF4-FFF2-40B4-BE49-F238E27FC236}">
                <a16:creationId xmlns:a16="http://schemas.microsoft.com/office/drawing/2014/main" id="{FFA563CD-D98A-4D0A-9619-06024F1D7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667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5690" name="AutoShape 9">
            <a:extLst>
              <a:ext uri="{FF2B5EF4-FFF2-40B4-BE49-F238E27FC236}">
                <a16:creationId xmlns:a16="http://schemas.microsoft.com/office/drawing/2014/main" id="{03121DE1-371C-425F-AEA6-B84CDCB44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57400"/>
            <a:ext cx="1447800" cy="1447800"/>
          </a:xfrm>
          <a:prstGeom prst="can">
            <a:avLst>
              <a:gd name="adj" fmla="val 25000"/>
            </a:avLst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/>
              <a:t>Design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/>
          </a:p>
        </p:txBody>
      </p:sp>
      <p:sp>
        <p:nvSpPr>
          <p:cNvPr id="455691" name="AutoShape 10">
            <a:extLst>
              <a:ext uri="{FF2B5EF4-FFF2-40B4-BE49-F238E27FC236}">
                <a16:creationId xmlns:a16="http://schemas.microsoft.com/office/drawing/2014/main" id="{386BEF72-6435-4418-88F6-A9CE76D4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0"/>
            <a:ext cx="1676400" cy="609600"/>
          </a:xfrm>
          <a:prstGeom prst="curvedUpArrow">
            <a:avLst>
              <a:gd name="adj1" fmla="val 55000"/>
              <a:gd name="adj2" fmla="val 110000"/>
              <a:gd name="adj3" fmla="val 33333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/>
              <a:t>Model construction</a:t>
            </a:r>
          </a:p>
        </p:txBody>
      </p:sp>
      <p:grpSp>
        <p:nvGrpSpPr>
          <p:cNvPr id="455692" name="Group 11">
            <a:extLst>
              <a:ext uri="{FF2B5EF4-FFF2-40B4-BE49-F238E27FC236}">
                <a16:creationId xmlns:a16="http://schemas.microsoft.com/office/drawing/2014/main" id="{E47DDBE3-DDD8-4381-A294-F0359A75AC6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1066800" cy="1638300"/>
            <a:chOff x="878" y="1112"/>
            <a:chExt cx="808" cy="1032"/>
          </a:xfrm>
        </p:grpSpPr>
        <p:sp>
          <p:nvSpPr>
            <p:cNvPr id="455752" name="AutoShape 12">
              <a:extLst>
                <a:ext uri="{FF2B5EF4-FFF2-40B4-BE49-F238E27FC236}">
                  <a16:creationId xmlns:a16="http://schemas.microsoft.com/office/drawing/2014/main" id="{4AA7E98F-C2F2-44A1-A352-52A3FB188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3" name="AutoShape 13">
              <a:extLst>
                <a:ext uri="{FF2B5EF4-FFF2-40B4-BE49-F238E27FC236}">
                  <a16:creationId xmlns:a16="http://schemas.microsoft.com/office/drawing/2014/main" id="{46002DEB-54B8-474F-AAFA-EB7E136B3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4" name="AutoShape 14">
              <a:extLst>
                <a:ext uri="{FF2B5EF4-FFF2-40B4-BE49-F238E27FC236}">
                  <a16:creationId xmlns:a16="http://schemas.microsoft.com/office/drawing/2014/main" id="{F76B7A4D-5820-40A1-A328-2BABE59E5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5" name="AutoShape 15">
              <a:extLst>
                <a:ext uri="{FF2B5EF4-FFF2-40B4-BE49-F238E27FC236}">
                  <a16:creationId xmlns:a16="http://schemas.microsoft.com/office/drawing/2014/main" id="{F8713238-5DE7-49DF-AD7F-249446C46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6" name="AutoShape 16">
              <a:extLst>
                <a:ext uri="{FF2B5EF4-FFF2-40B4-BE49-F238E27FC236}">
                  <a16:creationId xmlns:a16="http://schemas.microsoft.com/office/drawing/2014/main" id="{A1799DE2-676B-416B-859D-AB769CA60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7" name="AutoShape 17">
              <a:extLst>
                <a:ext uri="{FF2B5EF4-FFF2-40B4-BE49-F238E27FC236}">
                  <a16:creationId xmlns:a16="http://schemas.microsoft.com/office/drawing/2014/main" id="{E4D00895-81A6-478F-A947-6218019FF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8" name="AutoShape 18">
              <a:extLst>
                <a:ext uri="{FF2B5EF4-FFF2-40B4-BE49-F238E27FC236}">
                  <a16:creationId xmlns:a16="http://schemas.microsoft.com/office/drawing/2014/main" id="{819B274C-EFAF-4BDB-98A3-A77BEEE62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59" name="AutoShape 19">
              <a:extLst>
                <a:ext uri="{FF2B5EF4-FFF2-40B4-BE49-F238E27FC236}">
                  <a16:creationId xmlns:a16="http://schemas.microsoft.com/office/drawing/2014/main" id="{5F5FA9BD-9856-4539-9CAD-FC70486E6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0" name="AutoShape 20">
              <a:extLst>
                <a:ext uri="{FF2B5EF4-FFF2-40B4-BE49-F238E27FC236}">
                  <a16:creationId xmlns:a16="http://schemas.microsoft.com/office/drawing/2014/main" id="{8BB4AB09-89D7-4D92-809F-F98F8E335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1" name="AutoShape 21">
              <a:extLst>
                <a:ext uri="{FF2B5EF4-FFF2-40B4-BE49-F238E27FC236}">
                  <a16:creationId xmlns:a16="http://schemas.microsoft.com/office/drawing/2014/main" id="{0FD94F54-A6CA-4FBE-B50A-3E6B82151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2" name="AutoShape 22">
              <a:extLst>
                <a:ext uri="{FF2B5EF4-FFF2-40B4-BE49-F238E27FC236}">
                  <a16:creationId xmlns:a16="http://schemas.microsoft.com/office/drawing/2014/main" id="{D11533D3-F98A-4063-B7D6-1BA04EC7F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3" name="AutoShape 23">
              <a:extLst>
                <a:ext uri="{FF2B5EF4-FFF2-40B4-BE49-F238E27FC236}">
                  <a16:creationId xmlns:a16="http://schemas.microsoft.com/office/drawing/2014/main" id="{87BA9D80-BBD5-42C3-BAF1-9B6DEB539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4" name="AutoShape 24">
              <a:extLst>
                <a:ext uri="{FF2B5EF4-FFF2-40B4-BE49-F238E27FC236}">
                  <a16:creationId xmlns:a16="http://schemas.microsoft.com/office/drawing/2014/main" id="{EEE44E45-A824-40BA-B54E-5626581DE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5" name="AutoShape 25">
              <a:extLst>
                <a:ext uri="{FF2B5EF4-FFF2-40B4-BE49-F238E27FC236}">
                  <a16:creationId xmlns:a16="http://schemas.microsoft.com/office/drawing/2014/main" id="{62144501-764E-4CDA-8CC1-1B944208C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6" name="AutoShape 26">
              <a:extLst>
                <a:ext uri="{FF2B5EF4-FFF2-40B4-BE49-F238E27FC236}">
                  <a16:creationId xmlns:a16="http://schemas.microsoft.com/office/drawing/2014/main" id="{2AA4F121-79E9-4B64-B43F-09D7BFD3C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67" name="Line 27">
              <a:extLst>
                <a:ext uri="{FF2B5EF4-FFF2-40B4-BE49-F238E27FC236}">
                  <a16:creationId xmlns:a16="http://schemas.microsoft.com/office/drawing/2014/main" id="{DD5147C6-C3ED-4895-B434-DA804E0C6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68" name="Line 28">
              <a:extLst>
                <a:ext uri="{FF2B5EF4-FFF2-40B4-BE49-F238E27FC236}">
                  <a16:creationId xmlns:a16="http://schemas.microsoft.com/office/drawing/2014/main" id="{DE80872B-A3AC-4DE9-9CAC-7A404408F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69" name="Line 29">
              <a:extLst>
                <a:ext uri="{FF2B5EF4-FFF2-40B4-BE49-F238E27FC236}">
                  <a16:creationId xmlns:a16="http://schemas.microsoft.com/office/drawing/2014/main" id="{A366F443-9F7C-48A9-B2D5-8B6FA0D89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0" name="Line 30">
              <a:extLst>
                <a:ext uri="{FF2B5EF4-FFF2-40B4-BE49-F238E27FC236}">
                  <a16:creationId xmlns:a16="http://schemas.microsoft.com/office/drawing/2014/main" id="{893130BD-D0EA-49BF-A25E-EEB522127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1" name="Line 31">
              <a:extLst>
                <a:ext uri="{FF2B5EF4-FFF2-40B4-BE49-F238E27FC236}">
                  <a16:creationId xmlns:a16="http://schemas.microsoft.com/office/drawing/2014/main" id="{B07AE22B-34D2-4838-9235-637191C3B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2" name="Line 32">
              <a:extLst>
                <a:ext uri="{FF2B5EF4-FFF2-40B4-BE49-F238E27FC236}">
                  <a16:creationId xmlns:a16="http://schemas.microsoft.com/office/drawing/2014/main" id="{3E7A5598-DF25-4222-9B09-5DBDA65E4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3" name="Line 33">
              <a:extLst>
                <a:ext uri="{FF2B5EF4-FFF2-40B4-BE49-F238E27FC236}">
                  <a16:creationId xmlns:a16="http://schemas.microsoft.com/office/drawing/2014/main" id="{434BB910-0173-4642-86AF-D2EC0F2C0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4" name="Line 34">
              <a:extLst>
                <a:ext uri="{FF2B5EF4-FFF2-40B4-BE49-F238E27FC236}">
                  <a16:creationId xmlns:a16="http://schemas.microsoft.com/office/drawing/2014/main" id="{51CE4BA8-22D7-4C5D-919C-E1264F9CB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5" name="Line 35">
              <a:extLst>
                <a:ext uri="{FF2B5EF4-FFF2-40B4-BE49-F238E27FC236}">
                  <a16:creationId xmlns:a16="http://schemas.microsoft.com/office/drawing/2014/main" id="{13F8220A-AA30-408C-A87F-75C3BEB7C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6" name="Line 36">
              <a:extLst>
                <a:ext uri="{FF2B5EF4-FFF2-40B4-BE49-F238E27FC236}">
                  <a16:creationId xmlns:a16="http://schemas.microsoft.com/office/drawing/2014/main" id="{8753019A-09F8-48BD-A9B0-3998965CF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7" name="Line 37">
              <a:extLst>
                <a:ext uri="{FF2B5EF4-FFF2-40B4-BE49-F238E27FC236}">
                  <a16:creationId xmlns:a16="http://schemas.microsoft.com/office/drawing/2014/main" id="{33DC3D0E-B45E-48E3-A3AA-74080C224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8" name="Line 38">
              <a:extLst>
                <a:ext uri="{FF2B5EF4-FFF2-40B4-BE49-F238E27FC236}">
                  <a16:creationId xmlns:a16="http://schemas.microsoft.com/office/drawing/2014/main" id="{C00F9AF9-DC0D-4F31-9988-9CA05C295C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79" name="Line 39">
              <a:extLst>
                <a:ext uri="{FF2B5EF4-FFF2-40B4-BE49-F238E27FC236}">
                  <a16:creationId xmlns:a16="http://schemas.microsoft.com/office/drawing/2014/main" id="{2D0BA9F0-5776-4D2F-B02A-2620F5FED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80" name="Line 40">
              <a:extLst>
                <a:ext uri="{FF2B5EF4-FFF2-40B4-BE49-F238E27FC236}">
                  <a16:creationId xmlns:a16="http://schemas.microsoft.com/office/drawing/2014/main" id="{3107C8CD-33D8-4770-A655-6E3F9B2A6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81" name="Line 41">
              <a:extLst>
                <a:ext uri="{FF2B5EF4-FFF2-40B4-BE49-F238E27FC236}">
                  <a16:creationId xmlns:a16="http://schemas.microsoft.com/office/drawing/2014/main" id="{4ED5E529-D01F-42EE-A75F-558058D72D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82" name="Line 42">
              <a:extLst>
                <a:ext uri="{FF2B5EF4-FFF2-40B4-BE49-F238E27FC236}">
                  <a16:creationId xmlns:a16="http://schemas.microsoft.com/office/drawing/2014/main" id="{47538909-1261-4F1A-AAE8-A1CDD704C2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83" name="Line 43">
              <a:extLst>
                <a:ext uri="{FF2B5EF4-FFF2-40B4-BE49-F238E27FC236}">
                  <a16:creationId xmlns:a16="http://schemas.microsoft.com/office/drawing/2014/main" id="{0817A5B1-D5F4-4A7E-946C-D45EFDE92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84" name="AutoShape 44">
              <a:extLst>
                <a:ext uri="{FF2B5EF4-FFF2-40B4-BE49-F238E27FC236}">
                  <a16:creationId xmlns:a16="http://schemas.microsoft.com/office/drawing/2014/main" id="{92E58818-A606-471E-85A4-46B519D55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85" name="AutoShape 45">
              <a:extLst>
                <a:ext uri="{FF2B5EF4-FFF2-40B4-BE49-F238E27FC236}">
                  <a16:creationId xmlns:a16="http://schemas.microsoft.com/office/drawing/2014/main" id="{A505774D-0257-4E5D-8066-CF96380FE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86" name="AutoShape 46">
              <a:extLst>
                <a:ext uri="{FF2B5EF4-FFF2-40B4-BE49-F238E27FC236}">
                  <a16:creationId xmlns:a16="http://schemas.microsoft.com/office/drawing/2014/main" id="{28C1BF23-4A9C-4479-9997-DE39C3D7E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87" name="AutoShape 47">
              <a:extLst>
                <a:ext uri="{FF2B5EF4-FFF2-40B4-BE49-F238E27FC236}">
                  <a16:creationId xmlns:a16="http://schemas.microsoft.com/office/drawing/2014/main" id="{1FDE473B-A784-4571-83A4-43CE002EE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88" name="AutoShape 48">
              <a:extLst>
                <a:ext uri="{FF2B5EF4-FFF2-40B4-BE49-F238E27FC236}">
                  <a16:creationId xmlns:a16="http://schemas.microsoft.com/office/drawing/2014/main" id="{C9217F87-3A69-456E-A5B4-8B0B6AC9C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89" name="Line 49">
              <a:extLst>
                <a:ext uri="{FF2B5EF4-FFF2-40B4-BE49-F238E27FC236}">
                  <a16:creationId xmlns:a16="http://schemas.microsoft.com/office/drawing/2014/main" id="{B88CBE2D-5EC2-4658-A422-A4843DB92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0" name="Line 50">
              <a:extLst>
                <a:ext uri="{FF2B5EF4-FFF2-40B4-BE49-F238E27FC236}">
                  <a16:creationId xmlns:a16="http://schemas.microsoft.com/office/drawing/2014/main" id="{F25C4C48-9173-4682-88F7-4F8339C43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1" name="Line 51">
              <a:extLst>
                <a:ext uri="{FF2B5EF4-FFF2-40B4-BE49-F238E27FC236}">
                  <a16:creationId xmlns:a16="http://schemas.microsoft.com/office/drawing/2014/main" id="{09D02B2C-F824-491E-A695-DECEACDEA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2" name="Line 52">
              <a:extLst>
                <a:ext uri="{FF2B5EF4-FFF2-40B4-BE49-F238E27FC236}">
                  <a16:creationId xmlns:a16="http://schemas.microsoft.com/office/drawing/2014/main" id="{52B76E0B-D863-442A-9643-506A0ED46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3" name="Line 53">
              <a:extLst>
                <a:ext uri="{FF2B5EF4-FFF2-40B4-BE49-F238E27FC236}">
                  <a16:creationId xmlns:a16="http://schemas.microsoft.com/office/drawing/2014/main" id="{402F4FD8-F568-4805-8EDF-6A85682E2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4" name="Line 54">
              <a:extLst>
                <a:ext uri="{FF2B5EF4-FFF2-40B4-BE49-F238E27FC236}">
                  <a16:creationId xmlns:a16="http://schemas.microsoft.com/office/drawing/2014/main" id="{CC70A9EF-79C2-4CD7-B144-EDFEF7E00A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5" name="Line 55">
              <a:extLst>
                <a:ext uri="{FF2B5EF4-FFF2-40B4-BE49-F238E27FC236}">
                  <a16:creationId xmlns:a16="http://schemas.microsoft.com/office/drawing/2014/main" id="{234B2C28-21D2-49F8-BC01-EAB4893D4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6" name="Line 56">
              <a:extLst>
                <a:ext uri="{FF2B5EF4-FFF2-40B4-BE49-F238E27FC236}">
                  <a16:creationId xmlns:a16="http://schemas.microsoft.com/office/drawing/2014/main" id="{9B0494A6-5B9A-46A2-BD33-53BEB7B25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97" name="AutoShape 57">
              <a:extLst>
                <a:ext uri="{FF2B5EF4-FFF2-40B4-BE49-F238E27FC236}">
                  <a16:creationId xmlns:a16="http://schemas.microsoft.com/office/drawing/2014/main" id="{FA9229AF-F286-439A-83F4-20E5783B60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98" name="AutoShape 58">
              <a:extLst>
                <a:ext uri="{FF2B5EF4-FFF2-40B4-BE49-F238E27FC236}">
                  <a16:creationId xmlns:a16="http://schemas.microsoft.com/office/drawing/2014/main" id="{395E2FFC-1502-451C-81D2-02D9C8083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99" name="Line 59">
              <a:extLst>
                <a:ext uri="{FF2B5EF4-FFF2-40B4-BE49-F238E27FC236}">
                  <a16:creationId xmlns:a16="http://schemas.microsoft.com/office/drawing/2014/main" id="{4601CA42-6D80-4EA9-BCD3-E62708739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800" name="Line 60">
              <a:extLst>
                <a:ext uri="{FF2B5EF4-FFF2-40B4-BE49-F238E27FC236}">
                  <a16:creationId xmlns:a16="http://schemas.microsoft.com/office/drawing/2014/main" id="{C50CB3A1-A1A4-48F9-A602-CF6DCCDE9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801" name="AutoShape 61">
              <a:extLst>
                <a:ext uri="{FF2B5EF4-FFF2-40B4-BE49-F238E27FC236}">
                  <a16:creationId xmlns:a16="http://schemas.microsoft.com/office/drawing/2014/main" id="{65EA55B4-EC58-4BA5-B44F-F6E76578F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802" name="Line 62">
              <a:extLst>
                <a:ext uri="{FF2B5EF4-FFF2-40B4-BE49-F238E27FC236}">
                  <a16:creationId xmlns:a16="http://schemas.microsoft.com/office/drawing/2014/main" id="{59369D5E-97B3-46A8-9DBC-55DDC1AB0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803" name="AutoShape 63">
              <a:extLst>
                <a:ext uri="{FF2B5EF4-FFF2-40B4-BE49-F238E27FC236}">
                  <a16:creationId xmlns:a16="http://schemas.microsoft.com/office/drawing/2014/main" id="{656393FE-E0C8-4F64-9C70-BB5051C49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804" name="Line 64">
              <a:extLst>
                <a:ext uri="{FF2B5EF4-FFF2-40B4-BE49-F238E27FC236}">
                  <a16:creationId xmlns:a16="http://schemas.microsoft.com/office/drawing/2014/main" id="{D2D386A8-02F8-4D4B-A420-CA799C9EF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805" name="Freeform 65">
              <a:extLst>
                <a:ext uri="{FF2B5EF4-FFF2-40B4-BE49-F238E27FC236}">
                  <a16:creationId xmlns:a16="http://schemas.microsoft.com/office/drawing/2014/main" id="{B8C47393-2D09-4974-9F94-F381DB6DB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806" name="Freeform 66">
              <a:extLst>
                <a:ext uri="{FF2B5EF4-FFF2-40B4-BE49-F238E27FC236}">
                  <a16:creationId xmlns:a16="http://schemas.microsoft.com/office/drawing/2014/main" id="{4D5B10E2-F12E-40A7-BE49-C53F4AEA5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455693" name="Text Box 67">
            <a:extLst>
              <a:ext uri="{FF2B5EF4-FFF2-40B4-BE49-F238E27FC236}">
                <a16:creationId xmlns:a16="http://schemas.microsoft.com/office/drawing/2014/main" id="{21A93316-EA1F-44AE-B117-74BB67062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101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/>
              <a:t>model</a:t>
            </a:r>
          </a:p>
        </p:txBody>
      </p:sp>
      <p:grpSp>
        <p:nvGrpSpPr>
          <p:cNvPr id="455694" name="Group 68">
            <a:extLst>
              <a:ext uri="{FF2B5EF4-FFF2-40B4-BE49-F238E27FC236}">
                <a16:creationId xmlns:a16="http://schemas.microsoft.com/office/drawing/2014/main" id="{16DE2E9F-368A-4E92-8869-BE0BF5B45A67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3810000" y="4114800"/>
            <a:ext cx="1282700" cy="2057400"/>
            <a:chOff x="878" y="1112"/>
            <a:chExt cx="808" cy="1032"/>
          </a:xfrm>
        </p:grpSpPr>
        <p:sp>
          <p:nvSpPr>
            <p:cNvPr id="455697" name="AutoShape 69">
              <a:extLst>
                <a:ext uri="{FF2B5EF4-FFF2-40B4-BE49-F238E27FC236}">
                  <a16:creationId xmlns:a16="http://schemas.microsoft.com/office/drawing/2014/main" id="{3E3CD5EE-FBF6-4077-A69C-EAC67E904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11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698" name="AutoShape 70">
              <a:extLst>
                <a:ext uri="{FF2B5EF4-FFF2-40B4-BE49-F238E27FC236}">
                  <a16:creationId xmlns:a16="http://schemas.microsoft.com/office/drawing/2014/main" id="{F44BB599-3F6C-444E-90FE-2886B97B2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2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699" name="AutoShape 71">
              <a:extLst>
                <a:ext uri="{FF2B5EF4-FFF2-40B4-BE49-F238E27FC236}">
                  <a16:creationId xmlns:a16="http://schemas.microsoft.com/office/drawing/2014/main" id="{BB76A094-6938-4321-B73D-162BB2218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1300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0" name="AutoShape 72">
              <a:extLst>
                <a:ext uri="{FF2B5EF4-FFF2-40B4-BE49-F238E27FC236}">
                  <a16:creationId xmlns:a16="http://schemas.microsoft.com/office/drawing/2014/main" id="{D95C91F9-B612-4C67-A94E-A6B9782A8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1" name="AutoShape 73">
              <a:extLst>
                <a:ext uri="{FF2B5EF4-FFF2-40B4-BE49-F238E27FC236}">
                  <a16:creationId xmlns:a16="http://schemas.microsoft.com/office/drawing/2014/main" id="{FE5859D0-8713-41DE-83F2-4417FAB8E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2" name="AutoShape 74">
              <a:extLst>
                <a:ext uri="{FF2B5EF4-FFF2-40B4-BE49-F238E27FC236}">
                  <a16:creationId xmlns:a16="http://schemas.microsoft.com/office/drawing/2014/main" id="{737834A7-F795-4777-9B7A-F14CB0A78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3" name="AutoShape 75">
              <a:extLst>
                <a:ext uri="{FF2B5EF4-FFF2-40B4-BE49-F238E27FC236}">
                  <a16:creationId xmlns:a16="http://schemas.microsoft.com/office/drawing/2014/main" id="{C63E9206-C6A1-4AF5-A1EA-7B28490B9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4" name="AutoShape 76">
              <a:extLst>
                <a:ext uri="{FF2B5EF4-FFF2-40B4-BE49-F238E27FC236}">
                  <a16:creationId xmlns:a16="http://schemas.microsoft.com/office/drawing/2014/main" id="{326EAC58-92F5-4D51-AF90-86CD6C5AD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5" name="AutoShape 77">
              <a:extLst>
                <a:ext uri="{FF2B5EF4-FFF2-40B4-BE49-F238E27FC236}">
                  <a16:creationId xmlns:a16="http://schemas.microsoft.com/office/drawing/2014/main" id="{3A04AA4D-2DAA-4E74-8CE4-10FA9E148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6" name="AutoShape 78">
              <a:extLst>
                <a:ext uri="{FF2B5EF4-FFF2-40B4-BE49-F238E27FC236}">
                  <a16:creationId xmlns:a16="http://schemas.microsoft.com/office/drawing/2014/main" id="{184D4258-F0F5-45B0-9171-D7A7F72F1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58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7" name="AutoShape 79">
              <a:extLst>
                <a:ext uri="{FF2B5EF4-FFF2-40B4-BE49-F238E27FC236}">
                  <a16:creationId xmlns:a16="http://schemas.microsoft.com/office/drawing/2014/main" id="{FB09503C-E765-4596-AB1F-22646229F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8" name="AutoShape 80">
              <a:extLst>
                <a:ext uri="{FF2B5EF4-FFF2-40B4-BE49-F238E27FC236}">
                  <a16:creationId xmlns:a16="http://schemas.microsoft.com/office/drawing/2014/main" id="{58521BDE-7A43-4B76-BBB7-24985B542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09" name="AutoShape 81">
              <a:extLst>
                <a:ext uri="{FF2B5EF4-FFF2-40B4-BE49-F238E27FC236}">
                  <a16:creationId xmlns:a16="http://schemas.microsoft.com/office/drawing/2014/main" id="{AB8427C7-E2A8-4728-9482-81BDEAD38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8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10" name="AutoShape 82">
              <a:extLst>
                <a:ext uri="{FF2B5EF4-FFF2-40B4-BE49-F238E27FC236}">
                  <a16:creationId xmlns:a16="http://schemas.microsoft.com/office/drawing/2014/main" id="{570C5496-322B-4F3F-9416-B5808A6B7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11" name="AutoShape 83">
              <a:extLst>
                <a:ext uri="{FF2B5EF4-FFF2-40B4-BE49-F238E27FC236}">
                  <a16:creationId xmlns:a16="http://schemas.microsoft.com/office/drawing/2014/main" id="{03686906-E219-40F3-9024-F473A301F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72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12" name="Line 84">
              <a:extLst>
                <a:ext uri="{FF2B5EF4-FFF2-40B4-BE49-F238E27FC236}">
                  <a16:creationId xmlns:a16="http://schemas.microsoft.com/office/drawing/2014/main" id="{201CEF22-D388-406F-951A-FDF133260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1252"/>
              <a:ext cx="32" cy="20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3" name="Line 85">
              <a:extLst>
                <a:ext uri="{FF2B5EF4-FFF2-40B4-BE49-F238E27FC236}">
                  <a16:creationId xmlns:a16="http://schemas.microsoft.com/office/drawing/2014/main" id="{9E8D565D-B9C5-4988-8369-A1B84EECE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1496"/>
              <a:ext cx="48" cy="9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4" name="Line 86">
              <a:extLst>
                <a:ext uri="{FF2B5EF4-FFF2-40B4-BE49-F238E27FC236}">
                  <a16:creationId xmlns:a16="http://schemas.microsoft.com/office/drawing/2014/main" id="{194AE3BB-0048-441B-A0F9-64A419FDE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" y="1496"/>
              <a:ext cx="22" cy="22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5" name="Line 87">
              <a:extLst>
                <a:ext uri="{FF2B5EF4-FFF2-40B4-BE49-F238E27FC236}">
                  <a16:creationId xmlns:a16="http://schemas.microsoft.com/office/drawing/2014/main" id="{B6FDD361-86AC-4869-AA3E-72C1EE6C0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1772"/>
              <a:ext cx="48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6" name="Line 88">
              <a:extLst>
                <a:ext uri="{FF2B5EF4-FFF2-40B4-BE49-F238E27FC236}">
                  <a16:creationId xmlns:a16="http://schemas.microsoft.com/office/drawing/2014/main" id="{D1D73357-9F91-481E-ABA0-EDB07583E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1252"/>
              <a:ext cx="112" cy="1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7" name="Line 89">
              <a:extLst>
                <a:ext uri="{FF2B5EF4-FFF2-40B4-BE49-F238E27FC236}">
                  <a16:creationId xmlns:a16="http://schemas.microsoft.com/office/drawing/2014/main" id="{2EC13FA7-EE46-4574-981E-131B1CE20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1500"/>
              <a:ext cx="32" cy="8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8" name="Line 90">
              <a:extLst>
                <a:ext uri="{FF2B5EF4-FFF2-40B4-BE49-F238E27FC236}">
                  <a16:creationId xmlns:a16="http://schemas.microsoft.com/office/drawing/2014/main" id="{09EAA4AB-F76D-4916-9F6E-306765477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" y="1642"/>
              <a:ext cx="30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19" name="Line 91">
              <a:extLst>
                <a:ext uri="{FF2B5EF4-FFF2-40B4-BE49-F238E27FC236}">
                  <a16:creationId xmlns:a16="http://schemas.microsoft.com/office/drawing/2014/main" id="{1BA49288-9869-412B-A7C7-EBAD39495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642"/>
              <a:ext cx="0" cy="1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0" name="Line 92">
              <a:extLst>
                <a:ext uri="{FF2B5EF4-FFF2-40B4-BE49-F238E27FC236}">
                  <a16:creationId xmlns:a16="http://schemas.microsoft.com/office/drawing/2014/main" id="{920BE8AE-7F79-4213-B097-43A4739F0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470"/>
              <a:ext cx="8" cy="15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1" name="Line 93">
              <a:extLst>
                <a:ext uri="{FF2B5EF4-FFF2-40B4-BE49-F238E27FC236}">
                  <a16:creationId xmlns:a16="http://schemas.microsoft.com/office/drawing/2014/main" id="{12339DAC-8363-4059-9E59-4F3A6F3E3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352"/>
              <a:ext cx="30" cy="9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2" name="Line 94">
              <a:extLst>
                <a:ext uri="{FF2B5EF4-FFF2-40B4-BE49-F238E27FC236}">
                  <a16:creationId xmlns:a16="http://schemas.microsoft.com/office/drawing/2014/main" id="{4D8BE992-1544-425B-957E-81699CFE7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4" y="1338"/>
              <a:ext cx="110" cy="11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3" name="Line 95">
              <a:extLst>
                <a:ext uri="{FF2B5EF4-FFF2-40B4-BE49-F238E27FC236}">
                  <a16:creationId xmlns:a16="http://schemas.microsoft.com/office/drawing/2014/main" id="{9FA005E7-7E50-416C-95DB-5E92AFE69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0" y="1500"/>
              <a:ext cx="50" cy="8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4" name="Line 96">
              <a:extLst>
                <a:ext uri="{FF2B5EF4-FFF2-40B4-BE49-F238E27FC236}">
                  <a16:creationId xmlns:a16="http://schemas.microsoft.com/office/drawing/2014/main" id="{239D5362-5CA5-47A4-AE0C-3C5AF0B15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6" y="1644"/>
              <a:ext cx="58" cy="8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5" name="Line 97">
              <a:extLst>
                <a:ext uri="{FF2B5EF4-FFF2-40B4-BE49-F238E27FC236}">
                  <a16:creationId xmlns:a16="http://schemas.microsoft.com/office/drawing/2014/main" id="{DBA0DF16-1F95-438A-B6E3-20857903E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1642"/>
              <a:ext cx="30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6" name="Line 98">
              <a:extLst>
                <a:ext uri="{FF2B5EF4-FFF2-40B4-BE49-F238E27FC236}">
                  <a16:creationId xmlns:a16="http://schemas.microsoft.com/office/drawing/2014/main" id="{A02F9595-7B31-462A-8F9A-0F6067B9E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6" y="1774"/>
              <a:ext cx="82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7" name="Line 99">
              <a:extLst>
                <a:ext uri="{FF2B5EF4-FFF2-40B4-BE49-F238E27FC236}">
                  <a16:creationId xmlns:a16="http://schemas.microsoft.com/office/drawing/2014/main" id="{BB61E498-F9C8-438D-A52D-AD8E8428FE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1162"/>
              <a:ext cx="180" cy="5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8" name="Line 100">
              <a:extLst>
                <a:ext uri="{FF2B5EF4-FFF2-40B4-BE49-F238E27FC236}">
                  <a16:creationId xmlns:a16="http://schemas.microsoft.com/office/drawing/2014/main" id="{B167BED5-301A-4407-8B04-A3FF79734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8" y="1160"/>
              <a:ext cx="28" cy="13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29" name="AutoShape 101">
              <a:extLst>
                <a:ext uri="{FF2B5EF4-FFF2-40B4-BE49-F238E27FC236}">
                  <a16:creationId xmlns:a16="http://schemas.microsoft.com/office/drawing/2014/main" id="{43A5DF3C-945E-4231-B3DF-C82C89764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94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30" name="AutoShape 102">
              <a:extLst>
                <a:ext uri="{FF2B5EF4-FFF2-40B4-BE49-F238E27FC236}">
                  <a16:creationId xmlns:a16="http://schemas.microsoft.com/office/drawing/2014/main" id="{2177D6CF-5228-46A7-BE48-DB356BD95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97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31" name="AutoShape 103">
              <a:extLst>
                <a:ext uri="{FF2B5EF4-FFF2-40B4-BE49-F238E27FC236}">
                  <a16:creationId xmlns:a16="http://schemas.microsoft.com/office/drawing/2014/main" id="{B720B1A7-02FB-44F8-9962-7C51EBCD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209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32" name="AutoShape 104">
              <a:extLst>
                <a:ext uri="{FF2B5EF4-FFF2-40B4-BE49-F238E27FC236}">
                  <a16:creationId xmlns:a16="http://schemas.microsoft.com/office/drawing/2014/main" id="{B034CB11-9D09-45E3-8C6C-323E59AFF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1972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33" name="AutoShape 105">
              <a:extLst>
                <a:ext uri="{FF2B5EF4-FFF2-40B4-BE49-F238E27FC236}">
                  <a16:creationId xmlns:a16="http://schemas.microsoft.com/office/drawing/2014/main" id="{197AA898-701D-4F55-A866-C52E22A75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16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34" name="Line 106">
              <a:extLst>
                <a:ext uri="{FF2B5EF4-FFF2-40B4-BE49-F238E27FC236}">
                  <a16:creationId xmlns:a16="http://schemas.microsoft.com/office/drawing/2014/main" id="{7D3EA7FF-3610-4B4F-9443-6C2EF310C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1774"/>
              <a:ext cx="50" cy="17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35" name="Line 107">
              <a:extLst>
                <a:ext uri="{FF2B5EF4-FFF2-40B4-BE49-F238E27FC236}">
                  <a16:creationId xmlns:a16="http://schemas.microsoft.com/office/drawing/2014/main" id="{7573BC8E-260F-4D02-BC9A-4CFD367CB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4" y="1892"/>
              <a:ext cx="54" cy="64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36" name="Line 108">
              <a:extLst>
                <a:ext uri="{FF2B5EF4-FFF2-40B4-BE49-F238E27FC236}">
                  <a16:creationId xmlns:a16="http://schemas.microsoft.com/office/drawing/2014/main" id="{D8C87731-3ECC-4DBD-8CB4-F2B02B626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2000"/>
              <a:ext cx="220" cy="11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37" name="Line 109">
              <a:extLst>
                <a:ext uri="{FF2B5EF4-FFF2-40B4-BE49-F238E27FC236}">
                  <a16:creationId xmlns:a16="http://schemas.microsoft.com/office/drawing/2014/main" id="{4EDA3B05-12EE-428D-B946-A89D7D798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6" y="1898"/>
              <a:ext cx="6" cy="7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38" name="Line 110">
              <a:extLst>
                <a:ext uri="{FF2B5EF4-FFF2-40B4-BE49-F238E27FC236}">
                  <a16:creationId xmlns:a16="http://schemas.microsoft.com/office/drawing/2014/main" id="{83ABC1A4-EE80-415A-A004-477045F4D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" y="1782"/>
              <a:ext cx="78" cy="19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39" name="Line 111">
              <a:extLst>
                <a:ext uri="{FF2B5EF4-FFF2-40B4-BE49-F238E27FC236}">
                  <a16:creationId xmlns:a16="http://schemas.microsoft.com/office/drawing/2014/main" id="{64B5A00C-B538-4A98-9F88-7BA2861DF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2028"/>
              <a:ext cx="28" cy="7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0" name="Line 112">
              <a:extLst>
                <a:ext uri="{FF2B5EF4-FFF2-40B4-BE49-F238E27FC236}">
                  <a16:creationId xmlns:a16="http://schemas.microsoft.com/office/drawing/2014/main" id="{0478BD66-D3C0-4EAB-9C1A-98663A2C4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0" y="2024"/>
              <a:ext cx="100" cy="8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1" name="Line 113">
              <a:extLst>
                <a:ext uri="{FF2B5EF4-FFF2-40B4-BE49-F238E27FC236}">
                  <a16:creationId xmlns:a16="http://schemas.microsoft.com/office/drawing/2014/main" id="{27696EB7-5C7D-4BC0-981B-9B088DA79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250"/>
              <a:ext cx="94" cy="17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2" name="AutoShape 114">
              <a:extLst>
                <a:ext uri="{FF2B5EF4-FFF2-40B4-BE49-F238E27FC236}">
                  <a16:creationId xmlns:a16="http://schemas.microsoft.com/office/drawing/2014/main" id="{C83D8096-10CE-4DAE-991E-137D32B21B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568" y="141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43" name="AutoShape 115">
              <a:extLst>
                <a:ext uri="{FF2B5EF4-FFF2-40B4-BE49-F238E27FC236}">
                  <a16:creationId xmlns:a16="http://schemas.microsoft.com/office/drawing/2014/main" id="{83F3B485-E312-4B22-BAEE-F1F3EA42A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44" name="Line 116">
              <a:extLst>
                <a:ext uri="{FF2B5EF4-FFF2-40B4-BE49-F238E27FC236}">
                  <a16:creationId xmlns:a16="http://schemas.microsoft.com/office/drawing/2014/main" id="{C1D8F3FD-6C5C-4E84-A7D3-146D4D01D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40"/>
              <a:ext cx="182" cy="7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5" name="Line 117">
              <a:extLst>
                <a:ext uri="{FF2B5EF4-FFF2-40B4-BE49-F238E27FC236}">
                  <a16:creationId xmlns:a16="http://schemas.microsoft.com/office/drawing/2014/main" id="{526F62DD-1051-440D-A820-A39793AB1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498"/>
              <a:ext cx="40" cy="96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6" name="AutoShape 118">
              <a:extLst>
                <a:ext uri="{FF2B5EF4-FFF2-40B4-BE49-F238E27FC236}">
                  <a16:creationId xmlns:a16="http://schemas.microsoft.com/office/drawing/2014/main" id="{C54EFA6A-70FC-4E78-8483-54A825744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" y="1844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47" name="Line 119">
              <a:extLst>
                <a:ext uri="{FF2B5EF4-FFF2-40B4-BE49-F238E27FC236}">
                  <a16:creationId xmlns:a16="http://schemas.microsoft.com/office/drawing/2014/main" id="{B8C79F82-93C8-4CEF-BAB7-9C5B20AA3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8" y="1666"/>
              <a:ext cx="32" cy="172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48" name="AutoShape 120">
              <a:extLst>
                <a:ext uri="{FF2B5EF4-FFF2-40B4-BE49-F238E27FC236}">
                  <a16:creationId xmlns:a16="http://schemas.microsoft.com/office/drawing/2014/main" id="{6FFC9F86-9057-4ECE-8E8A-C0EBD9BE4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1956"/>
              <a:ext cx="48" cy="48"/>
            </a:xfrm>
            <a:prstGeom prst="flowChartConnector">
              <a:avLst/>
            </a:prstGeom>
            <a:solidFill>
              <a:srgbClr val="969696">
                <a:alpha val="50195"/>
              </a:srgbClr>
            </a:solidFill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1800"/>
            </a:p>
          </p:txBody>
        </p:sp>
        <p:sp>
          <p:nvSpPr>
            <p:cNvPr id="455749" name="Line 121">
              <a:extLst>
                <a:ext uri="{FF2B5EF4-FFF2-40B4-BE49-F238E27FC236}">
                  <a16:creationId xmlns:a16="http://schemas.microsoft.com/office/drawing/2014/main" id="{09050427-EAB0-4A07-B07F-AE0AF95A6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6" y="1998"/>
              <a:ext cx="128" cy="118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50" name="Freeform 122">
              <a:extLst>
                <a:ext uri="{FF2B5EF4-FFF2-40B4-BE49-F238E27FC236}">
                  <a16:creationId xmlns:a16="http://schemas.microsoft.com/office/drawing/2014/main" id="{C0327677-3A9F-4F3B-AACE-A449B1614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1476"/>
              <a:ext cx="126" cy="515"/>
            </a:xfrm>
            <a:custGeom>
              <a:avLst/>
              <a:gdLst>
                <a:gd name="T0" fmla="*/ 126 w 126"/>
                <a:gd name="T1" fmla="*/ 504 h 515"/>
                <a:gd name="T2" fmla="*/ 34 w 126"/>
                <a:gd name="T3" fmla="*/ 460 h 515"/>
                <a:gd name="T4" fmla="*/ 18 w 126"/>
                <a:gd name="T5" fmla="*/ 424 h 515"/>
                <a:gd name="T6" fmla="*/ 10 w 126"/>
                <a:gd name="T7" fmla="*/ 400 h 515"/>
                <a:gd name="T8" fmla="*/ 6 w 126"/>
                <a:gd name="T9" fmla="*/ 88 h 515"/>
                <a:gd name="T10" fmla="*/ 42 w 126"/>
                <a:gd name="T11" fmla="*/ 24 h 515"/>
                <a:gd name="T12" fmla="*/ 78 w 126"/>
                <a:gd name="T13" fmla="*/ 0 h 5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515"/>
                <a:gd name="T23" fmla="*/ 126 w 126"/>
                <a:gd name="T24" fmla="*/ 515 h 5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515">
                  <a:moveTo>
                    <a:pt x="126" y="504"/>
                  </a:moveTo>
                  <a:cubicBezTo>
                    <a:pt x="93" y="515"/>
                    <a:pt x="48" y="493"/>
                    <a:pt x="34" y="460"/>
                  </a:cubicBezTo>
                  <a:cubicBezTo>
                    <a:pt x="30" y="451"/>
                    <a:pt x="22" y="434"/>
                    <a:pt x="18" y="424"/>
                  </a:cubicBezTo>
                  <a:cubicBezTo>
                    <a:pt x="15" y="416"/>
                    <a:pt x="10" y="400"/>
                    <a:pt x="10" y="400"/>
                  </a:cubicBezTo>
                  <a:cubicBezTo>
                    <a:pt x="0" y="295"/>
                    <a:pt x="0" y="195"/>
                    <a:pt x="6" y="88"/>
                  </a:cubicBezTo>
                  <a:cubicBezTo>
                    <a:pt x="7" y="69"/>
                    <a:pt x="24" y="30"/>
                    <a:pt x="42" y="24"/>
                  </a:cubicBezTo>
                  <a:cubicBezTo>
                    <a:pt x="54" y="6"/>
                    <a:pt x="65" y="13"/>
                    <a:pt x="78" y="0"/>
                  </a:cubicBezTo>
                </a:path>
              </a:pathLst>
            </a:cu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55751" name="Freeform 123">
              <a:extLst>
                <a:ext uri="{FF2B5EF4-FFF2-40B4-BE49-F238E27FC236}">
                  <a16:creationId xmlns:a16="http://schemas.microsoft.com/office/drawing/2014/main" id="{E9567F81-6E8F-4EDB-9C18-62908CBFE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444"/>
              <a:ext cx="114" cy="420"/>
            </a:xfrm>
            <a:custGeom>
              <a:avLst/>
              <a:gdLst>
                <a:gd name="T0" fmla="*/ 0 w 114"/>
                <a:gd name="T1" fmla="*/ 420 h 420"/>
                <a:gd name="T2" fmla="*/ 76 w 114"/>
                <a:gd name="T3" fmla="*/ 360 h 420"/>
                <a:gd name="T4" fmla="*/ 108 w 114"/>
                <a:gd name="T5" fmla="*/ 68 h 420"/>
                <a:gd name="T6" fmla="*/ 40 w 114"/>
                <a:gd name="T7" fmla="*/ 0 h 4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420"/>
                <a:gd name="T14" fmla="*/ 114 w 114"/>
                <a:gd name="T15" fmla="*/ 420 h 4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420">
                  <a:moveTo>
                    <a:pt x="0" y="420"/>
                  </a:moveTo>
                  <a:cubicBezTo>
                    <a:pt x="29" y="419"/>
                    <a:pt x="58" y="419"/>
                    <a:pt x="76" y="360"/>
                  </a:cubicBezTo>
                  <a:cubicBezTo>
                    <a:pt x="94" y="301"/>
                    <a:pt x="114" y="128"/>
                    <a:pt x="108" y="68"/>
                  </a:cubicBezTo>
                  <a:cubicBezTo>
                    <a:pt x="102" y="8"/>
                    <a:pt x="71" y="4"/>
                    <a:pt x="40" y="0"/>
                  </a:cubicBezTo>
                </a:path>
              </a:pathLst>
            </a:cu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455695" name="Text Box 124">
            <a:extLst>
              <a:ext uri="{FF2B5EF4-FFF2-40B4-BE49-F238E27FC236}">
                <a16:creationId xmlns:a16="http://schemas.microsoft.com/office/drawing/2014/main" id="{ECD7B932-2402-4F93-B058-6F9EB561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2144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/>
              <a:t>specification</a:t>
            </a:r>
          </a:p>
        </p:txBody>
      </p:sp>
      <p:sp>
        <p:nvSpPr>
          <p:cNvPr id="455696" name="Text Box 125">
            <a:extLst>
              <a:ext uri="{FF2B5EF4-FFF2-40B4-BE49-F238E27FC236}">
                <a16:creationId xmlns:a16="http://schemas.microsoft.com/office/drawing/2014/main" id="{BC579F46-1C33-4737-8F87-5AE19ADA5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243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/>
              <a:t>implementation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投影片編號版面配置區 5">
            <a:extLst>
              <a:ext uri="{FF2B5EF4-FFF2-40B4-BE49-F238E27FC236}">
                <a16:creationId xmlns:a16="http://schemas.microsoft.com/office/drawing/2014/main" id="{1A2B8E37-EE94-49E7-83E1-2DEE703608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6C1D3B-A4A8-4191-8F91-DC7AC7E2BD0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7731" name="Rectangle 2">
            <a:extLst>
              <a:ext uri="{FF2B5EF4-FFF2-40B4-BE49-F238E27FC236}">
                <a16:creationId xmlns:a16="http://schemas.microsoft.com/office/drawing/2014/main" id="{F81A4FE6-2586-429D-B4E6-D83988E9A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Simulation-checking</a:t>
            </a:r>
          </a:p>
        </p:txBody>
      </p:sp>
      <p:sp>
        <p:nvSpPr>
          <p:cNvPr id="457732" name="Rectangle 3">
            <a:extLst>
              <a:ext uri="{FF2B5EF4-FFF2-40B4-BE49-F238E27FC236}">
                <a16:creationId xmlns:a16="http://schemas.microsoft.com/office/drawing/2014/main" id="{9F2BF15B-F33F-4C72-B571-26ADC51CA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3200"/>
              <a:t>K = (S, S</a:t>
            </a:r>
            <a:r>
              <a:rPr lang="en-US" altLang="zh-TW" sz="3200" baseline="-25000"/>
              <a:t>0</a:t>
            </a:r>
            <a:r>
              <a:rPr lang="en-US" altLang="zh-TW" sz="3200"/>
              <a:t>, R, AP, L)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200"/>
              <a:t>    K’= (S’, S</a:t>
            </a:r>
            <a:r>
              <a:rPr lang="en-US" altLang="zh-TW" sz="3200" baseline="-25000"/>
              <a:t>0</a:t>
            </a:r>
            <a:r>
              <a:rPr lang="en-US" altLang="zh-TW" sz="3200"/>
              <a:t>’, R’, AP, L’)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200"/>
              <a:t>Note K and K’ use the same set of atomic propositions AP.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200"/>
              <a:t>B </a:t>
            </a:r>
            <a:r>
              <a:rPr lang="en-US" altLang="zh-TW" sz="3200">
                <a:sym typeface="Symbol" panose="05050102010706020507" pitchFamily="18" charset="2"/>
              </a:rPr>
              <a:t></a:t>
            </a:r>
            <a:r>
              <a:rPr lang="en-US" altLang="zh-TW" sz="3200"/>
              <a:t> S </a:t>
            </a:r>
            <a:r>
              <a:rPr lang="en-US" altLang="zh-TW" sz="3200">
                <a:sym typeface="Symbol" panose="05050102010706020507" pitchFamily="18" charset="2"/>
              </a:rPr>
              <a:t></a:t>
            </a:r>
            <a:r>
              <a:rPr lang="en-US" altLang="zh-TW" sz="3200"/>
              <a:t> S’ is a </a:t>
            </a:r>
            <a:r>
              <a:rPr lang="en-US" altLang="zh-TW" sz="3200">
                <a:solidFill>
                  <a:srgbClr val="FF33CC"/>
                </a:solidFill>
              </a:rPr>
              <a:t>simulation relation</a:t>
            </a:r>
            <a:r>
              <a:rPr lang="en-US" altLang="zh-TW" sz="3200"/>
              <a:t> between K and K’ iff for every B(s, s’):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/>
              <a:t>L(s) = L’(s’)  </a:t>
            </a:r>
            <a:r>
              <a:rPr lang="en-US" altLang="zh-TW" sz="2800">
                <a:solidFill>
                  <a:srgbClr val="FF33CC"/>
                </a:solidFill>
              </a:rPr>
              <a:t>(BSIM 1)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/>
              <a:t>If R(s, s</a:t>
            </a:r>
            <a:r>
              <a:rPr lang="en-US" altLang="zh-TW" sz="2800" baseline="-25000"/>
              <a:t>1</a:t>
            </a:r>
            <a:r>
              <a:rPr lang="en-US" altLang="zh-TW" sz="2800"/>
              <a:t>), then there exists s</a:t>
            </a:r>
            <a:r>
              <a:rPr lang="en-US" altLang="zh-TW" sz="2800" baseline="-25000"/>
              <a:t>1</a:t>
            </a:r>
            <a:r>
              <a:rPr lang="en-US" altLang="zh-TW" sz="2800"/>
              <a:t>’ such that  R’(s’, s</a:t>
            </a:r>
            <a:r>
              <a:rPr lang="en-US" altLang="zh-TW" sz="2800" baseline="-25000"/>
              <a:t>1</a:t>
            </a:r>
            <a:r>
              <a:rPr lang="en-US" altLang="zh-TW" sz="2800"/>
              <a:t>’) and B(s</a:t>
            </a:r>
            <a:r>
              <a:rPr lang="en-US" altLang="zh-TW" sz="2800" baseline="-25000"/>
              <a:t>1</a:t>
            </a:r>
            <a:r>
              <a:rPr lang="en-US" altLang="zh-TW" sz="2800"/>
              <a:t>, s</a:t>
            </a:r>
            <a:r>
              <a:rPr lang="en-US" altLang="zh-TW" sz="2800" baseline="-25000"/>
              <a:t>1</a:t>
            </a:r>
            <a:r>
              <a:rPr lang="en-US" altLang="zh-TW" sz="2800"/>
              <a:t>’). </a:t>
            </a:r>
            <a:r>
              <a:rPr lang="en-US" altLang="zh-TW" sz="2800">
                <a:solidFill>
                  <a:srgbClr val="FF33CC"/>
                </a:solidFill>
              </a:rPr>
              <a:t>(BISIM 2)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投影片編號版面配置區 5">
            <a:extLst>
              <a:ext uri="{FF2B5EF4-FFF2-40B4-BE49-F238E27FC236}">
                <a16:creationId xmlns:a16="http://schemas.microsoft.com/office/drawing/2014/main" id="{7DEB940E-4A79-42E9-83FF-34A553AB6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159927-E556-49B2-B9C5-68FB171A081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59779" name="Rectangle 2">
            <a:extLst>
              <a:ext uri="{FF2B5EF4-FFF2-40B4-BE49-F238E27FC236}">
                <a16:creationId xmlns:a16="http://schemas.microsoft.com/office/drawing/2014/main" id="{0EB6BE19-98A6-46A8-85F9-B0E8436FC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Simulations</a:t>
            </a:r>
          </a:p>
        </p:txBody>
      </p:sp>
      <p:sp>
        <p:nvSpPr>
          <p:cNvPr id="459780" name="Rectangle 3">
            <a:extLst>
              <a:ext uri="{FF2B5EF4-FFF2-40B4-BE49-F238E27FC236}">
                <a16:creationId xmlns:a16="http://schemas.microsoft.com/office/drawing/2014/main" id="{9A440598-3F08-4ACF-8C2A-0CBA899FC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600"/>
              <a:t>K = (S, S</a:t>
            </a:r>
            <a:r>
              <a:rPr lang="en-US" altLang="zh-TW" sz="2600" baseline="-25000"/>
              <a:t>0</a:t>
            </a:r>
            <a:r>
              <a:rPr lang="en-US" altLang="zh-TW" sz="2600"/>
              <a:t>, R, AP, L)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= (S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S</a:t>
            </a:r>
            <a:r>
              <a:rPr lang="en-US" altLang="zh-TW" sz="2600" baseline="-25000"/>
              <a:t>0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R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, AP, L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600"/>
              <a:t>K </a:t>
            </a:r>
            <a:r>
              <a:rPr lang="en-US" altLang="zh-TW" sz="2600">
                <a:solidFill>
                  <a:srgbClr val="FF0000"/>
                </a:solidFill>
              </a:rPr>
              <a:t>is simulated by</a:t>
            </a:r>
            <a:r>
              <a:rPr lang="en-US" altLang="zh-TW" sz="2600"/>
              <a:t> (</a:t>
            </a:r>
            <a:r>
              <a:rPr lang="en-US" altLang="zh-TW" sz="2600">
                <a:solidFill>
                  <a:srgbClr val="FF0000"/>
                </a:solidFill>
              </a:rPr>
              <a:t>implements</a:t>
            </a:r>
            <a:r>
              <a:rPr lang="en-US" altLang="zh-TW" sz="2600"/>
              <a:t> or </a:t>
            </a:r>
            <a:r>
              <a:rPr lang="en-US" altLang="zh-TW" sz="2600">
                <a:solidFill>
                  <a:srgbClr val="FF0000"/>
                </a:solidFill>
              </a:rPr>
              <a:t>refines</a:t>
            </a:r>
            <a:r>
              <a:rPr lang="en-US" altLang="zh-TW" sz="2600"/>
              <a:t>) 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iff there exists a simulation relation </a:t>
            </a:r>
            <a:r>
              <a:rPr lang="en-US" altLang="zh-TW" sz="2600">
                <a:latin typeface="cmsy10"/>
              </a:rPr>
              <a:t>B</a:t>
            </a:r>
            <a:r>
              <a:rPr lang="en-US" altLang="zh-TW" sz="2600"/>
              <a:t> </a:t>
            </a:r>
            <a:r>
              <a:rPr lang="en-US" altLang="zh-TW" sz="2600" b="1">
                <a:latin typeface="cmsy10"/>
                <a:sym typeface="Symbol" panose="05050102010706020507" pitchFamily="18" charset="2"/>
              </a:rPr>
              <a:t></a:t>
            </a:r>
            <a:r>
              <a:rPr lang="en-US" altLang="zh-TW" sz="2600"/>
              <a:t> S</a:t>
            </a:r>
            <a:r>
              <a:rPr lang="en-US" altLang="zh-TW" sz="2600">
                <a:sym typeface="Symbol" panose="05050102010706020507" pitchFamily="18" charset="2"/>
              </a:rPr>
              <a:t></a:t>
            </a:r>
            <a:r>
              <a:rPr lang="en-US" altLang="zh-TW" sz="2600"/>
              <a:t>S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between K and K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such that for each s</a:t>
            </a:r>
            <a:r>
              <a:rPr lang="en-US" altLang="zh-TW" sz="2600" baseline="-25000"/>
              <a:t>0</a:t>
            </a:r>
            <a:r>
              <a:rPr lang="en-US" altLang="zh-TW" sz="2600"/>
              <a:t> in S</a:t>
            </a:r>
            <a:r>
              <a:rPr lang="en-US" altLang="zh-TW" sz="2600" baseline="-25000"/>
              <a:t>0</a:t>
            </a:r>
            <a:r>
              <a:rPr lang="en-US" altLang="zh-TW" sz="2600"/>
              <a:t> there exists s</a:t>
            </a:r>
            <a:r>
              <a:rPr lang="en-US" altLang="zh-TW" sz="2600" baseline="-25000"/>
              <a:t>0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in S</a:t>
            </a:r>
            <a:r>
              <a:rPr lang="en-US" altLang="zh-TW" sz="2600" baseline="-25000"/>
              <a:t>0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such that </a:t>
            </a:r>
            <a:r>
              <a:rPr lang="en-US" altLang="zh-TW" sz="2600">
                <a:latin typeface="cmsy10"/>
              </a:rPr>
              <a:t>B</a:t>
            </a:r>
            <a:r>
              <a:rPr lang="en-US" altLang="zh-TW" sz="2600"/>
              <a:t>(s</a:t>
            </a:r>
            <a:r>
              <a:rPr lang="en-US" altLang="zh-TW" sz="2600" baseline="-25000"/>
              <a:t>0</a:t>
            </a:r>
            <a:r>
              <a:rPr lang="en-US" altLang="zh-TW" sz="2600"/>
              <a:t> , s</a:t>
            </a:r>
            <a:r>
              <a:rPr lang="en-US" altLang="zh-TW" sz="2600" baseline="-25000"/>
              <a:t>0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).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投影片編號版面配置區 5">
            <a:extLst>
              <a:ext uri="{FF2B5EF4-FFF2-40B4-BE49-F238E27FC236}">
                <a16:creationId xmlns:a16="http://schemas.microsoft.com/office/drawing/2014/main" id="{D83F41F2-9C41-43FF-A378-FA6837113D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FFDFCF-843E-4588-BA2C-43F5CBC8770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61827" name="Rectangle 2">
            <a:extLst>
              <a:ext uri="{FF2B5EF4-FFF2-40B4-BE49-F238E27FC236}">
                <a16:creationId xmlns:a16="http://schemas.microsoft.com/office/drawing/2014/main" id="{080B43F9-8F77-456D-83A8-A7A796BC1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 Quotients</a:t>
            </a:r>
          </a:p>
        </p:txBody>
      </p:sp>
      <p:sp>
        <p:nvSpPr>
          <p:cNvPr id="461828" name="Rectangle 3">
            <a:extLst>
              <a:ext uri="{FF2B5EF4-FFF2-40B4-BE49-F238E27FC236}">
                <a16:creationId xmlns:a16="http://schemas.microsoft.com/office/drawing/2014/main" id="{50D8B605-2B34-4BEE-AC80-6AF02AC12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K = (S, S</a:t>
            </a:r>
            <a:r>
              <a:rPr lang="en-US" altLang="zh-TW" baseline="-25000"/>
              <a:t>0</a:t>
            </a:r>
            <a:r>
              <a:rPr lang="en-US" altLang="zh-TW"/>
              <a:t>, R, AP, L)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There is a maximal simulation </a:t>
            </a:r>
            <a:r>
              <a:rPr lang="en-US" altLang="zh-TW">
                <a:latin typeface="cmsy10"/>
              </a:rPr>
              <a:t>B</a:t>
            </a:r>
            <a:r>
              <a:rPr lang="en-US" altLang="zh-TW"/>
              <a:t> </a:t>
            </a:r>
            <a:r>
              <a:rPr lang="en-US" altLang="zh-TW" b="1">
                <a:latin typeface="cmsy10"/>
                <a:sym typeface="Symbol" panose="05050102010706020507" pitchFamily="18" charset="2"/>
              </a:rPr>
              <a:t></a:t>
            </a:r>
            <a:r>
              <a:rPr lang="en-US" altLang="zh-TW"/>
              <a:t> S </a:t>
            </a:r>
            <a:r>
              <a:rPr lang="en-US" altLang="zh-TW" b="1">
                <a:latin typeface="cmsy10"/>
                <a:sym typeface="Symbol" panose="05050102010706020507" pitchFamily="18" charset="2"/>
              </a:rPr>
              <a:t></a:t>
            </a:r>
            <a:r>
              <a:rPr lang="en-US" altLang="zh-TW"/>
              <a:t> 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Let </a:t>
            </a: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be this bisimulation.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[s] = {s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</a:t>
            </a:r>
            <a:r>
              <a:rPr lang="en-US" altLang="zh-TW" b="1">
                <a:latin typeface="cmsy10"/>
              </a:rPr>
              <a:t>|</a:t>
            </a:r>
            <a:r>
              <a:rPr lang="en-US" altLang="zh-TW"/>
              <a:t> s </a:t>
            </a: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}.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can be computed </a:t>
            </a:r>
            <a:r>
              <a:rPr lang="en-US" altLang="zh-TW">
                <a:latin typeface="Times New Roman" panose="02020603050405020304" pitchFamily="18" charset="0"/>
              </a:rPr>
              <a:t>“</a:t>
            </a:r>
            <a:r>
              <a:rPr lang="en-US" altLang="zh-TW"/>
              <a:t>easily</a:t>
            </a:r>
            <a:r>
              <a:rPr lang="en-US" altLang="zh-TW">
                <a:latin typeface="Times New Roman" panose="02020603050405020304" pitchFamily="18" charset="0"/>
              </a:rPr>
              <a:t>”</a:t>
            </a:r>
            <a:r>
              <a:rPr lang="en-US" altLang="zh-TW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K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= K / </a:t>
            </a: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is the bisimulation quotient of K.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投影片編號版面配置區 5">
            <a:extLst>
              <a:ext uri="{FF2B5EF4-FFF2-40B4-BE49-F238E27FC236}">
                <a16:creationId xmlns:a16="http://schemas.microsoft.com/office/drawing/2014/main" id="{BF1C39AC-0068-4B82-80A0-43A6AC6E88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9FDF96-D27C-49B2-AD0F-6FD3607F51A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63875" name="Rectangle 2">
            <a:extLst>
              <a:ext uri="{FF2B5EF4-FFF2-40B4-BE49-F238E27FC236}">
                <a16:creationId xmlns:a16="http://schemas.microsoft.com/office/drawing/2014/main" id="{970A39FF-7CF1-49DC-BA9E-678BE8C6F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Bisimulation Quotient</a:t>
            </a:r>
          </a:p>
        </p:txBody>
      </p:sp>
      <p:sp>
        <p:nvSpPr>
          <p:cNvPr id="463876" name="Rectangle 3">
            <a:extLst>
              <a:ext uri="{FF2B5EF4-FFF2-40B4-BE49-F238E27FC236}">
                <a16:creationId xmlns:a16="http://schemas.microsoft.com/office/drawing/2014/main" id="{827CFF46-8EF1-405E-A955-6B53D8D95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K = (S, S</a:t>
            </a:r>
            <a:r>
              <a:rPr lang="en-US" altLang="zh-TW" baseline="-25000"/>
              <a:t>0</a:t>
            </a:r>
            <a:r>
              <a:rPr lang="en-US" altLang="zh-TW"/>
              <a:t>, R, AP, L)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[s] = {s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</a:t>
            </a:r>
            <a:r>
              <a:rPr lang="en-US" altLang="zh-TW" b="1">
                <a:latin typeface="cmsy10"/>
              </a:rPr>
              <a:t>| </a:t>
            </a:r>
            <a:r>
              <a:rPr lang="en-US" altLang="zh-TW"/>
              <a:t>s </a:t>
            </a: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}.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K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= K / </a:t>
            </a:r>
            <a:r>
              <a:rPr lang="en-US" altLang="zh-TW" b="1">
                <a:latin typeface="cmsy10"/>
              </a:rPr>
              <a:t>R</a:t>
            </a:r>
            <a:r>
              <a:rPr lang="en-US" altLang="zh-TW"/>
              <a:t> = (S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 baseline="-25000"/>
              <a:t>0</a:t>
            </a:r>
            <a:r>
              <a:rPr lang="en-US" altLang="zh-TW"/>
              <a:t>, R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, AP,L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= {[s] </a:t>
            </a:r>
            <a:r>
              <a:rPr lang="en-US" altLang="zh-TW" b="1">
                <a:latin typeface="cmsy10"/>
              </a:rPr>
              <a:t>|</a:t>
            </a:r>
            <a:r>
              <a:rPr lang="en-US" altLang="zh-TW"/>
              <a:t> s </a:t>
            </a:r>
            <a:r>
              <a:rPr lang="en-US" altLang="zh-TW" b="1">
                <a:latin typeface="cmsy10"/>
              </a:rPr>
              <a:t>2</a:t>
            </a:r>
            <a:r>
              <a:rPr lang="en-US" altLang="zh-TW"/>
              <a:t> S}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 baseline="-25000"/>
              <a:t>0</a:t>
            </a:r>
            <a:r>
              <a:rPr lang="en-US" altLang="zh-TW"/>
              <a:t> = {[s</a:t>
            </a:r>
            <a:r>
              <a:rPr lang="en-US" altLang="zh-TW" baseline="-25000"/>
              <a:t>0</a:t>
            </a:r>
            <a:r>
              <a:rPr lang="en-US" altLang="zh-TW"/>
              <a:t>] </a:t>
            </a:r>
            <a:r>
              <a:rPr lang="en-US" altLang="zh-TW" b="1">
                <a:latin typeface="cmsy10"/>
              </a:rPr>
              <a:t>|</a:t>
            </a:r>
            <a:r>
              <a:rPr lang="en-US" altLang="zh-TW"/>
              <a:t> s</a:t>
            </a:r>
            <a:r>
              <a:rPr lang="en-US" altLang="zh-TW" baseline="-25000"/>
              <a:t>0</a:t>
            </a:r>
            <a:r>
              <a:rPr lang="en-US" altLang="zh-TW"/>
              <a:t> </a:t>
            </a:r>
            <a:r>
              <a:rPr lang="en-US" altLang="zh-TW" b="1">
                <a:latin typeface="cmsy10"/>
              </a:rPr>
              <a:t>2</a:t>
            </a:r>
            <a:r>
              <a:rPr lang="en-US" altLang="zh-TW"/>
              <a:t> S</a:t>
            </a:r>
            <a:r>
              <a:rPr lang="en-US" altLang="zh-TW" baseline="-25000"/>
              <a:t>0</a:t>
            </a:r>
            <a:r>
              <a:rPr lang="en-US" altLang="zh-TW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R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 = {([s], [s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]) </a:t>
            </a:r>
            <a:r>
              <a:rPr lang="en-US" altLang="zh-TW" b="1">
                <a:latin typeface="cmsy10"/>
              </a:rPr>
              <a:t>|</a:t>
            </a:r>
            <a:r>
              <a:rPr lang="en-US" altLang="zh-TW"/>
              <a:t> R(s</a:t>
            </a:r>
            <a:r>
              <a:rPr lang="en-US" altLang="zh-TW" baseline="-25000"/>
              <a:t>1</a:t>
            </a:r>
            <a:r>
              <a:rPr lang="en-US" altLang="zh-TW"/>
              <a:t>, s</a:t>
            </a:r>
            <a:r>
              <a:rPr lang="en-US" altLang="zh-TW" baseline="-25000"/>
              <a:t>1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) , s</a:t>
            </a:r>
            <a:r>
              <a:rPr lang="en-US" altLang="zh-TW" baseline="-25000"/>
              <a:t>1</a:t>
            </a:r>
            <a:r>
              <a:rPr lang="en-US" altLang="zh-TW" b="1">
                <a:latin typeface="cmsy10"/>
                <a:sym typeface="Symbol" panose="05050102010706020507" pitchFamily="18" charset="2"/>
              </a:rPr>
              <a:t></a:t>
            </a:r>
            <a:r>
              <a:rPr lang="en-US" altLang="zh-TW"/>
              <a:t>[s], s</a:t>
            </a:r>
            <a:r>
              <a:rPr lang="en-US" altLang="zh-TW" baseline="-25000"/>
              <a:t>1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 b="1">
                <a:latin typeface="cmsy10"/>
                <a:sym typeface="Symbol" panose="05050102010706020507" pitchFamily="18" charset="2"/>
              </a:rPr>
              <a:t></a:t>
            </a:r>
            <a:r>
              <a:rPr lang="en-US" altLang="zh-TW"/>
              <a:t>[s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]}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L</a:t>
            </a:r>
            <a:r>
              <a:rPr lang="en-US" altLang="zh-TW">
                <a:latin typeface="Times New Roman" panose="02020603050405020304" pitchFamily="18" charset="0"/>
              </a:rPr>
              <a:t>’</a:t>
            </a:r>
            <a:r>
              <a:rPr lang="en-US" altLang="zh-TW"/>
              <a:t>([s]) = L(s).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投影片編號版面配置區 4">
            <a:extLst>
              <a:ext uri="{FF2B5EF4-FFF2-40B4-BE49-F238E27FC236}">
                <a16:creationId xmlns:a16="http://schemas.microsoft.com/office/drawing/2014/main" id="{F9B2F267-FCE3-41C6-AF8C-4E6C634CA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570775-1CD7-4B04-9616-9AC09E92939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65923" name="Rectangle 2">
            <a:extLst>
              <a:ext uri="{FF2B5EF4-FFF2-40B4-BE49-F238E27FC236}">
                <a16:creationId xmlns:a16="http://schemas.microsoft.com/office/drawing/2014/main" id="{1D9AF78A-C6F3-405F-811B-74482A189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65924" name="Oval 3">
            <a:extLst>
              <a:ext uri="{FF2B5EF4-FFF2-40B4-BE49-F238E27FC236}">
                <a16:creationId xmlns:a16="http://schemas.microsoft.com/office/drawing/2014/main" id="{9DFAED9A-5547-49AD-B9C2-E89FEB9A1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33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65925" name="Oval 4">
            <a:extLst>
              <a:ext uri="{FF2B5EF4-FFF2-40B4-BE49-F238E27FC236}">
                <a16:creationId xmlns:a16="http://schemas.microsoft.com/office/drawing/2014/main" id="{820ECB75-F308-498F-BFD3-4D67AB3BD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124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65926" name="Oval 5">
            <a:extLst>
              <a:ext uri="{FF2B5EF4-FFF2-40B4-BE49-F238E27FC236}">
                <a16:creationId xmlns:a16="http://schemas.microsoft.com/office/drawing/2014/main" id="{1C608956-E4A2-4C7C-A3D1-65779B25D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24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65927" name="Oval 6">
            <a:extLst>
              <a:ext uri="{FF2B5EF4-FFF2-40B4-BE49-F238E27FC236}">
                <a16:creationId xmlns:a16="http://schemas.microsoft.com/office/drawing/2014/main" id="{47556064-9A18-40DC-9D7C-444A7E4EF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65928" name="Oval 7">
            <a:extLst>
              <a:ext uri="{FF2B5EF4-FFF2-40B4-BE49-F238E27FC236}">
                <a16:creationId xmlns:a16="http://schemas.microsoft.com/office/drawing/2014/main" id="{8623A148-B1A2-4DE7-B930-58B0D1DA5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65929" name="Oval 8">
            <a:extLst>
              <a:ext uri="{FF2B5EF4-FFF2-40B4-BE49-F238E27FC236}">
                <a16:creationId xmlns:a16="http://schemas.microsoft.com/office/drawing/2014/main" id="{E110EA1C-E44C-486E-9953-3D1D21089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65930" name="Line 9">
            <a:extLst>
              <a:ext uri="{FF2B5EF4-FFF2-40B4-BE49-F238E27FC236}">
                <a16:creationId xmlns:a16="http://schemas.microsoft.com/office/drawing/2014/main" id="{38167FCF-4097-46B2-B9DC-B6A1A29B2A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438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5931" name="Line 10">
            <a:extLst>
              <a:ext uri="{FF2B5EF4-FFF2-40B4-BE49-F238E27FC236}">
                <a16:creationId xmlns:a16="http://schemas.microsoft.com/office/drawing/2014/main" id="{618BCDC4-20A0-4BDF-A985-34A9A5700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5932" name="Line 11">
            <a:extLst>
              <a:ext uri="{FF2B5EF4-FFF2-40B4-BE49-F238E27FC236}">
                <a16:creationId xmlns:a16="http://schemas.microsoft.com/office/drawing/2014/main" id="{5FD5E9E3-18D0-4340-90FF-02A2E315A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5052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5933" name="Line 12">
            <a:extLst>
              <a:ext uri="{FF2B5EF4-FFF2-40B4-BE49-F238E27FC236}">
                <a16:creationId xmlns:a16="http://schemas.microsoft.com/office/drawing/2014/main" id="{C729A459-4E9E-40F1-8539-57003E30ED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505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5934" name="Line 13">
            <a:extLst>
              <a:ext uri="{FF2B5EF4-FFF2-40B4-BE49-F238E27FC236}">
                <a16:creationId xmlns:a16="http://schemas.microsoft.com/office/drawing/2014/main" id="{E9B612FD-94B9-4EDF-9C0B-29C9ED08D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5935" name="Line 14">
            <a:extLst>
              <a:ext uri="{FF2B5EF4-FFF2-40B4-BE49-F238E27FC236}">
                <a16:creationId xmlns:a16="http://schemas.microsoft.com/office/drawing/2014/main" id="{014A6516-8E37-4E99-AD45-ACA1DDD2C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65936" name="AutoShape 15">
            <a:extLst>
              <a:ext uri="{FF2B5EF4-FFF2-40B4-BE49-F238E27FC236}">
                <a16:creationId xmlns:a16="http://schemas.microsoft.com/office/drawing/2014/main" id="{18674486-F364-4D63-A57B-8091F3897132}"/>
              </a:ext>
            </a:extLst>
          </p:cNvPr>
          <p:cNvCxnSpPr>
            <a:cxnSpLocks noChangeShapeType="1"/>
            <a:stCxn id="465927" idx="4"/>
            <a:endCxn id="465927" idx="2"/>
          </p:cNvCxnSpPr>
          <p:nvPr/>
        </p:nvCxnSpPr>
        <p:spPr bwMode="auto">
          <a:xfrm rot="16200000" flipV="1">
            <a:off x="35814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5937" name="AutoShape 16">
            <a:extLst>
              <a:ext uri="{FF2B5EF4-FFF2-40B4-BE49-F238E27FC236}">
                <a16:creationId xmlns:a16="http://schemas.microsoft.com/office/drawing/2014/main" id="{FCB8FEA2-164B-4F8F-8B4D-F9ED2BAC3A0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5720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5938" name="AutoShape 17">
            <a:extLst>
              <a:ext uri="{FF2B5EF4-FFF2-40B4-BE49-F238E27FC236}">
                <a16:creationId xmlns:a16="http://schemas.microsoft.com/office/drawing/2014/main" id="{45DB88E1-466C-4C60-AA42-83E895068F91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5410200" y="4648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投影片編號版面配置區 4">
            <a:extLst>
              <a:ext uri="{FF2B5EF4-FFF2-40B4-BE49-F238E27FC236}">
                <a16:creationId xmlns:a16="http://schemas.microsoft.com/office/drawing/2014/main" id="{871A0E02-45E2-4FB3-987C-92935E56A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2C3DB3-6034-46BE-B492-11AF66D229F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67971" name="Rectangle 2">
            <a:extLst>
              <a:ext uri="{FF2B5EF4-FFF2-40B4-BE49-F238E27FC236}">
                <a16:creationId xmlns:a16="http://schemas.microsoft.com/office/drawing/2014/main" id="{1F7F8628-7628-4F23-A095-1F8B0CF89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67972" name="Oval 3">
            <a:extLst>
              <a:ext uri="{FF2B5EF4-FFF2-40B4-BE49-F238E27FC236}">
                <a16:creationId xmlns:a16="http://schemas.microsoft.com/office/drawing/2014/main" id="{4B298E8E-B682-4C6D-8100-8F49B51AD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33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67973" name="Oval 4">
            <a:extLst>
              <a:ext uri="{FF2B5EF4-FFF2-40B4-BE49-F238E27FC236}">
                <a16:creationId xmlns:a16="http://schemas.microsoft.com/office/drawing/2014/main" id="{3F0EE049-2D77-465A-A7F4-7040FDC91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124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67974" name="Oval 5">
            <a:extLst>
              <a:ext uri="{FF2B5EF4-FFF2-40B4-BE49-F238E27FC236}">
                <a16:creationId xmlns:a16="http://schemas.microsoft.com/office/drawing/2014/main" id="{791A745E-DA1E-42F9-BD01-F54073CF1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24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67975" name="Oval 6">
            <a:extLst>
              <a:ext uri="{FF2B5EF4-FFF2-40B4-BE49-F238E27FC236}">
                <a16:creationId xmlns:a16="http://schemas.microsoft.com/office/drawing/2014/main" id="{6844A9EC-D69B-4E69-8C63-0AA9DDB69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67976" name="Oval 7">
            <a:extLst>
              <a:ext uri="{FF2B5EF4-FFF2-40B4-BE49-F238E27FC236}">
                <a16:creationId xmlns:a16="http://schemas.microsoft.com/office/drawing/2014/main" id="{C7D9C859-F5EF-430D-AA40-714C93521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67977" name="Oval 8">
            <a:extLst>
              <a:ext uri="{FF2B5EF4-FFF2-40B4-BE49-F238E27FC236}">
                <a16:creationId xmlns:a16="http://schemas.microsoft.com/office/drawing/2014/main" id="{8590091C-6B4D-43DA-B855-CB8B89436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67978" name="Line 9">
            <a:extLst>
              <a:ext uri="{FF2B5EF4-FFF2-40B4-BE49-F238E27FC236}">
                <a16:creationId xmlns:a16="http://schemas.microsoft.com/office/drawing/2014/main" id="{1383BD17-3046-45BD-AD63-2F64511C2B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438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7979" name="Line 10">
            <a:extLst>
              <a:ext uri="{FF2B5EF4-FFF2-40B4-BE49-F238E27FC236}">
                <a16:creationId xmlns:a16="http://schemas.microsoft.com/office/drawing/2014/main" id="{EE0AF01E-4920-4F61-BCC7-044CA50E7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7980" name="Line 11">
            <a:extLst>
              <a:ext uri="{FF2B5EF4-FFF2-40B4-BE49-F238E27FC236}">
                <a16:creationId xmlns:a16="http://schemas.microsoft.com/office/drawing/2014/main" id="{C9DBAF74-A84E-4158-B3EB-63B5FB578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5052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7981" name="Line 12">
            <a:extLst>
              <a:ext uri="{FF2B5EF4-FFF2-40B4-BE49-F238E27FC236}">
                <a16:creationId xmlns:a16="http://schemas.microsoft.com/office/drawing/2014/main" id="{00531CD7-2E13-4251-A580-2A80A07264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505200"/>
            <a:ext cx="6858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7982" name="Line 13">
            <a:extLst>
              <a:ext uri="{FF2B5EF4-FFF2-40B4-BE49-F238E27FC236}">
                <a16:creationId xmlns:a16="http://schemas.microsoft.com/office/drawing/2014/main" id="{0CBA04E0-2DEE-4ABC-84EE-F5BC899CB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7983" name="Line 14">
            <a:extLst>
              <a:ext uri="{FF2B5EF4-FFF2-40B4-BE49-F238E27FC236}">
                <a16:creationId xmlns:a16="http://schemas.microsoft.com/office/drawing/2014/main" id="{17968193-CE38-4CC5-8A7A-9852F4EBA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14600"/>
            <a:ext cx="609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67984" name="AutoShape 15">
            <a:extLst>
              <a:ext uri="{FF2B5EF4-FFF2-40B4-BE49-F238E27FC236}">
                <a16:creationId xmlns:a16="http://schemas.microsoft.com/office/drawing/2014/main" id="{214D3B0D-50DF-4698-BC60-1878FBC10F15}"/>
              </a:ext>
            </a:extLst>
          </p:cNvPr>
          <p:cNvCxnSpPr>
            <a:cxnSpLocks noChangeShapeType="1"/>
            <a:stCxn id="467975" idx="4"/>
            <a:endCxn id="467975" idx="2"/>
          </p:cNvCxnSpPr>
          <p:nvPr/>
        </p:nvCxnSpPr>
        <p:spPr bwMode="auto">
          <a:xfrm rot="16200000" flipV="1">
            <a:off x="35814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7985" name="AutoShape 16">
            <a:extLst>
              <a:ext uri="{FF2B5EF4-FFF2-40B4-BE49-F238E27FC236}">
                <a16:creationId xmlns:a16="http://schemas.microsoft.com/office/drawing/2014/main" id="{E77D64F8-1F1E-4D48-AD3B-969DC3EC9D8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5720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7986" name="AutoShape 17">
            <a:extLst>
              <a:ext uri="{FF2B5EF4-FFF2-40B4-BE49-F238E27FC236}">
                <a16:creationId xmlns:a16="http://schemas.microsoft.com/office/drawing/2014/main" id="{6D09F8A7-477F-4417-921F-E11274DE16F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5410200" y="46482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7987" name="Line 18">
            <a:extLst>
              <a:ext uri="{FF2B5EF4-FFF2-40B4-BE49-F238E27FC236}">
                <a16:creationId xmlns:a16="http://schemas.microsoft.com/office/drawing/2014/main" id="{12ED98AA-91E0-48D2-8A1F-90508F45D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352800"/>
            <a:ext cx="1371600" cy="0"/>
          </a:xfrm>
          <a:prstGeom prst="line">
            <a:avLst/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67988" name="AutoShape 19">
            <a:extLst>
              <a:ext uri="{FF2B5EF4-FFF2-40B4-BE49-F238E27FC236}">
                <a16:creationId xmlns:a16="http://schemas.microsoft.com/office/drawing/2014/main" id="{AE24AD47-492C-4703-B86F-48D1BA086A46}"/>
              </a:ext>
            </a:extLst>
          </p:cNvPr>
          <p:cNvCxnSpPr>
            <a:cxnSpLocks noChangeShapeType="1"/>
            <a:stCxn id="467975" idx="4"/>
            <a:endCxn id="467976" idx="6"/>
          </p:cNvCxnSpPr>
          <p:nvPr/>
        </p:nvCxnSpPr>
        <p:spPr bwMode="auto">
          <a:xfrm rot="5400000" flipH="1" flipV="1">
            <a:off x="4724400" y="3657600"/>
            <a:ext cx="228600" cy="2057400"/>
          </a:xfrm>
          <a:prstGeom prst="curvedConnector4">
            <a:avLst>
              <a:gd name="adj1" fmla="val -247917"/>
              <a:gd name="adj2" fmla="val 111111"/>
            </a:avLst>
          </a:prstGeom>
          <a:noFill/>
          <a:ln w="28575">
            <a:solidFill>
              <a:srgbClr val="FF33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投影片編號版面配置區 4">
            <a:extLst>
              <a:ext uri="{FF2B5EF4-FFF2-40B4-BE49-F238E27FC236}">
                <a16:creationId xmlns:a16="http://schemas.microsoft.com/office/drawing/2014/main" id="{9D9AE872-648C-4B7A-8A86-60F07AF976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0BCED2-6543-43C2-8AF1-10A87DCBAE6D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0019" name="Rectangle 2">
            <a:extLst>
              <a:ext uri="{FF2B5EF4-FFF2-40B4-BE49-F238E27FC236}">
                <a16:creationId xmlns:a16="http://schemas.microsoft.com/office/drawing/2014/main" id="{47408284-C674-4C4A-BC98-40AFCD8BA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Examples</a:t>
            </a:r>
          </a:p>
        </p:txBody>
      </p:sp>
      <p:sp>
        <p:nvSpPr>
          <p:cNvPr id="470020" name="Oval 3">
            <a:extLst>
              <a:ext uri="{FF2B5EF4-FFF2-40B4-BE49-F238E27FC236}">
                <a16:creationId xmlns:a16="http://schemas.microsoft.com/office/drawing/2014/main" id="{4C5F6D57-0561-4E14-BFB1-D6B65F39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336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70021" name="Oval 4">
            <a:extLst>
              <a:ext uri="{FF2B5EF4-FFF2-40B4-BE49-F238E27FC236}">
                <a16:creationId xmlns:a16="http://schemas.microsoft.com/office/drawing/2014/main" id="{6A538BEC-C832-4EBD-AD44-0AB1E71E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124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470022" name="Oval 5">
            <a:extLst>
              <a:ext uri="{FF2B5EF4-FFF2-40B4-BE49-F238E27FC236}">
                <a16:creationId xmlns:a16="http://schemas.microsoft.com/office/drawing/2014/main" id="{E8394E27-B60C-4481-8298-14048F70C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70023" name="Oval 6">
            <a:extLst>
              <a:ext uri="{FF2B5EF4-FFF2-40B4-BE49-F238E27FC236}">
                <a16:creationId xmlns:a16="http://schemas.microsoft.com/office/drawing/2014/main" id="{6D949C99-0BEA-4CF6-BBAD-E17DC58BA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343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70024" name="Line 7">
            <a:extLst>
              <a:ext uri="{FF2B5EF4-FFF2-40B4-BE49-F238E27FC236}">
                <a16:creationId xmlns:a16="http://schemas.microsoft.com/office/drawing/2014/main" id="{716F299B-E569-437C-806D-FC61BB0AEA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438400"/>
            <a:ext cx="6096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0025" name="Line 8">
            <a:extLst>
              <a:ext uri="{FF2B5EF4-FFF2-40B4-BE49-F238E27FC236}">
                <a16:creationId xmlns:a16="http://schemas.microsoft.com/office/drawing/2014/main" id="{2C649AC8-55EE-43DF-8F08-F3361CE8A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581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0026" name="Line 9">
            <a:extLst>
              <a:ext uri="{FF2B5EF4-FFF2-40B4-BE49-F238E27FC236}">
                <a16:creationId xmlns:a16="http://schemas.microsoft.com/office/drawing/2014/main" id="{37B934A3-759D-4616-965D-85E3EB82E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505200"/>
            <a:ext cx="6096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cxnSp>
        <p:nvCxnSpPr>
          <p:cNvPr id="470027" name="AutoShape 10">
            <a:extLst>
              <a:ext uri="{FF2B5EF4-FFF2-40B4-BE49-F238E27FC236}">
                <a16:creationId xmlns:a16="http://schemas.microsoft.com/office/drawing/2014/main" id="{1CF795E7-D55B-499F-A195-A47D22533D1A}"/>
              </a:ext>
            </a:extLst>
          </p:cNvPr>
          <p:cNvCxnSpPr>
            <a:cxnSpLocks noChangeShapeType="1"/>
            <a:stCxn id="470022" idx="4"/>
            <a:endCxn id="470022" idx="2"/>
          </p:cNvCxnSpPr>
          <p:nvPr/>
        </p:nvCxnSpPr>
        <p:spPr bwMode="auto">
          <a:xfrm rot="16200000" flipV="1">
            <a:off x="35814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0028" name="AutoShape 11">
            <a:extLst>
              <a:ext uri="{FF2B5EF4-FFF2-40B4-BE49-F238E27FC236}">
                <a16:creationId xmlns:a16="http://schemas.microsoft.com/office/drawing/2014/main" id="{191BC9B0-B3F2-4065-9BCC-15235E73C85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572000" y="4572000"/>
            <a:ext cx="228600" cy="228600"/>
          </a:xfrm>
          <a:prstGeom prst="curvedConnector4">
            <a:avLst>
              <a:gd name="adj1" fmla="val -100000"/>
              <a:gd name="adj2" fmla="val 20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投影片編號版面配置區 5">
            <a:extLst>
              <a:ext uri="{FF2B5EF4-FFF2-40B4-BE49-F238E27FC236}">
                <a16:creationId xmlns:a16="http://schemas.microsoft.com/office/drawing/2014/main" id="{0AD100FC-F600-4872-9DAD-E9E04F21F8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EC791A-9F04-4ECC-931B-896CF3EAEBA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2067" name="Rectangle 2">
            <a:extLst>
              <a:ext uri="{FF2B5EF4-FFF2-40B4-BE49-F238E27FC236}">
                <a16:creationId xmlns:a16="http://schemas.microsoft.com/office/drawing/2014/main" id="{9A7BE4E7-1423-430A-A3B6-BF21299F5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Facts About a (Bi)Simulation</a:t>
            </a:r>
          </a:p>
        </p:txBody>
      </p:sp>
      <p:sp>
        <p:nvSpPr>
          <p:cNvPr id="472068" name="Rectangle 3">
            <a:extLst>
              <a:ext uri="{FF2B5EF4-FFF2-40B4-BE49-F238E27FC236}">
                <a16:creationId xmlns:a16="http://schemas.microsoft.com/office/drawing/2014/main" id="{CDDF5D58-04BC-4887-8A0E-2162DD04E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600"/>
              <a:t>The empty set is always a (bi)simulation</a:t>
            </a:r>
            <a:br>
              <a:rPr lang="en-US" altLang="zh-TW" sz="2600"/>
            </a:br>
            <a:endParaRPr lang="en-US" altLang="zh-TW" sz="2600"/>
          </a:p>
          <a:p>
            <a:pPr eaLnBrk="1" hangingPunct="1"/>
            <a:r>
              <a:rPr lang="en-US" altLang="zh-TW" sz="2600"/>
              <a:t>If R, R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r>
              <a:rPr lang="en-US" altLang="zh-TW" sz="2600"/>
              <a:t> are (bi)simulations, so is R U R</a:t>
            </a:r>
            <a:r>
              <a:rPr lang="en-US" altLang="zh-TW" sz="2600">
                <a:latin typeface="Times New Roman" panose="02020603050405020304" pitchFamily="18" charset="0"/>
              </a:rPr>
              <a:t>’</a:t>
            </a:r>
            <a:br>
              <a:rPr lang="en-US" altLang="zh-TW" sz="2600"/>
            </a:br>
            <a:endParaRPr lang="en-US" altLang="zh-TW" sz="2600"/>
          </a:p>
          <a:p>
            <a:pPr eaLnBrk="1" hangingPunct="1"/>
            <a:r>
              <a:rPr lang="en-US" altLang="zh-TW" sz="2600"/>
              <a:t>Hence, there always exists a </a:t>
            </a:r>
            <a:r>
              <a:rPr lang="en-US" altLang="zh-TW" sz="2600" i="1"/>
              <a:t>maximal </a:t>
            </a:r>
            <a:r>
              <a:rPr lang="en-US" altLang="zh-TW" sz="2600"/>
              <a:t>(bi)simulation:</a:t>
            </a:r>
          </a:p>
          <a:p>
            <a:pPr lvl="1" eaLnBrk="1" hangingPunct="1"/>
            <a:r>
              <a:rPr lang="en-US" altLang="zh-TW" sz="2200"/>
              <a:t>Checking if DB</a:t>
            </a:r>
            <a:r>
              <a:rPr lang="en-US" altLang="zh-TW" sz="2200" baseline="-25000"/>
              <a:t>1</a:t>
            </a:r>
            <a:r>
              <a:rPr lang="en-US" altLang="zh-TW" sz="2200"/>
              <a:t>=DB</a:t>
            </a:r>
            <a:r>
              <a:rPr lang="en-US" altLang="zh-TW" sz="2200" baseline="-25000"/>
              <a:t>2</a:t>
            </a:r>
            <a:r>
              <a:rPr lang="en-US" altLang="zh-TW" sz="2200"/>
              <a:t>: compute the maximal bisimulation R, then test (root(DB</a:t>
            </a:r>
            <a:r>
              <a:rPr lang="en-US" altLang="zh-TW" sz="2200" baseline="-25000"/>
              <a:t>1</a:t>
            </a:r>
            <a:r>
              <a:rPr lang="en-US" altLang="zh-TW" sz="2200"/>
              <a:t>),root(DB</a:t>
            </a:r>
            <a:r>
              <a:rPr lang="en-US" altLang="zh-TW" sz="2200" baseline="-25000"/>
              <a:t>2</a:t>
            </a:r>
            <a:r>
              <a:rPr lang="en-US" altLang="zh-TW" sz="2200"/>
              <a:t>)) in R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投影片編號版面配置區 5">
            <a:extLst>
              <a:ext uri="{FF2B5EF4-FFF2-40B4-BE49-F238E27FC236}">
                <a16:creationId xmlns:a16="http://schemas.microsoft.com/office/drawing/2014/main" id="{7AA2BF79-DD0F-4D28-9C76-C8B92F91BA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B56E08-0991-4AE9-9772-3DC022B160EB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4115" name="Rectangle 2">
            <a:extLst>
              <a:ext uri="{FF2B5EF4-FFF2-40B4-BE49-F238E27FC236}">
                <a16:creationId xmlns:a16="http://schemas.microsoft.com/office/drawing/2014/main" id="{10A741C3-FFAC-4829-A8BE-A8730C5C0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simulation-checking  </a:t>
            </a:r>
          </a:p>
        </p:txBody>
      </p:sp>
      <p:sp>
        <p:nvSpPr>
          <p:cNvPr id="474116" name="Rectangle 3">
            <a:extLst>
              <a:ext uri="{FF2B5EF4-FFF2-40B4-BE49-F238E27FC236}">
                <a16:creationId xmlns:a16="http://schemas.microsoft.com/office/drawing/2014/main" id="{E076C6FD-CA2B-4CB6-8148-100778A38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chemeClr val="tx2"/>
                </a:solidFill>
              </a:rPr>
              <a:t>/* Given model A = (</a:t>
            </a:r>
            <a:r>
              <a:rPr lang="en-US" altLang="zh-TW" sz="2400"/>
              <a:t>S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R</a:t>
            </a:r>
            <a:r>
              <a:rPr lang="en-US" altLang="zh-TW" sz="2400">
                <a:solidFill>
                  <a:schemeClr val="tx2"/>
                </a:solidFill>
              </a:rPr>
              <a:t>, L), spec. A’=(</a:t>
            </a:r>
            <a:r>
              <a:rPr lang="en-US" altLang="zh-TW" sz="2400"/>
              <a:t>S’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R’</a:t>
            </a:r>
            <a:r>
              <a:rPr lang="en-US" altLang="zh-TW" sz="2400">
                <a:solidFill>
                  <a:schemeClr val="tx2"/>
                </a:solidFill>
              </a:rPr>
              <a:t>, L’) */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Simulation-checking(</a:t>
            </a:r>
            <a:r>
              <a:rPr lang="en-US" altLang="zh-TW" sz="2400">
                <a:solidFill>
                  <a:schemeClr val="accent1"/>
                </a:solidFill>
                <a:cs typeface="Arial" panose="020B0604020202020204" pitchFamily="34" charset="0"/>
              </a:rPr>
              <a:t>A,A’</a:t>
            </a:r>
            <a:r>
              <a:rPr lang="en-US" altLang="zh-TW" sz="2400"/>
              <a:t>) </a:t>
            </a:r>
            <a:r>
              <a:rPr lang="en-US" altLang="zh-TW" sz="1800"/>
              <a:t>/* using greatest fixpoint algorithm */ </a:t>
            </a:r>
            <a:r>
              <a:rPr lang="en-US" altLang="zh-TW" sz="2400"/>
              <a:t>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Let B={(s,s’) | s</a:t>
            </a:r>
            <a:r>
              <a:rPr lang="en-US" altLang="zh-TW" sz="2400">
                <a:sym typeface="Symbol" panose="05050102010706020507" pitchFamily="18" charset="2"/>
              </a:rPr>
              <a:t></a:t>
            </a:r>
            <a:r>
              <a:rPr lang="en-US" altLang="zh-TW" sz="2400"/>
              <a:t>S</a:t>
            </a:r>
            <a:r>
              <a:rPr lang="en-US" altLang="zh-TW" sz="2400">
                <a:sym typeface="Symbol" panose="05050102010706020507" pitchFamily="18" charset="2"/>
              </a:rPr>
              <a:t>, s’S’, L(s)=L’(s’)} </a:t>
            </a:r>
            <a:r>
              <a:rPr lang="en-US" altLang="zh-TW" sz="240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	   B = B - {(s,s’) | </a:t>
            </a:r>
            <a:r>
              <a:rPr lang="en-US" altLang="zh-TW" sz="2400">
                <a:sym typeface="Symbol" panose="05050102010706020507" pitchFamily="18" charset="2"/>
              </a:rPr>
              <a:t>(s,s’)B, (s,t)R(s’,t’)R’((t,t’)B)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} </a:t>
            </a:r>
            <a:r>
              <a:rPr lang="en-US" altLang="zh-TW" sz="2400">
                <a:sym typeface="Symbol" panose="05050102010706020507" pitchFamily="18" charset="2"/>
              </a:rPr>
              <a:t>until no more changes to B.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if there is an 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with 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((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,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) B</a:t>
            </a:r>
            <a:r>
              <a:rPr lang="en-US" altLang="zh-TW" sz="2400"/>
              <a:t>),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    return ‘</a:t>
            </a:r>
            <a:r>
              <a:rPr lang="en-US" altLang="zh-TW" sz="2400">
                <a:solidFill>
                  <a:srgbClr val="FF0000"/>
                </a:solidFill>
              </a:rPr>
              <a:t>no simulation</a:t>
            </a:r>
            <a:r>
              <a:rPr lang="en-US" altLang="zh-TW" sz="2400"/>
              <a:t>,’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    else return ‘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simulation exists</a:t>
            </a:r>
            <a:r>
              <a:rPr lang="en-US" altLang="zh-TW" sz="2400">
                <a:sym typeface="Symbol" panose="05050102010706020507" pitchFamily="18" charset="2"/>
              </a:rPr>
              <a:t>.’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The procedure terminates since B is finite in the Kripke structure. 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投影片編號版面配置區 5">
            <a:extLst>
              <a:ext uri="{FF2B5EF4-FFF2-40B4-BE49-F238E27FC236}">
                <a16:creationId xmlns:a16="http://schemas.microsoft.com/office/drawing/2014/main" id="{9C0CC8DB-983C-4D75-912F-39F45BFD3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E8A9BB-F65B-49AF-9FBA-B0600570DF26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6163" name="Rectangle 2">
            <a:extLst>
              <a:ext uri="{FF2B5EF4-FFF2-40B4-BE49-F238E27FC236}">
                <a16:creationId xmlns:a16="http://schemas.microsoft.com/office/drawing/2014/main" id="{DA1FA3E3-D2C6-4D3E-B30D-EE5AE2281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34350" cy="1143000"/>
          </a:xfrm>
        </p:spPr>
        <p:txBody>
          <a:bodyPr/>
          <a:lstStyle/>
          <a:p>
            <a:pPr eaLnBrk="1" hangingPunct="1"/>
            <a:r>
              <a:rPr lang="en-US" altLang="zh-TW" sz="3800"/>
              <a:t>Kripke structure  </a:t>
            </a:r>
            <a:br>
              <a:rPr lang="en-US" altLang="zh-TW" sz="3800"/>
            </a:br>
            <a:r>
              <a:rPr lang="en-US" altLang="zh-TW" sz="3800"/>
              <a:t> - bisimulation-checking  </a:t>
            </a:r>
          </a:p>
        </p:txBody>
      </p:sp>
      <p:sp>
        <p:nvSpPr>
          <p:cNvPr id="476164" name="Rectangle 3">
            <a:extLst>
              <a:ext uri="{FF2B5EF4-FFF2-40B4-BE49-F238E27FC236}">
                <a16:creationId xmlns:a16="http://schemas.microsoft.com/office/drawing/2014/main" id="{1C6C8A24-0BCF-46FF-82AE-5232EF704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153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chemeClr val="tx2"/>
                </a:solidFill>
              </a:rPr>
              <a:t>/* Given model A = (</a:t>
            </a:r>
            <a:r>
              <a:rPr lang="en-US" altLang="zh-TW" sz="2400"/>
              <a:t>S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R</a:t>
            </a:r>
            <a:r>
              <a:rPr lang="en-US" altLang="zh-TW" sz="2400">
                <a:solidFill>
                  <a:schemeClr val="tx2"/>
                </a:solidFill>
              </a:rPr>
              <a:t>, L), spec. A’=(</a:t>
            </a:r>
            <a:r>
              <a:rPr lang="en-US" altLang="zh-TW" sz="2400"/>
              <a:t>S’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olidFill>
                  <a:schemeClr val="tx2"/>
                </a:solidFill>
              </a:rPr>
              <a:t>, </a:t>
            </a:r>
            <a:r>
              <a:rPr lang="en-US" altLang="zh-TW" sz="2400"/>
              <a:t>R’</a:t>
            </a:r>
            <a:r>
              <a:rPr lang="en-US" altLang="zh-TW" sz="2400">
                <a:solidFill>
                  <a:schemeClr val="tx2"/>
                </a:solidFill>
              </a:rPr>
              <a:t>, L’) */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Bisimulation-checking(</a:t>
            </a:r>
            <a:r>
              <a:rPr lang="en-US" altLang="zh-TW" sz="2400">
                <a:solidFill>
                  <a:schemeClr val="accent1"/>
                </a:solidFill>
                <a:cs typeface="Arial" panose="020B0604020202020204" pitchFamily="34" charset="0"/>
              </a:rPr>
              <a:t>A,A’</a:t>
            </a:r>
            <a:r>
              <a:rPr lang="en-US" altLang="zh-TW" sz="2400"/>
              <a:t>) </a:t>
            </a:r>
            <a:r>
              <a:rPr lang="en-US" altLang="zh-TW" sz="1800"/>
              <a:t>/* using greatest fixpoint algorithm */ </a:t>
            </a:r>
            <a:r>
              <a:rPr lang="en-US" altLang="zh-TW" sz="2400"/>
              <a:t>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Let B={(s,s’) | s</a:t>
            </a:r>
            <a:r>
              <a:rPr lang="en-US" altLang="zh-TW" sz="2400">
                <a:sym typeface="Symbol" panose="05050102010706020507" pitchFamily="18" charset="2"/>
              </a:rPr>
              <a:t></a:t>
            </a:r>
            <a:r>
              <a:rPr lang="en-US" altLang="zh-TW" sz="2400"/>
              <a:t>S</a:t>
            </a:r>
            <a:r>
              <a:rPr lang="en-US" altLang="zh-TW" sz="2400">
                <a:sym typeface="Symbol" panose="05050102010706020507" pitchFamily="18" charset="2"/>
              </a:rPr>
              <a:t>, s’S’, L(s)=L’(s’)} </a:t>
            </a:r>
            <a:r>
              <a:rPr lang="en-US" altLang="zh-TW" sz="2400"/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repeat {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	   B = B - {(s,s’) | </a:t>
            </a:r>
            <a:r>
              <a:rPr lang="en-US" altLang="zh-TW" sz="2400">
                <a:sym typeface="Symbol" panose="05050102010706020507" pitchFamily="18" charset="2"/>
              </a:rPr>
              <a:t>(s,s’)B, (s,t)R(s’,t’)R’((t,t’)B)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   B = B - {(s,s’) | </a:t>
            </a:r>
            <a:r>
              <a:rPr lang="en-US" altLang="zh-TW" sz="2400">
                <a:sym typeface="Symbol" panose="05050102010706020507" pitchFamily="18" charset="2"/>
              </a:rPr>
              <a:t>(s,s’)B, (s’,t’)R’(s,t)R((t,t’)B)</a:t>
            </a:r>
            <a:r>
              <a:rPr lang="en-US" altLang="zh-TW" sz="2400"/>
              <a:t>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} </a:t>
            </a:r>
            <a:r>
              <a:rPr lang="en-US" altLang="zh-TW" sz="2400">
                <a:sym typeface="Symbol" panose="05050102010706020507" pitchFamily="18" charset="2"/>
              </a:rPr>
              <a:t>until no more changes to B.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if there is an 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with 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((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,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) B</a:t>
            </a:r>
            <a:r>
              <a:rPr lang="en-US" altLang="zh-TW" sz="2400"/>
              <a:t>),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    return ‘</a:t>
            </a:r>
            <a:r>
              <a:rPr lang="en-US" altLang="zh-TW" sz="2400">
                <a:solidFill>
                  <a:srgbClr val="FF0000"/>
                </a:solidFill>
              </a:rPr>
              <a:t>no simulation</a:t>
            </a:r>
            <a:r>
              <a:rPr lang="en-US" altLang="zh-TW" sz="2400"/>
              <a:t>,’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if there is an 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S’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 with 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S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((</a:t>
            </a:r>
            <a:r>
              <a:rPr lang="en-US" altLang="zh-TW" sz="2400"/>
              <a:t>s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,</a:t>
            </a:r>
            <a:r>
              <a:rPr lang="en-US" altLang="zh-TW" sz="2400"/>
              <a:t>s’</a:t>
            </a:r>
            <a:r>
              <a:rPr lang="en-US" altLang="zh-TW" sz="2400" baseline="-25000"/>
              <a:t>0</a:t>
            </a:r>
            <a:r>
              <a:rPr lang="en-US" altLang="zh-TW" sz="2400">
                <a:sym typeface="Symbol" panose="05050102010706020507" pitchFamily="18" charset="2"/>
              </a:rPr>
              <a:t>) B</a:t>
            </a:r>
            <a:r>
              <a:rPr lang="en-US" altLang="zh-TW" sz="2400"/>
              <a:t>),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        return ‘</a:t>
            </a:r>
            <a:r>
              <a:rPr lang="en-US" altLang="zh-TW" sz="2400">
                <a:solidFill>
                  <a:srgbClr val="FF0000"/>
                </a:solidFill>
              </a:rPr>
              <a:t>no simulation</a:t>
            </a:r>
            <a:r>
              <a:rPr lang="en-US" altLang="zh-TW" sz="2400"/>
              <a:t>,’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else return ‘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simulation exists</a:t>
            </a:r>
            <a:r>
              <a:rPr lang="en-US" altLang="zh-TW" sz="2400">
                <a:sym typeface="Symbol" panose="05050102010706020507" pitchFamily="18" charset="2"/>
              </a:rPr>
              <a:t>.’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/>
              <a:t>}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投影片編號版面配置區 5">
            <a:extLst>
              <a:ext uri="{FF2B5EF4-FFF2-40B4-BE49-F238E27FC236}">
                <a16:creationId xmlns:a16="http://schemas.microsoft.com/office/drawing/2014/main" id="{8B686988-D6F9-4167-AE41-63BE39465D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BEA1EB-F21E-47F2-AEA0-040FABC68A4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233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78211" name="Rectangle 2">
            <a:extLst>
              <a:ext uri="{FF2B5EF4-FFF2-40B4-BE49-F238E27FC236}">
                <a16:creationId xmlns:a16="http://schemas.microsoft.com/office/drawing/2014/main" id="{51C3F5FB-932A-404A-A531-E73FA849B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(Bi)Simulation</a:t>
            </a:r>
            <a:br>
              <a:rPr lang="en-US" altLang="zh-TW"/>
            </a:br>
            <a:r>
              <a:rPr lang="en-US" altLang="zh-TW"/>
              <a:t>- complexities</a:t>
            </a:r>
          </a:p>
        </p:txBody>
      </p:sp>
      <p:sp>
        <p:nvSpPr>
          <p:cNvPr id="478212" name="Rectangle 3">
            <a:extLst>
              <a:ext uri="{FF2B5EF4-FFF2-40B4-BE49-F238E27FC236}">
                <a16:creationId xmlns:a16="http://schemas.microsoft.com/office/drawing/2014/main" id="{1708E6C8-2294-4C5D-89C6-537EFB3EA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Bisimulation: O((m+n)log(m+n))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Simulation: O(m 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/>
              <a:t>In contrast, finding a graph homeomorphism  is NP-complete. 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投影片編號版面配置區 5">
            <a:extLst>
              <a:ext uri="{FF2B5EF4-FFF2-40B4-BE49-F238E27FC236}">
                <a16:creationId xmlns:a16="http://schemas.microsoft.com/office/drawing/2014/main" id="{0835DDC4-76BB-4F6B-BE4C-3281C488C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D0D7D0-ACE3-408D-AA1E-1C8F2B77E40A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234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80259" name="Rectangle 2">
            <a:extLst>
              <a:ext uri="{FF2B5EF4-FFF2-40B4-BE49-F238E27FC236}">
                <a16:creationId xmlns:a16="http://schemas.microsoft.com/office/drawing/2014/main" id="{89472AA6-6AE8-4D51-AAD6-09EC48E36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simulation-checking</a:t>
            </a:r>
          </a:p>
        </p:txBody>
      </p:sp>
      <p:sp>
        <p:nvSpPr>
          <p:cNvPr id="480260" name="Rectangle 3">
            <a:extLst>
              <a:ext uri="{FF2B5EF4-FFF2-40B4-BE49-F238E27FC236}">
                <a16:creationId xmlns:a16="http://schemas.microsoft.com/office/drawing/2014/main" id="{8CEA5098-65C0-4FB4-BC29-7AC210AB1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257800"/>
          </a:xfrm>
        </p:spPr>
        <p:txBody>
          <a:bodyPr/>
          <a:lstStyle/>
          <a:p>
            <a:pPr marL="514350" indent="-514350" eaLnBrk="1" hangingPunct="1"/>
            <a:r>
              <a:rPr lang="en-US" altLang="zh-TW" sz="2400"/>
              <a:t>Encode the states with variables </a:t>
            </a:r>
          </a:p>
          <a:p>
            <a:pPr marL="841375" lvl="1" indent="-514350" eaLnBrk="1" hangingPunct="1"/>
            <a:r>
              <a:rPr lang="en-US" altLang="zh-TW" sz="2000"/>
              <a:t>x</a:t>
            </a:r>
            <a:r>
              <a:rPr lang="en-US" altLang="zh-TW" sz="2000" baseline="-25000"/>
              <a:t>0</a:t>
            </a:r>
            <a:r>
              <a:rPr lang="en-US" altLang="zh-TW" sz="2000"/>
              <a:t>,x</a:t>
            </a:r>
            <a:r>
              <a:rPr lang="en-US" altLang="zh-TW" sz="2000" baseline="-25000"/>
              <a:t>1</a:t>
            </a:r>
            <a:r>
              <a:rPr lang="en-US" altLang="zh-TW" sz="2000"/>
              <a:t>,…,x</a:t>
            </a:r>
            <a:r>
              <a:rPr lang="en-US" altLang="zh-TW" sz="2000" baseline="-25000"/>
              <a:t>n</a:t>
            </a:r>
            <a:r>
              <a:rPr lang="en-US" altLang="zh-TW" sz="2000"/>
              <a:t> (for the model) and </a:t>
            </a:r>
          </a:p>
          <a:p>
            <a:pPr marL="841375" lvl="1" indent="-514350" eaLnBrk="1" hangingPunct="1"/>
            <a:r>
              <a:rPr lang="en-US" altLang="zh-TW" sz="2000"/>
              <a:t>y</a:t>
            </a:r>
            <a:r>
              <a:rPr lang="en-US" altLang="zh-TW" sz="2000" baseline="-25000"/>
              <a:t>0</a:t>
            </a:r>
            <a:r>
              <a:rPr lang="en-US" altLang="zh-TW" sz="2000"/>
              <a:t>,y</a:t>
            </a:r>
            <a:r>
              <a:rPr lang="en-US" altLang="zh-TW" sz="2000" baseline="-25000"/>
              <a:t>1</a:t>
            </a:r>
            <a:r>
              <a:rPr lang="en-US" altLang="zh-TW" sz="2000"/>
              <a:t>, …, y</a:t>
            </a:r>
            <a:r>
              <a:rPr lang="en-US" altLang="zh-TW" sz="2000" baseline="-25000"/>
              <a:t>m</a:t>
            </a:r>
            <a:r>
              <a:rPr lang="en-US" altLang="zh-TW" sz="2000"/>
              <a:t>. (for the spec.) </a:t>
            </a:r>
          </a:p>
          <a:p>
            <a:pPr marL="841375" lvl="1" indent="-514350" eaLnBrk="1" hangingPunct="1">
              <a:buFont typeface="Wingdings" panose="05000000000000000000" pitchFamily="2" charset="2"/>
              <a:buNone/>
            </a:pPr>
            <a:r>
              <a:rPr lang="en-US" altLang="zh-TW" sz="2000"/>
              <a:t>Usually there are shared variables </a:t>
            </a:r>
          </a:p>
          <a:p>
            <a:pPr marL="841375" lvl="1" indent="-514350" eaLnBrk="1" hangingPunct="1">
              <a:buFont typeface="Wingdings" panose="05000000000000000000" pitchFamily="2" charset="2"/>
              <a:buNone/>
            </a:pPr>
            <a:r>
              <a:rPr lang="en-US" altLang="zh-TW" sz="2000"/>
              <a:t>    between {x</a:t>
            </a:r>
            <a:r>
              <a:rPr lang="en-US" altLang="zh-TW" sz="2000" baseline="-25000"/>
              <a:t>0</a:t>
            </a:r>
            <a:r>
              <a:rPr lang="en-US" altLang="zh-TW" sz="2000"/>
              <a:t>,x</a:t>
            </a:r>
            <a:r>
              <a:rPr lang="en-US" altLang="zh-TW" sz="2000" baseline="-25000"/>
              <a:t>1</a:t>
            </a:r>
            <a:r>
              <a:rPr lang="en-US" altLang="zh-TW" sz="2000"/>
              <a:t>,…,x</a:t>
            </a:r>
            <a:r>
              <a:rPr lang="en-US" altLang="zh-TW" sz="2000" baseline="-25000"/>
              <a:t>n</a:t>
            </a:r>
            <a:r>
              <a:rPr lang="en-US" altLang="zh-TW" sz="2000"/>
              <a:t> } and {y</a:t>
            </a:r>
            <a:r>
              <a:rPr lang="en-US" altLang="zh-TW" sz="2000" baseline="-25000"/>
              <a:t>0</a:t>
            </a:r>
            <a:r>
              <a:rPr lang="en-US" altLang="zh-TW" sz="2000"/>
              <a:t>,y</a:t>
            </a:r>
            <a:r>
              <a:rPr lang="en-US" altLang="zh-TW" sz="2000" baseline="-25000"/>
              <a:t>1</a:t>
            </a:r>
            <a:r>
              <a:rPr lang="en-US" altLang="zh-TW" sz="2000"/>
              <a:t>, …, y</a:t>
            </a:r>
            <a:r>
              <a:rPr lang="en-US" altLang="zh-TW" sz="2000" baseline="-25000"/>
              <a:t>m</a:t>
            </a:r>
            <a:r>
              <a:rPr lang="en-US" altLang="zh-TW" sz="2000"/>
              <a:t>}.   </a:t>
            </a:r>
          </a:p>
          <a:p>
            <a:pPr marL="841375" lvl="1" indent="-514350" eaLnBrk="1" hangingPunct="1">
              <a:buFont typeface="Wingdings" panose="05000000000000000000" pitchFamily="2" charset="2"/>
              <a:buNone/>
            </a:pPr>
            <a:r>
              <a:rPr lang="en-US" altLang="zh-TW" sz="2000"/>
              <a:t>L(s)=L’(s’) means that the shared variables are of the same values. 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</a:rPr>
              <a:t>the state sets as proposition formulas: </a:t>
            </a:r>
          </a:p>
          <a:p>
            <a:pPr marL="841375" lvl="1" indent="-514350" eaLnBrk="1" hangingPunct="1"/>
            <a:r>
              <a:rPr lang="en-US" altLang="zh-TW" sz="2000">
                <a:solidFill>
                  <a:srgbClr val="0000FF"/>
                </a:solidFill>
              </a:rPr>
              <a:t>s(x</a:t>
            </a:r>
            <a:r>
              <a:rPr lang="en-US" altLang="zh-TW" sz="2000" baseline="-25000">
                <a:solidFill>
                  <a:srgbClr val="0000FF"/>
                </a:solidFill>
              </a:rPr>
              <a:t>0</a:t>
            </a:r>
            <a:r>
              <a:rPr lang="en-US" altLang="zh-TW" sz="2000">
                <a:solidFill>
                  <a:srgbClr val="0000FF"/>
                </a:solidFill>
              </a:rPr>
              <a:t>,x</a:t>
            </a:r>
            <a:r>
              <a:rPr lang="en-US" altLang="zh-TW" sz="2000" baseline="-25000">
                <a:solidFill>
                  <a:srgbClr val="0000FF"/>
                </a:solidFill>
              </a:rPr>
              <a:t>1</a:t>
            </a:r>
            <a:r>
              <a:rPr lang="en-US" altLang="zh-TW" sz="2000">
                <a:solidFill>
                  <a:srgbClr val="0000FF"/>
                </a:solidFill>
              </a:rPr>
              <a:t>,…,x</a:t>
            </a:r>
            <a:r>
              <a:rPr lang="en-US" altLang="zh-TW" sz="2000" baseline="-25000">
                <a:solidFill>
                  <a:srgbClr val="0000FF"/>
                </a:solidFill>
              </a:rPr>
              <a:t>n</a:t>
            </a:r>
            <a:r>
              <a:rPr lang="en-US" altLang="zh-TW" sz="2000">
                <a:solidFill>
                  <a:srgbClr val="0000FF"/>
                </a:solidFill>
              </a:rPr>
              <a:t>)  &amp;  s(y</a:t>
            </a:r>
            <a:r>
              <a:rPr lang="en-US" altLang="zh-TW" sz="2000" baseline="-25000">
                <a:solidFill>
                  <a:srgbClr val="0000FF"/>
                </a:solidFill>
              </a:rPr>
              <a:t>0</a:t>
            </a:r>
            <a:r>
              <a:rPr lang="en-US" altLang="zh-TW" sz="2000">
                <a:solidFill>
                  <a:srgbClr val="0000FF"/>
                </a:solidFill>
              </a:rPr>
              <a:t>,y</a:t>
            </a:r>
            <a:r>
              <a:rPr lang="en-US" altLang="zh-TW" sz="2000" baseline="-25000">
                <a:solidFill>
                  <a:srgbClr val="0000FF"/>
                </a:solidFill>
              </a:rPr>
              <a:t>1</a:t>
            </a:r>
            <a:r>
              <a:rPr lang="en-US" altLang="zh-TW" sz="2000">
                <a:solidFill>
                  <a:srgbClr val="0000FF"/>
                </a:solidFill>
              </a:rPr>
              <a:t>,…,y</a:t>
            </a:r>
            <a:r>
              <a:rPr lang="en-US" altLang="zh-TW" sz="2000" baseline="-25000">
                <a:solidFill>
                  <a:srgbClr val="0000FF"/>
                </a:solidFill>
              </a:rPr>
              <a:t>m</a:t>
            </a:r>
            <a:r>
              <a:rPr lang="en-US" altLang="zh-TW" sz="2000">
                <a:solidFill>
                  <a:srgbClr val="0000FF"/>
                </a:solidFill>
              </a:rPr>
              <a:t>)</a:t>
            </a:r>
          </a:p>
          <a:p>
            <a:pPr marL="514350" indent="-514350" eaLnBrk="1" hangingPunct="1"/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the initial state set as </a:t>
            </a:r>
          </a:p>
          <a:p>
            <a:pPr marL="841375" lvl="1" indent="-514350" eaLnBrk="1" hangingPunct="1"/>
            <a:r>
              <a:rPr lang="en-US" altLang="zh-TW" sz="200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sz="2000">
                <a:solidFill>
                  <a:srgbClr val="0000FF"/>
                </a:solidFill>
              </a:rPr>
              <a:t>(x</a:t>
            </a:r>
            <a:r>
              <a:rPr lang="en-US" altLang="zh-TW" sz="2000" baseline="-25000">
                <a:solidFill>
                  <a:srgbClr val="0000FF"/>
                </a:solidFill>
              </a:rPr>
              <a:t>0</a:t>
            </a:r>
            <a:r>
              <a:rPr lang="en-US" altLang="zh-TW" sz="2000">
                <a:solidFill>
                  <a:srgbClr val="0000FF"/>
                </a:solidFill>
              </a:rPr>
              <a:t>,x</a:t>
            </a:r>
            <a:r>
              <a:rPr lang="en-US" altLang="zh-TW" sz="2000" baseline="-25000">
                <a:solidFill>
                  <a:srgbClr val="0000FF"/>
                </a:solidFill>
              </a:rPr>
              <a:t>1</a:t>
            </a:r>
            <a:r>
              <a:rPr lang="en-US" altLang="zh-TW" sz="2000">
                <a:solidFill>
                  <a:srgbClr val="0000FF"/>
                </a:solidFill>
              </a:rPr>
              <a:t>,…,x</a:t>
            </a:r>
            <a:r>
              <a:rPr lang="en-US" altLang="zh-TW" sz="2000" baseline="-25000">
                <a:solidFill>
                  <a:srgbClr val="0000FF"/>
                </a:solidFill>
              </a:rPr>
              <a:t>n</a:t>
            </a:r>
            <a:r>
              <a:rPr lang="en-US" altLang="zh-TW" sz="2000">
                <a:solidFill>
                  <a:srgbClr val="0000FF"/>
                </a:solidFill>
              </a:rPr>
              <a:t>) &amp;  </a:t>
            </a:r>
            <a:r>
              <a:rPr lang="en-US" altLang="zh-TW" sz="2000">
                <a:solidFill>
                  <a:srgbClr val="0000FF"/>
                </a:solidFill>
                <a:sym typeface="Symbol" panose="05050102010706020507" pitchFamily="18" charset="2"/>
              </a:rPr>
              <a:t>i'</a:t>
            </a:r>
            <a:r>
              <a:rPr lang="en-US" altLang="zh-TW" sz="2000">
                <a:solidFill>
                  <a:srgbClr val="0000FF"/>
                </a:solidFill>
              </a:rPr>
              <a:t>(y</a:t>
            </a:r>
            <a:r>
              <a:rPr lang="en-US" altLang="zh-TW" sz="2000" baseline="-25000">
                <a:solidFill>
                  <a:srgbClr val="0000FF"/>
                </a:solidFill>
              </a:rPr>
              <a:t>0</a:t>
            </a:r>
            <a:r>
              <a:rPr lang="en-US" altLang="zh-TW" sz="2000">
                <a:solidFill>
                  <a:srgbClr val="0000FF"/>
                </a:solidFill>
              </a:rPr>
              <a:t>,y</a:t>
            </a:r>
            <a:r>
              <a:rPr lang="en-US" altLang="zh-TW" sz="2000" baseline="-25000">
                <a:solidFill>
                  <a:srgbClr val="0000FF"/>
                </a:solidFill>
              </a:rPr>
              <a:t>1</a:t>
            </a:r>
            <a:r>
              <a:rPr lang="en-US" altLang="zh-TW" sz="2000">
                <a:solidFill>
                  <a:srgbClr val="0000FF"/>
                </a:solidFill>
              </a:rPr>
              <a:t>,…,y</a:t>
            </a:r>
            <a:r>
              <a:rPr lang="en-US" altLang="zh-TW" sz="2000" baseline="-25000">
                <a:solidFill>
                  <a:srgbClr val="0000FF"/>
                </a:solidFill>
              </a:rPr>
              <a:t>m</a:t>
            </a:r>
            <a:r>
              <a:rPr lang="en-US" altLang="zh-TW" sz="2000">
                <a:solidFill>
                  <a:srgbClr val="0000FF"/>
                </a:solidFill>
              </a:rPr>
              <a:t>)</a:t>
            </a:r>
            <a:endParaRPr lang="en-US" altLang="zh-TW" sz="200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514350" indent="-514350" eaLnBrk="1" hangingPunct="1"/>
            <a:r>
              <a:rPr lang="en-US" altLang="zh-TW" sz="2400">
                <a:sym typeface="Symbol" panose="05050102010706020507" pitchFamily="18" charset="2"/>
              </a:rPr>
              <a:t>the transition set as </a:t>
            </a:r>
          </a:p>
          <a:p>
            <a:pPr marL="841375" lvl="1" indent="-514350" eaLnBrk="1" hangingPunct="1"/>
            <a:r>
              <a:rPr lang="en-US" altLang="zh-TW" sz="2000">
                <a:sym typeface="Symbol" panose="05050102010706020507" pitchFamily="18" charset="2"/>
              </a:rPr>
              <a:t>R(</a:t>
            </a:r>
            <a:r>
              <a:rPr lang="en-US" altLang="zh-TW" sz="2000"/>
              <a:t>x</a:t>
            </a:r>
            <a:r>
              <a:rPr lang="en-US" altLang="zh-TW" sz="2000" baseline="-25000"/>
              <a:t>0</a:t>
            </a:r>
            <a:r>
              <a:rPr lang="en-US" altLang="zh-TW" sz="2000"/>
              <a:t>,x</a:t>
            </a:r>
            <a:r>
              <a:rPr lang="en-US" altLang="zh-TW" sz="2000" baseline="-25000"/>
              <a:t>1</a:t>
            </a:r>
            <a:r>
              <a:rPr lang="en-US" altLang="zh-TW" sz="2000"/>
              <a:t>,…,x</a:t>
            </a:r>
            <a:r>
              <a:rPr lang="en-US" altLang="zh-TW" sz="2000" baseline="-25000"/>
              <a:t>n</a:t>
            </a:r>
            <a:r>
              <a:rPr lang="en-US" altLang="zh-TW" sz="2000">
                <a:sym typeface="Symbol" panose="05050102010706020507" pitchFamily="18" charset="2"/>
              </a:rPr>
              <a:t>,x’</a:t>
            </a:r>
            <a:r>
              <a:rPr lang="en-US" altLang="zh-TW" sz="2000" baseline="-25000">
                <a:sym typeface="Symbol" panose="05050102010706020507" pitchFamily="18" charset="2"/>
              </a:rPr>
              <a:t>0</a:t>
            </a:r>
            <a:r>
              <a:rPr lang="en-US" altLang="zh-TW" sz="2000">
                <a:sym typeface="Symbol" panose="05050102010706020507" pitchFamily="18" charset="2"/>
              </a:rPr>
              <a:t>,x’</a:t>
            </a:r>
            <a:r>
              <a:rPr lang="en-US" altLang="zh-TW" sz="2000" baseline="-25000">
                <a:sym typeface="Symbol" panose="05050102010706020507" pitchFamily="18" charset="2"/>
              </a:rPr>
              <a:t>1</a:t>
            </a:r>
            <a:r>
              <a:rPr lang="en-US" altLang="zh-TW" sz="2000">
                <a:sym typeface="Symbol" panose="05050102010706020507" pitchFamily="18" charset="2"/>
              </a:rPr>
              <a:t>,…,x</a:t>
            </a:r>
            <a:r>
              <a:rPr lang="en-US" altLang="zh-TW" sz="2000" baseline="-25000">
                <a:sym typeface="Symbol" panose="05050102010706020507" pitchFamily="18" charset="2"/>
              </a:rPr>
              <a:t>n</a:t>
            </a:r>
            <a:r>
              <a:rPr lang="en-US" altLang="zh-TW" sz="2000">
                <a:sym typeface="Symbol" panose="05050102010706020507" pitchFamily="18" charset="2"/>
              </a:rPr>
              <a:t>) &amp; R’(y</a:t>
            </a:r>
            <a:r>
              <a:rPr lang="en-US" altLang="zh-TW" sz="2000" baseline="-25000"/>
              <a:t>0</a:t>
            </a:r>
            <a:r>
              <a:rPr lang="en-US" altLang="zh-TW" sz="2000"/>
              <a:t>,y</a:t>
            </a:r>
            <a:r>
              <a:rPr lang="en-US" altLang="zh-TW" sz="2000" baseline="-25000"/>
              <a:t>1</a:t>
            </a:r>
            <a:r>
              <a:rPr lang="en-US" altLang="zh-TW" sz="2000"/>
              <a:t>,…,y</a:t>
            </a:r>
            <a:r>
              <a:rPr lang="en-US" altLang="zh-TW" sz="2000" baseline="-25000"/>
              <a:t>n</a:t>
            </a:r>
            <a:r>
              <a:rPr lang="en-US" altLang="zh-TW" sz="2000">
                <a:sym typeface="Symbol" panose="05050102010706020507" pitchFamily="18" charset="2"/>
              </a:rPr>
              <a:t>,y’</a:t>
            </a:r>
            <a:r>
              <a:rPr lang="en-US" altLang="zh-TW" sz="2000" baseline="-25000">
                <a:sym typeface="Symbol" panose="05050102010706020507" pitchFamily="18" charset="2"/>
              </a:rPr>
              <a:t>0</a:t>
            </a:r>
            <a:r>
              <a:rPr lang="en-US" altLang="zh-TW" sz="2000">
                <a:sym typeface="Symbol" panose="05050102010706020507" pitchFamily="18" charset="2"/>
              </a:rPr>
              <a:t>,y’</a:t>
            </a:r>
            <a:r>
              <a:rPr lang="en-US" altLang="zh-TW" sz="2000" baseline="-25000">
                <a:sym typeface="Symbol" panose="05050102010706020507" pitchFamily="18" charset="2"/>
              </a:rPr>
              <a:t>1</a:t>
            </a:r>
            <a:r>
              <a:rPr lang="en-US" altLang="zh-TW" sz="2000">
                <a:sym typeface="Symbol" panose="05050102010706020507" pitchFamily="18" charset="2"/>
              </a:rPr>
              <a:t>,…,y’</a:t>
            </a:r>
            <a:r>
              <a:rPr lang="en-US" altLang="zh-TW" sz="2000" baseline="-25000">
                <a:sym typeface="Symbol" panose="05050102010706020507" pitchFamily="18" charset="2"/>
              </a:rPr>
              <a:t>n</a:t>
            </a:r>
            <a:r>
              <a:rPr lang="en-US" altLang="zh-TW" sz="2000">
                <a:sym typeface="Symbol" panose="05050102010706020507" pitchFamily="18" charset="2"/>
              </a:rPr>
              <a:t>)</a:t>
            </a:r>
          </a:p>
          <a:p>
            <a:pPr marL="841375" lvl="1" indent="-514350" eaLnBrk="1" hangingPunct="1"/>
            <a:endParaRPr lang="en-US" altLang="zh-TW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投影片編號版面配置區 5">
            <a:extLst>
              <a:ext uri="{FF2B5EF4-FFF2-40B4-BE49-F238E27FC236}">
                <a16:creationId xmlns:a16="http://schemas.microsoft.com/office/drawing/2014/main" id="{CA0905D9-76B6-43CB-849A-0021B20C19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2F4884-E699-46AD-BEEF-315B79AA527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235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482307" name="Rectangle 2">
            <a:extLst>
              <a:ext uri="{FF2B5EF4-FFF2-40B4-BE49-F238E27FC236}">
                <a16:creationId xmlns:a16="http://schemas.microsoft.com/office/drawing/2014/main" id="{7B0535ED-4A72-4D89-8032-B9221CE98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Symbolic simulation-checking</a:t>
            </a:r>
          </a:p>
        </p:txBody>
      </p:sp>
      <p:sp>
        <p:nvSpPr>
          <p:cNvPr id="482308" name="Rectangle 3">
            <a:extLst>
              <a:ext uri="{FF2B5EF4-FFF2-40B4-BE49-F238E27FC236}">
                <a16:creationId xmlns:a16="http://schemas.microsoft.com/office/drawing/2014/main" id="{AD1FEB58-E420-4D19-B2E6-0C3628CC8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257800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</a:t>
            </a:r>
            <a:r>
              <a:rPr lang="en-US" altLang="zh-TW" sz="4800">
                <a:solidFill>
                  <a:srgbClr val="0000FF"/>
                </a:solidFill>
                <a:sym typeface="Symbol" panose="05050102010706020507" pitchFamily="18" charset="2"/>
              </a:rPr>
              <a:t>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L</a:t>
            </a:r>
            <a:r>
              <a:rPr lang="en-US" altLang="zh-TW" sz="2400" baseline="-25000">
                <a:solidFill>
                  <a:srgbClr val="0000FF"/>
                </a:solidFill>
              </a:rPr>
              <a:t>(x0,x1,…,xn) 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=L</a:t>
            </a:r>
            <a:r>
              <a:rPr lang="en-US" altLang="zh-TW" sz="2400" baseline="-25000">
                <a:solidFill>
                  <a:srgbClr val="0000FF"/>
                </a:solidFill>
              </a:rPr>
              <a:t>(y0,y1,…,ym)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sz="2400">
                <a:solidFill>
                  <a:srgbClr val="0000FF"/>
                </a:solidFill>
              </a:rPr>
              <a:t>(x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</a:rPr>
              <a:t>)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s</a:t>
            </a:r>
            <a:r>
              <a:rPr lang="en-US" altLang="zh-TW" sz="2400">
                <a:solidFill>
                  <a:srgbClr val="0000FF"/>
                </a:solidFill>
              </a:rPr>
              <a:t>(y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,…,y</a:t>
            </a:r>
            <a:r>
              <a:rPr lang="en-US" altLang="zh-TW" sz="2400" baseline="-25000">
                <a:solidFill>
                  <a:srgbClr val="0000FF"/>
                </a:solidFill>
              </a:rPr>
              <a:t>m</a:t>
            </a:r>
            <a:r>
              <a:rPr lang="en-US" altLang="zh-TW" sz="2400">
                <a:solidFill>
                  <a:srgbClr val="0000FF"/>
                </a:solidFill>
              </a:rPr>
              <a:t>)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for (k = 1, B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= false; 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  B</a:t>
            </a:r>
            <a:r>
              <a:rPr lang="en-US" altLang="zh-TW" sz="2400" baseline="-25000">
                <a:sym typeface="Symbol" panose="05050102010706020507" pitchFamily="18" charset="2"/>
              </a:rPr>
              <a:t>k-1</a:t>
            </a:r>
            <a:r>
              <a:rPr lang="en-US" altLang="zh-TW" sz="2400">
                <a:sym typeface="Symbol" panose="05050102010706020507" pitchFamily="18" charset="2"/>
              </a:rPr>
              <a:t>; k=k+1)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= B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k-1 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 x’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          R(</a:t>
            </a:r>
            <a:r>
              <a:rPr lang="en-US" altLang="zh-TW" sz="2400">
                <a:solidFill>
                  <a:srgbClr val="0000FF"/>
                </a:solidFill>
              </a:rPr>
              <a:t>x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,x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,…,x</a:t>
            </a:r>
            <a:r>
              <a:rPr lang="en-US" altLang="zh-TW" sz="2400" baseline="-25000">
                <a:solidFill>
                  <a:srgbClr val="0000FF"/>
                </a:solidFill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 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,…,x’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         y’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y’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…y’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m  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(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                 R’(y</a:t>
            </a:r>
            <a:r>
              <a:rPr lang="en-US" altLang="zh-TW" sz="2400" baseline="-25000">
                <a:solidFill>
                  <a:srgbClr val="0000FF"/>
                </a:solidFill>
              </a:rPr>
              <a:t>0</a:t>
            </a:r>
            <a:r>
              <a:rPr lang="en-US" altLang="zh-TW" sz="2400">
                <a:solidFill>
                  <a:srgbClr val="0000FF"/>
                </a:solidFill>
              </a:rPr>
              <a:t>,y</a:t>
            </a:r>
            <a:r>
              <a:rPr lang="en-US" altLang="zh-TW" sz="2400" baseline="-25000">
                <a:solidFill>
                  <a:srgbClr val="0000FF"/>
                </a:solidFill>
              </a:rPr>
              <a:t>1</a:t>
            </a:r>
            <a:r>
              <a:rPr lang="en-US" altLang="zh-TW" sz="2400">
                <a:solidFill>
                  <a:srgbClr val="0000FF"/>
                </a:solidFill>
              </a:rPr>
              <a:t>,…,y</a:t>
            </a:r>
            <a:r>
              <a:rPr lang="en-US" altLang="zh-TW" sz="2400" baseline="-25000">
                <a:solidFill>
                  <a:srgbClr val="0000FF"/>
                </a:solidFill>
              </a:rPr>
              <a:t>m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 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,…,y’</a:t>
            </a:r>
            <a:r>
              <a:rPr lang="en-US" altLang="zh-TW" sz="2400" baseline="-25000">
                <a:solidFill>
                  <a:srgbClr val="0000FF"/>
                </a:solidFill>
                <a:sym typeface="Symbol" panose="05050102010706020507" pitchFamily="18" charset="2"/>
              </a:rPr>
              <a:t>m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)  (B</a:t>
            </a:r>
            <a:r>
              <a:rPr lang="en-US" altLang="zh-TW" sz="2400" baseline="-25000">
                <a:solidFill>
                  <a:srgbClr val="0000FF"/>
                </a:solidFill>
              </a:rPr>
              <a:t>k-1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)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            )     ) 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if (i</a:t>
            </a:r>
            <a:r>
              <a:rPr lang="en-US" altLang="zh-TW" sz="2400"/>
              <a:t>(x</a:t>
            </a:r>
            <a:r>
              <a:rPr lang="en-US" altLang="zh-TW" sz="2400" baseline="-25000"/>
              <a:t>0</a:t>
            </a:r>
            <a:r>
              <a:rPr lang="en-US" altLang="zh-TW" sz="2400"/>
              <a:t>,x</a:t>
            </a:r>
            <a:r>
              <a:rPr lang="en-US" altLang="zh-TW" sz="2400" baseline="-25000"/>
              <a:t>1</a:t>
            </a:r>
            <a:r>
              <a:rPr lang="en-US" altLang="zh-TW" sz="2400"/>
              <a:t>,…,x</a:t>
            </a:r>
            <a:r>
              <a:rPr lang="en-US" altLang="zh-TW" sz="2400" baseline="-25000"/>
              <a:t>n</a:t>
            </a:r>
            <a:r>
              <a:rPr lang="en-US" altLang="zh-TW" sz="2400">
                <a:sym typeface="Symbol" panose="05050102010706020507" pitchFamily="18" charset="2"/>
              </a:rPr>
              <a:t>)y</a:t>
            </a:r>
            <a:r>
              <a:rPr lang="en-US" altLang="zh-TW" sz="2400" baseline="-25000">
                <a:sym typeface="Symbol" panose="05050102010706020507" pitchFamily="18" charset="2"/>
              </a:rPr>
              <a:t>0</a:t>
            </a:r>
            <a:r>
              <a:rPr lang="en-US" altLang="zh-TW" sz="2400">
                <a:sym typeface="Symbol" panose="05050102010706020507" pitchFamily="18" charset="2"/>
              </a:rPr>
              <a:t>y</a:t>
            </a:r>
            <a:r>
              <a:rPr lang="en-US" altLang="zh-TW" sz="2400" baseline="-25000">
                <a:sym typeface="Symbol" panose="05050102010706020507" pitchFamily="18" charset="2"/>
              </a:rPr>
              <a:t>1</a:t>
            </a:r>
            <a:r>
              <a:rPr lang="en-US" altLang="zh-TW" sz="2400">
                <a:sym typeface="Symbol" panose="05050102010706020507" pitchFamily="18" charset="2"/>
              </a:rPr>
              <a:t>…y</a:t>
            </a:r>
            <a:r>
              <a:rPr lang="en-US" altLang="zh-TW" sz="2400" baseline="-25000">
                <a:sym typeface="Symbol" panose="05050102010706020507" pitchFamily="18" charset="2"/>
              </a:rPr>
              <a:t>m </a:t>
            </a:r>
            <a:r>
              <a:rPr lang="en-US" altLang="zh-TW" sz="2400">
                <a:sym typeface="Symbol" panose="05050102010706020507" pitchFamily="18" charset="2"/>
              </a:rPr>
              <a:t>(B</a:t>
            </a:r>
            <a:r>
              <a:rPr lang="en-US" altLang="zh-TW" sz="2400" baseline="-25000">
                <a:sym typeface="Symbol" panose="05050102010706020507" pitchFamily="18" charset="2"/>
              </a:rPr>
              <a:t>k</a:t>
            </a:r>
            <a:r>
              <a:rPr lang="en-US" altLang="zh-TW" sz="2400">
                <a:sym typeface="Symbol" panose="05050102010706020507" pitchFamily="18" charset="2"/>
              </a:rPr>
              <a:t>)),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   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no simulation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</a:pPr>
            <a:r>
              <a:rPr lang="en-US" altLang="zh-TW" sz="2400">
                <a:sym typeface="Symbol" panose="05050102010706020507" pitchFamily="18" charset="2"/>
              </a:rPr>
              <a:t>else return ‘</a:t>
            </a:r>
            <a:r>
              <a:rPr lang="en-US" altLang="zh-TW" sz="2400">
                <a:solidFill>
                  <a:srgbClr val="FF0000"/>
                </a:solidFill>
                <a:sym typeface="Symbol" panose="05050102010706020507" pitchFamily="18" charset="2"/>
              </a:rPr>
              <a:t>a simulation exists</a:t>
            </a:r>
            <a:r>
              <a:rPr lang="en-US" altLang="zh-TW" sz="2400">
                <a:sym typeface="Symbol" panose="05050102010706020507" pitchFamily="18" charset="2"/>
              </a:rPr>
              <a:t>’; </a:t>
            </a:r>
          </a:p>
        </p:txBody>
      </p:sp>
      <p:sp>
        <p:nvSpPr>
          <p:cNvPr id="5" name="矩形圖說文字 4">
            <a:extLst>
              <a:ext uri="{FF2B5EF4-FFF2-40B4-BE49-F238E27FC236}">
                <a16:creationId xmlns:a16="http://schemas.microsoft.com/office/drawing/2014/main" id="{6BC4D33D-2A48-4C45-BA07-9A36C1A63A2F}"/>
              </a:ext>
            </a:extLst>
          </p:cNvPr>
          <p:cNvSpPr/>
          <p:nvPr/>
        </p:nvSpPr>
        <p:spPr>
          <a:xfrm>
            <a:off x="6934200" y="4343400"/>
            <a:ext cx="1828800" cy="1450975"/>
          </a:xfrm>
          <a:prstGeom prst="wedgeRectCallout">
            <a:avLst>
              <a:gd name="adj1" fmla="val -229066"/>
              <a:gd name="adj2" fmla="val -478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000" dirty="0"/>
              <a:t>change all </a:t>
            </a:r>
            <a:r>
              <a:rPr lang="en-US" altLang="zh-TW" sz="2000" dirty="0" err="1"/>
              <a:t>umprimed</a:t>
            </a:r>
            <a:r>
              <a:rPr lang="en-US" altLang="zh-TW" sz="2000" dirty="0"/>
              <a:t> variable in B</a:t>
            </a:r>
            <a:r>
              <a:rPr lang="en-US" altLang="zh-TW" sz="2000" baseline="-25000" dirty="0"/>
              <a:t>k-1</a:t>
            </a:r>
            <a:r>
              <a:rPr lang="en-US" altLang="zh-TW" sz="2000" dirty="0"/>
              <a:t> to primed.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標題 1">
            <a:extLst>
              <a:ext uri="{FF2B5EF4-FFF2-40B4-BE49-F238E27FC236}">
                <a16:creationId xmlns:a16="http://schemas.microsoft.com/office/drawing/2014/main" id="{1DA1541F-723A-476D-8778-E3CA05A61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484355" name="內容版面配置區 2">
            <a:extLst>
              <a:ext uri="{FF2B5EF4-FFF2-40B4-BE49-F238E27FC236}">
                <a16:creationId xmlns:a16="http://schemas.microsoft.com/office/drawing/2014/main" id="{58159E66-6942-469C-AF24-C75A9A320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419600"/>
            <a:ext cx="8229600" cy="1711325"/>
          </a:xfrm>
        </p:spPr>
        <p:txBody>
          <a:bodyPr/>
          <a:lstStyle/>
          <a:p>
            <a:r>
              <a:rPr lang="en-US" altLang="zh-TW"/>
              <a:t>s(x,y)</a:t>
            </a:r>
            <a:r>
              <a:rPr lang="en-US" altLang="zh-TW">
                <a:sym typeface="Symbol" panose="05050102010706020507" pitchFamily="18" charset="2"/>
              </a:rPr>
              <a:t></a:t>
            </a:r>
            <a:r>
              <a:rPr lang="en-US" altLang="zh-TW"/>
              <a:t>true, s’(x,y,z)</a:t>
            </a:r>
            <a:r>
              <a:rPr lang="en-US" altLang="zh-TW">
                <a:sym typeface="Symbol" panose="05050102010706020507" pitchFamily="18" charset="2"/>
              </a:rPr>
              <a:t>  </a:t>
            </a:r>
            <a:r>
              <a:rPr lang="en-US" altLang="zh-TW"/>
              <a:t>z</a:t>
            </a:r>
            <a:r>
              <a:rPr lang="en-US" altLang="zh-TW">
                <a:sym typeface="Symbol" panose="05050102010706020507" pitchFamily="18" charset="2"/>
              </a:rPr>
              <a:t>(xyz)</a:t>
            </a:r>
          </a:p>
          <a:p>
            <a:r>
              <a:rPr lang="en-US" altLang="zh-TW">
                <a:sym typeface="Symbol" panose="05050102010706020507" pitchFamily="18" charset="2"/>
              </a:rPr>
              <a:t>i(x,y)  xy, i‘(x,y,z)  xyz</a:t>
            </a:r>
          </a:p>
          <a:p>
            <a:r>
              <a:rPr lang="en-US" altLang="zh-TW">
                <a:sym typeface="Symbol" panose="05050102010706020507" pitchFamily="18" charset="2"/>
              </a:rPr>
              <a:t>R(x,y,x’,y’)  ……, R’(x,y,z,x’,y’,z’)  ……</a:t>
            </a:r>
          </a:p>
        </p:txBody>
      </p:sp>
      <p:sp>
        <p:nvSpPr>
          <p:cNvPr id="484356" name="投影片編號版面配置區 3">
            <a:extLst>
              <a:ext uri="{FF2B5EF4-FFF2-40B4-BE49-F238E27FC236}">
                <a16:creationId xmlns:a16="http://schemas.microsoft.com/office/drawing/2014/main" id="{271A1EEF-D045-4A61-9819-37E10AD773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DDBC87-D247-49CF-B4C7-CDE7484022D3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236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grpSp>
        <p:nvGrpSpPr>
          <p:cNvPr id="484357" name="群組 34">
            <a:extLst>
              <a:ext uri="{FF2B5EF4-FFF2-40B4-BE49-F238E27FC236}">
                <a16:creationId xmlns:a16="http://schemas.microsoft.com/office/drawing/2014/main" id="{A0093267-24D5-40CD-8631-2323675FAEFD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828800"/>
            <a:ext cx="1905000" cy="2057400"/>
            <a:chOff x="1295400" y="1828800"/>
            <a:chExt cx="1905000" cy="20574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5B97ACF6-98F4-4CC7-917D-7C3F97110633}"/>
                </a:ext>
              </a:extLst>
            </p:cNvPr>
            <p:cNvSpPr/>
            <p:nvPr/>
          </p:nvSpPr>
          <p:spPr>
            <a:xfrm>
              <a:off x="1905000" y="1981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00</a:t>
              </a:r>
              <a:endParaRPr lang="zh-TW" altLang="en-US" dirty="0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2C33365F-6D6A-49A4-8D70-8D71600E70F1}"/>
                </a:ext>
              </a:extLst>
            </p:cNvPr>
            <p:cNvSpPr/>
            <p:nvPr/>
          </p:nvSpPr>
          <p:spPr>
            <a:xfrm>
              <a:off x="1905000" y="2743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01</a:t>
              </a:r>
              <a:endParaRPr lang="zh-TW" altLang="en-US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9B8C696-1B1C-4849-A47D-09FE75E1224E}"/>
                </a:ext>
              </a:extLst>
            </p:cNvPr>
            <p:cNvSpPr/>
            <p:nvPr/>
          </p:nvSpPr>
          <p:spPr>
            <a:xfrm>
              <a:off x="1295400" y="3505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10</a:t>
              </a:r>
              <a:endParaRPr lang="zh-TW" altLang="en-US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47633A91-E6BF-4DD5-935C-BDDFCED4D081}"/>
                </a:ext>
              </a:extLst>
            </p:cNvPr>
            <p:cNvSpPr/>
            <p:nvPr/>
          </p:nvSpPr>
          <p:spPr>
            <a:xfrm>
              <a:off x="2514600" y="3505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11</a:t>
              </a:r>
              <a:endParaRPr lang="zh-TW" altLang="en-US" dirty="0"/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B3C38F5A-07CB-4585-8C75-FE0EE20715C7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 rot="5400000">
              <a:off x="2057401" y="2552700"/>
              <a:ext cx="381000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9FA03C41-11C6-4E8A-B6C6-00C9DBB11B22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 rot="16200000" flipH="1">
              <a:off x="2455863" y="3103563"/>
              <a:ext cx="436562" cy="3667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418EEEA8-6471-45CC-A229-648D5CEFB53F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rot="5400000">
              <a:off x="1603376" y="3103562"/>
              <a:ext cx="436562" cy="366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弧形接點 17">
              <a:extLst>
                <a:ext uri="{FF2B5EF4-FFF2-40B4-BE49-F238E27FC236}">
                  <a16:creationId xmlns:a16="http://schemas.microsoft.com/office/drawing/2014/main" id="{6B86D86B-9A75-4AEE-94C1-83C060C1319A}"/>
                </a:ext>
              </a:extLst>
            </p:cNvPr>
            <p:cNvCxnSpPr>
              <a:stCxn id="8" idx="7"/>
              <a:endCxn id="5" idx="6"/>
            </p:cNvCxnSpPr>
            <p:nvPr/>
          </p:nvCxnSpPr>
          <p:spPr>
            <a:xfrm rot="16200000" flipV="1">
              <a:off x="2151062" y="2611438"/>
              <a:ext cx="1389063" cy="509588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弧形接點 17">
              <a:extLst>
                <a:ext uri="{FF2B5EF4-FFF2-40B4-BE49-F238E27FC236}">
                  <a16:creationId xmlns:a16="http://schemas.microsoft.com/office/drawing/2014/main" id="{7E921BB7-06AF-4107-A1A6-2025BC8E896E}"/>
                </a:ext>
              </a:extLst>
            </p:cNvPr>
            <p:cNvCxnSpPr>
              <a:stCxn id="7" idx="1"/>
              <a:endCxn id="5" idx="2"/>
            </p:cNvCxnSpPr>
            <p:nvPr/>
          </p:nvCxnSpPr>
          <p:spPr>
            <a:xfrm rot="5400000" flipH="1" flipV="1">
              <a:off x="955675" y="2611438"/>
              <a:ext cx="1389063" cy="509587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D6354414-14C0-4DBE-A010-FDE5938D614F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1752600" y="1828800"/>
              <a:ext cx="252413" cy="2079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橢圓 36">
            <a:extLst>
              <a:ext uri="{FF2B5EF4-FFF2-40B4-BE49-F238E27FC236}">
                <a16:creationId xmlns:a16="http://schemas.microsoft.com/office/drawing/2014/main" id="{93059E37-6B7D-49D5-B59E-5DD2BD731380}"/>
              </a:ext>
            </a:extLst>
          </p:cNvPr>
          <p:cNvSpPr/>
          <p:nvPr/>
        </p:nvSpPr>
        <p:spPr>
          <a:xfrm>
            <a:off x="5943600" y="1981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000</a:t>
            </a:r>
            <a:endParaRPr lang="zh-TW" altLang="en-US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E5A2C5B-ABBA-4259-8A43-3042511BBFE3}"/>
              </a:ext>
            </a:extLst>
          </p:cNvPr>
          <p:cNvSpPr/>
          <p:nvPr/>
        </p:nvSpPr>
        <p:spPr>
          <a:xfrm>
            <a:off x="5410200" y="2743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010</a:t>
            </a:r>
            <a:endParaRPr lang="zh-TW" altLang="en-US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E08C3454-2BEB-4CA4-BA25-628D76CB52E8}"/>
              </a:ext>
            </a:extLst>
          </p:cNvPr>
          <p:cNvSpPr/>
          <p:nvPr/>
        </p:nvSpPr>
        <p:spPr>
          <a:xfrm>
            <a:off x="5029200" y="3505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100</a:t>
            </a:r>
            <a:endParaRPr lang="zh-TW" altLang="en-US" dirty="0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FE241367-F2F2-4DD2-846D-BB5F58D09219}"/>
              </a:ext>
            </a:extLst>
          </p:cNvPr>
          <p:cNvSpPr/>
          <p:nvPr/>
        </p:nvSpPr>
        <p:spPr>
          <a:xfrm>
            <a:off x="6705600" y="3505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110</a:t>
            </a:r>
            <a:endParaRPr lang="zh-TW" altLang="en-US" dirty="0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B34E6A8-8877-4679-B58D-E1D473B0B723}"/>
              </a:ext>
            </a:extLst>
          </p:cNvPr>
          <p:cNvCxnSpPr>
            <a:stCxn id="37" idx="3"/>
            <a:endCxn id="38" idx="0"/>
          </p:cNvCxnSpPr>
          <p:nvPr/>
        </p:nvCxnSpPr>
        <p:spPr>
          <a:xfrm rot="5400000">
            <a:off x="5729288" y="2406650"/>
            <a:ext cx="436562" cy="2365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8D4D46F-8DD3-4B8D-BB61-CA1FB621E6E5}"/>
              </a:ext>
            </a:extLst>
          </p:cNvPr>
          <p:cNvCxnSpPr>
            <a:stCxn id="50" idx="4"/>
            <a:endCxn id="40" idx="0"/>
          </p:cNvCxnSpPr>
          <p:nvPr/>
        </p:nvCxnSpPr>
        <p:spPr>
          <a:xfrm rot="16200000" flipH="1">
            <a:off x="6781800" y="3162300"/>
            <a:ext cx="381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F35FB415-9E12-4B80-9D12-13FB6EA4B5FF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rot="5400000">
            <a:off x="5448300" y="3124200"/>
            <a:ext cx="3810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弧形接點 17">
            <a:extLst>
              <a:ext uri="{FF2B5EF4-FFF2-40B4-BE49-F238E27FC236}">
                <a16:creationId xmlns:a16="http://schemas.microsoft.com/office/drawing/2014/main" id="{AE0D63DD-C629-4A0A-919C-7B4D569FB2EF}"/>
              </a:ext>
            </a:extLst>
          </p:cNvPr>
          <p:cNvCxnSpPr>
            <a:stCxn id="40" idx="7"/>
            <a:endCxn id="37" idx="6"/>
          </p:cNvCxnSpPr>
          <p:nvPr/>
        </p:nvCxnSpPr>
        <p:spPr>
          <a:xfrm rot="16200000" flipV="1">
            <a:off x="6407150" y="2546350"/>
            <a:ext cx="1389063" cy="639763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17">
            <a:extLst>
              <a:ext uri="{FF2B5EF4-FFF2-40B4-BE49-F238E27FC236}">
                <a16:creationId xmlns:a16="http://schemas.microsoft.com/office/drawing/2014/main" id="{222611E2-1059-4FED-8D50-9B98EE418626}"/>
              </a:ext>
            </a:extLst>
          </p:cNvPr>
          <p:cNvCxnSpPr>
            <a:stCxn id="39" idx="1"/>
            <a:endCxn id="37" idx="2"/>
          </p:cNvCxnSpPr>
          <p:nvPr/>
        </p:nvCxnSpPr>
        <p:spPr>
          <a:xfrm rot="5400000" flipH="1" flipV="1">
            <a:off x="4852987" y="2470151"/>
            <a:ext cx="1389063" cy="792162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561584A-B426-4908-8209-8C6BA25CEFB0}"/>
              </a:ext>
            </a:extLst>
          </p:cNvPr>
          <p:cNvCxnSpPr>
            <a:endCxn id="37" idx="1"/>
          </p:cNvCxnSpPr>
          <p:nvPr/>
        </p:nvCxnSpPr>
        <p:spPr>
          <a:xfrm>
            <a:off x="5791200" y="1828800"/>
            <a:ext cx="274638" cy="20796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25A940E7-EFB6-4E1C-B09C-B8D44DEADDD5}"/>
              </a:ext>
            </a:extLst>
          </p:cNvPr>
          <p:cNvSpPr/>
          <p:nvPr/>
        </p:nvSpPr>
        <p:spPr>
          <a:xfrm>
            <a:off x="6400800" y="2743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011</a:t>
            </a:r>
            <a:endParaRPr lang="zh-TW" altLang="en-US" dirty="0"/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3435FFA6-9A63-494C-9760-1064C242782D}"/>
              </a:ext>
            </a:extLst>
          </p:cNvPr>
          <p:cNvCxnSpPr>
            <a:stCxn id="37" idx="5"/>
            <a:endCxn id="50" idx="0"/>
          </p:cNvCxnSpPr>
          <p:nvPr/>
        </p:nvCxnSpPr>
        <p:spPr>
          <a:xfrm rot="16200000" flipH="1">
            <a:off x="6521451" y="2444750"/>
            <a:ext cx="436562" cy="16033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370" name="文字方塊 97">
            <a:extLst>
              <a:ext uri="{FF2B5EF4-FFF2-40B4-BE49-F238E27FC236}">
                <a16:creationId xmlns:a16="http://schemas.microsoft.com/office/drawing/2014/main" id="{FA1C465F-524B-4BE8-940A-106586057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371600"/>
            <a:ext cx="795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spec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{x,y,z}</a:t>
            </a:r>
            <a:endParaRPr lang="zh-TW" altLang="en-US" sz="1800"/>
          </a:p>
        </p:txBody>
      </p:sp>
      <p:sp>
        <p:nvSpPr>
          <p:cNvPr id="484371" name="文字方塊 98">
            <a:extLst>
              <a:ext uri="{FF2B5EF4-FFF2-40B4-BE49-F238E27FC236}">
                <a16:creationId xmlns:a16="http://schemas.microsoft.com/office/drawing/2014/main" id="{02FD8C68-8EC8-4D82-ADBE-3DBE32CBF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81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{x,y}</a:t>
            </a:r>
            <a:endParaRPr lang="zh-TW" altLang="en-US" sz="180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標題 1">
            <a:extLst>
              <a:ext uri="{FF2B5EF4-FFF2-40B4-BE49-F238E27FC236}">
                <a16:creationId xmlns:a16="http://schemas.microsoft.com/office/drawing/2014/main" id="{FC99B419-7832-4891-A989-3CD3EAD5A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485379" name="內容版面配置區 2">
            <a:extLst>
              <a:ext uri="{FF2B5EF4-FFF2-40B4-BE49-F238E27FC236}">
                <a16:creationId xmlns:a16="http://schemas.microsoft.com/office/drawing/2014/main" id="{6D40741D-69FF-434B-B69D-04D3EE896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267200"/>
            <a:ext cx="8229600" cy="2057400"/>
          </a:xfrm>
        </p:spPr>
        <p:txBody>
          <a:bodyPr/>
          <a:lstStyle/>
          <a:p>
            <a:r>
              <a:rPr lang="en-US" altLang="zh-TW" sz="2000">
                <a:sym typeface="Symbol" panose="05050102010706020507" pitchFamily="18" charset="2"/>
              </a:rPr>
              <a:t>R(x,y,x’,y’)  (xyx’y’) (xyx’y’)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000">
                <a:sym typeface="Symbol" panose="05050102010706020507" pitchFamily="18" charset="2"/>
              </a:rPr>
              <a:t>                        (xyx’y’) (xyx’y’) (xyx’y’) </a:t>
            </a:r>
          </a:p>
          <a:p>
            <a:r>
              <a:rPr lang="en-US" altLang="zh-TW" sz="2000">
                <a:sym typeface="Symbol" panose="05050102010706020507" pitchFamily="18" charset="2"/>
              </a:rPr>
              <a:t>R’(x,y,z,x’,y’,z’)  (xyzx’y’)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000">
                <a:sym typeface="Symbol" panose="05050102010706020507" pitchFamily="18" charset="2"/>
              </a:rPr>
              <a:t>                               (xy zx’y’z’) (xyzx’y’z’)       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000">
                <a:sym typeface="Symbol" panose="05050102010706020507" pitchFamily="18" charset="2"/>
              </a:rPr>
              <a:t>                              (xyz x’y’ z’) (xy zx’y’z’) </a:t>
            </a:r>
          </a:p>
          <a:p>
            <a:endParaRPr lang="en-US" altLang="zh-TW" sz="2000">
              <a:sym typeface="Symbol" panose="05050102010706020507" pitchFamily="18" charset="2"/>
            </a:endParaRPr>
          </a:p>
        </p:txBody>
      </p:sp>
      <p:sp>
        <p:nvSpPr>
          <p:cNvPr id="485380" name="投影片編號版面配置區 3">
            <a:extLst>
              <a:ext uri="{FF2B5EF4-FFF2-40B4-BE49-F238E27FC236}">
                <a16:creationId xmlns:a16="http://schemas.microsoft.com/office/drawing/2014/main" id="{32DC06C9-3927-455A-8903-3CA66BAE1E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BEFDE1-47B9-481C-8B82-7B7955D784BF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237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grpSp>
        <p:nvGrpSpPr>
          <p:cNvPr id="485381" name="群組 34">
            <a:extLst>
              <a:ext uri="{FF2B5EF4-FFF2-40B4-BE49-F238E27FC236}">
                <a16:creationId xmlns:a16="http://schemas.microsoft.com/office/drawing/2014/main" id="{2FDBAB4A-899D-41C9-A1C1-091AB78992A7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828800"/>
            <a:ext cx="1905000" cy="2057400"/>
            <a:chOff x="1295400" y="1828800"/>
            <a:chExt cx="1905000" cy="20574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FFFAC05-9528-4C96-A070-6210A86A48EB}"/>
                </a:ext>
              </a:extLst>
            </p:cNvPr>
            <p:cNvSpPr/>
            <p:nvPr/>
          </p:nvSpPr>
          <p:spPr>
            <a:xfrm>
              <a:off x="1905000" y="1981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00</a:t>
              </a:r>
              <a:endParaRPr lang="zh-TW" altLang="en-US" dirty="0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E482A01B-D88D-4DDF-A59D-31848C0D130B}"/>
                </a:ext>
              </a:extLst>
            </p:cNvPr>
            <p:cNvSpPr/>
            <p:nvPr/>
          </p:nvSpPr>
          <p:spPr>
            <a:xfrm>
              <a:off x="1905000" y="2743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01</a:t>
              </a:r>
              <a:endParaRPr lang="zh-TW" altLang="en-US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D134CFF7-1AFB-4739-B67A-8AC9A162C255}"/>
                </a:ext>
              </a:extLst>
            </p:cNvPr>
            <p:cNvSpPr/>
            <p:nvPr/>
          </p:nvSpPr>
          <p:spPr>
            <a:xfrm>
              <a:off x="1295400" y="3505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10</a:t>
              </a:r>
              <a:endParaRPr lang="zh-TW" altLang="en-US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A5BEF73-4AE6-400C-8AEB-BEECD5714B19}"/>
                </a:ext>
              </a:extLst>
            </p:cNvPr>
            <p:cNvSpPr/>
            <p:nvPr/>
          </p:nvSpPr>
          <p:spPr>
            <a:xfrm>
              <a:off x="2514600" y="3505200"/>
              <a:ext cx="6858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TW" dirty="0"/>
                <a:t>11</a:t>
              </a:r>
              <a:endParaRPr lang="zh-TW" altLang="en-US" dirty="0"/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23B91923-8DD6-495E-A815-6568FBFF76E4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 rot="5400000">
              <a:off x="2057401" y="2552700"/>
              <a:ext cx="381000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6A1EB8D0-D53D-497F-B015-F23DBADD49D5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 rot="16200000" flipH="1">
              <a:off x="2455863" y="3103563"/>
              <a:ext cx="436562" cy="3667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3C548DC2-23BA-4499-ADCE-CA21A97D6305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rot="5400000">
              <a:off x="1603376" y="3103562"/>
              <a:ext cx="436562" cy="366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弧形接點 17">
              <a:extLst>
                <a:ext uri="{FF2B5EF4-FFF2-40B4-BE49-F238E27FC236}">
                  <a16:creationId xmlns:a16="http://schemas.microsoft.com/office/drawing/2014/main" id="{475ECA2D-6CCE-4A7E-9C7F-6A43AA9A2514}"/>
                </a:ext>
              </a:extLst>
            </p:cNvPr>
            <p:cNvCxnSpPr>
              <a:stCxn id="8" idx="7"/>
              <a:endCxn id="5" idx="6"/>
            </p:cNvCxnSpPr>
            <p:nvPr/>
          </p:nvCxnSpPr>
          <p:spPr>
            <a:xfrm rot="16200000" flipV="1">
              <a:off x="2151062" y="2611438"/>
              <a:ext cx="1389063" cy="509588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弧形接點 17">
              <a:extLst>
                <a:ext uri="{FF2B5EF4-FFF2-40B4-BE49-F238E27FC236}">
                  <a16:creationId xmlns:a16="http://schemas.microsoft.com/office/drawing/2014/main" id="{E3E286A3-D88E-41B4-AC7E-D2CE7562F0CE}"/>
                </a:ext>
              </a:extLst>
            </p:cNvPr>
            <p:cNvCxnSpPr>
              <a:stCxn id="7" idx="1"/>
              <a:endCxn id="5" idx="2"/>
            </p:cNvCxnSpPr>
            <p:nvPr/>
          </p:nvCxnSpPr>
          <p:spPr>
            <a:xfrm rot="5400000" flipH="1" flipV="1">
              <a:off x="955675" y="2611438"/>
              <a:ext cx="1389063" cy="509587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F5CF97E7-D95F-4509-9FF2-B99DA1526285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1752600" y="1828800"/>
              <a:ext cx="252413" cy="2079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橢圓 36">
            <a:extLst>
              <a:ext uri="{FF2B5EF4-FFF2-40B4-BE49-F238E27FC236}">
                <a16:creationId xmlns:a16="http://schemas.microsoft.com/office/drawing/2014/main" id="{20E1B17B-D443-4F70-8955-030B68A46643}"/>
              </a:ext>
            </a:extLst>
          </p:cNvPr>
          <p:cNvSpPr/>
          <p:nvPr/>
        </p:nvSpPr>
        <p:spPr>
          <a:xfrm>
            <a:off x="5943600" y="1981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000</a:t>
            </a:r>
            <a:endParaRPr lang="zh-TW" altLang="en-US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8A68E068-CC47-4A19-BBD9-0B4F5FB3C3A0}"/>
              </a:ext>
            </a:extLst>
          </p:cNvPr>
          <p:cNvSpPr/>
          <p:nvPr/>
        </p:nvSpPr>
        <p:spPr>
          <a:xfrm>
            <a:off x="5410200" y="2743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010</a:t>
            </a:r>
            <a:endParaRPr lang="zh-TW" altLang="en-US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33BCFC1-C7AE-45A4-A5ED-1EB40A1F9B4A}"/>
              </a:ext>
            </a:extLst>
          </p:cNvPr>
          <p:cNvSpPr/>
          <p:nvPr/>
        </p:nvSpPr>
        <p:spPr>
          <a:xfrm>
            <a:off x="5029200" y="3505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100</a:t>
            </a:r>
            <a:endParaRPr lang="zh-TW" altLang="en-US" dirty="0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F0BF573B-865F-4438-81D7-6A246ED592C5}"/>
              </a:ext>
            </a:extLst>
          </p:cNvPr>
          <p:cNvSpPr/>
          <p:nvPr/>
        </p:nvSpPr>
        <p:spPr>
          <a:xfrm>
            <a:off x="6705600" y="3505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110</a:t>
            </a:r>
            <a:endParaRPr lang="zh-TW" altLang="en-US" dirty="0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E1F4488-77AE-410F-A020-E12CE0125C0C}"/>
              </a:ext>
            </a:extLst>
          </p:cNvPr>
          <p:cNvCxnSpPr>
            <a:stCxn id="37" idx="3"/>
            <a:endCxn id="38" idx="0"/>
          </p:cNvCxnSpPr>
          <p:nvPr/>
        </p:nvCxnSpPr>
        <p:spPr>
          <a:xfrm rot="5400000">
            <a:off x="5729288" y="2406650"/>
            <a:ext cx="436562" cy="2365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FF0534E7-990B-4FAA-92DE-19A6C3C4EBDF}"/>
              </a:ext>
            </a:extLst>
          </p:cNvPr>
          <p:cNvCxnSpPr>
            <a:stCxn id="50" idx="4"/>
            <a:endCxn id="40" idx="0"/>
          </p:cNvCxnSpPr>
          <p:nvPr/>
        </p:nvCxnSpPr>
        <p:spPr>
          <a:xfrm rot="16200000" flipH="1">
            <a:off x="6781800" y="3162300"/>
            <a:ext cx="381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F379774A-C027-44BE-96BB-86CA2933A813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rot="5400000">
            <a:off x="5448300" y="3124200"/>
            <a:ext cx="3810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弧形接點 17">
            <a:extLst>
              <a:ext uri="{FF2B5EF4-FFF2-40B4-BE49-F238E27FC236}">
                <a16:creationId xmlns:a16="http://schemas.microsoft.com/office/drawing/2014/main" id="{7D165D0F-E53D-4D93-94D9-807723D8680D}"/>
              </a:ext>
            </a:extLst>
          </p:cNvPr>
          <p:cNvCxnSpPr>
            <a:stCxn id="40" idx="7"/>
            <a:endCxn id="37" idx="6"/>
          </p:cNvCxnSpPr>
          <p:nvPr/>
        </p:nvCxnSpPr>
        <p:spPr>
          <a:xfrm rot="16200000" flipV="1">
            <a:off x="6407150" y="2546350"/>
            <a:ext cx="1389063" cy="639763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17">
            <a:extLst>
              <a:ext uri="{FF2B5EF4-FFF2-40B4-BE49-F238E27FC236}">
                <a16:creationId xmlns:a16="http://schemas.microsoft.com/office/drawing/2014/main" id="{94908450-9F48-406B-B795-159A45209FE6}"/>
              </a:ext>
            </a:extLst>
          </p:cNvPr>
          <p:cNvCxnSpPr>
            <a:stCxn id="39" idx="1"/>
            <a:endCxn id="37" idx="2"/>
          </p:cNvCxnSpPr>
          <p:nvPr/>
        </p:nvCxnSpPr>
        <p:spPr>
          <a:xfrm rot="5400000" flipH="1" flipV="1">
            <a:off x="4852987" y="2470151"/>
            <a:ext cx="1389063" cy="792162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D445E61-8A21-4725-A52E-371A207B767B}"/>
              </a:ext>
            </a:extLst>
          </p:cNvPr>
          <p:cNvCxnSpPr>
            <a:endCxn id="37" idx="1"/>
          </p:cNvCxnSpPr>
          <p:nvPr/>
        </p:nvCxnSpPr>
        <p:spPr>
          <a:xfrm>
            <a:off x="5791200" y="1828800"/>
            <a:ext cx="274638" cy="20796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8E22AAAE-E228-46BF-A45C-C00BEC91B652}"/>
              </a:ext>
            </a:extLst>
          </p:cNvPr>
          <p:cNvSpPr/>
          <p:nvPr/>
        </p:nvSpPr>
        <p:spPr>
          <a:xfrm>
            <a:off x="6400800" y="2743200"/>
            <a:ext cx="838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dirty="0"/>
              <a:t>011</a:t>
            </a:r>
            <a:endParaRPr lang="zh-TW" altLang="en-US" dirty="0"/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77F65842-E350-4C70-A9AC-CC051BC1565A}"/>
              </a:ext>
            </a:extLst>
          </p:cNvPr>
          <p:cNvCxnSpPr>
            <a:stCxn id="37" idx="5"/>
            <a:endCxn id="50" idx="0"/>
          </p:cNvCxnSpPr>
          <p:nvPr/>
        </p:nvCxnSpPr>
        <p:spPr>
          <a:xfrm rot="16200000" flipH="1">
            <a:off x="6521451" y="2444750"/>
            <a:ext cx="436562" cy="16033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394" name="文字方塊 97">
            <a:extLst>
              <a:ext uri="{FF2B5EF4-FFF2-40B4-BE49-F238E27FC236}">
                <a16:creationId xmlns:a16="http://schemas.microsoft.com/office/drawing/2014/main" id="{21DA971C-CBAC-4274-9243-E7566E0B7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371600"/>
            <a:ext cx="795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spec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{x,y,z}</a:t>
            </a:r>
            <a:endParaRPr lang="zh-TW" altLang="en-US" sz="1800"/>
          </a:p>
        </p:txBody>
      </p:sp>
      <p:sp>
        <p:nvSpPr>
          <p:cNvPr id="485395" name="文字方塊 98">
            <a:extLst>
              <a:ext uri="{FF2B5EF4-FFF2-40B4-BE49-F238E27FC236}">
                <a16:creationId xmlns:a16="http://schemas.microsoft.com/office/drawing/2014/main" id="{2B9F3DDD-38C0-45E5-82BA-073891499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81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model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{x,y}</a:t>
            </a:r>
            <a:endParaRPr lang="zh-TW" altLang="en-US" sz="180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標題 1">
            <a:extLst>
              <a:ext uri="{FF2B5EF4-FFF2-40B4-BE49-F238E27FC236}">
                <a16:creationId xmlns:a16="http://schemas.microsoft.com/office/drawing/2014/main" id="{46E8FA9B-2A49-431B-B72F-7557084A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D79B60-697B-40D3-ABD9-996A0111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/>
              <a:t>B</a:t>
            </a:r>
            <a:r>
              <a:rPr lang="en-US" altLang="zh-TW" sz="2000" baseline="-25000" dirty="0"/>
              <a:t>0 </a:t>
            </a:r>
            <a:r>
              <a:rPr lang="en-US" altLang="zh-TW" sz="2000" dirty="0"/>
              <a:t>= s(x,y)</a:t>
            </a:r>
            <a:r>
              <a:rPr lang="en-US" altLang="zh-TW" sz="2000" dirty="0">
                <a:sym typeface="Symbol"/>
              </a:rPr>
              <a:t></a:t>
            </a:r>
            <a:r>
              <a:rPr lang="en-US" altLang="zh-TW" sz="2000" dirty="0"/>
              <a:t>s’(</a:t>
            </a:r>
            <a:r>
              <a:rPr lang="en-US" altLang="zh-TW" sz="2000" dirty="0" err="1"/>
              <a:t>x,y,z</a:t>
            </a:r>
            <a:r>
              <a:rPr lang="en-US" altLang="zh-TW" sz="2000" dirty="0"/>
              <a:t>) = 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/>
              <a:t>B</a:t>
            </a:r>
            <a:r>
              <a:rPr lang="en-US" altLang="zh-TW" sz="2000" baseline="-25000" dirty="0"/>
              <a:t>1 </a:t>
            </a:r>
            <a:r>
              <a:rPr lang="en-US" altLang="zh-TW" sz="2000" dirty="0"/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((xy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(</a:t>
            </a:r>
            <a:r>
              <a:rPr lang="en-US" altLang="zh-TW" sz="2000" dirty="0" err="1">
                <a:sym typeface="Symbol"/>
              </a:rPr>
              <a:t>xyx</a:t>
            </a:r>
            <a:r>
              <a:rPr lang="en-US" altLang="zh-TW" sz="2000" dirty="0">
                <a:sym typeface="Symbol"/>
              </a:rPr>
              <a:t>’y’)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  (</a:t>
            </a:r>
            <a:r>
              <a:rPr lang="en-US" altLang="zh-TW" sz="2000" dirty="0" err="1">
                <a:sym typeface="Symbol"/>
              </a:rPr>
              <a:t>xyx’y</a:t>
            </a:r>
            <a:r>
              <a:rPr lang="en-US" altLang="zh-TW" sz="2000" dirty="0">
                <a:sym typeface="Symbol"/>
              </a:rPr>
              <a:t>’) (xyx’y’)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x’y’)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 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          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x’y’z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                </a:t>
            </a:r>
            <a:r>
              <a:rPr lang="en-US" altLang="zh-TW" sz="2000" dirty="0">
                <a:sym typeface="Symbol"/>
              </a:rPr>
              <a:t>(   (xyz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 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</a:t>
            </a:r>
            <a:r>
              <a:rPr lang="en-US" altLang="zh-TW" sz="2000" dirty="0" err="1">
                <a:sym typeface="Symbol"/>
              </a:rPr>
              <a:t>zx</a:t>
            </a:r>
            <a:r>
              <a:rPr lang="en-US" altLang="zh-TW" sz="2000" dirty="0">
                <a:sym typeface="Symbol"/>
              </a:rPr>
              <a:t>’y’z’) (</a:t>
            </a:r>
            <a:r>
              <a:rPr lang="en-US" altLang="zh-TW" sz="2000" dirty="0" err="1">
                <a:sym typeface="Symbol"/>
              </a:rPr>
              <a:t>xyzx’y</a:t>
            </a:r>
            <a:r>
              <a:rPr lang="en-US" altLang="zh-TW" sz="2000" dirty="0">
                <a:sym typeface="Symbol"/>
              </a:rPr>
              <a:t>’z’)                     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 (xyz x’y’ z’)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zx’y’z’)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                 )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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z’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x’y’z</a:t>
            </a:r>
            <a:r>
              <a:rPr lang="en-US" altLang="zh-TW" sz="2000" dirty="0">
                <a:sym typeface="Symbol"/>
              </a:rPr>
              <a:t>’))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((xy z 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 (</a:t>
            </a:r>
            <a:r>
              <a:rPr lang="en-US" altLang="zh-TW" sz="2000" dirty="0" err="1">
                <a:sym typeface="Symbol"/>
              </a:rPr>
              <a:t>xyx’y</a:t>
            </a:r>
            <a:r>
              <a:rPr lang="en-US" altLang="zh-TW" sz="2000" dirty="0">
                <a:sym typeface="Symbol"/>
              </a:rPr>
              <a:t>’)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                     (xy z x’y’)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z x’y’)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((xy z)(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)(xy z)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en-US" altLang="zh-TW" sz="2000" dirty="0">
              <a:sym typeface="Symbol"/>
            </a:endParaRPr>
          </a:p>
        </p:txBody>
      </p:sp>
      <p:sp>
        <p:nvSpPr>
          <p:cNvPr id="486404" name="投影片編號版面配置區 3">
            <a:extLst>
              <a:ext uri="{FF2B5EF4-FFF2-40B4-BE49-F238E27FC236}">
                <a16:creationId xmlns:a16="http://schemas.microsoft.com/office/drawing/2014/main" id="{7B06B440-7652-41A4-821B-B77D8CC89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FA410C-C325-4E0A-8016-0CE0ED389B72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238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標題 1">
            <a:extLst>
              <a:ext uri="{FF2B5EF4-FFF2-40B4-BE49-F238E27FC236}">
                <a16:creationId xmlns:a16="http://schemas.microsoft.com/office/drawing/2014/main" id="{5BE1DD08-3D93-4522-8174-711AA90A7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8E612-7E2A-4021-972F-FD4995206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/>
              <a:t>B</a:t>
            </a:r>
            <a:r>
              <a:rPr lang="en-US" altLang="zh-TW" sz="2000" baseline="-25000" dirty="0"/>
              <a:t>1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((xy z)(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)(xy z)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((xy z)(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)(xy z)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(z(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z)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(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(z)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ym typeface="Symbol"/>
              </a:rPr>
              <a:t>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z)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xy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 </a:t>
            </a:r>
            <a:r>
              <a:rPr lang="en-US" altLang="zh-TW" sz="2000" dirty="0"/>
              <a:t>z)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en-US" altLang="zh-TW" sz="2000" dirty="0">
              <a:sym typeface="Symbol"/>
            </a:endParaRPr>
          </a:p>
        </p:txBody>
      </p:sp>
      <p:sp>
        <p:nvSpPr>
          <p:cNvPr id="487428" name="投影片編號版面配置區 3">
            <a:extLst>
              <a:ext uri="{FF2B5EF4-FFF2-40B4-BE49-F238E27FC236}">
                <a16:creationId xmlns:a16="http://schemas.microsoft.com/office/drawing/2014/main" id="{1DB2714E-988A-40D2-819D-2E619BB0F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F0F77A-3A68-407F-A248-9A01D600F04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239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標題 1">
            <a:extLst>
              <a:ext uri="{FF2B5EF4-FFF2-40B4-BE49-F238E27FC236}">
                <a16:creationId xmlns:a16="http://schemas.microsoft.com/office/drawing/2014/main" id="{A66378D6-D482-407E-A229-E283F93A4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579E97-8F8B-4D93-8419-A3D9D059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686800" cy="4378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/>
              <a:t>B</a:t>
            </a:r>
            <a:r>
              <a:rPr lang="en-US" altLang="zh-TW" sz="2000" baseline="-25000" dirty="0"/>
              <a:t>2 </a:t>
            </a:r>
            <a:r>
              <a:rPr lang="en-US" altLang="zh-TW" sz="2000" dirty="0"/>
              <a:t>= (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xy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 </a:t>
            </a:r>
            <a:r>
              <a:rPr lang="en-US" altLang="zh-TW" sz="2000" dirty="0"/>
              <a:t>z) </a:t>
            </a:r>
            <a:r>
              <a:rPr lang="en-US" altLang="zh-TW" sz="2000" dirty="0">
                <a:sym typeface="Symbol"/>
              </a:rPr>
              <a:t>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((xy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(</a:t>
            </a:r>
            <a:r>
              <a:rPr lang="en-US" altLang="zh-TW" sz="2000" dirty="0" err="1">
                <a:sym typeface="Symbol"/>
              </a:rPr>
              <a:t>xyx</a:t>
            </a:r>
            <a:r>
              <a:rPr lang="en-US" altLang="zh-TW" sz="2000" dirty="0">
                <a:sym typeface="Symbol"/>
              </a:rPr>
              <a:t>’y’)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  (</a:t>
            </a:r>
            <a:r>
              <a:rPr lang="en-US" altLang="zh-TW" sz="2000" dirty="0" err="1">
                <a:sym typeface="Symbol"/>
              </a:rPr>
              <a:t>xyx’y</a:t>
            </a:r>
            <a:r>
              <a:rPr lang="en-US" altLang="zh-TW" sz="2000" dirty="0">
                <a:sym typeface="Symbol"/>
              </a:rPr>
              <a:t>’) (xyx’y’)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x’y’)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 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          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x’y’z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                </a:t>
            </a:r>
            <a:r>
              <a:rPr lang="en-US" altLang="zh-TW" sz="2000" dirty="0">
                <a:sym typeface="Symbol"/>
              </a:rPr>
              <a:t>(   (xyz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 (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</a:t>
            </a:r>
            <a:r>
              <a:rPr lang="en-US" altLang="zh-TW" sz="2000" dirty="0" err="1">
                <a:sym typeface="Symbol"/>
              </a:rPr>
              <a:t>zx</a:t>
            </a:r>
            <a:r>
              <a:rPr lang="en-US" altLang="zh-TW" sz="2000" dirty="0">
                <a:sym typeface="Symbol"/>
              </a:rPr>
              <a:t>’y’z’) (</a:t>
            </a:r>
            <a:r>
              <a:rPr lang="en-US" altLang="zh-TW" sz="2000" dirty="0" err="1">
                <a:sym typeface="Symbol"/>
              </a:rPr>
              <a:t>xyzx’y</a:t>
            </a:r>
            <a:r>
              <a:rPr lang="en-US" altLang="zh-TW" sz="2000" dirty="0">
                <a:sym typeface="Symbol"/>
              </a:rPr>
              <a:t>’z’)                     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 (xyz x’y’ z’) (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zx’y’z’) 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                 )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 (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x’y’</a:t>
            </a:r>
            <a:r>
              <a:rPr lang="en-US" altLang="zh-TW" sz="2000" dirty="0"/>
              <a:t>z’)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000" dirty="0">
                <a:sym typeface="Symbol"/>
              </a:rPr>
              <a:t>x’ y’</a:t>
            </a:r>
            <a:r>
              <a:rPr lang="en-US" altLang="zh-TW" sz="2000" dirty="0"/>
              <a:t>z’)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  </a:t>
            </a:r>
            <a:r>
              <a:rPr lang="en-US" altLang="zh-TW" sz="2000" dirty="0"/>
              <a:t>z’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= ((</a:t>
            </a:r>
            <a:r>
              <a:rPr lang="en-US" altLang="zh-TW" sz="2000" dirty="0">
                <a:sym typeface="Symbol"/>
              </a:rPr>
              <a:t>xy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 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 </a:t>
            </a:r>
            <a:r>
              <a:rPr lang="en-US" altLang="zh-TW" sz="2000" dirty="0" err="1">
                <a:solidFill>
                  <a:srgbClr val="0000FF"/>
                </a:solidFill>
                <a:sym typeface="Symbol" pitchFamily="18" charset="2"/>
              </a:rPr>
              <a:t>x’y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’</a:t>
            </a:r>
            <a:r>
              <a:rPr lang="en-US" altLang="zh-TW" sz="2000" baseline="-25000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ym typeface="Symbol"/>
              </a:rPr>
              <a:t>                      ((xy</a:t>
            </a:r>
            <a:r>
              <a:rPr lang="en-US" altLang="zh-TW" sz="2000" dirty="0" err="1">
                <a:sym typeface="Symbol"/>
              </a:rPr>
              <a:t>x’y</a:t>
            </a:r>
            <a:r>
              <a:rPr lang="en-US" altLang="zh-TW" sz="2000" dirty="0">
                <a:sym typeface="Symbol"/>
              </a:rPr>
              <a:t>’) (x</a:t>
            </a:r>
            <a:r>
              <a:rPr lang="en-US" altLang="zh-TW" sz="2000" dirty="0" err="1">
                <a:sym typeface="Symbol"/>
              </a:rPr>
              <a:t>yz</a:t>
            </a:r>
            <a:r>
              <a:rPr lang="en-US" altLang="zh-TW" sz="2000" dirty="0">
                <a:sym typeface="Symbol"/>
              </a:rPr>
              <a:t>x’y’) (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x’y’)))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((</a:t>
            </a:r>
            <a:r>
              <a:rPr lang="en-US" altLang="zh-TW" sz="2000" dirty="0">
                <a:sym typeface="Symbol"/>
              </a:rPr>
              <a:t>xy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(xy)(x</a:t>
            </a:r>
            <a:r>
              <a:rPr lang="en-US" altLang="zh-TW" sz="2000" dirty="0" err="1">
                <a:sym typeface="Symbol"/>
              </a:rPr>
              <a:t>yz</a:t>
            </a:r>
            <a:r>
              <a:rPr lang="en-US" altLang="zh-TW" sz="2000" dirty="0">
                <a:sym typeface="Symbol"/>
              </a:rPr>
              <a:t>)(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en-US" altLang="zh-TW" sz="2000" dirty="0">
              <a:sym typeface="Symbol"/>
            </a:endParaRPr>
          </a:p>
        </p:txBody>
      </p:sp>
      <p:sp>
        <p:nvSpPr>
          <p:cNvPr id="488452" name="投影片編號版面配置區 3">
            <a:extLst>
              <a:ext uri="{FF2B5EF4-FFF2-40B4-BE49-F238E27FC236}">
                <a16:creationId xmlns:a16="http://schemas.microsoft.com/office/drawing/2014/main" id="{17ADF130-B4A4-4C91-BA2D-BABD662FF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FA0EF3-32DA-4C12-8E61-E922A196EA37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240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標題 1">
            <a:extLst>
              <a:ext uri="{FF2B5EF4-FFF2-40B4-BE49-F238E27FC236}">
                <a16:creationId xmlns:a16="http://schemas.microsoft.com/office/drawing/2014/main" id="{C01A1B52-F9FE-401C-9E3B-888C79F94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Symbolic simulation-checking</a:t>
            </a:r>
            <a:br>
              <a:rPr lang="en-US" altLang="zh-TW"/>
            </a:br>
            <a:r>
              <a:rPr lang="en-US" altLang="zh-TW"/>
              <a:t>- an example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FF082D-E14B-4AD4-96A3-6609EA4CA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686800" cy="4378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/>
              <a:t>B</a:t>
            </a:r>
            <a:r>
              <a:rPr lang="en-US" altLang="zh-TW" sz="2000" baseline="-25000" dirty="0"/>
              <a:t>2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((</a:t>
            </a:r>
            <a:r>
              <a:rPr lang="en-US" altLang="zh-TW" sz="2000" dirty="0">
                <a:sym typeface="Symbol"/>
              </a:rPr>
              <a:t>xy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))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000" dirty="0">
                <a:solidFill>
                  <a:srgbClr val="0000FF"/>
                </a:solidFill>
                <a:sym typeface="Symbol"/>
              </a:rPr>
              <a:t>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>
                <a:sym typeface="Symbol"/>
              </a:rPr>
              <a:t>(xy)(x</a:t>
            </a:r>
            <a:r>
              <a:rPr lang="en-US" altLang="zh-TW" sz="2000" dirty="0" err="1">
                <a:sym typeface="Symbol"/>
              </a:rPr>
              <a:t>yz</a:t>
            </a:r>
            <a:r>
              <a:rPr lang="en-US" altLang="zh-TW" sz="2000" dirty="0">
                <a:sym typeface="Symbol"/>
              </a:rPr>
              <a:t>)(</a:t>
            </a:r>
            <a:r>
              <a:rPr lang="en-US" altLang="zh-TW" sz="2000" dirty="0" err="1">
                <a:sym typeface="Symbol"/>
              </a:rPr>
              <a:t>xyz</a:t>
            </a:r>
            <a:r>
              <a:rPr lang="en-US" altLang="zh-TW" sz="2000" dirty="0">
                <a:sym typeface="Symbol"/>
              </a:rPr>
              <a:t>)))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= (</a:t>
            </a:r>
            <a:r>
              <a:rPr lang="en-US" altLang="zh-TW" sz="2000" dirty="0">
                <a:sym typeface="Symbol"/>
              </a:rPr>
              <a:t>x y</a:t>
            </a:r>
            <a:r>
              <a:rPr lang="en-US" altLang="zh-TW" sz="2000" dirty="0"/>
              <a:t>z)</a:t>
            </a:r>
            <a:r>
              <a:rPr lang="en-US" altLang="zh-TW" sz="2000" dirty="0">
                <a:sym typeface="Symbol"/>
              </a:rPr>
              <a:t></a:t>
            </a:r>
            <a:r>
              <a:rPr lang="en-US" altLang="zh-TW" sz="2000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altLang="zh-TW" sz="2000" dirty="0" err="1">
                <a:sym typeface="Symbol"/>
              </a:rPr>
              <a:t>xy</a:t>
            </a:r>
            <a:r>
              <a:rPr lang="en-US" altLang="zh-TW" sz="2000" dirty="0">
                <a:sym typeface="Symbol"/>
              </a:rPr>
              <a:t> </a:t>
            </a:r>
            <a:r>
              <a:rPr lang="en-US" altLang="zh-TW" sz="2000" dirty="0"/>
              <a:t>z</a:t>
            </a:r>
            <a:r>
              <a:rPr lang="en-US" altLang="zh-TW" sz="2000" dirty="0">
                <a:sym typeface="Symbol"/>
              </a:rPr>
              <a:t>)</a:t>
            </a: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en-US" altLang="zh-TW" sz="2000" dirty="0">
              <a:sym typeface="Symbol"/>
            </a:endParaRPr>
          </a:p>
        </p:txBody>
      </p:sp>
      <p:sp>
        <p:nvSpPr>
          <p:cNvPr id="489476" name="投影片編號版面配置區 3">
            <a:extLst>
              <a:ext uri="{FF2B5EF4-FFF2-40B4-BE49-F238E27FC236}">
                <a16:creationId xmlns:a16="http://schemas.microsoft.com/office/drawing/2014/main" id="{4517AEB3-B4CD-4C12-88C9-FAFA6125E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9C8F9E-074A-40C1-92B9-DD29EE64EE75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241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  <p:sp>
        <p:nvSpPr>
          <p:cNvPr id="5" name="橢圓形圖說文字 4">
            <a:extLst>
              <a:ext uri="{FF2B5EF4-FFF2-40B4-BE49-F238E27FC236}">
                <a16:creationId xmlns:a16="http://schemas.microsoft.com/office/drawing/2014/main" id="{C0265E4C-7FF7-4BDF-9E24-B5F418A12984}"/>
              </a:ext>
            </a:extLst>
          </p:cNvPr>
          <p:cNvSpPr/>
          <p:nvPr/>
        </p:nvSpPr>
        <p:spPr>
          <a:xfrm>
            <a:off x="4114800" y="4038600"/>
            <a:ext cx="4419600" cy="1371600"/>
          </a:xfrm>
          <a:prstGeom prst="wedgeEllipseCallout">
            <a:avLst>
              <a:gd name="adj1" fmla="val -66443"/>
              <a:gd name="adj2" fmla="val -142826"/>
            </a:avLst>
          </a:prstGeom>
          <a:solidFill>
            <a:srgbClr val="66FFFF"/>
          </a:solidFill>
          <a:ln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zh-TW" sz="2400" dirty="0">
                <a:solidFill>
                  <a:schemeClr val="tx1"/>
                </a:solidFill>
              </a:rPr>
              <a:t>Here, the initial state-pair has been </a:t>
            </a:r>
            <a:r>
              <a:rPr lang="en-US" altLang="zh-TW" sz="2400" dirty="0" err="1">
                <a:solidFill>
                  <a:schemeClr val="tx1"/>
                </a:solidFill>
              </a:rPr>
              <a:t>elimianted</a:t>
            </a:r>
            <a:r>
              <a:rPr lang="en-US" altLang="zh-TW" sz="2400" dirty="0">
                <a:solidFill>
                  <a:schemeClr val="tx1"/>
                </a:solidFill>
              </a:rPr>
              <a:t>. 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標題 1">
            <a:extLst>
              <a:ext uri="{FF2B5EF4-FFF2-40B4-BE49-F238E27FC236}">
                <a16:creationId xmlns:a16="http://schemas.microsoft.com/office/drawing/2014/main" id="{1C0E8D7D-2E18-4DFD-8DC4-FDDB5F113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Tool &amp; library available</a:t>
            </a:r>
            <a:endParaRPr lang="zh-TW" altLang="en-US"/>
          </a:p>
        </p:txBody>
      </p:sp>
      <p:sp>
        <p:nvSpPr>
          <p:cNvPr id="490499" name="內容版面配置區 2">
            <a:extLst>
              <a:ext uri="{FF2B5EF4-FFF2-40B4-BE49-F238E27FC236}">
                <a16:creationId xmlns:a16="http://schemas.microsoft.com/office/drawing/2014/main" id="{8EE6E1E4-3FC5-43B5-8613-D2104E7823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r>
              <a:rPr lang="en-US" altLang="zh-TW"/>
              <a:t>REDLIB version 3 at Sourceforge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FF"/>
                </a:solidFill>
              </a:rPr>
              <a:t>http://sourceforge.net/projects/redlib/</a:t>
            </a:r>
          </a:p>
          <a:p>
            <a:pPr lvl="1"/>
            <a:r>
              <a:rPr lang="en-US" altLang="zh-TW"/>
              <a:t>GUI for timed automata editor &amp; simulator</a:t>
            </a:r>
          </a:p>
          <a:p>
            <a:pPr lvl="1"/>
            <a:r>
              <a:rPr lang="en-US" altLang="zh-TW"/>
              <a:t>Timed automata model/simulation-checking</a:t>
            </a:r>
          </a:p>
          <a:p>
            <a:pPr lvl="1"/>
            <a:r>
              <a:rPr lang="en-US" altLang="zh-TW"/>
              <a:t>Pre/post-condition calculation </a:t>
            </a:r>
          </a:p>
          <a:p>
            <a:pPr lvl="1"/>
            <a:r>
              <a:rPr lang="en-US" altLang="zh-TW"/>
              <a:t>Dense-space manipulation</a:t>
            </a:r>
          </a:p>
          <a:p>
            <a:r>
              <a:rPr lang="en-US" altLang="zh-TW"/>
              <a:t>RED version 8 </a:t>
            </a:r>
          </a:p>
          <a:p>
            <a:pPr lvl="1"/>
            <a:r>
              <a:rPr lang="en-US" altLang="zh-TW"/>
              <a:t>a timed automata model/simulation-checker </a:t>
            </a:r>
          </a:p>
          <a:p>
            <a:pPr lvl="1"/>
            <a:r>
              <a:rPr lang="en-US" altLang="zh-TW"/>
              <a:t>an LHA parametric analyzer</a:t>
            </a:r>
          </a:p>
          <a:p>
            <a:pPr lvl="1"/>
            <a:r>
              <a:rPr lang="en-US" altLang="zh-TW"/>
              <a:t>built on top of REDLIB. </a:t>
            </a:r>
          </a:p>
        </p:txBody>
      </p:sp>
      <p:sp>
        <p:nvSpPr>
          <p:cNvPr id="490500" name="投影片編號版面配置區 3">
            <a:extLst>
              <a:ext uri="{FF2B5EF4-FFF2-40B4-BE49-F238E27FC236}">
                <a16:creationId xmlns:a16="http://schemas.microsoft.com/office/drawing/2014/main" id="{D39D3D5D-9206-4CE1-AAB7-0786F915D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B30A50-A957-4198-8A9A-DA0835353AC4}" type="slidenum">
              <a:rPr kumimoji="0" lang="en-US" altLang="zh-TW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242</a:t>
            </a:fld>
            <a:endParaRPr kumimoji="0" lang="en-US" altLang="zh-TW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8231</TotalTime>
  <Words>21985</Words>
  <Application>Microsoft Office PowerPoint</Application>
  <PresentationFormat>如螢幕大小 (4:3)</PresentationFormat>
  <Paragraphs>3140</Paragraphs>
  <Slides>242</Slides>
  <Notes>230</Notes>
  <HiddenSlides>2</HiddenSlides>
  <MMClips>0</MMClips>
  <ScaleCrop>false</ScaleCrop>
  <HeadingPairs>
    <vt:vector size="8" baseType="variant">
      <vt:variant>
        <vt:lpstr>使用字型</vt:lpstr>
      </vt:variant>
      <vt:variant>
        <vt:i4>30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242</vt:i4>
      </vt:variant>
    </vt:vector>
  </HeadingPairs>
  <TitlesOfParts>
    <vt:vector size="274" baseType="lpstr">
      <vt:lpstr>MS UI Gothic</vt:lpstr>
      <vt:lpstr>細明體</vt:lpstr>
      <vt:lpstr>華康少女文字W6</vt:lpstr>
      <vt:lpstr>華康細圓體(P)</vt:lpstr>
      <vt:lpstr>華康雅風體W3(P)</vt:lpstr>
      <vt:lpstr>華康儷粗黑</vt:lpstr>
      <vt:lpstr>華康儷楷書</vt:lpstr>
      <vt:lpstr>新細明體</vt:lpstr>
      <vt:lpstr>標楷體</vt:lpstr>
      <vt:lpstr>Albertus Extra Bold</vt:lpstr>
      <vt:lpstr>Arial</vt:lpstr>
      <vt:lpstr>cmsy10</vt:lpstr>
      <vt:lpstr>Comic Sans MS</vt:lpstr>
      <vt:lpstr>Euclid Extra</vt:lpstr>
      <vt:lpstr>Euclid Math One</vt:lpstr>
      <vt:lpstr>Euclid Math Two</vt:lpstr>
      <vt:lpstr>Euclid Symbol</vt:lpstr>
      <vt:lpstr>Garamond</vt:lpstr>
      <vt:lpstr>Lucida Console</vt:lpstr>
      <vt:lpstr>Lucida Sans Unicode</vt:lpstr>
      <vt:lpstr>MS LineDraw</vt:lpstr>
      <vt:lpstr>msam10</vt:lpstr>
      <vt:lpstr>ParkAvenue BT</vt:lpstr>
      <vt:lpstr>Symbol</vt:lpstr>
      <vt:lpstr>Tahoma</vt:lpstr>
      <vt:lpstr>Times New Roman</vt:lpstr>
      <vt:lpstr>Times New Roman (Hebrew)</vt:lpstr>
      <vt:lpstr>Wingdings</vt:lpstr>
      <vt:lpstr>Wingdings 2</vt:lpstr>
      <vt:lpstr>ZapfDingbats</vt:lpstr>
      <vt:lpstr>Edge</vt:lpstr>
      <vt:lpstr>Equation</vt:lpstr>
      <vt:lpstr>Theory of Static Analysis - Temporal Logics &amp; Model Checking </vt:lpstr>
      <vt:lpstr>Specifications, descriptions,  &amp; verification</vt:lpstr>
      <vt:lpstr>Formal specification  &amp; automated verification</vt:lpstr>
      <vt:lpstr>Why formal specifications ?</vt:lpstr>
      <vt:lpstr>Why automated verification ?</vt:lpstr>
      <vt:lpstr>Specification &amp; Verification ?</vt:lpstr>
      <vt:lpstr>PowerPoint 簡報</vt:lpstr>
      <vt:lpstr>PowerPoint 簡報</vt:lpstr>
      <vt:lpstr>Bugs in complex software</vt:lpstr>
      <vt:lpstr>Three technologies in verification</vt:lpstr>
      <vt:lpstr>Sum of the 3 angles = 180 ?</vt:lpstr>
      <vt:lpstr>Model-checking - a general framework for verification of hw/sw systems</vt:lpstr>
      <vt:lpstr>Models &amp; Specifications  - formalism </vt:lpstr>
      <vt:lpstr>Models &amp; Specifications - fairness assumptions</vt:lpstr>
      <vt:lpstr>Model-checking - frameworks in our lecture </vt:lpstr>
      <vt:lpstr>Kripke Structure</vt:lpstr>
      <vt:lpstr>Kripke structure</vt:lpstr>
      <vt:lpstr>Kripke structure  - syntax</vt:lpstr>
      <vt:lpstr>Kripke Model  - syntax </vt:lpstr>
      <vt:lpstr>Kripke structure   - semantics</vt:lpstr>
      <vt:lpstr>Control and data variables</vt:lpstr>
      <vt:lpstr>Program  Kripke structure  - Data variables</vt:lpstr>
      <vt:lpstr>Program  Kripke structure  - Control Locations</vt:lpstr>
      <vt:lpstr>Program  Kripke structure  - States and Transitions</vt:lpstr>
      <vt:lpstr>Program  Kripke structure  - States and Transitions</vt:lpstr>
      <vt:lpstr>Kripke structure  - Transition Relation</vt:lpstr>
      <vt:lpstr>Transition relation - A synchronous mod 8 counter</vt:lpstr>
      <vt:lpstr>Kripke Structure  - example</vt:lpstr>
      <vt:lpstr>Kripke Structure  - example</vt:lpstr>
      <vt:lpstr>Kripke Structure  - example</vt:lpstr>
      <vt:lpstr>Kripke Structure  - example</vt:lpstr>
      <vt:lpstr>Workout   - Kripke Structure</vt:lpstr>
      <vt:lpstr>Kripke Structure  - an example</vt:lpstr>
      <vt:lpstr>Kripke Structure  - example</vt:lpstr>
      <vt:lpstr>Kripke Structure  - workout</vt:lpstr>
      <vt:lpstr>PowerPoint 簡報</vt:lpstr>
      <vt:lpstr>Automata &amp; Kripke structure </vt:lpstr>
      <vt:lpstr>Concurrent programs</vt:lpstr>
      <vt:lpstr>Kripke Structure  - for a concurrent system </vt:lpstr>
      <vt:lpstr>Kripke Structure  - for a concurrent system </vt:lpstr>
      <vt:lpstr>Concurrent systems - Interleaving semantics </vt:lpstr>
      <vt:lpstr>Kripke Structures - composition for a concurrent system </vt:lpstr>
      <vt:lpstr>Kripke Structures - Cartesian product method</vt:lpstr>
      <vt:lpstr>Kripke structure - Practical algorithm for construction</vt:lpstr>
      <vt:lpstr>Kripke Structures - on-the-fly method</vt:lpstr>
      <vt:lpstr>History of Temporal Logic</vt:lpstr>
      <vt:lpstr>Framework</vt:lpstr>
      <vt:lpstr>Outline</vt:lpstr>
      <vt:lpstr>BNF, syntax definitions Note!</vt:lpstr>
      <vt:lpstr>BNF, syntax definitions</vt:lpstr>
      <vt:lpstr>BNF, syntax definitions - derivation trees (from top down)</vt:lpstr>
      <vt:lpstr>BNF, syntax definitions - parsing trees (from bottom up)</vt:lpstr>
      <vt:lpstr>Temporal Logics：Catalog</vt:lpstr>
      <vt:lpstr>Temporal Logics</vt:lpstr>
      <vt:lpstr>Amir Pnueli 1941</vt:lpstr>
      <vt:lpstr>LPTL (PTL, LTL) Linear-Time Propositional Temporal Logic</vt:lpstr>
      <vt:lpstr>LPTL</vt:lpstr>
      <vt:lpstr>Syntax definitions Note!</vt:lpstr>
      <vt:lpstr>LPTL  - syntax</vt:lpstr>
      <vt:lpstr>LPTL  - syntax</vt:lpstr>
      <vt:lpstr>LPTL  - syntax</vt:lpstr>
      <vt:lpstr>LPTL  - syntax</vt:lpstr>
      <vt:lpstr>LPTL  - syntax</vt:lpstr>
      <vt:lpstr>LPTL  - syntax</vt:lpstr>
      <vt:lpstr>LPTL  - semantics</vt:lpstr>
      <vt:lpstr>LPTL  - semantics</vt:lpstr>
      <vt:lpstr>LPTL  - semantics</vt:lpstr>
      <vt:lpstr>LTL  - examples</vt:lpstr>
      <vt:lpstr>Branching Temporal Logics</vt:lpstr>
      <vt:lpstr>PowerPoint 簡報</vt:lpstr>
      <vt:lpstr>Branching Temporal Logic</vt:lpstr>
      <vt:lpstr>Branching Temporal Logic</vt:lpstr>
      <vt:lpstr>CTL(Computation Tree Logic)</vt:lpstr>
      <vt:lpstr>CTL(Computation Tree Logic)  - syntax</vt:lpstr>
      <vt:lpstr>CTL   - semantics </vt:lpstr>
      <vt:lpstr>CTL   - semantics</vt:lpstr>
      <vt:lpstr>CTL   - semantics </vt:lpstr>
      <vt:lpstr>CTL   - semantics</vt:lpstr>
      <vt:lpstr>CTL   - semantics</vt:lpstr>
      <vt:lpstr>CTL   - semantic </vt:lpstr>
      <vt:lpstr>CTL   - semantics </vt:lpstr>
      <vt:lpstr>CTL   - semantics</vt:lpstr>
      <vt:lpstr>CTL   - examples (I)</vt:lpstr>
      <vt:lpstr>CTL   - examples (II)</vt:lpstr>
      <vt:lpstr>CTL   - examples (III)</vt:lpstr>
      <vt:lpstr>CTL   - examples (IIIa)</vt:lpstr>
      <vt:lpstr>CTL - important classes</vt:lpstr>
      <vt:lpstr>CTL*  - syntax</vt:lpstr>
      <vt:lpstr>CTL*  - examples (1/4) </vt:lpstr>
      <vt:lpstr>PowerPoint 簡報</vt:lpstr>
      <vt:lpstr>CTL*  - semantics</vt:lpstr>
      <vt:lpstr>CTL*  - semantics</vt:lpstr>
      <vt:lpstr>Expressiveness</vt:lpstr>
      <vt:lpstr>Expressiveness</vt:lpstr>
      <vt:lpstr> Expressiveness  - branching-time logics</vt:lpstr>
      <vt:lpstr>Expressiveness  - CTL*, example (I)</vt:lpstr>
      <vt:lpstr>Expressiveness  - CTL*, example (II)</vt:lpstr>
      <vt:lpstr>CTL*  - examples (2/4)</vt:lpstr>
      <vt:lpstr>CTL*  - examples (2/4)</vt:lpstr>
      <vt:lpstr>CTL*  - Workout</vt:lpstr>
      <vt:lpstr>CTL*  - examples (3/4) </vt:lpstr>
      <vt:lpstr>CTL*  - Workout </vt:lpstr>
      <vt:lpstr>CTL*  - examples (4/4) </vt:lpstr>
      <vt:lpstr>Expressiveness  - CTL*</vt:lpstr>
      <vt:lpstr>Expressiveness  - CTL*</vt:lpstr>
      <vt:lpstr>Expressiveness  - CTL*</vt:lpstr>
      <vt:lpstr>Expressiveness  - CTL*</vt:lpstr>
      <vt:lpstr>Verification</vt:lpstr>
      <vt:lpstr>Satisfiability-checking framework</vt:lpstr>
      <vt:lpstr>PowerPoint 簡報</vt:lpstr>
      <vt:lpstr>PowerPoint 簡報</vt:lpstr>
      <vt:lpstr>LPTL  - tableau for satisfiability checking</vt:lpstr>
      <vt:lpstr>LPTL  - tableau for satisfiability checking</vt:lpstr>
      <vt:lpstr>LPTL  - tableau for satisfiability checking</vt:lpstr>
      <vt:lpstr>LPTL  - tableau for satisfiability checking</vt:lpstr>
      <vt:lpstr>LPTL  - tableau for satisfiability checking</vt:lpstr>
      <vt:lpstr>LPTL - tableau for satisfiability checking</vt:lpstr>
      <vt:lpstr>LPTL - tableau for satisfiability checking</vt:lpstr>
      <vt:lpstr>LPTL - tableau for satisfiability checking</vt:lpstr>
      <vt:lpstr>LPTL  - tableau for satisfiability checking</vt:lpstr>
      <vt:lpstr>CTL model-checking framework</vt:lpstr>
      <vt:lpstr>CTL   - model-checking </vt:lpstr>
      <vt:lpstr>CTL   - model-checking algorithm</vt:lpstr>
      <vt:lpstr>Kripke structure  - Least fixpoint in modal logics </vt:lpstr>
      <vt:lpstr>Kripke structure  - Least fixpoint in modal logics</vt:lpstr>
      <vt:lpstr>Kripke structure  - Greatest fixpoint in modal logics</vt:lpstr>
      <vt:lpstr>Kripke structure  - Greatest fixpoint in modal logics</vt:lpstr>
      <vt:lpstr>Safety analysis </vt:lpstr>
      <vt:lpstr>Reachability analysis:  </vt:lpstr>
      <vt:lpstr>Kripke structure    - safety analysis  </vt:lpstr>
      <vt:lpstr>Kripke structure    - safety analysis  </vt:lpstr>
      <vt:lpstr>Kripke structure    - safety analysis</vt:lpstr>
      <vt:lpstr>Inevitability analysis </vt:lpstr>
      <vt:lpstr>Inevitability analysis:  </vt:lpstr>
      <vt:lpstr>Kripke structure    - inevitability analysis :  η  </vt:lpstr>
      <vt:lpstr>Kripke structure    - inevitability analysis  </vt:lpstr>
      <vt:lpstr>Kripke structure    - inevitability analysis</vt:lpstr>
      <vt:lpstr>Kripke structure    - inevitability analysis</vt:lpstr>
      <vt:lpstr>Kripke structure    - inevitability analysis</vt:lpstr>
      <vt:lpstr>CTL model-checking</vt:lpstr>
      <vt:lpstr>CTL   - model-checking algorithm (1/6) </vt:lpstr>
      <vt:lpstr>CTL   - model-checking algorithm (2/6) </vt:lpstr>
      <vt:lpstr>CTL   - model-checking algorithm (3/6) </vt:lpstr>
      <vt:lpstr>CTL   - model-checking algorithm (4/6)</vt:lpstr>
      <vt:lpstr>CTL   - model-checking algorithm (5/6) </vt:lpstr>
      <vt:lpstr>CTL   - model-checking algorithm (6/6)</vt:lpstr>
      <vt:lpstr>(pUq)  p Labeling funciton:  label the subforumulae true in each state.</vt:lpstr>
      <vt:lpstr>(pUq)  p  Evaluating pUq using least fixpoint</vt:lpstr>
      <vt:lpstr>(pUq)  p  Evaluating pUq using least fixpoint</vt:lpstr>
      <vt:lpstr>(pUq)  p  Evaluating pUq using least fixpoint</vt:lpstr>
      <vt:lpstr>(pUq)  p  Evaluating pUq</vt:lpstr>
      <vt:lpstr>(pUq)  p  Evaluating p using greatest fixpoint</vt:lpstr>
      <vt:lpstr>(pUq)  p  Evaluating p using greatest fixpoint</vt:lpstr>
      <vt:lpstr>(pUq)  p  Evaluating p using greatest fixpoint</vt:lpstr>
      <vt:lpstr>(pUq)  p  Finally, evaluating (pUq)  p</vt:lpstr>
      <vt:lpstr>Workout: labelling (p q)</vt:lpstr>
      <vt:lpstr>CTL   - model-checking problem complexities </vt:lpstr>
      <vt:lpstr>CTL   - symbolic model-checking with BDD</vt:lpstr>
      <vt:lpstr>CTL  - symbolic model-checking with Propositioal logics</vt:lpstr>
      <vt:lpstr>CTL  - symbolic model-checking with Propositioal logics</vt:lpstr>
      <vt:lpstr>CTL  - symbolic model-checking with Propositioal logics</vt:lpstr>
      <vt:lpstr>CTL  - symbolic model-checking with Propositioal logics</vt:lpstr>
      <vt:lpstr>CTL  - symbolic model-checking with Propositioal logics</vt:lpstr>
      <vt:lpstr>Symbolic safety analysis</vt:lpstr>
      <vt:lpstr>Symbolic safety analysis - construction of reach(x1,......, xn, x’1,......, x’n) </vt:lpstr>
      <vt:lpstr>Symbolic safety analysis - construction of reach(x1,......, xn, x’1,......, x’n) </vt:lpstr>
      <vt:lpstr>Symbolic safety analysis - construction of reach(x1,......, xn, x’1,......, x’n) </vt:lpstr>
      <vt:lpstr>PowerPoint 簡報</vt:lpstr>
      <vt:lpstr>Symbolic safety analysis (backward)</vt:lpstr>
      <vt:lpstr>Kripke structure    - symbolic safety analysis</vt:lpstr>
      <vt:lpstr>Kripke structure    - symbolic safety analysis</vt:lpstr>
      <vt:lpstr>Symbolic safety analysis (backward)</vt:lpstr>
      <vt:lpstr>Symbolic safety analysis (backward)</vt:lpstr>
      <vt:lpstr>Symbolic safety analysis (forward)</vt:lpstr>
      <vt:lpstr>Symbolic safety analysis (forward)</vt:lpstr>
      <vt:lpstr>Bounded model-checking</vt:lpstr>
      <vt:lpstr>Bounded model-checking</vt:lpstr>
      <vt:lpstr>Symbolic inevitability analysis</vt:lpstr>
      <vt:lpstr>Symbolic inevitability analysis</vt:lpstr>
      <vt:lpstr>Kripke structure    - symbolic inevitability analysis</vt:lpstr>
      <vt:lpstr>Kripke structure    - symbolic inevitability analysis</vt:lpstr>
      <vt:lpstr>Symbolic inevitability analysis</vt:lpstr>
      <vt:lpstr>Symbolic model-checking  - with real-world programs  </vt:lpstr>
      <vt:lpstr>Transition rules from programs </vt:lpstr>
      <vt:lpstr>A state-transition  - represented as a transition rules</vt:lpstr>
      <vt:lpstr>A state-transition  - represented as a transition rules</vt:lpstr>
      <vt:lpstr>Transition relation  - from state-transition graphs</vt:lpstr>
      <vt:lpstr>Transition relation  - from transition rules.</vt:lpstr>
      <vt:lpstr>Transition relation  - from state-transition graphs</vt:lpstr>
      <vt:lpstr>On-the-fly precondition calculation - with transition rules.</vt:lpstr>
      <vt:lpstr>On-the-fly precondition calculation   with transition rules.</vt:lpstr>
      <vt:lpstr>On-the-fly precondition calculation - with transition rules.</vt:lpstr>
      <vt:lpstr>On-the-fly precondition calculation   with transition rules.</vt:lpstr>
      <vt:lpstr>Precondition calculation - with substituion.</vt:lpstr>
      <vt:lpstr>On-the-fly precondition calculation   with transition rules.</vt:lpstr>
      <vt:lpstr>On-the-fly precondition calculation   with transition rules.</vt:lpstr>
      <vt:lpstr>On-the-fly precondition calculation   with transition rules.</vt:lpstr>
      <vt:lpstr>Precondition to b    through while (K) s; </vt:lpstr>
      <vt:lpstr>On-the-fly precondition calculation   with transition rules.</vt:lpstr>
      <vt:lpstr>Precondition to b    through while (K) s; </vt:lpstr>
      <vt:lpstr>Precondition to b    through while (K) s; </vt:lpstr>
      <vt:lpstr>Precondition to b    through while (K) s; </vt:lpstr>
      <vt:lpstr>Symbolic safety analysis (backward) - without transition relation</vt:lpstr>
      <vt:lpstr>CTL   - symbolic model-checking algorithm</vt:lpstr>
      <vt:lpstr>Bisimulation Framework</vt:lpstr>
      <vt:lpstr>Bisimulation-checking</vt:lpstr>
      <vt:lpstr>Bisimulations</vt:lpstr>
      <vt:lpstr>Bisimulations</vt:lpstr>
      <vt:lpstr>Bisimulations</vt:lpstr>
      <vt:lpstr>Bisimulations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Bisimulations</vt:lpstr>
      <vt:lpstr>The Preservation Property.</vt:lpstr>
      <vt:lpstr>Simulation Framework</vt:lpstr>
      <vt:lpstr>Simulation-checking</vt:lpstr>
      <vt:lpstr>Simulations</vt:lpstr>
      <vt:lpstr>Bisimulation Quotients</vt:lpstr>
      <vt:lpstr>Bisimulation Quotient</vt:lpstr>
      <vt:lpstr>Examples</vt:lpstr>
      <vt:lpstr>Examples</vt:lpstr>
      <vt:lpstr>Examples</vt:lpstr>
      <vt:lpstr>Facts About a (Bi)Simulation</vt:lpstr>
      <vt:lpstr>Kripke structure    - simulation-checking  </vt:lpstr>
      <vt:lpstr>Kripke structure    - bisimulation-checking  </vt:lpstr>
      <vt:lpstr>(Bi)Simulation - complexities</vt:lpstr>
      <vt:lpstr>Symbolic simulation-checking</vt:lpstr>
      <vt:lpstr>Symbolic simulation-checking</vt:lpstr>
      <vt:lpstr>Symbolic simulation-checking - an example</vt:lpstr>
      <vt:lpstr>Symbolic simulation-checking - an example</vt:lpstr>
      <vt:lpstr>Symbolic simulation-checking - an example</vt:lpstr>
      <vt:lpstr>Symbolic simulation-checking - an example</vt:lpstr>
      <vt:lpstr>Symbolic simulation-checking - an example</vt:lpstr>
      <vt:lpstr>Symbolic simulation-checking - an example</vt:lpstr>
      <vt:lpstr>Tool &amp; library available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Farn</dc:creator>
  <cp:lastModifiedBy>Farn</cp:lastModifiedBy>
  <cp:revision>420</cp:revision>
  <cp:lastPrinted>1601-01-01T00:00:00Z</cp:lastPrinted>
  <dcterms:created xsi:type="dcterms:W3CDTF">1601-01-01T00:00:00Z</dcterms:created>
  <dcterms:modified xsi:type="dcterms:W3CDTF">2023-05-24T01:46:03Z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