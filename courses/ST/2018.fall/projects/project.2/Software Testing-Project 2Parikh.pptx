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71" r:id="rId15"/>
    <p:sldId id="27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50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873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26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84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940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43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59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63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80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154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408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B4D35-B223-49AF-8319-2A5D04A3B548}" type="datetimeFigureOut">
              <a:rPr lang="zh-TW" altLang="en-US" smtClean="0"/>
              <a:t>2018/10/24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9721F-79EA-43C6-88F9-4164AA26D2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9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hrome.google.com/webstore/detail/selenium-ide/mooikfkahbdckldjjndioackbalphokd" TargetMode="External"/><Relationship Id="rId2" Type="http://schemas.openxmlformats.org/officeDocument/2006/relationships/hyperlink" Target="https://chrome.google.com/webstore/detail/katalon-recorder-selenium/ljdobmomdgdljniojadhoplhkpialdi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i="1" dirty="0" smtClean="0"/>
              <a:t>Software Testing</a:t>
            </a:r>
            <a:br>
              <a:rPr lang="en-US" altLang="zh-TW" b="1" i="1" dirty="0" smtClean="0"/>
            </a:br>
            <a:r>
              <a:rPr lang="en-US" altLang="zh-TW" b="1" i="1" dirty="0" smtClean="0"/>
              <a:t>Project</a:t>
            </a:r>
            <a:r>
              <a:rPr lang="zh-TW" altLang="en-US" b="1" i="1" dirty="0" smtClean="0"/>
              <a:t> </a:t>
            </a:r>
            <a:r>
              <a:rPr lang="en-US" altLang="zh-TW" b="1" i="1" dirty="0" smtClean="0"/>
              <a:t>2</a:t>
            </a:r>
            <a:br>
              <a:rPr lang="en-US" altLang="zh-TW" b="1" i="1" dirty="0" smtClean="0"/>
            </a:br>
            <a:r>
              <a:rPr lang="en-US" altLang="zh-TW" b="1" i="1" dirty="0" smtClean="0"/>
              <a:t>GUI testing with Selenium</a:t>
            </a:r>
            <a:endParaRPr lang="zh-TW" altLang="en-US" b="1" i="1" dirty="0"/>
          </a:p>
        </p:txBody>
      </p:sp>
      <p:sp>
        <p:nvSpPr>
          <p:cNvPr id="4" name="副標題 2"/>
          <p:cNvSpPr txBox="1">
            <a:spLocks/>
          </p:cNvSpPr>
          <p:nvPr/>
        </p:nvSpPr>
        <p:spPr>
          <a:xfrm>
            <a:off x="5766816" y="5028502"/>
            <a:ext cx="6998208" cy="1683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mtClean="0"/>
              <a:t>Instructor: </a:t>
            </a:r>
            <a:r>
              <a:rPr lang="zh-TW" altLang="en-US" smtClean="0"/>
              <a:t>王凡教授</a:t>
            </a:r>
            <a:endParaRPr lang="en-US" altLang="zh-TW" smtClean="0"/>
          </a:p>
          <a:p>
            <a:r>
              <a:rPr lang="en-US" altLang="zh-TW" smtClean="0"/>
              <a:t>TA: </a:t>
            </a:r>
            <a:r>
              <a:rPr lang="zh-TW" altLang="en-US" smtClean="0"/>
              <a:t>鄭大容</a:t>
            </a:r>
          </a:p>
          <a:p>
            <a:r>
              <a:rPr lang="en-US" altLang="zh-TW" smtClean="0"/>
              <a:t>Email: R06943080@ntu.edu.tw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03720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Selenium</a:t>
            </a:r>
            <a:endParaRPr lang="zh-TW" altLang="en-US" b="1" i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portable software testing framework for web applications </a:t>
            </a:r>
            <a:endParaRPr lang="zh-TW" altLang="en-US" dirty="0"/>
          </a:p>
        </p:txBody>
      </p:sp>
      <p:pic>
        <p:nvPicPr>
          <p:cNvPr id="1030" name="Picture 6" descr="ãselenium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54" y="3613489"/>
            <a:ext cx="19050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697868"/>
              </p:ext>
            </p:extLst>
          </p:nvPr>
        </p:nvGraphicFramePr>
        <p:xfrm>
          <a:off x="5126474" y="2616743"/>
          <a:ext cx="4416360" cy="3966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8180">
                  <a:extLst>
                    <a:ext uri="{9D8B030D-6E8A-4147-A177-3AD203B41FA5}">
                      <a16:colId xmlns:a16="http://schemas.microsoft.com/office/drawing/2014/main" val="2220376718"/>
                    </a:ext>
                  </a:extLst>
                </a:gridCol>
                <a:gridCol w="2208180">
                  <a:extLst>
                    <a:ext uri="{9D8B030D-6E8A-4147-A177-3AD203B41FA5}">
                      <a16:colId xmlns:a16="http://schemas.microsoft.com/office/drawing/2014/main" val="3383613551"/>
                    </a:ext>
                  </a:extLst>
                </a:gridCol>
              </a:tblGrid>
              <a:tr h="401971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Selenium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962791"/>
                  </a:ext>
                </a:extLst>
              </a:tr>
              <a:tr h="40197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Stable release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2.33 / May 22, 2013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139147"/>
                  </a:ext>
                </a:extLst>
              </a:tr>
              <a:tr h="40197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Development status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Active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52590"/>
                  </a:ext>
                </a:extLst>
              </a:tr>
              <a:tr h="40197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Written in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Java (programming language)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063353"/>
                  </a:ext>
                </a:extLst>
              </a:tr>
              <a:tr h="4019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Operating system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Cross-platform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06695"/>
                  </a:ext>
                </a:extLst>
              </a:tr>
              <a:tr h="40197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software testing framework for web applications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879818"/>
                  </a:ext>
                </a:extLst>
              </a:tr>
              <a:tr h="40197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License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Apache License 2.0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244710"/>
                  </a:ext>
                </a:extLst>
              </a:tr>
              <a:tr h="40197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Website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seleniumhq.org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37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62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Selenium IDE </a:t>
            </a:r>
            <a:endParaRPr lang="zh-TW" altLang="en-US" b="1" i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Firefox plug-in and is generally the most efficient way to develop test cases. </a:t>
            </a:r>
          </a:p>
          <a:p>
            <a:r>
              <a:rPr lang="en-US" altLang="zh-TW" dirty="0" smtClean="0"/>
              <a:t>implemented </a:t>
            </a:r>
            <a:r>
              <a:rPr lang="en-US" altLang="zh-TW" dirty="0"/>
              <a:t>as a </a:t>
            </a:r>
            <a:r>
              <a:rPr lang="en-US" altLang="zh-TW" dirty="0" smtClean="0"/>
              <a:t>Firefox </a:t>
            </a:r>
            <a:r>
              <a:rPr lang="en-US" altLang="zh-TW" dirty="0"/>
              <a:t>extension</a:t>
            </a:r>
            <a:endParaRPr lang="en-US" altLang="zh-TW" dirty="0" smtClean="0"/>
          </a:p>
          <a:p>
            <a:r>
              <a:rPr lang="en-US" altLang="zh-TW" dirty="0" smtClean="0"/>
              <a:t>available </a:t>
            </a:r>
            <a:r>
              <a:rPr lang="en-US" altLang="zh-TW" dirty="0"/>
              <a:t>on Chrome Store recently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833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>
                <a:solidFill>
                  <a:prstClr val="black"/>
                </a:solidFill>
              </a:rPr>
              <a:t>Selenium IDE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Katalon Recorder (Selenium IDE for </a:t>
            </a:r>
            <a:r>
              <a:rPr lang="en-US" altLang="zh-TW" dirty="0" smtClean="0"/>
              <a:t>Chrome)</a:t>
            </a:r>
          </a:p>
          <a:p>
            <a:pPr marL="457200" lvl="1" indent="0">
              <a:buNone/>
            </a:pPr>
            <a:r>
              <a:rPr lang="en-US" altLang="zh-TW" dirty="0" smtClean="0">
                <a:hlinkClick r:id="rId2"/>
              </a:rPr>
              <a:t>https</a:t>
            </a:r>
            <a:r>
              <a:rPr lang="en-US" altLang="zh-TW" dirty="0">
                <a:hlinkClick r:id="rId2"/>
              </a:rPr>
              <a:t>://</a:t>
            </a:r>
            <a:r>
              <a:rPr lang="en-US" altLang="zh-TW" dirty="0" smtClean="0">
                <a:hlinkClick r:id="rId2"/>
              </a:rPr>
              <a:t>chrome.google.com/webstore/detail/katalon-recorder-selenium/ljdobmomdgdljniojadhoplhkpialdid</a:t>
            </a:r>
            <a:endParaRPr lang="en-US" altLang="zh-TW" dirty="0" smtClean="0"/>
          </a:p>
          <a:p>
            <a:r>
              <a:rPr lang="en-US" altLang="zh-TW" dirty="0"/>
              <a:t>Selenium </a:t>
            </a:r>
            <a:r>
              <a:rPr lang="en-US" altLang="zh-TW" dirty="0" smtClean="0"/>
              <a:t>IDE</a:t>
            </a:r>
          </a:p>
          <a:p>
            <a:pPr marL="457200" lvl="1" indent="0">
              <a:buNone/>
            </a:pPr>
            <a:r>
              <a:rPr lang="en-US" altLang="zh-TW" dirty="0">
                <a:hlinkClick r:id="rId3"/>
              </a:rPr>
              <a:t>https://</a:t>
            </a:r>
            <a:r>
              <a:rPr lang="en-US" altLang="zh-TW" dirty="0" smtClean="0">
                <a:hlinkClick r:id="rId3"/>
              </a:rPr>
              <a:t>chrome.google.com/webstore/detail/selenium-ide/mooikfkahbdckldjjndioackbalphokd</a:t>
            </a:r>
            <a:endParaRPr lang="en-US" altLang="zh-TW" dirty="0" smtClean="0"/>
          </a:p>
          <a:p>
            <a:pPr marL="457200" lvl="1" indent="0">
              <a:buNone/>
            </a:pPr>
            <a:endParaRPr lang="en-US" altLang="zh-TW" dirty="0" smtClean="0"/>
          </a:p>
          <a:p>
            <a:pPr marL="457200" lvl="1" indent="0">
              <a:buNone/>
            </a:pPr>
            <a:endParaRPr lang="en-US" altLang="zh-TW" dirty="0" smtClean="0"/>
          </a:p>
          <a:p>
            <a:pPr marL="914400" lvl="2" indent="0">
              <a:buNone/>
            </a:pPr>
            <a:endParaRPr lang="en-US" altLang="zh-TW" dirty="0" smtClean="0"/>
          </a:p>
        </p:txBody>
      </p:sp>
      <p:pic>
        <p:nvPicPr>
          <p:cNvPr id="1026" name="Picture 2" descr="https://lh3.googleusercontent.com/aVkYn-aZwfYDX3YrXU24Us-NDkSLijgSuTPBIvANHrLC6ow2N1Tje5WhsVUeTANRat0Px0es4fA=w128-h128-e36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149" y="1825625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lh3.googleusercontent.com/A4hKuh2Vge7FJmdQ6Nq01pa10w_WiWDKIAvv6FVWQSz18dI_QBSUqC4a8kX4gg-_xpOFSXXT1C0=w128-h128-e36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149" y="3391693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95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/>
              <a:t>Katalon Recorder </a:t>
            </a:r>
            <a:endParaRPr lang="zh-TW" altLang="en-US" b="1" i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9780477" cy="43513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852808" y="2062264"/>
            <a:ext cx="486383" cy="3015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341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>
                <a:solidFill>
                  <a:prstClr val="black"/>
                </a:solidFill>
              </a:rPr>
              <a:t>Katalon Recorder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You can write tests in Java, C</a:t>
            </a:r>
            <a:r>
              <a:rPr lang="en-US" altLang="zh-TW" dirty="0" smtClean="0"/>
              <a:t>#,</a:t>
            </a:r>
          </a:p>
          <a:p>
            <a:pPr marL="0" indent="0">
              <a:buNone/>
            </a:pPr>
            <a:r>
              <a:rPr lang="en-US" altLang="zh-TW" dirty="0" smtClean="0"/>
              <a:t> </a:t>
            </a:r>
            <a:r>
              <a:rPr lang="en-US" altLang="zh-TW" dirty="0"/>
              <a:t>Ruby, and Python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146" y="494014"/>
            <a:ext cx="6060332" cy="595539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831420" y="794495"/>
            <a:ext cx="577176" cy="2950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688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Selenium Client API</a:t>
            </a:r>
            <a:endParaRPr lang="zh-TW" altLang="en-US" b="1" i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 alternative to writing tests in Selenium, tests can  be written in various programming languages. </a:t>
            </a:r>
          </a:p>
          <a:p>
            <a:r>
              <a:rPr lang="en-US" altLang="zh-TW" dirty="0" smtClean="0"/>
              <a:t>These tests then communicate with Selenium by calling methods in the Selenium Client API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0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Unit Testing Frameworks </a:t>
            </a:r>
            <a:endParaRPr lang="zh-TW" altLang="en-US" b="1" i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Y</a:t>
            </a:r>
            <a:r>
              <a:rPr lang="en-US" altLang="zh-TW" dirty="0" smtClean="0"/>
              <a:t>ou can write tests in Java, C#, Ruby, and Python.</a:t>
            </a:r>
          </a:p>
          <a:p>
            <a:r>
              <a:rPr lang="en-US" altLang="zh-TW" dirty="0" smtClean="0"/>
              <a:t>Use your favorite unit testing tools </a:t>
            </a:r>
          </a:p>
          <a:p>
            <a:r>
              <a:rPr lang="en-US" altLang="zh-TW" dirty="0" smtClean="0"/>
              <a:t>The following uses JUnit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278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Instantiate a WebDriver </a:t>
            </a:r>
            <a:endParaRPr lang="zh-TW" altLang="en-US" b="1" i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en-US" altLang="zh-TW" dirty="0" smtClean="0"/>
              <a:t>There’s also: </a:t>
            </a:r>
          </a:p>
          <a:p>
            <a:pPr marL="457200" lvl="1" indent="0">
              <a:buNone/>
            </a:pPr>
            <a:r>
              <a:rPr lang="en-US" altLang="zh-TW" dirty="0" smtClean="0"/>
              <a:t>– </a:t>
            </a:r>
            <a:r>
              <a:rPr lang="en-US" altLang="zh-TW" dirty="0" err="1" smtClean="0"/>
              <a:t>ChromeDriver</a:t>
            </a:r>
            <a:r>
              <a:rPr lang="en-US" altLang="zh-TW" dirty="0" smtClean="0"/>
              <a:t>(),</a:t>
            </a:r>
          </a:p>
          <a:p>
            <a:pPr marL="457200" lvl="1" indent="0">
              <a:buNone/>
            </a:pPr>
            <a:r>
              <a:rPr lang="en-US" altLang="zh-TW" dirty="0" smtClean="0"/>
              <a:t>– </a:t>
            </a:r>
            <a:r>
              <a:rPr lang="en-US" altLang="zh-TW" dirty="0" err="1" smtClean="0"/>
              <a:t>OperaDriver</a:t>
            </a:r>
            <a:r>
              <a:rPr lang="en-US" altLang="zh-TW" dirty="0" smtClean="0"/>
              <a:t>(), </a:t>
            </a:r>
          </a:p>
          <a:p>
            <a:pPr marL="457200" lvl="1" indent="0">
              <a:buNone/>
            </a:pPr>
            <a:r>
              <a:rPr lang="en-US" altLang="zh-TW" dirty="0" smtClean="0"/>
              <a:t>– </a:t>
            </a:r>
            <a:r>
              <a:rPr lang="en-US" altLang="zh-TW" dirty="0" err="1" smtClean="0"/>
              <a:t>AndroidDriver</a:t>
            </a:r>
            <a:r>
              <a:rPr lang="en-US" altLang="zh-TW" dirty="0" smtClean="0"/>
              <a:t>(), </a:t>
            </a:r>
          </a:p>
          <a:p>
            <a:pPr marL="457200" lvl="1" indent="0">
              <a:buNone/>
            </a:pPr>
            <a:r>
              <a:rPr lang="en-US" altLang="zh-TW" dirty="0" smtClean="0"/>
              <a:t>– </a:t>
            </a:r>
            <a:r>
              <a:rPr lang="en-US" altLang="zh-TW" dirty="0" err="1" smtClean="0"/>
              <a:t>InternetExplorerDriver</a:t>
            </a:r>
            <a:r>
              <a:rPr lang="en-US" altLang="zh-TW" dirty="0" smtClean="0"/>
              <a:t>(), </a:t>
            </a:r>
          </a:p>
          <a:p>
            <a:pPr marL="457200" lvl="1" indent="0">
              <a:buNone/>
            </a:pPr>
            <a:r>
              <a:rPr lang="en-US" altLang="zh-TW" dirty="0" smtClean="0"/>
              <a:t>– Etc… (additional setting may needed)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456" y="2097999"/>
            <a:ext cx="4781344" cy="3560931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 flipV="1">
            <a:off x="7495062" y="5136204"/>
            <a:ext cx="1298742" cy="40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26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Simple Test </a:t>
            </a:r>
            <a:endParaRPr lang="zh-TW" altLang="en-US" b="1" i="1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813" y="2003125"/>
            <a:ext cx="5524500" cy="30765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84" y="1964987"/>
            <a:ext cx="5324593" cy="263619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84" y="4601183"/>
            <a:ext cx="5324593" cy="95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12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Using the </a:t>
            </a:r>
            <a:r>
              <a:rPr lang="en-US" altLang="zh-TW" b="1" i="1" dirty="0" err="1" smtClean="0"/>
              <a:t>findElement</a:t>
            </a:r>
            <a:r>
              <a:rPr lang="en-US" altLang="zh-TW" b="1" i="1" dirty="0" smtClean="0"/>
              <a:t>() method </a:t>
            </a:r>
            <a:endParaRPr lang="zh-TW" altLang="en-US" b="1" i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driver.findElement</a:t>
            </a:r>
            <a:r>
              <a:rPr lang="en-US" altLang="zh-TW" dirty="0" smtClean="0"/>
              <a:t>(By.id("header"))</a:t>
            </a:r>
          </a:p>
          <a:p>
            <a:pPr marL="457200" lvl="1" indent="0">
              <a:buNone/>
            </a:pPr>
            <a:r>
              <a:rPr lang="en-US" altLang="zh-TW" dirty="0" smtClean="0"/>
              <a:t>-By.name("name")</a:t>
            </a:r>
          </a:p>
          <a:p>
            <a:pPr marL="457200" lvl="1" indent="0">
              <a:buNone/>
            </a:pPr>
            <a:r>
              <a:rPr lang="en-US" altLang="zh-TW" dirty="0" smtClean="0"/>
              <a:t>-</a:t>
            </a:r>
            <a:r>
              <a:rPr lang="en-US" altLang="zh-TW" dirty="0" err="1" smtClean="0"/>
              <a:t>By.tagName</a:t>
            </a:r>
            <a:r>
              <a:rPr lang="en-US" altLang="zh-TW" dirty="0" smtClean="0"/>
              <a:t>("a") </a:t>
            </a:r>
          </a:p>
          <a:p>
            <a:pPr marL="457200" lvl="1" indent="0">
              <a:buNone/>
            </a:pPr>
            <a:r>
              <a:rPr lang="en-US" altLang="zh-TW" dirty="0" smtClean="0"/>
              <a:t>-</a:t>
            </a:r>
            <a:r>
              <a:rPr lang="en-US" altLang="zh-TW" dirty="0" err="1" smtClean="0"/>
              <a:t>By.xpath</a:t>
            </a:r>
            <a:r>
              <a:rPr lang="en-US" altLang="zh-TW" dirty="0" smtClean="0"/>
              <a:t>("//a[@title='logo']")</a:t>
            </a:r>
          </a:p>
          <a:p>
            <a:pPr marL="457200" lvl="1" indent="0">
              <a:buNone/>
            </a:pPr>
            <a:r>
              <a:rPr lang="en-US" altLang="zh-TW" dirty="0" smtClean="0"/>
              <a:t>-</a:t>
            </a:r>
            <a:r>
              <a:rPr lang="en-US" altLang="zh-TW" dirty="0" err="1" smtClean="0"/>
              <a:t>By.cssSelector</a:t>
            </a:r>
            <a:r>
              <a:rPr lang="en-US" altLang="zh-TW" dirty="0" smtClean="0"/>
              <a:t>(".</a:t>
            </a:r>
            <a:r>
              <a:rPr lang="en-US" altLang="zh-TW" dirty="0" err="1" smtClean="0"/>
              <a:t>feautures</a:t>
            </a:r>
            <a:r>
              <a:rPr lang="en-US" altLang="zh-TW" dirty="0" smtClean="0"/>
              <a:t>")</a:t>
            </a:r>
          </a:p>
          <a:p>
            <a:pPr marL="457200" lvl="1" indent="0">
              <a:buNone/>
            </a:pPr>
            <a:r>
              <a:rPr lang="en-US" altLang="zh-TW" dirty="0" smtClean="0"/>
              <a:t>-</a:t>
            </a:r>
            <a:r>
              <a:rPr lang="en-US" altLang="zh-TW" dirty="0" err="1" smtClean="0"/>
              <a:t>By.linkText</a:t>
            </a:r>
            <a:r>
              <a:rPr lang="en-US" altLang="zh-TW" dirty="0" smtClean="0"/>
              <a:t>("Blog"))</a:t>
            </a:r>
          </a:p>
          <a:p>
            <a:pPr marL="457200" lvl="1" indent="0">
              <a:buNone/>
            </a:pPr>
            <a:r>
              <a:rPr lang="en-US" altLang="zh-TW" dirty="0" smtClean="0"/>
              <a:t>-</a:t>
            </a:r>
            <a:r>
              <a:rPr lang="en-US" altLang="zh-TW" dirty="0" err="1" smtClean="0"/>
              <a:t>By.partialLinkText</a:t>
            </a:r>
            <a:r>
              <a:rPr lang="en-US" altLang="zh-TW" dirty="0" smtClean="0"/>
              <a:t>("Ruby")</a:t>
            </a:r>
          </a:p>
          <a:p>
            <a:pPr marL="457200" lvl="1" indent="0">
              <a:buNone/>
            </a:pPr>
            <a:r>
              <a:rPr lang="en-US" altLang="zh-TW" dirty="0" smtClean="0"/>
              <a:t>-</a:t>
            </a:r>
            <a:r>
              <a:rPr lang="en-US" altLang="zh-TW" dirty="0" err="1" smtClean="0"/>
              <a:t>By.className</a:t>
            </a:r>
            <a:r>
              <a:rPr lang="en-US" altLang="zh-TW" dirty="0" smtClean="0"/>
              <a:t>("login") </a:t>
            </a:r>
          </a:p>
          <a:p>
            <a:pPr marL="457200" lvl="1" indent="0">
              <a:buNone/>
            </a:pPr>
            <a:r>
              <a:rPr lang="en-US" altLang="zh-TW" dirty="0" smtClean="0"/>
              <a:t>-etc…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9329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Element Events </a:t>
            </a:r>
            <a:endParaRPr lang="zh-TW" altLang="en-US" b="1" i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WebElement-By.name("name")</a:t>
            </a:r>
          </a:p>
          <a:p>
            <a:pPr marL="457200" lvl="1" indent="0">
              <a:buNone/>
            </a:pPr>
            <a:r>
              <a:rPr lang="en-US" altLang="zh-TW" dirty="0" smtClean="0"/>
              <a:t>-click() </a:t>
            </a:r>
          </a:p>
          <a:p>
            <a:pPr marL="457200" lvl="1" indent="0">
              <a:buNone/>
            </a:pPr>
            <a:r>
              <a:rPr lang="en-US" altLang="zh-TW" dirty="0" smtClean="0"/>
              <a:t>-submit()</a:t>
            </a:r>
          </a:p>
          <a:p>
            <a:pPr marL="457200" lvl="1" indent="0">
              <a:buNone/>
            </a:pPr>
            <a:r>
              <a:rPr lang="en-US" altLang="zh-TW" dirty="0" smtClean="0"/>
              <a:t>-</a:t>
            </a:r>
            <a:r>
              <a:rPr lang="en-US" altLang="zh-TW" dirty="0" err="1" smtClean="0"/>
              <a:t>sendKeys</a:t>
            </a:r>
            <a:r>
              <a:rPr lang="en-US" altLang="zh-TW" dirty="0" smtClean="0"/>
              <a:t>() </a:t>
            </a:r>
          </a:p>
          <a:p>
            <a:pPr marL="457200" lvl="1" indent="0">
              <a:buNone/>
            </a:pPr>
            <a:r>
              <a:rPr lang="en-US" altLang="zh-TW" dirty="0" smtClean="0"/>
              <a:t>-clear() </a:t>
            </a:r>
          </a:p>
          <a:p>
            <a:pPr marL="457200" lvl="1" indent="0">
              <a:buNone/>
            </a:pPr>
            <a:r>
              <a:rPr lang="en-US" altLang="zh-TW" dirty="0" smtClean="0"/>
              <a:t>-</a:t>
            </a:r>
            <a:r>
              <a:rPr lang="en-US" altLang="zh-TW" dirty="0" err="1" smtClean="0"/>
              <a:t>isDisplayed</a:t>
            </a:r>
            <a:r>
              <a:rPr lang="en-US" altLang="zh-TW" dirty="0" smtClean="0"/>
              <a:t>() </a:t>
            </a:r>
          </a:p>
          <a:p>
            <a:pPr marL="457200" lvl="1" indent="0">
              <a:buNone/>
            </a:pPr>
            <a:r>
              <a:rPr lang="en-US" altLang="zh-TW" dirty="0" smtClean="0"/>
              <a:t>-</a:t>
            </a:r>
            <a:r>
              <a:rPr lang="en-US" altLang="zh-TW" dirty="0" err="1" smtClean="0"/>
              <a:t>isEnabled</a:t>
            </a:r>
            <a:r>
              <a:rPr lang="en-US" altLang="zh-TW" dirty="0" smtClean="0"/>
              <a:t>() </a:t>
            </a:r>
          </a:p>
          <a:p>
            <a:pPr marL="457200" lvl="1" indent="0">
              <a:buNone/>
            </a:pPr>
            <a:r>
              <a:rPr lang="en-US" altLang="zh-TW" dirty="0" smtClean="0"/>
              <a:t>-etc… </a:t>
            </a:r>
          </a:p>
          <a:p>
            <a:pPr marL="457200" lvl="1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4239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Requirements</a:t>
            </a:r>
            <a:endParaRPr lang="zh-TW" altLang="en-US" b="1" i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SUT requirements</a:t>
            </a:r>
          </a:p>
          <a:p>
            <a:r>
              <a:rPr lang="en-US" altLang="zh-TW" dirty="0" smtClean="0"/>
              <a:t>Test requirements </a:t>
            </a:r>
          </a:p>
          <a:p>
            <a:r>
              <a:rPr lang="en-US" altLang="zh-TW" dirty="0" smtClean="0"/>
              <a:t>Test-cases </a:t>
            </a:r>
          </a:p>
          <a:p>
            <a:r>
              <a:rPr lang="en-US" altLang="zh-TW" dirty="0" smtClean="0"/>
              <a:t>Implement test-cases with Selenium</a:t>
            </a:r>
          </a:p>
        </p:txBody>
      </p:sp>
    </p:spTree>
    <p:extLst>
      <p:ext uri="{BB962C8B-B14F-4D97-AF65-F5344CB8AC3E}">
        <p14:creationId xmlns:p14="http://schemas.microsoft.com/office/powerpoint/2010/main" val="1174608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 smtClean="0"/>
              <a:t>Score</a:t>
            </a:r>
            <a:endParaRPr lang="zh-TW" altLang="en-US" b="1" i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rawScore(you) = #bugs-found + line-coverage * log2(#total lines of the library SUT</a:t>
            </a:r>
            <a:r>
              <a:rPr lang="en-US" altLang="zh-TW" dirty="0" smtClean="0"/>
              <a:t>)</a:t>
            </a:r>
          </a:p>
          <a:p>
            <a:r>
              <a:rPr lang="en-US" altLang="zh-TW" i="1" dirty="0" err="1"/>
              <a:t>projectScore</a:t>
            </a:r>
            <a:r>
              <a:rPr lang="en-US" altLang="zh-TW" i="1" dirty="0"/>
              <a:t>(you)</a:t>
            </a:r>
            <a:r>
              <a:rPr lang="en-US" altLang="zh-TW" dirty="0"/>
              <a:t> = 15*rawScore(you)/(max </a:t>
            </a:r>
            <a:r>
              <a:rPr lang="en-US" altLang="zh-TW" baseline="-25000" dirty="0" err="1"/>
              <a:t>anyStudent</a:t>
            </a:r>
            <a:r>
              <a:rPr lang="en-US" altLang="zh-TW" baseline="-25000" dirty="0"/>
              <a:t> s</a:t>
            </a:r>
            <a:r>
              <a:rPr lang="en-US" altLang="zh-TW" dirty="0"/>
              <a:t> rawScore(s))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3475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/>
              <a:t>Submission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Put everything in one folder named by your student id</a:t>
            </a:r>
          </a:p>
          <a:p>
            <a:r>
              <a:rPr lang="en-US" altLang="zh-TW" dirty="0"/>
              <a:t>The folder should include</a:t>
            </a:r>
            <a:r>
              <a:rPr lang="en-US" altLang="zh-TW" dirty="0" smtClean="0"/>
              <a:t>: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Your source code or </a:t>
            </a:r>
            <a:r>
              <a:rPr lang="en-US" altLang="zh-TW" dirty="0" err="1" smtClean="0"/>
              <a:t>testsuites</a:t>
            </a:r>
            <a:r>
              <a:rPr lang="en-US" altLang="zh-TW" dirty="0" smtClean="0"/>
              <a:t> (in HTML format) exported from </a:t>
            </a:r>
            <a:r>
              <a:rPr lang="en-US" altLang="zh-TW" dirty="0"/>
              <a:t>Katalon </a:t>
            </a:r>
            <a:r>
              <a:rPr lang="en-US" altLang="zh-TW" dirty="0" smtClean="0"/>
              <a:t>Recorder</a:t>
            </a:r>
          </a:p>
          <a:p>
            <a:pPr marL="514350" indent="-514350">
              <a:buAutoNum type="arabicPeriod"/>
            </a:pPr>
            <a:r>
              <a:rPr lang="en-US" altLang="zh-TW" dirty="0" smtClean="0"/>
              <a:t>Your report to explain what you do</a:t>
            </a:r>
          </a:p>
          <a:p>
            <a:pPr marL="514350" indent="-514350">
              <a:buAutoNum type="arabicPeriod"/>
            </a:pPr>
            <a:r>
              <a:rPr lang="en-US" altLang="zh-TW" dirty="0" err="1" smtClean="0"/>
              <a:t>rawScore</a:t>
            </a:r>
            <a:r>
              <a:rPr lang="en-US" altLang="zh-TW" dirty="0" smtClean="0"/>
              <a:t> </a:t>
            </a:r>
            <a:r>
              <a:rPr lang="en-US" altLang="zh-TW" dirty="0"/>
              <a:t>calculate </a:t>
            </a:r>
            <a:r>
              <a:rPr lang="en-US" altLang="zh-TW" dirty="0" smtClean="0"/>
              <a:t>yourself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cs typeface="Consolas" panose="020B0609020204030204" pitchFamily="49" charset="0"/>
              </a:rPr>
              <a:t>Compress to .zip format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cs typeface="Consolas" panose="020B0609020204030204" pitchFamily="49" charset="0"/>
              </a:rPr>
              <a:t>Upload to </a:t>
            </a:r>
            <a:r>
              <a:rPr lang="en-US" altLang="zh-TW" dirty="0" err="1">
                <a:solidFill>
                  <a:prstClr val="black"/>
                </a:solidFill>
                <a:cs typeface="Consolas" panose="020B0609020204030204" pitchFamily="49" charset="0"/>
              </a:rPr>
              <a:t>Ceiba</a:t>
            </a:r>
            <a:endParaRPr lang="en-US" altLang="zh-TW" dirty="0">
              <a:solidFill>
                <a:prstClr val="black"/>
              </a:solidFill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TW" dirty="0"/>
          </a:p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AutoNum type="arabicPeriod"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008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363</Words>
  <Application>Microsoft Office PowerPoint</Application>
  <PresentationFormat>寬螢幕</PresentationFormat>
  <Paragraphs>88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新細明體</vt:lpstr>
      <vt:lpstr>Arial</vt:lpstr>
      <vt:lpstr>Calibri</vt:lpstr>
      <vt:lpstr>Calibri Light</vt:lpstr>
      <vt:lpstr>Consolas</vt:lpstr>
      <vt:lpstr>Office 佈景主題</vt:lpstr>
      <vt:lpstr>Software Testing Project 2 GUI testing with Selenium</vt:lpstr>
      <vt:lpstr>Selenium</vt:lpstr>
      <vt:lpstr>Selenium IDE </vt:lpstr>
      <vt:lpstr>Selenium IDE </vt:lpstr>
      <vt:lpstr>Katalon Recorder </vt:lpstr>
      <vt:lpstr>Katalon Recorder </vt:lpstr>
      <vt:lpstr>Selenium Client API</vt:lpstr>
      <vt:lpstr>Unit Testing Frameworks </vt:lpstr>
      <vt:lpstr>Instantiate a WebDriver </vt:lpstr>
      <vt:lpstr>Simple Test </vt:lpstr>
      <vt:lpstr>Using the findElement() method </vt:lpstr>
      <vt:lpstr>Element Events </vt:lpstr>
      <vt:lpstr>Requirements</vt:lpstr>
      <vt:lpstr>Score</vt:lpstr>
      <vt:lpstr>Submission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Project 2 GUI testing with Selenium</dc:title>
  <dc:creator>simon</dc:creator>
  <cp:lastModifiedBy>FARN</cp:lastModifiedBy>
  <cp:revision>44</cp:revision>
  <dcterms:created xsi:type="dcterms:W3CDTF">2018-10-23T16:25:32Z</dcterms:created>
  <dcterms:modified xsi:type="dcterms:W3CDTF">2018-10-24T07:13:52Z</dcterms:modified>
</cp:coreProperties>
</file>