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4209" r:id="rId2"/>
    <p:sldMasterId id="2147483700" r:id="rId3"/>
  </p:sldMasterIdLst>
  <p:notesMasterIdLst>
    <p:notesMasterId r:id="rId56"/>
  </p:notesMasterIdLst>
  <p:handoutMasterIdLst>
    <p:handoutMasterId r:id="rId57"/>
  </p:handoutMasterIdLst>
  <p:sldIdLst>
    <p:sldId id="259" r:id="rId4"/>
    <p:sldId id="326" r:id="rId5"/>
    <p:sldId id="306" r:id="rId6"/>
    <p:sldId id="311" r:id="rId7"/>
    <p:sldId id="284" r:id="rId8"/>
    <p:sldId id="260" r:id="rId9"/>
    <p:sldId id="327" r:id="rId10"/>
    <p:sldId id="261" r:id="rId11"/>
    <p:sldId id="262" r:id="rId12"/>
    <p:sldId id="263" r:id="rId13"/>
    <p:sldId id="264" r:id="rId14"/>
    <p:sldId id="290" r:id="rId15"/>
    <p:sldId id="308" r:id="rId16"/>
    <p:sldId id="307" r:id="rId17"/>
    <p:sldId id="287" r:id="rId18"/>
    <p:sldId id="315" r:id="rId19"/>
    <p:sldId id="267" r:id="rId20"/>
    <p:sldId id="268" r:id="rId21"/>
    <p:sldId id="309" r:id="rId22"/>
    <p:sldId id="269" r:id="rId23"/>
    <p:sldId id="270" r:id="rId24"/>
    <p:sldId id="285" r:id="rId25"/>
    <p:sldId id="291" r:id="rId26"/>
    <p:sldId id="272" r:id="rId27"/>
    <p:sldId id="273" r:id="rId28"/>
    <p:sldId id="296" r:id="rId29"/>
    <p:sldId id="274" r:id="rId30"/>
    <p:sldId id="275" r:id="rId31"/>
    <p:sldId id="297" r:id="rId32"/>
    <p:sldId id="304" r:id="rId33"/>
    <p:sldId id="293" r:id="rId34"/>
    <p:sldId id="294" r:id="rId35"/>
    <p:sldId id="305" r:id="rId36"/>
    <p:sldId id="314" r:id="rId37"/>
    <p:sldId id="265" r:id="rId38"/>
    <p:sldId id="302" r:id="rId39"/>
    <p:sldId id="316" r:id="rId40"/>
    <p:sldId id="317" r:id="rId41"/>
    <p:sldId id="318" r:id="rId42"/>
    <p:sldId id="319" r:id="rId43"/>
    <p:sldId id="320" r:id="rId44"/>
    <p:sldId id="321" r:id="rId45"/>
    <p:sldId id="323" r:id="rId46"/>
    <p:sldId id="324" r:id="rId47"/>
    <p:sldId id="279" r:id="rId48"/>
    <p:sldId id="280" r:id="rId49"/>
    <p:sldId id="310" r:id="rId50"/>
    <p:sldId id="281" r:id="rId51"/>
    <p:sldId id="298" r:id="rId52"/>
    <p:sldId id="282" r:id="rId53"/>
    <p:sldId id="283" r:id="rId54"/>
    <p:sldId id="303" r:id="rId5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99"/>
    <a:srgbClr val="CCFFCC"/>
    <a:srgbClr val="CCFF33"/>
    <a:srgbClr val="66FF33"/>
    <a:srgbClr val="33CC33"/>
    <a:srgbClr val="008000"/>
    <a:srgbClr val="35EB87"/>
    <a:srgbClr val="3CE458"/>
    <a:srgbClr val="9933FF"/>
    <a:srgbClr val="A7F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76" autoAdjust="0"/>
    <p:restoredTop sz="93784" autoAdjust="0"/>
  </p:normalViewPr>
  <p:slideViewPr>
    <p:cSldViewPr>
      <p:cViewPr varScale="1">
        <p:scale>
          <a:sx n="65" d="100"/>
          <a:sy n="65" d="100"/>
        </p:scale>
        <p:origin x="1272" y="6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2796"/>
    </p:cViewPr>
  </p:sorterViewPr>
  <p:notesViewPr>
    <p:cSldViewPr>
      <p:cViewPr varScale="1">
        <p:scale>
          <a:sx n="75" d="100"/>
          <a:sy n="75" d="100"/>
        </p:scale>
        <p:origin x="-339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tableStyles" Target="tableStyle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handoutMaster" Target="handoutMasters/handout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zh-TW"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0DC7ED2F-EA3E-44EF-9D45-2D290E50C7B5}" type="datetimeFigureOut">
              <a:rPr lang="zh-TW" altLang="en-US"/>
              <a:pPr>
                <a:defRPr/>
              </a:pPr>
              <a:t>2025/9/5</a:t>
            </a:fld>
            <a:endParaRPr lang="zh-TW"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B2424619-F27D-44CE-9792-CA034167B680}" type="slidenum">
              <a:rPr lang="zh-TW" altLang="en-US"/>
              <a:pPr>
                <a:defRPr/>
              </a:pPr>
              <a:t>‹#›</a:t>
            </a:fld>
            <a:endParaRPr lang="zh-TW" altLang="en-US"/>
          </a:p>
        </p:txBody>
      </p:sp>
      <p:sp>
        <p:nvSpPr>
          <p:cNvPr id="6" name="Footer Placeholder 5"/>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TW"/>
          </a:p>
        </p:txBody>
      </p:sp>
      <p:sp>
        <p:nvSpPr>
          <p:cNvPr id="102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TW"/>
          </a:p>
        </p:txBody>
      </p:sp>
      <p:sp>
        <p:nvSpPr>
          <p:cNvPr id="71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TW" noProof="0"/>
              <a:t>Click to edit Master text styles</a:t>
            </a:r>
          </a:p>
          <a:p>
            <a:pPr lvl="1"/>
            <a:r>
              <a:rPr lang="en-US" altLang="zh-TW" noProof="0"/>
              <a:t>Second level</a:t>
            </a:r>
          </a:p>
          <a:p>
            <a:pPr lvl="2"/>
            <a:r>
              <a:rPr lang="en-US" altLang="zh-TW" noProof="0"/>
              <a:t>Third level</a:t>
            </a:r>
          </a:p>
          <a:p>
            <a:pPr lvl="3"/>
            <a:r>
              <a:rPr lang="en-US" altLang="zh-TW" noProof="0"/>
              <a:t>Fourth level</a:t>
            </a:r>
          </a:p>
          <a:p>
            <a:pPr lvl="4"/>
            <a:r>
              <a:rPr lang="en-US" altLang="zh-TW" noProof="0"/>
              <a:t>Fifth level</a:t>
            </a:r>
          </a:p>
        </p:txBody>
      </p:sp>
      <p:sp>
        <p:nvSpPr>
          <p:cNvPr id="102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TW"/>
          </a:p>
        </p:txBody>
      </p:sp>
      <p:sp>
        <p:nvSpPr>
          <p:cNvPr id="102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B7C5D9D-4552-4D37-AF58-CF46081B74BA}" type="slidenum">
              <a:rPr lang="zh-TW" altLang="en-US"/>
              <a:pPr>
                <a:defRPr/>
              </a:pPr>
              <a:t>‹#›</a:t>
            </a:fld>
            <a:endParaRPr lang="en-US" altLang="zh-T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投影片圖像版面配置區 1"/>
          <p:cNvSpPr>
            <a:spLocks noGrp="1" noRot="1" noChangeAspect="1" noTextEdit="1"/>
          </p:cNvSpPr>
          <p:nvPr>
            <p:ph type="sldImg"/>
          </p:nvPr>
        </p:nvSpPr>
        <p:spPr>
          <a:ln/>
        </p:spPr>
      </p:sp>
      <p:sp>
        <p:nvSpPr>
          <p:cNvPr id="27651"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Relocation is related to linking and loading. Read Levine's book Linkers &amp; Loaders for details. Long time ago (at the beginning of Unix, 1970s) the kernel loaded and started an executable by simply copying blocks -memory segments- from disk to RAM, but today, with virtual memory &amp; paging enabling shared libraries, things are much more complex.</a:t>
            </a:r>
          </a:p>
          <a:p>
            <a:endParaRPr lang="en-US" altLang="zh-TW">
              <a:latin typeface="Arial" panose="020B0604020202020204" pitchFamily="34" charset="0"/>
            </a:endParaRPr>
          </a:p>
          <a:p>
            <a:r>
              <a:rPr lang="en-US" altLang="zh-TW">
                <a:latin typeface="Arial" panose="020B0604020202020204" pitchFamily="34" charset="0"/>
              </a:rPr>
              <a:t>(I'm taking mostly a Linux perspective below; but I guess you can adapt my answer to your OS.)</a:t>
            </a:r>
          </a:p>
          <a:p>
            <a:endParaRPr lang="en-US" altLang="zh-TW">
              <a:latin typeface="Arial" panose="020B0604020202020204" pitchFamily="34" charset="0"/>
            </a:endParaRPr>
          </a:p>
          <a:p>
            <a:r>
              <a:rPr lang="en-US" altLang="zh-TW">
                <a:latin typeface="Arial" panose="020B0604020202020204" pitchFamily="34" charset="0"/>
              </a:rPr>
              <a:t>Usually object files (or libraries) -sometimes called relocatable binaries- contain not only some binary sections (containing machine code and/or data) but also some relocation sections containing a sequence of relocation directives to modify the segment containing the section at link or load time. Even some executables (notably those dynamically linked) may contain relocation directives ... A relocation directive might be: in memory at address A loaded by offset B in file, replace the three following bytes by the 24 lowest bits of difference between A and the value of the linker symbol (e.g. the address of function named) printf</a:t>
            </a:r>
          </a:p>
          <a:p>
            <a:endParaRPr lang="en-US" altLang="zh-TW">
              <a:latin typeface="Arial" panose="020B0604020202020204" pitchFamily="34" charset="0"/>
            </a:endParaRPr>
          </a:p>
          <a:p>
            <a:r>
              <a:rPr lang="en-US" altLang="zh-TW">
                <a:latin typeface="Arial" panose="020B0604020202020204" pitchFamily="34" charset="0"/>
              </a:rPr>
              <a:t>Read more about ELF, and read the ABI specification relevant to your system (e.g. this one for Linux/x86_64 ABI), for details about the particular relocation directives possible on your computer. The actual relocation directives depend upon the processor's instruction set &amp; addressing modes and the flexibility of the linker or operating system kernel.</a:t>
            </a:r>
          </a:p>
          <a:p>
            <a:endParaRPr lang="en-US" altLang="zh-TW">
              <a:latin typeface="Arial" panose="020B0604020202020204" pitchFamily="34" charset="0"/>
            </a:endParaRPr>
          </a:p>
          <a:p>
            <a:r>
              <a:rPr lang="en-US" altLang="zh-TW">
                <a:latin typeface="Arial" panose="020B0604020202020204" pitchFamily="34" charset="0"/>
              </a:rPr>
              <a:t>Read also about position-independent code, self-relocation, dynamic linker, ASLR. See also ld-linux(8) &amp; elf(5). Use and play with readelf(1), objdump(1), ldd(1) to explore and understand some particular ELF binary (e.g. /bin/ls), and execute it with strace(1) to understand the system calls (listed in syscalls(2)...) involved when running it. See also execve(2) &amp; read Advanced Linux Programming to get a broader picture.</a:t>
            </a:r>
          </a:p>
          <a:p>
            <a:endParaRPr lang="en-US" altLang="zh-TW">
              <a:latin typeface="Arial" panose="020B0604020202020204" pitchFamily="34" charset="0"/>
            </a:endParaRPr>
          </a:p>
          <a:p>
            <a:r>
              <a:rPr lang="en-US" altLang="zh-TW">
                <a:latin typeface="Arial" panose="020B0604020202020204" pitchFamily="34" charset="0"/>
              </a:rPr>
              <a:t>In some systems, the relocation directives (actually some bytecode for the linker) may be complex enough to make them Turing complete (iirc, some versions of HPUX for some HPPA RISC processors had very complex relocations, with conditionals; arithmetic; loops).</a:t>
            </a:r>
          </a:p>
          <a:p>
            <a:endParaRPr lang="en-US" altLang="zh-TW">
              <a:latin typeface="Arial" panose="020B0604020202020204" pitchFamily="34" charset="0"/>
            </a:endParaRPr>
          </a:p>
          <a:p>
            <a:r>
              <a:rPr lang="en-US" altLang="zh-TW">
                <a:latin typeface="Arial" panose="020B0604020202020204" pitchFamily="34" charset="0"/>
              </a:rPr>
              <a:t>And you might consider that link time optimization could be seen as some very complex relocation; but most people view it as some weird compiler optimization happening at link time (In fact, the border between compilation &amp; linking &amp; running is unclear, see also just-in-time compilation).</a:t>
            </a:r>
          </a:p>
          <a:p>
            <a:endParaRPr lang="en-US" altLang="zh-TW">
              <a:latin typeface="Arial" panose="020B0604020202020204" pitchFamily="34" charset="0"/>
            </a:endParaRPr>
          </a:p>
          <a:p>
            <a:r>
              <a:rPr lang="en-US" altLang="zh-TW">
                <a:latin typeface="Arial" panose="020B0604020202020204" pitchFamily="34" charset="0"/>
              </a:rPr>
              <a:t>********************************</a:t>
            </a:r>
          </a:p>
          <a:p>
            <a:endParaRPr lang="en-US" altLang="zh-TW">
              <a:latin typeface="Arial" panose="020B0604020202020204" pitchFamily="34" charset="0"/>
            </a:endParaRPr>
          </a:p>
          <a:p>
            <a:r>
              <a:rPr lang="en-US" altLang="zh-TW">
                <a:latin typeface="Arial" panose="020B0604020202020204" pitchFamily="34" charset="0"/>
              </a:rPr>
              <a:t>ABI: an application binary interface (ABI) is an interface between two binary program modules; often, one of these modules is a library or operating system facility, and the other is a program that is being run by a user.</a:t>
            </a:r>
          </a:p>
          <a:p>
            <a:endParaRPr lang="en-US" altLang="zh-TW">
              <a:latin typeface="Arial" panose="020B0604020202020204" pitchFamily="34" charset="0"/>
            </a:endParaRPr>
          </a:p>
          <a:p>
            <a:r>
              <a:rPr lang="en-US" altLang="zh-TW">
                <a:latin typeface="Arial" panose="020B0604020202020204" pitchFamily="34" charset="0"/>
              </a:rPr>
              <a:t>**************************************</a:t>
            </a:r>
          </a:p>
          <a:p>
            <a:endParaRPr lang="en-US" altLang="zh-TW">
              <a:latin typeface="Arial" panose="020B0604020202020204" pitchFamily="34" charset="0"/>
            </a:endParaRPr>
          </a:p>
          <a:p>
            <a:r>
              <a:rPr lang="en-US" altLang="zh-TW">
                <a:latin typeface="Arial" panose="020B0604020202020204" pitchFamily="34" charset="0"/>
              </a:rPr>
              <a:t>In computer programming, a p-code machine, or portable code machine[citation needed] is a virtual machine designed to execute p-code (the assembly language of a hypothetical CPU). This term is applied both generically to all such machines (such as the Java Virtual Machine and MATLAB precompiled code), and to specific implementations, the most famous being the p-Machine of the Pascal-P system, particularly the UCSD Pascal implementation (among whose developers the "p" in "p-code" was construed to mean "pseudo" more often than "portable", "pseudo-code" thus meaning instructions for a pseudo-machine) .</a:t>
            </a:r>
          </a:p>
          <a:p>
            <a:endParaRPr lang="en-US" altLang="zh-TW">
              <a:latin typeface="Arial" panose="020B0604020202020204" pitchFamily="34" charset="0"/>
            </a:endParaRPr>
          </a:p>
          <a:p>
            <a:r>
              <a:rPr lang="en-US" altLang="zh-TW">
                <a:latin typeface="Arial" panose="020B0604020202020204" pitchFamily="34" charset="0"/>
              </a:rPr>
              <a:t>Although the concept was first implemented circa 1966 (as O-code for BCPL and P – a code for the Euler Language),[1] the term p-code first appeared in the early 1970s. Two early compilers generating p-code were the Pascal-P compiler in 1973, by Nori, Ammann, Jensen, Hageli, and Jacobi,[2] and the Pascal-S compiler in 1975, by Niklaus Wirth.</a:t>
            </a:r>
          </a:p>
          <a:p>
            <a:endParaRPr lang="en-US" altLang="zh-TW">
              <a:latin typeface="Arial" panose="020B0604020202020204" pitchFamily="34" charset="0"/>
            </a:endParaRPr>
          </a:p>
          <a:p>
            <a:r>
              <a:rPr lang="en-US" altLang="zh-TW">
                <a:latin typeface="Arial" panose="020B0604020202020204" pitchFamily="34" charset="0"/>
              </a:rPr>
              <a:t>Programs that have been translated to p-code can either be interpreted by a software program that emulates the behavior of the hypothetical CPU, or translated into the machine code of the CPU on which the program is to run and then executed. If there is sufficient commercial interest, a hardware implementation of the CPU specification may be built (e.g., the Pascal MicroEngine or a version of the Java processor).</a:t>
            </a:r>
          </a:p>
          <a:p>
            <a:endParaRPr lang="en-US" altLang="zh-TW">
              <a:latin typeface="Arial" panose="020B0604020202020204" pitchFamily="34" charset="0"/>
            </a:endParaRPr>
          </a:p>
          <a:p>
            <a:r>
              <a:rPr lang="en-US" altLang="zh-TW">
                <a:latin typeface="Arial" panose="020B0604020202020204" pitchFamily="34" charset="0"/>
              </a:rPr>
              <a:t>***************************************</a:t>
            </a:r>
          </a:p>
          <a:p>
            <a:endParaRPr lang="en-US" altLang="zh-TW">
              <a:latin typeface="Arial" panose="020B0604020202020204" pitchFamily="34" charset="0"/>
            </a:endParaRPr>
          </a:p>
          <a:p>
            <a:r>
              <a:rPr lang="en-US" altLang="zh-TW">
                <a:latin typeface="Arial" panose="020B0604020202020204" pitchFamily="34" charset="0"/>
              </a:rPr>
              <a:t>Intel(R) C++ Compiler 15.0 Beta Update 2 provides a feature which enables offloading general purpose compute kernels to processor graphics. This feature enables the processor graphics silicon area for general purpose computing. Unlike the discrete graphics cards, processor graphics can directly access system RAM. Each processor graphics (depending on the processor generation and SKU) host certain number of execution units and each execution has certain number of hardware threads (each thread can run in SIMD mode). The key idea is to utilize the compute power of both CPU cores and GPU execution units in tandem for better utilization of available compute power. Intel(R) C++ Compiler enables the compute offload using Intel(R) Cilk(TM) Plus programming model which gives a seamless porting experience for C/C++ developers. Refer to https://01.org/linuxgraphics/documentation for more information on the hardware specifications of different processor graphics SKUs.</a:t>
            </a:r>
          </a:p>
          <a:p>
            <a:endParaRPr lang="en-US" altLang="zh-TW">
              <a:latin typeface="Arial" panose="020B0604020202020204" pitchFamily="34" charset="0"/>
            </a:endParaRPr>
          </a:p>
          <a:p>
            <a:r>
              <a:rPr lang="en-US" altLang="zh-TW">
                <a:latin typeface="Arial" panose="020B0604020202020204" pitchFamily="34" charset="0"/>
              </a:rPr>
              <a:t>Code generation options:</a:t>
            </a:r>
          </a:p>
          <a:p>
            <a:endParaRPr lang="en-US" altLang="zh-TW">
              <a:latin typeface="Arial" panose="020B0604020202020204" pitchFamily="34" charset="0"/>
            </a:endParaRPr>
          </a:p>
          <a:p>
            <a:r>
              <a:rPr lang="en-US" altLang="zh-TW">
                <a:latin typeface="Arial" panose="020B0604020202020204" pitchFamily="34" charset="0"/>
              </a:rPr>
              <a:t>Virtual Instruction Set Architecture (vISA) - This is a standard approach for general purpose computing. Here the compiler, during the target offload compilation phase, will not generate the native instruction for the target rather generates a virtual instruction (similar to bytecodes in Java). This is an intermediate representation which is feed as a input to the jitter at runtime. The Jitter queries the SKU of the processor graphics on board the target machine and jits the native instructions corresponding to each virtual ISA. The Jitter comes as a part of Intel(R) HD Graphics Driver. For more information of how to get the driver, please refer to "Getting Started with compute offload to Intel(R) Graphics Technology".</a:t>
            </a:r>
            <a:endParaRPr lang="zh-TW" altLang="en-US">
              <a:latin typeface="Arial" panose="020B0604020202020204" pitchFamily="34" charset="0"/>
            </a:endParaRPr>
          </a:p>
        </p:txBody>
      </p:sp>
      <p:sp>
        <p:nvSpPr>
          <p:cNvPr id="27652"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9B57A08-59D5-4554-B5F8-FBC5217B590F}" type="slidenum">
              <a:rPr lang="zh-TW" altLang="en-US" smtClean="0"/>
              <a:pPr/>
              <a:t>8</a:t>
            </a:fld>
            <a:endParaRPr lang="en-US" altLang="zh-TW"/>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投影片圖像版面配置區 1"/>
          <p:cNvSpPr>
            <a:spLocks noGrp="1" noRot="1" noChangeAspect="1" noTextEdit="1"/>
          </p:cNvSpPr>
          <p:nvPr>
            <p:ph type="sldImg"/>
          </p:nvPr>
        </p:nvSpPr>
        <p:spPr>
          <a:ln/>
        </p:spPr>
      </p:sp>
      <p:sp>
        <p:nvSpPr>
          <p:cNvPr id="32771"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just-in-time (JIT) compilation (also dynamic translation or run-time compilations)[1] is a way of executing computer code that involves compilation during execution of a program – at run time – rather than prior to execution.[2] Most often, this consists of source code or more commonly bytecode translation to machine code, which is then executed directly. A system implementing a JIT compiler typically continuously analyses the code being executed and identifies parts of the code where the speedup gained from compilation or recompilation would outweigh the overhead of compiling that code.</a:t>
            </a:r>
            <a:endParaRPr lang="zh-TW" altLang="en-US">
              <a:latin typeface="Arial" panose="020B0604020202020204" pitchFamily="34" charset="0"/>
            </a:endParaRPr>
          </a:p>
        </p:txBody>
      </p:sp>
      <p:sp>
        <p:nvSpPr>
          <p:cNvPr id="32772"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E1E091E-0D25-4AC6-B4BE-D43295D2E431}" type="slidenum">
              <a:rPr lang="zh-TW" altLang="en-US" smtClean="0"/>
              <a:pPr/>
              <a:t>12</a:t>
            </a:fld>
            <a:endParaRPr lang="en-US" altLang="zh-TW"/>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投影片圖像版面配置區 1"/>
          <p:cNvSpPr>
            <a:spLocks noGrp="1" noRot="1" noChangeAspect="1" noTextEdit="1"/>
          </p:cNvSpPr>
          <p:nvPr>
            <p:ph type="sldImg"/>
          </p:nvPr>
        </p:nvSpPr>
        <p:spPr>
          <a:ln/>
        </p:spPr>
      </p:sp>
      <p:sp>
        <p:nvSpPr>
          <p:cNvPr id="34819"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OpenCL™ (Open Computing Language) is a low-level API for heterogeneous computing that runs on CUDA-powered GPUs. Using the OpenCL API, developers can launch compute kernels written using a limited subset of the C programming language on a GPU.</a:t>
            </a:r>
          </a:p>
          <a:p>
            <a:endParaRPr lang="en-US" altLang="zh-TW">
              <a:latin typeface="Arial" panose="020B0604020202020204" pitchFamily="34" charset="0"/>
            </a:endParaRPr>
          </a:p>
          <a:p>
            <a:r>
              <a:rPr lang="en-US" altLang="zh-TW">
                <a:latin typeface="Arial" panose="020B0604020202020204" pitchFamily="34" charset="0"/>
              </a:rPr>
              <a:t>OpenCL support is included in the latest NVIDIA GPU drivers, available at www.nvidia.com/drivers</a:t>
            </a:r>
            <a:endParaRPr lang="zh-TW" altLang="en-US">
              <a:latin typeface="Arial" panose="020B0604020202020204" pitchFamily="34" charset="0"/>
            </a:endParaRPr>
          </a:p>
        </p:txBody>
      </p:sp>
      <p:sp>
        <p:nvSpPr>
          <p:cNvPr id="34820"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0D82C3A-0A1B-4FFD-A3B6-B31AE50A28A3}" type="slidenum">
              <a:rPr lang="zh-TW" altLang="en-US" smtClean="0"/>
              <a:pPr/>
              <a:t>13</a:t>
            </a:fld>
            <a:endParaRPr lang="en-US" altLang="zh-TW"/>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投影片圖像版面配置區 1"/>
          <p:cNvSpPr>
            <a:spLocks noGrp="1" noRot="1" noChangeAspect="1" noTextEdit="1"/>
          </p:cNvSpPr>
          <p:nvPr>
            <p:ph type="sldImg"/>
          </p:nvPr>
        </p:nvSpPr>
        <p:spPr>
          <a:ln/>
        </p:spPr>
      </p:sp>
      <p:sp>
        <p:nvSpPr>
          <p:cNvPr id="37891"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latin typeface="Arial" panose="020B0604020202020204" pitchFamily="34" charset="0"/>
            </a:endParaRPr>
          </a:p>
        </p:txBody>
      </p:sp>
      <p:sp>
        <p:nvSpPr>
          <p:cNvPr id="37892"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E23182F-CC84-476A-98B5-D9BDF522B293}" type="slidenum">
              <a:rPr lang="zh-TW" altLang="en-US" smtClean="0"/>
              <a:pPr/>
              <a:t>15</a:t>
            </a:fld>
            <a:endParaRPr lang="en-US" altLang="zh-TW"/>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投影片圖像版面配置區 1"/>
          <p:cNvSpPr>
            <a:spLocks noGrp="1" noRot="1" noChangeAspect="1" noTextEdit="1"/>
          </p:cNvSpPr>
          <p:nvPr>
            <p:ph type="sldImg"/>
          </p:nvPr>
        </p:nvSpPr>
        <p:spPr>
          <a:ln/>
        </p:spPr>
      </p:sp>
      <p:sp>
        <p:nvSpPr>
          <p:cNvPr id="45059"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IR: code generation is the process by which a compiler's code generator converts some intermediate representation of source code into a form (e.g., machine code) that can be readily executed by a machine.</a:t>
            </a:r>
            <a:endParaRPr lang="zh-TW" altLang="en-US">
              <a:latin typeface="Arial" panose="020B0604020202020204" pitchFamily="34" charset="0"/>
            </a:endParaRPr>
          </a:p>
        </p:txBody>
      </p:sp>
      <p:sp>
        <p:nvSpPr>
          <p:cNvPr id="45060"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3946313-A4B2-4901-938F-56F650AE80CD}" type="slidenum">
              <a:rPr lang="zh-TW" altLang="en-US" smtClean="0"/>
              <a:pPr/>
              <a:t>21</a:t>
            </a:fld>
            <a:endParaRPr lang="en-US" altLang="zh-TW"/>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投影片圖像版面配置區 1"/>
          <p:cNvSpPr>
            <a:spLocks noGrp="1" noRot="1" noChangeAspect="1" noTextEdit="1"/>
          </p:cNvSpPr>
          <p:nvPr>
            <p:ph type="sldImg"/>
          </p:nvPr>
        </p:nvSpPr>
        <p:spPr>
          <a:ln/>
        </p:spPr>
      </p:sp>
      <p:sp>
        <p:nvSpPr>
          <p:cNvPr id="54275"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PA-RISC is an instruction set architecture (ISA) developed by Hewlett-Packard. As the name implies, it is a reduced instruction set computer (RISC) architecture, where the PA stands for Precision Architecture. The design is also referred to as HP/PA for Hewlett Packard Precision Architecture.</a:t>
            </a:r>
          </a:p>
          <a:p>
            <a:endParaRPr lang="en-US" altLang="zh-TW">
              <a:latin typeface="Arial" panose="020B0604020202020204" pitchFamily="34" charset="0"/>
            </a:endParaRPr>
          </a:p>
          <a:p>
            <a:r>
              <a:rPr lang="en-US" altLang="zh-TW">
                <a:latin typeface="Arial" panose="020B0604020202020204" pitchFamily="34" charset="0"/>
              </a:rPr>
              <a:t>The architecture was introduced on 26 February 1986, when the HP 3000 Series 930 and HP 9000 Model 840 computers were launched featuring the first implementation, the TS1.[1][2]</a:t>
            </a:r>
          </a:p>
          <a:p>
            <a:endParaRPr lang="en-US" altLang="zh-TW">
              <a:latin typeface="Arial" panose="020B0604020202020204" pitchFamily="34" charset="0"/>
            </a:endParaRPr>
          </a:p>
          <a:p>
            <a:r>
              <a:rPr lang="en-US" altLang="zh-TW">
                <a:latin typeface="Arial" panose="020B0604020202020204" pitchFamily="34" charset="0"/>
              </a:rPr>
              <a:t>PA-RISC has been succeeded by the Itanium (originally IA-64) ISA, jointly developed by HP and Intel.[3] HP stopped selling PA-RISC-based HP 9000 systems at the end of 2008 but supported servers running PA-RISC chips until 2013.[4]</a:t>
            </a:r>
            <a:endParaRPr lang="zh-TW" altLang="en-US">
              <a:latin typeface="Arial" panose="020B0604020202020204" pitchFamily="34" charset="0"/>
            </a:endParaRPr>
          </a:p>
        </p:txBody>
      </p:sp>
      <p:sp>
        <p:nvSpPr>
          <p:cNvPr id="54276"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252EC0A-9235-45BD-B8D5-3E1847A7364F}" type="slidenum">
              <a:rPr lang="zh-TW" altLang="en-US" smtClean="0"/>
              <a:pPr/>
              <a:t>29</a:t>
            </a:fld>
            <a:endParaRPr lang="en-US" altLang="zh-TW"/>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投影片圖像版面配置區 1"/>
          <p:cNvSpPr>
            <a:spLocks noGrp="1" noRot="1" noChangeAspect="1" noTextEdit="1"/>
          </p:cNvSpPr>
          <p:nvPr>
            <p:ph type="sldImg"/>
          </p:nvPr>
        </p:nvSpPr>
        <p:spPr>
          <a:ln/>
        </p:spPr>
      </p:sp>
      <p:sp>
        <p:nvSpPr>
          <p:cNvPr id="57347"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The output language: PowerPC assembly language</a:t>
            </a:r>
          </a:p>
          <a:p>
            <a:r>
              <a:rPr lang="en-US" altLang="zh-TW">
                <a:latin typeface="Arial" panose="020B0604020202020204" pitchFamily="34" charset="0"/>
              </a:rPr>
              <a:t>The target language for our compiler is PPC, an abstract syntax for a subset of the PowerPC assembly language, comprising 82 of the 200+ instructions of this processor, plus 7 macro-instructions. </a:t>
            </a:r>
          </a:p>
          <a:p>
            <a:endParaRPr lang="zh-TW" altLang="en-US">
              <a:latin typeface="Arial" panose="020B0604020202020204" pitchFamily="34" charset="0"/>
            </a:endParaRPr>
          </a:p>
        </p:txBody>
      </p:sp>
      <p:sp>
        <p:nvSpPr>
          <p:cNvPr id="57348"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485BE6C-3997-4896-B2D4-8DF9A67BF502}" type="slidenum">
              <a:rPr lang="zh-TW" altLang="en-US" smtClean="0"/>
              <a:pPr/>
              <a:t>31</a:t>
            </a:fld>
            <a:endParaRPr lang="en-US" altLang="zh-TW"/>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投影片圖像版面配置區 1"/>
          <p:cNvSpPr>
            <a:spLocks noGrp="1" noRot="1" noChangeAspect="1" noTextEdit="1"/>
          </p:cNvSpPr>
          <p:nvPr>
            <p:ph type="sldImg"/>
          </p:nvPr>
        </p:nvSpPr>
        <p:spPr>
          <a:ln/>
        </p:spPr>
      </p:sp>
      <p:sp>
        <p:nvSpPr>
          <p:cNvPr id="59395"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The output language: PowerPC assembly language</a:t>
            </a:r>
          </a:p>
          <a:p>
            <a:r>
              <a:rPr lang="en-US" altLang="zh-TW">
                <a:latin typeface="Arial" panose="020B0604020202020204" pitchFamily="34" charset="0"/>
              </a:rPr>
              <a:t>The target language for our compiler is PPC, an abstract syntax for a subset of the PowerPC assembly language, comprising 82 of the 200+ instructions of this processor, plus 7 macro-instructions. </a:t>
            </a:r>
            <a:endParaRPr lang="zh-TW" altLang="en-US">
              <a:latin typeface="Arial" panose="020B0604020202020204" pitchFamily="34" charset="0"/>
            </a:endParaRPr>
          </a:p>
        </p:txBody>
      </p:sp>
      <p:sp>
        <p:nvSpPr>
          <p:cNvPr id="59396"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49F4339-27B6-4758-A4ED-36865E0D9F81}" type="slidenum">
              <a:rPr lang="zh-TW" altLang="en-US" smtClean="0"/>
              <a:pPr/>
              <a:t>32</a:t>
            </a:fld>
            <a:endParaRPr lang="en-US" altLang="zh-TW"/>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投影片圖像版面配置區 1"/>
          <p:cNvSpPr>
            <a:spLocks noGrp="1" noRot="1" noChangeAspect="1" noTextEdit="1"/>
          </p:cNvSpPr>
          <p:nvPr>
            <p:ph type="sldImg"/>
          </p:nvPr>
        </p:nvSpPr>
        <p:spPr>
          <a:ln/>
        </p:spPr>
      </p:sp>
      <p:sp>
        <p:nvSpPr>
          <p:cNvPr id="61443"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DragonEgg is a gcc plugin that replaces GCC's optimizers and code generators with those from the LLVM project. It works with gcc-4.5 or newer, can target the x86-32/x86-64 and ARM processor families, and has been successfully used on the Darwin, FreeBSD, KFreeBSD, Linux and OpenBSD platforms. It fully supports Ada, C, C++ and Fortran. It has partial support for Go, Java, Obj-C and Obj-C++.</a:t>
            </a:r>
          </a:p>
          <a:p>
            <a:endParaRPr lang="en-US" altLang="zh-TW">
              <a:latin typeface="Arial" panose="020B0604020202020204" pitchFamily="34" charset="0"/>
            </a:endParaRPr>
          </a:p>
          <a:p>
            <a:r>
              <a:rPr lang="en-US" altLang="zh-TW">
                <a:latin typeface="Arial" panose="020B0604020202020204" pitchFamily="34" charset="0"/>
              </a:rPr>
              <a:t>********************************</a:t>
            </a:r>
          </a:p>
          <a:p>
            <a:endParaRPr lang="en-US" altLang="zh-TW">
              <a:latin typeface="Arial" panose="020B0604020202020204" pitchFamily="34" charset="0"/>
            </a:endParaRPr>
          </a:p>
          <a:p>
            <a:r>
              <a:rPr lang="en-US" altLang="zh-TW">
                <a:latin typeface="Arial" panose="020B0604020202020204" pitchFamily="34" charset="0"/>
              </a:rPr>
              <a:t>LLBT: an LLVM-based static binary translator</a:t>
            </a:r>
          </a:p>
          <a:p>
            <a:r>
              <a:rPr lang="en-US" altLang="zh-TW">
                <a:latin typeface="Arial" panose="020B0604020202020204" pitchFamily="34" charset="0"/>
              </a:rPr>
              <a:t>Bor-Yeh Shen, Jiunn-Yeu Chen, +1 author Wuu YangPublished 2012 in CASES</a:t>
            </a:r>
          </a:p>
          <a:p>
            <a:r>
              <a:rPr lang="en-US" altLang="zh-TW">
                <a:latin typeface="Arial" panose="020B0604020202020204" pitchFamily="34" charset="0"/>
              </a:rPr>
              <a:t>DOI:10.1145/2380403.2380419</a:t>
            </a:r>
          </a:p>
          <a:p>
            <a:r>
              <a:rPr lang="en-US" altLang="zh-TW">
                <a:latin typeface="Arial" panose="020B0604020202020204" pitchFamily="34" charset="0"/>
              </a:rPr>
              <a:t>Lack of applications has always been a serious concern for designing machines with a new but incompatible ISA. To address this concern, binary translation is one common technique to migrate applications from one legacy ISA to new ones. In the past, dynamic binary translation (DBT) has been more widely adopted for migrating applications since it avoids some challenging problems for binary translation such as code discovery for variable length ISA and code location issues for handling indirect branches. Static binary translation (SBT) is usually regarded as a less general solution and has not been actively researched on. However, SBT has advantages of performing more aggressive optimizations, which could yield more compact code and greater code quality. In general, SBT translated applications are likely to consume less memory, processor cycles and power, and can be started more quickly. All the above advantages are more critical for embedded systems than for general systems. Therefore, we believe that even though SBT is not as general as DBT, it has a unique role to play for migrating applications in embedded systems.</a:t>
            </a:r>
          </a:p>
          <a:p>
            <a:r>
              <a:rPr lang="en-US" altLang="zh-TW">
                <a:latin typeface="Arial" panose="020B0604020202020204" pitchFamily="34" charset="0"/>
              </a:rPr>
              <a:t>In this paper, we designed and implemented a new portable SBT tool, called LLBT, which translates source binary into LLVM IR and then retargets the LLVM IR to various ISAs by using the LLVM compiler infrastructure. Using the LLVM compiler infrastructure, LLBT successfully leverages two important functionalities from LLVM: the comprehensive optimizations and the retargetability. For example, most DBTs map guest architecture states into the host registers to minimize accessing guest architecture states with memory operations, but must deal with guest architecture state saving/reloading at trace/block entry/exit points. LLBT can treat the complete application binary as a single function and uses the global register allocation optimization in LLVM to consistently map guest architecture states in host registers so as to avoid the costly state saving and reloading at trace/block exits.</a:t>
            </a:r>
          </a:p>
          <a:p>
            <a:r>
              <a:rPr lang="en-US" altLang="zh-TW">
                <a:latin typeface="Arial" panose="020B0604020202020204" pitchFamily="34" charset="0"/>
              </a:rPr>
              <a:t>In this paper, we have shown our ARM-based LLBT can effectively migrate EEMBC benchmark Suite from ARMv5 to Intel IA32, Intel x64, MIPS, and other ARMs such as ARMv7. On the Intel i7 based host systems, the LLBT generated code can run 3 to 64 times faster than emulating with QEMU, which uses the DBT technique. </a:t>
            </a:r>
          </a:p>
          <a:p>
            <a:endParaRPr lang="en-US" altLang="zh-TW">
              <a:latin typeface="Arial" panose="020B0604020202020204" pitchFamily="34" charset="0"/>
            </a:endParaRPr>
          </a:p>
          <a:p>
            <a:r>
              <a:rPr lang="en-US" altLang="zh-TW">
                <a:latin typeface="Arial" panose="020B0604020202020204" pitchFamily="34" charset="0"/>
              </a:rPr>
              <a:t>*****************************</a:t>
            </a:r>
          </a:p>
          <a:p>
            <a:endParaRPr lang="en-US" altLang="zh-TW">
              <a:latin typeface="Arial" panose="020B0604020202020204" pitchFamily="34" charset="0"/>
            </a:endParaRPr>
          </a:p>
          <a:p>
            <a:endParaRPr lang="zh-TW" altLang="en-US">
              <a:latin typeface="Arial" panose="020B0604020202020204" pitchFamily="34" charset="0"/>
            </a:endParaRPr>
          </a:p>
        </p:txBody>
      </p:sp>
      <p:sp>
        <p:nvSpPr>
          <p:cNvPr id="61444"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7524CE0-BB14-41E7-BE37-691D142B24D8}" type="slidenum">
              <a:rPr lang="zh-TW" altLang="en-US" smtClean="0"/>
              <a:pPr/>
              <a:t>33</a:t>
            </a:fld>
            <a:endParaRPr lang="en-US" altLang="zh-TW"/>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XLA (Accelerated Linear Algebra) is a domain-specific compiler for linear algebra that optimizes </a:t>
            </a:r>
            <a:r>
              <a:rPr lang="en-US" altLang="zh-TW" dirty="0" err="1"/>
              <a:t>TensorFlow</a:t>
            </a:r>
            <a:r>
              <a:rPr lang="en-US" altLang="zh-TW" dirty="0"/>
              <a:t> computations. </a:t>
            </a:r>
          </a:p>
          <a:p>
            <a:r>
              <a:rPr lang="en-US" altLang="zh-TW" dirty="0"/>
              <a:t>The results are improvements in speed, memory usage, and portability on server and mobile platforms. </a:t>
            </a:r>
          </a:p>
          <a:p>
            <a:r>
              <a:rPr lang="en-US" altLang="zh-TW" dirty="0"/>
              <a:t>The XLA framework is experimental and in active development. </a:t>
            </a:r>
            <a:endParaRPr lang="zh-TW" altLang="en-US" dirty="0"/>
          </a:p>
        </p:txBody>
      </p:sp>
      <p:sp>
        <p:nvSpPr>
          <p:cNvPr id="4" name="投影片編號版面配置區 3"/>
          <p:cNvSpPr>
            <a:spLocks noGrp="1"/>
          </p:cNvSpPr>
          <p:nvPr>
            <p:ph type="sldNum" sz="quarter" idx="10"/>
          </p:nvPr>
        </p:nvSpPr>
        <p:spPr/>
        <p:txBody>
          <a:bodyPr/>
          <a:lstStyle/>
          <a:p>
            <a:pPr>
              <a:defRPr/>
            </a:pPr>
            <a:fld id="{DB7C5D9D-4552-4D37-AF58-CF46081B74BA}" type="slidenum">
              <a:rPr lang="zh-TW" altLang="en-US" smtClean="0"/>
              <a:pPr>
                <a:defRPr/>
              </a:pPr>
              <a:t>43</a:t>
            </a:fld>
            <a:endParaRPr lang="en-US" altLang="zh-TW"/>
          </a:p>
        </p:txBody>
      </p:sp>
    </p:spTree>
    <p:extLst>
      <p:ext uri="{BB962C8B-B14F-4D97-AF65-F5344CB8AC3E}">
        <p14:creationId xmlns:p14="http://schemas.microsoft.com/office/powerpoint/2010/main" val="752520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投影片圖像版面配置區 1"/>
          <p:cNvSpPr>
            <a:spLocks noGrp="1" noRot="1" noChangeAspect="1" noTextEdit="1"/>
          </p:cNvSpPr>
          <p:nvPr>
            <p:ph type="sldImg"/>
          </p:nvPr>
        </p:nvSpPr>
        <p:spPr>
          <a:ln/>
        </p:spPr>
      </p:sp>
      <p:sp>
        <p:nvSpPr>
          <p:cNvPr id="83971"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rPr>
              <a:t>denotational semantics (initially known as mathematical semantics or Scott–Strachey semantics) is an approach of formalizing the meanings of programming languages by constructing mathematical objects (called denotations) that describe the meanings of expressions from the languages. Other approaches provide formal semantics of programming languages including axiomatic semantics and operational semantics.</a:t>
            </a:r>
          </a:p>
          <a:p>
            <a:endParaRPr lang="en-US" altLang="zh-TW">
              <a:latin typeface="Arial" panose="020B0604020202020204" pitchFamily="34" charset="0"/>
            </a:endParaRPr>
          </a:p>
          <a:p>
            <a:r>
              <a:rPr lang="en-US" altLang="zh-TW">
                <a:latin typeface="Arial" panose="020B0604020202020204" pitchFamily="34" charset="0"/>
              </a:rPr>
              <a:t>Broadly speaking, denotational semantics is concerned with finding mathematical objects called domains that represent what programs do. For example, programs (or program phrases) might be represented by partial functions or by games between the environment and the system.</a:t>
            </a:r>
          </a:p>
          <a:p>
            <a:endParaRPr lang="en-US" altLang="zh-TW">
              <a:latin typeface="Arial" panose="020B0604020202020204" pitchFamily="34" charset="0"/>
            </a:endParaRPr>
          </a:p>
          <a:p>
            <a:r>
              <a:rPr lang="en-US" altLang="zh-TW">
                <a:latin typeface="Arial" panose="020B0604020202020204" pitchFamily="34" charset="0"/>
              </a:rPr>
              <a:t>An important tenet of denotational semantics is that semantics should be compositional: the denotation of a program phrase should be built out of the denotations of its subphrases.</a:t>
            </a:r>
            <a:endParaRPr lang="zh-TW" altLang="en-US">
              <a:latin typeface="Arial" panose="020B0604020202020204" pitchFamily="34" charset="0"/>
            </a:endParaRPr>
          </a:p>
        </p:txBody>
      </p:sp>
      <p:sp>
        <p:nvSpPr>
          <p:cNvPr id="83972"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41015F4-DBAF-4EF7-8323-D4CF4F049498}" type="slidenum">
              <a:rPr lang="zh-TW" altLang="en-US" smtClean="0"/>
              <a:pPr/>
              <a:t>52</a:t>
            </a:fld>
            <a:endParaRPr lang="en-US" altLang="zh-TW"/>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6413"/>
            <a:chOff x="0" y="0"/>
            <a:chExt cx="5760" cy="4319"/>
          </a:xfrm>
        </p:grpSpPr>
        <p:sp>
          <p:nvSpPr>
            <p:cNvPr id="5" name="Freeform 3"/>
            <p:cNvSpPr>
              <a:spLocks/>
            </p:cNvSpPr>
            <p:nvPr/>
          </p:nvSpPr>
          <p:spPr bwMode="hidden">
            <a:xfrm>
              <a:off x="0" y="12"/>
              <a:ext cx="5758" cy="3273"/>
            </a:xfrm>
            <a:custGeom>
              <a:avLst/>
              <a:gdLst/>
              <a:ahLst/>
              <a:cxnLst>
                <a:cxn ang="0">
                  <a:pos x="3193" y="1816"/>
                </a:cxn>
                <a:cxn ang="0">
                  <a:pos x="0" y="0"/>
                </a:cxn>
                <a:cxn ang="0">
                  <a:pos x="0" y="522"/>
                </a:cxn>
                <a:cxn ang="0">
                  <a:pos x="3037" y="1978"/>
                </a:cxn>
                <a:cxn ang="0">
                  <a:pos x="5740" y="3273"/>
                </a:cxn>
                <a:cxn ang="0">
                  <a:pos x="5740" y="3267"/>
                </a:cxn>
                <a:cxn ang="0">
                  <a:pos x="3193" y="1816"/>
                </a:cxn>
                <a:cxn ang="0">
                  <a:pos x="3193" y="1816"/>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w="9525">
              <a:noFill/>
              <a:round/>
              <a:headEnd/>
              <a:tailEnd/>
            </a:ln>
          </p:spPr>
          <p:txBody>
            <a:bodyPr/>
            <a:lstStyle/>
            <a:p>
              <a:pPr>
                <a:defRPr/>
              </a:pPr>
              <a:endParaRPr lang="zh-TW" altLang="en-US">
                <a:ea typeface="新細明體" pitchFamily="18" charset="-120"/>
              </a:endParaRPr>
            </a:p>
          </p:txBody>
        </p:sp>
        <p:sp>
          <p:nvSpPr>
            <p:cNvPr id="6" name="Freeform 4"/>
            <p:cNvSpPr>
              <a:spLocks/>
            </p:cNvSpPr>
            <p:nvPr/>
          </p:nvSpPr>
          <p:spPr bwMode="hidden">
            <a:xfrm>
              <a:off x="149" y="0"/>
              <a:ext cx="5609" cy="3243"/>
            </a:xfrm>
            <a:custGeom>
              <a:avLst/>
              <a:gdLst/>
              <a:ahLst/>
              <a:cxnLst>
                <a:cxn ang="0">
                  <a:pos x="3163" y="1714"/>
                </a:cxn>
                <a:cxn ang="0">
                  <a:pos x="431" y="0"/>
                </a:cxn>
                <a:cxn ang="0">
                  <a:pos x="0" y="0"/>
                </a:cxn>
                <a:cxn ang="0">
                  <a:pos x="3086" y="1786"/>
                </a:cxn>
                <a:cxn ang="0">
                  <a:pos x="5591" y="3243"/>
                </a:cxn>
                <a:cxn ang="0">
                  <a:pos x="5591" y="3237"/>
                </a:cxn>
                <a:cxn ang="0">
                  <a:pos x="3163" y="1714"/>
                </a:cxn>
                <a:cxn ang="0">
                  <a:pos x="3163" y="1714"/>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7" name="Freeform 5"/>
            <p:cNvSpPr>
              <a:spLocks/>
            </p:cNvSpPr>
            <p:nvPr/>
          </p:nvSpPr>
          <p:spPr bwMode="hidden">
            <a:xfrm>
              <a:off x="0" y="3433"/>
              <a:ext cx="4038" cy="191"/>
            </a:xfrm>
            <a:custGeom>
              <a:avLst/>
              <a:gdLst/>
              <a:ahLst/>
              <a:cxnLst>
                <a:cxn ang="0">
                  <a:pos x="0" y="156"/>
                </a:cxn>
                <a:cxn ang="0">
                  <a:pos x="4042" y="192"/>
                </a:cxn>
                <a:cxn ang="0">
                  <a:pos x="4042" y="144"/>
                </a:cxn>
                <a:cxn ang="0">
                  <a:pos x="0" y="0"/>
                </a:cxn>
                <a:cxn ang="0">
                  <a:pos x="0" y="156"/>
                </a:cxn>
                <a:cxn ang="0">
                  <a:pos x="0" y="156"/>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w="9525">
              <a:noFill/>
              <a:round/>
              <a:headEnd/>
              <a:tailEnd/>
            </a:ln>
          </p:spPr>
          <p:txBody>
            <a:bodyPr/>
            <a:lstStyle/>
            <a:p>
              <a:pPr>
                <a:defRPr/>
              </a:pPr>
              <a:endParaRPr lang="zh-TW" altLang="en-US">
                <a:ea typeface="新細明體" pitchFamily="18" charset="-120"/>
              </a:endParaRPr>
            </a:p>
          </p:txBody>
        </p:sp>
        <p:sp>
          <p:nvSpPr>
            <p:cNvPr id="8" name="Freeform 6"/>
            <p:cNvSpPr>
              <a:spLocks/>
            </p:cNvSpPr>
            <p:nvPr/>
          </p:nvSpPr>
          <p:spPr bwMode="hidden">
            <a:xfrm>
              <a:off x="4038" y="3577"/>
              <a:ext cx="1720" cy="65"/>
            </a:xfrm>
            <a:custGeom>
              <a:avLst/>
              <a:gdLst>
                <a:gd name="T0" fmla="*/ 1642 w 1722"/>
                <a:gd name="T1" fmla="*/ 33 h 66"/>
                <a:gd name="T2" fmla="*/ 1642 w 1722"/>
                <a:gd name="T3" fmla="*/ 33 h 66"/>
                <a:gd name="T4" fmla="*/ 0 w 1722"/>
                <a:gd name="T5" fmla="*/ 0 h 66"/>
                <a:gd name="T6" fmla="*/ 0 w 1722"/>
                <a:gd name="T7" fmla="*/ 33 h 66"/>
                <a:gd name="T8" fmla="*/ 1642 w 1722"/>
                <a:gd name="T9" fmla="*/ 33 h 66"/>
                <a:gd name="T10" fmla="*/ 1642 w 1722"/>
                <a:gd name="T11" fmla="*/ 33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9" name="Freeform 7"/>
            <p:cNvSpPr>
              <a:spLocks/>
            </p:cNvSpPr>
            <p:nvPr/>
          </p:nvSpPr>
          <p:spPr bwMode="hidden">
            <a:xfrm>
              <a:off x="0" y="3726"/>
              <a:ext cx="4784" cy="329"/>
            </a:xfrm>
            <a:custGeom>
              <a:avLst/>
              <a:gdLst/>
              <a:ahLst/>
              <a:cxnLst>
                <a:cxn ang="0">
                  <a:pos x="0" y="329"/>
                </a:cxn>
                <a:cxn ang="0">
                  <a:pos x="4789" y="77"/>
                </a:cxn>
                <a:cxn ang="0">
                  <a:pos x="4789" y="0"/>
                </a:cxn>
                <a:cxn ang="0">
                  <a:pos x="0" y="107"/>
                </a:cxn>
                <a:cxn ang="0">
                  <a:pos x="0" y="329"/>
                </a:cxn>
                <a:cxn ang="0">
                  <a:pos x="0" y="329"/>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w="9525" cap="flat" cmpd="sng">
              <a:noFill/>
              <a:prstDash val="solid"/>
              <a:round/>
              <a:headEnd type="none" w="med" len="med"/>
              <a:tailEnd type="none" w="med" len="med"/>
            </a:ln>
            <a:effectLst/>
          </p:spPr>
          <p:txBody>
            <a:bodyPr/>
            <a:lstStyle/>
            <a:p>
              <a:pPr>
                <a:defRPr/>
              </a:pPr>
              <a:endParaRPr lang="zh-TW" altLang="en-US">
                <a:ea typeface="新細明體" pitchFamily="18" charset="-120"/>
              </a:endParaRPr>
            </a:p>
          </p:txBody>
        </p:sp>
        <p:sp>
          <p:nvSpPr>
            <p:cNvPr id="10" name="Freeform 8"/>
            <p:cNvSpPr>
              <a:spLocks/>
            </p:cNvSpPr>
            <p:nvPr/>
          </p:nvSpPr>
          <p:spPr bwMode="hidden">
            <a:xfrm>
              <a:off x="4784" y="3702"/>
              <a:ext cx="974" cy="101"/>
            </a:xfrm>
            <a:custGeom>
              <a:avLst/>
              <a:gdLst>
                <a:gd name="T0" fmla="*/ 935 w 975"/>
                <a:gd name="T1" fmla="*/ 48 h 101"/>
                <a:gd name="T2" fmla="*/ 935 w 975"/>
                <a:gd name="T3" fmla="*/ 0 h 101"/>
                <a:gd name="T4" fmla="*/ 0 w 975"/>
                <a:gd name="T5" fmla="*/ 24 h 101"/>
                <a:gd name="T6" fmla="*/ 0 w 975"/>
                <a:gd name="T7" fmla="*/ 101 h 101"/>
                <a:gd name="T8" fmla="*/ 935 w 975"/>
                <a:gd name="T9" fmla="*/ 48 h 101"/>
                <a:gd name="T10" fmla="*/ 935 w 975"/>
                <a:gd name="T11" fmla="*/ 48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75" h="101">
                  <a:moveTo>
                    <a:pt x="975" y="48"/>
                  </a:moveTo>
                  <a:lnTo>
                    <a:pt x="975" y="0"/>
                  </a:lnTo>
                  <a:lnTo>
                    <a:pt x="0" y="24"/>
                  </a:lnTo>
                  <a:lnTo>
                    <a:pt x="0" y="101"/>
                  </a:lnTo>
                  <a:lnTo>
                    <a:pt x="975"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11" name="Freeform 9"/>
            <p:cNvSpPr>
              <a:spLocks/>
            </p:cNvSpPr>
            <p:nvPr/>
          </p:nvSpPr>
          <p:spPr bwMode="hidden">
            <a:xfrm>
              <a:off x="3619" y="3815"/>
              <a:ext cx="2139" cy="198"/>
            </a:xfrm>
            <a:custGeom>
              <a:avLst/>
              <a:gdLst>
                <a:gd name="T0" fmla="*/ 2061 w 2141"/>
                <a:gd name="T1" fmla="*/ 0 h 198"/>
                <a:gd name="T2" fmla="*/ 0 w 2141"/>
                <a:gd name="T3" fmla="*/ 156 h 198"/>
                <a:gd name="T4" fmla="*/ 0 w 2141"/>
                <a:gd name="T5" fmla="*/ 198 h 198"/>
                <a:gd name="T6" fmla="*/ 2061 w 2141"/>
                <a:gd name="T7" fmla="*/ 0 h 198"/>
                <a:gd name="T8" fmla="*/ 2061 w 2141"/>
                <a:gd name="T9" fmla="*/ 0 h 1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41" h="198">
                  <a:moveTo>
                    <a:pt x="2141" y="0"/>
                  </a:moveTo>
                  <a:lnTo>
                    <a:pt x="0" y="156"/>
                  </a:lnTo>
                  <a:lnTo>
                    <a:pt x="0" y="198"/>
                  </a:lnTo>
                  <a:lnTo>
                    <a:pt x="214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12" name="Freeform 10"/>
            <p:cNvSpPr>
              <a:spLocks/>
            </p:cNvSpPr>
            <p:nvPr/>
          </p:nvSpPr>
          <p:spPr bwMode="hidden">
            <a:xfrm>
              <a:off x="0" y="3971"/>
              <a:ext cx="3619" cy="348"/>
            </a:xfrm>
            <a:custGeom>
              <a:avLst/>
              <a:gdLst/>
              <a:ahLst/>
              <a:cxnLst>
                <a:cxn ang="0">
                  <a:pos x="0" y="348"/>
                </a:cxn>
                <a:cxn ang="0">
                  <a:pos x="311" y="348"/>
                </a:cxn>
                <a:cxn ang="0">
                  <a:pos x="3623" y="42"/>
                </a:cxn>
                <a:cxn ang="0">
                  <a:pos x="3623" y="0"/>
                </a:cxn>
                <a:cxn ang="0">
                  <a:pos x="0" y="264"/>
                </a:cxn>
                <a:cxn ang="0">
                  <a:pos x="0" y="348"/>
                </a:cxn>
                <a:cxn ang="0">
                  <a:pos x="0" y="348"/>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zh-TW" altLang="en-US">
                <a:ea typeface="新細明體" pitchFamily="18" charset="-120"/>
              </a:endParaRPr>
            </a:p>
          </p:txBody>
        </p:sp>
        <p:sp>
          <p:nvSpPr>
            <p:cNvPr id="13" name="Freeform 11"/>
            <p:cNvSpPr>
              <a:spLocks/>
            </p:cNvSpPr>
            <p:nvPr/>
          </p:nvSpPr>
          <p:spPr bwMode="hidden">
            <a:xfrm>
              <a:off x="2097" y="4043"/>
              <a:ext cx="2514" cy="276"/>
            </a:xfrm>
            <a:custGeom>
              <a:avLst/>
              <a:gdLst>
                <a:gd name="T0" fmla="*/ 2073 w 2517"/>
                <a:gd name="T1" fmla="*/ 276 h 276"/>
                <a:gd name="T2" fmla="*/ 2397 w 2517"/>
                <a:gd name="T3" fmla="*/ 204 h 276"/>
                <a:gd name="T4" fmla="*/ 2140 w 2517"/>
                <a:gd name="T5" fmla="*/ 0 h 276"/>
                <a:gd name="T6" fmla="*/ 0 w 2517"/>
                <a:gd name="T7" fmla="*/ 276 h 276"/>
                <a:gd name="T8" fmla="*/ 2073 w 2517"/>
                <a:gd name="T9" fmla="*/ 276 h 276"/>
                <a:gd name="T10" fmla="*/ 2073 w 2517"/>
                <a:gd name="T11" fmla="*/ 276 h 2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7" h="276">
                  <a:moveTo>
                    <a:pt x="2182" y="276"/>
                  </a:moveTo>
                  <a:lnTo>
                    <a:pt x="2517" y="204"/>
                  </a:lnTo>
                  <a:lnTo>
                    <a:pt x="2260" y="0"/>
                  </a:lnTo>
                  <a:lnTo>
                    <a:pt x="0" y="276"/>
                  </a:lnTo>
                  <a:lnTo>
                    <a:pt x="2182" y="2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14" name="Freeform 12"/>
            <p:cNvSpPr>
              <a:spLocks/>
            </p:cNvSpPr>
            <p:nvPr/>
          </p:nvSpPr>
          <p:spPr bwMode="hidden">
            <a:xfrm>
              <a:off x="4354" y="3869"/>
              <a:ext cx="1404" cy="378"/>
            </a:xfrm>
            <a:custGeom>
              <a:avLst/>
              <a:gdLst/>
              <a:ahLst/>
              <a:cxnLst>
                <a:cxn ang="0">
                  <a:pos x="1405" y="126"/>
                </a:cxn>
                <a:cxn ang="0">
                  <a:pos x="1405" y="0"/>
                </a:cxn>
                <a:cxn ang="0">
                  <a:pos x="0" y="174"/>
                </a:cxn>
                <a:cxn ang="0">
                  <a:pos x="257" y="378"/>
                </a:cxn>
                <a:cxn ang="0">
                  <a:pos x="1405" y="126"/>
                </a:cxn>
                <a:cxn ang="0">
                  <a:pos x="1405" y="126"/>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w="9525">
              <a:noFill/>
              <a:round/>
              <a:headEnd/>
              <a:tailEnd/>
            </a:ln>
          </p:spPr>
          <p:txBody>
            <a:bodyPr/>
            <a:lstStyle/>
            <a:p>
              <a:pPr>
                <a:defRPr/>
              </a:pPr>
              <a:endParaRPr lang="zh-TW" altLang="en-US">
                <a:ea typeface="新細明體" pitchFamily="18" charset="-120"/>
              </a:endParaRPr>
            </a:p>
          </p:txBody>
        </p:sp>
        <p:sp>
          <p:nvSpPr>
            <p:cNvPr id="15" name="Freeform 13"/>
            <p:cNvSpPr>
              <a:spLocks/>
            </p:cNvSpPr>
            <p:nvPr/>
          </p:nvSpPr>
          <p:spPr bwMode="hidden">
            <a:xfrm>
              <a:off x="5030" y="3151"/>
              <a:ext cx="728" cy="240"/>
            </a:xfrm>
            <a:custGeom>
              <a:avLst/>
              <a:gdLst>
                <a:gd name="T0" fmla="*/ 689 w 729"/>
                <a:gd name="T1" fmla="*/ 240 h 240"/>
                <a:gd name="T2" fmla="*/ 0 w 729"/>
                <a:gd name="T3" fmla="*/ 0 h 240"/>
                <a:gd name="T4" fmla="*/ 0 w 729"/>
                <a:gd name="T5" fmla="*/ 6 h 240"/>
                <a:gd name="T6" fmla="*/ 689 w 729"/>
                <a:gd name="T7" fmla="*/ 240 h 240"/>
                <a:gd name="T8" fmla="*/ 689 w 729"/>
                <a:gd name="T9" fmla="*/ 240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9" h="240">
                  <a:moveTo>
                    <a:pt x="729" y="240"/>
                  </a:moveTo>
                  <a:lnTo>
                    <a:pt x="0" y="0"/>
                  </a:lnTo>
                  <a:lnTo>
                    <a:pt x="0" y="6"/>
                  </a:lnTo>
                  <a:lnTo>
                    <a:pt x="729" y="24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16" name="Freeform 14"/>
            <p:cNvSpPr>
              <a:spLocks/>
            </p:cNvSpPr>
            <p:nvPr/>
          </p:nvSpPr>
          <p:spPr bwMode="hidden">
            <a:xfrm>
              <a:off x="0" y="1486"/>
              <a:ext cx="5030" cy="1671"/>
            </a:xfrm>
            <a:custGeom>
              <a:avLst/>
              <a:gdLst/>
              <a:ahLst/>
              <a:cxnLst>
                <a:cxn ang="0">
                  <a:pos x="0" y="72"/>
                </a:cxn>
                <a:cxn ang="0">
                  <a:pos x="5035" y="1672"/>
                </a:cxn>
                <a:cxn ang="0">
                  <a:pos x="5035" y="1666"/>
                </a:cxn>
                <a:cxn ang="0">
                  <a:pos x="0" y="0"/>
                </a:cxn>
                <a:cxn ang="0">
                  <a:pos x="0" y="72"/>
                </a:cxn>
                <a:cxn ang="0">
                  <a:pos x="0" y="72"/>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17" name="Freeform 15"/>
            <p:cNvSpPr>
              <a:spLocks/>
            </p:cNvSpPr>
            <p:nvPr/>
          </p:nvSpPr>
          <p:spPr bwMode="hidden">
            <a:xfrm>
              <a:off x="5030" y="3049"/>
              <a:ext cx="728" cy="318"/>
            </a:xfrm>
            <a:custGeom>
              <a:avLst/>
              <a:gdLst>
                <a:gd name="T0" fmla="*/ 689 w 729"/>
                <a:gd name="T1" fmla="*/ 318 h 318"/>
                <a:gd name="T2" fmla="*/ 689 w 729"/>
                <a:gd name="T3" fmla="*/ 312 h 318"/>
                <a:gd name="T4" fmla="*/ 0 w 729"/>
                <a:gd name="T5" fmla="*/ 0 h 318"/>
                <a:gd name="T6" fmla="*/ 0 w 729"/>
                <a:gd name="T7" fmla="*/ 54 h 318"/>
                <a:gd name="T8" fmla="*/ 689 w 729"/>
                <a:gd name="T9" fmla="*/ 318 h 318"/>
                <a:gd name="T10" fmla="*/ 689 w 729"/>
                <a:gd name="T11" fmla="*/ 318 h 3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18" name="Freeform 16"/>
            <p:cNvSpPr>
              <a:spLocks/>
            </p:cNvSpPr>
            <p:nvPr/>
          </p:nvSpPr>
          <p:spPr bwMode="hidden">
            <a:xfrm>
              <a:off x="0" y="916"/>
              <a:ext cx="5030" cy="2187"/>
            </a:xfrm>
            <a:custGeom>
              <a:avLst/>
              <a:gdLst/>
              <a:ahLst/>
              <a:cxnLst>
                <a:cxn ang="0">
                  <a:pos x="0" y="396"/>
                </a:cxn>
                <a:cxn ang="0">
                  <a:pos x="5035" y="2188"/>
                </a:cxn>
                <a:cxn ang="0">
                  <a:pos x="5035" y="2134"/>
                </a:cxn>
                <a:cxn ang="0">
                  <a:pos x="0" y="0"/>
                </a:cxn>
                <a:cxn ang="0">
                  <a:pos x="0" y="396"/>
                </a:cxn>
                <a:cxn ang="0">
                  <a:pos x="0" y="396"/>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w="9525">
              <a:noFill/>
              <a:round/>
              <a:headEnd/>
              <a:tailEnd/>
            </a:ln>
          </p:spPr>
          <p:txBody>
            <a:bodyPr/>
            <a:lstStyle/>
            <a:p>
              <a:pPr>
                <a:defRPr/>
              </a:pPr>
              <a:endParaRPr lang="zh-TW" altLang="en-US">
                <a:ea typeface="新細明體" pitchFamily="18" charset="-120"/>
              </a:endParaRPr>
            </a:p>
          </p:txBody>
        </p:sp>
        <p:sp>
          <p:nvSpPr>
            <p:cNvPr id="19" name="Freeform 17"/>
            <p:cNvSpPr>
              <a:spLocks/>
            </p:cNvSpPr>
            <p:nvPr/>
          </p:nvSpPr>
          <p:spPr bwMode="hidden">
            <a:xfrm>
              <a:off x="2294" y="0"/>
              <a:ext cx="3159" cy="2725"/>
            </a:xfrm>
            <a:custGeom>
              <a:avLst/>
              <a:gdLst/>
              <a:ahLst/>
              <a:cxnLst>
                <a:cxn ang="0">
                  <a:pos x="0" y="0"/>
                </a:cxn>
                <a:cxn ang="0">
                  <a:pos x="3145" y="2727"/>
                </a:cxn>
                <a:cxn ang="0">
                  <a:pos x="3163" y="2704"/>
                </a:cxn>
                <a:cxn ang="0">
                  <a:pos x="102" y="0"/>
                </a:cxn>
                <a:cxn ang="0">
                  <a:pos x="0" y="0"/>
                </a:cxn>
                <a:cxn ang="0">
                  <a:pos x="0" y="0"/>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20" name="Freeform 18"/>
            <p:cNvSpPr>
              <a:spLocks/>
            </p:cNvSpPr>
            <p:nvPr/>
          </p:nvSpPr>
          <p:spPr bwMode="hidden">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w="9525">
              <a:noFill/>
              <a:round/>
              <a:headEnd/>
              <a:tailEnd/>
            </a:ln>
          </p:spPr>
          <p:txBody>
            <a:bodyPr/>
            <a:lstStyle/>
            <a:p>
              <a:pPr>
                <a:defRPr/>
              </a:pPr>
              <a:endParaRPr lang="zh-TW" altLang="en-US">
                <a:ea typeface="新細明體" pitchFamily="18" charset="-120"/>
              </a:endParaRPr>
            </a:p>
          </p:txBody>
        </p:sp>
        <p:sp>
          <p:nvSpPr>
            <p:cNvPr id="21" name="Freeform 19"/>
            <p:cNvSpPr>
              <a:spLocks/>
            </p:cNvSpPr>
            <p:nvPr/>
          </p:nvSpPr>
          <p:spPr bwMode="hidden">
            <a:xfrm>
              <a:off x="5477" y="2588"/>
              <a:ext cx="281" cy="335"/>
            </a:xfrm>
            <a:custGeom>
              <a:avLst/>
              <a:gdLst>
                <a:gd name="T0" fmla="*/ 281 w 281"/>
                <a:gd name="T1" fmla="*/ 335 h 335"/>
                <a:gd name="T2" fmla="*/ 281 w 281"/>
                <a:gd name="T3" fmla="*/ 173 h 335"/>
                <a:gd name="T4" fmla="*/ 96 w 281"/>
                <a:gd name="T5" fmla="*/ 0 h 335"/>
                <a:gd name="T6" fmla="*/ 0 w 281"/>
                <a:gd name="T7" fmla="*/ 90 h 335"/>
                <a:gd name="T8" fmla="*/ 281 w 281"/>
                <a:gd name="T9" fmla="*/ 335 h 335"/>
                <a:gd name="T10" fmla="*/ 281 w 281"/>
                <a:gd name="T11" fmla="*/ 335 h 3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1" h="335">
                  <a:moveTo>
                    <a:pt x="281" y="335"/>
                  </a:moveTo>
                  <a:lnTo>
                    <a:pt x="281" y="173"/>
                  </a:lnTo>
                  <a:lnTo>
                    <a:pt x="96" y="0"/>
                  </a:lnTo>
                  <a:lnTo>
                    <a:pt x="0" y="90"/>
                  </a:lnTo>
                  <a:lnTo>
                    <a:pt x="281" y="3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22" name="Freeform 20"/>
            <p:cNvSpPr>
              <a:spLocks/>
            </p:cNvSpPr>
            <p:nvPr/>
          </p:nvSpPr>
          <p:spPr bwMode="hidden">
            <a:xfrm>
              <a:off x="2454" y="0"/>
              <a:ext cx="3119" cy="2678"/>
            </a:xfrm>
            <a:custGeom>
              <a:avLst/>
              <a:gdLst/>
              <a:ahLst/>
              <a:cxnLst>
                <a:cxn ang="0">
                  <a:pos x="0" y="0"/>
                </a:cxn>
                <a:cxn ang="0">
                  <a:pos x="3026" y="2680"/>
                </a:cxn>
                <a:cxn ang="0">
                  <a:pos x="3122" y="2590"/>
                </a:cxn>
                <a:cxn ang="0">
                  <a:pos x="383" y="0"/>
                </a:cxn>
                <a:cxn ang="0">
                  <a:pos x="0" y="0"/>
                </a:cxn>
                <a:cxn ang="0">
                  <a:pos x="0" y="0"/>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23" name="Freeform 21"/>
            <p:cNvSpPr>
              <a:spLocks/>
            </p:cNvSpPr>
            <p:nvPr/>
          </p:nvSpPr>
          <p:spPr bwMode="hidden">
            <a:xfrm>
              <a:off x="5626" y="2534"/>
              <a:ext cx="132" cy="132"/>
            </a:xfrm>
            <a:custGeom>
              <a:avLst/>
              <a:gdLst>
                <a:gd name="T0" fmla="*/ 132 w 132"/>
                <a:gd name="T1" fmla="*/ 132 h 132"/>
                <a:gd name="T2" fmla="*/ 0 w 132"/>
                <a:gd name="T3" fmla="*/ 0 h 132"/>
                <a:gd name="T4" fmla="*/ 0 w 132"/>
                <a:gd name="T5" fmla="*/ 0 h 132"/>
                <a:gd name="T6" fmla="*/ 132 w 132"/>
                <a:gd name="T7" fmla="*/ 132 h 132"/>
                <a:gd name="T8" fmla="*/ 132 w 132"/>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2">
                  <a:moveTo>
                    <a:pt x="132" y="132"/>
                  </a:moveTo>
                  <a:lnTo>
                    <a:pt x="0" y="0"/>
                  </a:lnTo>
                  <a:lnTo>
                    <a:pt x="132" y="132"/>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24" name="Freeform 22"/>
            <p:cNvSpPr>
              <a:spLocks/>
            </p:cNvSpPr>
            <p:nvPr/>
          </p:nvSpPr>
          <p:spPr bwMode="hidden">
            <a:xfrm>
              <a:off x="3112" y="0"/>
              <a:ext cx="2514" cy="2534"/>
            </a:xfrm>
            <a:custGeom>
              <a:avLst/>
              <a:gdLst/>
              <a:ahLst/>
              <a:cxnLst>
                <a:cxn ang="0">
                  <a:pos x="0" y="0"/>
                </a:cxn>
                <a:cxn ang="0">
                  <a:pos x="2517" y="2536"/>
                </a:cxn>
                <a:cxn ang="0">
                  <a:pos x="2517" y="2536"/>
                </a:cxn>
                <a:cxn ang="0">
                  <a:pos x="66" y="0"/>
                </a:cxn>
                <a:cxn ang="0">
                  <a:pos x="0" y="0"/>
                </a:cxn>
                <a:cxn ang="0">
                  <a:pos x="0" y="0"/>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25" name="Freeform 23"/>
            <p:cNvSpPr>
              <a:spLocks/>
            </p:cNvSpPr>
            <p:nvPr/>
          </p:nvSpPr>
          <p:spPr bwMode="hidden">
            <a:xfrm>
              <a:off x="3488" y="0"/>
              <a:ext cx="2198" cy="2480"/>
            </a:xfrm>
            <a:custGeom>
              <a:avLst/>
              <a:gdLst/>
              <a:ahLst/>
              <a:cxnLst>
                <a:cxn ang="0">
                  <a:pos x="0" y="0"/>
                </a:cxn>
                <a:cxn ang="0">
                  <a:pos x="2188" y="2482"/>
                </a:cxn>
                <a:cxn ang="0">
                  <a:pos x="2200" y="2476"/>
                </a:cxn>
                <a:cxn ang="0">
                  <a:pos x="317" y="0"/>
                </a:cxn>
                <a:cxn ang="0">
                  <a:pos x="0" y="0"/>
                </a:cxn>
                <a:cxn ang="0">
                  <a:pos x="0" y="0"/>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w="9525" cap="flat" cmpd="sng">
              <a:noFill/>
              <a:prstDash val="solid"/>
              <a:round/>
              <a:headEnd type="none" w="med" len="med"/>
              <a:tailEnd type="none" w="med" len="med"/>
            </a:ln>
            <a:effectLst/>
          </p:spPr>
          <p:txBody>
            <a:bodyPr/>
            <a:lstStyle/>
            <a:p>
              <a:pPr>
                <a:defRPr/>
              </a:pPr>
              <a:endParaRPr lang="zh-TW" altLang="en-US">
                <a:ea typeface="新細明體" pitchFamily="18" charset="-120"/>
              </a:endParaRPr>
            </a:p>
          </p:txBody>
        </p:sp>
        <p:sp>
          <p:nvSpPr>
            <p:cNvPr id="26" name="Freeform 24"/>
            <p:cNvSpPr>
              <a:spLocks/>
            </p:cNvSpPr>
            <p:nvPr/>
          </p:nvSpPr>
          <p:spPr bwMode="hidden">
            <a:xfrm>
              <a:off x="5674" y="2474"/>
              <a:ext cx="84" cy="96"/>
            </a:xfrm>
            <a:custGeom>
              <a:avLst/>
              <a:gdLst/>
              <a:ahLst/>
              <a:cxnLst>
                <a:cxn ang="0">
                  <a:pos x="84" y="96"/>
                </a:cxn>
                <a:cxn ang="0">
                  <a:pos x="84" y="90"/>
                </a:cxn>
                <a:cxn ang="0">
                  <a:pos x="12" y="0"/>
                </a:cxn>
                <a:cxn ang="0">
                  <a:pos x="0" y="6"/>
                </a:cxn>
                <a:cxn ang="0">
                  <a:pos x="84" y="96"/>
                </a:cxn>
                <a:cxn ang="0">
                  <a:pos x="84" y="96"/>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w="9525">
              <a:noFill/>
              <a:round/>
              <a:headEnd/>
              <a:tailEnd/>
            </a:ln>
          </p:spPr>
          <p:txBody>
            <a:bodyPr/>
            <a:lstStyle/>
            <a:p>
              <a:pPr>
                <a:defRPr/>
              </a:pPr>
              <a:endParaRPr lang="zh-TW" altLang="en-US">
                <a:ea typeface="新細明體" pitchFamily="18" charset="-120"/>
              </a:endParaRPr>
            </a:p>
          </p:txBody>
        </p:sp>
        <p:sp>
          <p:nvSpPr>
            <p:cNvPr id="27" name="Freeform 25"/>
            <p:cNvSpPr>
              <a:spLocks/>
            </p:cNvSpPr>
            <p:nvPr/>
          </p:nvSpPr>
          <p:spPr bwMode="hidden">
            <a:xfrm>
              <a:off x="5603" y="850"/>
              <a:ext cx="155" cy="516"/>
            </a:xfrm>
            <a:custGeom>
              <a:avLst/>
              <a:gdLst>
                <a:gd name="T0" fmla="*/ 155 w 155"/>
                <a:gd name="T1" fmla="*/ 516 h 516"/>
                <a:gd name="T2" fmla="*/ 155 w 155"/>
                <a:gd name="T3" fmla="*/ 204 h 516"/>
                <a:gd name="T4" fmla="*/ 77 w 155"/>
                <a:gd name="T5" fmla="*/ 0 h 516"/>
                <a:gd name="T6" fmla="*/ 0 w 155"/>
                <a:gd name="T7" fmla="*/ 192 h 516"/>
                <a:gd name="T8" fmla="*/ 155 w 155"/>
                <a:gd name="T9" fmla="*/ 516 h 516"/>
                <a:gd name="T10" fmla="*/ 155 w 155"/>
                <a:gd name="T11" fmla="*/ 516 h 5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5" h="516">
                  <a:moveTo>
                    <a:pt x="155" y="516"/>
                  </a:moveTo>
                  <a:lnTo>
                    <a:pt x="155" y="204"/>
                  </a:lnTo>
                  <a:lnTo>
                    <a:pt x="77" y="0"/>
                  </a:lnTo>
                  <a:lnTo>
                    <a:pt x="0" y="192"/>
                  </a:lnTo>
                  <a:lnTo>
                    <a:pt x="155" y="51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28" name="Freeform 26"/>
            <p:cNvSpPr>
              <a:spLocks/>
            </p:cNvSpPr>
            <p:nvPr/>
          </p:nvSpPr>
          <p:spPr bwMode="hidden">
            <a:xfrm>
              <a:off x="5107" y="0"/>
              <a:ext cx="573" cy="1042"/>
            </a:xfrm>
            <a:custGeom>
              <a:avLst/>
              <a:gdLst/>
              <a:ahLst/>
              <a:cxnLst>
                <a:cxn ang="0">
                  <a:pos x="0" y="0"/>
                </a:cxn>
                <a:cxn ang="0">
                  <a:pos x="497" y="1043"/>
                </a:cxn>
                <a:cxn ang="0">
                  <a:pos x="574" y="851"/>
                </a:cxn>
                <a:cxn ang="0">
                  <a:pos x="251" y="0"/>
                </a:cxn>
                <a:cxn ang="0">
                  <a:pos x="0" y="0"/>
                </a:cxn>
                <a:cxn ang="0">
                  <a:pos x="0" y="0"/>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w="9525">
              <a:noFill/>
              <a:round/>
              <a:headEnd/>
              <a:tailEnd/>
            </a:ln>
          </p:spPr>
          <p:txBody>
            <a:bodyPr/>
            <a:lstStyle/>
            <a:p>
              <a:pPr>
                <a:defRPr/>
              </a:pPr>
              <a:endParaRPr lang="zh-TW" altLang="en-US">
                <a:ea typeface="新細明體" pitchFamily="18" charset="-120"/>
              </a:endParaRPr>
            </a:p>
          </p:txBody>
        </p:sp>
        <p:sp>
          <p:nvSpPr>
            <p:cNvPr id="29" name="Freeform 27"/>
            <p:cNvSpPr>
              <a:spLocks/>
            </p:cNvSpPr>
            <p:nvPr/>
          </p:nvSpPr>
          <p:spPr bwMode="hidden">
            <a:xfrm>
              <a:off x="5411" y="0"/>
              <a:ext cx="341" cy="796"/>
            </a:xfrm>
            <a:custGeom>
              <a:avLst/>
              <a:gdLst/>
              <a:ahLst/>
              <a:cxnLst>
                <a:cxn ang="0">
                  <a:pos x="144" y="0"/>
                </a:cxn>
                <a:cxn ang="0">
                  <a:pos x="0" y="0"/>
                </a:cxn>
                <a:cxn ang="0">
                  <a:pos x="287" y="797"/>
                </a:cxn>
                <a:cxn ang="0">
                  <a:pos x="341" y="653"/>
                </a:cxn>
                <a:cxn ang="0">
                  <a:pos x="144" y="0"/>
                </a:cxn>
                <a:cxn ang="0">
                  <a:pos x="144" y="0"/>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w="9525">
              <a:noFill/>
              <a:round/>
              <a:headEnd/>
              <a:tailEnd/>
            </a:ln>
          </p:spPr>
          <p:txBody>
            <a:bodyPr/>
            <a:lstStyle/>
            <a:p>
              <a:pPr>
                <a:defRPr/>
              </a:pPr>
              <a:endParaRPr lang="zh-TW" altLang="en-US">
                <a:ea typeface="新細明體" pitchFamily="18" charset="-120"/>
              </a:endParaRPr>
            </a:p>
          </p:txBody>
        </p:sp>
        <p:sp>
          <p:nvSpPr>
            <p:cNvPr id="30" name="Freeform 28"/>
            <p:cNvSpPr>
              <a:spLocks/>
            </p:cNvSpPr>
            <p:nvPr/>
          </p:nvSpPr>
          <p:spPr bwMode="hidden">
            <a:xfrm>
              <a:off x="5698" y="653"/>
              <a:ext cx="60" cy="311"/>
            </a:xfrm>
            <a:custGeom>
              <a:avLst/>
              <a:gdLst>
                <a:gd name="T0" fmla="*/ 0 w 60"/>
                <a:gd name="T1" fmla="*/ 144 h 312"/>
                <a:gd name="T2" fmla="*/ 60 w 60"/>
                <a:gd name="T3" fmla="*/ 272 h 312"/>
                <a:gd name="T4" fmla="*/ 60 w 60"/>
                <a:gd name="T5" fmla="*/ 6 h 312"/>
                <a:gd name="T6" fmla="*/ 54 w 60"/>
                <a:gd name="T7" fmla="*/ 0 h 312"/>
                <a:gd name="T8" fmla="*/ 0 w 60"/>
                <a:gd name="T9" fmla="*/ 144 h 312"/>
                <a:gd name="T10" fmla="*/ 0 w 60"/>
                <a:gd name="T11" fmla="*/ 144 h 3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 h="312">
                  <a:moveTo>
                    <a:pt x="0" y="144"/>
                  </a:moveTo>
                  <a:lnTo>
                    <a:pt x="60" y="312"/>
                  </a:lnTo>
                  <a:lnTo>
                    <a:pt x="60" y="6"/>
                  </a:lnTo>
                  <a:lnTo>
                    <a:pt x="54" y="0"/>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31" name="Freeform 29"/>
            <p:cNvSpPr>
              <a:spLocks/>
            </p:cNvSpPr>
            <p:nvPr/>
          </p:nvSpPr>
          <p:spPr bwMode="hidden">
            <a:xfrm>
              <a:off x="2" y="1601"/>
              <a:ext cx="5752" cy="1864"/>
            </a:xfrm>
            <a:custGeom>
              <a:avLst/>
              <a:gdLst/>
              <a:ahLst/>
              <a:cxnLst>
                <a:cxn ang="0">
                  <a:pos x="0" y="371"/>
                </a:cxn>
                <a:cxn ang="0">
                  <a:pos x="5740" y="1864"/>
                </a:cxn>
                <a:cxn ang="0">
                  <a:pos x="5740" y="1834"/>
                </a:cxn>
                <a:cxn ang="0">
                  <a:pos x="0" y="0"/>
                </a:cxn>
                <a:cxn ang="0">
                  <a:pos x="0" y="371"/>
                </a:cxn>
                <a:cxn ang="0">
                  <a:pos x="0" y="37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32" name="Freeform 30"/>
            <p:cNvSpPr>
              <a:spLocks/>
            </p:cNvSpPr>
            <p:nvPr/>
          </p:nvSpPr>
          <p:spPr bwMode="hidden">
            <a:xfrm>
              <a:off x="5754" y="3483"/>
              <a:ext cx="6" cy="6"/>
            </a:xfrm>
            <a:custGeom>
              <a:avLst/>
              <a:gdLst>
                <a:gd name="T0" fmla="*/ 6 w 6"/>
                <a:gd name="T1" fmla="*/ 6 h 6"/>
                <a:gd name="T2" fmla="*/ 0 w 6"/>
                <a:gd name="T3" fmla="*/ 0 h 6"/>
                <a:gd name="T4" fmla="*/ 0 w 6"/>
                <a:gd name="T5" fmla="*/ 6 h 6"/>
                <a:gd name="T6" fmla="*/ 6 w 6"/>
                <a:gd name="T7" fmla="*/ 6 h 6"/>
                <a:gd name="T8" fmla="*/ 6 w 6"/>
                <a:gd name="T9" fmla="*/ 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6">
                  <a:moveTo>
                    <a:pt x="6" y="6"/>
                  </a:moveTo>
                  <a:lnTo>
                    <a:pt x="0" y="0"/>
                  </a:lnTo>
                  <a:lnTo>
                    <a:pt x="0" y="6"/>
                  </a:lnTo>
                  <a:lnTo>
                    <a:pt x="6" y="6"/>
                  </a:lnTo>
                  <a:close/>
                </a:path>
              </a:pathLst>
            </a:custGeom>
            <a:solidFill>
              <a:srgbClr val="18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33" name="Freeform 31"/>
            <p:cNvSpPr>
              <a:spLocks/>
            </p:cNvSpPr>
            <p:nvPr/>
          </p:nvSpPr>
          <p:spPr bwMode="hidden">
            <a:xfrm>
              <a:off x="2" y="2152"/>
              <a:ext cx="5752" cy="1337"/>
            </a:xfrm>
            <a:custGeom>
              <a:avLst/>
              <a:gdLst/>
              <a:ahLst/>
              <a:cxnLst>
                <a:cxn ang="0">
                  <a:pos x="0" y="366"/>
                </a:cxn>
                <a:cxn ang="0">
                  <a:pos x="5740" y="1337"/>
                </a:cxn>
                <a:cxn ang="0">
                  <a:pos x="5740" y="1331"/>
                </a:cxn>
                <a:cxn ang="0">
                  <a:pos x="0" y="0"/>
                </a:cxn>
                <a:cxn ang="0">
                  <a:pos x="0" y="366"/>
                </a:cxn>
                <a:cxn ang="0">
                  <a:pos x="0" y="366"/>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34" name="Freeform 32"/>
            <p:cNvSpPr>
              <a:spLocks/>
            </p:cNvSpPr>
            <p:nvPr/>
          </p:nvSpPr>
          <p:spPr bwMode="hidden">
            <a:xfrm>
              <a:off x="2" y="3177"/>
              <a:ext cx="5752" cy="414"/>
            </a:xfrm>
            <a:custGeom>
              <a:avLst/>
              <a:gdLst/>
              <a:ahLst/>
              <a:cxnLst>
                <a:cxn ang="0">
                  <a:pos x="0" y="48"/>
                </a:cxn>
                <a:cxn ang="0">
                  <a:pos x="5740" y="414"/>
                </a:cxn>
                <a:cxn ang="0">
                  <a:pos x="5740" y="402"/>
                </a:cxn>
                <a:cxn ang="0">
                  <a:pos x="0" y="0"/>
                </a:cxn>
                <a:cxn ang="0">
                  <a:pos x="0" y="48"/>
                </a:cxn>
                <a:cxn ang="0">
                  <a:pos x="0" y="48"/>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w="9525">
              <a:noFill/>
              <a:round/>
              <a:headEnd/>
              <a:tailEnd/>
            </a:ln>
          </p:spPr>
          <p:txBody>
            <a:bodyPr/>
            <a:lstStyle/>
            <a:p>
              <a:pPr>
                <a:defRPr/>
              </a:pPr>
              <a:endParaRPr lang="zh-TW" altLang="en-US">
                <a:ea typeface="新細明體" pitchFamily="18" charset="-120"/>
              </a:endParaRPr>
            </a:p>
          </p:txBody>
        </p:sp>
        <p:sp>
          <p:nvSpPr>
            <p:cNvPr id="35" name="Freeform 33"/>
            <p:cNvSpPr>
              <a:spLocks/>
            </p:cNvSpPr>
            <p:nvPr/>
          </p:nvSpPr>
          <p:spPr bwMode="hidden">
            <a:xfrm>
              <a:off x="1297" y="0"/>
              <a:ext cx="4457" cy="3177"/>
            </a:xfrm>
            <a:custGeom>
              <a:avLst/>
              <a:gdLst/>
              <a:ahLst/>
              <a:cxnLst>
                <a:cxn ang="0">
                  <a:pos x="0" y="0"/>
                </a:cxn>
                <a:cxn ang="0">
                  <a:pos x="4448" y="3177"/>
                </a:cxn>
                <a:cxn ang="0">
                  <a:pos x="4448" y="3153"/>
                </a:cxn>
                <a:cxn ang="0">
                  <a:pos x="125" y="0"/>
                </a:cxn>
                <a:cxn ang="0">
                  <a:pos x="0" y="0"/>
                </a:cxn>
                <a:cxn ang="0">
                  <a:pos x="0" y="0"/>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36" name="Freeform 34"/>
            <p:cNvSpPr>
              <a:spLocks/>
            </p:cNvSpPr>
            <p:nvPr/>
          </p:nvSpPr>
          <p:spPr bwMode="hidden">
            <a:xfrm>
              <a:off x="3321" y="0"/>
              <a:ext cx="2433" cy="2614"/>
            </a:xfrm>
            <a:custGeom>
              <a:avLst/>
              <a:gdLst/>
              <a:ahLst/>
              <a:cxnLst>
                <a:cxn ang="0">
                  <a:pos x="0" y="0"/>
                </a:cxn>
                <a:cxn ang="0">
                  <a:pos x="2428" y="2614"/>
                </a:cxn>
                <a:cxn ang="0">
                  <a:pos x="2428" y="2608"/>
                </a:cxn>
                <a:cxn ang="0">
                  <a:pos x="66" y="0"/>
                </a:cxn>
                <a:cxn ang="0">
                  <a:pos x="0" y="0"/>
                </a:cxn>
                <a:cxn ang="0">
                  <a:pos x="0" y="0"/>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37" name="Freeform 35"/>
            <p:cNvSpPr>
              <a:spLocks/>
            </p:cNvSpPr>
            <p:nvPr/>
          </p:nvSpPr>
          <p:spPr bwMode="hidden">
            <a:xfrm>
              <a:off x="3950" y="0"/>
              <a:ext cx="1804" cy="2464"/>
            </a:xfrm>
            <a:custGeom>
              <a:avLst/>
              <a:gdLst/>
              <a:ahLst/>
              <a:cxnLst>
                <a:cxn ang="0">
                  <a:pos x="485" y="0"/>
                </a:cxn>
                <a:cxn ang="0">
                  <a:pos x="0" y="0"/>
                </a:cxn>
                <a:cxn ang="0">
                  <a:pos x="1800" y="2464"/>
                </a:cxn>
                <a:cxn ang="0">
                  <a:pos x="1800" y="2248"/>
                </a:cxn>
                <a:cxn ang="0">
                  <a:pos x="1794" y="2248"/>
                </a:cxn>
                <a:cxn ang="0">
                  <a:pos x="485" y="0"/>
                </a:cxn>
                <a:cxn ang="0">
                  <a:pos x="485" y="0"/>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w="9525">
              <a:noFill/>
              <a:round/>
              <a:headEnd/>
              <a:tailEnd/>
            </a:ln>
          </p:spPr>
          <p:txBody>
            <a:bodyPr/>
            <a:lstStyle/>
            <a:p>
              <a:pPr>
                <a:defRPr/>
              </a:pPr>
              <a:endParaRPr lang="zh-TW" altLang="en-US">
                <a:ea typeface="新細明體" pitchFamily="18" charset="-120"/>
              </a:endParaRPr>
            </a:p>
          </p:txBody>
        </p:sp>
        <p:sp>
          <p:nvSpPr>
            <p:cNvPr id="38" name="Freeform 36"/>
            <p:cNvSpPr>
              <a:spLocks/>
            </p:cNvSpPr>
            <p:nvPr/>
          </p:nvSpPr>
          <p:spPr bwMode="hidden">
            <a:xfrm>
              <a:off x="4519" y="0"/>
              <a:ext cx="1235" cy="2074"/>
            </a:xfrm>
            <a:custGeom>
              <a:avLst/>
              <a:gdLst/>
              <a:ahLst/>
              <a:cxnLst>
                <a:cxn ang="0">
                  <a:pos x="0" y="0"/>
                </a:cxn>
                <a:cxn ang="0">
                  <a:pos x="1232" y="2074"/>
                </a:cxn>
                <a:cxn ang="0">
                  <a:pos x="1232" y="2038"/>
                </a:cxn>
                <a:cxn ang="0">
                  <a:pos x="42" y="0"/>
                </a:cxn>
                <a:cxn ang="0">
                  <a:pos x="0" y="0"/>
                </a:cxn>
                <a:cxn ang="0">
                  <a:pos x="0" y="0"/>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39" name="Freeform 37"/>
            <p:cNvSpPr>
              <a:spLocks/>
            </p:cNvSpPr>
            <p:nvPr/>
          </p:nvSpPr>
          <p:spPr bwMode="hidden">
            <a:xfrm>
              <a:off x="4694" y="0"/>
              <a:ext cx="1060" cy="1936"/>
            </a:xfrm>
            <a:custGeom>
              <a:avLst/>
              <a:gdLst/>
              <a:ahLst/>
              <a:cxnLst>
                <a:cxn ang="0">
                  <a:pos x="0" y="0"/>
                </a:cxn>
                <a:cxn ang="0">
                  <a:pos x="1058" y="1936"/>
                </a:cxn>
                <a:cxn ang="0">
                  <a:pos x="1058" y="1930"/>
                </a:cxn>
                <a:cxn ang="0">
                  <a:pos x="54" y="0"/>
                </a:cxn>
                <a:cxn ang="0">
                  <a:pos x="0" y="0"/>
                </a:cxn>
                <a:cxn ang="0">
                  <a:pos x="0" y="0"/>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40" name="Freeform 38"/>
            <p:cNvSpPr>
              <a:spLocks/>
            </p:cNvSpPr>
            <p:nvPr/>
          </p:nvSpPr>
          <p:spPr bwMode="hidden">
            <a:xfrm>
              <a:off x="4981" y="0"/>
              <a:ext cx="773" cy="1487"/>
            </a:xfrm>
            <a:custGeom>
              <a:avLst/>
              <a:gdLst/>
              <a:ahLst/>
              <a:cxnLst>
                <a:cxn ang="0">
                  <a:pos x="771" y="1433"/>
                </a:cxn>
                <a:cxn ang="0">
                  <a:pos x="42" y="0"/>
                </a:cxn>
                <a:cxn ang="0">
                  <a:pos x="0" y="0"/>
                </a:cxn>
                <a:cxn ang="0">
                  <a:pos x="771" y="1487"/>
                </a:cxn>
                <a:cxn ang="0">
                  <a:pos x="771" y="1433"/>
                </a:cxn>
                <a:cxn ang="0">
                  <a:pos x="771" y="1433"/>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grpSp>
          <p:nvGrpSpPr>
            <p:cNvPr id="41" name="Group 39"/>
            <p:cNvGrpSpPr>
              <a:grpSpLocks/>
            </p:cNvGrpSpPr>
            <p:nvPr userDrawn="1"/>
          </p:nvGrpSpPr>
          <p:grpSpPr bwMode="auto">
            <a:xfrm>
              <a:off x="0" y="1632"/>
              <a:ext cx="5758" cy="1858"/>
              <a:chOff x="0" y="1632"/>
              <a:chExt cx="5758" cy="1858"/>
            </a:xfrm>
          </p:grpSpPr>
          <p:sp>
            <p:nvSpPr>
              <p:cNvPr id="42" name="Freeform 40"/>
              <p:cNvSpPr>
                <a:spLocks/>
              </p:cNvSpPr>
              <p:nvPr/>
            </p:nvSpPr>
            <p:spPr bwMode="hidden">
              <a:xfrm>
                <a:off x="0" y="1632"/>
                <a:ext cx="3670" cy="1313"/>
              </a:xfrm>
              <a:custGeom>
                <a:avLst/>
                <a:gdLst/>
                <a:ahLst/>
                <a:cxnLst>
                  <a:cxn ang="0">
                    <a:pos x="0" y="0"/>
                  </a:cxn>
                  <a:cxn ang="0">
                    <a:pos x="0" y="366"/>
                  </a:cxn>
                  <a:cxn ang="0">
                    <a:pos x="3635" y="1313"/>
                  </a:cxn>
                  <a:cxn ang="0">
                    <a:pos x="3647" y="1235"/>
                  </a:cxn>
                  <a:cxn ang="0">
                    <a:pos x="3659" y="1163"/>
                  </a:cxn>
                  <a:cxn ang="0">
                    <a:pos x="0" y="0"/>
                  </a:cxn>
                  <a:cxn ang="0">
                    <a:pos x="0" y="0"/>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zh-TW" altLang="en-US">
                  <a:ea typeface="新細明體" pitchFamily="18" charset="-120"/>
                </a:endParaRPr>
              </a:p>
            </p:txBody>
          </p:sp>
          <p:sp>
            <p:nvSpPr>
              <p:cNvPr id="43" name="Freeform 41"/>
              <p:cNvSpPr>
                <a:spLocks/>
              </p:cNvSpPr>
              <p:nvPr/>
            </p:nvSpPr>
            <p:spPr bwMode="hidden">
              <a:xfrm>
                <a:off x="3646" y="2795"/>
                <a:ext cx="2112" cy="695"/>
              </a:xfrm>
              <a:custGeom>
                <a:avLst/>
                <a:gdLst/>
                <a:ahLst/>
                <a:cxnLst>
                  <a:cxn ang="0">
                    <a:pos x="2105" y="665"/>
                  </a:cxn>
                  <a:cxn ang="0">
                    <a:pos x="24" y="0"/>
                  </a:cxn>
                  <a:cxn ang="0">
                    <a:pos x="12" y="72"/>
                  </a:cxn>
                  <a:cxn ang="0">
                    <a:pos x="0" y="150"/>
                  </a:cxn>
                  <a:cxn ang="0">
                    <a:pos x="2105" y="695"/>
                  </a:cxn>
                  <a:cxn ang="0">
                    <a:pos x="2105" y="665"/>
                  </a:cxn>
                  <a:cxn ang="0">
                    <a:pos x="2105" y="665"/>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w="9525">
                <a:noFill/>
                <a:round/>
                <a:headEnd/>
                <a:tailEnd/>
              </a:ln>
            </p:spPr>
            <p:txBody>
              <a:bodyPr/>
              <a:lstStyle/>
              <a:p>
                <a:pPr>
                  <a:defRPr/>
                </a:pPr>
                <a:endParaRPr lang="zh-TW" altLang="en-US">
                  <a:ea typeface="新細明體" pitchFamily="18" charset="-120"/>
                </a:endParaRPr>
              </a:p>
            </p:txBody>
          </p:sp>
        </p:grpSp>
      </p:grpSp>
      <p:pic>
        <p:nvPicPr>
          <p:cNvPr id="44" name="Picture 49" descr="hdr-bk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895600" y="0"/>
            <a:ext cx="62484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51" descr="ft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4008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2" descr="臺灣大學_標題"/>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525" y="3175"/>
            <a:ext cx="189547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34" name="Rectangle 42"/>
          <p:cNvSpPr>
            <a:spLocks noGrp="1" noChangeArrowheads="1"/>
          </p:cNvSpPr>
          <p:nvPr>
            <p:ph type="ctrTitle" sz="quarter"/>
          </p:nvPr>
        </p:nvSpPr>
        <p:spPr>
          <a:xfrm>
            <a:off x="457200" y="1600200"/>
            <a:ext cx="8229600" cy="1828800"/>
          </a:xfrm>
        </p:spPr>
        <p:txBody>
          <a:bodyPr/>
          <a:lstStyle>
            <a:lvl1pPr>
              <a:defRPr sz="4800"/>
            </a:lvl1pPr>
          </a:lstStyle>
          <a:p>
            <a:r>
              <a:rPr lang="en-US" altLang="zh-TW"/>
              <a:t>Click to edit Master title style</a:t>
            </a:r>
          </a:p>
        </p:txBody>
      </p:sp>
      <p:sp>
        <p:nvSpPr>
          <p:cNvPr id="8235" name="Rectangle 43"/>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sz="3600"/>
            </a:lvl1pPr>
          </a:lstStyle>
          <a:p>
            <a:r>
              <a:rPr lang="en-US" altLang="zh-TW"/>
              <a:t>Click to edit Master subtitle style</a:t>
            </a:r>
          </a:p>
        </p:txBody>
      </p:sp>
    </p:spTree>
    <p:extLst>
      <p:ext uri="{BB962C8B-B14F-4D97-AF65-F5344CB8AC3E}">
        <p14:creationId xmlns:p14="http://schemas.microsoft.com/office/powerpoint/2010/main" val="670156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TextBox 48"/>
          <p:cNvSpPr txBox="1">
            <a:spLocks noChangeArrowheads="1"/>
          </p:cNvSpPr>
          <p:nvPr userDrawn="1"/>
        </p:nvSpPr>
        <p:spPr bwMode="auto">
          <a:xfrm>
            <a:off x="457200" y="6354763"/>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dirty="0">
                <a:ea typeface="新細明體" panose="02020500000000000000" pitchFamily="18" charset="-120"/>
              </a:rPr>
              <a:t>2019/02/19</a:t>
            </a:r>
            <a:endParaRPr lang="zh-TW" altLang="en-US" dirty="0">
              <a:ea typeface="新細明體" panose="02020500000000000000" pitchFamily="18" charset="-120"/>
            </a:endParaRPr>
          </a:p>
        </p:txBody>
      </p:sp>
      <p:pic>
        <p:nvPicPr>
          <p:cNvPr id="5" name="Picture 2" descr="臺灣大學_標題"/>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25" y="3175"/>
            <a:ext cx="189547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5"/>
          <p:cNvSpPr>
            <a:spLocks noGrp="1" noChangeArrowheads="1"/>
          </p:cNvSpPr>
          <p:nvPr>
            <p:ph type="ftr" sz="quarter" idx="10"/>
          </p:nvPr>
        </p:nvSpPr>
        <p:spPr>
          <a:xfrm>
            <a:off x="1828800" y="6354763"/>
            <a:ext cx="6172200" cy="304800"/>
          </a:xfrm>
        </p:spPr>
        <p:txBody>
          <a:bodyPr/>
          <a:lstStyle>
            <a:lvl1pPr algn="ctr" eaLnBrk="1" hangingPunct="1">
              <a:defRPr sz="1400" smtClean="0">
                <a:effectLst>
                  <a:outerShdw blurRad="38100" dist="38100" dir="2700000" algn="tl">
                    <a:srgbClr val="000000"/>
                  </a:outerShdw>
                </a:effectLst>
                <a:latin typeface="Arial" charset="0"/>
                <a:ea typeface="新細明體" pitchFamily="18" charset="-120"/>
              </a:defRPr>
            </a:lvl1pPr>
          </a:lstStyle>
          <a:p>
            <a:pPr>
              <a:defRPr/>
            </a:pPr>
            <a:r>
              <a:rPr lang="en-US" altLang="zh-TW"/>
              <a:t>Department of Electrical Engineering</a:t>
            </a:r>
          </a:p>
        </p:txBody>
      </p:sp>
    </p:spTree>
    <p:extLst>
      <p:ext uri="{BB962C8B-B14F-4D97-AF65-F5344CB8AC3E}">
        <p14:creationId xmlns:p14="http://schemas.microsoft.com/office/powerpoint/2010/main" val="2097356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45"/>
          <p:cNvSpPr>
            <a:spLocks noGrp="1" noChangeArrowheads="1"/>
          </p:cNvSpPr>
          <p:nvPr>
            <p:ph type="ftr" sz="quarter" idx="11"/>
          </p:nvPr>
        </p:nvSpPr>
        <p:spPr>
          <a:ln/>
        </p:spPr>
        <p:txBody>
          <a:bodyPr/>
          <a:lstStyle>
            <a:lvl1pPr>
              <a:defRPr/>
            </a:lvl1pPr>
          </a:lstStyle>
          <a:p>
            <a:pPr>
              <a:defRPr/>
            </a:pPr>
            <a:r>
              <a:rPr lang="en-US" altLang="zh-TW"/>
              <a:t>Department of Electrical Engineering</a:t>
            </a:r>
          </a:p>
        </p:txBody>
      </p:sp>
      <p:sp>
        <p:nvSpPr>
          <p:cNvPr id="6" name="Rectangle 46"/>
          <p:cNvSpPr>
            <a:spLocks noGrp="1" noChangeArrowheads="1"/>
          </p:cNvSpPr>
          <p:nvPr>
            <p:ph type="sldNum" sz="quarter" idx="12"/>
          </p:nvPr>
        </p:nvSpPr>
        <p:spPr>
          <a:ln/>
        </p:spPr>
        <p:txBody>
          <a:bodyPr/>
          <a:lstStyle>
            <a:lvl1pPr>
              <a:defRPr/>
            </a:lvl1pPr>
          </a:lstStyle>
          <a:p>
            <a:pPr>
              <a:defRPr/>
            </a:pPr>
            <a:fld id="{480B49A9-735C-4195-909D-8C4F8A3A7E5B}" type="slidenum">
              <a:rPr lang="zh-TW" altLang="en-US"/>
              <a:pPr>
                <a:defRPr/>
              </a:pPr>
              <a:t>‹#›</a:t>
            </a:fld>
            <a:endParaRPr lang="en-US" altLang="zh-TW"/>
          </a:p>
        </p:txBody>
      </p:sp>
    </p:spTree>
    <p:extLst>
      <p:ext uri="{BB962C8B-B14F-4D97-AF65-F5344CB8AC3E}">
        <p14:creationId xmlns:p14="http://schemas.microsoft.com/office/powerpoint/2010/main" val="1932929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45"/>
          <p:cNvSpPr>
            <a:spLocks noGrp="1" noChangeArrowheads="1"/>
          </p:cNvSpPr>
          <p:nvPr>
            <p:ph type="ftr" sz="quarter" idx="11"/>
          </p:nvPr>
        </p:nvSpPr>
        <p:spPr>
          <a:ln/>
        </p:spPr>
        <p:txBody>
          <a:bodyPr/>
          <a:lstStyle>
            <a:lvl1pPr>
              <a:defRPr/>
            </a:lvl1pPr>
          </a:lstStyle>
          <a:p>
            <a:pPr>
              <a:defRPr/>
            </a:pPr>
            <a:r>
              <a:rPr lang="en-US" altLang="zh-TW"/>
              <a:t>Department of Electrical Engineering</a:t>
            </a:r>
          </a:p>
        </p:txBody>
      </p:sp>
      <p:sp>
        <p:nvSpPr>
          <p:cNvPr id="7" name="Rectangle 46"/>
          <p:cNvSpPr>
            <a:spLocks noGrp="1" noChangeArrowheads="1"/>
          </p:cNvSpPr>
          <p:nvPr>
            <p:ph type="sldNum" sz="quarter" idx="12"/>
          </p:nvPr>
        </p:nvSpPr>
        <p:spPr>
          <a:ln/>
        </p:spPr>
        <p:txBody>
          <a:bodyPr/>
          <a:lstStyle>
            <a:lvl1pPr>
              <a:defRPr/>
            </a:lvl1pPr>
          </a:lstStyle>
          <a:p>
            <a:pPr>
              <a:defRPr/>
            </a:pPr>
            <a:fld id="{3820D1F1-39F7-4E3A-9053-6A2706121D2C}" type="slidenum">
              <a:rPr lang="zh-TW" altLang="en-US"/>
              <a:pPr>
                <a:defRPr/>
              </a:pPr>
              <a:t>‹#›</a:t>
            </a:fld>
            <a:endParaRPr lang="en-US" altLang="zh-TW"/>
          </a:p>
        </p:txBody>
      </p:sp>
    </p:spTree>
    <p:extLst>
      <p:ext uri="{BB962C8B-B14F-4D97-AF65-F5344CB8AC3E}">
        <p14:creationId xmlns:p14="http://schemas.microsoft.com/office/powerpoint/2010/main" val="2425947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4"/>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45"/>
          <p:cNvSpPr>
            <a:spLocks noGrp="1" noChangeArrowheads="1"/>
          </p:cNvSpPr>
          <p:nvPr>
            <p:ph type="ftr" sz="quarter" idx="11"/>
          </p:nvPr>
        </p:nvSpPr>
        <p:spPr>
          <a:ln/>
        </p:spPr>
        <p:txBody>
          <a:bodyPr/>
          <a:lstStyle>
            <a:lvl1pPr>
              <a:defRPr/>
            </a:lvl1pPr>
          </a:lstStyle>
          <a:p>
            <a:pPr>
              <a:defRPr/>
            </a:pPr>
            <a:r>
              <a:rPr lang="en-US" altLang="zh-TW"/>
              <a:t>Department of Electrical Engineering</a:t>
            </a:r>
          </a:p>
        </p:txBody>
      </p:sp>
      <p:sp>
        <p:nvSpPr>
          <p:cNvPr id="9" name="Rectangle 46"/>
          <p:cNvSpPr>
            <a:spLocks noGrp="1" noChangeArrowheads="1"/>
          </p:cNvSpPr>
          <p:nvPr>
            <p:ph type="sldNum" sz="quarter" idx="12"/>
          </p:nvPr>
        </p:nvSpPr>
        <p:spPr>
          <a:ln/>
        </p:spPr>
        <p:txBody>
          <a:bodyPr/>
          <a:lstStyle>
            <a:lvl1pPr>
              <a:defRPr/>
            </a:lvl1pPr>
          </a:lstStyle>
          <a:p>
            <a:pPr>
              <a:defRPr/>
            </a:pPr>
            <a:fld id="{963A1E56-27F7-4733-A4D6-A836225E52B2}" type="slidenum">
              <a:rPr lang="zh-TW" altLang="en-US"/>
              <a:pPr>
                <a:defRPr/>
              </a:pPr>
              <a:t>‹#›</a:t>
            </a:fld>
            <a:endParaRPr lang="en-US" altLang="zh-TW"/>
          </a:p>
        </p:txBody>
      </p:sp>
    </p:spTree>
    <p:extLst>
      <p:ext uri="{BB962C8B-B14F-4D97-AF65-F5344CB8AC3E}">
        <p14:creationId xmlns:p14="http://schemas.microsoft.com/office/powerpoint/2010/main" val="1441001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45"/>
          <p:cNvSpPr>
            <a:spLocks noGrp="1" noChangeArrowheads="1"/>
          </p:cNvSpPr>
          <p:nvPr>
            <p:ph type="ftr" sz="quarter" idx="11"/>
          </p:nvPr>
        </p:nvSpPr>
        <p:spPr>
          <a:ln/>
        </p:spPr>
        <p:txBody>
          <a:bodyPr/>
          <a:lstStyle>
            <a:lvl1pPr>
              <a:defRPr/>
            </a:lvl1pPr>
          </a:lstStyle>
          <a:p>
            <a:pPr>
              <a:defRPr/>
            </a:pPr>
            <a:r>
              <a:rPr lang="en-US" altLang="zh-TW"/>
              <a:t>Department of Electrical Engineering</a:t>
            </a:r>
          </a:p>
        </p:txBody>
      </p:sp>
      <p:sp>
        <p:nvSpPr>
          <p:cNvPr id="5" name="Rectangle 46"/>
          <p:cNvSpPr>
            <a:spLocks noGrp="1" noChangeArrowheads="1"/>
          </p:cNvSpPr>
          <p:nvPr>
            <p:ph type="sldNum" sz="quarter" idx="12"/>
          </p:nvPr>
        </p:nvSpPr>
        <p:spPr>
          <a:ln/>
        </p:spPr>
        <p:txBody>
          <a:bodyPr/>
          <a:lstStyle>
            <a:lvl1pPr>
              <a:defRPr/>
            </a:lvl1pPr>
          </a:lstStyle>
          <a:p>
            <a:pPr>
              <a:defRPr/>
            </a:pPr>
            <a:fld id="{788102AB-C916-4EC2-A6EB-87067CAEBB21}" type="slidenum">
              <a:rPr lang="zh-TW" altLang="en-US"/>
              <a:pPr>
                <a:defRPr/>
              </a:pPr>
              <a:t>‹#›</a:t>
            </a:fld>
            <a:endParaRPr lang="en-US" altLang="zh-TW"/>
          </a:p>
        </p:txBody>
      </p:sp>
    </p:spTree>
    <p:extLst>
      <p:ext uri="{BB962C8B-B14F-4D97-AF65-F5344CB8AC3E}">
        <p14:creationId xmlns:p14="http://schemas.microsoft.com/office/powerpoint/2010/main" val="149165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Box 48"/>
          <p:cNvSpPr txBox="1">
            <a:spLocks noChangeArrowheads="1"/>
          </p:cNvSpPr>
          <p:nvPr userDrawn="1"/>
        </p:nvSpPr>
        <p:spPr bwMode="auto">
          <a:xfrm>
            <a:off x="228600" y="6389688"/>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dirty="0">
                <a:ea typeface="新細明體" panose="02020500000000000000" pitchFamily="18" charset="-120"/>
              </a:rPr>
              <a:t>2015/09/17</a:t>
            </a:r>
            <a:endParaRPr lang="zh-TW" altLang="en-US" dirty="0">
              <a:ea typeface="新細明體" panose="02020500000000000000" pitchFamily="18" charset="-120"/>
            </a:endParaRPr>
          </a:p>
        </p:txBody>
      </p:sp>
      <p:sp>
        <p:nvSpPr>
          <p:cNvPr id="3" name="Rectangle 45"/>
          <p:cNvSpPr>
            <a:spLocks noGrp="1" noChangeArrowheads="1"/>
          </p:cNvSpPr>
          <p:nvPr>
            <p:ph type="ftr" sz="quarter" idx="10"/>
          </p:nvPr>
        </p:nvSpPr>
        <p:spPr/>
        <p:txBody>
          <a:bodyPr/>
          <a:lstStyle>
            <a:lvl1pPr>
              <a:defRPr smtClean="0"/>
            </a:lvl1pPr>
          </a:lstStyle>
          <a:p>
            <a:pPr>
              <a:defRPr/>
            </a:pPr>
            <a:r>
              <a:rPr lang="en-US" altLang="zh-TW"/>
              <a:t>Department of Electrical Engineering</a:t>
            </a:r>
          </a:p>
        </p:txBody>
      </p:sp>
      <p:sp>
        <p:nvSpPr>
          <p:cNvPr id="4" name="Rectangle 46"/>
          <p:cNvSpPr>
            <a:spLocks noGrp="1" noChangeArrowheads="1"/>
          </p:cNvSpPr>
          <p:nvPr>
            <p:ph type="sldNum" sz="quarter" idx="11"/>
          </p:nvPr>
        </p:nvSpPr>
        <p:spPr/>
        <p:txBody>
          <a:bodyPr/>
          <a:lstStyle>
            <a:lvl1pPr>
              <a:defRPr/>
            </a:lvl1pPr>
          </a:lstStyle>
          <a:p>
            <a:pPr>
              <a:defRPr/>
            </a:pPr>
            <a:fld id="{818C2203-E103-4D2D-B504-BD763C6665C5}" type="slidenum">
              <a:rPr lang="zh-TW" altLang="en-US"/>
              <a:pPr>
                <a:defRPr/>
              </a:pPr>
              <a:t>‹#›</a:t>
            </a:fld>
            <a:endParaRPr lang="en-US" altLang="zh-TW"/>
          </a:p>
        </p:txBody>
      </p:sp>
    </p:spTree>
    <p:extLst>
      <p:ext uri="{BB962C8B-B14F-4D97-AF65-F5344CB8AC3E}">
        <p14:creationId xmlns:p14="http://schemas.microsoft.com/office/powerpoint/2010/main" val="268170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45"/>
          <p:cNvSpPr>
            <a:spLocks noGrp="1" noChangeArrowheads="1"/>
          </p:cNvSpPr>
          <p:nvPr>
            <p:ph type="ftr" sz="quarter" idx="11"/>
          </p:nvPr>
        </p:nvSpPr>
        <p:spPr>
          <a:ln/>
        </p:spPr>
        <p:txBody>
          <a:bodyPr/>
          <a:lstStyle>
            <a:lvl1pPr>
              <a:defRPr/>
            </a:lvl1pPr>
          </a:lstStyle>
          <a:p>
            <a:pPr>
              <a:defRPr/>
            </a:pPr>
            <a:r>
              <a:rPr lang="en-US" altLang="zh-TW"/>
              <a:t>Department of Electrical Engineering</a:t>
            </a:r>
          </a:p>
        </p:txBody>
      </p:sp>
      <p:sp>
        <p:nvSpPr>
          <p:cNvPr id="7" name="Rectangle 46"/>
          <p:cNvSpPr>
            <a:spLocks noGrp="1" noChangeArrowheads="1"/>
          </p:cNvSpPr>
          <p:nvPr>
            <p:ph type="sldNum" sz="quarter" idx="12"/>
          </p:nvPr>
        </p:nvSpPr>
        <p:spPr>
          <a:ln/>
        </p:spPr>
        <p:txBody>
          <a:bodyPr/>
          <a:lstStyle>
            <a:lvl1pPr>
              <a:defRPr/>
            </a:lvl1pPr>
          </a:lstStyle>
          <a:p>
            <a:pPr>
              <a:defRPr/>
            </a:pPr>
            <a:fld id="{B222DF6F-898C-4019-8358-3A1F4C941CF5}" type="slidenum">
              <a:rPr lang="zh-TW" altLang="en-US"/>
              <a:pPr>
                <a:defRPr/>
              </a:pPr>
              <a:t>‹#›</a:t>
            </a:fld>
            <a:endParaRPr lang="en-US" altLang="zh-TW"/>
          </a:p>
        </p:txBody>
      </p:sp>
    </p:spTree>
    <p:extLst>
      <p:ext uri="{BB962C8B-B14F-4D97-AF65-F5344CB8AC3E}">
        <p14:creationId xmlns:p14="http://schemas.microsoft.com/office/powerpoint/2010/main" val="2010112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45"/>
          <p:cNvSpPr>
            <a:spLocks noGrp="1" noChangeArrowheads="1"/>
          </p:cNvSpPr>
          <p:nvPr>
            <p:ph type="ftr" sz="quarter" idx="11"/>
          </p:nvPr>
        </p:nvSpPr>
        <p:spPr>
          <a:ln/>
        </p:spPr>
        <p:txBody>
          <a:bodyPr/>
          <a:lstStyle>
            <a:lvl1pPr>
              <a:defRPr/>
            </a:lvl1pPr>
          </a:lstStyle>
          <a:p>
            <a:pPr>
              <a:defRPr/>
            </a:pPr>
            <a:r>
              <a:rPr lang="en-US" altLang="zh-TW"/>
              <a:t>Department of Electrical Engineering</a:t>
            </a:r>
          </a:p>
        </p:txBody>
      </p:sp>
      <p:sp>
        <p:nvSpPr>
          <p:cNvPr id="7" name="Rectangle 46"/>
          <p:cNvSpPr>
            <a:spLocks noGrp="1" noChangeArrowheads="1"/>
          </p:cNvSpPr>
          <p:nvPr>
            <p:ph type="sldNum" sz="quarter" idx="12"/>
          </p:nvPr>
        </p:nvSpPr>
        <p:spPr>
          <a:ln/>
        </p:spPr>
        <p:txBody>
          <a:bodyPr/>
          <a:lstStyle>
            <a:lvl1pPr>
              <a:defRPr/>
            </a:lvl1pPr>
          </a:lstStyle>
          <a:p>
            <a:pPr>
              <a:defRPr/>
            </a:pPr>
            <a:fld id="{B7D5E10E-BF7E-4602-9457-42FE8E52E77A}" type="slidenum">
              <a:rPr lang="zh-TW" altLang="en-US"/>
              <a:pPr>
                <a:defRPr/>
              </a:pPr>
              <a:t>‹#›</a:t>
            </a:fld>
            <a:endParaRPr lang="en-US" altLang="zh-TW"/>
          </a:p>
        </p:txBody>
      </p:sp>
    </p:spTree>
    <p:extLst>
      <p:ext uri="{BB962C8B-B14F-4D97-AF65-F5344CB8AC3E}">
        <p14:creationId xmlns:p14="http://schemas.microsoft.com/office/powerpoint/2010/main" val="1986532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45"/>
          <p:cNvSpPr>
            <a:spLocks noGrp="1" noChangeArrowheads="1"/>
          </p:cNvSpPr>
          <p:nvPr>
            <p:ph type="ftr" sz="quarter" idx="11"/>
          </p:nvPr>
        </p:nvSpPr>
        <p:spPr>
          <a:ln/>
        </p:spPr>
        <p:txBody>
          <a:bodyPr/>
          <a:lstStyle>
            <a:lvl1pPr>
              <a:defRPr/>
            </a:lvl1pPr>
          </a:lstStyle>
          <a:p>
            <a:pPr>
              <a:defRPr/>
            </a:pPr>
            <a:r>
              <a:rPr lang="en-US" altLang="zh-TW"/>
              <a:t>Department of Electrical Engineering</a:t>
            </a:r>
          </a:p>
        </p:txBody>
      </p:sp>
      <p:sp>
        <p:nvSpPr>
          <p:cNvPr id="6" name="Rectangle 46"/>
          <p:cNvSpPr>
            <a:spLocks noGrp="1" noChangeArrowheads="1"/>
          </p:cNvSpPr>
          <p:nvPr>
            <p:ph type="sldNum" sz="quarter" idx="12"/>
          </p:nvPr>
        </p:nvSpPr>
        <p:spPr>
          <a:ln/>
        </p:spPr>
        <p:txBody>
          <a:bodyPr/>
          <a:lstStyle>
            <a:lvl1pPr>
              <a:defRPr/>
            </a:lvl1pPr>
          </a:lstStyle>
          <a:p>
            <a:pPr>
              <a:defRPr/>
            </a:pPr>
            <a:fld id="{F381FC71-A205-4A60-891F-E0514B687157}" type="slidenum">
              <a:rPr lang="zh-TW" altLang="en-US"/>
              <a:pPr>
                <a:defRPr/>
              </a:pPr>
              <a:t>‹#›</a:t>
            </a:fld>
            <a:endParaRPr lang="en-US" altLang="zh-TW"/>
          </a:p>
        </p:txBody>
      </p:sp>
    </p:spTree>
    <p:extLst>
      <p:ext uri="{BB962C8B-B14F-4D97-AF65-F5344CB8AC3E}">
        <p14:creationId xmlns:p14="http://schemas.microsoft.com/office/powerpoint/2010/main" val="247154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45"/>
          <p:cNvSpPr>
            <a:spLocks noGrp="1" noChangeArrowheads="1"/>
          </p:cNvSpPr>
          <p:nvPr>
            <p:ph type="ftr" sz="quarter" idx="11"/>
          </p:nvPr>
        </p:nvSpPr>
        <p:spPr>
          <a:ln/>
        </p:spPr>
        <p:txBody>
          <a:bodyPr/>
          <a:lstStyle>
            <a:lvl1pPr>
              <a:defRPr/>
            </a:lvl1pPr>
          </a:lstStyle>
          <a:p>
            <a:pPr>
              <a:defRPr/>
            </a:pPr>
            <a:r>
              <a:rPr lang="en-US" altLang="zh-TW"/>
              <a:t>Department of Electrical Engineering</a:t>
            </a:r>
          </a:p>
        </p:txBody>
      </p:sp>
      <p:sp>
        <p:nvSpPr>
          <p:cNvPr id="6" name="Rectangle 46"/>
          <p:cNvSpPr>
            <a:spLocks noGrp="1" noChangeArrowheads="1"/>
          </p:cNvSpPr>
          <p:nvPr>
            <p:ph type="sldNum" sz="quarter" idx="12"/>
          </p:nvPr>
        </p:nvSpPr>
        <p:spPr>
          <a:ln/>
        </p:spPr>
        <p:txBody>
          <a:bodyPr/>
          <a:lstStyle>
            <a:lvl1pPr>
              <a:defRPr/>
            </a:lvl1pPr>
          </a:lstStyle>
          <a:p>
            <a:pPr>
              <a:defRPr/>
            </a:pPr>
            <a:fld id="{E93D1CB1-5AE0-455E-8F90-EB4EB8006621}" type="slidenum">
              <a:rPr lang="zh-TW" altLang="en-US"/>
              <a:pPr>
                <a:defRPr/>
              </a:pPr>
              <a:t>‹#›</a:t>
            </a:fld>
            <a:endParaRPr lang="en-US" altLang="zh-TW"/>
          </a:p>
        </p:txBody>
      </p:sp>
    </p:spTree>
    <p:extLst>
      <p:ext uri="{BB962C8B-B14F-4D97-AF65-F5344CB8AC3E}">
        <p14:creationId xmlns:p14="http://schemas.microsoft.com/office/powerpoint/2010/main" val="2597493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Rectangle 4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45"/>
          <p:cNvSpPr>
            <a:spLocks noGrp="1" noChangeArrowheads="1"/>
          </p:cNvSpPr>
          <p:nvPr>
            <p:ph type="ftr" sz="quarter" idx="11"/>
          </p:nvPr>
        </p:nvSpPr>
        <p:spPr>
          <a:ln/>
        </p:spPr>
        <p:txBody>
          <a:bodyPr/>
          <a:lstStyle>
            <a:lvl1pPr>
              <a:defRPr/>
            </a:lvl1pPr>
          </a:lstStyle>
          <a:p>
            <a:pPr>
              <a:defRPr/>
            </a:pPr>
            <a:r>
              <a:rPr lang="en-US" altLang="zh-TW"/>
              <a:t>Department of Electrical Engineering</a:t>
            </a:r>
          </a:p>
        </p:txBody>
      </p:sp>
      <p:sp>
        <p:nvSpPr>
          <p:cNvPr id="5" name="Rectangle 46"/>
          <p:cNvSpPr>
            <a:spLocks noGrp="1" noChangeArrowheads="1"/>
          </p:cNvSpPr>
          <p:nvPr>
            <p:ph type="sldNum" sz="quarter" idx="12"/>
          </p:nvPr>
        </p:nvSpPr>
        <p:spPr>
          <a:ln/>
        </p:spPr>
        <p:txBody>
          <a:bodyPr/>
          <a:lstStyle>
            <a:lvl1pPr>
              <a:defRPr/>
            </a:lvl1pPr>
          </a:lstStyle>
          <a:p>
            <a:pPr>
              <a:defRPr/>
            </a:pPr>
            <a:fld id="{BBFFAD43-82FD-4406-B558-DD9A82551024}" type="slidenum">
              <a:rPr lang="zh-TW" altLang="en-US"/>
              <a:pPr>
                <a:defRPr/>
              </a:pPr>
              <a:t>‹#›</a:t>
            </a:fld>
            <a:endParaRPr lang="en-US" altLang="zh-TW"/>
          </a:p>
        </p:txBody>
      </p:sp>
    </p:spTree>
    <p:extLst>
      <p:ext uri="{BB962C8B-B14F-4D97-AF65-F5344CB8AC3E}">
        <p14:creationId xmlns:p14="http://schemas.microsoft.com/office/powerpoint/2010/main" val="1295194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Department of Electrical Engineering</a:t>
            </a:r>
          </a:p>
        </p:txBody>
      </p:sp>
      <p:sp>
        <p:nvSpPr>
          <p:cNvPr id="6" name="Slide Number Placeholder 5"/>
          <p:cNvSpPr>
            <a:spLocks noGrp="1"/>
          </p:cNvSpPr>
          <p:nvPr>
            <p:ph type="sldNum" sz="quarter" idx="12"/>
          </p:nvPr>
        </p:nvSpPr>
        <p:spPr/>
        <p:txBody>
          <a:bodyPr/>
          <a:lstStyle>
            <a:lvl1pPr>
              <a:defRPr/>
            </a:lvl1pPr>
          </a:lstStyle>
          <a:p>
            <a:pPr>
              <a:defRPr/>
            </a:pPr>
            <a:fld id="{25ABE1B7-65A8-4EE1-9DF3-02866BE231A0}" type="slidenum">
              <a:rPr lang="en-US" altLang="en-US"/>
              <a:pPr>
                <a:defRPr/>
              </a:pPr>
              <a:t>‹#›</a:t>
            </a:fld>
            <a:endParaRPr lang="en-US" altLang="en-US"/>
          </a:p>
        </p:txBody>
      </p:sp>
    </p:spTree>
    <p:extLst>
      <p:ext uri="{BB962C8B-B14F-4D97-AF65-F5344CB8AC3E}">
        <p14:creationId xmlns:p14="http://schemas.microsoft.com/office/powerpoint/2010/main" val="3233741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Department of Electrical Engineering</a:t>
            </a:r>
          </a:p>
        </p:txBody>
      </p:sp>
      <p:sp>
        <p:nvSpPr>
          <p:cNvPr id="6" name="Slide Number Placeholder 5"/>
          <p:cNvSpPr>
            <a:spLocks noGrp="1"/>
          </p:cNvSpPr>
          <p:nvPr>
            <p:ph type="sldNum" sz="quarter" idx="12"/>
          </p:nvPr>
        </p:nvSpPr>
        <p:spPr/>
        <p:txBody>
          <a:bodyPr/>
          <a:lstStyle>
            <a:lvl1pPr>
              <a:defRPr/>
            </a:lvl1pPr>
          </a:lstStyle>
          <a:p>
            <a:pPr>
              <a:defRPr/>
            </a:pPr>
            <a:fld id="{70B7BBD2-B818-4C82-99E4-B78557AB5447}" type="slidenum">
              <a:rPr lang="en-US" altLang="en-US"/>
              <a:pPr>
                <a:defRPr/>
              </a:pPr>
              <a:t>‹#›</a:t>
            </a:fld>
            <a:endParaRPr lang="en-US" altLang="en-US"/>
          </a:p>
        </p:txBody>
      </p:sp>
    </p:spTree>
    <p:extLst>
      <p:ext uri="{BB962C8B-B14F-4D97-AF65-F5344CB8AC3E}">
        <p14:creationId xmlns:p14="http://schemas.microsoft.com/office/powerpoint/2010/main" val="3642967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Department of Electrical Engineering</a:t>
            </a:r>
          </a:p>
        </p:txBody>
      </p:sp>
      <p:sp>
        <p:nvSpPr>
          <p:cNvPr id="6" name="Slide Number Placeholder 5"/>
          <p:cNvSpPr>
            <a:spLocks noGrp="1"/>
          </p:cNvSpPr>
          <p:nvPr>
            <p:ph type="sldNum" sz="quarter" idx="12"/>
          </p:nvPr>
        </p:nvSpPr>
        <p:spPr/>
        <p:txBody>
          <a:bodyPr/>
          <a:lstStyle>
            <a:lvl1pPr>
              <a:defRPr/>
            </a:lvl1pPr>
          </a:lstStyle>
          <a:p>
            <a:pPr>
              <a:defRPr/>
            </a:pPr>
            <a:fld id="{BCBA2FC7-4D65-4553-A03A-CF9C905841ED}" type="slidenum">
              <a:rPr lang="en-US" altLang="en-US"/>
              <a:pPr>
                <a:defRPr/>
              </a:pPr>
              <a:t>‹#›</a:t>
            </a:fld>
            <a:endParaRPr lang="en-US" altLang="en-US"/>
          </a:p>
        </p:txBody>
      </p:sp>
    </p:spTree>
    <p:extLst>
      <p:ext uri="{BB962C8B-B14F-4D97-AF65-F5344CB8AC3E}">
        <p14:creationId xmlns:p14="http://schemas.microsoft.com/office/powerpoint/2010/main" val="32286136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Department of Electrical Engineering</a:t>
            </a:r>
          </a:p>
        </p:txBody>
      </p:sp>
      <p:sp>
        <p:nvSpPr>
          <p:cNvPr id="7" name="Slide Number Placeholder 5"/>
          <p:cNvSpPr>
            <a:spLocks noGrp="1"/>
          </p:cNvSpPr>
          <p:nvPr>
            <p:ph type="sldNum" sz="quarter" idx="12"/>
          </p:nvPr>
        </p:nvSpPr>
        <p:spPr/>
        <p:txBody>
          <a:bodyPr/>
          <a:lstStyle>
            <a:lvl1pPr>
              <a:defRPr/>
            </a:lvl1pPr>
          </a:lstStyle>
          <a:p>
            <a:pPr>
              <a:defRPr/>
            </a:pPr>
            <a:fld id="{AC77DB11-2687-4672-9DE7-6EC6D0065235}" type="slidenum">
              <a:rPr lang="en-US" altLang="en-US"/>
              <a:pPr>
                <a:defRPr/>
              </a:pPr>
              <a:t>‹#›</a:t>
            </a:fld>
            <a:endParaRPr lang="en-US" altLang="en-US"/>
          </a:p>
        </p:txBody>
      </p:sp>
    </p:spTree>
    <p:extLst>
      <p:ext uri="{BB962C8B-B14F-4D97-AF65-F5344CB8AC3E}">
        <p14:creationId xmlns:p14="http://schemas.microsoft.com/office/powerpoint/2010/main" val="28739052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ltLang="en-US"/>
          </a:p>
        </p:txBody>
      </p:sp>
      <p:sp>
        <p:nvSpPr>
          <p:cNvPr id="8" name="Footer Placeholder 4"/>
          <p:cNvSpPr>
            <a:spLocks noGrp="1"/>
          </p:cNvSpPr>
          <p:nvPr>
            <p:ph type="ftr" sz="quarter" idx="11"/>
          </p:nvPr>
        </p:nvSpPr>
        <p:spPr/>
        <p:txBody>
          <a:bodyPr/>
          <a:lstStyle>
            <a:lvl1pPr>
              <a:defRPr/>
            </a:lvl1pPr>
          </a:lstStyle>
          <a:p>
            <a:pPr>
              <a:defRPr/>
            </a:pPr>
            <a:r>
              <a:rPr lang="en-US" altLang="en-US"/>
              <a:t>Department of Electrical Engineering</a:t>
            </a:r>
          </a:p>
        </p:txBody>
      </p:sp>
      <p:sp>
        <p:nvSpPr>
          <p:cNvPr id="9" name="Slide Number Placeholder 5"/>
          <p:cNvSpPr>
            <a:spLocks noGrp="1"/>
          </p:cNvSpPr>
          <p:nvPr>
            <p:ph type="sldNum" sz="quarter" idx="12"/>
          </p:nvPr>
        </p:nvSpPr>
        <p:spPr/>
        <p:txBody>
          <a:bodyPr/>
          <a:lstStyle>
            <a:lvl1pPr>
              <a:defRPr/>
            </a:lvl1pPr>
          </a:lstStyle>
          <a:p>
            <a:pPr>
              <a:defRPr/>
            </a:pPr>
            <a:fld id="{22D0C09F-BAF3-4EE3-9F36-B22677FC9C02}" type="slidenum">
              <a:rPr lang="en-US" altLang="en-US"/>
              <a:pPr>
                <a:defRPr/>
              </a:pPr>
              <a:t>‹#›</a:t>
            </a:fld>
            <a:endParaRPr lang="en-US" altLang="en-US"/>
          </a:p>
        </p:txBody>
      </p:sp>
    </p:spTree>
    <p:extLst>
      <p:ext uri="{BB962C8B-B14F-4D97-AF65-F5344CB8AC3E}">
        <p14:creationId xmlns:p14="http://schemas.microsoft.com/office/powerpoint/2010/main" val="8020317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ltLang="en-US"/>
          </a:p>
        </p:txBody>
      </p:sp>
      <p:sp>
        <p:nvSpPr>
          <p:cNvPr id="4" name="Footer Placeholder 4"/>
          <p:cNvSpPr>
            <a:spLocks noGrp="1"/>
          </p:cNvSpPr>
          <p:nvPr>
            <p:ph type="ftr" sz="quarter" idx="11"/>
          </p:nvPr>
        </p:nvSpPr>
        <p:spPr/>
        <p:txBody>
          <a:bodyPr/>
          <a:lstStyle>
            <a:lvl1pPr>
              <a:defRPr/>
            </a:lvl1pPr>
          </a:lstStyle>
          <a:p>
            <a:pPr>
              <a:defRPr/>
            </a:pPr>
            <a:r>
              <a:rPr lang="en-US" altLang="en-US"/>
              <a:t>Department of Electrical Engineering</a:t>
            </a:r>
          </a:p>
        </p:txBody>
      </p:sp>
      <p:sp>
        <p:nvSpPr>
          <p:cNvPr id="5" name="Slide Number Placeholder 5"/>
          <p:cNvSpPr>
            <a:spLocks noGrp="1"/>
          </p:cNvSpPr>
          <p:nvPr>
            <p:ph type="sldNum" sz="quarter" idx="12"/>
          </p:nvPr>
        </p:nvSpPr>
        <p:spPr/>
        <p:txBody>
          <a:bodyPr/>
          <a:lstStyle>
            <a:lvl1pPr>
              <a:defRPr/>
            </a:lvl1pPr>
          </a:lstStyle>
          <a:p>
            <a:pPr>
              <a:defRPr/>
            </a:pPr>
            <a:fld id="{05307083-7B9D-4983-920B-2A35A7E32A93}" type="slidenum">
              <a:rPr lang="en-US" altLang="en-US"/>
              <a:pPr>
                <a:defRPr/>
              </a:pPr>
              <a:t>‹#›</a:t>
            </a:fld>
            <a:endParaRPr lang="en-US" altLang="en-US"/>
          </a:p>
        </p:txBody>
      </p:sp>
    </p:spTree>
    <p:extLst>
      <p:ext uri="{BB962C8B-B14F-4D97-AF65-F5344CB8AC3E}">
        <p14:creationId xmlns:p14="http://schemas.microsoft.com/office/powerpoint/2010/main" val="30699518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en-US"/>
          </a:p>
        </p:txBody>
      </p:sp>
      <p:sp>
        <p:nvSpPr>
          <p:cNvPr id="3" name="Footer Placeholder 4"/>
          <p:cNvSpPr>
            <a:spLocks noGrp="1"/>
          </p:cNvSpPr>
          <p:nvPr>
            <p:ph type="ftr" sz="quarter" idx="11"/>
          </p:nvPr>
        </p:nvSpPr>
        <p:spPr/>
        <p:txBody>
          <a:bodyPr/>
          <a:lstStyle>
            <a:lvl1pPr>
              <a:defRPr/>
            </a:lvl1pPr>
          </a:lstStyle>
          <a:p>
            <a:pPr>
              <a:defRPr/>
            </a:pPr>
            <a:r>
              <a:rPr lang="en-US" altLang="en-US"/>
              <a:t>Department of Electrical Engineering</a:t>
            </a:r>
          </a:p>
        </p:txBody>
      </p:sp>
      <p:sp>
        <p:nvSpPr>
          <p:cNvPr id="4" name="Slide Number Placeholder 5"/>
          <p:cNvSpPr>
            <a:spLocks noGrp="1"/>
          </p:cNvSpPr>
          <p:nvPr>
            <p:ph type="sldNum" sz="quarter" idx="12"/>
          </p:nvPr>
        </p:nvSpPr>
        <p:spPr/>
        <p:txBody>
          <a:bodyPr/>
          <a:lstStyle>
            <a:lvl1pPr>
              <a:defRPr/>
            </a:lvl1pPr>
          </a:lstStyle>
          <a:p>
            <a:pPr>
              <a:defRPr/>
            </a:pPr>
            <a:fld id="{13D55C96-5C38-4C9B-8103-953AD3A282C3}" type="slidenum">
              <a:rPr lang="en-US" altLang="en-US"/>
              <a:pPr>
                <a:defRPr/>
              </a:pPr>
              <a:t>‹#›</a:t>
            </a:fld>
            <a:endParaRPr lang="en-US" altLang="en-US"/>
          </a:p>
        </p:txBody>
      </p:sp>
    </p:spTree>
    <p:extLst>
      <p:ext uri="{BB962C8B-B14F-4D97-AF65-F5344CB8AC3E}">
        <p14:creationId xmlns:p14="http://schemas.microsoft.com/office/powerpoint/2010/main" val="9574474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Department of Electrical Engineering</a:t>
            </a:r>
          </a:p>
        </p:txBody>
      </p:sp>
      <p:sp>
        <p:nvSpPr>
          <p:cNvPr id="7" name="Slide Number Placeholder 5"/>
          <p:cNvSpPr>
            <a:spLocks noGrp="1"/>
          </p:cNvSpPr>
          <p:nvPr>
            <p:ph type="sldNum" sz="quarter" idx="12"/>
          </p:nvPr>
        </p:nvSpPr>
        <p:spPr/>
        <p:txBody>
          <a:bodyPr/>
          <a:lstStyle>
            <a:lvl1pPr>
              <a:defRPr/>
            </a:lvl1pPr>
          </a:lstStyle>
          <a:p>
            <a:pPr>
              <a:defRPr/>
            </a:pPr>
            <a:fld id="{69FCEF99-E313-446A-AFF7-B37AC8D598C5}" type="slidenum">
              <a:rPr lang="en-US" altLang="en-US"/>
              <a:pPr>
                <a:defRPr/>
              </a:pPr>
              <a:t>‹#›</a:t>
            </a:fld>
            <a:endParaRPr lang="en-US" altLang="en-US"/>
          </a:p>
        </p:txBody>
      </p:sp>
    </p:spTree>
    <p:extLst>
      <p:ext uri="{BB962C8B-B14F-4D97-AF65-F5344CB8AC3E}">
        <p14:creationId xmlns:p14="http://schemas.microsoft.com/office/powerpoint/2010/main" val="4467175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Department of Electrical Engineering</a:t>
            </a:r>
          </a:p>
        </p:txBody>
      </p:sp>
      <p:sp>
        <p:nvSpPr>
          <p:cNvPr id="7" name="Slide Number Placeholder 5"/>
          <p:cNvSpPr>
            <a:spLocks noGrp="1"/>
          </p:cNvSpPr>
          <p:nvPr>
            <p:ph type="sldNum" sz="quarter" idx="12"/>
          </p:nvPr>
        </p:nvSpPr>
        <p:spPr/>
        <p:txBody>
          <a:bodyPr/>
          <a:lstStyle>
            <a:lvl1pPr>
              <a:defRPr/>
            </a:lvl1pPr>
          </a:lstStyle>
          <a:p>
            <a:pPr>
              <a:defRPr/>
            </a:pPr>
            <a:fld id="{06EE5FDC-AF8B-4697-9A17-140432A77F36}" type="slidenum">
              <a:rPr lang="en-US" altLang="en-US"/>
              <a:pPr>
                <a:defRPr/>
              </a:pPr>
              <a:t>‹#›</a:t>
            </a:fld>
            <a:endParaRPr lang="en-US" altLang="en-US"/>
          </a:p>
        </p:txBody>
      </p:sp>
    </p:spTree>
    <p:extLst>
      <p:ext uri="{BB962C8B-B14F-4D97-AF65-F5344CB8AC3E}">
        <p14:creationId xmlns:p14="http://schemas.microsoft.com/office/powerpoint/2010/main" val="38714974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Department of Electrical Engineering</a:t>
            </a:r>
          </a:p>
        </p:txBody>
      </p:sp>
      <p:sp>
        <p:nvSpPr>
          <p:cNvPr id="6" name="Slide Number Placeholder 5"/>
          <p:cNvSpPr>
            <a:spLocks noGrp="1"/>
          </p:cNvSpPr>
          <p:nvPr>
            <p:ph type="sldNum" sz="quarter" idx="12"/>
          </p:nvPr>
        </p:nvSpPr>
        <p:spPr/>
        <p:txBody>
          <a:bodyPr/>
          <a:lstStyle>
            <a:lvl1pPr>
              <a:defRPr/>
            </a:lvl1pPr>
          </a:lstStyle>
          <a:p>
            <a:pPr>
              <a:defRPr/>
            </a:pPr>
            <a:fld id="{4EC21D1F-180B-4F98-B36A-C1331EF02B18}" type="slidenum">
              <a:rPr lang="en-US" altLang="en-US"/>
              <a:pPr>
                <a:defRPr/>
              </a:pPr>
              <a:t>‹#›</a:t>
            </a:fld>
            <a:endParaRPr lang="en-US" altLang="en-US"/>
          </a:p>
        </p:txBody>
      </p:sp>
    </p:spTree>
    <p:extLst>
      <p:ext uri="{BB962C8B-B14F-4D97-AF65-F5344CB8AC3E}">
        <p14:creationId xmlns:p14="http://schemas.microsoft.com/office/powerpoint/2010/main" val="1193372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Department of Electrical Engineering</a:t>
            </a:r>
          </a:p>
        </p:txBody>
      </p:sp>
      <p:sp>
        <p:nvSpPr>
          <p:cNvPr id="6" name="Slide Number Placeholder 5"/>
          <p:cNvSpPr>
            <a:spLocks noGrp="1"/>
          </p:cNvSpPr>
          <p:nvPr>
            <p:ph type="sldNum" sz="quarter" idx="12"/>
          </p:nvPr>
        </p:nvSpPr>
        <p:spPr/>
        <p:txBody>
          <a:bodyPr/>
          <a:lstStyle>
            <a:lvl1pPr>
              <a:defRPr/>
            </a:lvl1pPr>
          </a:lstStyle>
          <a:p>
            <a:pPr>
              <a:defRPr/>
            </a:pPr>
            <a:fld id="{67BAB920-6916-4062-9B27-716C0599DC8B}" type="slidenum">
              <a:rPr lang="en-US" altLang="en-US"/>
              <a:pPr>
                <a:defRPr/>
              </a:pPr>
              <a:t>‹#›</a:t>
            </a:fld>
            <a:endParaRPr lang="en-US" altLang="en-US"/>
          </a:p>
        </p:txBody>
      </p:sp>
    </p:spTree>
    <p:extLst>
      <p:ext uri="{BB962C8B-B14F-4D97-AF65-F5344CB8AC3E}">
        <p14:creationId xmlns:p14="http://schemas.microsoft.com/office/powerpoint/2010/main" val="25461112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tLang="zh-TW"/>
              <a:t>Click to edit Master title style</a:t>
            </a:r>
            <a:endParaRPr lang="zh-TW"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TW"/>
              <a:t>Click to edit Master subtitle style</a:t>
            </a:r>
            <a:endParaRPr lang="zh-TW" altLang="en-US"/>
          </a:p>
        </p:txBody>
      </p:sp>
      <p:sp>
        <p:nvSpPr>
          <p:cNvPr id="4" name="Date Placeholder 3"/>
          <p:cNvSpPr>
            <a:spLocks noGrp="1"/>
          </p:cNvSpPr>
          <p:nvPr>
            <p:ph type="dt" sz="half" idx="10"/>
          </p:nvPr>
        </p:nvSpPr>
        <p:spPr/>
        <p:txBody>
          <a:bodyPr/>
          <a:lstStyle>
            <a:lvl1pPr>
              <a:defRPr/>
            </a:lvl1pPr>
          </a:lstStyle>
          <a:p>
            <a:pPr>
              <a:defRPr/>
            </a:pPr>
            <a:endParaRPr lang="zh-TW" altLang="en-US"/>
          </a:p>
        </p:txBody>
      </p:sp>
      <p:sp>
        <p:nvSpPr>
          <p:cNvPr id="5" name="Footer Placeholder 4"/>
          <p:cNvSpPr>
            <a:spLocks noGrp="1"/>
          </p:cNvSpPr>
          <p:nvPr>
            <p:ph type="ftr" sz="quarter" idx="11"/>
          </p:nvPr>
        </p:nvSpPr>
        <p:spPr/>
        <p:txBody>
          <a:bodyPr/>
          <a:lstStyle>
            <a:lvl1pPr>
              <a:defRPr/>
            </a:lvl1pPr>
          </a:lstStyle>
          <a:p>
            <a:pPr>
              <a:defRPr/>
            </a:pPr>
            <a:r>
              <a:rPr lang="en-US" altLang="zh-TW"/>
              <a:t>Department of Electrical Engineering</a:t>
            </a:r>
            <a:endParaRPr lang="zh-TW" altLang="en-US"/>
          </a:p>
        </p:txBody>
      </p:sp>
      <p:sp>
        <p:nvSpPr>
          <p:cNvPr id="6" name="Slide Number Placeholder 5"/>
          <p:cNvSpPr>
            <a:spLocks noGrp="1"/>
          </p:cNvSpPr>
          <p:nvPr>
            <p:ph type="sldNum" sz="quarter" idx="12"/>
          </p:nvPr>
        </p:nvSpPr>
        <p:spPr/>
        <p:txBody>
          <a:bodyPr/>
          <a:lstStyle>
            <a:lvl1pPr>
              <a:defRPr/>
            </a:lvl1pPr>
          </a:lstStyle>
          <a:p>
            <a:pPr>
              <a:defRPr/>
            </a:pPr>
            <a:fld id="{9B2EB2BA-30C9-420F-9672-1009568F07AB}" type="slidenum">
              <a:rPr lang="zh-TW" altLang="en-US"/>
              <a:pPr>
                <a:defRPr/>
              </a:pPr>
              <a:t>‹#›</a:t>
            </a:fld>
            <a:endParaRPr lang="zh-TW" altLang="en-US"/>
          </a:p>
        </p:txBody>
      </p:sp>
    </p:spTree>
    <p:extLst>
      <p:ext uri="{BB962C8B-B14F-4D97-AF65-F5344CB8AC3E}">
        <p14:creationId xmlns:p14="http://schemas.microsoft.com/office/powerpoint/2010/main" val="4153776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p:txBody>
          <a:bodyPr/>
          <a:lstStyle>
            <a:lvl1pPr>
              <a:defRPr/>
            </a:lvl1pPr>
          </a:lstStyle>
          <a:p>
            <a:pPr>
              <a:defRPr/>
            </a:pPr>
            <a:endParaRPr lang="zh-TW" altLang="en-US"/>
          </a:p>
        </p:txBody>
      </p:sp>
      <p:sp>
        <p:nvSpPr>
          <p:cNvPr id="5" name="Footer Placeholder 4"/>
          <p:cNvSpPr>
            <a:spLocks noGrp="1"/>
          </p:cNvSpPr>
          <p:nvPr>
            <p:ph type="ftr" sz="quarter" idx="11"/>
          </p:nvPr>
        </p:nvSpPr>
        <p:spPr/>
        <p:txBody>
          <a:bodyPr/>
          <a:lstStyle>
            <a:lvl1pPr>
              <a:defRPr/>
            </a:lvl1pPr>
          </a:lstStyle>
          <a:p>
            <a:pPr>
              <a:defRPr/>
            </a:pPr>
            <a:r>
              <a:rPr lang="en-US" altLang="zh-TW"/>
              <a:t>Department of Electrical Engineering</a:t>
            </a:r>
            <a:endParaRPr lang="zh-TW" altLang="en-US"/>
          </a:p>
        </p:txBody>
      </p:sp>
      <p:sp>
        <p:nvSpPr>
          <p:cNvPr id="6" name="Slide Number Placeholder 5"/>
          <p:cNvSpPr>
            <a:spLocks noGrp="1"/>
          </p:cNvSpPr>
          <p:nvPr>
            <p:ph type="sldNum" sz="quarter" idx="12"/>
          </p:nvPr>
        </p:nvSpPr>
        <p:spPr/>
        <p:txBody>
          <a:bodyPr/>
          <a:lstStyle>
            <a:lvl1pPr>
              <a:defRPr/>
            </a:lvl1pPr>
          </a:lstStyle>
          <a:p>
            <a:pPr>
              <a:defRPr/>
            </a:pPr>
            <a:fld id="{C3CAA236-14A0-4DCA-AEE7-802CDCA57D3C}" type="slidenum">
              <a:rPr lang="zh-TW" altLang="en-US"/>
              <a:pPr>
                <a:defRPr/>
              </a:pPr>
              <a:t>‹#›</a:t>
            </a:fld>
            <a:endParaRPr lang="zh-TW" altLang="en-US"/>
          </a:p>
        </p:txBody>
      </p:sp>
    </p:spTree>
    <p:extLst>
      <p:ext uri="{BB962C8B-B14F-4D97-AF65-F5344CB8AC3E}">
        <p14:creationId xmlns:p14="http://schemas.microsoft.com/office/powerpoint/2010/main" val="38441934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TW"/>
              <a:t>Click to edit Master title style</a:t>
            </a:r>
            <a:endParaRPr lang="zh-TW"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TW"/>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zh-TW" altLang="en-US"/>
          </a:p>
        </p:txBody>
      </p:sp>
      <p:sp>
        <p:nvSpPr>
          <p:cNvPr id="5" name="Footer Placeholder 4"/>
          <p:cNvSpPr>
            <a:spLocks noGrp="1"/>
          </p:cNvSpPr>
          <p:nvPr>
            <p:ph type="ftr" sz="quarter" idx="11"/>
          </p:nvPr>
        </p:nvSpPr>
        <p:spPr/>
        <p:txBody>
          <a:bodyPr/>
          <a:lstStyle>
            <a:lvl1pPr>
              <a:defRPr/>
            </a:lvl1pPr>
          </a:lstStyle>
          <a:p>
            <a:pPr>
              <a:defRPr/>
            </a:pPr>
            <a:r>
              <a:rPr lang="en-US" altLang="zh-TW"/>
              <a:t>Department of Electrical Engineering</a:t>
            </a:r>
            <a:endParaRPr lang="zh-TW" altLang="en-US"/>
          </a:p>
        </p:txBody>
      </p:sp>
      <p:sp>
        <p:nvSpPr>
          <p:cNvPr id="6" name="Slide Number Placeholder 5"/>
          <p:cNvSpPr>
            <a:spLocks noGrp="1"/>
          </p:cNvSpPr>
          <p:nvPr>
            <p:ph type="sldNum" sz="quarter" idx="12"/>
          </p:nvPr>
        </p:nvSpPr>
        <p:spPr/>
        <p:txBody>
          <a:bodyPr/>
          <a:lstStyle>
            <a:lvl1pPr>
              <a:defRPr/>
            </a:lvl1pPr>
          </a:lstStyle>
          <a:p>
            <a:pPr>
              <a:defRPr/>
            </a:pPr>
            <a:fld id="{9D12DFE7-603A-4151-8C13-5523263D4D26}" type="slidenum">
              <a:rPr lang="zh-TW" altLang="en-US"/>
              <a:pPr>
                <a:defRPr/>
              </a:pPr>
              <a:t>‹#›</a:t>
            </a:fld>
            <a:endParaRPr lang="zh-TW" altLang="en-US"/>
          </a:p>
        </p:txBody>
      </p:sp>
    </p:spTree>
    <p:extLst>
      <p:ext uri="{BB962C8B-B14F-4D97-AF65-F5344CB8AC3E}">
        <p14:creationId xmlns:p14="http://schemas.microsoft.com/office/powerpoint/2010/main" val="10750928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3"/>
          <p:cNvSpPr>
            <a:spLocks noGrp="1"/>
          </p:cNvSpPr>
          <p:nvPr>
            <p:ph type="dt" sz="half" idx="10"/>
          </p:nvPr>
        </p:nvSpPr>
        <p:spPr/>
        <p:txBody>
          <a:bodyPr/>
          <a:lstStyle>
            <a:lvl1pPr>
              <a:defRPr/>
            </a:lvl1pPr>
          </a:lstStyle>
          <a:p>
            <a:pPr>
              <a:defRPr/>
            </a:pPr>
            <a:endParaRPr lang="zh-TW" altLang="en-US"/>
          </a:p>
        </p:txBody>
      </p:sp>
      <p:sp>
        <p:nvSpPr>
          <p:cNvPr id="6" name="Footer Placeholder 4"/>
          <p:cNvSpPr>
            <a:spLocks noGrp="1"/>
          </p:cNvSpPr>
          <p:nvPr>
            <p:ph type="ftr" sz="quarter" idx="11"/>
          </p:nvPr>
        </p:nvSpPr>
        <p:spPr/>
        <p:txBody>
          <a:bodyPr/>
          <a:lstStyle>
            <a:lvl1pPr>
              <a:defRPr/>
            </a:lvl1pPr>
          </a:lstStyle>
          <a:p>
            <a:pPr>
              <a:defRPr/>
            </a:pPr>
            <a:r>
              <a:rPr lang="en-US" altLang="zh-TW"/>
              <a:t>Department of Electrical Engineering</a:t>
            </a:r>
            <a:endParaRPr lang="zh-TW" altLang="en-US"/>
          </a:p>
        </p:txBody>
      </p:sp>
      <p:sp>
        <p:nvSpPr>
          <p:cNvPr id="7" name="Slide Number Placeholder 5"/>
          <p:cNvSpPr>
            <a:spLocks noGrp="1"/>
          </p:cNvSpPr>
          <p:nvPr>
            <p:ph type="sldNum" sz="quarter" idx="12"/>
          </p:nvPr>
        </p:nvSpPr>
        <p:spPr/>
        <p:txBody>
          <a:bodyPr/>
          <a:lstStyle>
            <a:lvl1pPr>
              <a:defRPr/>
            </a:lvl1pPr>
          </a:lstStyle>
          <a:p>
            <a:pPr>
              <a:defRPr/>
            </a:pPr>
            <a:fld id="{82240C21-CD6B-4B97-90CC-20CAF5DE4AD1}" type="slidenum">
              <a:rPr lang="zh-TW" altLang="en-US"/>
              <a:pPr>
                <a:defRPr/>
              </a:pPr>
              <a:t>‹#›</a:t>
            </a:fld>
            <a:endParaRPr lang="zh-TW" altLang="en-US"/>
          </a:p>
        </p:txBody>
      </p:sp>
    </p:spTree>
    <p:extLst>
      <p:ext uri="{BB962C8B-B14F-4D97-AF65-F5344CB8AC3E}">
        <p14:creationId xmlns:p14="http://schemas.microsoft.com/office/powerpoint/2010/main" val="935379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TW"/>
              <a:t>Click to edit Master title style</a:t>
            </a:r>
            <a:endParaRPr lang="zh-TW"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3"/>
          <p:cNvSpPr>
            <a:spLocks noGrp="1"/>
          </p:cNvSpPr>
          <p:nvPr>
            <p:ph type="dt" sz="half" idx="10"/>
          </p:nvPr>
        </p:nvSpPr>
        <p:spPr/>
        <p:txBody>
          <a:bodyPr/>
          <a:lstStyle>
            <a:lvl1pPr>
              <a:defRPr/>
            </a:lvl1pPr>
          </a:lstStyle>
          <a:p>
            <a:pPr>
              <a:defRPr/>
            </a:pPr>
            <a:endParaRPr lang="zh-TW" altLang="en-US"/>
          </a:p>
        </p:txBody>
      </p:sp>
      <p:sp>
        <p:nvSpPr>
          <p:cNvPr id="8" name="Footer Placeholder 4"/>
          <p:cNvSpPr>
            <a:spLocks noGrp="1"/>
          </p:cNvSpPr>
          <p:nvPr>
            <p:ph type="ftr" sz="quarter" idx="11"/>
          </p:nvPr>
        </p:nvSpPr>
        <p:spPr/>
        <p:txBody>
          <a:bodyPr/>
          <a:lstStyle>
            <a:lvl1pPr>
              <a:defRPr/>
            </a:lvl1pPr>
          </a:lstStyle>
          <a:p>
            <a:pPr>
              <a:defRPr/>
            </a:pPr>
            <a:r>
              <a:rPr lang="en-US" altLang="zh-TW"/>
              <a:t>Department of Electrical Engineering</a:t>
            </a:r>
            <a:endParaRPr lang="zh-TW" altLang="en-US"/>
          </a:p>
        </p:txBody>
      </p:sp>
      <p:sp>
        <p:nvSpPr>
          <p:cNvPr id="9" name="Slide Number Placeholder 5"/>
          <p:cNvSpPr>
            <a:spLocks noGrp="1"/>
          </p:cNvSpPr>
          <p:nvPr>
            <p:ph type="sldNum" sz="quarter" idx="12"/>
          </p:nvPr>
        </p:nvSpPr>
        <p:spPr/>
        <p:txBody>
          <a:bodyPr/>
          <a:lstStyle>
            <a:lvl1pPr>
              <a:defRPr/>
            </a:lvl1pPr>
          </a:lstStyle>
          <a:p>
            <a:pPr>
              <a:defRPr/>
            </a:pPr>
            <a:fld id="{B04023EA-B0F9-4CB8-8744-8441DBE247A8}" type="slidenum">
              <a:rPr lang="zh-TW" altLang="en-US"/>
              <a:pPr>
                <a:defRPr/>
              </a:pPr>
              <a:t>‹#›</a:t>
            </a:fld>
            <a:endParaRPr lang="zh-TW" altLang="en-US"/>
          </a:p>
        </p:txBody>
      </p:sp>
    </p:spTree>
    <p:extLst>
      <p:ext uri="{BB962C8B-B14F-4D97-AF65-F5344CB8AC3E}">
        <p14:creationId xmlns:p14="http://schemas.microsoft.com/office/powerpoint/2010/main" val="3958888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Date Placeholder 3"/>
          <p:cNvSpPr>
            <a:spLocks noGrp="1"/>
          </p:cNvSpPr>
          <p:nvPr>
            <p:ph type="dt" sz="half" idx="10"/>
          </p:nvPr>
        </p:nvSpPr>
        <p:spPr/>
        <p:txBody>
          <a:bodyPr/>
          <a:lstStyle>
            <a:lvl1pPr>
              <a:defRPr/>
            </a:lvl1pPr>
          </a:lstStyle>
          <a:p>
            <a:pPr>
              <a:defRPr/>
            </a:pPr>
            <a:endParaRPr lang="zh-TW" altLang="en-US"/>
          </a:p>
        </p:txBody>
      </p:sp>
      <p:sp>
        <p:nvSpPr>
          <p:cNvPr id="4" name="Footer Placeholder 4"/>
          <p:cNvSpPr>
            <a:spLocks noGrp="1"/>
          </p:cNvSpPr>
          <p:nvPr>
            <p:ph type="ftr" sz="quarter" idx="11"/>
          </p:nvPr>
        </p:nvSpPr>
        <p:spPr/>
        <p:txBody>
          <a:bodyPr/>
          <a:lstStyle>
            <a:lvl1pPr>
              <a:defRPr/>
            </a:lvl1pPr>
          </a:lstStyle>
          <a:p>
            <a:pPr>
              <a:defRPr/>
            </a:pPr>
            <a:r>
              <a:rPr lang="en-US" altLang="zh-TW"/>
              <a:t>Department of Electrical Engineering</a:t>
            </a:r>
            <a:endParaRPr lang="zh-TW" altLang="en-US"/>
          </a:p>
        </p:txBody>
      </p:sp>
      <p:sp>
        <p:nvSpPr>
          <p:cNvPr id="5" name="Slide Number Placeholder 5"/>
          <p:cNvSpPr>
            <a:spLocks noGrp="1"/>
          </p:cNvSpPr>
          <p:nvPr>
            <p:ph type="sldNum" sz="quarter" idx="12"/>
          </p:nvPr>
        </p:nvSpPr>
        <p:spPr/>
        <p:txBody>
          <a:bodyPr/>
          <a:lstStyle>
            <a:lvl1pPr>
              <a:defRPr/>
            </a:lvl1pPr>
          </a:lstStyle>
          <a:p>
            <a:pPr>
              <a:defRPr/>
            </a:pPr>
            <a:fld id="{7DA9A121-47C4-4269-A917-8CA1DFD23A23}" type="slidenum">
              <a:rPr lang="zh-TW" altLang="en-US"/>
              <a:pPr>
                <a:defRPr/>
              </a:pPr>
              <a:t>‹#›</a:t>
            </a:fld>
            <a:endParaRPr lang="zh-TW" altLang="en-US"/>
          </a:p>
        </p:txBody>
      </p:sp>
    </p:spTree>
    <p:extLst>
      <p:ext uri="{BB962C8B-B14F-4D97-AF65-F5344CB8AC3E}">
        <p14:creationId xmlns:p14="http://schemas.microsoft.com/office/powerpoint/2010/main" val="35099749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zh-TW" altLang="en-US"/>
          </a:p>
        </p:txBody>
      </p:sp>
      <p:sp>
        <p:nvSpPr>
          <p:cNvPr id="3" name="Footer Placeholder 4"/>
          <p:cNvSpPr>
            <a:spLocks noGrp="1"/>
          </p:cNvSpPr>
          <p:nvPr>
            <p:ph type="ftr" sz="quarter" idx="11"/>
          </p:nvPr>
        </p:nvSpPr>
        <p:spPr/>
        <p:txBody>
          <a:bodyPr/>
          <a:lstStyle>
            <a:lvl1pPr>
              <a:defRPr/>
            </a:lvl1pPr>
          </a:lstStyle>
          <a:p>
            <a:pPr>
              <a:defRPr/>
            </a:pPr>
            <a:r>
              <a:rPr lang="en-US" altLang="zh-TW"/>
              <a:t>Department of Electrical Engineering</a:t>
            </a:r>
            <a:endParaRPr lang="zh-TW" altLang="en-US"/>
          </a:p>
        </p:txBody>
      </p:sp>
      <p:sp>
        <p:nvSpPr>
          <p:cNvPr id="4" name="Slide Number Placeholder 5"/>
          <p:cNvSpPr>
            <a:spLocks noGrp="1"/>
          </p:cNvSpPr>
          <p:nvPr>
            <p:ph type="sldNum" sz="quarter" idx="12"/>
          </p:nvPr>
        </p:nvSpPr>
        <p:spPr/>
        <p:txBody>
          <a:bodyPr/>
          <a:lstStyle>
            <a:lvl1pPr>
              <a:defRPr/>
            </a:lvl1pPr>
          </a:lstStyle>
          <a:p>
            <a:pPr>
              <a:defRPr/>
            </a:pPr>
            <a:fld id="{B44E08B2-10E4-4C5B-81D2-EFA7FEBBBE56}" type="slidenum">
              <a:rPr lang="zh-TW" altLang="en-US"/>
              <a:pPr>
                <a:defRPr/>
              </a:pPr>
              <a:t>‹#›</a:t>
            </a:fld>
            <a:endParaRPr lang="zh-TW" altLang="en-US"/>
          </a:p>
        </p:txBody>
      </p:sp>
    </p:spTree>
    <p:extLst>
      <p:ext uri="{BB962C8B-B14F-4D97-AF65-F5344CB8AC3E}">
        <p14:creationId xmlns:p14="http://schemas.microsoft.com/office/powerpoint/2010/main" val="329805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TW"/>
              <a:t>Click to edit Master title style</a:t>
            </a:r>
            <a:endParaRPr lang="zh-TW"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zh-TW" altLang="en-US"/>
          </a:p>
        </p:txBody>
      </p:sp>
      <p:sp>
        <p:nvSpPr>
          <p:cNvPr id="6" name="Footer Placeholder 4"/>
          <p:cNvSpPr>
            <a:spLocks noGrp="1"/>
          </p:cNvSpPr>
          <p:nvPr>
            <p:ph type="ftr" sz="quarter" idx="11"/>
          </p:nvPr>
        </p:nvSpPr>
        <p:spPr/>
        <p:txBody>
          <a:bodyPr/>
          <a:lstStyle>
            <a:lvl1pPr>
              <a:defRPr/>
            </a:lvl1pPr>
          </a:lstStyle>
          <a:p>
            <a:pPr>
              <a:defRPr/>
            </a:pPr>
            <a:r>
              <a:rPr lang="en-US" altLang="zh-TW"/>
              <a:t>Department of Electrical Engineering</a:t>
            </a:r>
            <a:endParaRPr lang="zh-TW" altLang="en-US"/>
          </a:p>
        </p:txBody>
      </p:sp>
      <p:sp>
        <p:nvSpPr>
          <p:cNvPr id="7" name="Slide Number Placeholder 5"/>
          <p:cNvSpPr>
            <a:spLocks noGrp="1"/>
          </p:cNvSpPr>
          <p:nvPr>
            <p:ph type="sldNum" sz="quarter" idx="12"/>
          </p:nvPr>
        </p:nvSpPr>
        <p:spPr/>
        <p:txBody>
          <a:bodyPr/>
          <a:lstStyle>
            <a:lvl1pPr>
              <a:defRPr/>
            </a:lvl1pPr>
          </a:lstStyle>
          <a:p>
            <a:pPr>
              <a:defRPr/>
            </a:pPr>
            <a:fld id="{8F83679C-857E-4B48-985E-5D2F0F2D6275}" type="slidenum">
              <a:rPr lang="zh-TW" altLang="en-US"/>
              <a:pPr>
                <a:defRPr/>
              </a:pPr>
              <a:t>‹#›</a:t>
            </a:fld>
            <a:endParaRPr lang="zh-TW" altLang="en-US"/>
          </a:p>
        </p:txBody>
      </p:sp>
    </p:spTree>
    <p:extLst>
      <p:ext uri="{BB962C8B-B14F-4D97-AF65-F5344CB8AC3E}">
        <p14:creationId xmlns:p14="http://schemas.microsoft.com/office/powerpoint/2010/main" val="37822218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TW"/>
              <a:t>Click to edit Master title style</a:t>
            </a:r>
            <a:endParaRPr lang="zh-TW" alt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zh-TW" altLang="en-US"/>
          </a:p>
        </p:txBody>
      </p:sp>
      <p:sp>
        <p:nvSpPr>
          <p:cNvPr id="6" name="Footer Placeholder 4"/>
          <p:cNvSpPr>
            <a:spLocks noGrp="1"/>
          </p:cNvSpPr>
          <p:nvPr>
            <p:ph type="ftr" sz="quarter" idx="11"/>
          </p:nvPr>
        </p:nvSpPr>
        <p:spPr/>
        <p:txBody>
          <a:bodyPr/>
          <a:lstStyle>
            <a:lvl1pPr>
              <a:defRPr/>
            </a:lvl1pPr>
          </a:lstStyle>
          <a:p>
            <a:pPr>
              <a:defRPr/>
            </a:pPr>
            <a:r>
              <a:rPr lang="en-US" altLang="zh-TW"/>
              <a:t>Department of Electrical Engineering</a:t>
            </a:r>
            <a:endParaRPr lang="zh-TW" altLang="en-US"/>
          </a:p>
        </p:txBody>
      </p:sp>
      <p:sp>
        <p:nvSpPr>
          <p:cNvPr id="7" name="Slide Number Placeholder 5"/>
          <p:cNvSpPr>
            <a:spLocks noGrp="1"/>
          </p:cNvSpPr>
          <p:nvPr>
            <p:ph type="sldNum" sz="quarter" idx="12"/>
          </p:nvPr>
        </p:nvSpPr>
        <p:spPr/>
        <p:txBody>
          <a:bodyPr/>
          <a:lstStyle>
            <a:lvl1pPr>
              <a:defRPr/>
            </a:lvl1pPr>
          </a:lstStyle>
          <a:p>
            <a:pPr>
              <a:defRPr/>
            </a:pPr>
            <a:fld id="{5197671A-262E-4705-B80D-E2E4150C801C}" type="slidenum">
              <a:rPr lang="zh-TW" altLang="en-US"/>
              <a:pPr>
                <a:defRPr/>
              </a:pPr>
              <a:t>‹#›</a:t>
            </a:fld>
            <a:endParaRPr lang="zh-TW" altLang="en-US"/>
          </a:p>
        </p:txBody>
      </p:sp>
    </p:spTree>
    <p:extLst>
      <p:ext uri="{BB962C8B-B14F-4D97-AF65-F5344CB8AC3E}">
        <p14:creationId xmlns:p14="http://schemas.microsoft.com/office/powerpoint/2010/main" val="38891623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p:txBody>
          <a:bodyPr/>
          <a:lstStyle>
            <a:lvl1pPr>
              <a:defRPr/>
            </a:lvl1pPr>
          </a:lstStyle>
          <a:p>
            <a:pPr>
              <a:defRPr/>
            </a:pPr>
            <a:endParaRPr lang="zh-TW" altLang="en-US"/>
          </a:p>
        </p:txBody>
      </p:sp>
      <p:sp>
        <p:nvSpPr>
          <p:cNvPr id="5" name="Footer Placeholder 4"/>
          <p:cNvSpPr>
            <a:spLocks noGrp="1"/>
          </p:cNvSpPr>
          <p:nvPr>
            <p:ph type="ftr" sz="quarter" idx="11"/>
          </p:nvPr>
        </p:nvSpPr>
        <p:spPr/>
        <p:txBody>
          <a:bodyPr/>
          <a:lstStyle>
            <a:lvl1pPr>
              <a:defRPr/>
            </a:lvl1pPr>
          </a:lstStyle>
          <a:p>
            <a:pPr>
              <a:defRPr/>
            </a:pPr>
            <a:r>
              <a:rPr lang="en-US" altLang="zh-TW"/>
              <a:t>Department of Electrical Engineering</a:t>
            </a:r>
            <a:endParaRPr lang="zh-TW" altLang="en-US"/>
          </a:p>
        </p:txBody>
      </p:sp>
      <p:sp>
        <p:nvSpPr>
          <p:cNvPr id="6" name="Slide Number Placeholder 5"/>
          <p:cNvSpPr>
            <a:spLocks noGrp="1"/>
          </p:cNvSpPr>
          <p:nvPr>
            <p:ph type="sldNum" sz="quarter" idx="12"/>
          </p:nvPr>
        </p:nvSpPr>
        <p:spPr/>
        <p:txBody>
          <a:bodyPr/>
          <a:lstStyle>
            <a:lvl1pPr>
              <a:defRPr/>
            </a:lvl1pPr>
          </a:lstStyle>
          <a:p>
            <a:pPr>
              <a:defRPr/>
            </a:pPr>
            <a:fld id="{C31723B9-8ADF-4F0C-873B-588881F4F032}" type="slidenum">
              <a:rPr lang="zh-TW" altLang="en-US"/>
              <a:pPr>
                <a:defRPr/>
              </a:pPr>
              <a:t>‹#›</a:t>
            </a:fld>
            <a:endParaRPr lang="zh-TW" altLang="en-US"/>
          </a:p>
        </p:txBody>
      </p:sp>
    </p:spTree>
    <p:extLst>
      <p:ext uri="{BB962C8B-B14F-4D97-AF65-F5344CB8AC3E}">
        <p14:creationId xmlns:p14="http://schemas.microsoft.com/office/powerpoint/2010/main" val="39758345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p:txBody>
          <a:bodyPr/>
          <a:lstStyle>
            <a:lvl1pPr>
              <a:defRPr/>
            </a:lvl1pPr>
          </a:lstStyle>
          <a:p>
            <a:pPr>
              <a:defRPr/>
            </a:pPr>
            <a:endParaRPr lang="zh-TW" altLang="en-US"/>
          </a:p>
        </p:txBody>
      </p:sp>
      <p:sp>
        <p:nvSpPr>
          <p:cNvPr id="5" name="Footer Placeholder 4"/>
          <p:cNvSpPr>
            <a:spLocks noGrp="1"/>
          </p:cNvSpPr>
          <p:nvPr>
            <p:ph type="ftr" sz="quarter" idx="11"/>
          </p:nvPr>
        </p:nvSpPr>
        <p:spPr/>
        <p:txBody>
          <a:bodyPr/>
          <a:lstStyle>
            <a:lvl1pPr>
              <a:defRPr/>
            </a:lvl1pPr>
          </a:lstStyle>
          <a:p>
            <a:pPr>
              <a:defRPr/>
            </a:pPr>
            <a:r>
              <a:rPr lang="en-US" altLang="zh-TW"/>
              <a:t>Department of Electrical Engineering</a:t>
            </a:r>
            <a:endParaRPr lang="zh-TW" altLang="en-US"/>
          </a:p>
        </p:txBody>
      </p:sp>
      <p:sp>
        <p:nvSpPr>
          <p:cNvPr id="6" name="Slide Number Placeholder 5"/>
          <p:cNvSpPr>
            <a:spLocks noGrp="1"/>
          </p:cNvSpPr>
          <p:nvPr>
            <p:ph type="sldNum" sz="quarter" idx="12"/>
          </p:nvPr>
        </p:nvSpPr>
        <p:spPr/>
        <p:txBody>
          <a:bodyPr/>
          <a:lstStyle>
            <a:lvl1pPr>
              <a:defRPr/>
            </a:lvl1pPr>
          </a:lstStyle>
          <a:p>
            <a:pPr>
              <a:defRPr/>
            </a:pPr>
            <a:fld id="{ADE38C36-AE6D-4166-AD20-C44243779A95}" type="slidenum">
              <a:rPr lang="zh-TW" altLang="en-US"/>
              <a:pPr>
                <a:defRPr/>
              </a:pPr>
              <a:t>‹#›</a:t>
            </a:fld>
            <a:endParaRPr lang="zh-TW" altLang="en-US"/>
          </a:p>
        </p:txBody>
      </p:sp>
    </p:spTree>
    <p:extLst>
      <p:ext uri="{BB962C8B-B14F-4D97-AF65-F5344CB8AC3E}">
        <p14:creationId xmlns:p14="http://schemas.microsoft.com/office/powerpoint/2010/main" val="4186130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9144000" cy="6856413"/>
            <a:chOff x="0" y="0"/>
            <a:chExt cx="5760" cy="4319"/>
          </a:xfrm>
        </p:grpSpPr>
        <p:sp>
          <p:nvSpPr>
            <p:cNvPr id="7171" name="Freeform 3"/>
            <p:cNvSpPr>
              <a:spLocks/>
            </p:cNvSpPr>
            <p:nvPr/>
          </p:nvSpPr>
          <p:spPr bwMode="hidden">
            <a:xfrm>
              <a:off x="0" y="12"/>
              <a:ext cx="5758" cy="3273"/>
            </a:xfrm>
            <a:custGeom>
              <a:avLst/>
              <a:gdLst/>
              <a:ahLst/>
              <a:cxnLst>
                <a:cxn ang="0">
                  <a:pos x="3193" y="1816"/>
                </a:cxn>
                <a:cxn ang="0">
                  <a:pos x="0" y="0"/>
                </a:cxn>
                <a:cxn ang="0">
                  <a:pos x="0" y="522"/>
                </a:cxn>
                <a:cxn ang="0">
                  <a:pos x="3037" y="1978"/>
                </a:cxn>
                <a:cxn ang="0">
                  <a:pos x="5740" y="3273"/>
                </a:cxn>
                <a:cxn ang="0">
                  <a:pos x="5740" y="3267"/>
                </a:cxn>
                <a:cxn ang="0">
                  <a:pos x="3193" y="1816"/>
                </a:cxn>
                <a:cxn ang="0">
                  <a:pos x="3193" y="1816"/>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w="9525">
              <a:noFill/>
              <a:round/>
              <a:headEnd/>
              <a:tailEnd/>
            </a:ln>
          </p:spPr>
          <p:txBody>
            <a:bodyPr/>
            <a:lstStyle/>
            <a:p>
              <a:pPr>
                <a:defRPr/>
              </a:pPr>
              <a:endParaRPr lang="zh-TW" altLang="en-US">
                <a:ea typeface="新細明體" pitchFamily="18" charset="-120"/>
              </a:endParaRPr>
            </a:p>
          </p:txBody>
        </p:sp>
        <p:sp>
          <p:nvSpPr>
            <p:cNvPr id="7172" name="Freeform 4"/>
            <p:cNvSpPr>
              <a:spLocks/>
            </p:cNvSpPr>
            <p:nvPr/>
          </p:nvSpPr>
          <p:spPr bwMode="hidden">
            <a:xfrm>
              <a:off x="149" y="0"/>
              <a:ext cx="5609" cy="3243"/>
            </a:xfrm>
            <a:custGeom>
              <a:avLst/>
              <a:gdLst/>
              <a:ahLst/>
              <a:cxnLst>
                <a:cxn ang="0">
                  <a:pos x="3163" y="1714"/>
                </a:cxn>
                <a:cxn ang="0">
                  <a:pos x="431" y="0"/>
                </a:cxn>
                <a:cxn ang="0">
                  <a:pos x="0" y="0"/>
                </a:cxn>
                <a:cxn ang="0">
                  <a:pos x="3086" y="1786"/>
                </a:cxn>
                <a:cxn ang="0">
                  <a:pos x="5591" y="3243"/>
                </a:cxn>
                <a:cxn ang="0">
                  <a:pos x="5591" y="3237"/>
                </a:cxn>
                <a:cxn ang="0">
                  <a:pos x="3163" y="1714"/>
                </a:cxn>
                <a:cxn ang="0">
                  <a:pos x="3163" y="1714"/>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7173" name="Freeform 5"/>
            <p:cNvSpPr>
              <a:spLocks/>
            </p:cNvSpPr>
            <p:nvPr/>
          </p:nvSpPr>
          <p:spPr bwMode="hidden">
            <a:xfrm>
              <a:off x="0" y="3433"/>
              <a:ext cx="4038" cy="191"/>
            </a:xfrm>
            <a:custGeom>
              <a:avLst/>
              <a:gdLst/>
              <a:ahLst/>
              <a:cxnLst>
                <a:cxn ang="0">
                  <a:pos x="0" y="156"/>
                </a:cxn>
                <a:cxn ang="0">
                  <a:pos x="4042" y="192"/>
                </a:cxn>
                <a:cxn ang="0">
                  <a:pos x="4042" y="144"/>
                </a:cxn>
                <a:cxn ang="0">
                  <a:pos x="0" y="0"/>
                </a:cxn>
                <a:cxn ang="0">
                  <a:pos x="0" y="156"/>
                </a:cxn>
                <a:cxn ang="0">
                  <a:pos x="0" y="156"/>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w="9525">
              <a:noFill/>
              <a:round/>
              <a:headEnd/>
              <a:tailEnd/>
            </a:ln>
          </p:spPr>
          <p:txBody>
            <a:bodyPr/>
            <a:lstStyle/>
            <a:p>
              <a:pPr>
                <a:defRPr/>
              </a:pPr>
              <a:endParaRPr lang="zh-TW" altLang="en-US">
                <a:ea typeface="新細明體" pitchFamily="18" charset="-120"/>
              </a:endParaRPr>
            </a:p>
          </p:txBody>
        </p:sp>
        <p:sp>
          <p:nvSpPr>
            <p:cNvPr id="1037" name="Freeform 6"/>
            <p:cNvSpPr>
              <a:spLocks/>
            </p:cNvSpPr>
            <p:nvPr/>
          </p:nvSpPr>
          <p:spPr bwMode="hidden">
            <a:xfrm>
              <a:off x="4038" y="3577"/>
              <a:ext cx="1720" cy="65"/>
            </a:xfrm>
            <a:custGeom>
              <a:avLst/>
              <a:gdLst>
                <a:gd name="T0" fmla="*/ 1642 w 1722"/>
                <a:gd name="T1" fmla="*/ 33 h 66"/>
                <a:gd name="T2" fmla="*/ 1642 w 1722"/>
                <a:gd name="T3" fmla="*/ 33 h 66"/>
                <a:gd name="T4" fmla="*/ 0 w 1722"/>
                <a:gd name="T5" fmla="*/ 0 h 66"/>
                <a:gd name="T6" fmla="*/ 0 w 1722"/>
                <a:gd name="T7" fmla="*/ 33 h 66"/>
                <a:gd name="T8" fmla="*/ 1642 w 1722"/>
                <a:gd name="T9" fmla="*/ 33 h 66"/>
                <a:gd name="T10" fmla="*/ 1642 w 1722"/>
                <a:gd name="T11" fmla="*/ 33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7175" name="Freeform 7"/>
            <p:cNvSpPr>
              <a:spLocks/>
            </p:cNvSpPr>
            <p:nvPr/>
          </p:nvSpPr>
          <p:spPr bwMode="hidden">
            <a:xfrm>
              <a:off x="0" y="3726"/>
              <a:ext cx="4784" cy="329"/>
            </a:xfrm>
            <a:custGeom>
              <a:avLst/>
              <a:gdLst/>
              <a:ahLst/>
              <a:cxnLst>
                <a:cxn ang="0">
                  <a:pos x="0" y="329"/>
                </a:cxn>
                <a:cxn ang="0">
                  <a:pos x="4789" y="77"/>
                </a:cxn>
                <a:cxn ang="0">
                  <a:pos x="4789" y="0"/>
                </a:cxn>
                <a:cxn ang="0">
                  <a:pos x="0" y="107"/>
                </a:cxn>
                <a:cxn ang="0">
                  <a:pos x="0" y="329"/>
                </a:cxn>
                <a:cxn ang="0">
                  <a:pos x="0" y="329"/>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w="9525" cap="flat" cmpd="sng">
              <a:noFill/>
              <a:prstDash val="solid"/>
              <a:round/>
              <a:headEnd type="none" w="med" len="med"/>
              <a:tailEnd type="none" w="med" len="med"/>
            </a:ln>
            <a:effectLst/>
          </p:spPr>
          <p:txBody>
            <a:bodyPr/>
            <a:lstStyle/>
            <a:p>
              <a:pPr>
                <a:defRPr/>
              </a:pPr>
              <a:endParaRPr lang="zh-TW" altLang="en-US">
                <a:ea typeface="新細明體" pitchFamily="18" charset="-120"/>
              </a:endParaRPr>
            </a:p>
          </p:txBody>
        </p:sp>
        <p:sp>
          <p:nvSpPr>
            <p:cNvPr id="1039" name="Freeform 8"/>
            <p:cNvSpPr>
              <a:spLocks/>
            </p:cNvSpPr>
            <p:nvPr/>
          </p:nvSpPr>
          <p:spPr bwMode="hidden">
            <a:xfrm>
              <a:off x="4784" y="3702"/>
              <a:ext cx="974" cy="101"/>
            </a:xfrm>
            <a:custGeom>
              <a:avLst/>
              <a:gdLst>
                <a:gd name="T0" fmla="*/ 935 w 975"/>
                <a:gd name="T1" fmla="*/ 48 h 101"/>
                <a:gd name="T2" fmla="*/ 935 w 975"/>
                <a:gd name="T3" fmla="*/ 0 h 101"/>
                <a:gd name="T4" fmla="*/ 0 w 975"/>
                <a:gd name="T5" fmla="*/ 24 h 101"/>
                <a:gd name="T6" fmla="*/ 0 w 975"/>
                <a:gd name="T7" fmla="*/ 101 h 101"/>
                <a:gd name="T8" fmla="*/ 935 w 975"/>
                <a:gd name="T9" fmla="*/ 48 h 101"/>
                <a:gd name="T10" fmla="*/ 935 w 975"/>
                <a:gd name="T11" fmla="*/ 48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75" h="101">
                  <a:moveTo>
                    <a:pt x="975" y="48"/>
                  </a:moveTo>
                  <a:lnTo>
                    <a:pt x="975" y="0"/>
                  </a:lnTo>
                  <a:lnTo>
                    <a:pt x="0" y="24"/>
                  </a:lnTo>
                  <a:lnTo>
                    <a:pt x="0" y="101"/>
                  </a:lnTo>
                  <a:lnTo>
                    <a:pt x="975"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1040" name="Freeform 9"/>
            <p:cNvSpPr>
              <a:spLocks/>
            </p:cNvSpPr>
            <p:nvPr/>
          </p:nvSpPr>
          <p:spPr bwMode="hidden">
            <a:xfrm>
              <a:off x="3619" y="3815"/>
              <a:ext cx="2139" cy="198"/>
            </a:xfrm>
            <a:custGeom>
              <a:avLst/>
              <a:gdLst>
                <a:gd name="T0" fmla="*/ 2061 w 2141"/>
                <a:gd name="T1" fmla="*/ 0 h 198"/>
                <a:gd name="T2" fmla="*/ 0 w 2141"/>
                <a:gd name="T3" fmla="*/ 156 h 198"/>
                <a:gd name="T4" fmla="*/ 0 w 2141"/>
                <a:gd name="T5" fmla="*/ 198 h 198"/>
                <a:gd name="T6" fmla="*/ 2061 w 2141"/>
                <a:gd name="T7" fmla="*/ 0 h 198"/>
                <a:gd name="T8" fmla="*/ 2061 w 2141"/>
                <a:gd name="T9" fmla="*/ 0 h 1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41" h="198">
                  <a:moveTo>
                    <a:pt x="2141" y="0"/>
                  </a:moveTo>
                  <a:lnTo>
                    <a:pt x="0" y="156"/>
                  </a:lnTo>
                  <a:lnTo>
                    <a:pt x="0" y="198"/>
                  </a:lnTo>
                  <a:lnTo>
                    <a:pt x="214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7178" name="Freeform 10"/>
            <p:cNvSpPr>
              <a:spLocks/>
            </p:cNvSpPr>
            <p:nvPr/>
          </p:nvSpPr>
          <p:spPr bwMode="hidden">
            <a:xfrm>
              <a:off x="0" y="3971"/>
              <a:ext cx="3619" cy="348"/>
            </a:xfrm>
            <a:custGeom>
              <a:avLst/>
              <a:gdLst/>
              <a:ahLst/>
              <a:cxnLst>
                <a:cxn ang="0">
                  <a:pos x="0" y="348"/>
                </a:cxn>
                <a:cxn ang="0">
                  <a:pos x="311" y="348"/>
                </a:cxn>
                <a:cxn ang="0">
                  <a:pos x="3623" y="42"/>
                </a:cxn>
                <a:cxn ang="0">
                  <a:pos x="3623" y="0"/>
                </a:cxn>
                <a:cxn ang="0">
                  <a:pos x="0" y="264"/>
                </a:cxn>
                <a:cxn ang="0">
                  <a:pos x="0" y="348"/>
                </a:cxn>
                <a:cxn ang="0">
                  <a:pos x="0" y="348"/>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zh-TW" altLang="en-US">
                <a:ea typeface="新細明體" pitchFamily="18" charset="-120"/>
              </a:endParaRPr>
            </a:p>
          </p:txBody>
        </p:sp>
        <p:sp>
          <p:nvSpPr>
            <p:cNvPr id="1042" name="Freeform 11"/>
            <p:cNvSpPr>
              <a:spLocks/>
            </p:cNvSpPr>
            <p:nvPr/>
          </p:nvSpPr>
          <p:spPr bwMode="hidden">
            <a:xfrm>
              <a:off x="2097" y="4043"/>
              <a:ext cx="2514" cy="276"/>
            </a:xfrm>
            <a:custGeom>
              <a:avLst/>
              <a:gdLst>
                <a:gd name="T0" fmla="*/ 2073 w 2517"/>
                <a:gd name="T1" fmla="*/ 276 h 276"/>
                <a:gd name="T2" fmla="*/ 2397 w 2517"/>
                <a:gd name="T3" fmla="*/ 204 h 276"/>
                <a:gd name="T4" fmla="*/ 2140 w 2517"/>
                <a:gd name="T5" fmla="*/ 0 h 276"/>
                <a:gd name="T6" fmla="*/ 0 w 2517"/>
                <a:gd name="T7" fmla="*/ 276 h 276"/>
                <a:gd name="T8" fmla="*/ 2073 w 2517"/>
                <a:gd name="T9" fmla="*/ 276 h 276"/>
                <a:gd name="T10" fmla="*/ 2073 w 2517"/>
                <a:gd name="T11" fmla="*/ 276 h 2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7" h="276">
                  <a:moveTo>
                    <a:pt x="2182" y="276"/>
                  </a:moveTo>
                  <a:lnTo>
                    <a:pt x="2517" y="204"/>
                  </a:lnTo>
                  <a:lnTo>
                    <a:pt x="2260" y="0"/>
                  </a:lnTo>
                  <a:lnTo>
                    <a:pt x="0" y="276"/>
                  </a:lnTo>
                  <a:lnTo>
                    <a:pt x="2182" y="2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7180" name="Freeform 12"/>
            <p:cNvSpPr>
              <a:spLocks/>
            </p:cNvSpPr>
            <p:nvPr/>
          </p:nvSpPr>
          <p:spPr bwMode="hidden">
            <a:xfrm>
              <a:off x="4354" y="3869"/>
              <a:ext cx="1404" cy="378"/>
            </a:xfrm>
            <a:custGeom>
              <a:avLst/>
              <a:gdLst/>
              <a:ahLst/>
              <a:cxnLst>
                <a:cxn ang="0">
                  <a:pos x="1405" y="126"/>
                </a:cxn>
                <a:cxn ang="0">
                  <a:pos x="1405" y="0"/>
                </a:cxn>
                <a:cxn ang="0">
                  <a:pos x="0" y="174"/>
                </a:cxn>
                <a:cxn ang="0">
                  <a:pos x="257" y="378"/>
                </a:cxn>
                <a:cxn ang="0">
                  <a:pos x="1405" y="126"/>
                </a:cxn>
                <a:cxn ang="0">
                  <a:pos x="1405" y="126"/>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w="9525">
              <a:noFill/>
              <a:round/>
              <a:headEnd/>
              <a:tailEnd/>
            </a:ln>
          </p:spPr>
          <p:txBody>
            <a:bodyPr/>
            <a:lstStyle/>
            <a:p>
              <a:pPr>
                <a:defRPr/>
              </a:pPr>
              <a:endParaRPr lang="zh-TW" altLang="en-US">
                <a:ea typeface="新細明體" pitchFamily="18" charset="-120"/>
              </a:endParaRPr>
            </a:p>
          </p:txBody>
        </p:sp>
        <p:sp>
          <p:nvSpPr>
            <p:cNvPr id="1044" name="Freeform 13"/>
            <p:cNvSpPr>
              <a:spLocks/>
            </p:cNvSpPr>
            <p:nvPr/>
          </p:nvSpPr>
          <p:spPr bwMode="hidden">
            <a:xfrm>
              <a:off x="5030" y="3151"/>
              <a:ext cx="728" cy="240"/>
            </a:xfrm>
            <a:custGeom>
              <a:avLst/>
              <a:gdLst>
                <a:gd name="T0" fmla="*/ 689 w 729"/>
                <a:gd name="T1" fmla="*/ 240 h 240"/>
                <a:gd name="T2" fmla="*/ 0 w 729"/>
                <a:gd name="T3" fmla="*/ 0 h 240"/>
                <a:gd name="T4" fmla="*/ 0 w 729"/>
                <a:gd name="T5" fmla="*/ 6 h 240"/>
                <a:gd name="T6" fmla="*/ 689 w 729"/>
                <a:gd name="T7" fmla="*/ 240 h 240"/>
                <a:gd name="T8" fmla="*/ 689 w 729"/>
                <a:gd name="T9" fmla="*/ 240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9" h="240">
                  <a:moveTo>
                    <a:pt x="729" y="240"/>
                  </a:moveTo>
                  <a:lnTo>
                    <a:pt x="0" y="0"/>
                  </a:lnTo>
                  <a:lnTo>
                    <a:pt x="0" y="6"/>
                  </a:lnTo>
                  <a:lnTo>
                    <a:pt x="729" y="24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7182" name="Freeform 14"/>
            <p:cNvSpPr>
              <a:spLocks/>
            </p:cNvSpPr>
            <p:nvPr/>
          </p:nvSpPr>
          <p:spPr bwMode="hidden">
            <a:xfrm>
              <a:off x="0" y="1486"/>
              <a:ext cx="5030" cy="1671"/>
            </a:xfrm>
            <a:custGeom>
              <a:avLst/>
              <a:gdLst/>
              <a:ahLst/>
              <a:cxnLst>
                <a:cxn ang="0">
                  <a:pos x="0" y="72"/>
                </a:cxn>
                <a:cxn ang="0">
                  <a:pos x="5035" y="1672"/>
                </a:cxn>
                <a:cxn ang="0">
                  <a:pos x="5035" y="1666"/>
                </a:cxn>
                <a:cxn ang="0">
                  <a:pos x="0" y="0"/>
                </a:cxn>
                <a:cxn ang="0">
                  <a:pos x="0" y="72"/>
                </a:cxn>
                <a:cxn ang="0">
                  <a:pos x="0" y="72"/>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1046" name="Freeform 15"/>
            <p:cNvSpPr>
              <a:spLocks/>
            </p:cNvSpPr>
            <p:nvPr/>
          </p:nvSpPr>
          <p:spPr bwMode="hidden">
            <a:xfrm>
              <a:off x="5030" y="3049"/>
              <a:ext cx="728" cy="318"/>
            </a:xfrm>
            <a:custGeom>
              <a:avLst/>
              <a:gdLst>
                <a:gd name="T0" fmla="*/ 689 w 729"/>
                <a:gd name="T1" fmla="*/ 318 h 318"/>
                <a:gd name="T2" fmla="*/ 689 w 729"/>
                <a:gd name="T3" fmla="*/ 312 h 318"/>
                <a:gd name="T4" fmla="*/ 0 w 729"/>
                <a:gd name="T5" fmla="*/ 0 h 318"/>
                <a:gd name="T6" fmla="*/ 0 w 729"/>
                <a:gd name="T7" fmla="*/ 54 h 318"/>
                <a:gd name="T8" fmla="*/ 689 w 729"/>
                <a:gd name="T9" fmla="*/ 318 h 318"/>
                <a:gd name="T10" fmla="*/ 689 w 729"/>
                <a:gd name="T11" fmla="*/ 318 h 3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7184" name="Freeform 16"/>
            <p:cNvSpPr>
              <a:spLocks/>
            </p:cNvSpPr>
            <p:nvPr/>
          </p:nvSpPr>
          <p:spPr bwMode="hidden">
            <a:xfrm>
              <a:off x="0" y="916"/>
              <a:ext cx="5030" cy="2187"/>
            </a:xfrm>
            <a:custGeom>
              <a:avLst/>
              <a:gdLst/>
              <a:ahLst/>
              <a:cxnLst>
                <a:cxn ang="0">
                  <a:pos x="0" y="396"/>
                </a:cxn>
                <a:cxn ang="0">
                  <a:pos x="5035" y="2188"/>
                </a:cxn>
                <a:cxn ang="0">
                  <a:pos x="5035" y="2134"/>
                </a:cxn>
                <a:cxn ang="0">
                  <a:pos x="0" y="0"/>
                </a:cxn>
                <a:cxn ang="0">
                  <a:pos x="0" y="396"/>
                </a:cxn>
                <a:cxn ang="0">
                  <a:pos x="0" y="396"/>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w="9525">
              <a:noFill/>
              <a:round/>
              <a:headEnd/>
              <a:tailEnd/>
            </a:ln>
          </p:spPr>
          <p:txBody>
            <a:bodyPr/>
            <a:lstStyle/>
            <a:p>
              <a:pPr>
                <a:defRPr/>
              </a:pPr>
              <a:endParaRPr lang="zh-TW" altLang="en-US">
                <a:ea typeface="新細明體" pitchFamily="18" charset="-120"/>
              </a:endParaRPr>
            </a:p>
          </p:txBody>
        </p:sp>
        <p:sp>
          <p:nvSpPr>
            <p:cNvPr id="7185" name="Freeform 17"/>
            <p:cNvSpPr>
              <a:spLocks/>
            </p:cNvSpPr>
            <p:nvPr/>
          </p:nvSpPr>
          <p:spPr bwMode="hidden">
            <a:xfrm>
              <a:off x="2294" y="0"/>
              <a:ext cx="3159" cy="2725"/>
            </a:xfrm>
            <a:custGeom>
              <a:avLst/>
              <a:gdLst/>
              <a:ahLst/>
              <a:cxnLst>
                <a:cxn ang="0">
                  <a:pos x="0" y="0"/>
                </a:cxn>
                <a:cxn ang="0">
                  <a:pos x="3145" y="2727"/>
                </a:cxn>
                <a:cxn ang="0">
                  <a:pos x="3163" y="2704"/>
                </a:cxn>
                <a:cxn ang="0">
                  <a:pos x="102" y="0"/>
                </a:cxn>
                <a:cxn ang="0">
                  <a:pos x="0" y="0"/>
                </a:cxn>
                <a:cxn ang="0">
                  <a:pos x="0" y="0"/>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7186" name="Freeform 18"/>
            <p:cNvSpPr>
              <a:spLocks/>
            </p:cNvSpPr>
            <p:nvPr/>
          </p:nvSpPr>
          <p:spPr bwMode="hidden">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w="9525">
              <a:noFill/>
              <a:round/>
              <a:headEnd/>
              <a:tailEnd/>
            </a:ln>
          </p:spPr>
          <p:txBody>
            <a:bodyPr/>
            <a:lstStyle/>
            <a:p>
              <a:pPr>
                <a:defRPr/>
              </a:pPr>
              <a:endParaRPr lang="zh-TW" altLang="en-US">
                <a:ea typeface="新細明體" pitchFamily="18" charset="-120"/>
              </a:endParaRPr>
            </a:p>
          </p:txBody>
        </p:sp>
        <p:sp>
          <p:nvSpPr>
            <p:cNvPr id="1050" name="Freeform 19"/>
            <p:cNvSpPr>
              <a:spLocks/>
            </p:cNvSpPr>
            <p:nvPr/>
          </p:nvSpPr>
          <p:spPr bwMode="hidden">
            <a:xfrm>
              <a:off x="5477" y="2588"/>
              <a:ext cx="281" cy="335"/>
            </a:xfrm>
            <a:custGeom>
              <a:avLst/>
              <a:gdLst>
                <a:gd name="T0" fmla="*/ 281 w 281"/>
                <a:gd name="T1" fmla="*/ 335 h 335"/>
                <a:gd name="T2" fmla="*/ 281 w 281"/>
                <a:gd name="T3" fmla="*/ 173 h 335"/>
                <a:gd name="T4" fmla="*/ 96 w 281"/>
                <a:gd name="T5" fmla="*/ 0 h 335"/>
                <a:gd name="T6" fmla="*/ 0 w 281"/>
                <a:gd name="T7" fmla="*/ 90 h 335"/>
                <a:gd name="T8" fmla="*/ 281 w 281"/>
                <a:gd name="T9" fmla="*/ 335 h 335"/>
                <a:gd name="T10" fmla="*/ 281 w 281"/>
                <a:gd name="T11" fmla="*/ 335 h 3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1" h="335">
                  <a:moveTo>
                    <a:pt x="281" y="335"/>
                  </a:moveTo>
                  <a:lnTo>
                    <a:pt x="281" y="173"/>
                  </a:lnTo>
                  <a:lnTo>
                    <a:pt x="96" y="0"/>
                  </a:lnTo>
                  <a:lnTo>
                    <a:pt x="0" y="90"/>
                  </a:lnTo>
                  <a:lnTo>
                    <a:pt x="281" y="3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7188" name="Freeform 20"/>
            <p:cNvSpPr>
              <a:spLocks/>
            </p:cNvSpPr>
            <p:nvPr/>
          </p:nvSpPr>
          <p:spPr bwMode="hidden">
            <a:xfrm>
              <a:off x="2454" y="0"/>
              <a:ext cx="3119" cy="2678"/>
            </a:xfrm>
            <a:custGeom>
              <a:avLst/>
              <a:gdLst/>
              <a:ahLst/>
              <a:cxnLst>
                <a:cxn ang="0">
                  <a:pos x="0" y="0"/>
                </a:cxn>
                <a:cxn ang="0">
                  <a:pos x="3026" y="2680"/>
                </a:cxn>
                <a:cxn ang="0">
                  <a:pos x="3122" y="2590"/>
                </a:cxn>
                <a:cxn ang="0">
                  <a:pos x="383" y="0"/>
                </a:cxn>
                <a:cxn ang="0">
                  <a:pos x="0" y="0"/>
                </a:cxn>
                <a:cxn ang="0">
                  <a:pos x="0" y="0"/>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1052" name="Freeform 21"/>
            <p:cNvSpPr>
              <a:spLocks/>
            </p:cNvSpPr>
            <p:nvPr/>
          </p:nvSpPr>
          <p:spPr bwMode="hidden">
            <a:xfrm>
              <a:off x="5626" y="2534"/>
              <a:ext cx="132" cy="132"/>
            </a:xfrm>
            <a:custGeom>
              <a:avLst/>
              <a:gdLst>
                <a:gd name="T0" fmla="*/ 132 w 132"/>
                <a:gd name="T1" fmla="*/ 132 h 132"/>
                <a:gd name="T2" fmla="*/ 0 w 132"/>
                <a:gd name="T3" fmla="*/ 0 h 132"/>
                <a:gd name="T4" fmla="*/ 0 w 132"/>
                <a:gd name="T5" fmla="*/ 0 h 132"/>
                <a:gd name="T6" fmla="*/ 132 w 132"/>
                <a:gd name="T7" fmla="*/ 132 h 132"/>
                <a:gd name="T8" fmla="*/ 132 w 132"/>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2">
                  <a:moveTo>
                    <a:pt x="132" y="132"/>
                  </a:moveTo>
                  <a:lnTo>
                    <a:pt x="0" y="0"/>
                  </a:lnTo>
                  <a:lnTo>
                    <a:pt x="132" y="132"/>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7190" name="Freeform 22"/>
            <p:cNvSpPr>
              <a:spLocks/>
            </p:cNvSpPr>
            <p:nvPr/>
          </p:nvSpPr>
          <p:spPr bwMode="hidden">
            <a:xfrm>
              <a:off x="3112" y="0"/>
              <a:ext cx="2514" cy="2534"/>
            </a:xfrm>
            <a:custGeom>
              <a:avLst/>
              <a:gdLst/>
              <a:ahLst/>
              <a:cxnLst>
                <a:cxn ang="0">
                  <a:pos x="0" y="0"/>
                </a:cxn>
                <a:cxn ang="0">
                  <a:pos x="2517" y="2536"/>
                </a:cxn>
                <a:cxn ang="0">
                  <a:pos x="2517" y="2536"/>
                </a:cxn>
                <a:cxn ang="0">
                  <a:pos x="66" y="0"/>
                </a:cxn>
                <a:cxn ang="0">
                  <a:pos x="0" y="0"/>
                </a:cxn>
                <a:cxn ang="0">
                  <a:pos x="0" y="0"/>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7191" name="Freeform 23"/>
            <p:cNvSpPr>
              <a:spLocks/>
            </p:cNvSpPr>
            <p:nvPr/>
          </p:nvSpPr>
          <p:spPr bwMode="hidden">
            <a:xfrm>
              <a:off x="3488" y="0"/>
              <a:ext cx="2198" cy="2480"/>
            </a:xfrm>
            <a:custGeom>
              <a:avLst/>
              <a:gdLst/>
              <a:ahLst/>
              <a:cxnLst>
                <a:cxn ang="0">
                  <a:pos x="0" y="0"/>
                </a:cxn>
                <a:cxn ang="0">
                  <a:pos x="2188" y="2482"/>
                </a:cxn>
                <a:cxn ang="0">
                  <a:pos x="2200" y="2476"/>
                </a:cxn>
                <a:cxn ang="0">
                  <a:pos x="317" y="0"/>
                </a:cxn>
                <a:cxn ang="0">
                  <a:pos x="0" y="0"/>
                </a:cxn>
                <a:cxn ang="0">
                  <a:pos x="0" y="0"/>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w="9525" cap="flat" cmpd="sng">
              <a:noFill/>
              <a:prstDash val="solid"/>
              <a:round/>
              <a:headEnd type="none" w="med" len="med"/>
              <a:tailEnd type="none" w="med" len="med"/>
            </a:ln>
            <a:effectLst/>
          </p:spPr>
          <p:txBody>
            <a:bodyPr/>
            <a:lstStyle/>
            <a:p>
              <a:pPr>
                <a:defRPr/>
              </a:pPr>
              <a:endParaRPr lang="zh-TW" altLang="en-US">
                <a:ea typeface="新細明體" pitchFamily="18" charset="-120"/>
              </a:endParaRPr>
            </a:p>
          </p:txBody>
        </p:sp>
        <p:sp>
          <p:nvSpPr>
            <p:cNvPr id="7192" name="Freeform 24"/>
            <p:cNvSpPr>
              <a:spLocks/>
            </p:cNvSpPr>
            <p:nvPr/>
          </p:nvSpPr>
          <p:spPr bwMode="hidden">
            <a:xfrm>
              <a:off x="5674" y="2474"/>
              <a:ext cx="84" cy="96"/>
            </a:xfrm>
            <a:custGeom>
              <a:avLst/>
              <a:gdLst/>
              <a:ahLst/>
              <a:cxnLst>
                <a:cxn ang="0">
                  <a:pos x="84" y="96"/>
                </a:cxn>
                <a:cxn ang="0">
                  <a:pos x="84" y="90"/>
                </a:cxn>
                <a:cxn ang="0">
                  <a:pos x="12" y="0"/>
                </a:cxn>
                <a:cxn ang="0">
                  <a:pos x="0" y="6"/>
                </a:cxn>
                <a:cxn ang="0">
                  <a:pos x="84" y="96"/>
                </a:cxn>
                <a:cxn ang="0">
                  <a:pos x="84" y="96"/>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w="9525">
              <a:noFill/>
              <a:round/>
              <a:headEnd/>
              <a:tailEnd/>
            </a:ln>
          </p:spPr>
          <p:txBody>
            <a:bodyPr/>
            <a:lstStyle/>
            <a:p>
              <a:pPr>
                <a:defRPr/>
              </a:pPr>
              <a:endParaRPr lang="zh-TW" altLang="en-US">
                <a:ea typeface="新細明體" pitchFamily="18" charset="-120"/>
              </a:endParaRPr>
            </a:p>
          </p:txBody>
        </p:sp>
        <p:sp>
          <p:nvSpPr>
            <p:cNvPr id="1056" name="Freeform 25"/>
            <p:cNvSpPr>
              <a:spLocks/>
            </p:cNvSpPr>
            <p:nvPr/>
          </p:nvSpPr>
          <p:spPr bwMode="hidden">
            <a:xfrm>
              <a:off x="5603" y="850"/>
              <a:ext cx="155" cy="516"/>
            </a:xfrm>
            <a:custGeom>
              <a:avLst/>
              <a:gdLst>
                <a:gd name="T0" fmla="*/ 155 w 155"/>
                <a:gd name="T1" fmla="*/ 516 h 516"/>
                <a:gd name="T2" fmla="*/ 155 w 155"/>
                <a:gd name="T3" fmla="*/ 204 h 516"/>
                <a:gd name="T4" fmla="*/ 77 w 155"/>
                <a:gd name="T5" fmla="*/ 0 h 516"/>
                <a:gd name="T6" fmla="*/ 0 w 155"/>
                <a:gd name="T7" fmla="*/ 192 h 516"/>
                <a:gd name="T8" fmla="*/ 155 w 155"/>
                <a:gd name="T9" fmla="*/ 516 h 516"/>
                <a:gd name="T10" fmla="*/ 155 w 155"/>
                <a:gd name="T11" fmla="*/ 516 h 5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5" h="516">
                  <a:moveTo>
                    <a:pt x="155" y="516"/>
                  </a:moveTo>
                  <a:lnTo>
                    <a:pt x="155" y="204"/>
                  </a:lnTo>
                  <a:lnTo>
                    <a:pt x="77" y="0"/>
                  </a:lnTo>
                  <a:lnTo>
                    <a:pt x="0" y="192"/>
                  </a:lnTo>
                  <a:lnTo>
                    <a:pt x="155" y="51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7194" name="Freeform 26"/>
            <p:cNvSpPr>
              <a:spLocks/>
            </p:cNvSpPr>
            <p:nvPr/>
          </p:nvSpPr>
          <p:spPr bwMode="hidden">
            <a:xfrm>
              <a:off x="5107" y="0"/>
              <a:ext cx="573" cy="1042"/>
            </a:xfrm>
            <a:custGeom>
              <a:avLst/>
              <a:gdLst/>
              <a:ahLst/>
              <a:cxnLst>
                <a:cxn ang="0">
                  <a:pos x="0" y="0"/>
                </a:cxn>
                <a:cxn ang="0">
                  <a:pos x="497" y="1043"/>
                </a:cxn>
                <a:cxn ang="0">
                  <a:pos x="574" y="851"/>
                </a:cxn>
                <a:cxn ang="0">
                  <a:pos x="251" y="0"/>
                </a:cxn>
                <a:cxn ang="0">
                  <a:pos x="0" y="0"/>
                </a:cxn>
                <a:cxn ang="0">
                  <a:pos x="0" y="0"/>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w="9525">
              <a:noFill/>
              <a:round/>
              <a:headEnd/>
              <a:tailEnd/>
            </a:ln>
          </p:spPr>
          <p:txBody>
            <a:bodyPr/>
            <a:lstStyle/>
            <a:p>
              <a:pPr>
                <a:defRPr/>
              </a:pPr>
              <a:endParaRPr lang="zh-TW" altLang="en-US">
                <a:ea typeface="新細明體" pitchFamily="18" charset="-120"/>
              </a:endParaRPr>
            </a:p>
          </p:txBody>
        </p:sp>
        <p:sp>
          <p:nvSpPr>
            <p:cNvPr id="7195" name="Freeform 27"/>
            <p:cNvSpPr>
              <a:spLocks/>
            </p:cNvSpPr>
            <p:nvPr/>
          </p:nvSpPr>
          <p:spPr bwMode="hidden">
            <a:xfrm>
              <a:off x="5411" y="0"/>
              <a:ext cx="341" cy="796"/>
            </a:xfrm>
            <a:custGeom>
              <a:avLst/>
              <a:gdLst/>
              <a:ahLst/>
              <a:cxnLst>
                <a:cxn ang="0">
                  <a:pos x="144" y="0"/>
                </a:cxn>
                <a:cxn ang="0">
                  <a:pos x="0" y="0"/>
                </a:cxn>
                <a:cxn ang="0">
                  <a:pos x="287" y="797"/>
                </a:cxn>
                <a:cxn ang="0">
                  <a:pos x="341" y="653"/>
                </a:cxn>
                <a:cxn ang="0">
                  <a:pos x="144" y="0"/>
                </a:cxn>
                <a:cxn ang="0">
                  <a:pos x="144" y="0"/>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w="9525">
              <a:noFill/>
              <a:round/>
              <a:headEnd/>
              <a:tailEnd/>
            </a:ln>
          </p:spPr>
          <p:txBody>
            <a:bodyPr/>
            <a:lstStyle/>
            <a:p>
              <a:pPr>
                <a:defRPr/>
              </a:pPr>
              <a:endParaRPr lang="zh-TW" altLang="en-US">
                <a:ea typeface="新細明體" pitchFamily="18" charset="-120"/>
              </a:endParaRPr>
            </a:p>
          </p:txBody>
        </p:sp>
        <p:sp>
          <p:nvSpPr>
            <p:cNvPr id="1059" name="Freeform 28"/>
            <p:cNvSpPr>
              <a:spLocks/>
            </p:cNvSpPr>
            <p:nvPr/>
          </p:nvSpPr>
          <p:spPr bwMode="hidden">
            <a:xfrm>
              <a:off x="5698" y="653"/>
              <a:ext cx="60" cy="311"/>
            </a:xfrm>
            <a:custGeom>
              <a:avLst/>
              <a:gdLst>
                <a:gd name="T0" fmla="*/ 0 w 60"/>
                <a:gd name="T1" fmla="*/ 144 h 312"/>
                <a:gd name="T2" fmla="*/ 60 w 60"/>
                <a:gd name="T3" fmla="*/ 272 h 312"/>
                <a:gd name="T4" fmla="*/ 60 w 60"/>
                <a:gd name="T5" fmla="*/ 6 h 312"/>
                <a:gd name="T6" fmla="*/ 54 w 60"/>
                <a:gd name="T7" fmla="*/ 0 h 312"/>
                <a:gd name="T8" fmla="*/ 0 w 60"/>
                <a:gd name="T9" fmla="*/ 144 h 312"/>
                <a:gd name="T10" fmla="*/ 0 w 60"/>
                <a:gd name="T11" fmla="*/ 144 h 3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 h="312">
                  <a:moveTo>
                    <a:pt x="0" y="144"/>
                  </a:moveTo>
                  <a:lnTo>
                    <a:pt x="60" y="312"/>
                  </a:lnTo>
                  <a:lnTo>
                    <a:pt x="60" y="6"/>
                  </a:lnTo>
                  <a:lnTo>
                    <a:pt x="54" y="0"/>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7197" name="Freeform 29"/>
            <p:cNvSpPr>
              <a:spLocks/>
            </p:cNvSpPr>
            <p:nvPr/>
          </p:nvSpPr>
          <p:spPr bwMode="hidden">
            <a:xfrm>
              <a:off x="2" y="1601"/>
              <a:ext cx="5752" cy="1864"/>
            </a:xfrm>
            <a:custGeom>
              <a:avLst/>
              <a:gdLst/>
              <a:ahLst/>
              <a:cxnLst>
                <a:cxn ang="0">
                  <a:pos x="0" y="371"/>
                </a:cxn>
                <a:cxn ang="0">
                  <a:pos x="5740" y="1864"/>
                </a:cxn>
                <a:cxn ang="0">
                  <a:pos x="5740" y="1834"/>
                </a:cxn>
                <a:cxn ang="0">
                  <a:pos x="0" y="0"/>
                </a:cxn>
                <a:cxn ang="0">
                  <a:pos x="0" y="371"/>
                </a:cxn>
                <a:cxn ang="0">
                  <a:pos x="0" y="37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1061" name="Freeform 30"/>
            <p:cNvSpPr>
              <a:spLocks/>
            </p:cNvSpPr>
            <p:nvPr/>
          </p:nvSpPr>
          <p:spPr bwMode="hidden">
            <a:xfrm>
              <a:off x="5754" y="3483"/>
              <a:ext cx="6" cy="6"/>
            </a:xfrm>
            <a:custGeom>
              <a:avLst/>
              <a:gdLst>
                <a:gd name="T0" fmla="*/ 6 w 6"/>
                <a:gd name="T1" fmla="*/ 6 h 6"/>
                <a:gd name="T2" fmla="*/ 0 w 6"/>
                <a:gd name="T3" fmla="*/ 0 h 6"/>
                <a:gd name="T4" fmla="*/ 0 w 6"/>
                <a:gd name="T5" fmla="*/ 6 h 6"/>
                <a:gd name="T6" fmla="*/ 6 w 6"/>
                <a:gd name="T7" fmla="*/ 6 h 6"/>
                <a:gd name="T8" fmla="*/ 6 w 6"/>
                <a:gd name="T9" fmla="*/ 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6">
                  <a:moveTo>
                    <a:pt x="6" y="6"/>
                  </a:moveTo>
                  <a:lnTo>
                    <a:pt x="0" y="0"/>
                  </a:lnTo>
                  <a:lnTo>
                    <a:pt x="0" y="6"/>
                  </a:lnTo>
                  <a:lnTo>
                    <a:pt x="6" y="6"/>
                  </a:lnTo>
                  <a:close/>
                </a:path>
              </a:pathLst>
            </a:custGeom>
            <a:solidFill>
              <a:srgbClr val="18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7199" name="Freeform 31"/>
            <p:cNvSpPr>
              <a:spLocks/>
            </p:cNvSpPr>
            <p:nvPr/>
          </p:nvSpPr>
          <p:spPr bwMode="hidden">
            <a:xfrm>
              <a:off x="2" y="2152"/>
              <a:ext cx="5752" cy="1337"/>
            </a:xfrm>
            <a:custGeom>
              <a:avLst/>
              <a:gdLst/>
              <a:ahLst/>
              <a:cxnLst>
                <a:cxn ang="0">
                  <a:pos x="0" y="366"/>
                </a:cxn>
                <a:cxn ang="0">
                  <a:pos x="5740" y="1337"/>
                </a:cxn>
                <a:cxn ang="0">
                  <a:pos x="5740" y="1331"/>
                </a:cxn>
                <a:cxn ang="0">
                  <a:pos x="0" y="0"/>
                </a:cxn>
                <a:cxn ang="0">
                  <a:pos x="0" y="366"/>
                </a:cxn>
                <a:cxn ang="0">
                  <a:pos x="0" y="366"/>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7200" name="Freeform 32"/>
            <p:cNvSpPr>
              <a:spLocks/>
            </p:cNvSpPr>
            <p:nvPr/>
          </p:nvSpPr>
          <p:spPr bwMode="hidden">
            <a:xfrm>
              <a:off x="2" y="3177"/>
              <a:ext cx="5752" cy="414"/>
            </a:xfrm>
            <a:custGeom>
              <a:avLst/>
              <a:gdLst/>
              <a:ahLst/>
              <a:cxnLst>
                <a:cxn ang="0">
                  <a:pos x="0" y="48"/>
                </a:cxn>
                <a:cxn ang="0">
                  <a:pos x="5740" y="414"/>
                </a:cxn>
                <a:cxn ang="0">
                  <a:pos x="5740" y="402"/>
                </a:cxn>
                <a:cxn ang="0">
                  <a:pos x="0" y="0"/>
                </a:cxn>
                <a:cxn ang="0">
                  <a:pos x="0" y="48"/>
                </a:cxn>
                <a:cxn ang="0">
                  <a:pos x="0" y="48"/>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w="9525">
              <a:noFill/>
              <a:round/>
              <a:headEnd/>
              <a:tailEnd/>
            </a:ln>
          </p:spPr>
          <p:txBody>
            <a:bodyPr/>
            <a:lstStyle/>
            <a:p>
              <a:pPr>
                <a:defRPr/>
              </a:pPr>
              <a:endParaRPr lang="zh-TW" altLang="en-US">
                <a:ea typeface="新細明體" pitchFamily="18" charset="-120"/>
              </a:endParaRPr>
            </a:p>
          </p:txBody>
        </p:sp>
        <p:sp>
          <p:nvSpPr>
            <p:cNvPr id="7201" name="Freeform 33"/>
            <p:cNvSpPr>
              <a:spLocks/>
            </p:cNvSpPr>
            <p:nvPr/>
          </p:nvSpPr>
          <p:spPr bwMode="hidden">
            <a:xfrm>
              <a:off x="1297" y="0"/>
              <a:ext cx="4457" cy="3177"/>
            </a:xfrm>
            <a:custGeom>
              <a:avLst/>
              <a:gdLst/>
              <a:ahLst/>
              <a:cxnLst>
                <a:cxn ang="0">
                  <a:pos x="0" y="0"/>
                </a:cxn>
                <a:cxn ang="0">
                  <a:pos x="4448" y="3177"/>
                </a:cxn>
                <a:cxn ang="0">
                  <a:pos x="4448" y="3153"/>
                </a:cxn>
                <a:cxn ang="0">
                  <a:pos x="125" y="0"/>
                </a:cxn>
                <a:cxn ang="0">
                  <a:pos x="0" y="0"/>
                </a:cxn>
                <a:cxn ang="0">
                  <a:pos x="0" y="0"/>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7202" name="Freeform 34"/>
            <p:cNvSpPr>
              <a:spLocks/>
            </p:cNvSpPr>
            <p:nvPr/>
          </p:nvSpPr>
          <p:spPr bwMode="hidden">
            <a:xfrm>
              <a:off x="3321" y="0"/>
              <a:ext cx="2433" cy="2614"/>
            </a:xfrm>
            <a:custGeom>
              <a:avLst/>
              <a:gdLst/>
              <a:ahLst/>
              <a:cxnLst>
                <a:cxn ang="0">
                  <a:pos x="0" y="0"/>
                </a:cxn>
                <a:cxn ang="0">
                  <a:pos x="2428" y="2614"/>
                </a:cxn>
                <a:cxn ang="0">
                  <a:pos x="2428" y="2608"/>
                </a:cxn>
                <a:cxn ang="0">
                  <a:pos x="66" y="0"/>
                </a:cxn>
                <a:cxn ang="0">
                  <a:pos x="0" y="0"/>
                </a:cxn>
                <a:cxn ang="0">
                  <a:pos x="0" y="0"/>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7203" name="Freeform 35"/>
            <p:cNvSpPr>
              <a:spLocks/>
            </p:cNvSpPr>
            <p:nvPr/>
          </p:nvSpPr>
          <p:spPr bwMode="hidden">
            <a:xfrm>
              <a:off x="3950" y="0"/>
              <a:ext cx="1804" cy="2464"/>
            </a:xfrm>
            <a:custGeom>
              <a:avLst/>
              <a:gdLst/>
              <a:ahLst/>
              <a:cxnLst>
                <a:cxn ang="0">
                  <a:pos x="485" y="0"/>
                </a:cxn>
                <a:cxn ang="0">
                  <a:pos x="0" y="0"/>
                </a:cxn>
                <a:cxn ang="0">
                  <a:pos x="1800" y="2464"/>
                </a:cxn>
                <a:cxn ang="0">
                  <a:pos x="1800" y="2248"/>
                </a:cxn>
                <a:cxn ang="0">
                  <a:pos x="1794" y="2248"/>
                </a:cxn>
                <a:cxn ang="0">
                  <a:pos x="485" y="0"/>
                </a:cxn>
                <a:cxn ang="0">
                  <a:pos x="485" y="0"/>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w="9525">
              <a:noFill/>
              <a:round/>
              <a:headEnd/>
              <a:tailEnd/>
            </a:ln>
          </p:spPr>
          <p:txBody>
            <a:bodyPr/>
            <a:lstStyle/>
            <a:p>
              <a:pPr>
                <a:defRPr/>
              </a:pPr>
              <a:endParaRPr lang="zh-TW" altLang="en-US">
                <a:ea typeface="新細明體" pitchFamily="18" charset="-120"/>
              </a:endParaRPr>
            </a:p>
          </p:txBody>
        </p:sp>
        <p:sp>
          <p:nvSpPr>
            <p:cNvPr id="7204" name="Freeform 36"/>
            <p:cNvSpPr>
              <a:spLocks/>
            </p:cNvSpPr>
            <p:nvPr/>
          </p:nvSpPr>
          <p:spPr bwMode="hidden">
            <a:xfrm>
              <a:off x="4519" y="0"/>
              <a:ext cx="1235" cy="2074"/>
            </a:xfrm>
            <a:custGeom>
              <a:avLst/>
              <a:gdLst/>
              <a:ahLst/>
              <a:cxnLst>
                <a:cxn ang="0">
                  <a:pos x="0" y="0"/>
                </a:cxn>
                <a:cxn ang="0">
                  <a:pos x="1232" y="2074"/>
                </a:cxn>
                <a:cxn ang="0">
                  <a:pos x="1232" y="2038"/>
                </a:cxn>
                <a:cxn ang="0">
                  <a:pos x="42" y="0"/>
                </a:cxn>
                <a:cxn ang="0">
                  <a:pos x="0" y="0"/>
                </a:cxn>
                <a:cxn ang="0">
                  <a:pos x="0" y="0"/>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7205" name="Freeform 37"/>
            <p:cNvSpPr>
              <a:spLocks/>
            </p:cNvSpPr>
            <p:nvPr/>
          </p:nvSpPr>
          <p:spPr bwMode="hidden">
            <a:xfrm>
              <a:off x="4694" y="0"/>
              <a:ext cx="1060" cy="1936"/>
            </a:xfrm>
            <a:custGeom>
              <a:avLst/>
              <a:gdLst/>
              <a:ahLst/>
              <a:cxnLst>
                <a:cxn ang="0">
                  <a:pos x="0" y="0"/>
                </a:cxn>
                <a:cxn ang="0">
                  <a:pos x="1058" y="1936"/>
                </a:cxn>
                <a:cxn ang="0">
                  <a:pos x="1058" y="1930"/>
                </a:cxn>
                <a:cxn ang="0">
                  <a:pos x="54" y="0"/>
                </a:cxn>
                <a:cxn ang="0">
                  <a:pos x="0" y="0"/>
                </a:cxn>
                <a:cxn ang="0">
                  <a:pos x="0" y="0"/>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sp>
          <p:nvSpPr>
            <p:cNvPr id="7206" name="Freeform 38"/>
            <p:cNvSpPr>
              <a:spLocks/>
            </p:cNvSpPr>
            <p:nvPr/>
          </p:nvSpPr>
          <p:spPr bwMode="hidden">
            <a:xfrm>
              <a:off x="4981" y="0"/>
              <a:ext cx="773" cy="1487"/>
            </a:xfrm>
            <a:custGeom>
              <a:avLst/>
              <a:gdLst/>
              <a:ahLst/>
              <a:cxnLst>
                <a:cxn ang="0">
                  <a:pos x="771" y="1433"/>
                </a:cxn>
                <a:cxn ang="0">
                  <a:pos x="42" y="0"/>
                </a:cxn>
                <a:cxn ang="0">
                  <a:pos x="0" y="0"/>
                </a:cxn>
                <a:cxn ang="0">
                  <a:pos x="771" y="1487"/>
                </a:cxn>
                <a:cxn ang="0">
                  <a:pos x="771" y="1433"/>
                </a:cxn>
                <a:cxn ang="0">
                  <a:pos x="771" y="1433"/>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w="9525">
              <a:noFill/>
              <a:round/>
              <a:headEnd/>
              <a:tailEnd/>
            </a:ln>
          </p:spPr>
          <p:txBody>
            <a:bodyPr/>
            <a:lstStyle/>
            <a:p>
              <a:pPr>
                <a:defRPr/>
              </a:pPr>
              <a:endParaRPr lang="zh-TW" altLang="en-US">
                <a:ea typeface="新細明體" pitchFamily="18" charset="-120"/>
              </a:endParaRPr>
            </a:p>
          </p:txBody>
        </p:sp>
        <p:grpSp>
          <p:nvGrpSpPr>
            <p:cNvPr id="1070" name="Group 39"/>
            <p:cNvGrpSpPr>
              <a:grpSpLocks/>
            </p:cNvGrpSpPr>
            <p:nvPr userDrawn="1"/>
          </p:nvGrpSpPr>
          <p:grpSpPr bwMode="auto">
            <a:xfrm>
              <a:off x="0" y="1632"/>
              <a:ext cx="5758" cy="1858"/>
              <a:chOff x="0" y="1632"/>
              <a:chExt cx="5758" cy="1858"/>
            </a:xfrm>
          </p:grpSpPr>
          <p:sp>
            <p:nvSpPr>
              <p:cNvPr id="7208" name="Freeform 40"/>
              <p:cNvSpPr>
                <a:spLocks/>
              </p:cNvSpPr>
              <p:nvPr/>
            </p:nvSpPr>
            <p:spPr bwMode="hidden">
              <a:xfrm>
                <a:off x="0" y="1632"/>
                <a:ext cx="3670" cy="1313"/>
              </a:xfrm>
              <a:custGeom>
                <a:avLst/>
                <a:gdLst/>
                <a:ahLst/>
                <a:cxnLst>
                  <a:cxn ang="0">
                    <a:pos x="0" y="0"/>
                  </a:cxn>
                  <a:cxn ang="0">
                    <a:pos x="0" y="366"/>
                  </a:cxn>
                  <a:cxn ang="0">
                    <a:pos x="3635" y="1313"/>
                  </a:cxn>
                  <a:cxn ang="0">
                    <a:pos x="3647" y="1235"/>
                  </a:cxn>
                  <a:cxn ang="0">
                    <a:pos x="3659" y="1163"/>
                  </a:cxn>
                  <a:cxn ang="0">
                    <a:pos x="0" y="0"/>
                  </a:cxn>
                  <a:cxn ang="0">
                    <a:pos x="0" y="0"/>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zh-TW" altLang="en-US">
                  <a:ea typeface="新細明體" pitchFamily="18" charset="-120"/>
                </a:endParaRPr>
              </a:p>
            </p:txBody>
          </p:sp>
          <p:sp>
            <p:nvSpPr>
              <p:cNvPr id="7209" name="Freeform 41"/>
              <p:cNvSpPr>
                <a:spLocks/>
              </p:cNvSpPr>
              <p:nvPr/>
            </p:nvSpPr>
            <p:spPr bwMode="hidden">
              <a:xfrm>
                <a:off x="3646" y="2795"/>
                <a:ext cx="2112" cy="695"/>
              </a:xfrm>
              <a:custGeom>
                <a:avLst/>
                <a:gdLst/>
                <a:ahLst/>
                <a:cxnLst>
                  <a:cxn ang="0">
                    <a:pos x="2105" y="665"/>
                  </a:cxn>
                  <a:cxn ang="0">
                    <a:pos x="24" y="0"/>
                  </a:cxn>
                  <a:cxn ang="0">
                    <a:pos x="12" y="72"/>
                  </a:cxn>
                  <a:cxn ang="0">
                    <a:pos x="0" y="150"/>
                  </a:cxn>
                  <a:cxn ang="0">
                    <a:pos x="2105" y="695"/>
                  </a:cxn>
                  <a:cxn ang="0">
                    <a:pos x="2105" y="665"/>
                  </a:cxn>
                  <a:cxn ang="0">
                    <a:pos x="2105" y="665"/>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w="9525">
                <a:noFill/>
                <a:round/>
                <a:headEnd/>
                <a:tailEnd/>
              </a:ln>
            </p:spPr>
            <p:txBody>
              <a:bodyPr/>
              <a:lstStyle/>
              <a:p>
                <a:pPr>
                  <a:defRPr/>
                </a:pPr>
                <a:endParaRPr lang="zh-TW" altLang="en-US">
                  <a:ea typeface="新細明體" pitchFamily="18" charset="-120"/>
                </a:endParaRPr>
              </a:p>
            </p:txBody>
          </p:sp>
        </p:grpSp>
      </p:grpSp>
      <p:sp>
        <p:nvSpPr>
          <p:cNvPr id="7210" name="Rectangle 42"/>
          <p:cNvSpPr>
            <a:spLocks noGrp="1" noChangeArrowheads="1"/>
          </p:cNvSpPr>
          <p:nvPr>
            <p:ph type="title"/>
          </p:nvPr>
        </p:nvSpPr>
        <p:spPr bwMode="auto">
          <a:xfrm>
            <a:off x="457200" y="277813"/>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zh-TW" dirty="0"/>
              <a:t>Click to edit Master title style</a:t>
            </a:r>
          </a:p>
        </p:txBody>
      </p:sp>
      <p:sp>
        <p:nvSpPr>
          <p:cNvPr id="7211" name="Rectangle 43"/>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p>
        </p:txBody>
      </p:sp>
      <p:pic>
        <p:nvPicPr>
          <p:cNvPr id="1029" name="Picture 57" descr="hdr-bkg"/>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2895600" y="0"/>
            <a:ext cx="62484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12" name="Rectangle 44"/>
          <p:cNvSpPr>
            <a:spLocks noGrp="1" noChangeArrowheads="1"/>
          </p:cNvSpPr>
          <p:nvPr>
            <p:ph type="dt" sz="half" idx="2"/>
          </p:nvPr>
        </p:nvSpPr>
        <p:spPr bwMode="auto">
          <a:xfrm>
            <a:off x="457200" y="6481763"/>
            <a:ext cx="990600" cy="3000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ffectLst>
                  <a:outerShdw blurRad="38100" dist="38100" dir="2700000" algn="tl">
                    <a:srgbClr val="000000"/>
                  </a:outerShdw>
                </a:effectLst>
                <a:ea typeface="新細明體" panose="02020500000000000000" pitchFamily="18" charset="-120"/>
              </a:defRPr>
            </a:lvl1pPr>
          </a:lstStyle>
          <a:p>
            <a:pPr>
              <a:defRPr/>
            </a:pPr>
            <a:endParaRPr lang="en-US" altLang="zh-TW"/>
          </a:p>
        </p:txBody>
      </p:sp>
      <p:sp>
        <p:nvSpPr>
          <p:cNvPr id="7213" name="Rectangle 45"/>
          <p:cNvSpPr>
            <a:spLocks noGrp="1" noChangeArrowheads="1"/>
          </p:cNvSpPr>
          <p:nvPr>
            <p:ph type="ftr" sz="quarter" idx="3"/>
          </p:nvPr>
        </p:nvSpPr>
        <p:spPr bwMode="auto">
          <a:xfrm>
            <a:off x="1676400" y="6477000"/>
            <a:ext cx="6172200" cy="3048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smtClean="0">
                <a:effectLst>
                  <a:outerShdw blurRad="38100" dist="38100" dir="2700000" algn="tl">
                    <a:srgbClr val="000000"/>
                  </a:outerShdw>
                </a:effectLst>
                <a:latin typeface="Arial" charset="0"/>
                <a:ea typeface="新細明體" pitchFamily="18" charset="-120"/>
              </a:defRPr>
            </a:lvl1pPr>
          </a:lstStyle>
          <a:p>
            <a:pPr>
              <a:defRPr/>
            </a:pPr>
            <a:r>
              <a:rPr lang="en-US" altLang="zh-TW"/>
              <a:t>Department of Electrical Engineering</a:t>
            </a:r>
          </a:p>
        </p:txBody>
      </p:sp>
      <p:sp>
        <p:nvSpPr>
          <p:cNvPr id="7214" name="Rectangle 46"/>
          <p:cNvSpPr>
            <a:spLocks noGrp="1" noChangeArrowheads="1"/>
          </p:cNvSpPr>
          <p:nvPr>
            <p:ph type="sldNum" sz="quarter" idx="4"/>
          </p:nvPr>
        </p:nvSpPr>
        <p:spPr bwMode="auto">
          <a:xfrm>
            <a:off x="8001000" y="6477000"/>
            <a:ext cx="609600" cy="3048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effectLst>
                  <a:outerShdw blurRad="38100" dist="38100" dir="2700000" algn="tl">
                    <a:srgbClr val="000000"/>
                  </a:outerShdw>
                </a:effectLst>
                <a:ea typeface="新細明體" panose="02020500000000000000" pitchFamily="18" charset="-120"/>
              </a:defRPr>
            </a:lvl1pPr>
          </a:lstStyle>
          <a:p>
            <a:pPr>
              <a:defRPr/>
            </a:pPr>
            <a:fld id="{E93568CD-ADE2-4A13-9AA3-82F82786E607}" type="slidenum">
              <a:rPr lang="zh-TW" altLang="en-US"/>
              <a:pPr>
                <a:defRPr/>
              </a:pPr>
              <a:t>‹#›</a:t>
            </a:fld>
            <a:endParaRPr lang="en-US" altLang="zh-TW"/>
          </a:p>
        </p:txBody>
      </p:sp>
      <p:pic>
        <p:nvPicPr>
          <p:cNvPr id="1033" name="Picture 2" descr="臺灣大學_標題"/>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9525" y="3175"/>
            <a:ext cx="189547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dk2" tx1="lt1" bg2="dk1" tx2="lt2" accent1="accent1" accent2="accent2" accent3="accent3" accent4="accent4" accent5="accent5" accent6="accent6" hlink="hlink" folHlink="folHlink"/>
  <p:sldLayoutIdLst>
    <p:sldLayoutId id="2147485313" r:id="rId1"/>
    <p:sldLayoutId id="2147485314" r:id="rId2"/>
    <p:sldLayoutId id="2147485282" r:id="rId3"/>
    <p:sldLayoutId id="2147485283" r:id="rId4"/>
    <p:sldLayoutId id="2147485284" r:id="rId5"/>
    <p:sldLayoutId id="2147485285" r:id="rId6"/>
    <p:sldLayoutId id="2147485315" r:id="rId7"/>
    <p:sldLayoutId id="2147485286" r:id="rId8"/>
    <p:sldLayoutId id="2147485287" r:id="rId9"/>
    <p:sldLayoutId id="2147485288" r:id="rId10"/>
    <p:sldLayoutId id="2147485289" r:id="rId11"/>
    <p:sldLayoutId id="2147485290" r:id="rId12"/>
  </p:sldLayoutIdLst>
  <p:hf hd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6"/>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7"/>
        </a:buBlip>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8"/>
        </a:buBlip>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90000"/>
        <a:buFont typeface="Wingdings" pitchFamily="2" charset="2"/>
        <a:buBlip>
          <a:blip r:embed="rId18"/>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90000"/>
        <a:buFont typeface="Wingdings" pitchFamily="2" charset="2"/>
        <a:buBlip>
          <a:blip r:embed="rId18"/>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90000"/>
        <a:buFont typeface="Wingdings" pitchFamily="2" charset="2"/>
        <a:buBlip>
          <a:blip r:embed="rId18"/>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90000"/>
        <a:buFont typeface="Wingdings" pitchFamily="2" charset="2"/>
        <a:buBlip>
          <a:blip r:embed="rId18"/>
        </a:buBlip>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endParaRPr lang="en-US"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wrap="square" lIns="91440" tIns="45720" rIns="91440" bIns="45720" numCol="1" anchor="ctr" anchorCtr="0" compatLnSpc="1">
            <a:prstTxWarp prst="textNoShape">
              <a:avLst/>
            </a:prstTxWarp>
          </a:bodyPr>
          <a:lstStyle>
            <a:lvl1pPr algn="ctr">
              <a:defRPr sz="1200" smtClean="0">
                <a:solidFill>
                  <a:srgbClr val="898989"/>
                </a:solidFill>
              </a:defRPr>
            </a:lvl1pPr>
          </a:lstStyle>
          <a:p>
            <a:pPr>
              <a:defRPr/>
            </a:pPr>
            <a:r>
              <a:rPr lang="en-US" altLang="en-US"/>
              <a:t>Department of Electrical Engineering</a:t>
            </a: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EB2DD1BE-0FBC-4F29-BB5A-08AC6A6568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291" r:id="rId1"/>
    <p:sldLayoutId id="2147485292" r:id="rId2"/>
    <p:sldLayoutId id="2147485293" r:id="rId3"/>
    <p:sldLayoutId id="2147485294" r:id="rId4"/>
    <p:sldLayoutId id="2147485295" r:id="rId5"/>
    <p:sldLayoutId id="2147485296" r:id="rId6"/>
    <p:sldLayoutId id="2147485297" r:id="rId7"/>
    <p:sldLayoutId id="2147485298" r:id="rId8"/>
    <p:sldLayoutId id="2147485299" r:id="rId9"/>
    <p:sldLayoutId id="2147485300" r:id="rId10"/>
    <p:sldLayoutId id="2147485301" r:id="rId11"/>
  </p:sldLayoutIdLst>
  <p:hf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TW"/>
              <a:t>Click to edit Master title style</a:t>
            </a:r>
            <a:endParaRPr lang="zh-TW" altLang="en-US"/>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endParaRPr lang="zh-TW"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smtClean="0">
                <a:solidFill>
                  <a:srgbClr val="898989"/>
                </a:solidFill>
              </a:defRPr>
            </a:lvl1pPr>
          </a:lstStyle>
          <a:p>
            <a:pPr>
              <a:defRPr/>
            </a:pPr>
            <a:r>
              <a:rPr lang="en-US" altLang="zh-TW"/>
              <a:t>Department of Electrical Engineering</a:t>
            </a:r>
            <a:endParaRPr lang="zh-TW"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F3E9C61D-64AE-49DE-BEF6-74B155B56B79}"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sldLayoutIdLst>
    <p:sldLayoutId id="2147485302" r:id="rId1"/>
    <p:sldLayoutId id="2147485303" r:id="rId2"/>
    <p:sldLayoutId id="2147485304" r:id="rId3"/>
    <p:sldLayoutId id="2147485305" r:id="rId4"/>
    <p:sldLayoutId id="2147485306" r:id="rId5"/>
    <p:sldLayoutId id="2147485307" r:id="rId6"/>
    <p:sldLayoutId id="2147485308" r:id="rId7"/>
    <p:sldLayoutId id="2147485309" r:id="rId8"/>
    <p:sldLayoutId id="2147485310" r:id="rId9"/>
    <p:sldLayoutId id="2147485311" r:id="rId10"/>
    <p:sldLayoutId id="2147485312"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0"/>
          </p:nvPr>
        </p:nvSpPr>
        <p:spPr/>
        <p:txBody>
          <a:bodyPr/>
          <a:lstStyle/>
          <a:p>
            <a:pPr>
              <a:defRPr/>
            </a:pPr>
            <a:r>
              <a:rPr lang="en-US" altLang="zh-TW"/>
              <a:t>Department of Electrical Engineering</a:t>
            </a:r>
          </a:p>
        </p:txBody>
      </p:sp>
      <p:sp>
        <p:nvSpPr>
          <p:cNvPr id="13"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8465BAD2-6FD5-4CBA-81DF-12A667F084EB}" type="slidenum">
              <a:rPr lang="zh-TW" altLang="en-US" sz="1200" smtClean="0"/>
              <a:pPr>
                <a:spcBef>
                  <a:spcPct val="0"/>
                </a:spcBef>
                <a:buClrTx/>
                <a:buSzTx/>
                <a:buFontTx/>
                <a:buNone/>
                <a:defRPr/>
              </a:pPr>
              <a:t>1</a:t>
            </a:fld>
            <a:endParaRPr lang="en-US" altLang="zh-TW" sz="1200"/>
          </a:p>
        </p:txBody>
      </p:sp>
      <p:sp>
        <p:nvSpPr>
          <p:cNvPr id="190466" name="Rectangle 2"/>
          <p:cNvSpPr>
            <a:spLocks noGrp="1" noChangeArrowheads="1"/>
          </p:cNvSpPr>
          <p:nvPr>
            <p:ph type="title"/>
          </p:nvPr>
        </p:nvSpPr>
        <p:spPr/>
        <p:txBody>
          <a:bodyPr/>
          <a:lstStyle/>
          <a:p>
            <a:pPr eaLnBrk="1" hangingPunct="1">
              <a:defRPr/>
            </a:pPr>
            <a:r>
              <a:rPr lang="en-US" altLang="zh-TW" sz="2800" dirty="0">
                <a:ea typeface="新細明體" pitchFamily="18" charset="-120"/>
              </a:rPr>
              <a:t>Compiler Technology of Programming Languages</a:t>
            </a:r>
          </a:p>
        </p:txBody>
      </p:sp>
      <p:sp>
        <p:nvSpPr>
          <p:cNvPr id="2" name="內容版面配置區 1"/>
          <p:cNvSpPr>
            <a:spLocks noGrp="1"/>
          </p:cNvSpPr>
          <p:nvPr>
            <p:ph idx="1"/>
          </p:nvPr>
        </p:nvSpPr>
        <p:spPr/>
        <p:txBody>
          <a:bodyPr/>
          <a:lstStyle/>
          <a:p>
            <a:pPr marL="0" indent="0" algn="ctr">
              <a:buFont typeface="Wingdings" panose="05000000000000000000" pitchFamily="2" charset="2"/>
              <a:buNone/>
            </a:pPr>
            <a:r>
              <a:rPr lang="en-US" altLang="zh-TW" sz="4400" b="1" dirty="0">
                <a:ea typeface="新細明體" panose="02020500000000000000" pitchFamily="18" charset="-120"/>
              </a:rPr>
              <a:t>Chapter 1</a:t>
            </a:r>
          </a:p>
          <a:p>
            <a:pPr marL="0" indent="0" algn="ctr">
              <a:buFont typeface="Wingdings" panose="05000000000000000000" pitchFamily="2" charset="2"/>
              <a:buNone/>
            </a:pPr>
            <a:r>
              <a:rPr lang="en-US" altLang="zh-TW" sz="7200" b="1" dirty="0">
                <a:ea typeface="新細明體" panose="02020500000000000000" pitchFamily="18" charset="-120"/>
              </a:rPr>
              <a:t>Introduction</a:t>
            </a:r>
          </a:p>
          <a:p>
            <a:pPr marL="0" indent="0" algn="ctr">
              <a:buFont typeface="Wingdings" panose="05000000000000000000" pitchFamily="2" charset="2"/>
              <a:buNone/>
            </a:pPr>
            <a:endParaRPr lang="en-US" altLang="zh-TW" sz="7200" b="1" dirty="0">
              <a:ea typeface="新細明體" panose="02020500000000000000" pitchFamily="18" charset="-120"/>
            </a:endParaRPr>
          </a:p>
          <a:p>
            <a:pPr marL="0" indent="0" algn="ctr">
              <a:buFont typeface="Wingdings" panose="05000000000000000000" pitchFamily="2" charset="2"/>
              <a:buNone/>
            </a:pPr>
            <a:r>
              <a:rPr lang="en-US" altLang="zh-TW" sz="4400" b="1" dirty="0">
                <a:ea typeface="新細明體" panose="02020500000000000000" pitchFamily="18" charset="-120"/>
              </a:rPr>
              <a:t>Prof. </a:t>
            </a:r>
            <a:r>
              <a:rPr lang="en-US" altLang="zh-TW" sz="4400" b="1" dirty="0" err="1">
                <a:ea typeface="新細明體" panose="02020500000000000000" pitchFamily="18" charset="-120"/>
              </a:rPr>
              <a:t>Farn</a:t>
            </a:r>
            <a:r>
              <a:rPr lang="en-US" altLang="zh-TW" sz="4400" b="1" dirty="0">
                <a:ea typeface="新細明體" panose="02020500000000000000" pitchFamily="18" charset="-120"/>
              </a:rPr>
              <a:t> Wang</a:t>
            </a:r>
            <a:endParaRPr lang="zh-TW" altLang="en-US" sz="4400" b="1" dirty="0">
              <a:ea typeface="新細明體" panose="02020500000000000000" pitchFamily="18"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0"/>
          </p:nvPr>
        </p:nvSpPr>
        <p:spPr/>
        <p:txBody>
          <a:bodyPr/>
          <a:lstStyle/>
          <a:p>
            <a:pPr>
              <a:defRPr/>
            </a:pPr>
            <a:r>
              <a:rPr lang="en-US" altLang="zh-TW"/>
              <a:t>Department of Electrical Engineering</a:t>
            </a:r>
          </a:p>
        </p:txBody>
      </p:sp>
      <p:sp>
        <p:nvSpPr>
          <p:cNvPr id="13"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73D61132-A3C5-42D1-AEBD-63116D8F49B1}" type="slidenum">
              <a:rPr lang="zh-TW" altLang="en-US" sz="1200" smtClean="0"/>
              <a:pPr>
                <a:spcBef>
                  <a:spcPct val="0"/>
                </a:spcBef>
                <a:buClrTx/>
                <a:buSzTx/>
                <a:buFontTx/>
                <a:buNone/>
                <a:defRPr/>
              </a:pPr>
              <a:t>2</a:t>
            </a:fld>
            <a:endParaRPr lang="en-US" altLang="zh-TW" sz="1200"/>
          </a:p>
        </p:txBody>
      </p:sp>
      <p:sp>
        <p:nvSpPr>
          <p:cNvPr id="190466" name="Rectangle 2"/>
          <p:cNvSpPr>
            <a:spLocks noGrp="1" noChangeArrowheads="1"/>
          </p:cNvSpPr>
          <p:nvPr>
            <p:ph type="title"/>
          </p:nvPr>
        </p:nvSpPr>
        <p:spPr/>
        <p:txBody>
          <a:bodyPr/>
          <a:lstStyle/>
          <a:p>
            <a:pPr eaLnBrk="1" hangingPunct="1">
              <a:defRPr/>
            </a:pPr>
            <a:r>
              <a:rPr lang="en-US" altLang="zh-TW" dirty="0">
                <a:ea typeface="新細明體" panose="02020500000000000000" pitchFamily="18" charset="-120"/>
              </a:rPr>
              <a:t>What is a compiler? </a:t>
            </a:r>
            <a:br>
              <a:rPr lang="en-US" altLang="zh-TW" dirty="0">
                <a:ea typeface="新細明體" panose="02020500000000000000" pitchFamily="18" charset="-120"/>
              </a:rPr>
            </a:br>
            <a:r>
              <a:rPr lang="en-US" altLang="zh-TW" dirty="0">
                <a:ea typeface="新細明體" panose="02020500000000000000" pitchFamily="18" charset="-120"/>
              </a:rPr>
              <a:t>(original meaning)</a:t>
            </a:r>
          </a:p>
        </p:txBody>
      </p:sp>
      <p:sp>
        <p:nvSpPr>
          <p:cNvPr id="190467" name="Rectangle 3"/>
          <p:cNvSpPr>
            <a:spLocks noGrp="1" noChangeArrowheads="1"/>
          </p:cNvSpPr>
          <p:nvPr>
            <p:ph type="body" idx="1"/>
          </p:nvPr>
        </p:nvSpPr>
        <p:spPr>
          <a:xfrm>
            <a:off x="685800" y="1600200"/>
            <a:ext cx="7772400" cy="4953000"/>
          </a:xfrm>
        </p:spPr>
        <p:txBody>
          <a:bodyPr/>
          <a:lstStyle/>
          <a:p>
            <a:pPr eaLnBrk="1" hangingPunct="1">
              <a:defRPr/>
            </a:pPr>
            <a:r>
              <a:rPr lang="en-US" altLang="zh-TW" sz="2800" dirty="0">
                <a:ea typeface="新細明體" panose="02020500000000000000" pitchFamily="18" charset="-120"/>
              </a:rPr>
              <a:t>reads a program written in the </a:t>
            </a:r>
            <a:r>
              <a:rPr lang="en-US" altLang="zh-TW" sz="2800" i="1" dirty="0">
                <a:ea typeface="新細明體" panose="02020500000000000000" pitchFamily="18" charset="-120"/>
              </a:rPr>
              <a:t>source language</a:t>
            </a:r>
            <a:r>
              <a:rPr lang="en-US" altLang="zh-TW" sz="2800" dirty="0">
                <a:ea typeface="新細明體" panose="02020500000000000000" pitchFamily="18" charset="-120"/>
              </a:rPr>
              <a:t> and </a:t>
            </a:r>
          </a:p>
          <a:p>
            <a:pPr eaLnBrk="1" hangingPunct="1">
              <a:defRPr/>
            </a:pPr>
            <a:r>
              <a:rPr lang="en-US" altLang="zh-TW" sz="2800" dirty="0">
                <a:ea typeface="新細明體" panose="02020500000000000000" pitchFamily="18" charset="-120"/>
              </a:rPr>
              <a:t>translate it into an equivalent program in </a:t>
            </a:r>
            <a:r>
              <a:rPr lang="en-US" altLang="zh-TW" sz="2800" i="1" dirty="0">
                <a:ea typeface="新細明體" panose="02020500000000000000" pitchFamily="18" charset="-120"/>
              </a:rPr>
              <a:t>machine language</a:t>
            </a:r>
            <a:r>
              <a:rPr lang="en-US" altLang="zh-TW" sz="2800" dirty="0">
                <a:ea typeface="新細明體" panose="02020500000000000000" pitchFamily="18" charset="-120"/>
              </a:rPr>
              <a:t>. </a:t>
            </a:r>
          </a:p>
          <a:p>
            <a:pPr lvl="1" eaLnBrk="1" hangingPunct="1">
              <a:buFontTx/>
              <a:buNone/>
              <a:defRPr/>
            </a:pPr>
            <a:endParaRPr lang="zh-TW" altLang="en-US" dirty="0">
              <a:ea typeface="新細明體" panose="02020500000000000000" pitchFamily="18" charset="-120"/>
            </a:endParaRPr>
          </a:p>
        </p:txBody>
      </p:sp>
      <p:sp>
        <p:nvSpPr>
          <p:cNvPr id="190468" name="Rectangle 4"/>
          <p:cNvSpPr>
            <a:spLocks noChangeArrowheads="1"/>
          </p:cNvSpPr>
          <p:nvPr/>
        </p:nvSpPr>
        <p:spPr bwMode="auto">
          <a:xfrm>
            <a:off x="2590800" y="4038600"/>
            <a:ext cx="3657600" cy="1447800"/>
          </a:xfrm>
          <a:prstGeom prst="rect">
            <a:avLst/>
          </a:prstGeom>
          <a:solidFill>
            <a:srgbClr val="00CC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3600" b="1">
                <a:solidFill>
                  <a:srgbClr val="0033CC"/>
                </a:solidFill>
                <a:latin typeface="Times New Roman" panose="02020603050405020304" pitchFamily="18" charset="0"/>
                <a:ea typeface="新細明體" panose="02020500000000000000" pitchFamily="18" charset="-120"/>
              </a:rPr>
              <a:t>Compiler</a:t>
            </a:r>
          </a:p>
        </p:txBody>
      </p:sp>
      <p:sp>
        <p:nvSpPr>
          <p:cNvPr id="190469" name="Text Box 5"/>
          <p:cNvSpPr txBox="1">
            <a:spLocks noChangeArrowheads="1"/>
          </p:cNvSpPr>
          <p:nvPr/>
        </p:nvSpPr>
        <p:spPr bwMode="auto">
          <a:xfrm>
            <a:off x="361950" y="3946525"/>
            <a:ext cx="1676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Source</a:t>
            </a:r>
          </a:p>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Program</a:t>
            </a:r>
          </a:p>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(in high level lang.)</a:t>
            </a:r>
          </a:p>
        </p:txBody>
      </p:sp>
      <p:sp>
        <p:nvSpPr>
          <p:cNvPr id="190470" name="Line 6"/>
          <p:cNvSpPr>
            <a:spLocks noChangeShapeType="1"/>
          </p:cNvSpPr>
          <p:nvPr/>
        </p:nvSpPr>
        <p:spPr bwMode="auto">
          <a:xfrm>
            <a:off x="1905000" y="4800600"/>
            <a:ext cx="685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190471" name="Line 7"/>
          <p:cNvSpPr>
            <a:spLocks noChangeShapeType="1"/>
          </p:cNvSpPr>
          <p:nvPr/>
        </p:nvSpPr>
        <p:spPr bwMode="auto">
          <a:xfrm>
            <a:off x="6324600" y="4724400"/>
            <a:ext cx="685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190472" name="Text Box 8"/>
          <p:cNvSpPr txBox="1">
            <a:spLocks noChangeArrowheads="1"/>
          </p:cNvSpPr>
          <p:nvPr/>
        </p:nvSpPr>
        <p:spPr bwMode="auto">
          <a:xfrm>
            <a:off x="7075488" y="4092575"/>
            <a:ext cx="16716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Machine code (or object code)</a:t>
            </a:r>
          </a:p>
        </p:txBody>
      </p:sp>
      <p:sp>
        <p:nvSpPr>
          <p:cNvPr id="190473" name="Text Box 9"/>
          <p:cNvSpPr txBox="1">
            <a:spLocks noChangeArrowheads="1"/>
          </p:cNvSpPr>
          <p:nvPr/>
        </p:nvSpPr>
        <p:spPr bwMode="auto">
          <a:xfrm>
            <a:off x="3352800" y="58674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Error messages</a:t>
            </a:r>
          </a:p>
        </p:txBody>
      </p:sp>
      <p:sp>
        <p:nvSpPr>
          <p:cNvPr id="190474" name="Line 10"/>
          <p:cNvSpPr>
            <a:spLocks noChangeShapeType="1"/>
          </p:cNvSpPr>
          <p:nvPr/>
        </p:nvSpPr>
        <p:spPr bwMode="auto">
          <a:xfrm>
            <a:off x="4343400" y="5486400"/>
            <a:ext cx="0" cy="4572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15" name="TextBox 14"/>
          <p:cNvSpPr txBox="1">
            <a:spLocks noChangeArrowheads="1"/>
          </p:cNvSpPr>
          <p:nvPr/>
        </p:nvSpPr>
        <p:spPr bwMode="auto">
          <a:xfrm>
            <a:off x="5337175" y="5529263"/>
            <a:ext cx="3409950" cy="83026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i="1">
                <a:solidFill>
                  <a:srgbClr val="9933FF"/>
                </a:solidFill>
                <a:ea typeface="新細明體" panose="02020500000000000000" pitchFamily="18" charset="-120"/>
              </a:rPr>
              <a:t>Automatic translation + </a:t>
            </a:r>
          </a:p>
          <a:p>
            <a:pPr>
              <a:spcBef>
                <a:spcPct val="0"/>
              </a:spcBef>
              <a:buClrTx/>
              <a:buSzTx/>
              <a:buFontTx/>
              <a:buNone/>
            </a:pPr>
            <a:r>
              <a:rPr lang="en-US" altLang="zh-TW" sz="2400" i="1">
                <a:solidFill>
                  <a:srgbClr val="9933FF"/>
                </a:solidFill>
                <a:ea typeface="新細明體" panose="02020500000000000000" pitchFamily="18" charset="-120"/>
              </a:rPr>
              <a:t>Optimization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90468"/>
                                        </p:tgtEl>
                                        <p:attrNameLst>
                                          <p:attrName>style.visibility</p:attrName>
                                        </p:attrNameLst>
                                      </p:cBhvr>
                                      <p:to>
                                        <p:strVal val="visible"/>
                                      </p:to>
                                    </p:set>
                                    <p:animEffect transition="in" filter="box(in)">
                                      <p:cBhvr>
                                        <p:cTn id="7" dur="500"/>
                                        <p:tgtEl>
                                          <p:spTgt spid="1904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90469"/>
                                        </p:tgtEl>
                                        <p:attrNameLst>
                                          <p:attrName>style.visibility</p:attrName>
                                        </p:attrNameLst>
                                      </p:cBhvr>
                                      <p:to>
                                        <p:strVal val="visible"/>
                                      </p:to>
                                    </p:set>
                                    <p:anim calcmode="lin" valueType="num">
                                      <p:cBhvr additive="base">
                                        <p:cTn id="12" dur="500" fill="hold"/>
                                        <p:tgtEl>
                                          <p:spTgt spid="190469"/>
                                        </p:tgtEl>
                                        <p:attrNameLst>
                                          <p:attrName>ppt_x</p:attrName>
                                        </p:attrNameLst>
                                      </p:cBhvr>
                                      <p:tavLst>
                                        <p:tav tm="0">
                                          <p:val>
                                            <p:strVal val="0-#ppt_w/2"/>
                                          </p:val>
                                        </p:tav>
                                        <p:tav tm="100000">
                                          <p:val>
                                            <p:strVal val="#ppt_x"/>
                                          </p:val>
                                        </p:tav>
                                      </p:tavLst>
                                    </p:anim>
                                    <p:anim calcmode="lin" valueType="num">
                                      <p:cBhvr additive="base">
                                        <p:cTn id="13" dur="500" fill="hold"/>
                                        <p:tgtEl>
                                          <p:spTgt spid="190469"/>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55" presetClass="entr" presetSubtype="0" fill="hold" nodeType="clickEffect">
                                  <p:stCondLst>
                                    <p:cond delay="0"/>
                                  </p:stCondLst>
                                  <p:childTnLst>
                                    <p:set>
                                      <p:cBhvr>
                                        <p:cTn id="17" dur="1" fill="hold">
                                          <p:stCondLst>
                                            <p:cond delay="0"/>
                                          </p:stCondLst>
                                        </p:cTn>
                                        <p:tgtEl>
                                          <p:spTgt spid="190470"/>
                                        </p:tgtEl>
                                        <p:attrNameLst>
                                          <p:attrName>style.visibility</p:attrName>
                                        </p:attrNameLst>
                                      </p:cBhvr>
                                      <p:to>
                                        <p:strVal val="visible"/>
                                      </p:to>
                                    </p:set>
                                    <p:anim calcmode="lin" valueType="num">
                                      <p:cBhvr>
                                        <p:cTn id="18" dur="1000" fill="hold"/>
                                        <p:tgtEl>
                                          <p:spTgt spid="190470"/>
                                        </p:tgtEl>
                                        <p:attrNameLst>
                                          <p:attrName>ppt_w</p:attrName>
                                        </p:attrNameLst>
                                      </p:cBhvr>
                                      <p:tavLst>
                                        <p:tav tm="0">
                                          <p:val>
                                            <p:strVal val="#ppt_w*0.70"/>
                                          </p:val>
                                        </p:tav>
                                        <p:tav tm="100000">
                                          <p:val>
                                            <p:strVal val="#ppt_w"/>
                                          </p:val>
                                        </p:tav>
                                      </p:tavLst>
                                    </p:anim>
                                    <p:anim calcmode="lin" valueType="num">
                                      <p:cBhvr>
                                        <p:cTn id="19" dur="1000" fill="hold"/>
                                        <p:tgtEl>
                                          <p:spTgt spid="190470"/>
                                        </p:tgtEl>
                                        <p:attrNameLst>
                                          <p:attrName>ppt_h</p:attrName>
                                        </p:attrNameLst>
                                      </p:cBhvr>
                                      <p:tavLst>
                                        <p:tav tm="0">
                                          <p:val>
                                            <p:strVal val="#ppt_h"/>
                                          </p:val>
                                        </p:tav>
                                        <p:tav tm="100000">
                                          <p:val>
                                            <p:strVal val="#ppt_h"/>
                                          </p:val>
                                        </p:tav>
                                      </p:tavLst>
                                    </p:anim>
                                    <p:animEffect transition="in" filter="fade">
                                      <p:cBhvr>
                                        <p:cTn id="20" dur="1000"/>
                                        <p:tgtEl>
                                          <p:spTgt spid="19047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5" presetClass="entr" presetSubtype="0" fill="hold" nodeType="clickEffect">
                                  <p:stCondLst>
                                    <p:cond delay="0"/>
                                  </p:stCondLst>
                                  <p:childTnLst>
                                    <p:set>
                                      <p:cBhvr>
                                        <p:cTn id="24" dur="1" fill="hold">
                                          <p:stCondLst>
                                            <p:cond delay="0"/>
                                          </p:stCondLst>
                                        </p:cTn>
                                        <p:tgtEl>
                                          <p:spTgt spid="190471"/>
                                        </p:tgtEl>
                                        <p:attrNameLst>
                                          <p:attrName>style.visibility</p:attrName>
                                        </p:attrNameLst>
                                      </p:cBhvr>
                                      <p:to>
                                        <p:strVal val="visible"/>
                                      </p:to>
                                    </p:set>
                                    <p:anim calcmode="lin" valueType="num">
                                      <p:cBhvr>
                                        <p:cTn id="25" dur="1000" fill="hold"/>
                                        <p:tgtEl>
                                          <p:spTgt spid="190471"/>
                                        </p:tgtEl>
                                        <p:attrNameLst>
                                          <p:attrName>ppt_w</p:attrName>
                                        </p:attrNameLst>
                                      </p:cBhvr>
                                      <p:tavLst>
                                        <p:tav tm="0">
                                          <p:val>
                                            <p:strVal val="#ppt_w*0.70"/>
                                          </p:val>
                                        </p:tav>
                                        <p:tav tm="100000">
                                          <p:val>
                                            <p:strVal val="#ppt_w"/>
                                          </p:val>
                                        </p:tav>
                                      </p:tavLst>
                                    </p:anim>
                                    <p:anim calcmode="lin" valueType="num">
                                      <p:cBhvr>
                                        <p:cTn id="26" dur="1000" fill="hold"/>
                                        <p:tgtEl>
                                          <p:spTgt spid="190471"/>
                                        </p:tgtEl>
                                        <p:attrNameLst>
                                          <p:attrName>ppt_h</p:attrName>
                                        </p:attrNameLst>
                                      </p:cBhvr>
                                      <p:tavLst>
                                        <p:tav tm="0">
                                          <p:val>
                                            <p:strVal val="#ppt_h"/>
                                          </p:val>
                                        </p:tav>
                                        <p:tav tm="100000">
                                          <p:val>
                                            <p:strVal val="#ppt_h"/>
                                          </p:val>
                                        </p:tav>
                                      </p:tavLst>
                                    </p:anim>
                                    <p:animEffect transition="in" filter="fade">
                                      <p:cBhvr>
                                        <p:cTn id="27" dur="1000"/>
                                        <p:tgtEl>
                                          <p:spTgt spid="1904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90472"/>
                                        </p:tgtEl>
                                        <p:attrNameLst>
                                          <p:attrName>style.visibility</p:attrName>
                                        </p:attrNameLst>
                                      </p:cBhvr>
                                      <p:to>
                                        <p:strVal val="visible"/>
                                      </p:to>
                                    </p:set>
                                    <p:animEffect transition="in" filter="box(in)">
                                      <p:cBhvr>
                                        <p:cTn id="32" dur="500"/>
                                        <p:tgtEl>
                                          <p:spTgt spid="19047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5" presetClass="entr" presetSubtype="0" fill="hold" nodeType="clickEffect">
                                  <p:stCondLst>
                                    <p:cond delay="0"/>
                                  </p:stCondLst>
                                  <p:childTnLst>
                                    <p:set>
                                      <p:cBhvr>
                                        <p:cTn id="36" dur="1" fill="hold">
                                          <p:stCondLst>
                                            <p:cond delay="0"/>
                                          </p:stCondLst>
                                        </p:cTn>
                                        <p:tgtEl>
                                          <p:spTgt spid="190474"/>
                                        </p:tgtEl>
                                        <p:attrNameLst>
                                          <p:attrName>style.visibility</p:attrName>
                                        </p:attrNameLst>
                                      </p:cBhvr>
                                      <p:to>
                                        <p:strVal val="visible"/>
                                      </p:to>
                                    </p:set>
                                    <p:anim calcmode="lin" valueType="num">
                                      <p:cBhvr>
                                        <p:cTn id="37" dur="1000" fill="hold"/>
                                        <p:tgtEl>
                                          <p:spTgt spid="190474"/>
                                        </p:tgtEl>
                                        <p:attrNameLst>
                                          <p:attrName>ppt_w</p:attrName>
                                        </p:attrNameLst>
                                      </p:cBhvr>
                                      <p:tavLst>
                                        <p:tav tm="0">
                                          <p:val>
                                            <p:strVal val="#ppt_w*0.70"/>
                                          </p:val>
                                        </p:tav>
                                        <p:tav tm="100000">
                                          <p:val>
                                            <p:strVal val="#ppt_w"/>
                                          </p:val>
                                        </p:tav>
                                      </p:tavLst>
                                    </p:anim>
                                    <p:anim calcmode="lin" valueType="num">
                                      <p:cBhvr>
                                        <p:cTn id="38" dur="1000" fill="hold"/>
                                        <p:tgtEl>
                                          <p:spTgt spid="190474"/>
                                        </p:tgtEl>
                                        <p:attrNameLst>
                                          <p:attrName>ppt_h</p:attrName>
                                        </p:attrNameLst>
                                      </p:cBhvr>
                                      <p:tavLst>
                                        <p:tav tm="0">
                                          <p:val>
                                            <p:strVal val="#ppt_h"/>
                                          </p:val>
                                        </p:tav>
                                        <p:tav tm="100000">
                                          <p:val>
                                            <p:strVal val="#ppt_h"/>
                                          </p:val>
                                        </p:tav>
                                      </p:tavLst>
                                    </p:anim>
                                    <p:animEffect transition="in" filter="fade">
                                      <p:cBhvr>
                                        <p:cTn id="39" dur="1000"/>
                                        <p:tgtEl>
                                          <p:spTgt spid="19047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190473"/>
                                        </p:tgtEl>
                                        <p:attrNameLst>
                                          <p:attrName>style.visibility</p:attrName>
                                        </p:attrNameLst>
                                      </p:cBhvr>
                                      <p:to>
                                        <p:strVal val="visible"/>
                                      </p:to>
                                    </p:set>
                                    <p:animEffect transition="in" filter="box(in)">
                                      <p:cBhvr>
                                        <p:cTn id="44" dur="500"/>
                                        <p:tgtEl>
                                          <p:spTgt spid="19047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box(in)">
                                      <p:cBhvr>
                                        <p:cTn id="4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8" grpId="0" animBg="1"/>
      <p:bldP spid="190469" grpId="0"/>
      <p:bldP spid="190472" grpId="0"/>
      <p:bldP spid="190473" grpId="0"/>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0"/>
          </p:nvPr>
        </p:nvSpPr>
        <p:spPr/>
        <p:txBody>
          <a:bodyPr/>
          <a:lstStyle/>
          <a:p>
            <a:pPr>
              <a:defRPr/>
            </a:pPr>
            <a:r>
              <a:rPr lang="en-US" altLang="zh-TW"/>
              <a:t>Department of Electrical Engineering</a:t>
            </a:r>
          </a:p>
        </p:txBody>
      </p:sp>
      <p:sp>
        <p:nvSpPr>
          <p:cNvPr id="13"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5B8BDCE1-3525-4471-B871-B7896E6FAC8F}" type="slidenum">
              <a:rPr lang="zh-TW" altLang="en-US" sz="1200" smtClean="0"/>
              <a:pPr>
                <a:spcBef>
                  <a:spcPct val="0"/>
                </a:spcBef>
                <a:buClrTx/>
                <a:buSzTx/>
                <a:buFontTx/>
                <a:buNone/>
                <a:defRPr/>
              </a:pPr>
              <a:t>3</a:t>
            </a:fld>
            <a:endParaRPr lang="en-US" altLang="zh-TW" sz="1200"/>
          </a:p>
        </p:txBody>
      </p:sp>
      <p:sp>
        <p:nvSpPr>
          <p:cNvPr id="216067" name="Rectangle 3"/>
          <p:cNvSpPr>
            <a:spLocks noGrp="1" noChangeArrowheads="1"/>
          </p:cNvSpPr>
          <p:nvPr>
            <p:ph type="body" idx="1"/>
          </p:nvPr>
        </p:nvSpPr>
        <p:spPr>
          <a:xfrm>
            <a:off x="609600" y="1390650"/>
            <a:ext cx="8305800" cy="5024438"/>
          </a:xfrm>
        </p:spPr>
        <p:txBody>
          <a:bodyPr/>
          <a:lstStyle/>
          <a:p>
            <a:pPr eaLnBrk="1" hangingPunct="1">
              <a:buFontTx/>
              <a:buNone/>
              <a:defRPr/>
            </a:pPr>
            <a:r>
              <a:rPr lang="en-US" altLang="zh-TW" dirty="0">
                <a:solidFill>
                  <a:srgbClr val="FFFF00"/>
                </a:solidFill>
                <a:ea typeface="新細明體" panose="02020500000000000000" pitchFamily="18" charset="-120"/>
              </a:rPr>
              <a:t>Code in assembly language to obtain the highest performance</a:t>
            </a:r>
          </a:p>
          <a:p>
            <a:pPr eaLnBrk="1" hangingPunct="1">
              <a:buFont typeface="Wingdings" panose="05000000000000000000" pitchFamily="2" charset="2"/>
              <a:buChar char="v"/>
              <a:defRPr/>
            </a:pPr>
            <a:r>
              <a:rPr lang="en-US" altLang="zh-TW" sz="2800" dirty="0">
                <a:ea typeface="新細明體" panose="02020500000000000000" pitchFamily="18" charset="-120"/>
              </a:rPr>
              <a:t>Compilers register allocation, code scheduling, and many very sophisticated code optimization techniques. </a:t>
            </a:r>
          </a:p>
          <a:p>
            <a:pPr lvl="1" eaLnBrk="1" hangingPunct="1">
              <a:buFont typeface="Wingdings" panose="05000000000000000000" pitchFamily="2" charset="2"/>
              <a:buChar char="v"/>
              <a:defRPr/>
            </a:pPr>
            <a:r>
              <a:rPr lang="en-US" altLang="zh-TW" sz="2400" dirty="0">
                <a:ea typeface="新細明體" panose="02020500000000000000" pitchFamily="18" charset="-120"/>
              </a:rPr>
              <a:t>Such optimizations by hand are error prone. </a:t>
            </a:r>
          </a:p>
          <a:p>
            <a:pPr eaLnBrk="1" hangingPunct="1">
              <a:buClr>
                <a:srgbClr val="FFFF00"/>
              </a:buClr>
              <a:buFont typeface="Wingdings" panose="05000000000000000000" pitchFamily="2" charset="2"/>
              <a:buChar char="v"/>
              <a:defRPr/>
            </a:pPr>
            <a:r>
              <a:rPr lang="en-US" altLang="zh-TW" sz="2800" dirty="0">
                <a:ea typeface="新細明體" panose="02020500000000000000" pitchFamily="18" charset="-120"/>
              </a:rPr>
              <a:t> Compilers usually have the better knowledge of the processor architecture. </a:t>
            </a:r>
          </a:p>
          <a:p>
            <a:pPr eaLnBrk="1" hangingPunct="1">
              <a:buClr>
                <a:srgbClr val="FFFF00"/>
              </a:buClr>
              <a:buFont typeface="Wingdings" panose="05000000000000000000" pitchFamily="2" charset="2"/>
              <a:buChar char="v"/>
              <a:defRPr/>
            </a:pPr>
            <a:r>
              <a:rPr lang="en-US" altLang="zh-TW" sz="2800" i="1" dirty="0">
                <a:solidFill>
                  <a:srgbClr val="FFFF00"/>
                </a:solidFill>
                <a:ea typeface="新細明體" panose="02020500000000000000" pitchFamily="18" charset="-120"/>
              </a:rPr>
              <a:t> </a:t>
            </a:r>
            <a:r>
              <a:rPr lang="en-US" altLang="zh-TW" sz="2800" b="1" dirty="0">
                <a:solidFill>
                  <a:srgbClr val="FF0000"/>
                </a:solidFill>
                <a:ea typeface="新細明體" panose="02020500000000000000" pitchFamily="18" charset="-120"/>
              </a:rPr>
              <a:t>Software crisis: </a:t>
            </a:r>
            <a:r>
              <a:rPr lang="en-US" altLang="zh-TW" sz="2800" i="1" dirty="0">
                <a:solidFill>
                  <a:srgbClr val="FFFF00"/>
                </a:solidFill>
                <a:ea typeface="新細明體" panose="02020500000000000000" pitchFamily="18" charset="-120"/>
              </a:rPr>
              <a:t>High-level languages for productivity, maintainability, portability, ease of debugging, code reusability</a:t>
            </a:r>
            <a:r>
              <a:rPr lang="en-US" altLang="zh-TW" sz="2800" dirty="0">
                <a:ea typeface="新細明體" panose="02020500000000000000" pitchFamily="18" charset="-120"/>
              </a:rPr>
              <a:t>.  </a:t>
            </a:r>
          </a:p>
        </p:txBody>
      </p:sp>
      <p:sp>
        <p:nvSpPr>
          <p:cNvPr id="5" name="Rectangle 2"/>
          <p:cNvSpPr>
            <a:spLocks noGrp="1" noChangeArrowheads="1"/>
          </p:cNvSpPr>
          <p:nvPr>
            <p:ph type="title"/>
          </p:nvPr>
        </p:nvSpPr>
        <p:spPr>
          <a:xfrm>
            <a:off x="457200" y="277813"/>
            <a:ext cx="8229600" cy="990600"/>
          </a:xfrm>
        </p:spPr>
        <p:txBody>
          <a:bodyPr/>
          <a:lstStyle/>
          <a:p>
            <a:pPr eaLnBrk="1" hangingPunct="1">
              <a:defRPr/>
            </a:pPr>
            <a:r>
              <a:rPr lang="en-US" altLang="zh-TW" dirty="0">
                <a:ea typeface="新細明體" pitchFamily="18" charset="-120"/>
              </a:rPr>
              <a:t>Fallacy and Facts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0"/>
          </p:nvPr>
        </p:nvSpPr>
        <p:spPr/>
        <p:txBody>
          <a:bodyPr/>
          <a:lstStyle/>
          <a:p>
            <a:pPr>
              <a:defRPr/>
            </a:pPr>
            <a:r>
              <a:rPr lang="en-US" altLang="zh-TW"/>
              <a:t>Department of Electrical Engineering</a:t>
            </a:r>
          </a:p>
        </p:txBody>
      </p:sp>
      <p:sp>
        <p:nvSpPr>
          <p:cNvPr id="13"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0063E2CD-B6FF-4050-ACCE-EF791E87A6F7}" type="slidenum">
              <a:rPr lang="zh-TW" altLang="en-US" sz="1200" smtClean="0"/>
              <a:pPr>
                <a:spcBef>
                  <a:spcPct val="0"/>
                </a:spcBef>
                <a:buClrTx/>
                <a:buSzTx/>
                <a:buFontTx/>
                <a:buNone/>
                <a:defRPr/>
              </a:pPr>
              <a:t>4</a:t>
            </a:fld>
            <a:endParaRPr lang="en-US" altLang="zh-TW" sz="1200"/>
          </a:p>
        </p:txBody>
      </p:sp>
      <p:pic>
        <p:nvPicPr>
          <p:cNvPr id="23556" name="Picture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81000" y="528638"/>
            <a:ext cx="6324600" cy="571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Rectangle 3"/>
          <p:cNvSpPr>
            <a:spLocks noChangeArrowheads="1"/>
          </p:cNvSpPr>
          <p:nvPr/>
        </p:nvSpPr>
        <p:spPr bwMode="auto">
          <a:xfrm>
            <a:off x="6781800" y="542925"/>
            <a:ext cx="2286000" cy="5718175"/>
          </a:xfrm>
          <a:prstGeom prst="rect">
            <a:avLst/>
          </a:prstGeom>
          <a:solidFill>
            <a:schemeClr val="tx1"/>
          </a:solidFill>
          <a:ln w="9525" algn="ctr">
            <a:solidFill>
              <a:schemeClr val="tx1"/>
            </a:solidFill>
            <a:round/>
            <a:headEnd/>
            <a:tailEnd/>
          </a:ln>
        </p:spPr>
        <p:txBody>
          <a:bodyPr/>
          <a:lstStyle>
            <a:lvl1pPr marL="285750" indent="-285750">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Char char="-"/>
            </a:pPr>
            <a:r>
              <a:rPr lang="en-US" altLang="en-US" sz="1600">
                <a:solidFill>
                  <a:srgbClr val="FF0000"/>
                </a:solidFill>
              </a:rPr>
              <a:t>Micro-architectures</a:t>
            </a:r>
            <a:r>
              <a:rPr lang="en-US" altLang="en-US" sz="1600">
                <a:solidFill>
                  <a:schemeClr val="bg1"/>
                </a:solidFill>
              </a:rPr>
              <a:t> are getting increasingly more complex, writing assembly code to obtain high performance is no longer a manageable task. </a:t>
            </a:r>
          </a:p>
          <a:p>
            <a:pPr>
              <a:spcBef>
                <a:spcPct val="0"/>
              </a:spcBef>
              <a:buClrTx/>
              <a:buSzTx/>
              <a:buFontTx/>
              <a:buChar char="-"/>
            </a:pPr>
            <a:r>
              <a:rPr lang="en-US" altLang="en-US" sz="1600">
                <a:solidFill>
                  <a:schemeClr val="bg1"/>
                </a:solidFill>
              </a:rPr>
              <a:t>Micro-architectures are company IP, for example, Intel would not give out all details of x86 micro-architectures. </a:t>
            </a:r>
          </a:p>
          <a:p>
            <a:pPr>
              <a:spcBef>
                <a:spcPct val="0"/>
              </a:spcBef>
              <a:buClrTx/>
              <a:buSzTx/>
              <a:buFontTx/>
              <a:buChar char="-"/>
            </a:pPr>
            <a:r>
              <a:rPr lang="en-US" altLang="en-US" sz="1600">
                <a:solidFill>
                  <a:schemeClr val="bg1"/>
                </a:solidFill>
              </a:rPr>
              <a:t>For dynamic, OOO processors, it is hard for a programmer to know how to write a high performance code. Should leave this job to experts.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0"/>
          </p:nvPr>
        </p:nvSpPr>
        <p:spPr/>
        <p:txBody>
          <a:bodyPr/>
          <a:lstStyle/>
          <a:p>
            <a:pPr>
              <a:defRPr/>
            </a:pPr>
            <a:r>
              <a:rPr lang="en-US" altLang="zh-TW"/>
              <a:t>Department of Electrical Engineering</a:t>
            </a:r>
          </a:p>
        </p:txBody>
      </p:sp>
      <p:sp>
        <p:nvSpPr>
          <p:cNvPr id="13"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8AED6032-81A5-4529-A389-1756A4C7840B}" type="slidenum">
              <a:rPr lang="zh-TW" altLang="en-US" sz="1200" smtClean="0"/>
              <a:pPr>
                <a:spcBef>
                  <a:spcPct val="0"/>
                </a:spcBef>
                <a:buClrTx/>
                <a:buSzTx/>
                <a:buFontTx/>
                <a:buNone/>
                <a:defRPr/>
              </a:pPr>
              <a:t>5</a:t>
            </a:fld>
            <a:endParaRPr lang="en-US" altLang="zh-TW" sz="1200"/>
          </a:p>
        </p:txBody>
      </p:sp>
      <p:sp>
        <p:nvSpPr>
          <p:cNvPr id="216067" name="Rectangle 3"/>
          <p:cNvSpPr>
            <a:spLocks noGrp="1" noChangeArrowheads="1"/>
          </p:cNvSpPr>
          <p:nvPr>
            <p:ph type="body" idx="1"/>
          </p:nvPr>
        </p:nvSpPr>
        <p:spPr>
          <a:xfrm>
            <a:off x="685800" y="1600200"/>
            <a:ext cx="7772400" cy="4953000"/>
          </a:xfrm>
        </p:spPr>
        <p:txBody>
          <a:bodyPr/>
          <a:lstStyle/>
          <a:p>
            <a:pPr eaLnBrk="1" hangingPunct="1">
              <a:buFont typeface="Wingdings" panose="05000000000000000000" pitchFamily="2" charset="2"/>
              <a:buChar char="n"/>
              <a:defRPr/>
            </a:pPr>
            <a:r>
              <a:rPr lang="en-US" altLang="zh-TW" dirty="0">
                <a:ea typeface="新細明體" panose="02020500000000000000" pitchFamily="18" charset="-120"/>
              </a:rPr>
              <a:t>reads a program written in a </a:t>
            </a:r>
            <a:r>
              <a:rPr lang="en-US" altLang="zh-TW" i="1" dirty="0">
                <a:ea typeface="新細明體" panose="02020500000000000000" pitchFamily="18" charset="-120"/>
              </a:rPr>
              <a:t>source language</a:t>
            </a:r>
            <a:r>
              <a:rPr lang="en-US" altLang="zh-TW" dirty="0">
                <a:ea typeface="新細明體" panose="02020500000000000000" pitchFamily="18" charset="-120"/>
              </a:rPr>
              <a:t> and </a:t>
            </a:r>
          </a:p>
          <a:p>
            <a:pPr eaLnBrk="1" hangingPunct="1">
              <a:buFont typeface="Wingdings" panose="05000000000000000000" pitchFamily="2" charset="2"/>
              <a:buChar char="n"/>
              <a:defRPr/>
            </a:pPr>
            <a:r>
              <a:rPr lang="en-US" altLang="zh-TW" dirty="0">
                <a:ea typeface="新細明體" panose="02020500000000000000" pitchFamily="18" charset="-120"/>
              </a:rPr>
              <a:t>translate it into an equivalent program in </a:t>
            </a:r>
            <a:r>
              <a:rPr lang="en-US" altLang="zh-TW" i="1" dirty="0">
                <a:solidFill>
                  <a:srgbClr val="66FF33"/>
                </a:solidFill>
                <a:ea typeface="新細明體" panose="02020500000000000000" pitchFamily="18" charset="-120"/>
              </a:rPr>
              <a:t>target language</a:t>
            </a:r>
            <a:r>
              <a:rPr lang="en-US" altLang="zh-TW" dirty="0">
                <a:ea typeface="新細明體" panose="02020500000000000000" pitchFamily="18" charset="-120"/>
              </a:rPr>
              <a:t>. </a:t>
            </a:r>
          </a:p>
          <a:p>
            <a:pPr lvl="1" eaLnBrk="1" hangingPunct="1">
              <a:buFontTx/>
              <a:buNone/>
              <a:defRPr/>
            </a:pPr>
            <a:endParaRPr lang="zh-TW" altLang="en-US" dirty="0">
              <a:ea typeface="新細明體" panose="02020500000000000000" pitchFamily="18" charset="-120"/>
            </a:endParaRPr>
          </a:p>
        </p:txBody>
      </p:sp>
      <p:sp>
        <p:nvSpPr>
          <p:cNvPr id="24581" name="Rectangle 4"/>
          <p:cNvSpPr>
            <a:spLocks noChangeArrowheads="1"/>
          </p:cNvSpPr>
          <p:nvPr/>
        </p:nvSpPr>
        <p:spPr bwMode="auto">
          <a:xfrm>
            <a:off x="2590800" y="4038600"/>
            <a:ext cx="3657600" cy="1447800"/>
          </a:xfrm>
          <a:prstGeom prst="rect">
            <a:avLst/>
          </a:prstGeom>
          <a:solidFill>
            <a:srgbClr val="00FF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3600" b="1">
                <a:solidFill>
                  <a:srgbClr val="0033CC"/>
                </a:solidFill>
                <a:latin typeface="Times New Roman" panose="02020603050405020304" pitchFamily="18" charset="0"/>
                <a:ea typeface="新細明體" panose="02020500000000000000" pitchFamily="18" charset="-120"/>
              </a:rPr>
              <a:t>Compiler</a:t>
            </a:r>
          </a:p>
        </p:txBody>
      </p:sp>
      <p:sp>
        <p:nvSpPr>
          <p:cNvPr id="24582" name="Text Box 5"/>
          <p:cNvSpPr txBox="1">
            <a:spLocks noChangeArrowheads="1"/>
          </p:cNvSpPr>
          <p:nvPr/>
        </p:nvSpPr>
        <p:spPr bwMode="auto">
          <a:xfrm>
            <a:off x="762000" y="4343400"/>
            <a:ext cx="1295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Source</a:t>
            </a:r>
          </a:p>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program</a:t>
            </a:r>
          </a:p>
        </p:txBody>
      </p:sp>
      <p:sp>
        <p:nvSpPr>
          <p:cNvPr id="24583" name="Line 6"/>
          <p:cNvSpPr>
            <a:spLocks noChangeShapeType="1"/>
          </p:cNvSpPr>
          <p:nvPr/>
        </p:nvSpPr>
        <p:spPr bwMode="auto">
          <a:xfrm>
            <a:off x="1905000" y="4800600"/>
            <a:ext cx="685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24584" name="Line 7"/>
          <p:cNvSpPr>
            <a:spLocks noChangeShapeType="1"/>
          </p:cNvSpPr>
          <p:nvPr/>
        </p:nvSpPr>
        <p:spPr bwMode="auto">
          <a:xfrm>
            <a:off x="6324600" y="4724400"/>
            <a:ext cx="685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24585" name="Text Box 8"/>
          <p:cNvSpPr txBox="1">
            <a:spLocks noChangeArrowheads="1"/>
          </p:cNvSpPr>
          <p:nvPr/>
        </p:nvSpPr>
        <p:spPr bwMode="auto">
          <a:xfrm>
            <a:off x="7086600" y="4343400"/>
            <a:ext cx="1447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Target</a:t>
            </a:r>
          </a:p>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Program</a:t>
            </a:r>
          </a:p>
        </p:txBody>
      </p:sp>
      <p:sp>
        <p:nvSpPr>
          <p:cNvPr id="24586" name="Text Box 9"/>
          <p:cNvSpPr txBox="1">
            <a:spLocks noChangeArrowheads="1"/>
          </p:cNvSpPr>
          <p:nvPr/>
        </p:nvSpPr>
        <p:spPr bwMode="auto">
          <a:xfrm>
            <a:off x="3352800" y="58674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Error messages</a:t>
            </a:r>
          </a:p>
        </p:txBody>
      </p:sp>
      <p:sp>
        <p:nvSpPr>
          <p:cNvPr id="24587" name="Line 10"/>
          <p:cNvSpPr>
            <a:spLocks noChangeShapeType="1"/>
          </p:cNvSpPr>
          <p:nvPr/>
        </p:nvSpPr>
        <p:spPr bwMode="auto">
          <a:xfrm>
            <a:off x="4343400" y="5486400"/>
            <a:ext cx="0" cy="4572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14" name="Rectangle 2"/>
          <p:cNvSpPr>
            <a:spLocks noGrp="1" noChangeArrowheads="1"/>
          </p:cNvSpPr>
          <p:nvPr>
            <p:ph type="title"/>
          </p:nvPr>
        </p:nvSpPr>
        <p:spPr>
          <a:xfrm>
            <a:off x="457200" y="277813"/>
            <a:ext cx="8229600" cy="990600"/>
          </a:xfrm>
        </p:spPr>
        <p:txBody>
          <a:bodyPr/>
          <a:lstStyle/>
          <a:p>
            <a:pPr eaLnBrk="1" hangingPunct="1">
              <a:defRPr/>
            </a:pPr>
            <a:r>
              <a:rPr lang="en-US" altLang="zh-TW" dirty="0">
                <a:ea typeface="新細明體" pitchFamily="18" charset="-120"/>
              </a:rPr>
              <a:t>What is a compiler? </a:t>
            </a:r>
            <a:br>
              <a:rPr lang="en-US" altLang="zh-TW" dirty="0">
                <a:ea typeface="新細明體" pitchFamily="18" charset="-120"/>
              </a:rPr>
            </a:br>
            <a:r>
              <a:rPr lang="en-US" altLang="zh-TW" dirty="0">
                <a:ea typeface="新細明體" pitchFamily="18" charset="-120"/>
              </a:rPr>
              <a:t>(broader meaning)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206BF6D2-0F5A-4252-A7E4-4C85CE4554AE}" type="slidenum">
              <a:rPr lang="zh-TW" altLang="en-US" sz="1200" smtClean="0"/>
              <a:pPr>
                <a:spcBef>
                  <a:spcPct val="0"/>
                </a:spcBef>
                <a:buClrTx/>
                <a:buSzTx/>
                <a:buFontTx/>
                <a:buNone/>
                <a:defRPr/>
              </a:pPr>
              <a:t>6</a:t>
            </a:fld>
            <a:endParaRPr lang="en-US" altLang="zh-TW" sz="1200" dirty="0"/>
          </a:p>
        </p:txBody>
      </p:sp>
      <p:sp>
        <p:nvSpPr>
          <p:cNvPr id="191490" name="Rectangle 2"/>
          <p:cNvSpPr>
            <a:spLocks noGrp="1" noChangeArrowheads="1"/>
          </p:cNvSpPr>
          <p:nvPr>
            <p:ph type="title"/>
          </p:nvPr>
        </p:nvSpPr>
        <p:spPr>
          <a:xfrm>
            <a:off x="381000" y="354013"/>
            <a:ext cx="8229600" cy="533400"/>
          </a:xfrm>
        </p:spPr>
        <p:txBody>
          <a:bodyPr/>
          <a:lstStyle/>
          <a:p>
            <a:pPr eaLnBrk="1" hangingPunct="1">
              <a:defRPr/>
            </a:pPr>
            <a:r>
              <a:rPr lang="en-US" altLang="zh-TW" sz="4000" dirty="0">
                <a:ea typeface="新細明體" pitchFamily="18" charset="-120"/>
              </a:rPr>
              <a:t>What Do Compilers Do?</a:t>
            </a:r>
          </a:p>
        </p:txBody>
      </p:sp>
      <p:sp>
        <p:nvSpPr>
          <p:cNvPr id="191491" name="Rectangle 3"/>
          <p:cNvSpPr>
            <a:spLocks noGrp="1" noChangeArrowheads="1"/>
          </p:cNvSpPr>
          <p:nvPr>
            <p:ph type="body" idx="1"/>
          </p:nvPr>
        </p:nvSpPr>
        <p:spPr>
          <a:xfrm>
            <a:off x="685800" y="1044575"/>
            <a:ext cx="7772400" cy="4572000"/>
          </a:xfrm>
        </p:spPr>
        <p:txBody>
          <a:bodyPr/>
          <a:lstStyle/>
          <a:p>
            <a:pPr eaLnBrk="1" hangingPunct="1">
              <a:lnSpc>
                <a:spcPct val="80000"/>
              </a:lnSpc>
              <a:defRPr/>
            </a:pPr>
            <a:r>
              <a:rPr lang="en-US" altLang="zh-TW" sz="2800" dirty="0">
                <a:ea typeface="新細明體" pitchFamily="18" charset="-120"/>
              </a:rPr>
              <a:t>Source language: </a:t>
            </a:r>
          </a:p>
          <a:p>
            <a:pPr lvl="1" eaLnBrk="1" hangingPunct="1">
              <a:lnSpc>
                <a:spcPct val="80000"/>
              </a:lnSpc>
              <a:buFontTx/>
              <a:buNone/>
              <a:defRPr/>
            </a:pPr>
            <a:r>
              <a:rPr lang="en-US" altLang="zh-TW" sz="2400" dirty="0">
                <a:ea typeface="新細明體" pitchFamily="18" charset="-120"/>
              </a:rPr>
              <a:t>	</a:t>
            </a:r>
            <a:r>
              <a:rPr lang="en-US" altLang="zh-TW" sz="2400" dirty="0">
                <a:solidFill>
                  <a:srgbClr val="FFFF00"/>
                </a:solidFill>
                <a:ea typeface="新細明體" pitchFamily="18" charset="-120"/>
              </a:rPr>
              <a:t>High-level programming languages, </a:t>
            </a:r>
          </a:p>
          <a:p>
            <a:pPr lvl="1" eaLnBrk="1" hangingPunct="1">
              <a:lnSpc>
                <a:spcPct val="80000"/>
              </a:lnSpc>
              <a:buFontTx/>
              <a:buNone/>
              <a:defRPr/>
            </a:pPr>
            <a:r>
              <a:rPr lang="en-US" altLang="zh-TW" sz="2400" dirty="0">
                <a:ea typeface="新細明體" pitchFamily="18" charset="-120"/>
              </a:rPr>
              <a:t>	</a:t>
            </a:r>
            <a:r>
              <a:rPr lang="en-US" altLang="zh-TW" sz="2400" dirty="0">
                <a:solidFill>
                  <a:srgbClr val="A7F864"/>
                </a:solidFill>
                <a:ea typeface="新細明體" pitchFamily="18" charset="-120"/>
              </a:rPr>
              <a:t>Text-formatting languages, (e.g. </a:t>
            </a:r>
            <a:r>
              <a:rPr lang="en-US" altLang="zh-TW" sz="2400" dirty="0" err="1">
                <a:solidFill>
                  <a:srgbClr val="A7F864"/>
                </a:solidFill>
                <a:ea typeface="新細明體" pitchFamily="18" charset="-120"/>
              </a:rPr>
              <a:t>LaTex</a:t>
            </a:r>
            <a:r>
              <a:rPr lang="en-US" altLang="zh-TW" sz="2400" dirty="0">
                <a:solidFill>
                  <a:srgbClr val="A7F864"/>
                </a:solidFill>
                <a:ea typeface="新細明體" pitchFamily="18" charset="-120"/>
              </a:rPr>
              <a:t>)</a:t>
            </a:r>
          </a:p>
          <a:p>
            <a:pPr lvl="1" eaLnBrk="1" hangingPunct="1">
              <a:lnSpc>
                <a:spcPct val="80000"/>
              </a:lnSpc>
              <a:buFontTx/>
              <a:buNone/>
              <a:defRPr/>
            </a:pPr>
            <a:r>
              <a:rPr lang="en-US" altLang="zh-TW" sz="2400" dirty="0">
                <a:ea typeface="新細明體" pitchFamily="18" charset="-120"/>
              </a:rPr>
              <a:t>	</a:t>
            </a:r>
            <a:r>
              <a:rPr lang="en-US" altLang="zh-TW" sz="2400" dirty="0">
                <a:solidFill>
                  <a:srgbClr val="FFC000"/>
                </a:solidFill>
                <a:ea typeface="新細明體" pitchFamily="18" charset="-120"/>
              </a:rPr>
              <a:t>Logic-level specification languages (e.g. HDL)</a:t>
            </a:r>
          </a:p>
          <a:p>
            <a:pPr lvl="1" eaLnBrk="1" hangingPunct="1">
              <a:lnSpc>
                <a:spcPct val="80000"/>
              </a:lnSpc>
              <a:buFontTx/>
              <a:buNone/>
              <a:defRPr/>
            </a:pPr>
            <a:r>
              <a:rPr lang="en-US" altLang="zh-TW" sz="2400" dirty="0">
                <a:ea typeface="新細明體" pitchFamily="18" charset="-120"/>
              </a:rPr>
              <a:t>    </a:t>
            </a:r>
            <a:r>
              <a:rPr lang="en-US" altLang="zh-TW" sz="2400" dirty="0">
                <a:solidFill>
                  <a:srgbClr val="00B0F0"/>
                </a:solidFill>
                <a:ea typeface="新細明體" pitchFamily="18" charset="-120"/>
              </a:rPr>
              <a:t>Application binaries in one ISA (e.g. x86/ARM)</a:t>
            </a:r>
          </a:p>
          <a:p>
            <a:pPr lvl="1" eaLnBrk="1" hangingPunct="1">
              <a:lnSpc>
                <a:spcPct val="80000"/>
              </a:lnSpc>
              <a:buFontTx/>
              <a:buNone/>
              <a:defRPr/>
            </a:pPr>
            <a:r>
              <a:rPr lang="en-US" altLang="zh-TW" sz="2400" dirty="0">
                <a:solidFill>
                  <a:srgbClr val="00B0F0"/>
                </a:solidFill>
                <a:ea typeface="新細明體" pitchFamily="18" charset="-120"/>
              </a:rPr>
              <a:t>	</a:t>
            </a:r>
            <a:r>
              <a:rPr lang="en-US" altLang="zh-TW" sz="2400" dirty="0" err="1">
                <a:solidFill>
                  <a:schemeClr val="accent6">
                    <a:lumMod val="40000"/>
                    <a:lumOff val="60000"/>
                  </a:schemeClr>
                </a:solidFill>
                <a:ea typeface="新細明體" pitchFamily="18" charset="-120"/>
              </a:rPr>
              <a:t>DataBase</a:t>
            </a:r>
            <a:r>
              <a:rPr lang="en-US" altLang="zh-TW" sz="2400" dirty="0">
                <a:solidFill>
                  <a:schemeClr val="accent6">
                    <a:lumMod val="40000"/>
                    <a:lumOff val="60000"/>
                  </a:schemeClr>
                </a:solidFill>
                <a:ea typeface="新細明體" pitchFamily="18" charset="-120"/>
              </a:rPr>
              <a:t> Query Languages</a:t>
            </a:r>
          </a:p>
          <a:p>
            <a:pPr eaLnBrk="1" hangingPunct="1">
              <a:lnSpc>
                <a:spcPct val="80000"/>
              </a:lnSpc>
              <a:defRPr/>
            </a:pPr>
            <a:r>
              <a:rPr lang="en-US" altLang="zh-TW" sz="2800" dirty="0">
                <a:ea typeface="新細明體" pitchFamily="18" charset="-120"/>
              </a:rPr>
              <a:t>Target language:</a:t>
            </a:r>
          </a:p>
          <a:p>
            <a:pPr lvl="1" eaLnBrk="1" hangingPunct="1">
              <a:lnSpc>
                <a:spcPct val="80000"/>
              </a:lnSpc>
              <a:buFontTx/>
              <a:buNone/>
              <a:defRPr/>
            </a:pPr>
            <a:r>
              <a:rPr lang="en-US" altLang="zh-TW" sz="2400" dirty="0">
                <a:ea typeface="新細明體" pitchFamily="18" charset="-120"/>
              </a:rPr>
              <a:t>	</a:t>
            </a:r>
            <a:r>
              <a:rPr lang="en-US" altLang="zh-TW" sz="2400" dirty="0">
                <a:solidFill>
                  <a:srgbClr val="FFFF00"/>
                </a:solidFill>
                <a:ea typeface="新細明體" pitchFamily="18" charset="-120"/>
              </a:rPr>
              <a:t>Machine languages, </a:t>
            </a:r>
          </a:p>
          <a:p>
            <a:pPr lvl="1" eaLnBrk="1" hangingPunct="1">
              <a:lnSpc>
                <a:spcPct val="80000"/>
              </a:lnSpc>
              <a:buFontTx/>
              <a:buNone/>
              <a:defRPr/>
            </a:pPr>
            <a:r>
              <a:rPr lang="en-US" altLang="zh-TW" sz="2400" dirty="0">
                <a:solidFill>
                  <a:srgbClr val="FFFF00"/>
                </a:solidFill>
                <a:ea typeface="新細明體" pitchFamily="18" charset="-120"/>
              </a:rPr>
              <a:t>	Other high-level PL, </a:t>
            </a:r>
          </a:p>
          <a:p>
            <a:pPr lvl="1" eaLnBrk="1" hangingPunct="1">
              <a:lnSpc>
                <a:spcPct val="80000"/>
              </a:lnSpc>
              <a:buFontTx/>
              <a:buNone/>
              <a:defRPr/>
            </a:pPr>
            <a:r>
              <a:rPr lang="en-US" altLang="zh-TW" sz="2400" dirty="0">
                <a:ea typeface="新細明體" pitchFamily="18" charset="-120"/>
              </a:rPr>
              <a:t>	</a:t>
            </a:r>
            <a:r>
              <a:rPr lang="en-US" altLang="zh-TW" sz="2400" dirty="0">
                <a:solidFill>
                  <a:srgbClr val="A7F864"/>
                </a:solidFill>
                <a:ea typeface="新細明體" pitchFamily="18" charset="-120"/>
              </a:rPr>
              <a:t>Typesetting commands, </a:t>
            </a:r>
          </a:p>
          <a:p>
            <a:pPr lvl="1" eaLnBrk="1" hangingPunct="1">
              <a:lnSpc>
                <a:spcPct val="80000"/>
              </a:lnSpc>
              <a:buFontTx/>
              <a:buNone/>
              <a:defRPr/>
            </a:pPr>
            <a:r>
              <a:rPr lang="en-US" altLang="zh-TW" sz="2400" dirty="0">
                <a:ea typeface="新細明體" pitchFamily="18" charset="-120"/>
              </a:rPr>
              <a:t>	</a:t>
            </a:r>
            <a:r>
              <a:rPr lang="en-US" altLang="zh-TW" sz="2400" dirty="0">
                <a:solidFill>
                  <a:srgbClr val="FFC000"/>
                </a:solidFill>
                <a:ea typeface="新細明體" pitchFamily="18" charset="-120"/>
              </a:rPr>
              <a:t>VLSI layout</a:t>
            </a:r>
          </a:p>
          <a:p>
            <a:pPr lvl="1" eaLnBrk="1" hangingPunct="1">
              <a:lnSpc>
                <a:spcPct val="80000"/>
              </a:lnSpc>
              <a:buFontTx/>
              <a:buNone/>
              <a:defRPr/>
            </a:pPr>
            <a:r>
              <a:rPr lang="en-US" altLang="zh-TW" sz="2400" dirty="0">
                <a:ea typeface="新細明體" pitchFamily="18" charset="-120"/>
              </a:rPr>
              <a:t>    </a:t>
            </a:r>
            <a:r>
              <a:rPr lang="en-US" altLang="zh-TW" sz="2400" dirty="0">
                <a:solidFill>
                  <a:srgbClr val="00B0F0"/>
                </a:solidFill>
                <a:ea typeface="新細明體" pitchFamily="18" charset="-120"/>
              </a:rPr>
              <a:t>Other ISAs</a:t>
            </a:r>
          </a:p>
          <a:p>
            <a:pPr lvl="1" eaLnBrk="1" hangingPunct="1">
              <a:lnSpc>
                <a:spcPct val="80000"/>
              </a:lnSpc>
              <a:buFontTx/>
              <a:buNone/>
              <a:defRPr/>
            </a:pPr>
            <a:r>
              <a:rPr lang="en-US" altLang="zh-TW" sz="2400" dirty="0">
                <a:solidFill>
                  <a:srgbClr val="00B0F0"/>
                </a:solidFill>
                <a:ea typeface="新細明體" pitchFamily="18" charset="-120"/>
              </a:rPr>
              <a:t>	</a:t>
            </a:r>
            <a:r>
              <a:rPr lang="en-US" altLang="zh-TW" sz="2400" dirty="0" err="1">
                <a:solidFill>
                  <a:schemeClr val="accent6">
                    <a:lumMod val="40000"/>
                    <a:lumOff val="60000"/>
                  </a:schemeClr>
                </a:solidFill>
                <a:ea typeface="新細明體" pitchFamily="18" charset="-120"/>
              </a:rPr>
              <a:t>DataBase</a:t>
            </a:r>
            <a:r>
              <a:rPr lang="en-US" altLang="zh-TW" sz="2400" dirty="0">
                <a:solidFill>
                  <a:schemeClr val="accent6">
                    <a:lumMod val="40000"/>
                    <a:lumOff val="60000"/>
                  </a:schemeClr>
                </a:solidFill>
                <a:ea typeface="新細明體" pitchFamily="18" charset="-120"/>
              </a:rPr>
              <a:t> Access Methods</a:t>
            </a:r>
          </a:p>
          <a:p>
            <a:pPr lvl="1" eaLnBrk="1" hangingPunct="1">
              <a:lnSpc>
                <a:spcPct val="80000"/>
              </a:lnSpc>
              <a:buFontTx/>
              <a:buNone/>
              <a:defRPr/>
            </a:pPr>
            <a:r>
              <a:rPr lang="en-US" altLang="zh-TW" sz="2400" dirty="0">
                <a:ea typeface="新細明體" pitchFamily="18" charset="-120"/>
              </a:rPr>
              <a:t> </a:t>
            </a:r>
          </a:p>
        </p:txBody>
      </p:sp>
      <p:sp>
        <p:nvSpPr>
          <p:cNvPr id="2" name="TextBox 1"/>
          <p:cNvSpPr txBox="1">
            <a:spLocks noChangeArrowheads="1"/>
          </p:cNvSpPr>
          <p:nvPr/>
        </p:nvSpPr>
        <p:spPr bwMode="auto">
          <a:xfrm>
            <a:off x="601663" y="5859463"/>
            <a:ext cx="7275512"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marL="0" lvl="1">
              <a:spcBef>
                <a:spcPct val="0"/>
              </a:spcBef>
              <a:buFontTx/>
              <a:buNone/>
            </a:pPr>
            <a:r>
              <a:rPr lang="en-US" altLang="zh-TW" i="1">
                <a:solidFill>
                  <a:srgbClr val="FFFF00"/>
                </a:solidFill>
                <a:ea typeface="新細明體" panose="02020500000000000000" pitchFamily="18" charset="-120"/>
              </a:rPr>
              <a:t>Compiler technology can be broadly applied</a:t>
            </a:r>
          </a:p>
          <a:p>
            <a:pPr>
              <a:spcBef>
                <a:spcPct val="0"/>
              </a:spcBef>
              <a:buClrTx/>
              <a:buSzTx/>
              <a:buFontTx/>
              <a:buNone/>
            </a:pPr>
            <a:endParaRPr lang="zh-TW" altLang="en-US" sz="1800">
              <a:ea typeface="新細明體" panose="02020500000000000000"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1491">
                                            <p:txEl>
                                              <p:pRg st="8" end="8"/>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9149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1491">
                                            <p:txEl>
                                              <p:pRg st="9" end="9"/>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91491">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1491">
                                            <p:txEl>
                                              <p:pRg st="10" end="1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91491">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1491">
                                            <p:txEl>
                                              <p:pRg st="11" end="11"/>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91491">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1491">
                                            <p:txEl>
                                              <p:pRg st="12" end="12"/>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531541-295C-444F-9A36-AAE493E13864}"/>
              </a:ext>
            </a:extLst>
          </p:cNvPr>
          <p:cNvSpPr>
            <a:spLocks noGrp="1"/>
          </p:cNvSpPr>
          <p:nvPr>
            <p:ph type="title"/>
          </p:nvPr>
        </p:nvSpPr>
        <p:spPr/>
        <p:txBody>
          <a:bodyPr/>
          <a:lstStyle/>
          <a:p>
            <a:r>
              <a:rPr lang="en-US" altLang="zh-TW" dirty="0"/>
              <a:t>2025/09/05 stopped here</a:t>
            </a:r>
            <a:endParaRPr lang="zh-TW" altLang="en-US" dirty="0"/>
          </a:p>
        </p:txBody>
      </p:sp>
      <p:sp>
        <p:nvSpPr>
          <p:cNvPr id="3" name="內容版面配置區 2">
            <a:extLst>
              <a:ext uri="{FF2B5EF4-FFF2-40B4-BE49-F238E27FC236}">
                <a16:creationId xmlns:a16="http://schemas.microsoft.com/office/drawing/2014/main" id="{ECA0D3E2-07A4-4D40-8C98-A71774251633}"/>
              </a:ext>
            </a:extLst>
          </p:cNvPr>
          <p:cNvSpPr>
            <a:spLocks noGrp="1"/>
          </p:cNvSpPr>
          <p:nvPr>
            <p:ph idx="1"/>
          </p:nvPr>
        </p:nvSpPr>
        <p:spPr/>
        <p:txBody>
          <a:bodyPr/>
          <a:lstStyle/>
          <a:p>
            <a:endParaRPr lang="zh-TW" altLang="en-US"/>
          </a:p>
        </p:txBody>
      </p:sp>
      <p:sp>
        <p:nvSpPr>
          <p:cNvPr id="4" name="頁尾版面配置區 3">
            <a:extLst>
              <a:ext uri="{FF2B5EF4-FFF2-40B4-BE49-F238E27FC236}">
                <a16:creationId xmlns:a16="http://schemas.microsoft.com/office/drawing/2014/main" id="{92C4571A-299B-41BA-8FE2-C095F870608A}"/>
              </a:ext>
            </a:extLst>
          </p:cNvPr>
          <p:cNvSpPr>
            <a:spLocks noGrp="1"/>
          </p:cNvSpPr>
          <p:nvPr>
            <p:ph type="ftr" sz="quarter" idx="10"/>
          </p:nvPr>
        </p:nvSpPr>
        <p:spPr/>
        <p:txBody>
          <a:bodyPr/>
          <a:lstStyle/>
          <a:p>
            <a:pPr>
              <a:defRPr/>
            </a:pPr>
            <a:r>
              <a:rPr lang="en-US" altLang="zh-TW"/>
              <a:t>Department of Electrical Engineering</a:t>
            </a:r>
          </a:p>
        </p:txBody>
      </p:sp>
    </p:spTree>
    <p:extLst>
      <p:ext uri="{BB962C8B-B14F-4D97-AF65-F5344CB8AC3E}">
        <p14:creationId xmlns:p14="http://schemas.microsoft.com/office/powerpoint/2010/main" val="1543861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defRPr/>
            </a:pPr>
            <a:fld id="{60AD74DA-916E-4F3D-95CF-EC5F6209B46A}" type="slidenum">
              <a:rPr lang="zh-TW" altLang="en-US" sz="1200" smtClean="0"/>
              <a:pPr>
                <a:spcBef>
                  <a:spcPct val="0"/>
                </a:spcBef>
                <a:buClrTx/>
                <a:buSzTx/>
                <a:buFontTx/>
                <a:buNone/>
                <a:defRPr/>
              </a:pPr>
              <a:t>8</a:t>
            </a:fld>
            <a:endParaRPr lang="en-US" altLang="zh-TW" sz="1200"/>
          </a:p>
        </p:txBody>
      </p:sp>
      <p:sp>
        <p:nvSpPr>
          <p:cNvPr id="192515" name="Rectangle 3"/>
          <p:cNvSpPr>
            <a:spLocks noGrp="1" noChangeArrowheads="1"/>
          </p:cNvSpPr>
          <p:nvPr>
            <p:ph type="body" idx="1"/>
          </p:nvPr>
        </p:nvSpPr>
        <p:spPr>
          <a:xfrm>
            <a:off x="533400" y="1182688"/>
            <a:ext cx="8077200" cy="4957762"/>
          </a:xfrm>
        </p:spPr>
        <p:txBody>
          <a:bodyPr/>
          <a:lstStyle/>
          <a:p>
            <a:pPr eaLnBrk="1" hangingPunct="1">
              <a:lnSpc>
                <a:spcPct val="90000"/>
              </a:lnSpc>
              <a:buFont typeface="Wingdings" panose="05000000000000000000" pitchFamily="2" charset="2"/>
              <a:buChar char="v"/>
              <a:defRPr/>
            </a:pPr>
            <a:r>
              <a:rPr lang="en-US" altLang="zh-TW" sz="2800" dirty="0">
                <a:solidFill>
                  <a:srgbClr val="FFFF00"/>
                </a:solidFill>
                <a:ea typeface="新細明體" pitchFamily="18" charset="-120"/>
              </a:rPr>
              <a:t>Pure machine code </a:t>
            </a:r>
            <a:r>
              <a:rPr lang="en-US" altLang="zh-TW" sz="2800" dirty="0">
                <a:ea typeface="新細明體" pitchFamily="18" charset="-120"/>
              </a:rPr>
              <a:t>(</a:t>
            </a:r>
            <a:r>
              <a:rPr lang="en-US" altLang="zh-TW" sz="2800" dirty="0">
                <a:solidFill>
                  <a:srgbClr val="FFFF00"/>
                </a:solidFill>
                <a:ea typeface="新細明體" pitchFamily="18" charset="-120"/>
              </a:rPr>
              <a:t>i.e. ISA</a:t>
            </a:r>
            <a:r>
              <a:rPr lang="en-US" altLang="zh-TW" sz="2800" dirty="0">
                <a:ea typeface="新細明體" pitchFamily="18" charset="-120"/>
              </a:rPr>
              <a:t>)</a:t>
            </a:r>
          </a:p>
          <a:p>
            <a:pPr lvl="1" eaLnBrk="1" hangingPunct="1">
              <a:lnSpc>
                <a:spcPct val="90000"/>
              </a:lnSpc>
              <a:buClr>
                <a:srgbClr val="00FFFF"/>
              </a:buClr>
              <a:defRPr/>
            </a:pPr>
            <a:r>
              <a:rPr lang="en-US" altLang="zh-TW" dirty="0">
                <a:ea typeface="新細明體" pitchFamily="18" charset="-120"/>
              </a:rPr>
              <a:t>Assembly language format</a:t>
            </a:r>
          </a:p>
          <a:p>
            <a:pPr lvl="1" eaLnBrk="1" hangingPunct="1">
              <a:lnSpc>
                <a:spcPct val="90000"/>
              </a:lnSpc>
              <a:buClr>
                <a:srgbClr val="00FFFF"/>
              </a:buClr>
              <a:defRPr/>
            </a:pPr>
            <a:r>
              <a:rPr lang="en-US" altLang="zh-TW" dirty="0">
                <a:ea typeface="新細明體" pitchFamily="18" charset="-120"/>
              </a:rPr>
              <a:t>Relocatable binary format</a:t>
            </a:r>
          </a:p>
          <a:p>
            <a:pPr eaLnBrk="1" hangingPunct="1">
              <a:lnSpc>
                <a:spcPct val="90000"/>
              </a:lnSpc>
              <a:buFont typeface="Wingdings" panose="05000000000000000000" pitchFamily="2" charset="2"/>
              <a:buChar char="v"/>
              <a:defRPr/>
            </a:pPr>
            <a:r>
              <a:rPr lang="en-US" altLang="zh-TW" sz="2800" dirty="0">
                <a:solidFill>
                  <a:srgbClr val="FFFF00"/>
                </a:solidFill>
                <a:ea typeface="新細明體" pitchFamily="18" charset="-120"/>
              </a:rPr>
              <a:t>Augmented machine code </a:t>
            </a:r>
            <a:r>
              <a:rPr lang="en-US" altLang="zh-TW" sz="2800" dirty="0">
                <a:ea typeface="新細明體" pitchFamily="18" charset="-120"/>
              </a:rPr>
              <a:t>(augment with system calls, I/O, memory allocation, math functions, …) (</a:t>
            </a:r>
            <a:r>
              <a:rPr lang="en-US" altLang="zh-TW" sz="2800" dirty="0">
                <a:solidFill>
                  <a:srgbClr val="FFFF00"/>
                </a:solidFill>
                <a:ea typeface="新細明體" pitchFamily="18" charset="-120"/>
              </a:rPr>
              <a:t>i.e. ABI</a:t>
            </a:r>
            <a:r>
              <a:rPr lang="en-US" altLang="zh-TW" sz="2800" dirty="0">
                <a:ea typeface="新細明體" pitchFamily="18" charset="-120"/>
              </a:rPr>
              <a:t>)</a:t>
            </a:r>
          </a:p>
          <a:p>
            <a:pPr eaLnBrk="1" hangingPunct="1">
              <a:lnSpc>
                <a:spcPct val="90000"/>
              </a:lnSpc>
              <a:buFont typeface="Wingdings" panose="05000000000000000000" pitchFamily="2" charset="2"/>
              <a:buChar char="v"/>
              <a:defRPr/>
            </a:pPr>
            <a:r>
              <a:rPr lang="en-US" altLang="zh-TW" sz="2800" dirty="0">
                <a:solidFill>
                  <a:srgbClr val="FFFF00"/>
                </a:solidFill>
                <a:ea typeface="新細明體" pitchFamily="18" charset="-120"/>
              </a:rPr>
              <a:t>Virtual machine code </a:t>
            </a:r>
            <a:r>
              <a:rPr lang="en-US" altLang="zh-TW" sz="2800" dirty="0">
                <a:ea typeface="新細明體" pitchFamily="18" charset="-120"/>
              </a:rPr>
              <a:t>(e.g. P-code or byte code)</a:t>
            </a:r>
          </a:p>
          <a:p>
            <a:pPr lvl="1" eaLnBrk="1" hangingPunct="1">
              <a:lnSpc>
                <a:spcPct val="90000"/>
              </a:lnSpc>
              <a:buClr>
                <a:srgbClr val="00FFFF"/>
              </a:buClr>
              <a:buFont typeface="Wingdings" panose="05000000000000000000" pitchFamily="2" charset="2"/>
              <a:buChar char="Ø"/>
              <a:defRPr/>
            </a:pPr>
            <a:r>
              <a:rPr lang="en-US" altLang="zh-TW" dirty="0">
                <a:ea typeface="新細明體" pitchFamily="18" charset="-120"/>
              </a:rPr>
              <a:t>Good for transportable compilers</a:t>
            </a:r>
          </a:p>
          <a:p>
            <a:pPr lvl="1" eaLnBrk="1" hangingPunct="1">
              <a:lnSpc>
                <a:spcPct val="90000"/>
              </a:lnSpc>
              <a:buClr>
                <a:srgbClr val="00FFFF"/>
              </a:buClr>
              <a:buFont typeface="Wingdings" panose="05000000000000000000" pitchFamily="2" charset="2"/>
              <a:buChar char="Ø"/>
              <a:defRPr/>
            </a:pPr>
            <a:r>
              <a:rPr lang="en-US" altLang="zh-TW" dirty="0">
                <a:ea typeface="新細明體" pitchFamily="18" charset="-120"/>
              </a:rPr>
              <a:t>Generated code need to be interpreted</a:t>
            </a:r>
          </a:p>
          <a:p>
            <a:pPr eaLnBrk="1" hangingPunct="1">
              <a:lnSpc>
                <a:spcPct val="90000"/>
              </a:lnSpc>
              <a:buFontTx/>
              <a:buNone/>
              <a:defRPr/>
            </a:pPr>
            <a:r>
              <a:rPr lang="en-US" altLang="zh-TW" dirty="0">
                <a:ea typeface="新細明體" pitchFamily="18" charset="-120"/>
              </a:rPr>
              <a:t>Whatever target codes are, compilers do the same job: </a:t>
            </a:r>
            <a:r>
              <a:rPr lang="en-US" altLang="zh-TW" dirty="0">
                <a:solidFill>
                  <a:srgbClr val="FFFF00"/>
                </a:solidFill>
                <a:ea typeface="新細明體" pitchFamily="18" charset="-120"/>
              </a:rPr>
              <a:t>T</a:t>
            </a:r>
            <a:r>
              <a:rPr lang="en-US" altLang="zh-TW" i="1" dirty="0">
                <a:solidFill>
                  <a:srgbClr val="FFFF00"/>
                </a:solidFill>
                <a:ea typeface="新細明體" pitchFamily="18" charset="-120"/>
              </a:rPr>
              <a:t>ranslation/Compilation</a:t>
            </a:r>
            <a:r>
              <a:rPr lang="en-US" altLang="zh-TW" dirty="0">
                <a:ea typeface="新細明體" pitchFamily="18" charset="-120"/>
              </a:rPr>
              <a:t>.</a:t>
            </a:r>
          </a:p>
          <a:p>
            <a:pPr lvl="1" eaLnBrk="1" hangingPunct="1">
              <a:lnSpc>
                <a:spcPct val="90000"/>
              </a:lnSpc>
              <a:buFontTx/>
              <a:buNone/>
              <a:defRPr/>
            </a:pPr>
            <a:r>
              <a:rPr lang="en-US" altLang="zh-TW" sz="2400" dirty="0">
                <a:ea typeface="新細明體" pitchFamily="18" charset="-120"/>
              </a:rPr>
              <a:t>	</a:t>
            </a:r>
          </a:p>
        </p:txBody>
      </p:sp>
      <p:sp>
        <p:nvSpPr>
          <p:cNvPr id="2" name="TextBox 1"/>
          <p:cNvSpPr txBox="1">
            <a:spLocks noChangeArrowheads="1"/>
          </p:cNvSpPr>
          <p:nvPr/>
        </p:nvSpPr>
        <p:spPr bwMode="auto">
          <a:xfrm>
            <a:off x="6781800" y="4267200"/>
            <a:ext cx="903288" cy="461963"/>
          </a:xfrm>
          <a:prstGeom prst="rect">
            <a:avLst/>
          </a:prstGeom>
          <a:solidFill>
            <a:srgbClr val="FFFF00"/>
          </a:solidFill>
          <a:ln w="19050">
            <a:solidFill>
              <a:srgbClr val="FF0000"/>
            </a:solidFill>
            <a:miter lim="800000"/>
            <a:headEnd/>
            <a:tailEnd/>
          </a:ln>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pPr>
            <a:r>
              <a:rPr lang="en-US" altLang="zh-TW" sz="2400" b="1" i="1">
                <a:solidFill>
                  <a:schemeClr val="bg1"/>
                </a:solidFill>
                <a:ea typeface="新細明體" panose="02020500000000000000" pitchFamily="18" charset="-120"/>
              </a:rPr>
              <a:t>VISA</a:t>
            </a:r>
            <a:endParaRPr lang="zh-TW" altLang="en-US" sz="2400" b="1" i="1">
              <a:solidFill>
                <a:schemeClr val="bg1"/>
              </a:solidFill>
              <a:ea typeface="新細明體" panose="02020500000000000000" pitchFamily="18" charset="-120"/>
            </a:endParaRPr>
          </a:p>
        </p:txBody>
      </p:sp>
      <p:sp>
        <p:nvSpPr>
          <p:cNvPr id="7" name="Rectangle 2"/>
          <p:cNvSpPr>
            <a:spLocks noGrp="1" noChangeArrowheads="1"/>
          </p:cNvSpPr>
          <p:nvPr>
            <p:ph type="title"/>
          </p:nvPr>
        </p:nvSpPr>
        <p:spPr>
          <a:xfrm>
            <a:off x="381000" y="354013"/>
            <a:ext cx="8229600" cy="533400"/>
          </a:xfrm>
        </p:spPr>
        <p:txBody>
          <a:bodyPr/>
          <a:lstStyle/>
          <a:p>
            <a:pPr eaLnBrk="1" hangingPunct="1">
              <a:defRPr/>
            </a:pPr>
            <a:r>
              <a:rPr lang="en-US" altLang="zh-TW" sz="4000" dirty="0">
                <a:ea typeface="新細明體" pitchFamily="18" charset="-120"/>
              </a:rPr>
              <a:t>Target machine code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F45FF5C4-2AA0-46BD-A8B6-2C7BD9DC31AC}" type="slidenum">
              <a:rPr lang="zh-TW" altLang="en-US" sz="1200" smtClean="0"/>
              <a:pPr>
                <a:spcBef>
                  <a:spcPct val="0"/>
                </a:spcBef>
                <a:buClrTx/>
                <a:buSzTx/>
                <a:buFontTx/>
                <a:buNone/>
                <a:defRPr/>
              </a:pPr>
              <a:t>9</a:t>
            </a:fld>
            <a:endParaRPr lang="en-US" altLang="zh-TW" sz="1200"/>
          </a:p>
        </p:txBody>
      </p:sp>
      <p:sp>
        <p:nvSpPr>
          <p:cNvPr id="193538" name="Rectangle 2"/>
          <p:cNvSpPr>
            <a:spLocks noGrp="1" noChangeArrowheads="1"/>
          </p:cNvSpPr>
          <p:nvPr>
            <p:ph type="title"/>
          </p:nvPr>
        </p:nvSpPr>
        <p:spPr>
          <a:xfrm>
            <a:off x="457200" y="277813"/>
            <a:ext cx="8229600" cy="990600"/>
          </a:xfrm>
        </p:spPr>
        <p:txBody>
          <a:bodyPr/>
          <a:lstStyle/>
          <a:p>
            <a:pPr eaLnBrk="1" hangingPunct="1">
              <a:defRPr/>
            </a:pPr>
            <a:r>
              <a:rPr lang="en-US" altLang="zh-TW" dirty="0">
                <a:ea typeface="新細明體" pitchFamily="18" charset="-120"/>
              </a:rPr>
              <a:t>Analysis and Synthesis</a:t>
            </a:r>
          </a:p>
        </p:txBody>
      </p:sp>
      <p:sp>
        <p:nvSpPr>
          <p:cNvPr id="193539" name="Rectangle 3"/>
          <p:cNvSpPr>
            <a:spLocks noGrp="1" noChangeArrowheads="1"/>
          </p:cNvSpPr>
          <p:nvPr>
            <p:ph type="body" idx="1"/>
          </p:nvPr>
        </p:nvSpPr>
        <p:spPr>
          <a:xfrm>
            <a:off x="685800" y="1371600"/>
            <a:ext cx="7772400" cy="5181600"/>
          </a:xfrm>
        </p:spPr>
        <p:txBody>
          <a:bodyPr/>
          <a:lstStyle/>
          <a:p>
            <a:pPr marL="0" indent="0" eaLnBrk="1" hangingPunct="1">
              <a:buFont typeface="Wingdings" panose="05000000000000000000" pitchFamily="2" charset="2"/>
              <a:buNone/>
              <a:defRPr/>
            </a:pPr>
            <a:r>
              <a:rPr lang="en-US" altLang="zh-TW" dirty="0">
                <a:ea typeface="新細明體" pitchFamily="18" charset="-120"/>
              </a:rPr>
              <a:t>Two parts to </a:t>
            </a:r>
            <a:r>
              <a:rPr lang="en-US" altLang="zh-TW" dirty="0">
                <a:solidFill>
                  <a:srgbClr val="FFFF00"/>
                </a:solidFill>
                <a:ea typeface="新細明體" pitchFamily="18" charset="-120"/>
              </a:rPr>
              <a:t>translation/compilation</a:t>
            </a:r>
          </a:p>
          <a:p>
            <a:pPr eaLnBrk="1" hangingPunct="1">
              <a:buFont typeface="Wingdings" panose="05000000000000000000" pitchFamily="2" charset="2"/>
              <a:buChar char="v"/>
              <a:defRPr/>
            </a:pPr>
            <a:r>
              <a:rPr lang="en-US" altLang="zh-TW" sz="2800" dirty="0">
                <a:solidFill>
                  <a:srgbClr val="FFFF00"/>
                </a:solidFill>
                <a:ea typeface="新細明體" pitchFamily="18" charset="-120"/>
              </a:rPr>
              <a:t>Analysis</a:t>
            </a:r>
            <a:r>
              <a:rPr lang="en-US" altLang="zh-TW" sz="2800" dirty="0">
                <a:ea typeface="新細明體" pitchFamily="18" charset="-120"/>
              </a:rPr>
              <a:t>: breaking up the source program into pieces for syntax and semantic analysis, e.g. parsing.</a:t>
            </a:r>
          </a:p>
          <a:p>
            <a:pPr lvl="1" eaLnBrk="1" hangingPunct="1">
              <a:buFont typeface="Wingdings" pitchFamily="2" charset="2"/>
              <a:buChar char="v"/>
              <a:defRPr/>
            </a:pPr>
            <a:r>
              <a:rPr lang="en-US" altLang="zh-TW" sz="2400" dirty="0">
                <a:ea typeface="新細明體" pitchFamily="18" charset="-120"/>
              </a:rPr>
              <a:t>widely used in many tools.</a:t>
            </a:r>
          </a:p>
          <a:p>
            <a:pPr eaLnBrk="1" hangingPunct="1">
              <a:buFont typeface="Wingdings" panose="05000000000000000000" pitchFamily="2" charset="2"/>
              <a:buChar char="v"/>
              <a:defRPr/>
            </a:pPr>
            <a:r>
              <a:rPr lang="en-US" altLang="zh-TW" sz="2800" dirty="0">
                <a:solidFill>
                  <a:srgbClr val="FFFF00"/>
                </a:solidFill>
                <a:ea typeface="新細明體" pitchFamily="18" charset="-120"/>
              </a:rPr>
              <a:t>Synthesis</a:t>
            </a:r>
            <a:r>
              <a:rPr lang="en-US" altLang="zh-TW" sz="2800" dirty="0">
                <a:ea typeface="新細明體" pitchFamily="18" charset="-120"/>
              </a:rPr>
              <a:t>: constructing the desired target program, e.g. code generation.</a:t>
            </a:r>
          </a:p>
          <a:p>
            <a:pPr lvl="1" eaLnBrk="1" hangingPunct="1">
              <a:buFont typeface="Wingdings" pitchFamily="2" charset="2"/>
              <a:buChar char="v"/>
              <a:defRPr/>
            </a:pPr>
            <a:r>
              <a:rPr lang="en-US" altLang="zh-TW" sz="2400" dirty="0">
                <a:ea typeface="新細明體" pitchFamily="18" charset="-120"/>
              </a:rPr>
              <a:t>can be very complex, such as the optimizer</a:t>
            </a:r>
            <a:r>
              <a:rPr lang="en-US" altLang="zh-TW" dirty="0">
                <a:ea typeface="新細明體" pitchFamily="18" charset="-12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0"/>
          </p:nvPr>
        </p:nvSpPr>
        <p:spPr/>
        <p:txBody>
          <a:bodyPr/>
          <a:lstStyle/>
          <a:p>
            <a:pPr>
              <a:defRPr/>
            </a:pPr>
            <a:r>
              <a:rPr lang="en-US" altLang="zh-TW"/>
              <a:t>Department of Electrical Engineering</a:t>
            </a:r>
          </a:p>
        </p:txBody>
      </p:sp>
      <p:sp>
        <p:nvSpPr>
          <p:cNvPr id="13"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B4F3157E-9E83-4ECE-B8A0-AF83FA62C138}" type="slidenum">
              <a:rPr lang="zh-TW" altLang="en-US" sz="1200" smtClean="0"/>
              <a:pPr>
                <a:spcBef>
                  <a:spcPct val="0"/>
                </a:spcBef>
                <a:buClrTx/>
                <a:buSzTx/>
                <a:buFontTx/>
                <a:buNone/>
                <a:defRPr/>
              </a:pPr>
              <a:t>10</a:t>
            </a:fld>
            <a:endParaRPr lang="en-US" altLang="zh-TW" sz="1200"/>
          </a:p>
        </p:txBody>
      </p:sp>
      <p:sp>
        <p:nvSpPr>
          <p:cNvPr id="194562" name="Rectangle 2"/>
          <p:cNvSpPr>
            <a:spLocks noGrp="1" noChangeArrowheads="1"/>
          </p:cNvSpPr>
          <p:nvPr>
            <p:ph type="title"/>
          </p:nvPr>
        </p:nvSpPr>
        <p:spPr>
          <a:xfrm>
            <a:off x="457200" y="277813"/>
            <a:ext cx="8229600" cy="990600"/>
          </a:xfrm>
        </p:spPr>
        <p:txBody>
          <a:bodyPr/>
          <a:lstStyle/>
          <a:p>
            <a:pPr eaLnBrk="1" hangingPunct="1">
              <a:defRPr/>
            </a:pPr>
            <a:r>
              <a:rPr lang="en-US" altLang="zh-TW">
                <a:ea typeface="新細明體" pitchFamily="18" charset="-120"/>
              </a:rPr>
              <a:t>Interpreter and Compiler</a:t>
            </a:r>
          </a:p>
        </p:txBody>
      </p:sp>
      <p:sp>
        <p:nvSpPr>
          <p:cNvPr id="194563" name="Rectangle 3"/>
          <p:cNvSpPr>
            <a:spLocks noGrp="1" noChangeArrowheads="1"/>
          </p:cNvSpPr>
          <p:nvPr>
            <p:ph type="body" idx="1"/>
          </p:nvPr>
        </p:nvSpPr>
        <p:spPr>
          <a:xfrm>
            <a:off x="685800" y="1447800"/>
            <a:ext cx="7772400" cy="4953000"/>
          </a:xfrm>
        </p:spPr>
        <p:txBody>
          <a:bodyPr/>
          <a:lstStyle/>
          <a:p>
            <a:pPr eaLnBrk="1" hangingPunct="1">
              <a:lnSpc>
                <a:spcPct val="90000"/>
              </a:lnSpc>
              <a:defRPr/>
            </a:pPr>
            <a:r>
              <a:rPr lang="en-US" altLang="zh-TW" sz="2800" dirty="0">
                <a:ea typeface="新細明體" panose="02020500000000000000" pitchFamily="18" charset="-120"/>
              </a:rPr>
              <a:t>Interpreter: executes programs without explicitly performing target code generation.</a:t>
            </a:r>
          </a:p>
          <a:p>
            <a:pPr marL="0" indent="0" eaLnBrk="1" hangingPunct="1">
              <a:lnSpc>
                <a:spcPct val="90000"/>
              </a:lnSpc>
              <a:buFont typeface="Wingdings" panose="05000000000000000000" pitchFamily="2" charset="2"/>
              <a:buNone/>
              <a:defRPr/>
            </a:pPr>
            <a:endParaRPr lang="en-US" altLang="zh-TW" sz="2800" dirty="0">
              <a:ea typeface="新細明體" panose="02020500000000000000" pitchFamily="18" charset="-120"/>
            </a:endParaRPr>
          </a:p>
          <a:p>
            <a:pPr eaLnBrk="1" hangingPunct="1">
              <a:lnSpc>
                <a:spcPct val="90000"/>
              </a:lnSpc>
              <a:defRPr/>
            </a:pPr>
            <a:endParaRPr lang="en-US" altLang="zh-TW" sz="2800" dirty="0">
              <a:ea typeface="新細明體" panose="02020500000000000000" pitchFamily="18" charset="-120"/>
            </a:endParaRPr>
          </a:p>
          <a:p>
            <a:pPr eaLnBrk="1" hangingPunct="1">
              <a:lnSpc>
                <a:spcPct val="90000"/>
              </a:lnSpc>
              <a:defRPr/>
            </a:pPr>
            <a:endParaRPr lang="en-US" altLang="zh-TW" sz="2800" dirty="0">
              <a:ea typeface="新細明體" panose="02020500000000000000" pitchFamily="18" charset="-120"/>
            </a:endParaRPr>
          </a:p>
          <a:p>
            <a:pPr eaLnBrk="1" hangingPunct="1">
              <a:lnSpc>
                <a:spcPct val="90000"/>
              </a:lnSpc>
              <a:defRPr/>
            </a:pPr>
            <a:endParaRPr lang="en-US" altLang="zh-TW" sz="2800" dirty="0">
              <a:ea typeface="新細明體" panose="02020500000000000000" pitchFamily="18" charset="-120"/>
            </a:endParaRPr>
          </a:p>
          <a:p>
            <a:pPr eaLnBrk="1" hangingPunct="1">
              <a:lnSpc>
                <a:spcPct val="90000"/>
              </a:lnSpc>
              <a:defRPr/>
            </a:pPr>
            <a:endParaRPr lang="en-US" altLang="zh-TW" sz="2800" dirty="0">
              <a:ea typeface="新細明體" panose="02020500000000000000" pitchFamily="18" charset="-120"/>
            </a:endParaRPr>
          </a:p>
          <a:p>
            <a:pPr marL="0" indent="0" eaLnBrk="1" hangingPunct="1">
              <a:lnSpc>
                <a:spcPct val="90000"/>
              </a:lnSpc>
              <a:buFont typeface="Wingdings" panose="05000000000000000000" pitchFamily="2" charset="2"/>
              <a:buNone/>
              <a:defRPr/>
            </a:pPr>
            <a:endParaRPr lang="en-US" altLang="zh-TW" sz="2800" dirty="0">
              <a:ea typeface="新細明體" panose="02020500000000000000" pitchFamily="18" charset="-120"/>
            </a:endParaRPr>
          </a:p>
          <a:p>
            <a:pPr eaLnBrk="1" hangingPunct="1">
              <a:lnSpc>
                <a:spcPct val="90000"/>
              </a:lnSpc>
              <a:defRPr/>
            </a:pPr>
            <a:r>
              <a:rPr lang="en-US" altLang="zh-TW" sz="2800" dirty="0">
                <a:ea typeface="新細明體" panose="02020500000000000000" pitchFamily="18" charset="-120"/>
              </a:rPr>
              <a:t>Interpretation often involves large overhead </a:t>
            </a:r>
          </a:p>
          <a:p>
            <a:pPr eaLnBrk="1" hangingPunct="1">
              <a:lnSpc>
                <a:spcPct val="90000"/>
              </a:lnSpc>
              <a:defRPr/>
            </a:pPr>
            <a:r>
              <a:rPr lang="en-US" altLang="zh-TW" sz="2800" dirty="0">
                <a:ea typeface="新細明體" panose="02020500000000000000" pitchFamily="18" charset="-120"/>
              </a:rPr>
              <a:t>Interpretation avoids the </a:t>
            </a:r>
            <a:r>
              <a:rPr lang="en-US" altLang="zh-TW" sz="2800" i="1" dirty="0">
                <a:solidFill>
                  <a:srgbClr val="FFFF00"/>
                </a:solidFill>
                <a:ea typeface="新細明體" panose="02020500000000000000" pitchFamily="18" charset="-120"/>
              </a:rPr>
              <a:t>synthesis</a:t>
            </a:r>
            <a:r>
              <a:rPr lang="en-US" altLang="zh-TW" sz="2800" dirty="0">
                <a:ea typeface="新細明體" panose="02020500000000000000" pitchFamily="18" charset="-120"/>
              </a:rPr>
              <a:t> part.</a:t>
            </a:r>
          </a:p>
          <a:p>
            <a:pPr eaLnBrk="1" hangingPunct="1">
              <a:lnSpc>
                <a:spcPct val="90000"/>
              </a:lnSpc>
              <a:buFont typeface="Wingdings" panose="05000000000000000000" pitchFamily="2" charset="2"/>
              <a:buNone/>
              <a:defRPr/>
            </a:pPr>
            <a:r>
              <a:rPr lang="en-US" altLang="zh-TW" sz="2800" dirty="0">
                <a:ea typeface="新細明體" panose="02020500000000000000" pitchFamily="18" charset="-120"/>
              </a:rPr>
              <a:t>	</a:t>
            </a:r>
          </a:p>
        </p:txBody>
      </p:sp>
      <p:sp>
        <p:nvSpPr>
          <p:cNvPr id="29702" name="Rectangle 4"/>
          <p:cNvSpPr>
            <a:spLocks noChangeArrowheads="1"/>
          </p:cNvSpPr>
          <p:nvPr/>
        </p:nvSpPr>
        <p:spPr bwMode="auto">
          <a:xfrm>
            <a:off x="1219200" y="2590800"/>
            <a:ext cx="3124200" cy="10668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Interpreter</a:t>
            </a:r>
          </a:p>
        </p:txBody>
      </p:sp>
      <p:sp>
        <p:nvSpPr>
          <p:cNvPr id="29703" name="Rectangle 5"/>
          <p:cNvSpPr>
            <a:spLocks noChangeArrowheads="1"/>
          </p:cNvSpPr>
          <p:nvPr/>
        </p:nvSpPr>
        <p:spPr bwMode="auto">
          <a:xfrm>
            <a:off x="1143000" y="3962400"/>
            <a:ext cx="1447800" cy="6858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solidFill>
                  <a:srgbClr val="00FFFF"/>
                </a:solidFill>
                <a:latin typeface="Times New Roman" panose="02020603050405020304" pitchFamily="18" charset="0"/>
                <a:ea typeface="新細明體" panose="02020500000000000000" pitchFamily="18" charset="-120"/>
              </a:rPr>
              <a:t>Source </a:t>
            </a:r>
          </a:p>
          <a:p>
            <a:pPr algn="ctr" eaLnBrk="1" hangingPunct="1">
              <a:spcBef>
                <a:spcPct val="0"/>
              </a:spcBef>
              <a:buClrTx/>
              <a:buSzTx/>
              <a:buFontTx/>
              <a:buNone/>
            </a:pPr>
            <a:r>
              <a:rPr lang="en-US" altLang="zh-TW" sz="2400">
                <a:solidFill>
                  <a:srgbClr val="00FFFF"/>
                </a:solidFill>
                <a:latin typeface="Times New Roman" panose="02020603050405020304" pitchFamily="18" charset="0"/>
                <a:ea typeface="新細明體" panose="02020500000000000000" pitchFamily="18" charset="-120"/>
              </a:rPr>
              <a:t>program</a:t>
            </a:r>
          </a:p>
        </p:txBody>
      </p:sp>
      <p:sp>
        <p:nvSpPr>
          <p:cNvPr id="29704" name="Rectangle 6"/>
          <p:cNvSpPr>
            <a:spLocks noChangeArrowheads="1"/>
          </p:cNvSpPr>
          <p:nvPr/>
        </p:nvSpPr>
        <p:spPr bwMode="auto">
          <a:xfrm>
            <a:off x="2819400" y="3962400"/>
            <a:ext cx="1447800" cy="6858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solidFill>
                  <a:srgbClr val="00FFFF"/>
                </a:solidFill>
                <a:latin typeface="Times New Roman" panose="02020603050405020304" pitchFamily="18" charset="0"/>
                <a:ea typeface="新細明體" panose="02020500000000000000" pitchFamily="18" charset="-120"/>
              </a:rPr>
              <a:t>Data</a:t>
            </a:r>
          </a:p>
        </p:txBody>
      </p:sp>
      <p:sp>
        <p:nvSpPr>
          <p:cNvPr id="29705" name="Rectangle 7"/>
          <p:cNvSpPr>
            <a:spLocks noChangeArrowheads="1"/>
          </p:cNvSpPr>
          <p:nvPr/>
        </p:nvSpPr>
        <p:spPr bwMode="auto">
          <a:xfrm>
            <a:off x="5562600" y="2590800"/>
            <a:ext cx="1676400" cy="10668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Output</a:t>
            </a:r>
          </a:p>
        </p:txBody>
      </p:sp>
      <p:sp>
        <p:nvSpPr>
          <p:cNvPr id="29706" name="Line 8"/>
          <p:cNvSpPr>
            <a:spLocks noChangeShapeType="1"/>
          </p:cNvSpPr>
          <p:nvPr/>
        </p:nvSpPr>
        <p:spPr bwMode="auto">
          <a:xfrm>
            <a:off x="4343400" y="3124200"/>
            <a:ext cx="1219200"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29707" name="Line 9"/>
          <p:cNvSpPr>
            <a:spLocks noChangeShapeType="1"/>
          </p:cNvSpPr>
          <p:nvPr/>
        </p:nvSpPr>
        <p:spPr bwMode="auto">
          <a:xfrm flipV="1">
            <a:off x="1905000" y="3733800"/>
            <a:ext cx="0" cy="2286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29708" name="Line 10"/>
          <p:cNvSpPr>
            <a:spLocks noChangeShapeType="1"/>
          </p:cNvSpPr>
          <p:nvPr/>
        </p:nvSpPr>
        <p:spPr bwMode="auto">
          <a:xfrm flipV="1">
            <a:off x="3429000" y="3657600"/>
            <a:ext cx="0" cy="2286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45AD4ED2-213B-4F50-AB6C-014E2111FFE7}" type="slidenum">
              <a:rPr lang="zh-TW" altLang="en-US" sz="1200" smtClean="0"/>
              <a:pPr>
                <a:spcBef>
                  <a:spcPct val="0"/>
                </a:spcBef>
                <a:buClrTx/>
                <a:buSzTx/>
                <a:buFontTx/>
                <a:buNone/>
                <a:defRPr/>
              </a:pPr>
              <a:t>11</a:t>
            </a:fld>
            <a:endParaRPr lang="en-US" altLang="zh-TW" sz="1200"/>
          </a:p>
        </p:txBody>
      </p:sp>
      <p:sp>
        <p:nvSpPr>
          <p:cNvPr id="195586" name="Rectangle 2"/>
          <p:cNvSpPr>
            <a:spLocks noGrp="1" noChangeArrowheads="1"/>
          </p:cNvSpPr>
          <p:nvPr>
            <p:ph type="title"/>
          </p:nvPr>
        </p:nvSpPr>
        <p:spPr>
          <a:xfrm>
            <a:off x="457200" y="277813"/>
            <a:ext cx="8229600" cy="990600"/>
          </a:xfrm>
        </p:spPr>
        <p:txBody>
          <a:bodyPr/>
          <a:lstStyle/>
          <a:p>
            <a:pPr eaLnBrk="1" hangingPunct="1">
              <a:defRPr/>
            </a:pPr>
            <a:r>
              <a:rPr lang="en-US" altLang="zh-TW">
                <a:ea typeface="新細明體" pitchFamily="18" charset="-120"/>
              </a:rPr>
              <a:t>Why Interpretation</a:t>
            </a:r>
          </a:p>
        </p:txBody>
      </p:sp>
      <p:sp>
        <p:nvSpPr>
          <p:cNvPr id="195587" name="Rectangle 3"/>
          <p:cNvSpPr>
            <a:spLocks noGrp="1" noChangeArrowheads="1"/>
          </p:cNvSpPr>
          <p:nvPr>
            <p:ph type="body" idx="1"/>
          </p:nvPr>
        </p:nvSpPr>
        <p:spPr>
          <a:xfrm>
            <a:off x="552450" y="1143000"/>
            <a:ext cx="8153400" cy="4648200"/>
          </a:xfrm>
        </p:spPr>
        <p:txBody>
          <a:bodyPr/>
          <a:lstStyle/>
          <a:p>
            <a:pPr eaLnBrk="1" hangingPunct="1">
              <a:buFont typeface="Wingdings" panose="05000000000000000000" pitchFamily="2" charset="2"/>
              <a:buChar char="v"/>
              <a:defRPr/>
            </a:pPr>
            <a:r>
              <a:rPr lang="en-US" altLang="zh-TW" sz="2800" dirty="0">
                <a:ea typeface="新細明體" pitchFamily="18" charset="-120"/>
              </a:rPr>
              <a:t>A higher degree of machine independence: high </a:t>
            </a:r>
            <a:r>
              <a:rPr lang="en-US" altLang="zh-TW" sz="2800" dirty="0">
                <a:solidFill>
                  <a:srgbClr val="FFFF00"/>
                </a:solidFill>
                <a:ea typeface="新細明體" pitchFamily="18" charset="-120"/>
              </a:rPr>
              <a:t>portability</a:t>
            </a:r>
            <a:r>
              <a:rPr lang="en-US" altLang="zh-TW" sz="2800" dirty="0">
                <a:ea typeface="新細明體" pitchFamily="18" charset="-120"/>
              </a:rPr>
              <a:t>. </a:t>
            </a:r>
          </a:p>
          <a:p>
            <a:pPr eaLnBrk="1" hangingPunct="1">
              <a:buFont typeface="Wingdings" panose="05000000000000000000" pitchFamily="2" charset="2"/>
              <a:buChar char="v"/>
              <a:defRPr/>
            </a:pPr>
            <a:r>
              <a:rPr lang="en-US" altLang="zh-TW" sz="2800" dirty="0">
                <a:ea typeface="新細明體" pitchFamily="18" charset="-120"/>
              </a:rPr>
              <a:t>Dynamic execution: modification or addition to user programs are allowed (e.g. for </a:t>
            </a:r>
            <a:r>
              <a:rPr lang="en-US" altLang="zh-TW" sz="2800" dirty="0">
                <a:solidFill>
                  <a:srgbClr val="FFFF00"/>
                </a:solidFill>
                <a:ea typeface="新細明體" pitchFamily="18" charset="-120"/>
              </a:rPr>
              <a:t>interactive debugging</a:t>
            </a:r>
            <a:r>
              <a:rPr lang="en-US" altLang="zh-TW" sz="2800" dirty="0">
                <a:ea typeface="新細明體" pitchFamily="18" charset="-120"/>
              </a:rPr>
              <a:t>).</a:t>
            </a:r>
          </a:p>
          <a:p>
            <a:pPr eaLnBrk="1" hangingPunct="1">
              <a:buFont typeface="Wingdings" panose="05000000000000000000" pitchFamily="2" charset="2"/>
              <a:buChar char="v"/>
              <a:defRPr/>
            </a:pPr>
            <a:r>
              <a:rPr lang="en-US" altLang="zh-TW" sz="2800" dirty="0">
                <a:ea typeface="新細明體" pitchFamily="18" charset="-120"/>
              </a:rPr>
              <a:t>Dynamic data types: type of objects may change at runtime (e.g. </a:t>
            </a:r>
            <a:r>
              <a:rPr lang="en-US" altLang="zh-TW" sz="2800" dirty="0" err="1">
                <a:ea typeface="新細明體" pitchFamily="18" charset="-120"/>
              </a:rPr>
              <a:t>Javascript</a:t>
            </a:r>
            <a:r>
              <a:rPr lang="en-US" altLang="zh-TW" sz="2800" dirty="0">
                <a:ea typeface="新細明體" pitchFamily="18" charset="-120"/>
              </a:rPr>
              <a:t>)</a:t>
            </a:r>
          </a:p>
          <a:p>
            <a:pPr eaLnBrk="1" hangingPunct="1">
              <a:buFont typeface="Wingdings" panose="05000000000000000000" pitchFamily="2" charset="2"/>
              <a:buChar char="v"/>
              <a:defRPr/>
            </a:pPr>
            <a:r>
              <a:rPr lang="en-US" altLang="zh-TW" sz="2800" dirty="0">
                <a:ea typeface="新細明體" pitchFamily="18" charset="-120"/>
              </a:rPr>
              <a:t>Easier to write an interpreter – no synthesis part.</a:t>
            </a:r>
          </a:p>
          <a:p>
            <a:pPr eaLnBrk="1" hangingPunct="1">
              <a:buFont typeface="Wingdings" panose="05000000000000000000" pitchFamily="2" charset="2"/>
              <a:buChar char="v"/>
              <a:defRPr/>
            </a:pPr>
            <a:r>
              <a:rPr lang="en-US" altLang="zh-TW" sz="2800" dirty="0">
                <a:ea typeface="新細明體" pitchFamily="18" charset="-120"/>
              </a:rPr>
              <a:t>Better diagnostics: more source text information available</a:t>
            </a:r>
          </a:p>
          <a:p>
            <a:pPr eaLnBrk="1" hangingPunct="1">
              <a:buFont typeface="Wingdings" panose="05000000000000000000" pitchFamily="2" charset="2"/>
              <a:buNone/>
              <a:defRPr/>
            </a:pPr>
            <a:r>
              <a:rPr lang="en-US" altLang="zh-TW" dirty="0">
                <a:ea typeface="新細明體" pitchFamily="18" charset="-120"/>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defRPr/>
            </a:pPr>
            <a:fld id="{32D9F1EF-5750-4D44-A692-DF033E70895B}" type="slidenum">
              <a:rPr lang="zh-TW" altLang="en-US" sz="1200" smtClean="0"/>
              <a:pPr>
                <a:spcBef>
                  <a:spcPct val="0"/>
                </a:spcBef>
                <a:buClrTx/>
                <a:buSzTx/>
                <a:buFontTx/>
                <a:buNone/>
                <a:defRPr/>
              </a:pPr>
              <a:t>12</a:t>
            </a:fld>
            <a:endParaRPr lang="en-US" altLang="zh-TW" sz="1200"/>
          </a:p>
        </p:txBody>
      </p:sp>
      <p:sp>
        <p:nvSpPr>
          <p:cNvPr id="195586" name="Rectangle 2"/>
          <p:cNvSpPr>
            <a:spLocks noGrp="1" noChangeArrowheads="1"/>
          </p:cNvSpPr>
          <p:nvPr>
            <p:ph type="title"/>
          </p:nvPr>
        </p:nvSpPr>
        <p:spPr>
          <a:xfrm>
            <a:off x="457200" y="277813"/>
            <a:ext cx="8229600" cy="990600"/>
          </a:xfrm>
        </p:spPr>
        <p:txBody>
          <a:bodyPr/>
          <a:lstStyle/>
          <a:p>
            <a:pPr eaLnBrk="1" hangingPunct="1">
              <a:defRPr/>
            </a:pPr>
            <a:r>
              <a:rPr lang="en-US" altLang="zh-TW" dirty="0">
                <a:ea typeface="新細明體" pitchFamily="18" charset="-120"/>
              </a:rPr>
              <a:t>Hybrid Translation</a:t>
            </a:r>
          </a:p>
        </p:txBody>
      </p:sp>
      <p:sp>
        <p:nvSpPr>
          <p:cNvPr id="31749" name="Rectangle 7"/>
          <p:cNvSpPr>
            <a:spLocks noChangeArrowheads="1"/>
          </p:cNvSpPr>
          <p:nvPr/>
        </p:nvSpPr>
        <p:spPr bwMode="auto">
          <a:xfrm>
            <a:off x="685800" y="1905000"/>
            <a:ext cx="2286000" cy="685800"/>
          </a:xfrm>
          <a:prstGeom prst="rect">
            <a:avLst/>
          </a:prstGeom>
          <a:solidFill>
            <a:srgbClr val="00B0F0"/>
          </a:solidFill>
          <a:ln w="9525" algn="ctr">
            <a:solidFill>
              <a:srgbClr val="0033CC"/>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800">
                <a:ea typeface="新細明體" panose="02020500000000000000" pitchFamily="18" charset="-120"/>
              </a:rPr>
              <a:t>Translator</a:t>
            </a:r>
          </a:p>
        </p:txBody>
      </p:sp>
      <p:sp>
        <p:nvSpPr>
          <p:cNvPr id="31750" name="TextBox 8"/>
          <p:cNvSpPr txBox="1">
            <a:spLocks noChangeArrowheads="1"/>
          </p:cNvSpPr>
          <p:nvPr/>
        </p:nvSpPr>
        <p:spPr bwMode="auto">
          <a:xfrm>
            <a:off x="838200" y="1143000"/>
            <a:ext cx="2022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pPr>
            <a:r>
              <a:rPr lang="en-US" altLang="zh-TW" sz="2000">
                <a:ea typeface="新細明體" panose="02020500000000000000" pitchFamily="18" charset="-120"/>
              </a:rPr>
              <a:t>Source program</a:t>
            </a:r>
          </a:p>
        </p:txBody>
      </p:sp>
      <p:cxnSp>
        <p:nvCxnSpPr>
          <p:cNvPr id="31751" name="Straight Arrow Connector 10"/>
          <p:cNvCxnSpPr>
            <a:cxnSpLocks noChangeShapeType="1"/>
            <a:stCxn id="31750" idx="2"/>
            <a:endCxn id="31749" idx="0"/>
          </p:cNvCxnSpPr>
          <p:nvPr/>
        </p:nvCxnSpPr>
        <p:spPr bwMode="auto">
          <a:xfrm rot="5400000">
            <a:off x="1658144" y="1713706"/>
            <a:ext cx="361950" cy="2063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1752" name="Straight Arrow Connector 11"/>
          <p:cNvCxnSpPr>
            <a:cxnSpLocks noChangeShapeType="1"/>
          </p:cNvCxnSpPr>
          <p:nvPr/>
        </p:nvCxnSpPr>
        <p:spPr bwMode="auto">
          <a:xfrm rot="5400000">
            <a:off x="1635125" y="2784475"/>
            <a:ext cx="392113" cy="4763"/>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1753" name="TextBox 12"/>
          <p:cNvSpPr txBox="1">
            <a:spLocks noChangeArrowheads="1"/>
          </p:cNvSpPr>
          <p:nvPr/>
        </p:nvSpPr>
        <p:spPr bwMode="auto">
          <a:xfrm>
            <a:off x="914400" y="2971800"/>
            <a:ext cx="2079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pPr>
            <a:r>
              <a:rPr lang="en-US" altLang="zh-TW" sz="2000">
                <a:ea typeface="新細明體" panose="02020500000000000000" pitchFamily="18" charset="-120"/>
              </a:rPr>
              <a:t>Intermediate </a:t>
            </a:r>
          </a:p>
          <a:p>
            <a:pPr>
              <a:spcBef>
                <a:spcPct val="0"/>
              </a:spcBef>
              <a:buClrTx/>
              <a:buSzTx/>
              <a:buFontTx/>
              <a:buNone/>
            </a:pPr>
            <a:r>
              <a:rPr lang="en-US" altLang="zh-TW" sz="2000">
                <a:ea typeface="新細明體" panose="02020500000000000000" pitchFamily="18" charset="-120"/>
              </a:rPr>
              <a:t>Code (bytecode)</a:t>
            </a:r>
          </a:p>
        </p:txBody>
      </p:sp>
      <p:sp>
        <p:nvSpPr>
          <p:cNvPr id="31754" name="Rectangle 14"/>
          <p:cNvSpPr>
            <a:spLocks noChangeArrowheads="1"/>
          </p:cNvSpPr>
          <p:nvPr/>
        </p:nvSpPr>
        <p:spPr bwMode="auto">
          <a:xfrm>
            <a:off x="3581400" y="2819400"/>
            <a:ext cx="2286000" cy="1143000"/>
          </a:xfrm>
          <a:prstGeom prst="rect">
            <a:avLst/>
          </a:prstGeom>
          <a:solidFill>
            <a:srgbClr val="FFC000"/>
          </a:solidFill>
          <a:ln w="9525" algn="ctr">
            <a:solidFill>
              <a:srgbClr val="0033CC"/>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800" b="1">
                <a:solidFill>
                  <a:srgbClr val="002060"/>
                </a:solidFill>
                <a:ea typeface="新細明體" panose="02020500000000000000" pitchFamily="18" charset="-120"/>
              </a:rPr>
              <a:t>Virtual </a:t>
            </a:r>
          </a:p>
          <a:p>
            <a:pPr algn="ctr">
              <a:spcBef>
                <a:spcPct val="0"/>
              </a:spcBef>
              <a:buClrTx/>
              <a:buSzTx/>
              <a:buFontTx/>
              <a:buNone/>
            </a:pPr>
            <a:r>
              <a:rPr lang="en-US" altLang="zh-TW" sz="2800" b="1">
                <a:solidFill>
                  <a:srgbClr val="002060"/>
                </a:solidFill>
                <a:ea typeface="新細明體" panose="02020500000000000000" pitchFamily="18" charset="-120"/>
              </a:rPr>
              <a:t>Machine</a:t>
            </a:r>
          </a:p>
        </p:txBody>
      </p:sp>
      <p:cxnSp>
        <p:nvCxnSpPr>
          <p:cNvPr id="31755" name="Straight Arrow Connector 16"/>
          <p:cNvCxnSpPr>
            <a:cxnSpLocks noChangeShapeType="1"/>
          </p:cNvCxnSpPr>
          <p:nvPr/>
        </p:nvCxnSpPr>
        <p:spPr bwMode="auto">
          <a:xfrm>
            <a:off x="2514600" y="3200400"/>
            <a:ext cx="10668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1756" name="Straight Arrow Connector 17"/>
          <p:cNvCxnSpPr>
            <a:cxnSpLocks noChangeShapeType="1"/>
          </p:cNvCxnSpPr>
          <p:nvPr/>
        </p:nvCxnSpPr>
        <p:spPr bwMode="auto">
          <a:xfrm>
            <a:off x="2514600" y="3810000"/>
            <a:ext cx="10668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1757" name="TextBox 18"/>
          <p:cNvSpPr txBox="1">
            <a:spLocks noChangeArrowheads="1"/>
          </p:cNvSpPr>
          <p:nvPr/>
        </p:nvSpPr>
        <p:spPr bwMode="auto">
          <a:xfrm>
            <a:off x="2057400" y="3962400"/>
            <a:ext cx="7540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pPr>
            <a:r>
              <a:rPr lang="en-US" altLang="zh-TW" sz="2000">
                <a:ea typeface="新細明體" panose="02020500000000000000" pitchFamily="18" charset="-120"/>
              </a:rPr>
              <a:t>Input</a:t>
            </a:r>
          </a:p>
        </p:txBody>
      </p:sp>
      <p:sp>
        <p:nvSpPr>
          <p:cNvPr id="31758" name="TextBox 19"/>
          <p:cNvSpPr txBox="1">
            <a:spLocks noChangeArrowheads="1"/>
          </p:cNvSpPr>
          <p:nvPr/>
        </p:nvSpPr>
        <p:spPr bwMode="auto">
          <a:xfrm>
            <a:off x="6096000" y="3505200"/>
            <a:ext cx="952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pPr>
            <a:r>
              <a:rPr lang="en-US" altLang="zh-TW" sz="2000">
                <a:ea typeface="新細明體" panose="02020500000000000000" pitchFamily="18" charset="-120"/>
              </a:rPr>
              <a:t>Output</a:t>
            </a:r>
          </a:p>
        </p:txBody>
      </p:sp>
      <p:cxnSp>
        <p:nvCxnSpPr>
          <p:cNvPr id="31759" name="Straight Arrow Connector 20"/>
          <p:cNvCxnSpPr>
            <a:cxnSpLocks noChangeShapeType="1"/>
          </p:cNvCxnSpPr>
          <p:nvPr/>
        </p:nvCxnSpPr>
        <p:spPr bwMode="auto">
          <a:xfrm>
            <a:off x="5867400" y="3352800"/>
            <a:ext cx="10668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2" name="Cloud Callout 21"/>
          <p:cNvSpPr>
            <a:spLocks noChangeArrowheads="1"/>
          </p:cNvSpPr>
          <p:nvPr/>
        </p:nvSpPr>
        <p:spPr bwMode="auto">
          <a:xfrm>
            <a:off x="6629400" y="1600200"/>
            <a:ext cx="1524000" cy="612775"/>
          </a:xfrm>
          <a:prstGeom prst="cloudCallout">
            <a:avLst>
              <a:gd name="adj1" fmla="val -127398"/>
              <a:gd name="adj2" fmla="val 205069"/>
            </a:avLst>
          </a:prstGeom>
          <a:solidFill>
            <a:srgbClr val="A7F864"/>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a:solidFill>
                  <a:srgbClr val="002060"/>
                </a:solidFill>
                <a:ea typeface="新細明體" panose="02020500000000000000" pitchFamily="18" charset="-120"/>
              </a:rPr>
              <a:t>JIT</a:t>
            </a:r>
          </a:p>
        </p:txBody>
      </p:sp>
      <p:sp>
        <p:nvSpPr>
          <p:cNvPr id="31761" name="TextBox 22"/>
          <p:cNvSpPr txBox="1">
            <a:spLocks noChangeArrowheads="1"/>
          </p:cNvSpPr>
          <p:nvPr/>
        </p:nvSpPr>
        <p:spPr bwMode="auto">
          <a:xfrm>
            <a:off x="1001713" y="5624513"/>
            <a:ext cx="7151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pPr>
            <a:r>
              <a:rPr lang="en-US" altLang="zh-TW" sz="2800">
                <a:ea typeface="新細明體" panose="02020500000000000000" pitchFamily="18" charset="-120"/>
              </a:rPr>
              <a:t>Example:  A Java Virtual Machine with a JIT</a:t>
            </a:r>
          </a:p>
        </p:txBody>
      </p:sp>
      <p:sp>
        <p:nvSpPr>
          <p:cNvPr id="2" name="Left-Right Arrow 1"/>
          <p:cNvSpPr>
            <a:spLocks noChangeArrowheads="1"/>
          </p:cNvSpPr>
          <p:nvPr/>
        </p:nvSpPr>
        <p:spPr bwMode="auto">
          <a:xfrm>
            <a:off x="3048000" y="4437063"/>
            <a:ext cx="3524250" cy="712787"/>
          </a:xfrm>
          <a:prstGeom prst="leftRightArrow">
            <a:avLst>
              <a:gd name="adj1" fmla="val 50000"/>
              <a:gd name="adj2" fmla="val 50038"/>
            </a:avLst>
          </a:prstGeom>
          <a:solidFill>
            <a:srgbClr val="A7F864"/>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a:solidFill>
                  <a:srgbClr val="FF0000"/>
                </a:solidFill>
                <a:ea typeface="新細明體" panose="02020500000000000000" pitchFamily="18" charset="-120"/>
              </a:rPr>
              <a:t>Interpretation</a:t>
            </a:r>
          </a:p>
          <a:p>
            <a:pPr algn="ctr">
              <a:spcBef>
                <a:spcPct val="0"/>
              </a:spcBef>
              <a:buClrTx/>
              <a:buSzTx/>
              <a:buFontTx/>
              <a:buNone/>
            </a:pPr>
            <a:r>
              <a:rPr lang="en-US" altLang="zh-TW" sz="2400">
                <a:ea typeface="新細明體" panose="02020500000000000000" pitchFamily="18" charset="-120"/>
              </a:rPr>
              <a:t>(JVM)</a:t>
            </a:r>
            <a:endParaRPr lang="zh-TW" altLang="en-US" sz="2400">
              <a:ea typeface="新細明體" panose="02020500000000000000" pitchFamily="18" charset="-120"/>
            </a:endParaRPr>
          </a:p>
        </p:txBody>
      </p:sp>
      <p:sp>
        <p:nvSpPr>
          <p:cNvPr id="19" name="Left-Right Arrow 18"/>
          <p:cNvSpPr>
            <a:spLocks noChangeArrowheads="1"/>
          </p:cNvSpPr>
          <p:nvPr/>
        </p:nvSpPr>
        <p:spPr bwMode="auto">
          <a:xfrm>
            <a:off x="6572250" y="4421188"/>
            <a:ext cx="2209800" cy="712787"/>
          </a:xfrm>
          <a:prstGeom prst="leftRightArrow">
            <a:avLst>
              <a:gd name="adj1" fmla="val 50000"/>
              <a:gd name="adj2" fmla="val 50034"/>
            </a:avLst>
          </a:prstGeom>
          <a:solidFill>
            <a:srgbClr val="FFFB3B"/>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a:solidFill>
                  <a:srgbClr val="FF0000"/>
                </a:solidFill>
                <a:ea typeface="新細明體" panose="02020500000000000000" pitchFamily="18" charset="-120"/>
              </a:rPr>
              <a:t>Compilation</a:t>
            </a:r>
          </a:p>
          <a:p>
            <a:pPr algn="ctr">
              <a:spcBef>
                <a:spcPct val="0"/>
              </a:spcBef>
              <a:buClrTx/>
              <a:buSzTx/>
              <a:buFontTx/>
              <a:buNone/>
            </a:pPr>
            <a:r>
              <a:rPr lang="en-US" altLang="zh-TW" sz="2400">
                <a:ea typeface="新細明體" panose="02020500000000000000" pitchFamily="18" charset="-120"/>
              </a:rPr>
              <a:t>(JIT)</a:t>
            </a:r>
            <a:endParaRPr lang="zh-TW" altLang="en-US" sz="2400">
              <a:ea typeface="新細明體" panose="02020500000000000000" pitchFamily="18" charset="-120"/>
            </a:endParaRPr>
          </a:p>
        </p:txBody>
      </p:sp>
      <p:sp>
        <p:nvSpPr>
          <p:cNvPr id="20" name="Left-Right Arrow 19"/>
          <p:cNvSpPr>
            <a:spLocks noChangeArrowheads="1"/>
          </p:cNvSpPr>
          <p:nvPr/>
        </p:nvSpPr>
        <p:spPr bwMode="auto">
          <a:xfrm>
            <a:off x="650875" y="4337050"/>
            <a:ext cx="2320925" cy="946150"/>
          </a:xfrm>
          <a:prstGeom prst="leftRightArrow">
            <a:avLst>
              <a:gd name="adj1" fmla="val 50000"/>
              <a:gd name="adj2" fmla="val 50071"/>
            </a:avLst>
          </a:prstGeom>
          <a:solidFill>
            <a:srgbClr val="FFFB3B"/>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a:solidFill>
                  <a:srgbClr val="FF0000"/>
                </a:solidFill>
                <a:ea typeface="新細明體" panose="02020500000000000000" pitchFamily="18" charset="-120"/>
              </a:rPr>
              <a:t>Compilation</a:t>
            </a:r>
          </a:p>
          <a:p>
            <a:pPr algn="ctr">
              <a:spcBef>
                <a:spcPct val="0"/>
              </a:spcBef>
              <a:buClrTx/>
              <a:buSzTx/>
              <a:buFontTx/>
              <a:buNone/>
            </a:pPr>
            <a:r>
              <a:rPr lang="en-US" altLang="zh-TW" sz="2400">
                <a:ea typeface="新細明體" panose="02020500000000000000" pitchFamily="18" charset="-120"/>
              </a:rPr>
              <a:t>(javac)</a:t>
            </a:r>
            <a:endParaRPr lang="zh-TW" altLang="en-US" sz="2400">
              <a:ea typeface="新細明體" panose="02020500000000000000"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amond(in)">
                                      <p:cBhvr>
                                        <p:cTn id="7" dur="20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animBg="1"/>
      <p:bldP spid="19"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0"/>
          </p:nvPr>
        </p:nvSpPr>
        <p:spPr/>
        <p:txBody>
          <a:bodyPr/>
          <a:lstStyle/>
          <a:p>
            <a:pPr>
              <a:defRPr/>
            </a:pPr>
            <a:r>
              <a:rPr lang="en-US" altLang="zh-TW"/>
              <a:t>Department of Electrical Engineering</a:t>
            </a:r>
          </a:p>
        </p:txBody>
      </p:sp>
      <p:sp>
        <p:nvSpPr>
          <p:cNvPr id="13"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defRPr/>
            </a:pPr>
            <a:fld id="{8B751B61-81E8-4FFF-9C9E-46E7C3322C62}" type="slidenum">
              <a:rPr lang="zh-TW" altLang="en-US" sz="1200" smtClean="0"/>
              <a:pPr>
                <a:spcBef>
                  <a:spcPct val="0"/>
                </a:spcBef>
                <a:buClrTx/>
                <a:buSzTx/>
                <a:buFontTx/>
                <a:buNone/>
                <a:defRPr/>
              </a:pPr>
              <a:t>13</a:t>
            </a:fld>
            <a:endParaRPr lang="en-US" altLang="zh-TW" sz="1200"/>
          </a:p>
        </p:txBody>
      </p:sp>
      <p:sp>
        <p:nvSpPr>
          <p:cNvPr id="216067" name="Rectangle 3"/>
          <p:cNvSpPr>
            <a:spLocks noGrp="1" noChangeArrowheads="1"/>
          </p:cNvSpPr>
          <p:nvPr>
            <p:ph type="body" idx="1"/>
          </p:nvPr>
        </p:nvSpPr>
        <p:spPr>
          <a:xfrm>
            <a:off x="304800" y="1600200"/>
            <a:ext cx="8458200" cy="4814888"/>
          </a:xfrm>
        </p:spPr>
        <p:txBody>
          <a:bodyPr/>
          <a:lstStyle/>
          <a:p>
            <a:pPr marL="0" indent="0" eaLnBrk="1" hangingPunct="1">
              <a:buFont typeface="Wingdings" panose="05000000000000000000" pitchFamily="2" charset="2"/>
              <a:buNone/>
              <a:defRPr/>
            </a:pPr>
            <a:r>
              <a:rPr lang="en-US" altLang="zh-TW" sz="2800" dirty="0">
                <a:solidFill>
                  <a:srgbClr val="FFFF00"/>
                </a:solidFill>
                <a:ea typeface="新細明體" panose="02020500000000000000" pitchFamily="18" charset="-120"/>
              </a:rPr>
              <a:t>Runtime compilation: </a:t>
            </a:r>
          </a:p>
          <a:p>
            <a:pPr eaLnBrk="1" hangingPunct="1">
              <a:buFont typeface="Wingdings" panose="05000000000000000000" pitchFamily="2" charset="2"/>
              <a:buChar char="v"/>
              <a:defRPr/>
            </a:pPr>
            <a:r>
              <a:rPr lang="en-US" altLang="zh-TW" sz="2800" dirty="0">
                <a:solidFill>
                  <a:srgbClr val="FFFF00"/>
                </a:solidFill>
                <a:ea typeface="新細明體" panose="02020500000000000000" pitchFamily="18" charset="-120"/>
              </a:rPr>
              <a:t>increasingly more popular, considering Java JIT, MS </a:t>
            </a:r>
            <a:r>
              <a:rPr lang="en-US" altLang="zh-TW" sz="2800" dirty="0" err="1">
                <a:solidFill>
                  <a:srgbClr val="FFFF00"/>
                </a:solidFill>
                <a:ea typeface="新細明體" panose="02020500000000000000" pitchFamily="18" charset="-120"/>
              </a:rPr>
              <a:t>.net</a:t>
            </a:r>
            <a:r>
              <a:rPr lang="en-US" altLang="zh-TW" sz="2800" dirty="0">
                <a:solidFill>
                  <a:srgbClr val="FFFF00"/>
                </a:solidFill>
                <a:ea typeface="新細明體" panose="02020500000000000000" pitchFamily="18" charset="-120"/>
              </a:rPr>
              <a:t>, Graphics rendering, GPGPU code generation, …</a:t>
            </a:r>
          </a:p>
          <a:p>
            <a:pPr eaLnBrk="1" hangingPunct="1">
              <a:buFont typeface="Wingdings" panose="05000000000000000000" pitchFamily="2" charset="2"/>
              <a:buChar char="v"/>
              <a:defRPr/>
            </a:pPr>
            <a:r>
              <a:rPr lang="en-US" altLang="zh-TW" sz="2800" dirty="0">
                <a:solidFill>
                  <a:srgbClr val="FFFF00"/>
                </a:solidFill>
                <a:ea typeface="新細明體" panose="02020500000000000000" pitchFamily="18" charset="-120"/>
              </a:rPr>
              <a:t>allowing for more portable applications. </a:t>
            </a:r>
            <a:r>
              <a:rPr lang="en-US" altLang="zh-TW" sz="2800" dirty="0">
                <a:ea typeface="新細明體" panose="02020500000000000000" pitchFamily="18" charset="-120"/>
              </a:rPr>
              <a:t>(</a:t>
            </a:r>
            <a:r>
              <a:rPr lang="en-US" altLang="zh-TW" sz="2800" b="1" i="1" dirty="0">
                <a:ea typeface="新細明體" panose="02020500000000000000" pitchFamily="18" charset="-120"/>
              </a:rPr>
              <a:t>compile then distribute </a:t>
            </a:r>
            <a:r>
              <a:rPr lang="en-US" altLang="zh-TW" sz="2800" i="1" dirty="0">
                <a:ea typeface="新細明體" panose="02020500000000000000" pitchFamily="18" charset="-120"/>
              </a:rPr>
              <a:t>vs. </a:t>
            </a:r>
            <a:r>
              <a:rPr lang="en-US" altLang="zh-TW" sz="2800" b="1" i="1" dirty="0">
                <a:ea typeface="新細明體" panose="02020500000000000000" pitchFamily="18" charset="-120"/>
              </a:rPr>
              <a:t>distribute then compile</a:t>
            </a:r>
            <a:r>
              <a:rPr lang="en-US" altLang="zh-TW" sz="2800" dirty="0">
                <a:ea typeface="新細明體" panose="02020500000000000000" pitchFamily="18" charset="-120"/>
              </a:rPr>
              <a:t>)</a:t>
            </a:r>
          </a:p>
          <a:p>
            <a:pPr eaLnBrk="1" hangingPunct="1">
              <a:buFont typeface="Wingdings" panose="05000000000000000000" pitchFamily="2" charset="2"/>
              <a:buChar char="v"/>
              <a:defRPr/>
            </a:pPr>
            <a:r>
              <a:rPr lang="en-US" altLang="zh-TW" sz="2800" dirty="0" err="1">
                <a:solidFill>
                  <a:srgbClr val="FFFF00"/>
                </a:solidFill>
                <a:ea typeface="新細明體" panose="02020500000000000000" pitchFamily="18" charset="-120"/>
              </a:rPr>
              <a:t>enableing</a:t>
            </a:r>
            <a:r>
              <a:rPr lang="en-US" altLang="zh-TW" sz="2800" dirty="0">
                <a:solidFill>
                  <a:srgbClr val="FFFF00"/>
                </a:solidFill>
                <a:ea typeface="新細明體" panose="02020500000000000000" pitchFamily="18" charset="-120"/>
              </a:rPr>
              <a:t> more </a:t>
            </a:r>
            <a:r>
              <a:rPr lang="en-US" altLang="zh-TW" sz="2800" b="1" i="1" dirty="0">
                <a:solidFill>
                  <a:srgbClr val="FFFF00"/>
                </a:solidFill>
                <a:ea typeface="新細明體" panose="02020500000000000000" pitchFamily="18" charset="-120"/>
              </a:rPr>
              <a:t>machine dependent</a:t>
            </a:r>
            <a:r>
              <a:rPr lang="en-US" altLang="zh-TW" sz="2800" dirty="0">
                <a:solidFill>
                  <a:srgbClr val="FFFF00"/>
                </a:solidFill>
                <a:ea typeface="新細明體" panose="02020500000000000000" pitchFamily="18" charset="-120"/>
              </a:rPr>
              <a:t> code optimizations.</a:t>
            </a:r>
          </a:p>
          <a:p>
            <a:pPr eaLnBrk="1" hangingPunct="1">
              <a:buFont typeface="Wingdings" panose="05000000000000000000" pitchFamily="2" charset="2"/>
              <a:buChar char="v"/>
              <a:defRPr/>
            </a:pPr>
            <a:r>
              <a:rPr lang="en-US" altLang="zh-TW" sz="2800" dirty="0">
                <a:solidFill>
                  <a:srgbClr val="FFFF00"/>
                </a:solidFill>
                <a:ea typeface="新細明體" panose="02020500000000000000" pitchFamily="18" charset="-120"/>
              </a:rPr>
              <a:t>enabling adaptive systems </a:t>
            </a:r>
            <a:r>
              <a:rPr lang="en-US" altLang="zh-TW" sz="2800" dirty="0">
                <a:ea typeface="新細明體" panose="02020500000000000000" pitchFamily="18" charset="-120"/>
              </a:rPr>
              <a:t>(</a:t>
            </a:r>
            <a:r>
              <a:rPr lang="en-US" altLang="zh-TW" sz="2800" i="1" dirty="0">
                <a:ea typeface="新細明體" panose="02020500000000000000" pitchFamily="18" charset="-120"/>
              </a:rPr>
              <a:t>e.g. dispatching OpenCL kernels to a more suitable device</a:t>
            </a:r>
            <a:r>
              <a:rPr lang="en-US" altLang="zh-TW" sz="2800" dirty="0">
                <a:ea typeface="新細明體" panose="02020500000000000000" pitchFamily="18" charset="-120"/>
              </a:rPr>
              <a:t>)</a:t>
            </a:r>
          </a:p>
        </p:txBody>
      </p:sp>
      <p:sp>
        <p:nvSpPr>
          <p:cNvPr id="5" name="Rectangle 2"/>
          <p:cNvSpPr>
            <a:spLocks noGrp="1" noChangeArrowheads="1"/>
          </p:cNvSpPr>
          <p:nvPr>
            <p:ph type="title"/>
          </p:nvPr>
        </p:nvSpPr>
        <p:spPr>
          <a:xfrm>
            <a:off x="457200" y="277813"/>
            <a:ext cx="8229600" cy="990600"/>
          </a:xfrm>
        </p:spPr>
        <p:txBody>
          <a:bodyPr/>
          <a:lstStyle/>
          <a:p>
            <a:pPr eaLnBrk="1" hangingPunct="1">
              <a:defRPr/>
            </a:pPr>
            <a:r>
              <a:rPr lang="en-US" altLang="zh-TW" dirty="0">
                <a:ea typeface="新細明體" pitchFamily="18" charset="-120"/>
              </a:rPr>
              <a:t>Fallacy</a:t>
            </a:r>
            <a:br>
              <a:rPr lang="en-US" altLang="zh-TW" dirty="0">
                <a:ea typeface="新細明體" pitchFamily="18" charset="-120"/>
              </a:rPr>
            </a:br>
            <a:r>
              <a:rPr lang="en-US" altLang="zh-TW" sz="4000" dirty="0">
                <a:ea typeface="新細明體" pitchFamily="18" charset="-120"/>
              </a:rPr>
              <a:t>Compilation is always static.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C7B3C51E-6792-480A-BD7D-046931DD87F6}" type="slidenum">
              <a:rPr lang="zh-TW" altLang="en-US" sz="1200" smtClean="0"/>
              <a:pPr>
                <a:spcBef>
                  <a:spcPct val="0"/>
                </a:spcBef>
                <a:buClrTx/>
                <a:buSzTx/>
                <a:buFontTx/>
                <a:buNone/>
                <a:defRPr/>
              </a:pPr>
              <a:t>14</a:t>
            </a:fld>
            <a:endParaRPr lang="en-US" altLang="zh-TW" sz="1200"/>
          </a:p>
        </p:txBody>
      </p:sp>
      <p:sp>
        <p:nvSpPr>
          <p:cNvPr id="197634" name="Rectangle 2"/>
          <p:cNvSpPr>
            <a:spLocks noGrp="1" noChangeArrowheads="1"/>
          </p:cNvSpPr>
          <p:nvPr>
            <p:ph type="title"/>
          </p:nvPr>
        </p:nvSpPr>
        <p:spPr>
          <a:xfrm>
            <a:off x="457200" y="277813"/>
            <a:ext cx="8229600" cy="990600"/>
          </a:xfrm>
        </p:spPr>
        <p:txBody>
          <a:bodyPr/>
          <a:lstStyle/>
          <a:p>
            <a:pPr eaLnBrk="1" hangingPunct="1">
              <a:defRPr/>
            </a:pPr>
            <a:r>
              <a:rPr lang="en-US" altLang="zh-TW" dirty="0">
                <a:ea typeface="新細明體" pitchFamily="18" charset="-120"/>
              </a:rPr>
              <a:t>Structure of a Compiler</a:t>
            </a:r>
          </a:p>
        </p:txBody>
      </p:sp>
      <p:sp>
        <p:nvSpPr>
          <p:cNvPr id="197635" name="Rectangle 3"/>
          <p:cNvSpPr>
            <a:spLocks noGrp="1" noChangeArrowheads="1"/>
          </p:cNvSpPr>
          <p:nvPr>
            <p:ph type="body" idx="1"/>
          </p:nvPr>
        </p:nvSpPr>
        <p:spPr>
          <a:xfrm>
            <a:off x="609600" y="1219200"/>
            <a:ext cx="7772400" cy="4953000"/>
          </a:xfrm>
        </p:spPr>
        <p:txBody>
          <a:bodyPr/>
          <a:lstStyle/>
          <a:p>
            <a:pPr eaLnBrk="1" hangingPunct="1">
              <a:lnSpc>
                <a:spcPct val="90000"/>
              </a:lnSpc>
              <a:buFont typeface="Wingdings" panose="05000000000000000000" pitchFamily="2" charset="2"/>
              <a:buNone/>
              <a:defRPr/>
            </a:pPr>
            <a:r>
              <a:rPr lang="en-US" altLang="zh-TW" sz="3600" b="1" dirty="0">
                <a:solidFill>
                  <a:srgbClr val="FFFF00"/>
                </a:solidFill>
                <a:ea typeface="新細明體" panose="02020500000000000000" pitchFamily="18" charset="-120"/>
              </a:rPr>
              <a:t>Analysis</a:t>
            </a:r>
          </a:p>
          <a:p>
            <a:pPr eaLnBrk="1" hangingPunct="1">
              <a:lnSpc>
                <a:spcPct val="90000"/>
              </a:lnSpc>
              <a:defRPr/>
            </a:pPr>
            <a:r>
              <a:rPr lang="en-US" altLang="zh-TW" sz="2800" dirty="0">
                <a:solidFill>
                  <a:srgbClr val="FFFF00"/>
                </a:solidFill>
                <a:ea typeface="新細明體" panose="02020500000000000000" pitchFamily="18" charset="-120"/>
              </a:rPr>
              <a:t>Lexical analysis </a:t>
            </a:r>
            <a:r>
              <a:rPr lang="en-US" altLang="zh-TW" sz="2800" dirty="0">
                <a:ea typeface="新細明體" panose="02020500000000000000" pitchFamily="18" charset="-120"/>
              </a:rPr>
              <a:t>(</a:t>
            </a:r>
            <a:r>
              <a:rPr lang="en-US" altLang="zh-TW" sz="2800" dirty="0">
                <a:solidFill>
                  <a:schemeClr val="accent5">
                    <a:lumMod val="90000"/>
                  </a:schemeClr>
                </a:solidFill>
                <a:ea typeface="新細明體" panose="02020500000000000000" pitchFamily="18" charset="-120"/>
              </a:rPr>
              <a:t>Linear</a:t>
            </a:r>
            <a:r>
              <a:rPr lang="en-US" altLang="zh-TW" sz="2800" dirty="0">
                <a:ea typeface="新細明體" panose="02020500000000000000" pitchFamily="18" charset="-120"/>
              </a:rPr>
              <a:t> Analysis) : stream of characters are grouped into </a:t>
            </a:r>
            <a:r>
              <a:rPr lang="en-US" altLang="zh-TW" sz="2800" i="1" dirty="0">
                <a:ea typeface="新細明體" panose="02020500000000000000" pitchFamily="18" charset="-120"/>
              </a:rPr>
              <a:t>tokens</a:t>
            </a:r>
          </a:p>
          <a:p>
            <a:pPr eaLnBrk="1" hangingPunct="1">
              <a:lnSpc>
                <a:spcPct val="90000"/>
              </a:lnSpc>
              <a:defRPr/>
            </a:pPr>
            <a:r>
              <a:rPr lang="en-US" altLang="zh-TW" sz="2800" dirty="0">
                <a:solidFill>
                  <a:srgbClr val="FFFF00"/>
                </a:solidFill>
                <a:ea typeface="新細明體" panose="02020500000000000000" pitchFamily="18" charset="-120"/>
              </a:rPr>
              <a:t>Syntax analysis </a:t>
            </a:r>
            <a:r>
              <a:rPr lang="en-US" altLang="zh-TW" sz="2800" dirty="0">
                <a:ea typeface="新細明體" panose="02020500000000000000" pitchFamily="18" charset="-120"/>
              </a:rPr>
              <a:t>(</a:t>
            </a:r>
            <a:r>
              <a:rPr lang="en-US" altLang="zh-TW" sz="2800" dirty="0">
                <a:solidFill>
                  <a:schemeClr val="accent5">
                    <a:lumMod val="90000"/>
                  </a:schemeClr>
                </a:solidFill>
                <a:ea typeface="新細明體" panose="02020500000000000000" pitchFamily="18" charset="-120"/>
              </a:rPr>
              <a:t>Hierarchical </a:t>
            </a:r>
            <a:r>
              <a:rPr lang="en-US" altLang="zh-TW" sz="2800" dirty="0">
                <a:ea typeface="新細明體" panose="02020500000000000000" pitchFamily="18" charset="-120"/>
              </a:rPr>
              <a:t>Analysis): tokens are grouped hierarchically with collective meaning</a:t>
            </a:r>
          </a:p>
          <a:p>
            <a:pPr eaLnBrk="1" hangingPunct="1">
              <a:lnSpc>
                <a:spcPct val="90000"/>
              </a:lnSpc>
              <a:defRPr/>
            </a:pPr>
            <a:r>
              <a:rPr lang="en-US" altLang="zh-TW" sz="2800" dirty="0">
                <a:solidFill>
                  <a:srgbClr val="FFFF00"/>
                </a:solidFill>
                <a:ea typeface="新細明體" panose="02020500000000000000" pitchFamily="18" charset="-120"/>
              </a:rPr>
              <a:t>Semantic Analysis</a:t>
            </a:r>
            <a:r>
              <a:rPr lang="en-US" altLang="zh-TW" sz="2800" dirty="0">
                <a:ea typeface="新細明體" panose="02020500000000000000" pitchFamily="18" charset="-120"/>
              </a:rPr>
              <a:t>: ensuring the components of a program fit together (type, scope, ..)</a:t>
            </a:r>
          </a:p>
          <a:p>
            <a:pPr eaLnBrk="1" hangingPunct="1">
              <a:lnSpc>
                <a:spcPct val="90000"/>
              </a:lnSpc>
              <a:buFont typeface="Wingdings" panose="05000000000000000000" pitchFamily="2" charset="2"/>
              <a:buNone/>
              <a:defRPr/>
            </a:pPr>
            <a:r>
              <a:rPr lang="en-US" altLang="zh-TW" sz="3600" b="1" dirty="0">
                <a:solidFill>
                  <a:srgbClr val="FFFF00"/>
                </a:solidFill>
                <a:ea typeface="新細明體" panose="02020500000000000000" pitchFamily="18" charset="-120"/>
              </a:rPr>
              <a:t>Synthesis</a:t>
            </a:r>
          </a:p>
          <a:p>
            <a:pPr eaLnBrk="1" hangingPunct="1">
              <a:lnSpc>
                <a:spcPct val="90000"/>
              </a:lnSpc>
              <a:buClr>
                <a:srgbClr val="FF7070"/>
              </a:buClr>
              <a:buFont typeface="Wingdings" panose="05000000000000000000" pitchFamily="2" charset="2"/>
              <a:buChar char="q"/>
              <a:defRPr/>
            </a:pPr>
            <a:r>
              <a:rPr lang="en-US" altLang="zh-TW" sz="2800" dirty="0">
                <a:solidFill>
                  <a:schemeClr val="accent1"/>
                </a:solidFill>
                <a:ea typeface="新細明體" panose="02020500000000000000" pitchFamily="18" charset="-120"/>
              </a:rPr>
              <a:t> </a:t>
            </a:r>
            <a:r>
              <a:rPr lang="en-US" altLang="zh-TW" sz="2800" dirty="0">
                <a:solidFill>
                  <a:srgbClr val="FFFF00"/>
                </a:solidFill>
                <a:ea typeface="新細明體" panose="02020500000000000000" pitchFamily="18" charset="-120"/>
              </a:rPr>
              <a:t>Code Generation and Optimization</a:t>
            </a:r>
          </a:p>
          <a:p>
            <a:pPr eaLnBrk="1" hangingPunct="1">
              <a:lnSpc>
                <a:spcPct val="90000"/>
              </a:lnSpc>
              <a:buFont typeface="Wingdings" panose="05000000000000000000" pitchFamily="2" charset="2"/>
              <a:buNone/>
              <a:defRPr/>
            </a:pPr>
            <a:endParaRPr lang="en-US" altLang="zh-TW" sz="3600" dirty="0">
              <a:ea typeface="新細明體" panose="02020500000000000000" pitchFamily="18" charset="-120"/>
            </a:endParaRPr>
          </a:p>
          <a:p>
            <a:pPr eaLnBrk="1" hangingPunct="1">
              <a:lnSpc>
                <a:spcPct val="90000"/>
              </a:lnSpc>
              <a:buFont typeface="Wingdings" panose="05000000000000000000" pitchFamily="2" charset="2"/>
              <a:buNone/>
              <a:defRPr/>
            </a:pPr>
            <a:endParaRPr lang="en-US" altLang="zh-TW" dirty="0">
              <a:ea typeface="新細明體" panose="02020500000000000000" pitchFamily="18" charset="-12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noGrp="1"/>
          </p:cNvSpPr>
          <p:nvPr/>
        </p:nvSpPr>
        <p:spPr bwMode="auto">
          <a:xfrm>
            <a:off x="1676400" y="6477000"/>
            <a:ext cx="6172200" cy="304800"/>
          </a:xfrm>
          <a:prstGeom prst="rect">
            <a:avLst/>
          </a:prstGeom>
          <a:noFill/>
          <a:ln>
            <a:miter lim="800000"/>
            <a:headEnd/>
            <a:tailEnd/>
          </a:ln>
        </p:spPr>
        <p:txBody>
          <a:bodyPr anchor="b"/>
          <a:lstStyle/>
          <a:p>
            <a:pPr algn="ctr" eaLnBrk="1" hangingPunct="1">
              <a:defRPr/>
            </a:pPr>
            <a:r>
              <a:rPr lang="en-US" altLang="zh-TW" sz="1400">
                <a:effectLst>
                  <a:outerShdw blurRad="38100" dist="38100" dir="2700000" algn="tl">
                    <a:srgbClr val="000000"/>
                  </a:outerShdw>
                </a:effectLst>
                <a:latin typeface="Arial" charset="0"/>
                <a:ea typeface="新細明體" pitchFamily="18" charset="-120"/>
              </a:rPr>
              <a:t>Department of Computer Science and Engineering</a:t>
            </a:r>
          </a:p>
        </p:txBody>
      </p:sp>
      <p:sp>
        <p:nvSpPr>
          <p:cNvPr id="6" name="Slide Number Placeholder 5"/>
          <p:cNvSpPr txBox="1">
            <a:spLocks noGrp="1"/>
          </p:cNvSpPr>
          <p:nvPr/>
        </p:nvSpPr>
        <p:spPr bwMode="auto">
          <a:xfrm>
            <a:off x="8001000" y="6477000"/>
            <a:ext cx="609600" cy="304800"/>
          </a:xfrm>
          <a:prstGeom prst="rect">
            <a:avLst/>
          </a:prstGeom>
          <a:noFill/>
          <a:ln>
            <a:miter lim="800000"/>
            <a:headEnd/>
            <a:tailEnd/>
          </a:ln>
        </p:spPr>
        <p:txBody>
          <a:bodyPr anchor="b"/>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r" eaLnBrk="1" hangingPunct="1">
              <a:spcBef>
                <a:spcPct val="0"/>
              </a:spcBef>
              <a:buClrTx/>
              <a:buSzTx/>
              <a:buFontTx/>
              <a:buNone/>
              <a:defRPr/>
            </a:pPr>
            <a:fld id="{F86E6008-003D-42C7-9D1C-21D9935B8705}" type="slidenum">
              <a:rPr lang="zh-TW" altLang="en-US" sz="1200" smtClean="0">
                <a:effectLst>
                  <a:outerShdw blurRad="38100" dist="38100" dir="2700000" algn="tl">
                    <a:srgbClr val="000000"/>
                  </a:outerShdw>
                </a:effectLst>
                <a:ea typeface="新細明體" panose="02020500000000000000" pitchFamily="18" charset="-120"/>
              </a:rPr>
              <a:pPr algn="r" eaLnBrk="1" hangingPunct="1">
                <a:spcBef>
                  <a:spcPct val="0"/>
                </a:spcBef>
                <a:buClrTx/>
                <a:buSzTx/>
                <a:buFontTx/>
                <a:buNone/>
                <a:defRPr/>
              </a:pPr>
              <a:t>15</a:t>
            </a:fld>
            <a:endParaRPr lang="en-US" altLang="zh-TW" sz="1200">
              <a:effectLst>
                <a:outerShdw blurRad="38100" dist="38100" dir="2700000" algn="tl">
                  <a:srgbClr val="000000"/>
                </a:outerShdw>
              </a:effectLst>
              <a:ea typeface="新細明體" panose="02020500000000000000" pitchFamily="18" charset="-120"/>
            </a:endParaRPr>
          </a:p>
        </p:txBody>
      </p:sp>
      <p:grpSp>
        <p:nvGrpSpPr>
          <p:cNvPr id="36868" name="群組 1"/>
          <p:cNvGrpSpPr>
            <a:grpSpLocks/>
          </p:cNvGrpSpPr>
          <p:nvPr/>
        </p:nvGrpSpPr>
        <p:grpSpPr bwMode="auto">
          <a:xfrm>
            <a:off x="836613" y="1260475"/>
            <a:ext cx="7696200" cy="5195888"/>
            <a:chOff x="762000" y="533400"/>
            <a:chExt cx="7696200" cy="5196680"/>
          </a:xfrm>
        </p:grpSpPr>
        <p:sp>
          <p:nvSpPr>
            <p:cNvPr id="36872" name="Rectangle 7"/>
            <p:cNvSpPr>
              <a:spLocks noChangeArrowheads="1"/>
            </p:cNvSpPr>
            <p:nvPr/>
          </p:nvSpPr>
          <p:spPr bwMode="auto">
            <a:xfrm>
              <a:off x="2133600" y="914400"/>
              <a:ext cx="1219200" cy="685800"/>
            </a:xfrm>
            <a:prstGeom prst="rect">
              <a:avLst/>
            </a:prstGeom>
            <a:solidFill>
              <a:srgbClr val="FFFF00"/>
            </a:solidFill>
            <a:ln w="12700">
              <a:solidFill>
                <a:srgbClr val="0000FF"/>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kumimoji="1" lang="en-US" altLang="zh-TW" sz="2000" b="1">
                  <a:solidFill>
                    <a:srgbClr val="0033CC"/>
                  </a:solidFill>
                  <a:latin typeface="Times New Roman" panose="02020603050405020304" pitchFamily="18" charset="0"/>
                  <a:ea typeface="新細明體" panose="02020500000000000000" pitchFamily="18" charset="-120"/>
                </a:rPr>
                <a:t>Scanner</a:t>
              </a:r>
            </a:p>
          </p:txBody>
        </p:sp>
        <p:sp>
          <p:nvSpPr>
            <p:cNvPr id="36873" name="Rectangle 8"/>
            <p:cNvSpPr>
              <a:spLocks noChangeArrowheads="1"/>
            </p:cNvSpPr>
            <p:nvPr/>
          </p:nvSpPr>
          <p:spPr bwMode="auto">
            <a:xfrm>
              <a:off x="4572000" y="914400"/>
              <a:ext cx="1219200" cy="685800"/>
            </a:xfrm>
            <a:prstGeom prst="rect">
              <a:avLst/>
            </a:prstGeom>
            <a:solidFill>
              <a:srgbClr val="FFFF00"/>
            </a:solidFill>
            <a:ln w="9525">
              <a:solidFill>
                <a:srgbClr val="000080"/>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kumimoji="1" lang="en-US" altLang="zh-TW" sz="2000" b="1">
                  <a:solidFill>
                    <a:srgbClr val="0033CC"/>
                  </a:solidFill>
                  <a:latin typeface="Times New Roman" panose="02020603050405020304" pitchFamily="18" charset="0"/>
                  <a:ea typeface="新細明體" panose="02020500000000000000" pitchFamily="18" charset="-120"/>
                </a:rPr>
                <a:t>Parser</a:t>
              </a:r>
            </a:p>
          </p:txBody>
        </p:sp>
        <p:sp>
          <p:nvSpPr>
            <p:cNvPr id="36874" name="Rectangle 9"/>
            <p:cNvSpPr>
              <a:spLocks noChangeArrowheads="1"/>
            </p:cNvSpPr>
            <p:nvPr/>
          </p:nvSpPr>
          <p:spPr bwMode="auto">
            <a:xfrm>
              <a:off x="7010400" y="914400"/>
              <a:ext cx="1219200" cy="685800"/>
            </a:xfrm>
            <a:prstGeom prst="rect">
              <a:avLst/>
            </a:prstGeom>
            <a:solidFill>
              <a:srgbClr val="FFFF00"/>
            </a:solidFill>
            <a:ln w="9525">
              <a:solidFill>
                <a:srgbClr val="000080"/>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kumimoji="1" lang="en-US" altLang="zh-TW" sz="2000" b="1">
                  <a:solidFill>
                    <a:srgbClr val="0033CC"/>
                  </a:solidFill>
                  <a:latin typeface="Times New Roman" panose="02020603050405020304" pitchFamily="18" charset="0"/>
                  <a:ea typeface="新細明體" panose="02020500000000000000" pitchFamily="18" charset="-120"/>
                </a:rPr>
                <a:t>Semantic</a:t>
              </a:r>
            </a:p>
            <a:p>
              <a:pPr algn="ctr" eaLnBrk="1" hangingPunct="1">
                <a:spcBef>
                  <a:spcPct val="0"/>
                </a:spcBef>
                <a:buClrTx/>
                <a:buSzTx/>
                <a:buFontTx/>
                <a:buNone/>
              </a:pPr>
              <a:r>
                <a:rPr kumimoji="1" lang="en-US" altLang="zh-TW" sz="2000" b="1">
                  <a:solidFill>
                    <a:srgbClr val="0033CC"/>
                  </a:solidFill>
                  <a:latin typeface="Times New Roman" panose="02020603050405020304" pitchFamily="18" charset="0"/>
                  <a:ea typeface="新細明體" panose="02020500000000000000" pitchFamily="18" charset="-120"/>
                </a:rPr>
                <a:t>Routines</a:t>
              </a:r>
            </a:p>
          </p:txBody>
        </p:sp>
        <p:sp>
          <p:nvSpPr>
            <p:cNvPr id="36875" name="Rectangle 10"/>
            <p:cNvSpPr>
              <a:spLocks noChangeArrowheads="1"/>
            </p:cNvSpPr>
            <p:nvPr/>
          </p:nvSpPr>
          <p:spPr bwMode="auto">
            <a:xfrm>
              <a:off x="6972300" y="4061222"/>
              <a:ext cx="1219200" cy="685800"/>
            </a:xfrm>
            <a:prstGeom prst="rect">
              <a:avLst/>
            </a:prstGeom>
            <a:solidFill>
              <a:srgbClr val="FFFF00"/>
            </a:solidFill>
            <a:ln w="9525">
              <a:solidFill>
                <a:srgbClr val="000080"/>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kumimoji="1" lang="en-US" altLang="zh-TW" sz="2000" b="1">
                  <a:solidFill>
                    <a:srgbClr val="0033CC"/>
                  </a:solidFill>
                  <a:latin typeface="Times New Roman" panose="02020603050405020304" pitchFamily="18" charset="0"/>
                  <a:ea typeface="新細明體" panose="02020500000000000000" pitchFamily="18" charset="-120"/>
                </a:rPr>
                <a:t>Code</a:t>
              </a:r>
            </a:p>
            <a:p>
              <a:pPr algn="ctr" eaLnBrk="1" hangingPunct="1">
                <a:spcBef>
                  <a:spcPct val="0"/>
                </a:spcBef>
                <a:buClrTx/>
                <a:buSzTx/>
                <a:buFontTx/>
                <a:buNone/>
              </a:pPr>
              <a:r>
                <a:rPr kumimoji="1" lang="en-US" altLang="zh-TW" sz="2000" b="1">
                  <a:solidFill>
                    <a:srgbClr val="0033CC"/>
                  </a:solidFill>
                  <a:latin typeface="Times New Roman" panose="02020603050405020304" pitchFamily="18" charset="0"/>
                  <a:ea typeface="新細明體" panose="02020500000000000000" pitchFamily="18" charset="-120"/>
                </a:rPr>
                <a:t>Generator</a:t>
              </a:r>
            </a:p>
          </p:txBody>
        </p:sp>
        <p:sp>
          <p:nvSpPr>
            <p:cNvPr id="36876" name="Rectangle 11"/>
            <p:cNvSpPr>
              <a:spLocks noChangeArrowheads="1"/>
            </p:cNvSpPr>
            <p:nvPr/>
          </p:nvSpPr>
          <p:spPr bwMode="auto">
            <a:xfrm>
              <a:off x="7010400" y="2819400"/>
              <a:ext cx="1219200" cy="685800"/>
            </a:xfrm>
            <a:prstGeom prst="rect">
              <a:avLst/>
            </a:prstGeom>
            <a:solidFill>
              <a:srgbClr val="FFFF00"/>
            </a:solidFill>
            <a:ln w="9525">
              <a:solidFill>
                <a:srgbClr val="000080"/>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kumimoji="1" lang="en-US" altLang="zh-TW" sz="2000" b="1">
                  <a:solidFill>
                    <a:srgbClr val="0033CC"/>
                  </a:solidFill>
                  <a:latin typeface="Times New Roman" panose="02020603050405020304" pitchFamily="18" charset="0"/>
                  <a:ea typeface="新細明體" panose="02020500000000000000" pitchFamily="18" charset="-120"/>
                </a:rPr>
                <a:t>Optimizer</a:t>
              </a:r>
            </a:p>
          </p:txBody>
        </p:sp>
        <p:sp>
          <p:nvSpPr>
            <p:cNvPr id="36877" name="Line 12"/>
            <p:cNvSpPr>
              <a:spLocks noChangeShapeType="1"/>
            </p:cNvSpPr>
            <p:nvPr/>
          </p:nvSpPr>
          <p:spPr bwMode="auto">
            <a:xfrm>
              <a:off x="914400" y="1219200"/>
              <a:ext cx="1219200" cy="0"/>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36878" name="Line 13"/>
            <p:cNvSpPr>
              <a:spLocks noChangeShapeType="1"/>
            </p:cNvSpPr>
            <p:nvPr/>
          </p:nvSpPr>
          <p:spPr bwMode="auto">
            <a:xfrm>
              <a:off x="3352800" y="1219200"/>
              <a:ext cx="1219200" cy="0"/>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36879" name="Line 14"/>
            <p:cNvSpPr>
              <a:spLocks noChangeShapeType="1"/>
            </p:cNvSpPr>
            <p:nvPr/>
          </p:nvSpPr>
          <p:spPr bwMode="auto">
            <a:xfrm>
              <a:off x="5791200" y="1219200"/>
              <a:ext cx="1219200" cy="0"/>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36880" name="Line 15"/>
            <p:cNvSpPr>
              <a:spLocks noChangeShapeType="1"/>
            </p:cNvSpPr>
            <p:nvPr/>
          </p:nvSpPr>
          <p:spPr bwMode="auto">
            <a:xfrm>
              <a:off x="7620000" y="1600200"/>
              <a:ext cx="0" cy="1219200"/>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36881" name="Line 16"/>
            <p:cNvSpPr>
              <a:spLocks noChangeShapeType="1"/>
            </p:cNvSpPr>
            <p:nvPr/>
          </p:nvSpPr>
          <p:spPr bwMode="auto">
            <a:xfrm>
              <a:off x="7620000" y="3505200"/>
              <a:ext cx="0" cy="990600"/>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36882" name="Line 17"/>
            <p:cNvSpPr>
              <a:spLocks noChangeShapeType="1"/>
            </p:cNvSpPr>
            <p:nvPr/>
          </p:nvSpPr>
          <p:spPr bwMode="auto">
            <a:xfrm>
              <a:off x="7620000" y="4747022"/>
              <a:ext cx="0" cy="381000"/>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36883" name="Text Box 18"/>
            <p:cNvSpPr txBox="1">
              <a:spLocks noChangeArrowheads="1"/>
            </p:cNvSpPr>
            <p:nvPr/>
          </p:nvSpPr>
          <p:spPr bwMode="auto">
            <a:xfrm>
              <a:off x="762000" y="533400"/>
              <a:ext cx="1060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Source</a:t>
              </a:r>
            </a:p>
            <a:p>
              <a:pP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Program</a:t>
              </a:r>
            </a:p>
          </p:txBody>
        </p:sp>
        <p:sp>
          <p:nvSpPr>
            <p:cNvPr id="36884" name="Text Box 19"/>
            <p:cNvSpPr txBox="1">
              <a:spLocks noChangeArrowheads="1"/>
            </p:cNvSpPr>
            <p:nvPr/>
          </p:nvSpPr>
          <p:spPr bwMode="auto">
            <a:xfrm>
              <a:off x="762000" y="1295400"/>
              <a:ext cx="1263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(Character</a:t>
              </a:r>
            </a:p>
            <a:p>
              <a:pP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Stream)</a:t>
              </a:r>
            </a:p>
          </p:txBody>
        </p:sp>
        <p:sp>
          <p:nvSpPr>
            <p:cNvPr id="36885" name="Text Box 20"/>
            <p:cNvSpPr txBox="1">
              <a:spLocks noChangeArrowheads="1"/>
            </p:cNvSpPr>
            <p:nvPr/>
          </p:nvSpPr>
          <p:spPr bwMode="auto">
            <a:xfrm>
              <a:off x="3429000" y="838200"/>
              <a:ext cx="895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Tokens</a:t>
              </a:r>
            </a:p>
          </p:txBody>
        </p:sp>
        <p:sp>
          <p:nvSpPr>
            <p:cNvPr id="36886" name="Text Box 21"/>
            <p:cNvSpPr txBox="1">
              <a:spLocks noChangeArrowheads="1"/>
            </p:cNvSpPr>
            <p:nvPr/>
          </p:nvSpPr>
          <p:spPr bwMode="auto">
            <a:xfrm>
              <a:off x="5943600" y="838200"/>
              <a:ext cx="1085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Syntactic</a:t>
              </a:r>
            </a:p>
          </p:txBody>
        </p:sp>
        <p:sp>
          <p:nvSpPr>
            <p:cNvPr id="36887" name="Text Box 22"/>
            <p:cNvSpPr txBox="1">
              <a:spLocks noChangeArrowheads="1"/>
            </p:cNvSpPr>
            <p:nvPr/>
          </p:nvSpPr>
          <p:spPr bwMode="auto">
            <a:xfrm>
              <a:off x="5943600" y="1219200"/>
              <a:ext cx="1123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Structure</a:t>
              </a:r>
            </a:p>
          </p:txBody>
        </p:sp>
        <p:sp>
          <p:nvSpPr>
            <p:cNvPr id="36888" name="Text Box 23"/>
            <p:cNvSpPr txBox="1">
              <a:spLocks noChangeArrowheads="1"/>
            </p:cNvSpPr>
            <p:nvPr/>
          </p:nvSpPr>
          <p:spPr bwMode="auto">
            <a:xfrm>
              <a:off x="6019800" y="1752600"/>
              <a:ext cx="1670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Intermediate</a:t>
              </a:r>
            </a:p>
            <a:p>
              <a:pP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Representation</a:t>
              </a:r>
            </a:p>
          </p:txBody>
        </p:sp>
        <p:sp>
          <p:nvSpPr>
            <p:cNvPr id="36889" name="Line 24"/>
            <p:cNvSpPr>
              <a:spLocks noChangeShapeType="1"/>
            </p:cNvSpPr>
            <p:nvPr/>
          </p:nvSpPr>
          <p:spPr bwMode="auto">
            <a:xfrm flipH="1">
              <a:off x="6629400" y="2590800"/>
              <a:ext cx="990600" cy="0"/>
            </a:xfrm>
            <a:prstGeom prst="line">
              <a:avLst/>
            </a:prstGeom>
            <a:noFill/>
            <a:ln w="25400">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36890" name="Line 25"/>
            <p:cNvSpPr>
              <a:spLocks noChangeShapeType="1"/>
            </p:cNvSpPr>
            <p:nvPr/>
          </p:nvSpPr>
          <p:spPr bwMode="auto">
            <a:xfrm flipH="1">
              <a:off x="6629399" y="2590800"/>
              <a:ext cx="1" cy="1112043"/>
            </a:xfrm>
            <a:prstGeom prst="line">
              <a:avLst/>
            </a:prstGeom>
            <a:noFill/>
            <a:ln w="25400">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36891" name="Line 26"/>
            <p:cNvSpPr>
              <a:spLocks noChangeShapeType="1"/>
            </p:cNvSpPr>
            <p:nvPr/>
          </p:nvSpPr>
          <p:spPr bwMode="auto">
            <a:xfrm>
              <a:off x="6629400" y="3702843"/>
              <a:ext cx="990600" cy="0"/>
            </a:xfrm>
            <a:prstGeom prst="line">
              <a:avLst/>
            </a:prstGeom>
            <a:noFill/>
            <a:ln w="25400">
              <a:solidFill>
                <a:schemeClr val="tx1"/>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36892" name="Text Box 27"/>
            <p:cNvSpPr txBox="1">
              <a:spLocks noChangeArrowheads="1"/>
            </p:cNvSpPr>
            <p:nvPr/>
          </p:nvSpPr>
          <p:spPr bwMode="auto">
            <a:xfrm>
              <a:off x="6705600" y="5088730"/>
              <a:ext cx="1752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Target Machine</a:t>
              </a:r>
            </a:p>
            <a:p>
              <a:pPr algn="ct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Code</a:t>
              </a:r>
            </a:p>
          </p:txBody>
        </p:sp>
        <p:sp>
          <p:nvSpPr>
            <p:cNvPr id="36893" name="Rectangle 28"/>
            <p:cNvSpPr>
              <a:spLocks noChangeArrowheads="1"/>
            </p:cNvSpPr>
            <p:nvPr/>
          </p:nvSpPr>
          <p:spPr bwMode="auto">
            <a:xfrm>
              <a:off x="1308538" y="2513807"/>
              <a:ext cx="1991998" cy="990600"/>
            </a:xfrm>
            <a:prstGeom prst="rect">
              <a:avLst/>
            </a:prstGeom>
            <a:solidFill>
              <a:schemeClr val="tx1"/>
            </a:solidFill>
            <a:ln w="9525">
              <a:solidFill>
                <a:srgbClr val="000080"/>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kumimoji="1" lang="en-US" altLang="zh-TW" sz="2000" b="1">
                  <a:solidFill>
                    <a:srgbClr val="0033CC"/>
                  </a:solidFill>
                  <a:latin typeface="Times New Roman" panose="02020603050405020304" pitchFamily="18" charset="0"/>
                  <a:ea typeface="新細明體" panose="02020500000000000000" pitchFamily="18" charset="-120"/>
                </a:rPr>
                <a:t>Symbol and</a:t>
              </a:r>
            </a:p>
            <a:p>
              <a:pPr algn="ctr" eaLnBrk="1" hangingPunct="1">
                <a:spcBef>
                  <a:spcPct val="0"/>
                </a:spcBef>
                <a:buClrTx/>
                <a:buSzTx/>
                <a:buFontTx/>
                <a:buNone/>
              </a:pPr>
              <a:r>
                <a:rPr kumimoji="1" lang="en-US" altLang="zh-TW" sz="2000" b="1">
                  <a:solidFill>
                    <a:srgbClr val="0033CC"/>
                  </a:solidFill>
                  <a:latin typeface="Times New Roman" panose="02020603050405020304" pitchFamily="18" charset="0"/>
                  <a:ea typeface="新細明體" panose="02020500000000000000" pitchFamily="18" charset="-120"/>
                </a:rPr>
                <a:t>Attribute</a:t>
              </a:r>
            </a:p>
            <a:p>
              <a:pPr algn="ctr" eaLnBrk="1" hangingPunct="1">
                <a:spcBef>
                  <a:spcPct val="0"/>
                </a:spcBef>
                <a:buClrTx/>
                <a:buSzTx/>
                <a:buFontTx/>
                <a:buNone/>
              </a:pPr>
              <a:r>
                <a:rPr kumimoji="1" lang="en-US" altLang="zh-TW" sz="2000" b="1">
                  <a:solidFill>
                    <a:srgbClr val="0033CC"/>
                  </a:solidFill>
                  <a:latin typeface="Times New Roman" panose="02020603050405020304" pitchFamily="18" charset="0"/>
                  <a:ea typeface="新細明體" panose="02020500000000000000" pitchFamily="18" charset="-120"/>
                </a:rPr>
                <a:t>Tables</a:t>
              </a:r>
            </a:p>
          </p:txBody>
        </p:sp>
        <p:sp>
          <p:nvSpPr>
            <p:cNvPr id="36894" name="Text Box 29"/>
            <p:cNvSpPr txBox="1">
              <a:spLocks noChangeArrowheads="1"/>
            </p:cNvSpPr>
            <p:nvPr/>
          </p:nvSpPr>
          <p:spPr bwMode="auto">
            <a:xfrm>
              <a:off x="1308538" y="3656807"/>
              <a:ext cx="1954924"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(Used by all</a:t>
              </a:r>
            </a:p>
            <a:p>
              <a:pPr eaLnBrk="1" hangingPunct="1">
                <a:spcBef>
                  <a:spcPct val="0"/>
                </a:spcBef>
                <a:buClrTx/>
                <a:buSzTx/>
                <a:buFontTx/>
                <a:buNone/>
              </a:pPr>
              <a:r>
                <a:rPr kumimoji="1" lang="en-US" altLang="zh-TW" sz="1800" b="1">
                  <a:latin typeface="Times New Roman" panose="02020603050405020304" pitchFamily="18" charset="0"/>
                  <a:ea typeface="新細明體" panose="02020500000000000000" pitchFamily="18" charset="-120"/>
                </a:rPr>
                <a:t>Phases of  the Compiler)</a:t>
              </a:r>
            </a:p>
          </p:txBody>
        </p:sp>
      </p:grpSp>
      <p:sp>
        <p:nvSpPr>
          <p:cNvPr id="36869" name="Text Box 30"/>
          <p:cNvSpPr txBox="1">
            <a:spLocks noChangeArrowheads="1"/>
          </p:cNvSpPr>
          <p:nvPr/>
        </p:nvSpPr>
        <p:spPr bwMode="auto">
          <a:xfrm>
            <a:off x="26988" y="506413"/>
            <a:ext cx="91170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0"/>
              </a:spcBef>
              <a:buClrTx/>
              <a:buSzTx/>
              <a:buFontTx/>
              <a:buNone/>
            </a:pPr>
            <a:r>
              <a:rPr kumimoji="1" lang="en-US" altLang="zh-TW" sz="4000" b="1">
                <a:latin typeface="Times New Roman" panose="02020603050405020304" pitchFamily="18" charset="0"/>
                <a:ea typeface="新細明體" panose="02020500000000000000" pitchFamily="18" charset="-120"/>
              </a:rPr>
              <a:t>Structure of a Syntax-Directed Compiler</a:t>
            </a:r>
          </a:p>
        </p:txBody>
      </p:sp>
      <p:sp>
        <p:nvSpPr>
          <p:cNvPr id="3" name="Footer Placeholder 2"/>
          <p:cNvSpPr>
            <a:spLocks noGrp="1"/>
          </p:cNvSpPr>
          <p:nvPr>
            <p:ph type="ftr" sz="quarter" idx="10"/>
          </p:nvPr>
        </p:nvSpPr>
        <p:spPr/>
        <p:txBody>
          <a:bodyPr/>
          <a:lstStyle/>
          <a:p>
            <a:pPr>
              <a:defRPr/>
            </a:pPr>
            <a:r>
              <a:rPr lang="en-US" altLang="zh-TW"/>
              <a:t>Department of Electrical Engineering</a:t>
            </a:r>
          </a:p>
        </p:txBody>
      </p:sp>
      <p:sp>
        <p:nvSpPr>
          <p:cNvPr id="7" name="Slide Number Placeholder 6"/>
          <p:cNvSpPr>
            <a:spLocks noGrp="1"/>
          </p:cNvSpPr>
          <p:nvPr>
            <p:ph type="sldNum" sz="quarter" idx="11"/>
          </p:nvPr>
        </p:nvSpPr>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defRPr/>
            </a:pPr>
            <a:fld id="{4658D84E-96CA-46E1-9217-F9E46A91BFFB}" type="slidenum">
              <a:rPr lang="zh-TW" altLang="en-US" sz="1200" smtClean="0"/>
              <a:pPr>
                <a:spcBef>
                  <a:spcPct val="0"/>
                </a:spcBef>
                <a:buClrTx/>
                <a:buSzTx/>
                <a:buFontTx/>
                <a:buNone/>
                <a:defRPr/>
              </a:pPr>
              <a:t>15</a:t>
            </a:fld>
            <a:endParaRPr lang="en-US" altLang="zh-TW"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0"/>
          </p:nvPr>
        </p:nvSpPr>
        <p:spPr/>
        <p:txBody>
          <a:bodyPr/>
          <a:lstStyle/>
          <a:p>
            <a:pPr>
              <a:defRPr/>
            </a:pPr>
            <a:r>
              <a:rPr lang="en-US" altLang="zh-TW"/>
              <a:t>Department of Electrical Engineering</a:t>
            </a:r>
          </a:p>
        </p:txBody>
      </p:sp>
      <p:sp>
        <p:nvSpPr>
          <p:cNvPr id="13"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BC730129-9728-456D-8B92-BFA0A9A2911F}" type="slidenum">
              <a:rPr lang="zh-TW" altLang="en-US" sz="1200" smtClean="0"/>
              <a:pPr>
                <a:spcBef>
                  <a:spcPct val="0"/>
                </a:spcBef>
                <a:buClrTx/>
                <a:buSzTx/>
                <a:buFontTx/>
                <a:buNone/>
                <a:defRPr/>
              </a:pPr>
              <a:t>16</a:t>
            </a:fld>
            <a:endParaRPr lang="en-US" altLang="zh-TW" sz="1200"/>
          </a:p>
        </p:txBody>
      </p:sp>
      <p:sp>
        <p:nvSpPr>
          <p:cNvPr id="216067" name="Rectangle 3"/>
          <p:cNvSpPr>
            <a:spLocks noGrp="1" noChangeArrowheads="1"/>
          </p:cNvSpPr>
          <p:nvPr>
            <p:ph type="body" idx="1"/>
          </p:nvPr>
        </p:nvSpPr>
        <p:spPr>
          <a:xfrm>
            <a:off x="304800" y="1600200"/>
            <a:ext cx="8458200" cy="4814888"/>
          </a:xfrm>
        </p:spPr>
        <p:txBody>
          <a:bodyPr/>
          <a:lstStyle/>
          <a:p>
            <a:pPr eaLnBrk="1" hangingPunct="1">
              <a:buFont typeface="Wingdings" panose="05000000000000000000" pitchFamily="2" charset="2"/>
              <a:buChar char="v"/>
              <a:defRPr/>
            </a:pPr>
            <a:r>
              <a:rPr lang="en-US" altLang="zh-TW" dirty="0">
                <a:solidFill>
                  <a:srgbClr val="FFFF00"/>
                </a:solidFill>
                <a:ea typeface="新細明體" panose="02020500000000000000" pitchFamily="18" charset="-120"/>
              </a:rPr>
              <a:t> Translation actions attached to each rule of grammar.</a:t>
            </a:r>
          </a:p>
          <a:p>
            <a:pPr eaLnBrk="1" hangingPunct="1">
              <a:buFont typeface="Wingdings" panose="05000000000000000000" pitchFamily="2" charset="2"/>
              <a:buChar char="v"/>
              <a:defRPr/>
            </a:pPr>
            <a:r>
              <a:rPr lang="en-US" altLang="zh-TW" dirty="0">
                <a:solidFill>
                  <a:srgbClr val="FFFF00"/>
                </a:solidFill>
                <a:ea typeface="新細明體" panose="02020500000000000000" pitchFamily="18" charset="-120"/>
              </a:rPr>
              <a:t> Parsing is the driver of compilation</a:t>
            </a:r>
          </a:p>
          <a:p>
            <a:pPr eaLnBrk="1" hangingPunct="1">
              <a:buFont typeface="Wingdings" panose="05000000000000000000" pitchFamily="2" charset="2"/>
              <a:buChar char="v"/>
              <a:defRPr/>
            </a:pPr>
            <a:r>
              <a:rPr lang="en-US" altLang="zh-TW" dirty="0">
                <a:solidFill>
                  <a:srgbClr val="FFFF00"/>
                </a:solidFill>
                <a:ea typeface="新細明體" panose="02020500000000000000" pitchFamily="18" charset="-120"/>
              </a:rPr>
              <a:t> Once a construct is recognized by a grammar rule, a sequence of actions are taken to perform semantic checks, code generation.</a:t>
            </a:r>
          </a:p>
          <a:p>
            <a:pPr marL="457200" lvl="1" indent="0" eaLnBrk="1" hangingPunct="1">
              <a:buFontTx/>
              <a:buNone/>
              <a:defRPr/>
            </a:pPr>
            <a:endParaRPr lang="en-US" altLang="zh-TW" dirty="0">
              <a:ea typeface="新細明體" panose="02020500000000000000" pitchFamily="18" charset="-120"/>
            </a:endParaRPr>
          </a:p>
        </p:txBody>
      </p:sp>
      <p:sp>
        <p:nvSpPr>
          <p:cNvPr id="5" name="Rectangle 2"/>
          <p:cNvSpPr>
            <a:spLocks noGrp="1" noChangeArrowheads="1"/>
          </p:cNvSpPr>
          <p:nvPr>
            <p:ph type="title"/>
          </p:nvPr>
        </p:nvSpPr>
        <p:spPr>
          <a:xfrm>
            <a:off x="457200" y="277813"/>
            <a:ext cx="8229600" cy="990600"/>
          </a:xfrm>
        </p:spPr>
        <p:txBody>
          <a:bodyPr/>
          <a:lstStyle/>
          <a:p>
            <a:pPr eaLnBrk="1" hangingPunct="1">
              <a:defRPr/>
            </a:pPr>
            <a:r>
              <a:rPr lang="en-US" altLang="zh-TW" dirty="0">
                <a:ea typeface="新細明體" pitchFamily="18" charset="-120"/>
              </a:rPr>
              <a:t>Syntax-Directed Translation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7E27A88D-CBBB-4C92-9BDF-7EE87505F799}" type="slidenum">
              <a:rPr lang="zh-TW" altLang="en-US" sz="1200" smtClean="0"/>
              <a:pPr>
                <a:spcBef>
                  <a:spcPct val="0"/>
                </a:spcBef>
                <a:buClrTx/>
                <a:buSzTx/>
                <a:buFontTx/>
                <a:buNone/>
                <a:defRPr/>
              </a:pPr>
              <a:t>17</a:t>
            </a:fld>
            <a:endParaRPr lang="en-US" altLang="zh-TW" sz="1200"/>
          </a:p>
        </p:txBody>
      </p:sp>
      <p:sp>
        <p:nvSpPr>
          <p:cNvPr id="198658" name="Rectangle 2"/>
          <p:cNvSpPr>
            <a:spLocks noGrp="1" noChangeArrowheads="1"/>
          </p:cNvSpPr>
          <p:nvPr>
            <p:ph type="title"/>
          </p:nvPr>
        </p:nvSpPr>
        <p:spPr>
          <a:xfrm>
            <a:off x="457200" y="92075"/>
            <a:ext cx="8229600" cy="623888"/>
          </a:xfrm>
        </p:spPr>
        <p:txBody>
          <a:bodyPr/>
          <a:lstStyle/>
          <a:p>
            <a:pPr eaLnBrk="1" hangingPunct="1">
              <a:defRPr/>
            </a:pPr>
            <a:r>
              <a:rPr lang="en-US" altLang="zh-TW" sz="3600" dirty="0">
                <a:ea typeface="新細明體" pitchFamily="18" charset="-120"/>
              </a:rPr>
              <a:t>Lexical Analysis Example</a:t>
            </a:r>
          </a:p>
        </p:txBody>
      </p:sp>
      <p:sp>
        <p:nvSpPr>
          <p:cNvPr id="198659" name="Rectangle 3"/>
          <p:cNvSpPr>
            <a:spLocks noGrp="1" noChangeArrowheads="1"/>
          </p:cNvSpPr>
          <p:nvPr>
            <p:ph type="body" idx="1"/>
          </p:nvPr>
        </p:nvSpPr>
        <p:spPr>
          <a:xfrm>
            <a:off x="657225" y="715963"/>
            <a:ext cx="7924800" cy="5638800"/>
          </a:xfrm>
        </p:spPr>
        <p:txBody>
          <a:bodyPr/>
          <a:lstStyle/>
          <a:p>
            <a:pPr marL="609600" indent="-609600" eaLnBrk="1" hangingPunct="1">
              <a:lnSpc>
                <a:spcPct val="90000"/>
              </a:lnSpc>
              <a:buFont typeface="Wingdings" panose="05000000000000000000" pitchFamily="2" charset="2"/>
              <a:buNone/>
              <a:defRPr/>
            </a:pPr>
            <a:r>
              <a:rPr lang="zh-TW" altLang="en-US" dirty="0">
                <a:ea typeface="新細明體" pitchFamily="18" charset="-120"/>
              </a:rPr>
              <a:t>			</a:t>
            </a:r>
            <a:r>
              <a:rPr lang="en-US" altLang="zh-TW" dirty="0">
                <a:solidFill>
                  <a:srgbClr val="FFFF00"/>
                </a:solidFill>
                <a:ea typeface="新細明體" pitchFamily="18" charset="-120"/>
              </a:rPr>
              <a:t>Pay := Base + Rate* 160</a:t>
            </a:r>
          </a:p>
          <a:p>
            <a:pPr marL="609600" indent="-609600" eaLnBrk="1" hangingPunct="1">
              <a:lnSpc>
                <a:spcPct val="90000"/>
              </a:lnSpc>
              <a:defRPr/>
            </a:pPr>
            <a:r>
              <a:rPr lang="en-US" altLang="zh-TW" dirty="0">
                <a:ea typeface="新細明體" pitchFamily="18" charset="-120"/>
              </a:rPr>
              <a:t>Lexical analysis:</a:t>
            </a:r>
          </a:p>
          <a:p>
            <a:pPr marL="609600" indent="-609600" eaLnBrk="1" hangingPunct="1">
              <a:lnSpc>
                <a:spcPct val="90000"/>
              </a:lnSpc>
              <a:buFont typeface="Wingdings" panose="05000000000000000000" pitchFamily="2" charset="2"/>
              <a:buNone/>
              <a:defRPr/>
            </a:pPr>
            <a:r>
              <a:rPr lang="en-US" altLang="zh-TW" sz="2800" dirty="0">
                <a:ea typeface="新細明體" pitchFamily="18" charset="-120"/>
              </a:rPr>
              <a:t>	characters are grouped into seven tokens: </a:t>
            </a:r>
          </a:p>
          <a:p>
            <a:pPr marL="609600" indent="-609600" eaLnBrk="1" hangingPunct="1">
              <a:lnSpc>
                <a:spcPct val="90000"/>
              </a:lnSpc>
              <a:buFont typeface="Wingdings" panose="05000000000000000000" pitchFamily="2" charset="2"/>
              <a:buNone/>
              <a:defRPr/>
            </a:pPr>
            <a:r>
              <a:rPr lang="en-US" altLang="zh-TW" sz="2800" dirty="0">
                <a:ea typeface="新細明體" pitchFamily="18" charset="-120"/>
              </a:rPr>
              <a:t>	</a:t>
            </a:r>
            <a:r>
              <a:rPr lang="en-US" altLang="zh-TW" sz="2800" dirty="0">
                <a:solidFill>
                  <a:srgbClr val="FFFF00"/>
                </a:solidFill>
                <a:ea typeface="新細明體" pitchFamily="18" charset="-120"/>
              </a:rPr>
              <a:t>Pay, Base, Rate </a:t>
            </a:r>
            <a:r>
              <a:rPr lang="en-US" altLang="zh-TW" sz="2800" dirty="0">
                <a:ea typeface="新細明體" pitchFamily="18" charset="-120"/>
              </a:rPr>
              <a:t>are identifiers</a:t>
            </a:r>
          </a:p>
          <a:p>
            <a:pPr marL="609600" indent="-609600" eaLnBrk="1" hangingPunct="1">
              <a:lnSpc>
                <a:spcPct val="90000"/>
              </a:lnSpc>
              <a:buFont typeface="Wingdings" panose="05000000000000000000" pitchFamily="2" charset="2"/>
              <a:buNone/>
              <a:defRPr/>
            </a:pPr>
            <a:r>
              <a:rPr lang="en-US" altLang="zh-TW" sz="2800" dirty="0">
                <a:ea typeface="新細明體" pitchFamily="18" charset="-120"/>
              </a:rPr>
              <a:t>	</a:t>
            </a:r>
            <a:r>
              <a:rPr lang="en-US" altLang="zh-TW" sz="2800" dirty="0">
                <a:solidFill>
                  <a:srgbClr val="FFFF00"/>
                </a:solidFill>
                <a:ea typeface="新細明體" pitchFamily="18" charset="-120"/>
              </a:rPr>
              <a:t>:=</a:t>
            </a:r>
            <a:r>
              <a:rPr lang="en-US" altLang="zh-TW" sz="2800" dirty="0">
                <a:ea typeface="新細明體" pitchFamily="18" charset="-120"/>
              </a:rPr>
              <a:t> is assignment symbol</a:t>
            </a:r>
          </a:p>
          <a:p>
            <a:pPr marL="609600" indent="-609600" eaLnBrk="1" hangingPunct="1">
              <a:lnSpc>
                <a:spcPct val="90000"/>
              </a:lnSpc>
              <a:buFont typeface="Wingdings" panose="05000000000000000000" pitchFamily="2" charset="2"/>
              <a:buNone/>
              <a:defRPr/>
            </a:pPr>
            <a:r>
              <a:rPr lang="en-US" altLang="zh-TW" sz="2800" dirty="0">
                <a:ea typeface="新細明體" pitchFamily="18" charset="-120"/>
              </a:rPr>
              <a:t>	</a:t>
            </a:r>
            <a:r>
              <a:rPr lang="en-US" altLang="zh-TW" sz="2800" dirty="0">
                <a:solidFill>
                  <a:srgbClr val="FFFF00"/>
                </a:solidFill>
                <a:ea typeface="新細明體" pitchFamily="18" charset="-120"/>
              </a:rPr>
              <a:t>+</a:t>
            </a:r>
            <a:r>
              <a:rPr lang="en-US" altLang="zh-TW" sz="2800" dirty="0">
                <a:ea typeface="新細明體" pitchFamily="18" charset="-120"/>
              </a:rPr>
              <a:t> and </a:t>
            </a:r>
            <a:r>
              <a:rPr lang="en-US" altLang="zh-TW" sz="2800" dirty="0">
                <a:solidFill>
                  <a:srgbClr val="FFFF00"/>
                </a:solidFill>
                <a:ea typeface="新細明體" pitchFamily="18" charset="-120"/>
              </a:rPr>
              <a:t>*</a:t>
            </a:r>
            <a:r>
              <a:rPr lang="en-US" altLang="zh-TW" sz="2800" dirty="0">
                <a:ea typeface="新細明體" pitchFamily="18" charset="-120"/>
              </a:rPr>
              <a:t> are operators</a:t>
            </a:r>
          </a:p>
          <a:p>
            <a:pPr marL="609600" indent="-609600" eaLnBrk="1" hangingPunct="1">
              <a:lnSpc>
                <a:spcPct val="90000"/>
              </a:lnSpc>
              <a:buFont typeface="Wingdings" panose="05000000000000000000" pitchFamily="2" charset="2"/>
              <a:buNone/>
              <a:defRPr/>
            </a:pPr>
            <a:r>
              <a:rPr lang="en-US" altLang="zh-TW" sz="2800" dirty="0">
                <a:ea typeface="新細明體" pitchFamily="18" charset="-120"/>
              </a:rPr>
              <a:t>	</a:t>
            </a:r>
            <a:r>
              <a:rPr lang="en-US" altLang="zh-TW" sz="2800" dirty="0">
                <a:solidFill>
                  <a:srgbClr val="FFFF00"/>
                </a:solidFill>
                <a:ea typeface="新細明體" pitchFamily="18" charset="-120"/>
              </a:rPr>
              <a:t>160</a:t>
            </a:r>
            <a:r>
              <a:rPr lang="en-US" altLang="zh-TW" sz="2800" dirty="0">
                <a:ea typeface="新細明體" pitchFamily="18" charset="-120"/>
              </a:rPr>
              <a:t> is a number</a:t>
            </a:r>
          </a:p>
          <a:p>
            <a:pPr marL="609600" indent="-609600" eaLnBrk="1" hangingPunct="1">
              <a:lnSpc>
                <a:spcPct val="90000"/>
              </a:lnSpc>
              <a:defRPr/>
            </a:pPr>
            <a:r>
              <a:rPr lang="en-US" altLang="zh-TW" sz="2800" dirty="0">
                <a:ea typeface="新細明體" pitchFamily="18" charset="-120"/>
              </a:rPr>
              <a:t>Error example</a:t>
            </a:r>
            <a:r>
              <a:rPr lang="en-US" altLang="zh-TW" dirty="0">
                <a:ea typeface="新細明體" pitchFamily="18" charset="-120"/>
              </a:rPr>
              <a:t>:</a:t>
            </a:r>
          </a:p>
          <a:p>
            <a:pPr marL="609600" indent="-609600" eaLnBrk="1" hangingPunct="1">
              <a:lnSpc>
                <a:spcPct val="90000"/>
              </a:lnSpc>
              <a:buFont typeface="Wingdings" panose="05000000000000000000" pitchFamily="2" charset="2"/>
              <a:buNone/>
              <a:defRPr/>
            </a:pPr>
            <a:r>
              <a:rPr lang="en-US" altLang="zh-TW" dirty="0">
                <a:ea typeface="新細明體" pitchFamily="18" charset="-120"/>
              </a:rPr>
              <a:t>			pay := base + </a:t>
            </a:r>
            <a:r>
              <a:rPr lang="en-US" altLang="zh-TW" dirty="0" err="1">
                <a:ea typeface="新細明體" pitchFamily="18" charset="-120"/>
              </a:rPr>
              <a:t>rat</a:t>
            </a:r>
            <a:r>
              <a:rPr lang="en-US" altLang="zh-TW" sz="3600" b="1" dirty="0" err="1">
                <a:solidFill>
                  <a:srgbClr val="FF0000"/>
                </a:solidFill>
                <a:ea typeface="新細明體" pitchFamily="18" charset="-120"/>
              </a:rPr>
              <a:t>@</a:t>
            </a:r>
            <a:r>
              <a:rPr lang="en-US" altLang="zh-TW" dirty="0" err="1">
                <a:ea typeface="新細明體" pitchFamily="18" charset="-120"/>
              </a:rPr>
              <a:t>e</a:t>
            </a:r>
            <a:r>
              <a:rPr lang="en-US" altLang="zh-TW" dirty="0">
                <a:ea typeface="新細明體" pitchFamily="18" charset="-120"/>
              </a:rPr>
              <a:t>*160</a:t>
            </a:r>
          </a:p>
          <a:p>
            <a:pPr marL="609600" indent="-609600" eaLnBrk="1" hangingPunct="1">
              <a:lnSpc>
                <a:spcPct val="90000"/>
              </a:lnSpc>
              <a:buFont typeface="Wingdings" panose="05000000000000000000" pitchFamily="2" charset="2"/>
              <a:buNone/>
              <a:defRPr/>
            </a:pPr>
            <a:r>
              <a:rPr lang="en-US" altLang="zh-TW" sz="2800" i="1" dirty="0">
                <a:solidFill>
                  <a:srgbClr val="FFC000"/>
                </a:solidFill>
                <a:ea typeface="新細明體" pitchFamily="18" charset="-120"/>
              </a:rPr>
              <a:t>pay := base + rat</a:t>
            </a:r>
            <a:r>
              <a:rPr lang="en-US" altLang="zh-TW" sz="2800" b="1" dirty="0">
                <a:solidFill>
                  <a:srgbClr val="FF0000"/>
                </a:solidFill>
                <a:ea typeface="新細明體" pitchFamily="18" charset="-120"/>
              </a:rPr>
              <a:t>^^</a:t>
            </a:r>
            <a:r>
              <a:rPr lang="en-US" altLang="zh-TW" sz="2800" i="1" dirty="0">
                <a:solidFill>
                  <a:srgbClr val="FFC000"/>
                </a:solidFill>
                <a:ea typeface="新細明體" pitchFamily="18" charset="-120"/>
              </a:rPr>
              <a:t>e*160 </a:t>
            </a:r>
          </a:p>
          <a:p>
            <a:pPr marL="609600" indent="-609600" eaLnBrk="1" hangingPunct="1">
              <a:lnSpc>
                <a:spcPct val="90000"/>
              </a:lnSpc>
              <a:buFont typeface="Wingdings" panose="05000000000000000000" pitchFamily="2" charset="2"/>
              <a:buNone/>
              <a:defRPr/>
            </a:pPr>
            <a:r>
              <a:rPr lang="en-US" altLang="zh-TW" sz="2400" i="1" dirty="0">
                <a:solidFill>
                  <a:srgbClr val="FFC000"/>
                </a:solidFill>
                <a:ea typeface="新細明體" pitchFamily="18" charset="-120"/>
                <a:sym typeface="Wingdings" panose="05000000000000000000" pitchFamily="2" charset="2"/>
              </a:rPr>
              <a:t> this error (</a:t>
            </a:r>
            <a:r>
              <a:rPr lang="en-US" altLang="zh-TW" sz="2400" b="1" dirty="0">
                <a:solidFill>
                  <a:srgbClr val="FF0000"/>
                </a:solidFill>
                <a:ea typeface="新細明體" pitchFamily="18" charset="-120"/>
                <a:sym typeface="Wingdings" panose="05000000000000000000" pitchFamily="2" charset="2"/>
              </a:rPr>
              <a:t>^^</a:t>
            </a:r>
            <a:r>
              <a:rPr lang="en-US" altLang="zh-TW" sz="2400" i="1" dirty="0">
                <a:solidFill>
                  <a:srgbClr val="FFC000"/>
                </a:solidFill>
                <a:ea typeface="新細明體" pitchFamily="18" charset="-120"/>
                <a:sym typeface="Wingdings" panose="05000000000000000000" pitchFamily="2" charset="2"/>
              </a:rPr>
              <a:t>) will be propagated to syntax analysis and reported as a syntax error</a:t>
            </a:r>
            <a:endParaRPr lang="en-US" altLang="zh-TW" sz="2400" i="1" dirty="0">
              <a:solidFill>
                <a:srgbClr val="FFC000"/>
              </a:solidFill>
              <a:ea typeface="新細明體" pitchFamily="18" charset="-120"/>
            </a:endParaRPr>
          </a:p>
          <a:p>
            <a:pPr marL="609600" indent="-609600" eaLnBrk="1" hangingPunct="1">
              <a:lnSpc>
                <a:spcPct val="90000"/>
              </a:lnSpc>
              <a:buFont typeface="Wingdings" panose="05000000000000000000" pitchFamily="2" charset="2"/>
              <a:buNone/>
              <a:defRPr/>
            </a:pPr>
            <a:r>
              <a:rPr lang="en-US" altLang="zh-TW" i="1" dirty="0">
                <a:solidFill>
                  <a:srgbClr val="FFC000"/>
                </a:solidFill>
                <a:ea typeface="新細明體" pitchFamily="18" charset="-12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8659">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865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4"/>
          <p:cNvSpPr>
            <a:spLocks noGrp="1"/>
          </p:cNvSpPr>
          <p:nvPr>
            <p:ph type="ftr" sz="quarter" idx="10"/>
          </p:nvPr>
        </p:nvSpPr>
        <p:spPr/>
        <p:txBody>
          <a:bodyPr/>
          <a:lstStyle/>
          <a:p>
            <a:pPr>
              <a:defRPr/>
            </a:pPr>
            <a:r>
              <a:rPr lang="en-US" altLang="zh-TW"/>
              <a:t>Department of Electrical Engineering</a:t>
            </a:r>
          </a:p>
        </p:txBody>
      </p:sp>
      <p:sp>
        <p:nvSpPr>
          <p:cNvPr id="27"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CB41DF99-0386-44C1-A856-33CE027691B6}" type="slidenum">
              <a:rPr lang="zh-TW" altLang="en-US" sz="1200" smtClean="0"/>
              <a:pPr>
                <a:spcBef>
                  <a:spcPct val="0"/>
                </a:spcBef>
                <a:buClrTx/>
                <a:buSzTx/>
                <a:buFontTx/>
                <a:buNone/>
                <a:defRPr/>
              </a:pPr>
              <a:t>18</a:t>
            </a:fld>
            <a:endParaRPr lang="en-US" altLang="zh-TW" sz="1200"/>
          </a:p>
        </p:txBody>
      </p:sp>
      <p:sp>
        <p:nvSpPr>
          <p:cNvPr id="199682" name="Rectangle 2"/>
          <p:cNvSpPr>
            <a:spLocks noGrp="1" noChangeArrowheads="1"/>
          </p:cNvSpPr>
          <p:nvPr>
            <p:ph type="title"/>
          </p:nvPr>
        </p:nvSpPr>
        <p:spPr>
          <a:xfrm>
            <a:off x="457200" y="277813"/>
            <a:ext cx="8229600" cy="990600"/>
          </a:xfrm>
        </p:spPr>
        <p:txBody>
          <a:bodyPr/>
          <a:lstStyle/>
          <a:p>
            <a:pPr eaLnBrk="1" hangingPunct="1">
              <a:defRPr/>
            </a:pPr>
            <a:r>
              <a:rPr lang="en-US" altLang="zh-TW" sz="3600">
                <a:ea typeface="新細明體" pitchFamily="18" charset="-120"/>
              </a:rPr>
              <a:t>Syntax Analysis Example</a:t>
            </a:r>
          </a:p>
        </p:txBody>
      </p:sp>
      <p:sp>
        <p:nvSpPr>
          <p:cNvPr id="199683" name="Rectangle 3"/>
          <p:cNvSpPr>
            <a:spLocks noGrp="1" noChangeArrowheads="1"/>
          </p:cNvSpPr>
          <p:nvPr>
            <p:ph type="body" idx="1"/>
          </p:nvPr>
        </p:nvSpPr>
        <p:spPr>
          <a:xfrm>
            <a:off x="685800" y="1295400"/>
            <a:ext cx="7772400" cy="4953000"/>
          </a:xfrm>
        </p:spPr>
        <p:txBody>
          <a:bodyPr/>
          <a:lstStyle/>
          <a:p>
            <a:pPr marL="609600" indent="-609600" eaLnBrk="1" hangingPunct="1">
              <a:buFont typeface="Wingdings" panose="05000000000000000000" pitchFamily="2" charset="2"/>
              <a:buNone/>
              <a:defRPr/>
            </a:pPr>
            <a:r>
              <a:rPr lang="zh-TW" altLang="en-US" dirty="0">
                <a:ea typeface="新細明體" pitchFamily="18" charset="-120"/>
              </a:rPr>
              <a:t>			</a:t>
            </a:r>
            <a:r>
              <a:rPr lang="en-US" altLang="zh-TW" dirty="0">
                <a:ea typeface="新細明體" pitchFamily="18" charset="-120"/>
              </a:rPr>
              <a:t>Pay := Base + Rate* 160</a:t>
            </a:r>
          </a:p>
          <a:p>
            <a:pPr marL="609600" indent="-609600" eaLnBrk="1" hangingPunct="1">
              <a:buFont typeface="Wingdings" panose="05000000000000000000" pitchFamily="2" charset="2"/>
              <a:buChar char="v"/>
              <a:defRPr/>
            </a:pPr>
            <a:r>
              <a:rPr lang="en-US" altLang="zh-TW" sz="2800" dirty="0">
                <a:ea typeface="新細明體" pitchFamily="18" charset="-120"/>
              </a:rPr>
              <a:t>The seven tokens are grouped into a parse tree</a:t>
            </a:r>
          </a:p>
          <a:p>
            <a:pPr marL="609600" indent="-609600" eaLnBrk="1" hangingPunct="1">
              <a:buFont typeface="Wingdings" panose="05000000000000000000" pitchFamily="2" charset="2"/>
              <a:buNone/>
              <a:defRPr/>
            </a:pPr>
            <a:r>
              <a:rPr lang="en-US" altLang="zh-TW" sz="2800" dirty="0">
                <a:ea typeface="新細明體" pitchFamily="18" charset="-120"/>
              </a:rPr>
              <a:t>	</a:t>
            </a:r>
            <a:r>
              <a:rPr lang="en-US" altLang="zh-TW" dirty="0">
                <a:ea typeface="新細明體" pitchFamily="18" charset="-120"/>
              </a:rPr>
              <a:t>	</a:t>
            </a:r>
          </a:p>
        </p:txBody>
      </p:sp>
      <p:sp>
        <p:nvSpPr>
          <p:cNvPr id="40966" name="Rectangle 4"/>
          <p:cNvSpPr>
            <a:spLocks noChangeArrowheads="1"/>
          </p:cNvSpPr>
          <p:nvPr/>
        </p:nvSpPr>
        <p:spPr bwMode="auto">
          <a:xfrm>
            <a:off x="2971800" y="2667000"/>
            <a:ext cx="25146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Assignment stmt</a:t>
            </a:r>
          </a:p>
        </p:txBody>
      </p:sp>
      <p:sp>
        <p:nvSpPr>
          <p:cNvPr id="40967" name="Rectangle 5"/>
          <p:cNvSpPr>
            <a:spLocks noChangeArrowheads="1"/>
          </p:cNvSpPr>
          <p:nvPr/>
        </p:nvSpPr>
        <p:spPr bwMode="auto">
          <a:xfrm>
            <a:off x="1143000" y="34290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identifier</a:t>
            </a:r>
          </a:p>
        </p:txBody>
      </p:sp>
      <p:sp>
        <p:nvSpPr>
          <p:cNvPr id="40968" name="Line 6"/>
          <p:cNvSpPr>
            <a:spLocks noChangeShapeType="1"/>
          </p:cNvSpPr>
          <p:nvPr/>
        </p:nvSpPr>
        <p:spPr bwMode="auto">
          <a:xfrm flipH="1">
            <a:off x="1828800" y="3048000"/>
            <a:ext cx="2286000" cy="381000"/>
          </a:xfrm>
          <a:prstGeom prst="line">
            <a:avLst/>
          </a:prstGeom>
          <a:noFill/>
          <a:ln w="12700">
            <a:solidFill>
              <a:schemeClr val="tx1"/>
            </a:solidFill>
            <a:round/>
            <a:headEnd type="none" w="sm" len="sm"/>
            <a:tailEnd/>
          </a:ln>
          <a:extLst>
            <a:ext uri="{909E8E84-426E-40DD-AFC4-6F175D3DCCD1}">
              <a14:hiddenFill xmlns:a14="http://schemas.microsoft.com/office/drawing/2010/main">
                <a:noFill/>
              </a14:hiddenFill>
            </a:ext>
          </a:extLst>
        </p:spPr>
        <p:txBody>
          <a:bodyPr wrap="none"/>
          <a:lstStyle/>
          <a:p>
            <a:endParaRPr lang="zh-TW" altLang="en-US"/>
          </a:p>
        </p:txBody>
      </p:sp>
      <p:sp>
        <p:nvSpPr>
          <p:cNvPr id="40969" name="Rectangle 7"/>
          <p:cNvSpPr>
            <a:spLocks noChangeArrowheads="1"/>
          </p:cNvSpPr>
          <p:nvPr/>
        </p:nvSpPr>
        <p:spPr bwMode="auto">
          <a:xfrm>
            <a:off x="1143000" y="42672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pay</a:t>
            </a:r>
          </a:p>
        </p:txBody>
      </p:sp>
      <p:sp>
        <p:nvSpPr>
          <p:cNvPr id="40970" name="Line 8"/>
          <p:cNvSpPr>
            <a:spLocks noChangeShapeType="1"/>
          </p:cNvSpPr>
          <p:nvPr/>
        </p:nvSpPr>
        <p:spPr bwMode="auto">
          <a:xfrm>
            <a:off x="1828800" y="3810000"/>
            <a:ext cx="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0971" name="Rectangle 9"/>
          <p:cNvSpPr>
            <a:spLocks noChangeArrowheads="1"/>
          </p:cNvSpPr>
          <p:nvPr/>
        </p:nvSpPr>
        <p:spPr bwMode="auto">
          <a:xfrm>
            <a:off x="3352800" y="35814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a:t>
            </a:r>
          </a:p>
        </p:txBody>
      </p:sp>
      <p:sp>
        <p:nvSpPr>
          <p:cNvPr id="40972" name="Line 10"/>
          <p:cNvSpPr>
            <a:spLocks noChangeShapeType="1"/>
          </p:cNvSpPr>
          <p:nvPr/>
        </p:nvSpPr>
        <p:spPr bwMode="auto">
          <a:xfrm>
            <a:off x="3962400" y="3048000"/>
            <a:ext cx="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0973" name="Rectangle 11"/>
          <p:cNvSpPr>
            <a:spLocks noChangeArrowheads="1"/>
          </p:cNvSpPr>
          <p:nvPr/>
        </p:nvSpPr>
        <p:spPr bwMode="auto">
          <a:xfrm>
            <a:off x="5791200" y="35052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expression</a:t>
            </a:r>
          </a:p>
        </p:txBody>
      </p:sp>
      <p:sp>
        <p:nvSpPr>
          <p:cNvPr id="40974" name="Line 12"/>
          <p:cNvSpPr>
            <a:spLocks noChangeShapeType="1"/>
          </p:cNvSpPr>
          <p:nvPr/>
        </p:nvSpPr>
        <p:spPr bwMode="auto">
          <a:xfrm>
            <a:off x="3962400" y="3048000"/>
            <a:ext cx="25146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0975" name="Rectangle 13"/>
          <p:cNvSpPr>
            <a:spLocks noChangeArrowheads="1"/>
          </p:cNvSpPr>
          <p:nvPr/>
        </p:nvSpPr>
        <p:spPr bwMode="auto">
          <a:xfrm>
            <a:off x="4343400" y="43434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expression</a:t>
            </a:r>
          </a:p>
        </p:txBody>
      </p:sp>
      <p:sp>
        <p:nvSpPr>
          <p:cNvPr id="40976" name="Rectangle 14"/>
          <p:cNvSpPr>
            <a:spLocks noChangeArrowheads="1"/>
          </p:cNvSpPr>
          <p:nvPr/>
        </p:nvSpPr>
        <p:spPr bwMode="auto">
          <a:xfrm>
            <a:off x="7391400" y="42672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expression</a:t>
            </a:r>
          </a:p>
        </p:txBody>
      </p:sp>
      <p:sp>
        <p:nvSpPr>
          <p:cNvPr id="40977" name="Rectangle 15"/>
          <p:cNvSpPr>
            <a:spLocks noChangeArrowheads="1"/>
          </p:cNvSpPr>
          <p:nvPr/>
        </p:nvSpPr>
        <p:spPr bwMode="auto">
          <a:xfrm>
            <a:off x="6019800" y="4419600"/>
            <a:ext cx="9906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a:t>
            </a:r>
          </a:p>
        </p:txBody>
      </p:sp>
      <p:sp>
        <p:nvSpPr>
          <p:cNvPr id="40978" name="Line 16"/>
          <p:cNvSpPr>
            <a:spLocks noChangeShapeType="1"/>
          </p:cNvSpPr>
          <p:nvPr/>
        </p:nvSpPr>
        <p:spPr bwMode="auto">
          <a:xfrm flipH="1">
            <a:off x="5105400" y="3886200"/>
            <a:ext cx="13716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0979" name="Line 17"/>
          <p:cNvSpPr>
            <a:spLocks noChangeShapeType="1"/>
          </p:cNvSpPr>
          <p:nvPr/>
        </p:nvSpPr>
        <p:spPr bwMode="auto">
          <a:xfrm>
            <a:off x="6477000" y="3886200"/>
            <a:ext cx="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0980" name="Line 18"/>
          <p:cNvSpPr>
            <a:spLocks noChangeShapeType="1"/>
          </p:cNvSpPr>
          <p:nvPr/>
        </p:nvSpPr>
        <p:spPr bwMode="auto">
          <a:xfrm>
            <a:off x="6477000" y="3886200"/>
            <a:ext cx="15240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0981" name="Rectangle 19"/>
          <p:cNvSpPr>
            <a:spLocks noChangeArrowheads="1"/>
          </p:cNvSpPr>
          <p:nvPr/>
        </p:nvSpPr>
        <p:spPr bwMode="auto">
          <a:xfrm>
            <a:off x="4343400" y="49530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identifier</a:t>
            </a:r>
          </a:p>
        </p:txBody>
      </p:sp>
      <p:sp>
        <p:nvSpPr>
          <p:cNvPr id="40982" name="Rectangle 20"/>
          <p:cNvSpPr>
            <a:spLocks noChangeArrowheads="1"/>
          </p:cNvSpPr>
          <p:nvPr/>
        </p:nvSpPr>
        <p:spPr bwMode="auto">
          <a:xfrm>
            <a:off x="4343400" y="57912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base</a:t>
            </a:r>
          </a:p>
        </p:txBody>
      </p:sp>
      <p:sp>
        <p:nvSpPr>
          <p:cNvPr id="40983" name="Line 21"/>
          <p:cNvSpPr>
            <a:spLocks noChangeShapeType="1"/>
          </p:cNvSpPr>
          <p:nvPr/>
        </p:nvSpPr>
        <p:spPr bwMode="auto">
          <a:xfrm>
            <a:off x="5029200" y="5334000"/>
            <a:ext cx="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0984" name="Line 22"/>
          <p:cNvSpPr>
            <a:spLocks noChangeShapeType="1"/>
          </p:cNvSpPr>
          <p:nvPr/>
        </p:nvSpPr>
        <p:spPr bwMode="auto">
          <a:xfrm>
            <a:off x="5029200" y="47244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0985" name="Line 24"/>
          <p:cNvSpPr>
            <a:spLocks noChangeShapeType="1"/>
          </p:cNvSpPr>
          <p:nvPr/>
        </p:nvSpPr>
        <p:spPr bwMode="auto">
          <a:xfrm>
            <a:off x="7924800" y="4648200"/>
            <a:ext cx="0" cy="495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0986" name="Rectangle 15"/>
          <p:cNvSpPr>
            <a:spLocks noChangeArrowheads="1"/>
          </p:cNvSpPr>
          <p:nvPr/>
        </p:nvSpPr>
        <p:spPr bwMode="auto">
          <a:xfrm>
            <a:off x="7429500" y="5143500"/>
            <a:ext cx="9906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a:t>
            </a:r>
          </a:p>
        </p:txBody>
      </p:sp>
      <p:sp>
        <p:nvSpPr>
          <p:cNvPr id="40987" name="Line 16"/>
          <p:cNvSpPr>
            <a:spLocks noChangeShapeType="1"/>
          </p:cNvSpPr>
          <p:nvPr/>
        </p:nvSpPr>
        <p:spPr bwMode="auto">
          <a:xfrm flipH="1">
            <a:off x="7162800" y="5554663"/>
            <a:ext cx="68580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0988" name="Line 18"/>
          <p:cNvSpPr>
            <a:spLocks noChangeShapeType="1"/>
          </p:cNvSpPr>
          <p:nvPr/>
        </p:nvSpPr>
        <p:spPr bwMode="auto">
          <a:xfrm>
            <a:off x="7848600" y="5553075"/>
            <a:ext cx="762000" cy="190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0989" name="Rectangle 20"/>
          <p:cNvSpPr>
            <a:spLocks noChangeArrowheads="1"/>
          </p:cNvSpPr>
          <p:nvPr/>
        </p:nvSpPr>
        <p:spPr bwMode="auto">
          <a:xfrm>
            <a:off x="6477000" y="579755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Rate</a:t>
            </a:r>
          </a:p>
        </p:txBody>
      </p:sp>
      <p:sp>
        <p:nvSpPr>
          <p:cNvPr id="40990" name="Rectangle 20"/>
          <p:cNvSpPr>
            <a:spLocks noChangeArrowheads="1"/>
          </p:cNvSpPr>
          <p:nvPr/>
        </p:nvSpPr>
        <p:spPr bwMode="auto">
          <a:xfrm>
            <a:off x="8229600" y="5799138"/>
            <a:ext cx="8382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160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ooter Placeholder 3"/>
          <p:cNvSpPr>
            <a:spLocks noGrp="1"/>
          </p:cNvSpPr>
          <p:nvPr>
            <p:ph type="ftr" sz="quarter" idx="11"/>
          </p:nvPr>
        </p:nvSpPr>
        <p:spPr/>
        <p:txBody>
          <a:bodyPr/>
          <a:lstStyle/>
          <a:p>
            <a:pPr>
              <a:defRPr/>
            </a:pPr>
            <a:r>
              <a:rPr lang="en-US" altLang="zh-TW"/>
              <a:t>Department of Electrical Engineering</a:t>
            </a:r>
          </a:p>
        </p:txBody>
      </p:sp>
      <p:sp>
        <p:nvSpPr>
          <p:cNvPr id="37" name="Slide Number Placeholder 4"/>
          <p:cNvSpPr>
            <a:spLocks noGrp="1"/>
          </p:cNvSpPr>
          <p:nvPr>
            <p:ph type="sldNum" sz="quarter" idx="12"/>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EA610FEB-E8E5-46DF-9D5D-0E58579E8FF6}" type="slidenum">
              <a:rPr lang="zh-TW" altLang="en-US" sz="1200" smtClean="0"/>
              <a:pPr>
                <a:spcBef>
                  <a:spcPct val="0"/>
                </a:spcBef>
                <a:buClrTx/>
                <a:buSzTx/>
                <a:buFontTx/>
                <a:buNone/>
                <a:defRPr/>
              </a:pPr>
              <a:t>19</a:t>
            </a:fld>
            <a:endParaRPr lang="en-US" altLang="zh-TW" sz="1200"/>
          </a:p>
        </p:txBody>
      </p:sp>
      <p:sp>
        <p:nvSpPr>
          <p:cNvPr id="239618" name="Rectangle 2"/>
          <p:cNvSpPr>
            <a:spLocks noGrp="1" noChangeArrowheads="1"/>
          </p:cNvSpPr>
          <p:nvPr>
            <p:ph type="title"/>
          </p:nvPr>
        </p:nvSpPr>
        <p:spPr/>
        <p:txBody>
          <a:bodyPr/>
          <a:lstStyle/>
          <a:p>
            <a:pPr eaLnBrk="1" hangingPunct="1">
              <a:defRPr/>
            </a:pPr>
            <a:r>
              <a:rPr lang="en-US" altLang="zh-TW" sz="4000" dirty="0">
                <a:ea typeface="新細明體" pitchFamily="18" charset="-120"/>
              </a:rPr>
              <a:t>Transforming a Parse Tree to a Syntax Tree</a:t>
            </a:r>
            <a:r>
              <a:rPr lang="en-US" altLang="zh-TW" dirty="0">
                <a:ea typeface="新細明體" pitchFamily="18" charset="-120"/>
              </a:rPr>
              <a:t> </a:t>
            </a:r>
          </a:p>
        </p:txBody>
      </p:sp>
      <p:sp>
        <p:nvSpPr>
          <p:cNvPr id="41989" name="Text Box 33"/>
          <p:cNvSpPr txBox="1">
            <a:spLocks noChangeArrowheads="1"/>
          </p:cNvSpPr>
          <p:nvPr/>
        </p:nvSpPr>
        <p:spPr bwMode="auto">
          <a:xfrm>
            <a:off x="1981200" y="5494338"/>
            <a:ext cx="1477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2400">
                <a:solidFill>
                  <a:srgbClr val="FFFF00"/>
                </a:solidFill>
                <a:latin typeface="Times New Roman" panose="02020603050405020304" pitchFamily="18" charset="0"/>
                <a:ea typeface="新細明體" panose="02020500000000000000" pitchFamily="18" charset="-120"/>
              </a:rPr>
              <a:t>Parse Tree</a:t>
            </a:r>
          </a:p>
        </p:txBody>
      </p:sp>
      <p:sp>
        <p:nvSpPr>
          <p:cNvPr id="41990" name="Text Box 34"/>
          <p:cNvSpPr txBox="1">
            <a:spLocks noChangeArrowheads="1"/>
          </p:cNvSpPr>
          <p:nvPr/>
        </p:nvSpPr>
        <p:spPr bwMode="auto">
          <a:xfrm>
            <a:off x="5957888" y="5189538"/>
            <a:ext cx="2347912"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solidFill>
                  <a:srgbClr val="FFFF00"/>
                </a:solidFill>
                <a:latin typeface="Times New Roman" panose="02020603050405020304" pitchFamily="18" charset="0"/>
                <a:ea typeface="新細明體" panose="02020500000000000000" pitchFamily="18" charset="-120"/>
              </a:rPr>
              <a:t>Syntax Tree </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a:t>
            </a:r>
            <a:r>
              <a:rPr lang="en-US" altLang="zh-TW" sz="2000">
                <a:latin typeface="Times New Roman" panose="02020603050405020304" pitchFamily="18" charset="0"/>
                <a:ea typeface="新細明體" panose="02020500000000000000" pitchFamily="18" charset="-120"/>
              </a:rPr>
              <a:t>also called </a:t>
            </a:r>
          </a:p>
          <a:p>
            <a:pPr algn="ctr" eaLnBrk="1" hangingPunct="1">
              <a:spcBef>
                <a:spcPct val="0"/>
              </a:spcBef>
              <a:buClrTx/>
              <a:buSzTx/>
              <a:buFontTx/>
              <a:buNone/>
            </a:pPr>
            <a:r>
              <a:rPr lang="en-US" altLang="zh-TW" sz="2000">
                <a:latin typeface="Times New Roman" panose="02020603050405020304" pitchFamily="18" charset="0"/>
                <a:ea typeface="新細明體" panose="02020500000000000000" pitchFamily="18" charset="-120"/>
              </a:rPr>
              <a:t>Abstract Syntax Tree</a:t>
            </a:r>
          </a:p>
          <a:p>
            <a:pPr algn="ctr" eaLnBrk="1" hangingPunct="1">
              <a:spcBef>
                <a:spcPct val="0"/>
              </a:spcBef>
              <a:buClrTx/>
              <a:buSzTx/>
              <a:buFontTx/>
              <a:buNone/>
            </a:pPr>
            <a:r>
              <a:rPr lang="en-US" altLang="zh-TW" sz="2000">
                <a:solidFill>
                  <a:srgbClr val="FFFF00"/>
                </a:solidFill>
                <a:latin typeface="Times New Roman" panose="02020603050405020304" pitchFamily="18" charset="0"/>
                <a:ea typeface="新細明體" panose="02020500000000000000" pitchFamily="18" charset="-120"/>
              </a:rPr>
              <a:t>AST</a:t>
            </a:r>
            <a:r>
              <a:rPr lang="en-US" altLang="zh-TW" sz="2400">
                <a:latin typeface="Times New Roman" panose="02020603050405020304" pitchFamily="18" charset="0"/>
                <a:ea typeface="新細明體" panose="02020500000000000000" pitchFamily="18" charset="-120"/>
              </a:rPr>
              <a:t>)</a:t>
            </a:r>
          </a:p>
        </p:txBody>
      </p:sp>
      <p:pic>
        <p:nvPicPr>
          <p:cNvPr id="41991" name="Picture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39763" y="2133600"/>
            <a:ext cx="4664075" cy="329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2" name="Picture 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303838" y="2352675"/>
            <a:ext cx="3749675" cy="248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4"/>
          <p:cNvSpPr>
            <a:spLocks noGrp="1"/>
          </p:cNvSpPr>
          <p:nvPr>
            <p:ph type="ftr" sz="quarter" idx="10"/>
          </p:nvPr>
        </p:nvSpPr>
        <p:spPr/>
        <p:txBody>
          <a:bodyPr/>
          <a:lstStyle/>
          <a:p>
            <a:pPr>
              <a:defRPr/>
            </a:pPr>
            <a:r>
              <a:rPr lang="en-US" altLang="zh-TW"/>
              <a:t>Department of Electrical Engineering</a:t>
            </a:r>
          </a:p>
        </p:txBody>
      </p:sp>
      <p:sp>
        <p:nvSpPr>
          <p:cNvPr id="34"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437D2A33-9AED-4630-9598-2534B168A724}" type="slidenum">
              <a:rPr lang="zh-TW" altLang="en-US" sz="1200" smtClean="0"/>
              <a:pPr>
                <a:spcBef>
                  <a:spcPct val="0"/>
                </a:spcBef>
                <a:buClrTx/>
                <a:buSzTx/>
                <a:buFontTx/>
                <a:buNone/>
                <a:defRPr/>
              </a:pPr>
              <a:t>20</a:t>
            </a:fld>
            <a:endParaRPr lang="en-US" altLang="zh-TW" sz="1200"/>
          </a:p>
        </p:txBody>
      </p:sp>
      <p:sp>
        <p:nvSpPr>
          <p:cNvPr id="200706" name="Rectangle 2"/>
          <p:cNvSpPr>
            <a:spLocks noGrp="1" noChangeArrowheads="1"/>
          </p:cNvSpPr>
          <p:nvPr>
            <p:ph type="title"/>
          </p:nvPr>
        </p:nvSpPr>
        <p:spPr>
          <a:xfrm>
            <a:off x="457200" y="277813"/>
            <a:ext cx="8229600" cy="762000"/>
          </a:xfrm>
        </p:spPr>
        <p:txBody>
          <a:bodyPr/>
          <a:lstStyle/>
          <a:p>
            <a:pPr eaLnBrk="1" hangingPunct="1">
              <a:defRPr/>
            </a:pPr>
            <a:r>
              <a:rPr lang="en-US" altLang="zh-TW" sz="3600">
                <a:ea typeface="新細明體" pitchFamily="18" charset="-120"/>
              </a:rPr>
              <a:t>Semantic Analysis Example</a:t>
            </a:r>
          </a:p>
        </p:txBody>
      </p:sp>
      <p:sp>
        <p:nvSpPr>
          <p:cNvPr id="200707" name="Rectangle 3"/>
          <p:cNvSpPr>
            <a:spLocks noGrp="1" noChangeArrowheads="1"/>
          </p:cNvSpPr>
          <p:nvPr>
            <p:ph type="body" idx="1"/>
          </p:nvPr>
        </p:nvSpPr>
        <p:spPr>
          <a:xfrm>
            <a:off x="381000" y="1143000"/>
            <a:ext cx="8534400" cy="5334000"/>
          </a:xfrm>
        </p:spPr>
        <p:txBody>
          <a:bodyPr/>
          <a:lstStyle/>
          <a:p>
            <a:pPr marL="609600" indent="-609600" eaLnBrk="1" hangingPunct="1">
              <a:buFont typeface="Wingdings" panose="05000000000000000000" pitchFamily="2" charset="2"/>
              <a:buNone/>
              <a:defRPr/>
            </a:pPr>
            <a:r>
              <a:rPr lang="zh-TW" altLang="en-US" dirty="0">
                <a:ea typeface="新細明體" pitchFamily="18" charset="-120"/>
              </a:rPr>
              <a:t>			</a:t>
            </a:r>
            <a:r>
              <a:rPr lang="en-US" altLang="zh-TW" dirty="0">
                <a:ea typeface="新細明體" pitchFamily="18" charset="-120"/>
              </a:rPr>
              <a:t>Pay := Base + Rate* 160</a:t>
            </a:r>
          </a:p>
          <a:p>
            <a:pPr marL="609600" indent="-609600" eaLnBrk="1" hangingPunct="1">
              <a:buFont typeface="Wingdings" panose="05000000000000000000" pitchFamily="2" charset="2"/>
              <a:buChar char="v"/>
              <a:defRPr/>
            </a:pPr>
            <a:r>
              <a:rPr lang="en-US" altLang="zh-TW" sz="2800" dirty="0">
                <a:ea typeface="新細明體" pitchFamily="18" charset="-120"/>
              </a:rPr>
              <a:t>Checks for semantic errors and gathers type information for code generation.	</a:t>
            </a:r>
            <a:r>
              <a:rPr lang="en-US" altLang="zh-TW" dirty="0">
                <a:ea typeface="新細明體" pitchFamily="18" charset="-120"/>
              </a:rPr>
              <a:t>	</a:t>
            </a:r>
          </a:p>
        </p:txBody>
      </p:sp>
      <p:sp>
        <p:nvSpPr>
          <p:cNvPr id="43014" name="Rectangle 4"/>
          <p:cNvSpPr>
            <a:spLocks noChangeArrowheads="1"/>
          </p:cNvSpPr>
          <p:nvPr/>
        </p:nvSpPr>
        <p:spPr bwMode="auto">
          <a:xfrm>
            <a:off x="838200" y="32004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a:t>
            </a:r>
          </a:p>
        </p:txBody>
      </p:sp>
      <p:sp>
        <p:nvSpPr>
          <p:cNvPr id="43015" name="Rectangle 5"/>
          <p:cNvSpPr>
            <a:spLocks noChangeArrowheads="1"/>
          </p:cNvSpPr>
          <p:nvPr/>
        </p:nvSpPr>
        <p:spPr bwMode="auto">
          <a:xfrm>
            <a:off x="304800" y="39624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pay</a:t>
            </a:r>
          </a:p>
        </p:txBody>
      </p:sp>
      <p:sp>
        <p:nvSpPr>
          <p:cNvPr id="43016" name="Rectangle 6"/>
          <p:cNvSpPr>
            <a:spLocks noChangeArrowheads="1"/>
          </p:cNvSpPr>
          <p:nvPr/>
        </p:nvSpPr>
        <p:spPr bwMode="auto">
          <a:xfrm>
            <a:off x="1981200" y="3962400"/>
            <a:ext cx="914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a:t>
            </a:r>
          </a:p>
        </p:txBody>
      </p:sp>
      <p:sp>
        <p:nvSpPr>
          <p:cNvPr id="43017" name="Rectangle 7"/>
          <p:cNvSpPr>
            <a:spLocks noChangeArrowheads="1"/>
          </p:cNvSpPr>
          <p:nvPr/>
        </p:nvSpPr>
        <p:spPr bwMode="auto">
          <a:xfrm>
            <a:off x="990600" y="48006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base</a:t>
            </a:r>
          </a:p>
        </p:txBody>
      </p:sp>
      <p:sp>
        <p:nvSpPr>
          <p:cNvPr id="43018" name="Rectangle 8"/>
          <p:cNvSpPr>
            <a:spLocks noChangeArrowheads="1"/>
          </p:cNvSpPr>
          <p:nvPr/>
        </p:nvSpPr>
        <p:spPr bwMode="auto">
          <a:xfrm>
            <a:off x="2971800" y="4800600"/>
            <a:ext cx="914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zh-TW" altLang="en-US" sz="2400">
                <a:latin typeface="Times New Roman" panose="02020603050405020304" pitchFamily="18" charset="0"/>
                <a:ea typeface="新細明體" panose="02020500000000000000" pitchFamily="18" charset="-120"/>
              </a:rPr>
              <a:t>*</a:t>
            </a:r>
          </a:p>
        </p:txBody>
      </p:sp>
      <p:sp>
        <p:nvSpPr>
          <p:cNvPr id="43019" name="Rectangle 9"/>
          <p:cNvSpPr>
            <a:spLocks noChangeArrowheads="1"/>
          </p:cNvSpPr>
          <p:nvPr/>
        </p:nvSpPr>
        <p:spPr bwMode="auto">
          <a:xfrm>
            <a:off x="1828800" y="56388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rate</a:t>
            </a:r>
          </a:p>
        </p:txBody>
      </p:sp>
      <p:sp>
        <p:nvSpPr>
          <p:cNvPr id="43020" name="Rectangle 10"/>
          <p:cNvSpPr>
            <a:spLocks noChangeArrowheads="1"/>
          </p:cNvSpPr>
          <p:nvPr/>
        </p:nvSpPr>
        <p:spPr bwMode="auto">
          <a:xfrm>
            <a:off x="3657600" y="56388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160</a:t>
            </a:r>
          </a:p>
        </p:txBody>
      </p:sp>
      <p:sp>
        <p:nvSpPr>
          <p:cNvPr id="43021" name="Line 11"/>
          <p:cNvSpPr>
            <a:spLocks noChangeShapeType="1"/>
          </p:cNvSpPr>
          <p:nvPr/>
        </p:nvSpPr>
        <p:spPr bwMode="auto">
          <a:xfrm flipH="1">
            <a:off x="990600" y="3581400"/>
            <a:ext cx="4572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22" name="Line 12"/>
          <p:cNvSpPr>
            <a:spLocks noChangeShapeType="1"/>
          </p:cNvSpPr>
          <p:nvPr/>
        </p:nvSpPr>
        <p:spPr bwMode="auto">
          <a:xfrm>
            <a:off x="1447800" y="3581400"/>
            <a:ext cx="99060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23" name="Line 13"/>
          <p:cNvSpPr>
            <a:spLocks noChangeShapeType="1"/>
          </p:cNvSpPr>
          <p:nvPr/>
        </p:nvSpPr>
        <p:spPr bwMode="auto">
          <a:xfrm flipH="1">
            <a:off x="1828800" y="4343400"/>
            <a:ext cx="6096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24" name="Line 14"/>
          <p:cNvSpPr>
            <a:spLocks noChangeShapeType="1"/>
          </p:cNvSpPr>
          <p:nvPr/>
        </p:nvSpPr>
        <p:spPr bwMode="auto">
          <a:xfrm>
            <a:off x="2438400" y="4343400"/>
            <a:ext cx="7620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25" name="Line 15"/>
          <p:cNvSpPr>
            <a:spLocks noChangeShapeType="1"/>
          </p:cNvSpPr>
          <p:nvPr/>
        </p:nvSpPr>
        <p:spPr bwMode="auto">
          <a:xfrm flipH="1">
            <a:off x="2590800" y="5181600"/>
            <a:ext cx="8382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26" name="Line 16"/>
          <p:cNvSpPr>
            <a:spLocks noChangeShapeType="1"/>
          </p:cNvSpPr>
          <p:nvPr/>
        </p:nvSpPr>
        <p:spPr bwMode="auto">
          <a:xfrm>
            <a:off x="3429000" y="5181600"/>
            <a:ext cx="8382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27" name="Rectangle 17"/>
          <p:cNvSpPr>
            <a:spLocks noChangeArrowheads="1"/>
          </p:cNvSpPr>
          <p:nvPr/>
        </p:nvSpPr>
        <p:spPr bwMode="auto">
          <a:xfrm>
            <a:off x="4648200" y="28194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a:t>
            </a:r>
          </a:p>
        </p:txBody>
      </p:sp>
      <p:sp>
        <p:nvSpPr>
          <p:cNvPr id="43028" name="Rectangle 18"/>
          <p:cNvSpPr>
            <a:spLocks noChangeArrowheads="1"/>
          </p:cNvSpPr>
          <p:nvPr/>
        </p:nvSpPr>
        <p:spPr bwMode="auto">
          <a:xfrm>
            <a:off x="4114800" y="35814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pay</a:t>
            </a:r>
          </a:p>
        </p:txBody>
      </p:sp>
      <p:sp>
        <p:nvSpPr>
          <p:cNvPr id="43029" name="Rectangle 19"/>
          <p:cNvSpPr>
            <a:spLocks noChangeArrowheads="1"/>
          </p:cNvSpPr>
          <p:nvPr/>
        </p:nvSpPr>
        <p:spPr bwMode="auto">
          <a:xfrm>
            <a:off x="5791200" y="3581400"/>
            <a:ext cx="914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a:t>
            </a:r>
          </a:p>
        </p:txBody>
      </p:sp>
      <p:sp>
        <p:nvSpPr>
          <p:cNvPr id="43030" name="Rectangle 20"/>
          <p:cNvSpPr>
            <a:spLocks noChangeArrowheads="1"/>
          </p:cNvSpPr>
          <p:nvPr/>
        </p:nvSpPr>
        <p:spPr bwMode="auto">
          <a:xfrm>
            <a:off x="4800600" y="44196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base</a:t>
            </a:r>
          </a:p>
        </p:txBody>
      </p:sp>
      <p:sp>
        <p:nvSpPr>
          <p:cNvPr id="43031" name="Rectangle 21"/>
          <p:cNvSpPr>
            <a:spLocks noChangeArrowheads="1"/>
          </p:cNvSpPr>
          <p:nvPr/>
        </p:nvSpPr>
        <p:spPr bwMode="auto">
          <a:xfrm>
            <a:off x="6781800" y="4419600"/>
            <a:ext cx="914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zh-TW" altLang="en-US" sz="2400">
                <a:latin typeface="Times New Roman" panose="02020603050405020304" pitchFamily="18" charset="0"/>
                <a:ea typeface="新細明體" panose="02020500000000000000" pitchFamily="18" charset="-120"/>
              </a:rPr>
              <a:t>*</a:t>
            </a:r>
          </a:p>
        </p:txBody>
      </p:sp>
      <p:sp>
        <p:nvSpPr>
          <p:cNvPr id="43032" name="Rectangle 22"/>
          <p:cNvSpPr>
            <a:spLocks noChangeArrowheads="1"/>
          </p:cNvSpPr>
          <p:nvPr/>
        </p:nvSpPr>
        <p:spPr bwMode="auto">
          <a:xfrm>
            <a:off x="5638800" y="52578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rate</a:t>
            </a:r>
          </a:p>
        </p:txBody>
      </p:sp>
      <p:sp>
        <p:nvSpPr>
          <p:cNvPr id="43033" name="Rectangle 23"/>
          <p:cNvSpPr>
            <a:spLocks noChangeArrowheads="1"/>
          </p:cNvSpPr>
          <p:nvPr/>
        </p:nvSpPr>
        <p:spPr bwMode="auto">
          <a:xfrm>
            <a:off x="7391400" y="5257800"/>
            <a:ext cx="1447800" cy="381000"/>
          </a:xfrm>
          <a:prstGeom prst="rect">
            <a:avLst/>
          </a:prstGeom>
          <a:solidFill>
            <a:srgbClr val="FFFF00"/>
          </a:solidFill>
          <a:ln w="12700">
            <a:solidFill>
              <a:schemeClr val="bg2"/>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b="1">
                <a:solidFill>
                  <a:schemeClr val="bg1"/>
                </a:solidFill>
                <a:latin typeface="Times New Roman" panose="02020603050405020304" pitchFamily="18" charset="0"/>
                <a:ea typeface="新細明體" panose="02020500000000000000" pitchFamily="18" charset="-120"/>
              </a:rPr>
              <a:t>Int-to-real</a:t>
            </a:r>
          </a:p>
        </p:txBody>
      </p:sp>
      <p:sp>
        <p:nvSpPr>
          <p:cNvPr id="43034" name="Line 24"/>
          <p:cNvSpPr>
            <a:spLocks noChangeShapeType="1"/>
          </p:cNvSpPr>
          <p:nvPr/>
        </p:nvSpPr>
        <p:spPr bwMode="auto">
          <a:xfrm flipH="1">
            <a:off x="4800600" y="3200400"/>
            <a:ext cx="4572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35" name="Line 25"/>
          <p:cNvSpPr>
            <a:spLocks noChangeShapeType="1"/>
          </p:cNvSpPr>
          <p:nvPr/>
        </p:nvSpPr>
        <p:spPr bwMode="auto">
          <a:xfrm>
            <a:off x="5257800" y="3200400"/>
            <a:ext cx="990600" cy="304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36" name="Line 26"/>
          <p:cNvSpPr>
            <a:spLocks noChangeShapeType="1"/>
          </p:cNvSpPr>
          <p:nvPr/>
        </p:nvSpPr>
        <p:spPr bwMode="auto">
          <a:xfrm flipH="1">
            <a:off x="5638800" y="3962400"/>
            <a:ext cx="6096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37" name="Line 27"/>
          <p:cNvSpPr>
            <a:spLocks noChangeShapeType="1"/>
          </p:cNvSpPr>
          <p:nvPr/>
        </p:nvSpPr>
        <p:spPr bwMode="auto">
          <a:xfrm>
            <a:off x="6248400" y="3962400"/>
            <a:ext cx="762000" cy="381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38" name="Line 28"/>
          <p:cNvSpPr>
            <a:spLocks noChangeShapeType="1"/>
          </p:cNvSpPr>
          <p:nvPr/>
        </p:nvSpPr>
        <p:spPr bwMode="auto">
          <a:xfrm flipH="1">
            <a:off x="6400800" y="4800600"/>
            <a:ext cx="8382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39" name="Line 29"/>
          <p:cNvSpPr>
            <a:spLocks noChangeShapeType="1"/>
          </p:cNvSpPr>
          <p:nvPr/>
        </p:nvSpPr>
        <p:spPr bwMode="auto">
          <a:xfrm>
            <a:off x="7239000" y="4800600"/>
            <a:ext cx="83820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3040" name="Rectangle 30"/>
          <p:cNvSpPr>
            <a:spLocks noChangeArrowheads="1"/>
          </p:cNvSpPr>
          <p:nvPr/>
        </p:nvSpPr>
        <p:spPr bwMode="auto">
          <a:xfrm>
            <a:off x="7467600" y="5867400"/>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160</a:t>
            </a:r>
          </a:p>
        </p:txBody>
      </p:sp>
      <p:sp>
        <p:nvSpPr>
          <p:cNvPr id="43041" name="Line 31"/>
          <p:cNvSpPr>
            <a:spLocks noChangeShapeType="1"/>
          </p:cNvSpPr>
          <p:nvPr/>
        </p:nvSpPr>
        <p:spPr bwMode="auto">
          <a:xfrm>
            <a:off x="8077200" y="56388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oter Placeholder 4"/>
          <p:cNvSpPr>
            <a:spLocks noGrp="1"/>
          </p:cNvSpPr>
          <p:nvPr>
            <p:ph type="ftr" sz="quarter" idx="10"/>
          </p:nvPr>
        </p:nvSpPr>
        <p:spPr/>
        <p:txBody>
          <a:bodyPr/>
          <a:lstStyle/>
          <a:p>
            <a:pPr>
              <a:defRPr/>
            </a:pPr>
            <a:r>
              <a:rPr lang="en-US" altLang="zh-TW"/>
              <a:t>Department of Electrical Engineering</a:t>
            </a:r>
          </a:p>
        </p:txBody>
      </p:sp>
      <p:sp>
        <p:nvSpPr>
          <p:cNvPr id="17"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defRPr/>
            </a:pPr>
            <a:fld id="{E2740874-1ABC-44F8-913C-AC9D1331601D}" type="slidenum">
              <a:rPr lang="zh-TW" altLang="en-US" sz="1200" smtClean="0"/>
              <a:pPr>
                <a:spcBef>
                  <a:spcPct val="0"/>
                </a:spcBef>
                <a:buClrTx/>
                <a:buSzTx/>
                <a:buFontTx/>
                <a:buNone/>
                <a:defRPr/>
              </a:pPr>
              <a:t>21</a:t>
            </a:fld>
            <a:endParaRPr lang="en-US" altLang="zh-TW" sz="1200"/>
          </a:p>
        </p:txBody>
      </p:sp>
      <p:sp>
        <p:nvSpPr>
          <p:cNvPr id="201730" name="Rectangle 2"/>
          <p:cNvSpPr>
            <a:spLocks noGrp="1" noChangeArrowheads="1"/>
          </p:cNvSpPr>
          <p:nvPr>
            <p:ph type="title"/>
          </p:nvPr>
        </p:nvSpPr>
        <p:spPr>
          <a:xfrm>
            <a:off x="685800" y="304800"/>
            <a:ext cx="7772400" cy="762000"/>
          </a:xfrm>
        </p:spPr>
        <p:txBody>
          <a:bodyPr/>
          <a:lstStyle/>
          <a:p>
            <a:pPr eaLnBrk="1" hangingPunct="1">
              <a:defRPr/>
            </a:pPr>
            <a:r>
              <a:rPr lang="en-US" altLang="zh-TW" sz="3600" dirty="0">
                <a:ea typeface="新細明體" pitchFamily="18" charset="-120"/>
              </a:rPr>
              <a:t>The Phases of a Compiler</a:t>
            </a:r>
            <a:r>
              <a:rPr lang="en-US" altLang="zh-TW" dirty="0">
                <a:ea typeface="新細明體" pitchFamily="18" charset="-120"/>
              </a:rPr>
              <a:t> </a:t>
            </a:r>
          </a:p>
        </p:txBody>
      </p:sp>
      <p:sp>
        <p:nvSpPr>
          <p:cNvPr id="201731" name="Rectangle 3"/>
          <p:cNvSpPr>
            <a:spLocks noGrp="1" noChangeArrowheads="1"/>
          </p:cNvSpPr>
          <p:nvPr>
            <p:ph type="body" idx="1"/>
          </p:nvPr>
        </p:nvSpPr>
        <p:spPr>
          <a:xfrm>
            <a:off x="381000" y="1143000"/>
            <a:ext cx="8534400" cy="5334000"/>
          </a:xfrm>
        </p:spPr>
        <p:txBody>
          <a:bodyPr/>
          <a:lstStyle/>
          <a:p>
            <a:pPr marL="609600" indent="-609600" eaLnBrk="1" hangingPunct="1">
              <a:buFont typeface="Wingdings" panose="05000000000000000000" pitchFamily="2" charset="2"/>
              <a:buNone/>
              <a:defRPr/>
            </a:pPr>
            <a:r>
              <a:rPr lang="zh-TW" altLang="en-US" dirty="0">
                <a:ea typeface="新細明體" pitchFamily="18" charset="-120"/>
              </a:rPr>
              <a:t>			</a:t>
            </a:r>
          </a:p>
        </p:txBody>
      </p:sp>
      <p:sp>
        <p:nvSpPr>
          <p:cNvPr id="44038" name="Rectangle 4"/>
          <p:cNvSpPr>
            <a:spLocks noChangeArrowheads="1"/>
          </p:cNvSpPr>
          <p:nvPr/>
        </p:nvSpPr>
        <p:spPr bwMode="auto">
          <a:xfrm>
            <a:off x="3429000" y="19812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Lexical</a:t>
            </a:r>
          </a:p>
        </p:txBody>
      </p:sp>
      <p:sp>
        <p:nvSpPr>
          <p:cNvPr id="44039" name="Rectangle 5"/>
          <p:cNvSpPr>
            <a:spLocks noChangeArrowheads="1"/>
          </p:cNvSpPr>
          <p:nvPr/>
        </p:nvSpPr>
        <p:spPr bwMode="auto">
          <a:xfrm>
            <a:off x="3429000" y="25908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Syntax</a:t>
            </a:r>
          </a:p>
        </p:txBody>
      </p:sp>
      <p:sp>
        <p:nvSpPr>
          <p:cNvPr id="44040" name="Rectangle 6"/>
          <p:cNvSpPr>
            <a:spLocks noChangeArrowheads="1"/>
          </p:cNvSpPr>
          <p:nvPr/>
        </p:nvSpPr>
        <p:spPr bwMode="auto">
          <a:xfrm>
            <a:off x="3429000" y="32004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Semantic</a:t>
            </a:r>
          </a:p>
        </p:txBody>
      </p:sp>
      <p:sp>
        <p:nvSpPr>
          <p:cNvPr id="44041" name="Rectangle 7"/>
          <p:cNvSpPr>
            <a:spLocks noChangeArrowheads="1"/>
          </p:cNvSpPr>
          <p:nvPr/>
        </p:nvSpPr>
        <p:spPr bwMode="auto">
          <a:xfrm>
            <a:off x="3352800" y="1295400"/>
            <a:ext cx="2209800" cy="533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b="1">
                <a:solidFill>
                  <a:srgbClr val="FFFF00"/>
                </a:solidFill>
                <a:latin typeface="Times New Roman" panose="02020603050405020304" pitchFamily="18" charset="0"/>
                <a:ea typeface="新細明體" panose="02020500000000000000" pitchFamily="18" charset="-120"/>
              </a:rPr>
              <a:t>Source Program</a:t>
            </a:r>
          </a:p>
        </p:txBody>
      </p:sp>
      <p:sp>
        <p:nvSpPr>
          <p:cNvPr id="44042" name="Rectangle 8"/>
          <p:cNvSpPr>
            <a:spLocks noChangeArrowheads="1"/>
          </p:cNvSpPr>
          <p:nvPr/>
        </p:nvSpPr>
        <p:spPr bwMode="auto">
          <a:xfrm>
            <a:off x="3429000" y="5791200"/>
            <a:ext cx="2209800" cy="533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b="1">
                <a:solidFill>
                  <a:srgbClr val="FFFF00"/>
                </a:solidFill>
                <a:latin typeface="Times New Roman" panose="02020603050405020304" pitchFamily="18" charset="0"/>
                <a:ea typeface="新細明體" panose="02020500000000000000" pitchFamily="18" charset="-120"/>
              </a:rPr>
              <a:t>Target Program</a:t>
            </a:r>
          </a:p>
        </p:txBody>
      </p:sp>
      <p:sp>
        <p:nvSpPr>
          <p:cNvPr id="44043" name="Rectangle 9"/>
          <p:cNvSpPr>
            <a:spLocks noChangeArrowheads="1"/>
          </p:cNvSpPr>
          <p:nvPr/>
        </p:nvSpPr>
        <p:spPr bwMode="auto">
          <a:xfrm>
            <a:off x="3429000" y="39624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IR code gen</a:t>
            </a:r>
          </a:p>
        </p:txBody>
      </p:sp>
      <p:sp>
        <p:nvSpPr>
          <p:cNvPr id="44044" name="Rectangle 10"/>
          <p:cNvSpPr>
            <a:spLocks noChangeArrowheads="1"/>
          </p:cNvSpPr>
          <p:nvPr/>
        </p:nvSpPr>
        <p:spPr bwMode="auto">
          <a:xfrm>
            <a:off x="3429000" y="45720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Optimizer</a:t>
            </a:r>
          </a:p>
        </p:txBody>
      </p:sp>
      <p:sp>
        <p:nvSpPr>
          <p:cNvPr id="44045" name="Rectangle 11"/>
          <p:cNvSpPr>
            <a:spLocks noChangeArrowheads="1"/>
          </p:cNvSpPr>
          <p:nvPr/>
        </p:nvSpPr>
        <p:spPr bwMode="auto">
          <a:xfrm>
            <a:off x="3429000" y="51816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Target code gen</a:t>
            </a:r>
          </a:p>
        </p:txBody>
      </p:sp>
      <p:sp>
        <p:nvSpPr>
          <p:cNvPr id="44046" name="Text Box 12"/>
          <p:cNvSpPr txBox="1">
            <a:spLocks noChangeArrowheads="1"/>
          </p:cNvSpPr>
          <p:nvPr/>
        </p:nvSpPr>
        <p:spPr bwMode="auto">
          <a:xfrm>
            <a:off x="762000" y="2057400"/>
            <a:ext cx="16081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a:solidFill>
                  <a:srgbClr val="00FF00"/>
                </a:solidFill>
                <a:latin typeface="Times New Roman" panose="02020603050405020304" pitchFamily="18" charset="0"/>
                <a:ea typeface="新細明體" panose="02020500000000000000" pitchFamily="18" charset="-120"/>
              </a:rPr>
              <a:t>Analysis</a:t>
            </a:r>
          </a:p>
        </p:txBody>
      </p:sp>
      <p:sp>
        <p:nvSpPr>
          <p:cNvPr id="44047" name="Text Box 13"/>
          <p:cNvSpPr txBox="1">
            <a:spLocks noChangeArrowheads="1"/>
          </p:cNvSpPr>
          <p:nvPr/>
        </p:nvSpPr>
        <p:spPr bwMode="auto">
          <a:xfrm>
            <a:off x="838200" y="5029200"/>
            <a:ext cx="1743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a:solidFill>
                  <a:srgbClr val="00FF00"/>
                </a:solidFill>
                <a:latin typeface="Times New Roman" panose="02020603050405020304" pitchFamily="18" charset="0"/>
                <a:ea typeface="新細明體" panose="02020500000000000000" pitchFamily="18" charset="-120"/>
              </a:rPr>
              <a:t>Synthesis</a:t>
            </a:r>
          </a:p>
        </p:txBody>
      </p:sp>
      <p:sp>
        <p:nvSpPr>
          <p:cNvPr id="44048" name="Line 14"/>
          <p:cNvSpPr>
            <a:spLocks noChangeShapeType="1"/>
          </p:cNvSpPr>
          <p:nvPr/>
        </p:nvSpPr>
        <p:spPr bwMode="auto">
          <a:xfrm>
            <a:off x="914400" y="3886200"/>
            <a:ext cx="7620000" cy="0"/>
          </a:xfrm>
          <a:prstGeom prst="line">
            <a:avLst/>
          </a:prstGeom>
          <a:noFill/>
          <a:ln w="38100">
            <a:solidFill>
              <a:srgbClr val="00FF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4"/>
          <p:cNvSpPr>
            <a:spLocks noGrp="1"/>
          </p:cNvSpPr>
          <p:nvPr>
            <p:ph type="ftr" sz="quarter" idx="10"/>
          </p:nvPr>
        </p:nvSpPr>
        <p:spPr/>
        <p:txBody>
          <a:bodyPr/>
          <a:lstStyle/>
          <a:p>
            <a:pPr>
              <a:defRPr/>
            </a:pPr>
            <a:r>
              <a:rPr lang="en-US" altLang="zh-TW"/>
              <a:t>Department of Electrical Engineering</a:t>
            </a:r>
          </a:p>
        </p:txBody>
      </p:sp>
      <p:sp>
        <p:nvSpPr>
          <p:cNvPr id="29"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B68FC808-55E0-4AD0-A725-E8D8284D9D13}" type="slidenum">
              <a:rPr lang="zh-TW" altLang="en-US" sz="1200" smtClean="0"/>
              <a:pPr>
                <a:spcBef>
                  <a:spcPct val="0"/>
                </a:spcBef>
                <a:buClrTx/>
                <a:buSzTx/>
                <a:buFontTx/>
                <a:buNone/>
                <a:defRPr/>
              </a:pPr>
              <a:t>22</a:t>
            </a:fld>
            <a:endParaRPr lang="en-US" altLang="zh-TW" sz="1200"/>
          </a:p>
        </p:txBody>
      </p:sp>
      <p:sp>
        <p:nvSpPr>
          <p:cNvPr id="217090" name="Rectangle 2"/>
          <p:cNvSpPr>
            <a:spLocks noGrp="1" noChangeArrowheads="1"/>
          </p:cNvSpPr>
          <p:nvPr>
            <p:ph type="title"/>
          </p:nvPr>
        </p:nvSpPr>
        <p:spPr>
          <a:xfrm>
            <a:off x="685800" y="304800"/>
            <a:ext cx="7772400" cy="762000"/>
          </a:xfrm>
        </p:spPr>
        <p:txBody>
          <a:bodyPr/>
          <a:lstStyle/>
          <a:p>
            <a:pPr eaLnBrk="1" hangingPunct="1">
              <a:defRPr/>
            </a:pPr>
            <a:r>
              <a:rPr lang="en-US" altLang="zh-TW" sz="3600">
                <a:ea typeface="新細明體" pitchFamily="18" charset="-120"/>
              </a:rPr>
              <a:t>The Phases of a Compiler</a:t>
            </a:r>
            <a:r>
              <a:rPr lang="en-US" altLang="zh-TW">
                <a:ea typeface="新細明體" pitchFamily="18" charset="-120"/>
              </a:rPr>
              <a:t> </a:t>
            </a:r>
          </a:p>
        </p:txBody>
      </p:sp>
      <p:sp>
        <p:nvSpPr>
          <p:cNvPr id="217091" name="Rectangle 3"/>
          <p:cNvSpPr>
            <a:spLocks noGrp="1" noChangeArrowheads="1"/>
          </p:cNvSpPr>
          <p:nvPr>
            <p:ph type="body" idx="1"/>
          </p:nvPr>
        </p:nvSpPr>
        <p:spPr>
          <a:xfrm>
            <a:off x="381000" y="1143000"/>
            <a:ext cx="8534400" cy="5334000"/>
          </a:xfrm>
        </p:spPr>
        <p:txBody>
          <a:bodyPr/>
          <a:lstStyle/>
          <a:p>
            <a:pPr marL="609600" indent="-609600" eaLnBrk="1" hangingPunct="1">
              <a:buFont typeface="Wingdings" panose="05000000000000000000" pitchFamily="2" charset="2"/>
              <a:buNone/>
              <a:defRPr/>
            </a:pPr>
            <a:r>
              <a:rPr lang="zh-TW" altLang="en-US">
                <a:ea typeface="新細明體" pitchFamily="18" charset="-120"/>
              </a:rPr>
              <a:t>			</a:t>
            </a:r>
          </a:p>
        </p:txBody>
      </p:sp>
      <p:sp>
        <p:nvSpPr>
          <p:cNvPr id="46086" name="Rectangle 4"/>
          <p:cNvSpPr>
            <a:spLocks noChangeArrowheads="1"/>
          </p:cNvSpPr>
          <p:nvPr/>
        </p:nvSpPr>
        <p:spPr bwMode="auto">
          <a:xfrm>
            <a:off x="3429000" y="19812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Lexical</a:t>
            </a:r>
          </a:p>
        </p:txBody>
      </p:sp>
      <p:sp>
        <p:nvSpPr>
          <p:cNvPr id="46087" name="Rectangle 5"/>
          <p:cNvSpPr>
            <a:spLocks noChangeArrowheads="1"/>
          </p:cNvSpPr>
          <p:nvPr/>
        </p:nvSpPr>
        <p:spPr bwMode="auto">
          <a:xfrm>
            <a:off x="3429000" y="25908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Syntax</a:t>
            </a:r>
          </a:p>
        </p:txBody>
      </p:sp>
      <p:sp>
        <p:nvSpPr>
          <p:cNvPr id="46088" name="Rectangle 6"/>
          <p:cNvSpPr>
            <a:spLocks noChangeArrowheads="1"/>
          </p:cNvSpPr>
          <p:nvPr/>
        </p:nvSpPr>
        <p:spPr bwMode="auto">
          <a:xfrm>
            <a:off x="3429000" y="32004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Semantic</a:t>
            </a:r>
          </a:p>
        </p:txBody>
      </p:sp>
      <p:sp>
        <p:nvSpPr>
          <p:cNvPr id="46089" name="Rectangle 7"/>
          <p:cNvSpPr>
            <a:spLocks noChangeArrowheads="1"/>
          </p:cNvSpPr>
          <p:nvPr/>
        </p:nvSpPr>
        <p:spPr bwMode="auto">
          <a:xfrm>
            <a:off x="3352800" y="1295400"/>
            <a:ext cx="2209800" cy="533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Source Program</a:t>
            </a:r>
          </a:p>
        </p:txBody>
      </p:sp>
      <p:sp>
        <p:nvSpPr>
          <p:cNvPr id="46090" name="Rectangle 8"/>
          <p:cNvSpPr>
            <a:spLocks noChangeArrowheads="1"/>
          </p:cNvSpPr>
          <p:nvPr/>
        </p:nvSpPr>
        <p:spPr bwMode="auto">
          <a:xfrm>
            <a:off x="3429000" y="5791200"/>
            <a:ext cx="2133600" cy="533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Target Program</a:t>
            </a:r>
          </a:p>
        </p:txBody>
      </p:sp>
      <p:sp>
        <p:nvSpPr>
          <p:cNvPr id="46091" name="Rectangle 9"/>
          <p:cNvSpPr>
            <a:spLocks noChangeArrowheads="1"/>
          </p:cNvSpPr>
          <p:nvPr/>
        </p:nvSpPr>
        <p:spPr bwMode="auto">
          <a:xfrm>
            <a:off x="3429000" y="39624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IR code gen</a:t>
            </a:r>
          </a:p>
        </p:txBody>
      </p:sp>
      <p:sp>
        <p:nvSpPr>
          <p:cNvPr id="46092" name="Rectangle 10"/>
          <p:cNvSpPr>
            <a:spLocks noChangeArrowheads="1"/>
          </p:cNvSpPr>
          <p:nvPr/>
        </p:nvSpPr>
        <p:spPr bwMode="auto">
          <a:xfrm>
            <a:off x="3429000" y="45720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Optimizer</a:t>
            </a:r>
          </a:p>
        </p:txBody>
      </p:sp>
      <p:sp>
        <p:nvSpPr>
          <p:cNvPr id="46093" name="Rectangle 11"/>
          <p:cNvSpPr>
            <a:spLocks noChangeArrowheads="1"/>
          </p:cNvSpPr>
          <p:nvPr/>
        </p:nvSpPr>
        <p:spPr bwMode="auto">
          <a:xfrm>
            <a:off x="3429000" y="51816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Target code gen</a:t>
            </a:r>
          </a:p>
        </p:txBody>
      </p:sp>
      <p:sp>
        <p:nvSpPr>
          <p:cNvPr id="46094" name="Line 14"/>
          <p:cNvSpPr>
            <a:spLocks noChangeShapeType="1"/>
          </p:cNvSpPr>
          <p:nvPr/>
        </p:nvSpPr>
        <p:spPr bwMode="auto">
          <a:xfrm>
            <a:off x="2743200" y="3886200"/>
            <a:ext cx="3276600" cy="0"/>
          </a:xfrm>
          <a:prstGeom prst="line">
            <a:avLst/>
          </a:prstGeom>
          <a:noFill/>
          <a:ln w="38100">
            <a:solidFill>
              <a:srgbClr val="00FF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6095" name="Rectangle 15"/>
          <p:cNvSpPr>
            <a:spLocks noChangeArrowheads="1"/>
          </p:cNvSpPr>
          <p:nvPr/>
        </p:nvSpPr>
        <p:spPr bwMode="auto">
          <a:xfrm>
            <a:off x="838200" y="2667000"/>
            <a:ext cx="1447800" cy="2286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Symbol </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Table</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manager</a:t>
            </a:r>
          </a:p>
        </p:txBody>
      </p:sp>
      <p:sp>
        <p:nvSpPr>
          <p:cNvPr id="46096" name="Rectangle 16"/>
          <p:cNvSpPr>
            <a:spLocks noChangeArrowheads="1"/>
          </p:cNvSpPr>
          <p:nvPr/>
        </p:nvSpPr>
        <p:spPr bwMode="auto">
          <a:xfrm>
            <a:off x="6858000" y="2743200"/>
            <a:ext cx="1447800" cy="2286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Error</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handler</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and </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recovery</a:t>
            </a:r>
          </a:p>
        </p:txBody>
      </p:sp>
      <p:sp>
        <p:nvSpPr>
          <p:cNvPr id="46097" name="Line 17"/>
          <p:cNvSpPr>
            <a:spLocks noChangeShapeType="1"/>
          </p:cNvSpPr>
          <p:nvPr/>
        </p:nvSpPr>
        <p:spPr bwMode="auto">
          <a:xfrm flipH="1">
            <a:off x="2286000" y="2286000"/>
            <a:ext cx="11430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6098" name="Line 18"/>
          <p:cNvSpPr>
            <a:spLocks noChangeShapeType="1"/>
          </p:cNvSpPr>
          <p:nvPr/>
        </p:nvSpPr>
        <p:spPr bwMode="auto">
          <a:xfrm flipV="1">
            <a:off x="2286000" y="2895600"/>
            <a:ext cx="1143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6099" name="Line 19"/>
          <p:cNvSpPr>
            <a:spLocks noChangeShapeType="1"/>
          </p:cNvSpPr>
          <p:nvPr/>
        </p:nvSpPr>
        <p:spPr bwMode="auto">
          <a:xfrm flipV="1">
            <a:off x="2286000" y="3429000"/>
            <a:ext cx="1143000"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6100" name="Line 20"/>
          <p:cNvSpPr>
            <a:spLocks noChangeShapeType="1"/>
          </p:cNvSpPr>
          <p:nvPr/>
        </p:nvSpPr>
        <p:spPr bwMode="auto">
          <a:xfrm>
            <a:off x="2286000" y="3810000"/>
            <a:ext cx="1143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6101" name="Line 21"/>
          <p:cNvSpPr>
            <a:spLocks noChangeShapeType="1"/>
          </p:cNvSpPr>
          <p:nvPr/>
        </p:nvSpPr>
        <p:spPr bwMode="auto">
          <a:xfrm>
            <a:off x="2286000" y="4038600"/>
            <a:ext cx="11430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6102" name="Line 22"/>
          <p:cNvSpPr>
            <a:spLocks noChangeShapeType="1"/>
          </p:cNvSpPr>
          <p:nvPr/>
        </p:nvSpPr>
        <p:spPr bwMode="auto">
          <a:xfrm>
            <a:off x="2286000" y="4419600"/>
            <a:ext cx="1143000" cy="1066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6103" name="Line 23"/>
          <p:cNvSpPr>
            <a:spLocks noChangeShapeType="1"/>
          </p:cNvSpPr>
          <p:nvPr/>
        </p:nvSpPr>
        <p:spPr bwMode="auto">
          <a:xfrm>
            <a:off x="5562600" y="2209800"/>
            <a:ext cx="12954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6104" name="Line 24"/>
          <p:cNvSpPr>
            <a:spLocks noChangeShapeType="1"/>
          </p:cNvSpPr>
          <p:nvPr/>
        </p:nvSpPr>
        <p:spPr bwMode="auto">
          <a:xfrm>
            <a:off x="5562600" y="2819400"/>
            <a:ext cx="12954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6105" name="Line 25"/>
          <p:cNvSpPr>
            <a:spLocks noChangeShapeType="1"/>
          </p:cNvSpPr>
          <p:nvPr/>
        </p:nvSpPr>
        <p:spPr bwMode="auto">
          <a:xfrm>
            <a:off x="5562600" y="3429000"/>
            <a:ext cx="1295400"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6106" name="Line 26"/>
          <p:cNvSpPr>
            <a:spLocks noChangeShapeType="1"/>
          </p:cNvSpPr>
          <p:nvPr/>
        </p:nvSpPr>
        <p:spPr bwMode="auto">
          <a:xfrm flipV="1">
            <a:off x="5562600" y="3886200"/>
            <a:ext cx="12954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6107" name="Line 27"/>
          <p:cNvSpPr>
            <a:spLocks noChangeShapeType="1"/>
          </p:cNvSpPr>
          <p:nvPr/>
        </p:nvSpPr>
        <p:spPr bwMode="auto">
          <a:xfrm flipV="1">
            <a:off x="5562600" y="4191000"/>
            <a:ext cx="12954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6108" name="Line 28"/>
          <p:cNvSpPr>
            <a:spLocks noChangeShapeType="1"/>
          </p:cNvSpPr>
          <p:nvPr/>
        </p:nvSpPr>
        <p:spPr bwMode="auto">
          <a:xfrm flipV="1">
            <a:off x="5562600" y="4572000"/>
            <a:ext cx="1295400" cy="914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2" name="Rectangle 1"/>
          <p:cNvSpPr>
            <a:spLocks noChangeArrowheads="1"/>
          </p:cNvSpPr>
          <p:nvPr/>
        </p:nvSpPr>
        <p:spPr bwMode="auto">
          <a:xfrm>
            <a:off x="838200" y="5067300"/>
            <a:ext cx="1447800" cy="381000"/>
          </a:xfrm>
          <a:prstGeom prst="rect">
            <a:avLst/>
          </a:prstGeom>
          <a:solidFill>
            <a:srgbClr val="00B050"/>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a:spcBef>
                <a:spcPct val="0"/>
              </a:spcBef>
              <a:buClrTx/>
              <a:buSzTx/>
              <a:buFontTx/>
              <a:buNone/>
            </a:pPr>
            <a:r>
              <a:rPr lang="ja-JP" altLang="en-US" sz="1800">
                <a:latin typeface="DFKai-SB" panose="03000509000000000000" pitchFamily="65" charset="-120"/>
                <a:ea typeface="DFKai-SB" panose="03000509000000000000" pitchFamily="65" charset="-120"/>
              </a:rPr>
              <a:t>資料庫</a:t>
            </a:r>
            <a:endParaRPr lang="en-US" altLang="en-US" sz="1800">
              <a:latin typeface="DFKai-SB" panose="03000509000000000000" pitchFamily="65" charset="-120"/>
              <a:ea typeface="DFKai-SB" panose="03000509000000000000" pitchFamily="65" charset="-120"/>
            </a:endParaRPr>
          </a:p>
        </p:txBody>
      </p:sp>
      <p:sp>
        <p:nvSpPr>
          <p:cNvPr id="30" name="Rectangle 29"/>
          <p:cNvSpPr>
            <a:spLocks noChangeArrowheads="1"/>
          </p:cNvSpPr>
          <p:nvPr/>
        </p:nvSpPr>
        <p:spPr bwMode="auto">
          <a:xfrm>
            <a:off x="6858000" y="5118100"/>
            <a:ext cx="1447800" cy="381000"/>
          </a:xfrm>
          <a:prstGeom prst="rect">
            <a:avLst/>
          </a:prstGeom>
          <a:solidFill>
            <a:srgbClr val="00B050"/>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a:spcBef>
                <a:spcPct val="0"/>
              </a:spcBef>
              <a:buClrTx/>
              <a:buSzTx/>
              <a:buFontTx/>
              <a:buNone/>
            </a:pPr>
            <a:r>
              <a:rPr lang="ja-JP" altLang="en-US" sz="1800">
                <a:latin typeface="DFKai-SB" panose="03000509000000000000" pitchFamily="65" charset="-120"/>
                <a:ea typeface="DFKai-SB" panose="03000509000000000000" pitchFamily="65" charset="-120"/>
              </a:rPr>
              <a:t>監察院</a:t>
            </a:r>
            <a:r>
              <a:rPr lang="en-US" altLang="ja-JP" sz="1800">
                <a:latin typeface="DFKai-SB" panose="03000509000000000000" pitchFamily="65" charset="-120"/>
                <a:ea typeface="DFKai-SB" panose="03000509000000000000" pitchFamily="65" charset="-120"/>
              </a:rPr>
              <a:t>?</a:t>
            </a:r>
            <a:endParaRPr lang="en-US" altLang="en-US" sz="1800">
              <a:latin typeface="DFKai-SB" panose="03000509000000000000" pitchFamily="65" charset="-120"/>
              <a:ea typeface="DFKai-SB" panose="03000509000000000000" pitchFamily="65"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4"/>
          <p:cNvSpPr>
            <a:spLocks noGrp="1"/>
          </p:cNvSpPr>
          <p:nvPr>
            <p:ph type="ftr" sz="quarter" idx="10"/>
          </p:nvPr>
        </p:nvSpPr>
        <p:spPr>
          <a:xfrm>
            <a:off x="1905000" y="6477000"/>
            <a:ext cx="6172200" cy="304800"/>
          </a:xfrm>
        </p:spPr>
        <p:txBody>
          <a:bodyPr/>
          <a:lstStyle/>
          <a:p>
            <a:pPr>
              <a:defRPr/>
            </a:pPr>
            <a:r>
              <a:rPr lang="en-US" altLang="zh-TW"/>
              <a:t>Department of Electrical Engineering</a:t>
            </a:r>
          </a:p>
        </p:txBody>
      </p:sp>
      <p:sp>
        <p:nvSpPr>
          <p:cNvPr id="29"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66320214-8FD5-4F17-932B-B28EEA218F06}" type="slidenum">
              <a:rPr lang="zh-TW" altLang="en-US" sz="1200" smtClean="0"/>
              <a:pPr>
                <a:spcBef>
                  <a:spcPct val="0"/>
                </a:spcBef>
                <a:buClrTx/>
                <a:buSzTx/>
                <a:buFontTx/>
                <a:buNone/>
                <a:defRPr/>
              </a:pPr>
              <a:t>23</a:t>
            </a:fld>
            <a:endParaRPr lang="en-US" altLang="zh-TW" sz="1200"/>
          </a:p>
        </p:txBody>
      </p:sp>
      <p:sp>
        <p:nvSpPr>
          <p:cNvPr id="217090" name="Rectangle 2"/>
          <p:cNvSpPr>
            <a:spLocks noGrp="1" noChangeArrowheads="1"/>
          </p:cNvSpPr>
          <p:nvPr>
            <p:ph type="title"/>
          </p:nvPr>
        </p:nvSpPr>
        <p:spPr>
          <a:xfrm>
            <a:off x="685800" y="304800"/>
            <a:ext cx="7772400" cy="762000"/>
          </a:xfrm>
        </p:spPr>
        <p:txBody>
          <a:bodyPr/>
          <a:lstStyle/>
          <a:p>
            <a:pPr eaLnBrk="1" hangingPunct="1">
              <a:defRPr/>
            </a:pPr>
            <a:r>
              <a:rPr lang="en-US" altLang="zh-TW" sz="3600">
                <a:ea typeface="新細明體" pitchFamily="18" charset="-120"/>
              </a:rPr>
              <a:t>The Phases of a Compiler</a:t>
            </a:r>
            <a:r>
              <a:rPr lang="en-US" altLang="zh-TW">
                <a:ea typeface="新細明體" pitchFamily="18" charset="-120"/>
              </a:rPr>
              <a:t> </a:t>
            </a:r>
          </a:p>
        </p:txBody>
      </p:sp>
      <p:sp>
        <p:nvSpPr>
          <p:cNvPr id="217091" name="Rectangle 3"/>
          <p:cNvSpPr>
            <a:spLocks noGrp="1" noChangeArrowheads="1"/>
          </p:cNvSpPr>
          <p:nvPr>
            <p:ph type="body" idx="1"/>
          </p:nvPr>
        </p:nvSpPr>
        <p:spPr>
          <a:xfrm>
            <a:off x="381000" y="1143000"/>
            <a:ext cx="8534400" cy="5334000"/>
          </a:xfrm>
        </p:spPr>
        <p:txBody>
          <a:bodyPr/>
          <a:lstStyle/>
          <a:p>
            <a:pPr marL="609600" indent="-609600" eaLnBrk="1" hangingPunct="1">
              <a:buFont typeface="Wingdings" panose="05000000000000000000" pitchFamily="2" charset="2"/>
              <a:buNone/>
              <a:defRPr/>
            </a:pPr>
            <a:r>
              <a:rPr lang="zh-TW" altLang="en-US">
                <a:ea typeface="新細明體" pitchFamily="18" charset="-120"/>
              </a:rPr>
              <a:t>			</a:t>
            </a:r>
          </a:p>
        </p:txBody>
      </p:sp>
      <p:sp>
        <p:nvSpPr>
          <p:cNvPr id="47110" name="Rectangle 4"/>
          <p:cNvSpPr>
            <a:spLocks noChangeArrowheads="1"/>
          </p:cNvSpPr>
          <p:nvPr/>
        </p:nvSpPr>
        <p:spPr bwMode="auto">
          <a:xfrm>
            <a:off x="3429000" y="19812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Lexical</a:t>
            </a:r>
          </a:p>
        </p:txBody>
      </p:sp>
      <p:sp>
        <p:nvSpPr>
          <p:cNvPr id="47111" name="Rectangle 5"/>
          <p:cNvSpPr>
            <a:spLocks noChangeArrowheads="1"/>
          </p:cNvSpPr>
          <p:nvPr/>
        </p:nvSpPr>
        <p:spPr bwMode="auto">
          <a:xfrm>
            <a:off x="3429000" y="25908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Syntax</a:t>
            </a:r>
          </a:p>
        </p:txBody>
      </p:sp>
      <p:sp>
        <p:nvSpPr>
          <p:cNvPr id="47112" name="Rectangle 6"/>
          <p:cNvSpPr>
            <a:spLocks noChangeArrowheads="1"/>
          </p:cNvSpPr>
          <p:nvPr/>
        </p:nvSpPr>
        <p:spPr bwMode="auto">
          <a:xfrm>
            <a:off x="3429000" y="32004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Semantic</a:t>
            </a:r>
          </a:p>
        </p:txBody>
      </p:sp>
      <p:sp>
        <p:nvSpPr>
          <p:cNvPr id="47113" name="Rectangle 7"/>
          <p:cNvSpPr>
            <a:spLocks noChangeArrowheads="1"/>
          </p:cNvSpPr>
          <p:nvPr/>
        </p:nvSpPr>
        <p:spPr bwMode="auto">
          <a:xfrm>
            <a:off x="3352800" y="1219200"/>
            <a:ext cx="2209800" cy="533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Source Program</a:t>
            </a:r>
          </a:p>
        </p:txBody>
      </p:sp>
      <p:sp>
        <p:nvSpPr>
          <p:cNvPr id="47114" name="Rectangle 9"/>
          <p:cNvSpPr>
            <a:spLocks noChangeArrowheads="1"/>
          </p:cNvSpPr>
          <p:nvPr/>
        </p:nvSpPr>
        <p:spPr bwMode="auto">
          <a:xfrm>
            <a:off x="3429000" y="39624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IR code gen</a:t>
            </a:r>
          </a:p>
        </p:txBody>
      </p:sp>
      <p:sp>
        <p:nvSpPr>
          <p:cNvPr id="47115" name="Rectangle 10"/>
          <p:cNvSpPr>
            <a:spLocks noChangeArrowheads="1"/>
          </p:cNvSpPr>
          <p:nvPr/>
        </p:nvSpPr>
        <p:spPr bwMode="auto">
          <a:xfrm>
            <a:off x="3429000" y="45720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Optimizer</a:t>
            </a:r>
          </a:p>
        </p:txBody>
      </p:sp>
      <p:sp>
        <p:nvSpPr>
          <p:cNvPr id="47116" name="Rectangle 11"/>
          <p:cNvSpPr>
            <a:spLocks noChangeArrowheads="1"/>
          </p:cNvSpPr>
          <p:nvPr/>
        </p:nvSpPr>
        <p:spPr bwMode="auto">
          <a:xfrm>
            <a:off x="3429000" y="51816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Target code gen</a:t>
            </a:r>
          </a:p>
        </p:txBody>
      </p:sp>
      <p:sp>
        <p:nvSpPr>
          <p:cNvPr id="47117" name="Line 14"/>
          <p:cNvSpPr>
            <a:spLocks noChangeShapeType="1"/>
          </p:cNvSpPr>
          <p:nvPr/>
        </p:nvSpPr>
        <p:spPr bwMode="auto">
          <a:xfrm>
            <a:off x="2743200" y="3886200"/>
            <a:ext cx="3276600" cy="0"/>
          </a:xfrm>
          <a:prstGeom prst="line">
            <a:avLst/>
          </a:prstGeom>
          <a:noFill/>
          <a:ln w="38100">
            <a:solidFill>
              <a:srgbClr val="00FF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47118" name="Rectangle 15"/>
          <p:cNvSpPr>
            <a:spLocks noChangeArrowheads="1"/>
          </p:cNvSpPr>
          <p:nvPr/>
        </p:nvSpPr>
        <p:spPr bwMode="auto">
          <a:xfrm>
            <a:off x="838200" y="2667000"/>
            <a:ext cx="1447800" cy="2286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Symbol </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Table</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manager</a:t>
            </a:r>
          </a:p>
        </p:txBody>
      </p:sp>
      <p:sp>
        <p:nvSpPr>
          <p:cNvPr id="47119" name="Rectangle 16"/>
          <p:cNvSpPr>
            <a:spLocks noChangeArrowheads="1"/>
          </p:cNvSpPr>
          <p:nvPr/>
        </p:nvSpPr>
        <p:spPr bwMode="auto">
          <a:xfrm>
            <a:off x="6858000" y="2743200"/>
            <a:ext cx="1447800" cy="2286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Error</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handler</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and </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recovery</a:t>
            </a:r>
          </a:p>
        </p:txBody>
      </p:sp>
      <p:sp>
        <p:nvSpPr>
          <p:cNvPr id="47120" name="Line 17"/>
          <p:cNvSpPr>
            <a:spLocks noChangeShapeType="1"/>
          </p:cNvSpPr>
          <p:nvPr/>
        </p:nvSpPr>
        <p:spPr bwMode="auto">
          <a:xfrm flipH="1">
            <a:off x="2286000" y="2286000"/>
            <a:ext cx="11430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21" name="Line 18"/>
          <p:cNvSpPr>
            <a:spLocks noChangeShapeType="1"/>
          </p:cNvSpPr>
          <p:nvPr/>
        </p:nvSpPr>
        <p:spPr bwMode="auto">
          <a:xfrm flipV="1">
            <a:off x="2286000" y="2895600"/>
            <a:ext cx="1143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22" name="Line 19"/>
          <p:cNvSpPr>
            <a:spLocks noChangeShapeType="1"/>
          </p:cNvSpPr>
          <p:nvPr/>
        </p:nvSpPr>
        <p:spPr bwMode="auto">
          <a:xfrm flipV="1">
            <a:off x="2286000" y="3429000"/>
            <a:ext cx="1143000"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23" name="Line 20"/>
          <p:cNvSpPr>
            <a:spLocks noChangeShapeType="1"/>
          </p:cNvSpPr>
          <p:nvPr/>
        </p:nvSpPr>
        <p:spPr bwMode="auto">
          <a:xfrm>
            <a:off x="2286000" y="3810000"/>
            <a:ext cx="1143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24" name="Line 21"/>
          <p:cNvSpPr>
            <a:spLocks noChangeShapeType="1"/>
          </p:cNvSpPr>
          <p:nvPr/>
        </p:nvSpPr>
        <p:spPr bwMode="auto">
          <a:xfrm>
            <a:off x="2286000" y="4038600"/>
            <a:ext cx="11430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25" name="Line 22"/>
          <p:cNvSpPr>
            <a:spLocks noChangeShapeType="1"/>
          </p:cNvSpPr>
          <p:nvPr/>
        </p:nvSpPr>
        <p:spPr bwMode="auto">
          <a:xfrm>
            <a:off x="2286000" y="4419600"/>
            <a:ext cx="1143000" cy="1066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26" name="Line 23"/>
          <p:cNvSpPr>
            <a:spLocks noChangeShapeType="1"/>
          </p:cNvSpPr>
          <p:nvPr/>
        </p:nvSpPr>
        <p:spPr bwMode="auto">
          <a:xfrm>
            <a:off x="5562600" y="2209800"/>
            <a:ext cx="12954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27" name="Line 24"/>
          <p:cNvSpPr>
            <a:spLocks noChangeShapeType="1"/>
          </p:cNvSpPr>
          <p:nvPr/>
        </p:nvSpPr>
        <p:spPr bwMode="auto">
          <a:xfrm>
            <a:off x="5562600" y="2819400"/>
            <a:ext cx="12954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28" name="Line 25"/>
          <p:cNvSpPr>
            <a:spLocks noChangeShapeType="1"/>
          </p:cNvSpPr>
          <p:nvPr/>
        </p:nvSpPr>
        <p:spPr bwMode="auto">
          <a:xfrm>
            <a:off x="5562600" y="3429000"/>
            <a:ext cx="1295400"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29" name="Line 26"/>
          <p:cNvSpPr>
            <a:spLocks noChangeShapeType="1"/>
          </p:cNvSpPr>
          <p:nvPr/>
        </p:nvSpPr>
        <p:spPr bwMode="auto">
          <a:xfrm flipV="1">
            <a:off x="5562600" y="3886200"/>
            <a:ext cx="12954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30" name="Line 27"/>
          <p:cNvSpPr>
            <a:spLocks noChangeShapeType="1"/>
          </p:cNvSpPr>
          <p:nvPr/>
        </p:nvSpPr>
        <p:spPr bwMode="auto">
          <a:xfrm flipV="1">
            <a:off x="5562600" y="4191000"/>
            <a:ext cx="12954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31" name="Line 28"/>
          <p:cNvSpPr>
            <a:spLocks noChangeShapeType="1"/>
          </p:cNvSpPr>
          <p:nvPr/>
        </p:nvSpPr>
        <p:spPr bwMode="auto">
          <a:xfrm flipV="1">
            <a:off x="5562600" y="4572000"/>
            <a:ext cx="1295400" cy="914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25628" name="Rectangle 11"/>
          <p:cNvSpPr>
            <a:spLocks noChangeArrowheads="1"/>
          </p:cNvSpPr>
          <p:nvPr/>
        </p:nvSpPr>
        <p:spPr bwMode="auto">
          <a:xfrm>
            <a:off x="3048000" y="5791200"/>
            <a:ext cx="2895600" cy="609600"/>
          </a:xfrm>
          <a:prstGeom prst="rect">
            <a:avLst/>
          </a:prstGeom>
          <a:solidFill>
            <a:schemeClr val="accent2">
              <a:lumMod val="75000"/>
            </a:schemeClr>
          </a:solidFill>
          <a:ln w="12700">
            <a:solidFill>
              <a:schemeClr val="tx1"/>
            </a:solidFill>
            <a:miter lim="800000"/>
            <a:headEnd type="none" w="sm" len="sm"/>
            <a:tailEnd type="none" w="sm" len="sm"/>
          </a:ln>
        </p:spPr>
        <p:txBody>
          <a:bodyPr wrap="none" anchor="ctr"/>
          <a:lstStyle/>
          <a:p>
            <a:pPr algn="ctr" eaLnBrk="1" hangingPunct="1">
              <a:defRPr/>
            </a:pPr>
            <a:r>
              <a:rPr lang="en-US" altLang="zh-TW" sz="2400" dirty="0">
                <a:latin typeface="Times New Roman" pitchFamily="18" charset="0"/>
                <a:ea typeface="新細明體" pitchFamily="18" charset="-120"/>
              </a:rPr>
              <a:t>Target code Optimizer</a:t>
            </a:r>
          </a:p>
        </p:txBody>
      </p:sp>
      <p:cxnSp>
        <p:nvCxnSpPr>
          <p:cNvPr id="47133" name="Straight Arrow Connector 31"/>
          <p:cNvCxnSpPr>
            <a:cxnSpLocks noChangeShapeType="1"/>
          </p:cNvCxnSpPr>
          <p:nvPr/>
        </p:nvCxnSpPr>
        <p:spPr bwMode="auto">
          <a:xfrm rot="5400000">
            <a:off x="4230688" y="1866900"/>
            <a:ext cx="227012" cy="1588"/>
          </a:xfrm>
          <a:prstGeom prst="straightConnector1">
            <a:avLst/>
          </a:prstGeom>
          <a:noFill/>
          <a:ln w="25400" algn="ctr">
            <a:solidFill>
              <a:schemeClr val="tx1"/>
            </a:solidFill>
            <a:round/>
            <a:headEnd/>
            <a:tailEnd type="stealth" w="med" len="med"/>
          </a:ln>
          <a:extLst>
            <a:ext uri="{909E8E84-426E-40DD-AFC4-6F175D3DCCD1}">
              <a14:hiddenFill xmlns:a14="http://schemas.microsoft.com/office/drawing/2010/main">
                <a:noFill/>
              </a14:hiddenFill>
            </a:ext>
          </a:extLst>
        </p:spPr>
      </p:cxnSp>
      <p:sp>
        <p:nvSpPr>
          <p:cNvPr id="2" name="Rectangular Callout 1"/>
          <p:cNvSpPr>
            <a:spLocks noChangeArrowheads="1"/>
          </p:cNvSpPr>
          <p:nvPr/>
        </p:nvSpPr>
        <p:spPr bwMode="auto">
          <a:xfrm>
            <a:off x="6858000" y="5256213"/>
            <a:ext cx="1905000" cy="763587"/>
          </a:xfrm>
          <a:prstGeom prst="wedgeRectCallout">
            <a:avLst>
              <a:gd name="adj1" fmla="val -99236"/>
              <a:gd name="adj2" fmla="val 48106"/>
            </a:avLst>
          </a:prstGeom>
          <a:solidFill>
            <a:srgbClr val="FFFF00"/>
          </a:solidFill>
          <a:ln w="9525"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1800">
                <a:solidFill>
                  <a:srgbClr val="FF0000"/>
                </a:solidFill>
              </a:rPr>
              <a:t>Is increasingly more important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Footer Placeholder 4"/>
          <p:cNvSpPr>
            <a:spLocks noGrp="1"/>
          </p:cNvSpPr>
          <p:nvPr>
            <p:ph type="ftr" sz="quarter" idx="10"/>
          </p:nvPr>
        </p:nvSpPr>
        <p:spPr/>
        <p:txBody>
          <a:bodyPr/>
          <a:lstStyle/>
          <a:p>
            <a:pPr>
              <a:defRPr/>
            </a:pPr>
            <a:r>
              <a:rPr lang="en-US" altLang="zh-TW"/>
              <a:t>Department of Electrical Engineering</a:t>
            </a:r>
          </a:p>
        </p:txBody>
      </p:sp>
      <p:sp>
        <p:nvSpPr>
          <p:cNvPr id="5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9566A421-CF9B-45F7-8417-6B5402C795D7}" type="slidenum">
              <a:rPr lang="zh-TW" altLang="en-US" sz="1200" smtClean="0"/>
              <a:pPr>
                <a:spcBef>
                  <a:spcPct val="0"/>
                </a:spcBef>
                <a:buClrTx/>
                <a:buSzTx/>
                <a:buFontTx/>
                <a:buNone/>
                <a:defRPr/>
              </a:pPr>
              <a:t>24</a:t>
            </a:fld>
            <a:endParaRPr lang="en-US" altLang="zh-TW" sz="1200"/>
          </a:p>
        </p:txBody>
      </p:sp>
      <p:sp>
        <p:nvSpPr>
          <p:cNvPr id="203778" name="Rectangle 2"/>
          <p:cNvSpPr>
            <a:spLocks noGrp="1" noChangeArrowheads="1"/>
          </p:cNvSpPr>
          <p:nvPr>
            <p:ph type="body" idx="1"/>
          </p:nvPr>
        </p:nvSpPr>
        <p:spPr>
          <a:xfrm>
            <a:off x="381000" y="1143000"/>
            <a:ext cx="8534400" cy="5334000"/>
          </a:xfrm>
        </p:spPr>
        <p:txBody>
          <a:bodyPr/>
          <a:lstStyle/>
          <a:p>
            <a:pPr marL="609600" indent="-609600" eaLnBrk="1" hangingPunct="1">
              <a:buFont typeface="Wingdings" panose="05000000000000000000" pitchFamily="2" charset="2"/>
              <a:buNone/>
              <a:defRPr/>
            </a:pPr>
            <a:r>
              <a:rPr lang="zh-TW" altLang="en-US">
                <a:ea typeface="新細明體" pitchFamily="18" charset="-120"/>
              </a:rPr>
              <a:t>			</a:t>
            </a:r>
          </a:p>
        </p:txBody>
      </p:sp>
      <p:sp>
        <p:nvSpPr>
          <p:cNvPr id="48133" name="Rectangle 3"/>
          <p:cNvSpPr>
            <a:spLocks noChangeArrowheads="1"/>
          </p:cNvSpPr>
          <p:nvPr/>
        </p:nvSpPr>
        <p:spPr bwMode="auto">
          <a:xfrm>
            <a:off x="381000" y="12192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lexical</a:t>
            </a:r>
          </a:p>
        </p:txBody>
      </p:sp>
      <p:sp>
        <p:nvSpPr>
          <p:cNvPr id="48134" name="Rectangle 4"/>
          <p:cNvSpPr>
            <a:spLocks noChangeArrowheads="1"/>
          </p:cNvSpPr>
          <p:nvPr/>
        </p:nvSpPr>
        <p:spPr bwMode="auto">
          <a:xfrm>
            <a:off x="381000" y="20574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syntax</a:t>
            </a:r>
          </a:p>
        </p:txBody>
      </p:sp>
      <p:sp>
        <p:nvSpPr>
          <p:cNvPr id="48135" name="Rectangle 5"/>
          <p:cNvSpPr>
            <a:spLocks noChangeArrowheads="1"/>
          </p:cNvSpPr>
          <p:nvPr/>
        </p:nvSpPr>
        <p:spPr bwMode="auto">
          <a:xfrm>
            <a:off x="381000" y="28956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semantic</a:t>
            </a:r>
          </a:p>
        </p:txBody>
      </p:sp>
      <p:sp>
        <p:nvSpPr>
          <p:cNvPr id="48136" name="Rectangle 6"/>
          <p:cNvSpPr>
            <a:spLocks noChangeArrowheads="1"/>
          </p:cNvSpPr>
          <p:nvPr/>
        </p:nvSpPr>
        <p:spPr bwMode="auto">
          <a:xfrm>
            <a:off x="304800" y="457200"/>
            <a:ext cx="2209800" cy="533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Source Program</a:t>
            </a:r>
          </a:p>
        </p:txBody>
      </p:sp>
      <p:sp>
        <p:nvSpPr>
          <p:cNvPr id="48137" name="Rectangle 7"/>
          <p:cNvSpPr>
            <a:spLocks noChangeArrowheads="1"/>
          </p:cNvSpPr>
          <p:nvPr/>
        </p:nvSpPr>
        <p:spPr bwMode="auto">
          <a:xfrm>
            <a:off x="304800" y="6019800"/>
            <a:ext cx="2209800" cy="533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Target Program</a:t>
            </a:r>
          </a:p>
        </p:txBody>
      </p:sp>
      <p:sp>
        <p:nvSpPr>
          <p:cNvPr id="48138" name="Rectangle 8"/>
          <p:cNvSpPr>
            <a:spLocks noChangeArrowheads="1"/>
          </p:cNvSpPr>
          <p:nvPr/>
        </p:nvSpPr>
        <p:spPr bwMode="auto">
          <a:xfrm>
            <a:off x="381000" y="36576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IR code gen</a:t>
            </a:r>
          </a:p>
        </p:txBody>
      </p:sp>
      <p:sp>
        <p:nvSpPr>
          <p:cNvPr id="48139" name="Rectangle 9"/>
          <p:cNvSpPr>
            <a:spLocks noChangeArrowheads="1"/>
          </p:cNvSpPr>
          <p:nvPr/>
        </p:nvSpPr>
        <p:spPr bwMode="auto">
          <a:xfrm>
            <a:off x="381000" y="44958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optimizer</a:t>
            </a:r>
          </a:p>
        </p:txBody>
      </p:sp>
      <p:sp>
        <p:nvSpPr>
          <p:cNvPr id="48140" name="Rectangle 10"/>
          <p:cNvSpPr>
            <a:spLocks noChangeArrowheads="1"/>
          </p:cNvSpPr>
          <p:nvPr/>
        </p:nvSpPr>
        <p:spPr bwMode="auto">
          <a:xfrm>
            <a:off x="381000" y="5334000"/>
            <a:ext cx="2133600" cy="533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target code gen</a:t>
            </a:r>
          </a:p>
        </p:txBody>
      </p:sp>
      <p:sp>
        <p:nvSpPr>
          <p:cNvPr id="48141" name="Text Box 11"/>
          <p:cNvSpPr txBox="1">
            <a:spLocks noChangeArrowheads="1"/>
          </p:cNvSpPr>
          <p:nvPr/>
        </p:nvSpPr>
        <p:spPr bwMode="auto">
          <a:xfrm>
            <a:off x="4419600" y="381000"/>
            <a:ext cx="2979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Pay := base + rate * 60</a:t>
            </a:r>
          </a:p>
        </p:txBody>
      </p:sp>
      <p:sp>
        <p:nvSpPr>
          <p:cNvPr id="48142" name="Text Box 12"/>
          <p:cNvSpPr txBox="1">
            <a:spLocks noChangeArrowheads="1"/>
          </p:cNvSpPr>
          <p:nvPr/>
        </p:nvSpPr>
        <p:spPr bwMode="auto">
          <a:xfrm>
            <a:off x="4495800" y="990600"/>
            <a:ext cx="2820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Id1 := Id2 + Id3 * 60 </a:t>
            </a:r>
          </a:p>
        </p:txBody>
      </p:sp>
      <p:sp>
        <p:nvSpPr>
          <p:cNvPr id="48143" name="Line 13"/>
          <p:cNvSpPr>
            <a:spLocks noChangeShapeType="1"/>
          </p:cNvSpPr>
          <p:nvPr/>
        </p:nvSpPr>
        <p:spPr bwMode="auto">
          <a:xfrm>
            <a:off x="5943600" y="838200"/>
            <a:ext cx="0" cy="2286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44" name="Text Box 14"/>
          <p:cNvSpPr txBox="1">
            <a:spLocks noChangeArrowheads="1"/>
          </p:cNvSpPr>
          <p:nvPr/>
        </p:nvSpPr>
        <p:spPr bwMode="auto">
          <a:xfrm>
            <a:off x="6019800" y="1524000"/>
            <a:ext cx="376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a:t>
            </a:r>
          </a:p>
        </p:txBody>
      </p:sp>
      <p:sp>
        <p:nvSpPr>
          <p:cNvPr id="48145" name="Text Box 15"/>
          <p:cNvSpPr txBox="1">
            <a:spLocks noChangeArrowheads="1"/>
          </p:cNvSpPr>
          <p:nvPr/>
        </p:nvSpPr>
        <p:spPr bwMode="auto">
          <a:xfrm>
            <a:off x="5486400" y="1978025"/>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id1</a:t>
            </a:r>
          </a:p>
        </p:txBody>
      </p:sp>
      <p:sp>
        <p:nvSpPr>
          <p:cNvPr id="48146" name="Line 16"/>
          <p:cNvSpPr>
            <a:spLocks noChangeShapeType="1"/>
          </p:cNvSpPr>
          <p:nvPr/>
        </p:nvSpPr>
        <p:spPr bwMode="auto">
          <a:xfrm flipH="1">
            <a:off x="5867400" y="1828800"/>
            <a:ext cx="228600" cy="1524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47" name="Text Box 17"/>
          <p:cNvSpPr txBox="1">
            <a:spLocks noChangeArrowheads="1"/>
          </p:cNvSpPr>
          <p:nvPr/>
        </p:nvSpPr>
        <p:spPr bwMode="auto">
          <a:xfrm>
            <a:off x="6172200" y="2133600"/>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id2</a:t>
            </a:r>
          </a:p>
        </p:txBody>
      </p:sp>
      <p:sp>
        <p:nvSpPr>
          <p:cNvPr id="48148" name="Text Box 18"/>
          <p:cNvSpPr txBox="1">
            <a:spLocks noChangeArrowheads="1"/>
          </p:cNvSpPr>
          <p:nvPr/>
        </p:nvSpPr>
        <p:spPr bwMode="auto">
          <a:xfrm>
            <a:off x="6553200" y="1828800"/>
            <a:ext cx="376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a:t>
            </a:r>
          </a:p>
        </p:txBody>
      </p:sp>
      <p:sp>
        <p:nvSpPr>
          <p:cNvPr id="48149" name="Line 19"/>
          <p:cNvSpPr>
            <a:spLocks noChangeShapeType="1"/>
          </p:cNvSpPr>
          <p:nvPr/>
        </p:nvSpPr>
        <p:spPr bwMode="auto">
          <a:xfrm>
            <a:off x="6248400" y="1828800"/>
            <a:ext cx="228600" cy="1524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50" name="Line 20"/>
          <p:cNvSpPr>
            <a:spLocks noChangeShapeType="1"/>
          </p:cNvSpPr>
          <p:nvPr/>
        </p:nvSpPr>
        <p:spPr bwMode="auto">
          <a:xfrm>
            <a:off x="6858000" y="2057400"/>
            <a:ext cx="228600" cy="1524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51" name="Text Box 21"/>
          <p:cNvSpPr txBox="1">
            <a:spLocks noChangeArrowheads="1"/>
          </p:cNvSpPr>
          <p:nvPr/>
        </p:nvSpPr>
        <p:spPr bwMode="auto">
          <a:xfrm>
            <a:off x="7010400" y="2057400"/>
            <a:ext cx="376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zh-TW" altLang="en-US" sz="1800">
                <a:latin typeface="Times New Roman" panose="02020603050405020304" pitchFamily="18" charset="0"/>
                <a:ea typeface="新細明體" panose="02020500000000000000" pitchFamily="18" charset="-120"/>
              </a:rPr>
              <a:t>*</a:t>
            </a:r>
          </a:p>
        </p:txBody>
      </p:sp>
      <p:sp>
        <p:nvSpPr>
          <p:cNvPr id="48152" name="Text Box 22"/>
          <p:cNvSpPr txBox="1">
            <a:spLocks noChangeArrowheads="1"/>
          </p:cNvSpPr>
          <p:nvPr/>
        </p:nvSpPr>
        <p:spPr bwMode="auto">
          <a:xfrm>
            <a:off x="6705600" y="2514600"/>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id3</a:t>
            </a:r>
          </a:p>
        </p:txBody>
      </p:sp>
      <p:sp>
        <p:nvSpPr>
          <p:cNvPr id="48153" name="Line 23"/>
          <p:cNvSpPr>
            <a:spLocks noChangeShapeType="1"/>
          </p:cNvSpPr>
          <p:nvPr/>
        </p:nvSpPr>
        <p:spPr bwMode="auto">
          <a:xfrm flipH="1">
            <a:off x="6934200" y="2286000"/>
            <a:ext cx="152400" cy="1524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54" name="Line 24"/>
          <p:cNvSpPr>
            <a:spLocks noChangeShapeType="1"/>
          </p:cNvSpPr>
          <p:nvPr/>
        </p:nvSpPr>
        <p:spPr bwMode="auto">
          <a:xfrm>
            <a:off x="7239000" y="2286000"/>
            <a:ext cx="228600" cy="1524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55" name="Text Box 25"/>
          <p:cNvSpPr txBox="1">
            <a:spLocks noChangeArrowheads="1"/>
          </p:cNvSpPr>
          <p:nvPr/>
        </p:nvSpPr>
        <p:spPr bwMode="auto">
          <a:xfrm>
            <a:off x="7391400" y="24384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60</a:t>
            </a:r>
          </a:p>
        </p:txBody>
      </p:sp>
      <p:sp>
        <p:nvSpPr>
          <p:cNvPr id="48156" name="Text Box 26"/>
          <p:cNvSpPr txBox="1">
            <a:spLocks noChangeArrowheads="1"/>
          </p:cNvSpPr>
          <p:nvPr/>
        </p:nvSpPr>
        <p:spPr bwMode="auto">
          <a:xfrm>
            <a:off x="4953000" y="2514600"/>
            <a:ext cx="376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a:t>
            </a:r>
          </a:p>
        </p:txBody>
      </p:sp>
      <p:sp>
        <p:nvSpPr>
          <p:cNvPr id="48157" name="Text Box 27"/>
          <p:cNvSpPr txBox="1">
            <a:spLocks noChangeArrowheads="1"/>
          </p:cNvSpPr>
          <p:nvPr/>
        </p:nvSpPr>
        <p:spPr bwMode="auto">
          <a:xfrm>
            <a:off x="4419600" y="2968625"/>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id1</a:t>
            </a:r>
          </a:p>
        </p:txBody>
      </p:sp>
      <p:sp>
        <p:nvSpPr>
          <p:cNvPr id="48158" name="Line 28"/>
          <p:cNvSpPr>
            <a:spLocks noChangeShapeType="1"/>
          </p:cNvSpPr>
          <p:nvPr/>
        </p:nvSpPr>
        <p:spPr bwMode="auto">
          <a:xfrm flipH="1">
            <a:off x="4800600" y="2819400"/>
            <a:ext cx="228600" cy="1524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59" name="Text Box 29"/>
          <p:cNvSpPr txBox="1">
            <a:spLocks noChangeArrowheads="1"/>
          </p:cNvSpPr>
          <p:nvPr/>
        </p:nvSpPr>
        <p:spPr bwMode="auto">
          <a:xfrm>
            <a:off x="5105400" y="3124200"/>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id2</a:t>
            </a:r>
          </a:p>
        </p:txBody>
      </p:sp>
      <p:sp>
        <p:nvSpPr>
          <p:cNvPr id="48160" name="Text Box 30"/>
          <p:cNvSpPr txBox="1">
            <a:spLocks noChangeArrowheads="1"/>
          </p:cNvSpPr>
          <p:nvPr/>
        </p:nvSpPr>
        <p:spPr bwMode="auto">
          <a:xfrm>
            <a:off x="5486400" y="2819400"/>
            <a:ext cx="376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a:t>
            </a:r>
          </a:p>
        </p:txBody>
      </p:sp>
      <p:sp>
        <p:nvSpPr>
          <p:cNvPr id="48161" name="Line 31"/>
          <p:cNvSpPr>
            <a:spLocks noChangeShapeType="1"/>
          </p:cNvSpPr>
          <p:nvPr/>
        </p:nvSpPr>
        <p:spPr bwMode="auto">
          <a:xfrm>
            <a:off x="5181600" y="2819400"/>
            <a:ext cx="228600" cy="1524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62" name="Line 32"/>
          <p:cNvSpPr>
            <a:spLocks noChangeShapeType="1"/>
          </p:cNvSpPr>
          <p:nvPr/>
        </p:nvSpPr>
        <p:spPr bwMode="auto">
          <a:xfrm>
            <a:off x="5791200" y="3048000"/>
            <a:ext cx="228600" cy="1524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63" name="Text Box 33"/>
          <p:cNvSpPr txBox="1">
            <a:spLocks noChangeArrowheads="1"/>
          </p:cNvSpPr>
          <p:nvPr/>
        </p:nvSpPr>
        <p:spPr bwMode="auto">
          <a:xfrm>
            <a:off x="5943600" y="3048000"/>
            <a:ext cx="376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zh-TW" altLang="en-US" sz="1800">
                <a:latin typeface="Times New Roman" panose="02020603050405020304" pitchFamily="18" charset="0"/>
                <a:ea typeface="新細明體" panose="02020500000000000000" pitchFamily="18" charset="-120"/>
              </a:rPr>
              <a:t>*</a:t>
            </a:r>
          </a:p>
        </p:txBody>
      </p:sp>
      <p:sp>
        <p:nvSpPr>
          <p:cNvPr id="48164" name="Text Box 34"/>
          <p:cNvSpPr txBox="1">
            <a:spLocks noChangeArrowheads="1"/>
          </p:cNvSpPr>
          <p:nvPr/>
        </p:nvSpPr>
        <p:spPr bwMode="auto">
          <a:xfrm>
            <a:off x="5638800" y="3505200"/>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id3</a:t>
            </a:r>
          </a:p>
        </p:txBody>
      </p:sp>
      <p:sp>
        <p:nvSpPr>
          <p:cNvPr id="48165" name="Line 35"/>
          <p:cNvSpPr>
            <a:spLocks noChangeShapeType="1"/>
          </p:cNvSpPr>
          <p:nvPr/>
        </p:nvSpPr>
        <p:spPr bwMode="auto">
          <a:xfrm flipH="1">
            <a:off x="5867400" y="3276600"/>
            <a:ext cx="152400" cy="1524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66" name="Line 36"/>
          <p:cNvSpPr>
            <a:spLocks noChangeShapeType="1"/>
          </p:cNvSpPr>
          <p:nvPr/>
        </p:nvSpPr>
        <p:spPr bwMode="auto">
          <a:xfrm>
            <a:off x="6172200" y="3276600"/>
            <a:ext cx="228600" cy="1524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67" name="Text Box 37"/>
          <p:cNvSpPr txBox="1">
            <a:spLocks noChangeArrowheads="1"/>
          </p:cNvSpPr>
          <p:nvPr/>
        </p:nvSpPr>
        <p:spPr bwMode="auto">
          <a:xfrm>
            <a:off x="6324600" y="3429000"/>
            <a:ext cx="946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inttoreal</a:t>
            </a:r>
          </a:p>
        </p:txBody>
      </p:sp>
      <p:sp>
        <p:nvSpPr>
          <p:cNvPr id="48168" name="Text Box 38"/>
          <p:cNvSpPr txBox="1">
            <a:spLocks noChangeArrowheads="1"/>
          </p:cNvSpPr>
          <p:nvPr/>
        </p:nvSpPr>
        <p:spPr bwMode="auto">
          <a:xfrm>
            <a:off x="7086600" y="38862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1800">
                <a:latin typeface="Times New Roman" panose="02020603050405020304" pitchFamily="18" charset="0"/>
                <a:ea typeface="新細明體" panose="02020500000000000000" pitchFamily="18" charset="-120"/>
              </a:rPr>
              <a:t>60</a:t>
            </a:r>
          </a:p>
        </p:txBody>
      </p:sp>
      <p:sp>
        <p:nvSpPr>
          <p:cNvPr id="48169" name="Line 39"/>
          <p:cNvSpPr>
            <a:spLocks noChangeShapeType="1"/>
          </p:cNvSpPr>
          <p:nvPr/>
        </p:nvSpPr>
        <p:spPr bwMode="auto">
          <a:xfrm>
            <a:off x="6934200" y="3810000"/>
            <a:ext cx="228600" cy="152400"/>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70" name="Line 40"/>
          <p:cNvSpPr>
            <a:spLocks noChangeShapeType="1"/>
          </p:cNvSpPr>
          <p:nvPr/>
        </p:nvSpPr>
        <p:spPr bwMode="auto">
          <a:xfrm>
            <a:off x="6172200" y="2590800"/>
            <a:ext cx="0" cy="2286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71" name="Text Box 41"/>
          <p:cNvSpPr txBox="1">
            <a:spLocks noChangeArrowheads="1"/>
          </p:cNvSpPr>
          <p:nvPr/>
        </p:nvSpPr>
        <p:spPr bwMode="auto">
          <a:xfrm>
            <a:off x="3352800" y="3886200"/>
            <a:ext cx="28956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TW" sz="2000">
                <a:latin typeface="Times New Roman" panose="02020603050405020304" pitchFamily="18" charset="0"/>
                <a:ea typeface="新細明體" panose="02020500000000000000" pitchFamily="18" charset="-120"/>
              </a:rPr>
              <a:t>temp1 = inttoreal(60) temp2 = id3* temp1 temp3 = id2+ temp2      id1 = temp3</a:t>
            </a:r>
          </a:p>
        </p:txBody>
      </p:sp>
      <p:sp>
        <p:nvSpPr>
          <p:cNvPr id="48172" name="Text Box 42"/>
          <p:cNvSpPr txBox="1">
            <a:spLocks noChangeArrowheads="1"/>
          </p:cNvSpPr>
          <p:nvPr/>
        </p:nvSpPr>
        <p:spPr bwMode="auto">
          <a:xfrm>
            <a:off x="6096000" y="4343400"/>
            <a:ext cx="20462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2000">
                <a:latin typeface="Times New Roman" panose="02020603050405020304" pitchFamily="18" charset="0"/>
                <a:ea typeface="新細明體" panose="02020500000000000000" pitchFamily="18" charset="-120"/>
              </a:rPr>
              <a:t>temp1 = id3* 60.0</a:t>
            </a:r>
          </a:p>
          <a:p>
            <a:pPr eaLnBrk="1" hangingPunct="1">
              <a:spcBef>
                <a:spcPct val="0"/>
              </a:spcBef>
              <a:buClrTx/>
              <a:buSzTx/>
              <a:buFontTx/>
              <a:buNone/>
            </a:pPr>
            <a:r>
              <a:rPr lang="en-US" altLang="zh-TW" sz="2000">
                <a:latin typeface="Times New Roman" panose="02020603050405020304" pitchFamily="18" charset="0"/>
                <a:ea typeface="新細明體" panose="02020500000000000000" pitchFamily="18" charset="-120"/>
              </a:rPr>
              <a:t>id1 = id2+temp1</a:t>
            </a:r>
          </a:p>
        </p:txBody>
      </p:sp>
      <p:sp>
        <p:nvSpPr>
          <p:cNvPr id="48173" name="Line 43"/>
          <p:cNvSpPr>
            <a:spLocks noChangeShapeType="1"/>
          </p:cNvSpPr>
          <p:nvPr/>
        </p:nvSpPr>
        <p:spPr bwMode="auto">
          <a:xfrm>
            <a:off x="4800600" y="3429000"/>
            <a:ext cx="0" cy="3810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74" name="Line 44"/>
          <p:cNvSpPr>
            <a:spLocks noChangeShapeType="1"/>
          </p:cNvSpPr>
          <p:nvPr/>
        </p:nvSpPr>
        <p:spPr bwMode="auto">
          <a:xfrm>
            <a:off x="7086600" y="4953000"/>
            <a:ext cx="0" cy="2286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75" name="Text Box 45"/>
          <p:cNvSpPr txBox="1">
            <a:spLocks noChangeArrowheads="1"/>
          </p:cNvSpPr>
          <p:nvPr/>
        </p:nvSpPr>
        <p:spPr bwMode="auto">
          <a:xfrm>
            <a:off x="5562600" y="5241925"/>
            <a:ext cx="3200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TW" sz="2000">
                <a:latin typeface="Times New Roman" panose="02020603050405020304" pitchFamily="18" charset="0"/>
                <a:ea typeface="新細明體" panose="02020500000000000000" pitchFamily="18" charset="-120"/>
              </a:rPr>
              <a:t>movf  id3, fr2; movf  id2, fr1</a:t>
            </a:r>
          </a:p>
          <a:p>
            <a:pPr eaLnBrk="1" hangingPunct="1">
              <a:spcBef>
                <a:spcPct val="0"/>
              </a:spcBef>
              <a:buClrTx/>
              <a:buSzTx/>
              <a:buFontTx/>
              <a:buNone/>
            </a:pPr>
            <a:r>
              <a:rPr lang="en-US" altLang="zh-TW" sz="2000">
                <a:latin typeface="Times New Roman" panose="02020603050405020304" pitchFamily="18" charset="0"/>
                <a:ea typeface="新細明體" panose="02020500000000000000" pitchFamily="18" charset="-120"/>
              </a:rPr>
              <a:t>mulf  #60.0, fr2</a:t>
            </a:r>
          </a:p>
          <a:p>
            <a:pPr eaLnBrk="1" hangingPunct="1">
              <a:spcBef>
                <a:spcPct val="0"/>
              </a:spcBef>
              <a:buClrTx/>
              <a:buSzTx/>
              <a:buFontTx/>
              <a:buNone/>
            </a:pPr>
            <a:r>
              <a:rPr lang="en-US" altLang="zh-TW" sz="2000">
                <a:latin typeface="Times New Roman" panose="02020603050405020304" pitchFamily="18" charset="0"/>
                <a:ea typeface="新細明體" panose="02020500000000000000" pitchFamily="18" charset="-120"/>
              </a:rPr>
              <a:t>addf  fr2,fr1</a:t>
            </a:r>
          </a:p>
          <a:p>
            <a:pPr eaLnBrk="1" hangingPunct="1">
              <a:spcBef>
                <a:spcPct val="0"/>
              </a:spcBef>
              <a:buClrTx/>
              <a:buSzTx/>
              <a:buFontTx/>
              <a:buNone/>
            </a:pPr>
            <a:r>
              <a:rPr lang="en-US" altLang="zh-TW" sz="2000">
                <a:latin typeface="Times New Roman" panose="02020603050405020304" pitchFamily="18" charset="0"/>
                <a:ea typeface="新細明體" panose="02020500000000000000" pitchFamily="18" charset="-120"/>
              </a:rPr>
              <a:t>movf  fr1, id1</a:t>
            </a:r>
          </a:p>
        </p:txBody>
      </p:sp>
      <p:sp>
        <p:nvSpPr>
          <p:cNvPr id="48176" name="Line 46"/>
          <p:cNvSpPr>
            <a:spLocks noChangeShapeType="1"/>
          </p:cNvSpPr>
          <p:nvPr/>
        </p:nvSpPr>
        <p:spPr bwMode="auto">
          <a:xfrm>
            <a:off x="5715000" y="4648200"/>
            <a:ext cx="2286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48177" name="Line 47"/>
          <p:cNvSpPr>
            <a:spLocks noChangeShapeType="1"/>
          </p:cNvSpPr>
          <p:nvPr/>
        </p:nvSpPr>
        <p:spPr bwMode="auto">
          <a:xfrm>
            <a:off x="5791200" y="1447800"/>
            <a:ext cx="0" cy="2286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203825" name="Line 49"/>
          <p:cNvSpPr>
            <a:spLocks noChangeShapeType="1"/>
          </p:cNvSpPr>
          <p:nvPr/>
        </p:nvSpPr>
        <p:spPr bwMode="auto">
          <a:xfrm flipV="1">
            <a:off x="2514600" y="1295400"/>
            <a:ext cx="1905000" cy="152400"/>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203826" name="Line 50"/>
          <p:cNvSpPr>
            <a:spLocks noChangeShapeType="1"/>
          </p:cNvSpPr>
          <p:nvPr/>
        </p:nvSpPr>
        <p:spPr bwMode="auto">
          <a:xfrm flipV="1">
            <a:off x="2514600" y="1981200"/>
            <a:ext cx="3048000" cy="381000"/>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203827" name="Line 51"/>
          <p:cNvSpPr>
            <a:spLocks noChangeShapeType="1"/>
          </p:cNvSpPr>
          <p:nvPr/>
        </p:nvSpPr>
        <p:spPr bwMode="auto">
          <a:xfrm flipV="1">
            <a:off x="2590800" y="2971800"/>
            <a:ext cx="1981200" cy="228600"/>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203828" name="Line 52"/>
          <p:cNvSpPr>
            <a:spLocks noChangeShapeType="1"/>
          </p:cNvSpPr>
          <p:nvPr/>
        </p:nvSpPr>
        <p:spPr bwMode="auto">
          <a:xfrm flipV="1">
            <a:off x="2590800" y="3886200"/>
            <a:ext cx="1676400" cy="76200"/>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203829" name="Line 53"/>
          <p:cNvSpPr>
            <a:spLocks noChangeShapeType="1"/>
          </p:cNvSpPr>
          <p:nvPr/>
        </p:nvSpPr>
        <p:spPr bwMode="auto">
          <a:xfrm>
            <a:off x="2590800" y="4800600"/>
            <a:ext cx="3429000" cy="76200"/>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203830" name="Line 54"/>
          <p:cNvSpPr>
            <a:spLocks noChangeShapeType="1"/>
          </p:cNvSpPr>
          <p:nvPr/>
        </p:nvSpPr>
        <p:spPr bwMode="auto">
          <a:xfrm>
            <a:off x="2590800" y="5638800"/>
            <a:ext cx="2895600" cy="0"/>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203825"/>
                                        </p:tgtEl>
                                        <p:attrNameLst>
                                          <p:attrName>style.visibility</p:attrName>
                                        </p:attrNameLst>
                                      </p:cBhvr>
                                      <p:to>
                                        <p:strVal val="visible"/>
                                      </p:to>
                                    </p:set>
                                    <p:anim calcmode="lin" valueType="num">
                                      <p:cBhvr>
                                        <p:cTn id="7" dur="1000" fill="hold"/>
                                        <p:tgtEl>
                                          <p:spTgt spid="203825"/>
                                        </p:tgtEl>
                                        <p:attrNameLst>
                                          <p:attrName>ppt_w</p:attrName>
                                        </p:attrNameLst>
                                      </p:cBhvr>
                                      <p:tavLst>
                                        <p:tav tm="0">
                                          <p:val>
                                            <p:strVal val="#ppt_w*0.70"/>
                                          </p:val>
                                        </p:tav>
                                        <p:tav tm="100000">
                                          <p:val>
                                            <p:strVal val="#ppt_w"/>
                                          </p:val>
                                        </p:tav>
                                      </p:tavLst>
                                    </p:anim>
                                    <p:anim calcmode="lin" valueType="num">
                                      <p:cBhvr>
                                        <p:cTn id="8" dur="1000" fill="hold"/>
                                        <p:tgtEl>
                                          <p:spTgt spid="203825"/>
                                        </p:tgtEl>
                                        <p:attrNameLst>
                                          <p:attrName>ppt_h</p:attrName>
                                        </p:attrNameLst>
                                      </p:cBhvr>
                                      <p:tavLst>
                                        <p:tav tm="0">
                                          <p:val>
                                            <p:strVal val="#ppt_h"/>
                                          </p:val>
                                        </p:tav>
                                        <p:tav tm="100000">
                                          <p:val>
                                            <p:strVal val="#ppt_h"/>
                                          </p:val>
                                        </p:tav>
                                      </p:tavLst>
                                    </p:anim>
                                    <p:animEffect transition="in" filter="fade">
                                      <p:cBhvr>
                                        <p:cTn id="9" dur="1000"/>
                                        <p:tgtEl>
                                          <p:spTgt spid="20382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203826"/>
                                        </p:tgtEl>
                                        <p:attrNameLst>
                                          <p:attrName>style.visibility</p:attrName>
                                        </p:attrNameLst>
                                      </p:cBhvr>
                                      <p:to>
                                        <p:strVal val="visible"/>
                                      </p:to>
                                    </p:set>
                                    <p:anim calcmode="lin" valueType="num">
                                      <p:cBhvr>
                                        <p:cTn id="14" dur="1000" fill="hold"/>
                                        <p:tgtEl>
                                          <p:spTgt spid="203826"/>
                                        </p:tgtEl>
                                        <p:attrNameLst>
                                          <p:attrName>ppt_w</p:attrName>
                                        </p:attrNameLst>
                                      </p:cBhvr>
                                      <p:tavLst>
                                        <p:tav tm="0">
                                          <p:val>
                                            <p:strVal val="#ppt_w*0.70"/>
                                          </p:val>
                                        </p:tav>
                                        <p:tav tm="100000">
                                          <p:val>
                                            <p:strVal val="#ppt_w"/>
                                          </p:val>
                                        </p:tav>
                                      </p:tavLst>
                                    </p:anim>
                                    <p:anim calcmode="lin" valueType="num">
                                      <p:cBhvr>
                                        <p:cTn id="15" dur="1000" fill="hold"/>
                                        <p:tgtEl>
                                          <p:spTgt spid="203826"/>
                                        </p:tgtEl>
                                        <p:attrNameLst>
                                          <p:attrName>ppt_h</p:attrName>
                                        </p:attrNameLst>
                                      </p:cBhvr>
                                      <p:tavLst>
                                        <p:tav tm="0">
                                          <p:val>
                                            <p:strVal val="#ppt_h"/>
                                          </p:val>
                                        </p:tav>
                                        <p:tav tm="100000">
                                          <p:val>
                                            <p:strVal val="#ppt_h"/>
                                          </p:val>
                                        </p:tav>
                                      </p:tavLst>
                                    </p:anim>
                                    <p:animEffect transition="in" filter="fade">
                                      <p:cBhvr>
                                        <p:cTn id="16" dur="1000"/>
                                        <p:tgtEl>
                                          <p:spTgt spid="20382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203827"/>
                                        </p:tgtEl>
                                        <p:attrNameLst>
                                          <p:attrName>style.visibility</p:attrName>
                                        </p:attrNameLst>
                                      </p:cBhvr>
                                      <p:to>
                                        <p:strVal val="visible"/>
                                      </p:to>
                                    </p:set>
                                    <p:anim calcmode="lin" valueType="num">
                                      <p:cBhvr>
                                        <p:cTn id="21" dur="1000" fill="hold"/>
                                        <p:tgtEl>
                                          <p:spTgt spid="203827"/>
                                        </p:tgtEl>
                                        <p:attrNameLst>
                                          <p:attrName>ppt_w</p:attrName>
                                        </p:attrNameLst>
                                      </p:cBhvr>
                                      <p:tavLst>
                                        <p:tav tm="0">
                                          <p:val>
                                            <p:strVal val="#ppt_w*0.70"/>
                                          </p:val>
                                        </p:tav>
                                        <p:tav tm="100000">
                                          <p:val>
                                            <p:strVal val="#ppt_w"/>
                                          </p:val>
                                        </p:tav>
                                      </p:tavLst>
                                    </p:anim>
                                    <p:anim calcmode="lin" valueType="num">
                                      <p:cBhvr>
                                        <p:cTn id="22" dur="1000" fill="hold"/>
                                        <p:tgtEl>
                                          <p:spTgt spid="203827"/>
                                        </p:tgtEl>
                                        <p:attrNameLst>
                                          <p:attrName>ppt_h</p:attrName>
                                        </p:attrNameLst>
                                      </p:cBhvr>
                                      <p:tavLst>
                                        <p:tav tm="0">
                                          <p:val>
                                            <p:strVal val="#ppt_h"/>
                                          </p:val>
                                        </p:tav>
                                        <p:tav tm="100000">
                                          <p:val>
                                            <p:strVal val="#ppt_h"/>
                                          </p:val>
                                        </p:tav>
                                      </p:tavLst>
                                    </p:anim>
                                    <p:animEffect transition="in" filter="fade">
                                      <p:cBhvr>
                                        <p:cTn id="23" dur="1000"/>
                                        <p:tgtEl>
                                          <p:spTgt spid="20382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203828"/>
                                        </p:tgtEl>
                                        <p:attrNameLst>
                                          <p:attrName>style.visibility</p:attrName>
                                        </p:attrNameLst>
                                      </p:cBhvr>
                                      <p:to>
                                        <p:strVal val="visible"/>
                                      </p:to>
                                    </p:set>
                                    <p:anim calcmode="lin" valueType="num">
                                      <p:cBhvr>
                                        <p:cTn id="28" dur="1000" fill="hold"/>
                                        <p:tgtEl>
                                          <p:spTgt spid="203828"/>
                                        </p:tgtEl>
                                        <p:attrNameLst>
                                          <p:attrName>ppt_w</p:attrName>
                                        </p:attrNameLst>
                                      </p:cBhvr>
                                      <p:tavLst>
                                        <p:tav tm="0">
                                          <p:val>
                                            <p:strVal val="#ppt_w*0.70"/>
                                          </p:val>
                                        </p:tav>
                                        <p:tav tm="100000">
                                          <p:val>
                                            <p:strVal val="#ppt_w"/>
                                          </p:val>
                                        </p:tav>
                                      </p:tavLst>
                                    </p:anim>
                                    <p:anim calcmode="lin" valueType="num">
                                      <p:cBhvr>
                                        <p:cTn id="29" dur="1000" fill="hold"/>
                                        <p:tgtEl>
                                          <p:spTgt spid="203828"/>
                                        </p:tgtEl>
                                        <p:attrNameLst>
                                          <p:attrName>ppt_h</p:attrName>
                                        </p:attrNameLst>
                                      </p:cBhvr>
                                      <p:tavLst>
                                        <p:tav tm="0">
                                          <p:val>
                                            <p:strVal val="#ppt_h"/>
                                          </p:val>
                                        </p:tav>
                                        <p:tav tm="100000">
                                          <p:val>
                                            <p:strVal val="#ppt_h"/>
                                          </p:val>
                                        </p:tav>
                                      </p:tavLst>
                                    </p:anim>
                                    <p:animEffect transition="in" filter="fade">
                                      <p:cBhvr>
                                        <p:cTn id="30" dur="1000"/>
                                        <p:tgtEl>
                                          <p:spTgt spid="20382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5" presetClass="entr" presetSubtype="0" fill="hold" nodeType="clickEffect">
                                  <p:stCondLst>
                                    <p:cond delay="0"/>
                                  </p:stCondLst>
                                  <p:childTnLst>
                                    <p:set>
                                      <p:cBhvr>
                                        <p:cTn id="34" dur="1" fill="hold">
                                          <p:stCondLst>
                                            <p:cond delay="0"/>
                                          </p:stCondLst>
                                        </p:cTn>
                                        <p:tgtEl>
                                          <p:spTgt spid="203829"/>
                                        </p:tgtEl>
                                        <p:attrNameLst>
                                          <p:attrName>style.visibility</p:attrName>
                                        </p:attrNameLst>
                                      </p:cBhvr>
                                      <p:to>
                                        <p:strVal val="visible"/>
                                      </p:to>
                                    </p:set>
                                    <p:anim calcmode="lin" valueType="num">
                                      <p:cBhvr>
                                        <p:cTn id="35" dur="1000" fill="hold"/>
                                        <p:tgtEl>
                                          <p:spTgt spid="203829"/>
                                        </p:tgtEl>
                                        <p:attrNameLst>
                                          <p:attrName>ppt_w</p:attrName>
                                        </p:attrNameLst>
                                      </p:cBhvr>
                                      <p:tavLst>
                                        <p:tav tm="0">
                                          <p:val>
                                            <p:strVal val="#ppt_w*0.70"/>
                                          </p:val>
                                        </p:tav>
                                        <p:tav tm="100000">
                                          <p:val>
                                            <p:strVal val="#ppt_w"/>
                                          </p:val>
                                        </p:tav>
                                      </p:tavLst>
                                    </p:anim>
                                    <p:anim calcmode="lin" valueType="num">
                                      <p:cBhvr>
                                        <p:cTn id="36" dur="1000" fill="hold"/>
                                        <p:tgtEl>
                                          <p:spTgt spid="203829"/>
                                        </p:tgtEl>
                                        <p:attrNameLst>
                                          <p:attrName>ppt_h</p:attrName>
                                        </p:attrNameLst>
                                      </p:cBhvr>
                                      <p:tavLst>
                                        <p:tav tm="0">
                                          <p:val>
                                            <p:strVal val="#ppt_h"/>
                                          </p:val>
                                        </p:tav>
                                        <p:tav tm="100000">
                                          <p:val>
                                            <p:strVal val="#ppt_h"/>
                                          </p:val>
                                        </p:tav>
                                      </p:tavLst>
                                    </p:anim>
                                    <p:animEffect transition="in" filter="fade">
                                      <p:cBhvr>
                                        <p:cTn id="37" dur="1000"/>
                                        <p:tgtEl>
                                          <p:spTgt spid="2038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5" presetClass="entr" presetSubtype="0" fill="hold" nodeType="clickEffect">
                                  <p:stCondLst>
                                    <p:cond delay="0"/>
                                  </p:stCondLst>
                                  <p:childTnLst>
                                    <p:set>
                                      <p:cBhvr>
                                        <p:cTn id="41" dur="1" fill="hold">
                                          <p:stCondLst>
                                            <p:cond delay="0"/>
                                          </p:stCondLst>
                                        </p:cTn>
                                        <p:tgtEl>
                                          <p:spTgt spid="203830"/>
                                        </p:tgtEl>
                                        <p:attrNameLst>
                                          <p:attrName>style.visibility</p:attrName>
                                        </p:attrNameLst>
                                      </p:cBhvr>
                                      <p:to>
                                        <p:strVal val="visible"/>
                                      </p:to>
                                    </p:set>
                                    <p:anim calcmode="lin" valueType="num">
                                      <p:cBhvr>
                                        <p:cTn id="42" dur="1000" fill="hold"/>
                                        <p:tgtEl>
                                          <p:spTgt spid="203830"/>
                                        </p:tgtEl>
                                        <p:attrNameLst>
                                          <p:attrName>ppt_w</p:attrName>
                                        </p:attrNameLst>
                                      </p:cBhvr>
                                      <p:tavLst>
                                        <p:tav tm="0">
                                          <p:val>
                                            <p:strVal val="#ppt_w*0.70"/>
                                          </p:val>
                                        </p:tav>
                                        <p:tav tm="100000">
                                          <p:val>
                                            <p:strVal val="#ppt_w"/>
                                          </p:val>
                                        </p:tav>
                                      </p:tavLst>
                                    </p:anim>
                                    <p:anim calcmode="lin" valueType="num">
                                      <p:cBhvr>
                                        <p:cTn id="43" dur="1000" fill="hold"/>
                                        <p:tgtEl>
                                          <p:spTgt spid="203830"/>
                                        </p:tgtEl>
                                        <p:attrNameLst>
                                          <p:attrName>ppt_h</p:attrName>
                                        </p:attrNameLst>
                                      </p:cBhvr>
                                      <p:tavLst>
                                        <p:tav tm="0">
                                          <p:val>
                                            <p:strVal val="#ppt_h"/>
                                          </p:val>
                                        </p:tav>
                                        <p:tav tm="100000">
                                          <p:val>
                                            <p:strVal val="#ppt_h"/>
                                          </p:val>
                                        </p:tav>
                                      </p:tavLst>
                                    </p:anim>
                                    <p:animEffect transition="in" filter="fade">
                                      <p:cBhvr>
                                        <p:cTn id="44" dur="1000"/>
                                        <p:tgtEl>
                                          <p:spTgt spid="2038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1624569E-92DC-41A0-BC39-4A1AD975FBEC}" type="slidenum">
              <a:rPr lang="zh-TW" altLang="en-US" sz="1200" smtClean="0"/>
              <a:pPr>
                <a:spcBef>
                  <a:spcPct val="0"/>
                </a:spcBef>
                <a:buClrTx/>
                <a:buSzTx/>
                <a:buFontTx/>
                <a:buNone/>
                <a:defRPr/>
              </a:pPr>
              <a:t>25</a:t>
            </a:fld>
            <a:endParaRPr lang="en-US" altLang="zh-TW" sz="1200"/>
          </a:p>
        </p:txBody>
      </p:sp>
      <p:sp>
        <p:nvSpPr>
          <p:cNvPr id="204802" name="Rectangle 2"/>
          <p:cNvSpPr>
            <a:spLocks noGrp="1" noChangeArrowheads="1"/>
          </p:cNvSpPr>
          <p:nvPr>
            <p:ph type="title"/>
          </p:nvPr>
        </p:nvSpPr>
        <p:spPr/>
        <p:txBody>
          <a:bodyPr/>
          <a:lstStyle/>
          <a:p>
            <a:pPr eaLnBrk="1" hangingPunct="1">
              <a:defRPr/>
            </a:pPr>
            <a:r>
              <a:rPr lang="en-US" altLang="zh-TW" sz="4000" dirty="0">
                <a:ea typeface="新細明體" pitchFamily="18" charset="-120"/>
              </a:rPr>
              <a:t>Grouping of Compiler Phases</a:t>
            </a:r>
          </a:p>
        </p:txBody>
      </p:sp>
      <p:sp>
        <p:nvSpPr>
          <p:cNvPr id="204803" name="Rectangle 3"/>
          <p:cNvSpPr>
            <a:spLocks noGrp="1" noChangeArrowheads="1"/>
          </p:cNvSpPr>
          <p:nvPr>
            <p:ph type="body" idx="1"/>
          </p:nvPr>
        </p:nvSpPr>
        <p:spPr>
          <a:xfrm>
            <a:off x="685800" y="1676400"/>
            <a:ext cx="7772400" cy="4800600"/>
          </a:xfrm>
        </p:spPr>
        <p:txBody>
          <a:bodyPr/>
          <a:lstStyle/>
          <a:p>
            <a:pPr eaLnBrk="1" hangingPunct="1">
              <a:defRPr/>
            </a:pPr>
            <a:r>
              <a:rPr lang="en-US" altLang="zh-TW" sz="3600" b="1" dirty="0">
                <a:ea typeface="新細明體" panose="02020500000000000000" pitchFamily="18" charset="-120"/>
              </a:rPr>
              <a:t>Front end</a:t>
            </a:r>
          </a:p>
          <a:p>
            <a:pPr lvl="1" eaLnBrk="1" hangingPunct="1">
              <a:buClr>
                <a:srgbClr val="00FFFF"/>
              </a:buClr>
              <a:buFont typeface="Wingdings" panose="05000000000000000000" pitchFamily="2" charset="2"/>
              <a:buChar char="v"/>
              <a:defRPr/>
            </a:pPr>
            <a:r>
              <a:rPr lang="en-US" altLang="zh-TW" dirty="0">
                <a:ea typeface="新細明體" panose="02020500000000000000" pitchFamily="18" charset="-120"/>
              </a:rPr>
              <a:t>those phases depending on the source language but largely independent of the target machine.</a:t>
            </a:r>
          </a:p>
          <a:p>
            <a:pPr eaLnBrk="1" hangingPunct="1">
              <a:defRPr/>
            </a:pPr>
            <a:r>
              <a:rPr lang="en-US" altLang="zh-TW" sz="3600" b="1" dirty="0">
                <a:ea typeface="新細明體" panose="02020500000000000000" pitchFamily="18" charset="-120"/>
              </a:rPr>
              <a:t>Back end</a:t>
            </a:r>
          </a:p>
          <a:p>
            <a:pPr lvl="1" eaLnBrk="1" hangingPunct="1">
              <a:buClr>
                <a:srgbClr val="00FFFF"/>
              </a:buClr>
              <a:buFont typeface="Wingdings" panose="05000000000000000000" pitchFamily="2" charset="2"/>
              <a:buChar char="v"/>
              <a:defRPr/>
            </a:pPr>
            <a:r>
              <a:rPr lang="en-US" altLang="zh-TW" dirty="0">
                <a:ea typeface="新細明體" panose="02020500000000000000" pitchFamily="18" charset="-120"/>
              </a:rPr>
              <a:t>those phases that are usually target machine dependent such as optimization and code generation.  </a:t>
            </a:r>
          </a:p>
          <a:p>
            <a:pPr eaLnBrk="1" hangingPunct="1">
              <a:defRPr/>
            </a:pPr>
            <a:endParaRPr lang="zh-TW" altLang="en-US" dirty="0">
              <a:ea typeface="新細明體" panose="02020500000000000000" pitchFamily="18" charset="-12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zh-TW">
                <a:ea typeface="新細明體" panose="02020500000000000000" pitchFamily="18" charset="-120"/>
              </a:rPr>
              <a:t>Pop quiz</a:t>
            </a:r>
            <a:endParaRPr lang="zh-TW" altLang="en-US">
              <a:ea typeface="新細明體" panose="02020500000000000000" pitchFamily="18" charset="-120"/>
            </a:endParaRPr>
          </a:p>
        </p:txBody>
      </p:sp>
      <p:sp>
        <p:nvSpPr>
          <p:cNvPr id="3" name="Content Placeholder 2"/>
          <p:cNvSpPr>
            <a:spLocks noGrp="1"/>
          </p:cNvSpPr>
          <p:nvPr>
            <p:ph idx="1"/>
          </p:nvPr>
        </p:nvSpPr>
        <p:spPr>
          <a:xfrm>
            <a:off x="457200" y="1295400"/>
            <a:ext cx="8229600" cy="4835525"/>
          </a:xfrm>
        </p:spPr>
        <p:txBody>
          <a:bodyPr/>
          <a:lstStyle/>
          <a:p>
            <a:pPr marL="0" indent="0">
              <a:buFont typeface="Wingdings" panose="05000000000000000000" pitchFamily="2" charset="2"/>
              <a:buNone/>
              <a:defRPr/>
            </a:pPr>
            <a:r>
              <a:rPr lang="en-US" altLang="zh-TW" dirty="0">
                <a:ea typeface="新細明體" panose="02020500000000000000" pitchFamily="18" charset="-120"/>
              </a:rPr>
              <a:t>Which of the following components are part of front-end, which are part of back-end ?</a:t>
            </a:r>
          </a:p>
          <a:p>
            <a:pPr lvl="1">
              <a:defRPr/>
            </a:pPr>
            <a:r>
              <a:rPr lang="en-US" altLang="zh-TW" dirty="0">
                <a:ea typeface="新細明體" panose="02020500000000000000" pitchFamily="18" charset="-120"/>
              </a:rPr>
              <a:t>Target code optimizer</a:t>
            </a:r>
          </a:p>
          <a:p>
            <a:pPr lvl="1">
              <a:defRPr/>
            </a:pPr>
            <a:r>
              <a:rPr lang="en-US" altLang="zh-TW" dirty="0">
                <a:ea typeface="新細明體" panose="02020500000000000000" pitchFamily="18" charset="-120"/>
              </a:rPr>
              <a:t>Parser</a:t>
            </a:r>
          </a:p>
          <a:p>
            <a:pPr lvl="1">
              <a:defRPr/>
            </a:pPr>
            <a:r>
              <a:rPr lang="en-US" altLang="zh-TW" dirty="0">
                <a:ea typeface="新細明體" panose="02020500000000000000" pitchFamily="18" charset="-120"/>
              </a:rPr>
              <a:t>Scanner</a:t>
            </a:r>
          </a:p>
          <a:p>
            <a:pPr lvl="1">
              <a:defRPr/>
            </a:pPr>
            <a:r>
              <a:rPr lang="en-US" altLang="zh-TW" dirty="0">
                <a:ea typeface="新細明體" panose="02020500000000000000" pitchFamily="18" charset="-120"/>
              </a:rPr>
              <a:t>IR code generator</a:t>
            </a:r>
          </a:p>
          <a:p>
            <a:pPr lvl="1">
              <a:defRPr/>
            </a:pPr>
            <a:r>
              <a:rPr lang="en-US" altLang="zh-TW" dirty="0">
                <a:ea typeface="新細明體" panose="02020500000000000000" pitchFamily="18" charset="-120"/>
              </a:rPr>
              <a:t>Type checker</a:t>
            </a:r>
            <a:endParaRPr lang="zh-TW" altLang="en-US" dirty="0">
              <a:ea typeface="新細明體" panose="02020500000000000000" pitchFamily="18" charset="-120"/>
            </a:endParaRPr>
          </a:p>
        </p:txBody>
      </p:sp>
      <p:sp>
        <p:nvSpPr>
          <p:cNvPr id="4" name="Oval 3"/>
          <p:cNvSpPr>
            <a:spLocks noChangeArrowheads="1"/>
          </p:cNvSpPr>
          <p:nvPr/>
        </p:nvSpPr>
        <p:spPr bwMode="auto">
          <a:xfrm>
            <a:off x="5638800" y="2409825"/>
            <a:ext cx="2362200" cy="762000"/>
          </a:xfrm>
          <a:prstGeom prst="ellipse">
            <a:avLst/>
          </a:prstGeom>
          <a:solidFill>
            <a:srgbClr val="FFFF00"/>
          </a:solidFill>
          <a:ln w="762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a:solidFill>
                  <a:srgbClr val="00004D"/>
                </a:solidFill>
                <a:ea typeface="新細明體" panose="02020500000000000000" pitchFamily="18" charset="-120"/>
              </a:rPr>
              <a:t>Back-end</a:t>
            </a:r>
            <a:endParaRPr lang="zh-TW" altLang="en-US" sz="2400">
              <a:solidFill>
                <a:srgbClr val="00004D"/>
              </a:solidFill>
              <a:ea typeface="新細明體" panose="02020500000000000000" pitchFamily="18" charset="-120"/>
            </a:endParaRPr>
          </a:p>
        </p:txBody>
      </p:sp>
      <p:sp>
        <p:nvSpPr>
          <p:cNvPr id="5" name="Oval 4"/>
          <p:cNvSpPr>
            <a:spLocks noChangeArrowheads="1"/>
          </p:cNvSpPr>
          <p:nvPr/>
        </p:nvSpPr>
        <p:spPr bwMode="auto">
          <a:xfrm>
            <a:off x="3429000" y="2930525"/>
            <a:ext cx="2362200" cy="762000"/>
          </a:xfrm>
          <a:prstGeom prst="ellipse">
            <a:avLst/>
          </a:prstGeom>
          <a:solidFill>
            <a:srgbClr val="FFFF00"/>
          </a:solidFill>
          <a:ln w="762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a:solidFill>
                  <a:srgbClr val="00004D"/>
                </a:solidFill>
                <a:ea typeface="新細明體" panose="02020500000000000000" pitchFamily="18" charset="-120"/>
              </a:rPr>
              <a:t>front-end</a:t>
            </a:r>
            <a:endParaRPr lang="zh-TW" altLang="en-US" sz="2400">
              <a:solidFill>
                <a:srgbClr val="00004D"/>
              </a:solidFill>
              <a:ea typeface="新細明體" panose="02020500000000000000" pitchFamily="18" charset="-120"/>
            </a:endParaRPr>
          </a:p>
        </p:txBody>
      </p:sp>
      <p:sp>
        <p:nvSpPr>
          <p:cNvPr id="6" name="Oval 5"/>
          <p:cNvSpPr>
            <a:spLocks noChangeArrowheads="1"/>
          </p:cNvSpPr>
          <p:nvPr/>
        </p:nvSpPr>
        <p:spPr bwMode="auto">
          <a:xfrm>
            <a:off x="5800725" y="3336925"/>
            <a:ext cx="2362200" cy="762000"/>
          </a:xfrm>
          <a:prstGeom prst="ellipse">
            <a:avLst/>
          </a:prstGeom>
          <a:solidFill>
            <a:srgbClr val="FFFF00"/>
          </a:solidFill>
          <a:ln w="762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a:solidFill>
                  <a:srgbClr val="00004D"/>
                </a:solidFill>
                <a:ea typeface="新細明體" panose="02020500000000000000" pitchFamily="18" charset="-120"/>
              </a:rPr>
              <a:t>front-end</a:t>
            </a:r>
            <a:endParaRPr lang="zh-TW" altLang="en-US" sz="2400">
              <a:solidFill>
                <a:srgbClr val="00004D"/>
              </a:solidFill>
              <a:ea typeface="新細明體" panose="02020500000000000000" pitchFamily="18" charset="-120"/>
            </a:endParaRPr>
          </a:p>
        </p:txBody>
      </p:sp>
      <p:sp>
        <p:nvSpPr>
          <p:cNvPr id="7" name="Oval 6"/>
          <p:cNvSpPr>
            <a:spLocks noChangeArrowheads="1"/>
          </p:cNvSpPr>
          <p:nvPr/>
        </p:nvSpPr>
        <p:spPr bwMode="auto">
          <a:xfrm>
            <a:off x="4191000" y="3932238"/>
            <a:ext cx="3971925" cy="609600"/>
          </a:xfrm>
          <a:prstGeom prst="ellipse">
            <a:avLst/>
          </a:prstGeom>
          <a:solidFill>
            <a:schemeClr val="accent4"/>
          </a:solidFill>
          <a:ln w="762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a:spcBef>
                <a:spcPct val="0"/>
              </a:spcBef>
              <a:buClrTx/>
              <a:buSzTx/>
              <a:buFontTx/>
              <a:buNone/>
              <a:defRPr/>
            </a:pPr>
            <a:r>
              <a:rPr lang="en-US" altLang="zh-TW" sz="2400" dirty="0">
                <a:solidFill>
                  <a:srgbClr val="00004D"/>
                </a:solidFill>
                <a:ea typeface="新細明體" panose="02020500000000000000" pitchFamily="18" charset="-120"/>
              </a:rPr>
              <a:t>front/middle end</a:t>
            </a:r>
            <a:endParaRPr lang="zh-TW" altLang="en-US" sz="2400" dirty="0">
              <a:solidFill>
                <a:srgbClr val="00004D"/>
              </a:solidFill>
              <a:ea typeface="新細明體" panose="02020500000000000000" pitchFamily="18" charset="-120"/>
            </a:endParaRPr>
          </a:p>
        </p:txBody>
      </p:sp>
      <p:sp>
        <p:nvSpPr>
          <p:cNvPr id="8" name="Oval 7"/>
          <p:cNvSpPr>
            <a:spLocks noChangeArrowheads="1"/>
          </p:cNvSpPr>
          <p:nvPr/>
        </p:nvSpPr>
        <p:spPr bwMode="auto">
          <a:xfrm>
            <a:off x="3592513" y="4656138"/>
            <a:ext cx="2362200" cy="762000"/>
          </a:xfrm>
          <a:prstGeom prst="ellipse">
            <a:avLst/>
          </a:prstGeom>
          <a:solidFill>
            <a:srgbClr val="FFFF00"/>
          </a:solidFill>
          <a:ln w="762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a:solidFill>
                  <a:srgbClr val="00004D"/>
                </a:solidFill>
                <a:ea typeface="新細明體" panose="02020500000000000000" pitchFamily="18" charset="-120"/>
              </a:rPr>
              <a:t>front-end</a:t>
            </a:r>
            <a:endParaRPr lang="zh-TW" altLang="en-US" sz="2400">
              <a:solidFill>
                <a:srgbClr val="00004D"/>
              </a:solidFill>
              <a:ea typeface="新細明體" panose="02020500000000000000" pitchFamily="18" charset="-120"/>
            </a:endParaRPr>
          </a:p>
        </p:txBody>
      </p:sp>
      <p:sp>
        <p:nvSpPr>
          <p:cNvPr id="9" name="頁尾版面配置區 8"/>
          <p:cNvSpPr>
            <a:spLocks noGrp="1"/>
          </p:cNvSpPr>
          <p:nvPr>
            <p:ph type="ftr" sz="quarter" idx="10"/>
          </p:nvPr>
        </p:nvSpPr>
        <p:spPr/>
        <p:txBody>
          <a:bodyPr/>
          <a:lstStyle/>
          <a:p>
            <a:pPr>
              <a:defRPr/>
            </a:pPr>
            <a:r>
              <a:rPr lang="en-US" altLang="zh-TW"/>
              <a:t>Department of Electrical Engineering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4"/>
          <p:cNvSpPr>
            <a:spLocks noGrp="1"/>
          </p:cNvSpPr>
          <p:nvPr>
            <p:ph type="ftr" sz="quarter" idx="10"/>
          </p:nvPr>
        </p:nvSpPr>
        <p:spPr/>
        <p:txBody>
          <a:bodyPr/>
          <a:lstStyle/>
          <a:p>
            <a:pPr>
              <a:defRPr/>
            </a:pPr>
            <a:r>
              <a:rPr lang="en-US" altLang="zh-TW"/>
              <a:t>Department of Electrical Engineering</a:t>
            </a:r>
          </a:p>
        </p:txBody>
      </p:sp>
      <p:sp>
        <p:nvSpPr>
          <p:cNvPr id="18"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6D126AC7-FEB4-4356-B375-84145A9DAAC2}" type="slidenum">
              <a:rPr lang="zh-TW" altLang="en-US" sz="1200" smtClean="0"/>
              <a:pPr>
                <a:spcBef>
                  <a:spcPct val="0"/>
                </a:spcBef>
                <a:buClrTx/>
                <a:buSzTx/>
                <a:buFontTx/>
                <a:buNone/>
                <a:defRPr/>
              </a:pPr>
              <a:t>27</a:t>
            </a:fld>
            <a:endParaRPr lang="en-US" altLang="zh-TW" sz="1200"/>
          </a:p>
        </p:txBody>
      </p:sp>
      <p:sp>
        <p:nvSpPr>
          <p:cNvPr id="205826" name="Rectangle 2"/>
          <p:cNvSpPr>
            <a:spLocks noGrp="1" noChangeArrowheads="1"/>
          </p:cNvSpPr>
          <p:nvPr>
            <p:ph type="title"/>
          </p:nvPr>
        </p:nvSpPr>
        <p:spPr>
          <a:xfrm>
            <a:off x="457200" y="533400"/>
            <a:ext cx="8229600" cy="887413"/>
          </a:xfrm>
        </p:spPr>
        <p:txBody>
          <a:bodyPr/>
          <a:lstStyle/>
          <a:p>
            <a:pPr eaLnBrk="1" hangingPunct="1">
              <a:defRPr/>
            </a:pPr>
            <a:r>
              <a:rPr lang="en-US" altLang="zh-TW" sz="3600">
                <a:ea typeface="新細明體" pitchFamily="18" charset="-120"/>
              </a:rPr>
              <a:t>Common Back-end Compiling System</a:t>
            </a:r>
          </a:p>
        </p:txBody>
      </p:sp>
      <p:sp>
        <p:nvSpPr>
          <p:cNvPr id="51205" name="Rectangle 3"/>
          <p:cNvSpPr>
            <a:spLocks noChangeArrowheads="1"/>
          </p:cNvSpPr>
          <p:nvPr/>
        </p:nvSpPr>
        <p:spPr bwMode="auto">
          <a:xfrm>
            <a:off x="609600" y="1676400"/>
            <a:ext cx="1676400" cy="914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Fortran</a:t>
            </a:r>
          </a:p>
        </p:txBody>
      </p:sp>
      <p:sp>
        <p:nvSpPr>
          <p:cNvPr id="51206" name="Rectangle 4"/>
          <p:cNvSpPr>
            <a:spLocks noChangeArrowheads="1"/>
          </p:cNvSpPr>
          <p:nvPr/>
        </p:nvSpPr>
        <p:spPr bwMode="auto">
          <a:xfrm>
            <a:off x="2819400" y="1676400"/>
            <a:ext cx="1676400" cy="914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C/C++</a:t>
            </a:r>
          </a:p>
        </p:txBody>
      </p:sp>
      <p:sp>
        <p:nvSpPr>
          <p:cNvPr id="51207" name="Rectangle 5"/>
          <p:cNvSpPr>
            <a:spLocks noChangeArrowheads="1"/>
          </p:cNvSpPr>
          <p:nvPr/>
        </p:nvSpPr>
        <p:spPr bwMode="auto">
          <a:xfrm>
            <a:off x="4953000" y="1676400"/>
            <a:ext cx="1676400" cy="914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Pascal</a:t>
            </a:r>
          </a:p>
        </p:txBody>
      </p:sp>
      <p:sp>
        <p:nvSpPr>
          <p:cNvPr id="51208" name="Rectangle 6"/>
          <p:cNvSpPr>
            <a:spLocks noChangeArrowheads="1"/>
          </p:cNvSpPr>
          <p:nvPr/>
        </p:nvSpPr>
        <p:spPr bwMode="auto">
          <a:xfrm>
            <a:off x="7010400" y="1676400"/>
            <a:ext cx="1676400" cy="914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Cobol</a:t>
            </a:r>
          </a:p>
        </p:txBody>
      </p:sp>
      <p:sp>
        <p:nvSpPr>
          <p:cNvPr id="51209" name="Rectangle 7"/>
          <p:cNvSpPr>
            <a:spLocks noChangeArrowheads="1"/>
          </p:cNvSpPr>
          <p:nvPr/>
        </p:nvSpPr>
        <p:spPr bwMode="auto">
          <a:xfrm>
            <a:off x="2438400" y="3048000"/>
            <a:ext cx="45720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Common IR </a:t>
            </a:r>
          </a:p>
          <a:p>
            <a:pPr algn="ctr" eaLnBrk="1" hangingPunct="1">
              <a:spcBef>
                <a:spcPct val="0"/>
              </a:spcBef>
              <a:buClrTx/>
              <a:buSzTx/>
              <a:buFontTx/>
              <a:buNone/>
            </a:pPr>
            <a:r>
              <a:rPr lang="en-US" altLang="zh-TW" sz="2000">
                <a:latin typeface="Times New Roman" panose="02020603050405020304" pitchFamily="18" charset="0"/>
                <a:ea typeface="新細明體" panose="02020500000000000000" pitchFamily="18" charset="-120"/>
              </a:rPr>
              <a:t>(e.g. LLVM bc, GCC GENERIC/GIMPLE)</a:t>
            </a:r>
          </a:p>
        </p:txBody>
      </p:sp>
      <p:sp>
        <p:nvSpPr>
          <p:cNvPr id="51210" name="Rectangle 8"/>
          <p:cNvSpPr>
            <a:spLocks noChangeArrowheads="1"/>
          </p:cNvSpPr>
          <p:nvPr/>
        </p:nvSpPr>
        <p:spPr bwMode="auto">
          <a:xfrm>
            <a:off x="2438400" y="4191000"/>
            <a:ext cx="45720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Optimizer</a:t>
            </a:r>
          </a:p>
        </p:txBody>
      </p:sp>
      <p:sp>
        <p:nvSpPr>
          <p:cNvPr id="51211" name="Rectangle 9"/>
          <p:cNvSpPr>
            <a:spLocks noChangeArrowheads="1"/>
          </p:cNvSpPr>
          <p:nvPr/>
        </p:nvSpPr>
        <p:spPr bwMode="auto">
          <a:xfrm>
            <a:off x="2438400" y="5257800"/>
            <a:ext cx="45720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Target Machine Code Gen</a:t>
            </a:r>
          </a:p>
        </p:txBody>
      </p:sp>
      <p:sp>
        <p:nvSpPr>
          <p:cNvPr id="51212" name="Line 10"/>
          <p:cNvSpPr>
            <a:spLocks noChangeShapeType="1"/>
          </p:cNvSpPr>
          <p:nvPr/>
        </p:nvSpPr>
        <p:spPr bwMode="auto">
          <a:xfrm>
            <a:off x="1447800" y="2590800"/>
            <a:ext cx="3048000" cy="381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51213" name="Line 11"/>
          <p:cNvSpPr>
            <a:spLocks noChangeShapeType="1"/>
          </p:cNvSpPr>
          <p:nvPr/>
        </p:nvSpPr>
        <p:spPr bwMode="auto">
          <a:xfrm>
            <a:off x="3657600" y="2590800"/>
            <a:ext cx="838200" cy="381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51214" name="Line 12"/>
          <p:cNvSpPr>
            <a:spLocks noChangeShapeType="1"/>
          </p:cNvSpPr>
          <p:nvPr/>
        </p:nvSpPr>
        <p:spPr bwMode="auto">
          <a:xfrm flipH="1">
            <a:off x="4572000" y="2590800"/>
            <a:ext cx="1219200" cy="381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51215" name="Line 13"/>
          <p:cNvSpPr>
            <a:spLocks noChangeShapeType="1"/>
          </p:cNvSpPr>
          <p:nvPr/>
        </p:nvSpPr>
        <p:spPr bwMode="auto">
          <a:xfrm flipH="1">
            <a:off x="4724400" y="2590800"/>
            <a:ext cx="3124200" cy="381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51216" name="Line 14"/>
          <p:cNvSpPr>
            <a:spLocks noChangeShapeType="1"/>
          </p:cNvSpPr>
          <p:nvPr/>
        </p:nvSpPr>
        <p:spPr bwMode="auto">
          <a:xfrm>
            <a:off x="4800600" y="5029200"/>
            <a:ext cx="0" cy="2286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51217" name="Line 15"/>
          <p:cNvSpPr>
            <a:spLocks noChangeShapeType="1"/>
          </p:cNvSpPr>
          <p:nvPr/>
        </p:nvSpPr>
        <p:spPr bwMode="auto">
          <a:xfrm>
            <a:off x="4800600" y="3962400"/>
            <a:ext cx="0" cy="3048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4"/>
          <p:cNvSpPr>
            <a:spLocks noGrp="1"/>
          </p:cNvSpPr>
          <p:nvPr>
            <p:ph type="ftr" sz="quarter" idx="10"/>
          </p:nvPr>
        </p:nvSpPr>
        <p:spPr/>
        <p:txBody>
          <a:bodyPr/>
          <a:lstStyle/>
          <a:p>
            <a:pPr>
              <a:defRPr/>
            </a:pPr>
            <a:r>
              <a:rPr lang="en-US" altLang="zh-TW"/>
              <a:t>Department of Electrical Engineering</a:t>
            </a:r>
          </a:p>
        </p:txBody>
      </p:sp>
      <p:sp>
        <p:nvSpPr>
          <p:cNvPr id="18"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D2FB0E5A-0DE0-450B-ACAA-9DC61089E058}" type="slidenum">
              <a:rPr lang="zh-TW" altLang="en-US" sz="1200" smtClean="0"/>
              <a:pPr>
                <a:spcBef>
                  <a:spcPct val="0"/>
                </a:spcBef>
                <a:buClrTx/>
                <a:buSzTx/>
                <a:buFontTx/>
                <a:buNone/>
                <a:defRPr/>
              </a:pPr>
              <a:t>28</a:t>
            </a:fld>
            <a:endParaRPr lang="en-US" altLang="zh-TW" sz="1200"/>
          </a:p>
        </p:txBody>
      </p:sp>
      <p:sp>
        <p:nvSpPr>
          <p:cNvPr id="206850" name="Rectangle 2"/>
          <p:cNvSpPr>
            <a:spLocks noGrp="1" noChangeArrowheads="1"/>
          </p:cNvSpPr>
          <p:nvPr>
            <p:ph type="title"/>
          </p:nvPr>
        </p:nvSpPr>
        <p:spPr>
          <a:xfrm>
            <a:off x="457200" y="277813"/>
            <a:ext cx="8229600" cy="838200"/>
          </a:xfrm>
        </p:spPr>
        <p:txBody>
          <a:bodyPr/>
          <a:lstStyle/>
          <a:p>
            <a:pPr eaLnBrk="1" hangingPunct="1">
              <a:defRPr/>
            </a:pPr>
            <a:r>
              <a:rPr lang="en-US" altLang="zh-TW" sz="4000">
                <a:ea typeface="新細明體" pitchFamily="18" charset="-120"/>
              </a:rPr>
              <a:t>Retargetable Compiler</a:t>
            </a:r>
          </a:p>
        </p:txBody>
      </p:sp>
      <p:sp>
        <p:nvSpPr>
          <p:cNvPr id="52229" name="Rectangle 3"/>
          <p:cNvSpPr>
            <a:spLocks noChangeArrowheads="1"/>
          </p:cNvSpPr>
          <p:nvPr/>
        </p:nvSpPr>
        <p:spPr bwMode="auto">
          <a:xfrm>
            <a:off x="2209800" y="1295400"/>
            <a:ext cx="44958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C compiler Front-End</a:t>
            </a:r>
          </a:p>
        </p:txBody>
      </p:sp>
      <p:sp>
        <p:nvSpPr>
          <p:cNvPr id="52230" name="Rectangle 4"/>
          <p:cNvSpPr>
            <a:spLocks noChangeArrowheads="1"/>
          </p:cNvSpPr>
          <p:nvPr/>
        </p:nvSpPr>
        <p:spPr bwMode="auto">
          <a:xfrm>
            <a:off x="2209800" y="2438400"/>
            <a:ext cx="44958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IR Code Generation</a:t>
            </a:r>
          </a:p>
        </p:txBody>
      </p:sp>
      <p:sp>
        <p:nvSpPr>
          <p:cNvPr id="52231" name="Rectangle 5"/>
          <p:cNvSpPr>
            <a:spLocks noChangeArrowheads="1"/>
          </p:cNvSpPr>
          <p:nvPr/>
        </p:nvSpPr>
        <p:spPr bwMode="auto">
          <a:xfrm>
            <a:off x="2209800" y="3505200"/>
            <a:ext cx="44958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Machine Independent Optimization</a:t>
            </a:r>
          </a:p>
        </p:txBody>
      </p:sp>
      <p:sp>
        <p:nvSpPr>
          <p:cNvPr id="52232" name="Line 6"/>
          <p:cNvSpPr>
            <a:spLocks noChangeShapeType="1"/>
          </p:cNvSpPr>
          <p:nvPr/>
        </p:nvSpPr>
        <p:spPr bwMode="auto">
          <a:xfrm>
            <a:off x="4495800" y="3276600"/>
            <a:ext cx="0" cy="2286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52233" name="Line 7"/>
          <p:cNvSpPr>
            <a:spLocks noChangeShapeType="1"/>
          </p:cNvSpPr>
          <p:nvPr/>
        </p:nvSpPr>
        <p:spPr bwMode="auto">
          <a:xfrm>
            <a:off x="4495800" y="2209800"/>
            <a:ext cx="0" cy="3048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52234" name="Rectangle 8"/>
          <p:cNvSpPr>
            <a:spLocks noChangeArrowheads="1"/>
          </p:cNvSpPr>
          <p:nvPr/>
        </p:nvSpPr>
        <p:spPr bwMode="auto">
          <a:xfrm>
            <a:off x="152400" y="5181600"/>
            <a:ext cx="1981200" cy="914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Code gen for </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MIPS</a:t>
            </a:r>
          </a:p>
        </p:txBody>
      </p:sp>
      <p:sp>
        <p:nvSpPr>
          <p:cNvPr id="52235" name="Rectangle 9"/>
          <p:cNvSpPr>
            <a:spLocks noChangeArrowheads="1"/>
          </p:cNvSpPr>
          <p:nvPr/>
        </p:nvSpPr>
        <p:spPr bwMode="auto">
          <a:xfrm>
            <a:off x="2438400" y="5181600"/>
            <a:ext cx="1981200" cy="914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Code gen for </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IA32</a:t>
            </a:r>
          </a:p>
        </p:txBody>
      </p:sp>
      <p:sp>
        <p:nvSpPr>
          <p:cNvPr id="52236" name="Rectangle 10"/>
          <p:cNvSpPr>
            <a:spLocks noChangeArrowheads="1"/>
          </p:cNvSpPr>
          <p:nvPr/>
        </p:nvSpPr>
        <p:spPr bwMode="auto">
          <a:xfrm>
            <a:off x="4724400" y="5181600"/>
            <a:ext cx="1981200" cy="914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Code gen for </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SPARC</a:t>
            </a:r>
          </a:p>
        </p:txBody>
      </p:sp>
      <p:sp>
        <p:nvSpPr>
          <p:cNvPr id="52237" name="Rectangle 11"/>
          <p:cNvSpPr>
            <a:spLocks noChangeArrowheads="1"/>
          </p:cNvSpPr>
          <p:nvPr/>
        </p:nvSpPr>
        <p:spPr bwMode="auto">
          <a:xfrm>
            <a:off x="6858000" y="5181600"/>
            <a:ext cx="1981200" cy="914400"/>
          </a:xfrm>
          <a:prstGeom prst="rect">
            <a:avLst/>
          </a:prstGeom>
          <a:solidFill>
            <a:srgbClr val="0066FF"/>
          </a:solidFill>
          <a:ln w="12700">
            <a:solidFill>
              <a:schemeClr val="tx1"/>
            </a:solidFill>
            <a:miter lim="800000"/>
            <a:headEnd type="none" w="sm" len="sm"/>
            <a:tailEnd type="none" w="sm" len="sm"/>
          </a:ln>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Code gen for </a:t>
            </a:r>
          </a:p>
          <a:p>
            <a:pPr algn="ctr" eaLnBrk="1" hangingPunct="1">
              <a:spcBef>
                <a:spcPct val="0"/>
              </a:spcBef>
              <a:buClrTx/>
              <a:buSzTx/>
              <a:buFontTx/>
              <a:buNone/>
            </a:pPr>
            <a:r>
              <a:rPr lang="en-US" altLang="zh-TW" sz="2400">
                <a:latin typeface="Times New Roman" panose="02020603050405020304" pitchFamily="18" charset="0"/>
                <a:ea typeface="新細明體" panose="02020500000000000000" pitchFamily="18" charset="-120"/>
              </a:rPr>
              <a:t>PowerPC</a:t>
            </a:r>
          </a:p>
        </p:txBody>
      </p:sp>
      <p:sp>
        <p:nvSpPr>
          <p:cNvPr id="52238" name="Line 12"/>
          <p:cNvSpPr>
            <a:spLocks noChangeShapeType="1"/>
          </p:cNvSpPr>
          <p:nvPr/>
        </p:nvSpPr>
        <p:spPr bwMode="auto">
          <a:xfrm flipH="1">
            <a:off x="1143000" y="4419600"/>
            <a:ext cx="3352800" cy="762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52239" name="Line 13"/>
          <p:cNvSpPr>
            <a:spLocks noChangeShapeType="1"/>
          </p:cNvSpPr>
          <p:nvPr/>
        </p:nvSpPr>
        <p:spPr bwMode="auto">
          <a:xfrm flipH="1">
            <a:off x="3505200" y="4419600"/>
            <a:ext cx="990600" cy="762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52240" name="Line 14"/>
          <p:cNvSpPr>
            <a:spLocks noChangeShapeType="1"/>
          </p:cNvSpPr>
          <p:nvPr/>
        </p:nvSpPr>
        <p:spPr bwMode="auto">
          <a:xfrm>
            <a:off x="4495800" y="4419600"/>
            <a:ext cx="1295400" cy="762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TW" altLang="en-US"/>
          </a:p>
        </p:txBody>
      </p:sp>
      <p:sp>
        <p:nvSpPr>
          <p:cNvPr id="52241" name="Line 15"/>
          <p:cNvSpPr>
            <a:spLocks noChangeShapeType="1"/>
          </p:cNvSpPr>
          <p:nvPr/>
        </p:nvSpPr>
        <p:spPr bwMode="auto">
          <a:xfrm>
            <a:off x="4495800" y="4419600"/>
            <a:ext cx="3429000" cy="762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788987"/>
          </a:xfrm>
        </p:spPr>
        <p:txBody>
          <a:bodyPr/>
          <a:lstStyle/>
          <a:p>
            <a:pPr>
              <a:defRPr/>
            </a:pPr>
            <a:r>
              <a:rPr lang="en-US" altLang="zh-TW">
                <a:ea typeface="新細明體" panose="02020500000000000000" pitchFamily="18" charset="-120"/>
              </a:rPr>
              <a:t>Pop quiz</a:t>
            </a:r>
            <a:endParaRPr lang="zh-TW" altLang="en-US">
              <a:ea typeface="新細明體" panose="02020500000000000000" pitchFamily="18" charset="-120"/>
            </a:endParaRPr>
          </a:p>
        </p:txBody>
      </p:sp>
      <p:sp>
        <p:nvSpPr>
          <p:cNvPr id="3" name="Content Placeholder 2"/>
          <p:cNvSpPr>
            <a:spLocks noGrp="1"/>
          </p:cNvSpPr>
          <p:nvPr>
            <p:ph idx="1"/>
          </p:nvPr>
        </p:nvSpPr>
        <p:spPr>
          <a:xfrm>
            <a:off x="457200" y="914400"/>
            <a:ext cx="8229600" cy="5140325"/>
          </a:xfrm>
        </p:spPr>
        <p:txBody>
          <a:bodyPr/>
          <a:lstStyle/>
          <a:p>
            <a:pPr marL="0" indent="0">
              <a:buFont typeface="Wingdings" panose="05000000000000000000" pitchFamily="2" charset="2"/>
              <a:buNone/>
              <a:defRPr/>
            </a:pPr>
            <a:r>
              <a:rPr lang="en-US" altLang="zh-TW" sz="2400" dirty="0">
                <a:ea typeface="新細明體" panose="02020500000000000000" pitchFamily="18" charset="-120"/>
              </a:rPr>
              <a:t>The HP PA-RISC compiler/optimizer is </a:t>
            </a:r>
          </a:p>
          <a:p>
            <a:pPr marL="0" indent="0">
              <a:buClr>
                <a:srgbClr val="86D1EC"/>
              </a:buClr>
              <a:buFont typeface="Wingdings" panose="05000000000000000000" pitchFamily="2" charset="2"/>
              <a:buNone/>
              <a:defRPr/>
            </a:pPr>
            <a:r>
              <a:rPr lang="en-US" altLang="zh-TW" sz="2400" dirty="0">
                <a:solidFill>
                  <a:srgbClr val="FFFFFF"/>
                </a:solidFill>
                <a:ea typeface="新細明體" panose="02020500000000000000" pitchFamily="18" charset="-120"/>
              </a:rPr>
              <a:t>	a) a common back-end compiling system</a:t>
            </a:r>
          </a:p>
          <a:p>
            <a:pPr marL="0" indent="0">
              <a:buClr>
                <a:srgbClr val="86D1EC"/>
              </a:buClr>
              <a:buFont typeface="Wingdings" panose="05000000000000000000" pitchFamily="2" charset="2"/>
              <a:buNone/>
              <a:defRPr/>
            </a:pPr>
            <a:r>
              <a:rPr lang="en-US" altLang="zh-TW" sz="2400" dirty="0">
                <a:solidFill>
                  <a:srgbClr val="FFFFFF"/>
                </a:solidFill>
                <a:ea typeface="新細明體" panose="02020500000000000000" pitchFamily="18" charset="-120"/>
              </a:rPr>
              <a:t>	b) a </a:t>
            </a:r>
            <a:r>
              <a:rPr lang="en-US" altLang="zh-TW" sz="2400" dirty="0" err="1">
                <a:solidFill>
                  <a:srgbClr val="FFFFFF"/>
                </a:solidFill>
                <a:ea typeface="新細明體" panose="02020500000000000000" pitchFamily="18" charset="-120"/>
              </a:rPr>
              <a:t>retargetable</a:t>
            </a:r>
            <a:r>
              <a:rPr lang="en-US" altLang="zh-TW" sz="2400" dirty="0">
                <a:solidFill>
                  <a:srgbClr val="FFFFFF"/>
                </a:solidFill>
                <a:ea typeface="新細明體" panose="02020500000000000000" pitchFamily="18" charset="-120"/>
              </a:rPr>
              <a:t> compiler</a:t>
            </a:r>
          </a:p>
          <a:p>
            <a:pPr marL="0" indent="0">
              <a:buFont typeface="Wingdings" panose="05000000000000000000" pitchFamily="2" charset="2"/>
              <a:buNone/>
              <a:defRPr/>
            </a:pPr>
            <a:endParaRPr lang="en-US" altLang="zh-TW" dirty="0">
              <a:ea typeface="新細明體" panose="02020500000000000000" pitchFamily="18" charset="-120"/>
            </a:endParaRPr>
          </a:p>
          <a:p>
            <a:pPr marL="0" indent="0">
              <a:buFont typeface="Wingdings" panose="05000000000000000000" pitchFamily="2" charset="2"/>
              <a:buNone/>
              <a:defRPr/>
            </a:pPr>
            <a:r>
              <a:rPr lang="en-US" altLang="zh-TW" sz="2400" dirty="0">
                <a:ea typeface="新細明體" panose="02020500000000000000" pitchFamily="18" charset="-120"/>
              </a:rPr>
              <a:t>The ICC compiler (Intel’s C Compiler) is</a:t>
            </a:r>
          </a:p>
          <a:p>
            <a:pPr marL="0" indent="0">
              <a:buFont typeface="Wingdings" panose="05000000000000000000" pitchFamily="2" charset="2"/>
              <a:buNone/>
              <a:defRPr/>
            </a:pPr>
            <a:r>
              <a:rPr lang="en-US" altLang="zh-TW" sz="2400" dirty="0">
                <a:ea typeface="新細明體" panose="02020500000000000000" pitchFamily="18" charset="-120"/>
              </a:rPr>
              <a:t>    	a) a common back-end compiling system</a:t>
            </a:r>
          </a:p>
          <a:p>
            <a:pPr marL="0" indent="0">
              <a:buFont typeface="Wingdings" panose="05000000000000000000" pitchFamily="2" charset="2"/>
              <a:buNone/>
              <a:defRPr/>
            </a:pPr>
            <a:r>
              <a:rPr lang="en-US" altLang="zh-TW" sz="2400" dirty="0">
                <a:ea typeface="新細明體" panose="02020500000000000000" pitchFamily="18" charset="-120"/>
              </a:rPr>
              <a:t>	b) a </a:t>
            </a:r>
            <a:r>
              <a:rPr lang="en-US" altLang="zh-TW" sz="2400" dirty="0" err="1">
                <a:ea typeface="新細明體" panose="02020500000000000000" pitchFamily="18" charset="-120"/>
              </a:rPr>
              <a:t>retargetable</a:t>
            </a:r>
            <a:r>
              <a:rPr lang="en-US" altLang="zh-TW" sz="2400" dirty="0">
                <a:ea typeface="新細明體" panose="02020500000000000000" pitchFamily="18" charset="-120"/>
              </a:rPr>
              <a:t> compiler</a:t>
            </a:r>
          </a:p>
          <a:p>
            <a:pPr marL="0" indent="0">
              <a:buFont typeface="Wingdings" panose="05000000000000000000" pitchFamily="2" charset="2"/>
              <a:buNone/>
              <a:defRPr/>
            </a:pPr>
            <a:endParaRPr lang="en-US" altLang="zh-TW" sz="2800" dirty="0">
              <a:ea typeface="新細明體" panose="02020500000000000000" pitchFamily="18" charset="-120"/>
            </a:endParaRPr>
          </a:p>
          <a:p>
            <a:pPr marL="0" indent="0">
              <a:buFont typeface="Wingdings" panose="05000000000000000000" pitchFamily="2" charset="2"/>
              <a:buNone/>
              <a:defRPr/>
            </a:pPr>
            <a:r>
              <a:rPr lang="en-US" altLang="zh-TW" sz="2400" dirty="0">
                <a:ea typeface="新細明體" panose="02020500000000000000" pitchFamily="18" charset="-120"/>
              </a:rPr>
              <a:t>The GCC (GNU C Compiler) is </a:t>
            </a:r>
          </a:p>
          <a:p>
            <a:pPr marL="0" indent="0">
              <a:buFont typeface="Wingdings" panose="05000000000000000000" pitchFamily="2" charset="2"/>
              <a:buNone/>
              <a:defRPr/>
            </a:pPr>
            <a:r>
              <a:rPr lang="en-US" altLang="zh-TW" sz="2400" dirty="0">
                <a:ea typeface="新細明體" panose="02020500000000000000" pitchFamily="18" charset="-120"/>
              </a:rPr>
              <a:t>	a) a common back-end compiling system</a:t>
            </a:r>
          </a:p>
          <a:p>
            <a:pPr marL="0" indent="0">
              <a:buFont typeface="Wingdings" panose="05000000000000000000" pitchFamily="2" charset="2"/>
              <a:buNone/>
              <a:defRPr/>
            </a:pPr>
            <a:r>
              <a:rPr lang="en-US" altLang="zh-TW" sz="2400" dirty="0">
                <a:ea typeface="新細明體" panose="02020500000000000000" pitchFamily="18" charset="-120"/>
              </a:rPr>
              <a:t>	b) a </a:t>
            </a:r>
            <a:r>
              <a:rPr lang="en-US" altLang="zh-TW" sz="2400" dirty="0" err="1">
                <a:ea typeface="新細明體" panose="02020500000000000000" pitchFamily="18" charset="-120"/>
              </a:rPr>
              <a:t>retargetable</a:t>
            </a:r>
            <a:r>
              <a:rPr lang="en-US" altLang="zh-TW" sz="2400" dirty="0">
                <a:ea typeface="新細明體" panose="02020500000000000000" pitchFamily="18" charset="-120"/>
              </a:rPr>
              <a:t> compiler</a:t>
            </a:r>
          </a:p>
          <a:p>
            <a:pPr marL="0" indent="0">
              <a:buFont typeface="Wingdings" panose="05000000000000000000" pitchFamily="2" charset="2"/>
              <a:buNone/>
              <a:defRPr/>
            </a:pPr>
            <a:endParaRPr lang="en-US" altLang="zh-TW" sz="2800" dirty="0">
              <a:ea typeface="新細明體" panose="02020500000000000000" pitchFamily="18" charset="-120"/>
            </a:endParaRPr>
          </a:p>
        </p:txBody>
      </p:sp>
      <p:sp>
        <p:nvSpPr>
          <p:cNvPr id="9" name="Rectangle 8"/>
          <p:cNvSpPr>
            <a:spLocks noChangeArrowheads="1"/>
          </p:cNvSpPr>
          <p:nvPr/>
        </p:nvSpPr>
        <p:spPr bwMode="auto">
          <a:xfrm>
            <a:off x="5181600" y="3848100"/>
            <a:ext cx="2514600" cy="457200"/>
          </a:xfrm>
          <a:prstGeom prst="rect">
            <a:avLst/>
          </a:prstGeom>
          <a:solidFill>
            <a:srgbClr val="FFFB3B"/>
          </a:solidFill>
          <a:ln w="9525"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pPr>
            <a:r>
              <a:rPr lang="en-US" altLang="zh-TW" sz="2400" b="1">
                <a:solidFill>
                  <a:srgbClr val="00004D"/>
                </a:solidFill>
                <a:ea typeface="新細明體" panose="02020500000000000000" pitchFamily="18" charset="-120"/>
              </a:rPr>
              <a:t>a (C and C++)</a:t>
            </a:r>
            <a:endParaRPr lang="zh-TW" altLang="en-US" sz="2400" b="1">
              <a:solidFill>
                <a:srgbClr val="00004D"/>
              </a:solidFill>
              <a:ea typeface="新細明體" panose="02020500000000000000" pitchFamily="18" charset="-120"/>
            </a:endParaRPr>
          </a:p>
        </p:txBody>
      </p:sp>
      <p:sp>
        <p:nvSpPr>
          <p:cNvPr id="10" name="Rectangle 9"/>
          <p:cNvSpPr>
            <a:spLocks noChangeArrowheads="1"/>
          </p:cNvSpPr>
          <p:nvPr/>
        </p:nvSpPr>
        <p:spPr bwMode="auto">
          <a:xfrm>
            <a:off x="5181600" y="5738813"/>
            <a:ext cx="1295400" cy="457200"/>
          </a:xfrm>
          <a:prstGeom prst="rect">
            <a:avLst/>
          </a:prstGeom>
          <a:solidFill>
            <a:srgbClr val="FFFB3B"/>
          </a:solidFill>
          <a:ln w="9525"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pPr>
            <a:r>
              <a:rPr lang="en-US" altLang="zh-TW" sz="2400" b="1">
                <a:solidFill>
                  <a:srgbClr val="00004D"/>
                </a:solidFill>
                <a:ea typeface="新細明體" panose="02020500000000000000" pitchFamily="18" charset="-120"/>
              </a:rPr>
              <a:t>b</a:t>
            </a:r>
            <a:endParaRPr lang="zh-TW" altLang="en-US" sz="2400" b="1">
              <a:solidFill>
                <a:srgbClr val="00004D"/>
              </a:solidFill>
              <a:ea typeface="新細明體" panose="02020500000000000000" pitchFamily="18" charset="-120"/>
            </a:endParaRPr>
          </a:p>
        </p:txBody>
      </p:sp>
      <p:sp>
        <p:nvSpPr>
          <p:cNvPr id="6" name="Rectangle 5"/>
          <p:cNvSpPr>
            <a:spLocks noChangeArrowheads="1"/>
          </p:cNvSpPr>
          <p:nvPr/>
        </p:nvSpPr>
        <p:spPr bwMode="auto">
          <a:xfrm>
            <a:off x="5181600" y="1957388"/>
            <a:ext cx="2133600" cy="457200"/>
          </a:xfrm>
          <a:prstGeom prst="rect">
            <a:avLst/>
          </a:prstGeom>
          <a:solidFill>
            <a:srgbClr val="FFFB3B"/>
          </a:solidFill>
          <a:ln w="9525"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pPr>
            <a:r>
              <a:rPr lang="en-US" altLang="zh-TW" sz="2400" b="1">
                <a:solidFill>
                  <a:srgbClr val="00004D"/>
                </a:solidFill>
                <a:ea typeface="新細明體" panose="02020500000000000000" pitchFamily="18" charset="-120"/>
              </a:rPr>
              <a:t>a</a:t>
            </a:r>
            <a:endParaRPr lang="zh-TW" altLang="en-US" sz="2400" b="1">
              <a:solidFill>
                <a:srgbClr val="00004D"/>
              </a:solidFill>
              <a:ea typeface="新細明體" panose="02020500000000000000" pitchFamily="18" charset="-120"/>
            </a:endParaRPr>
          </a:p>
        </p:txBody>
      </p:sp>
      <p:sp>
        <p:nvSpPr>
          <p:cNvPr id="7" name="Rectangle 6"/>
          <p:cNvSpPr>
            <a:spLocks noChangeArrowheads="1"/>
          </p:cNvSpPr>
          <p:nvPr/>
        </p:nvSpPr>
        <p:spPr bwMode="auto">
          <a:xfrm>
            <a:off x="5181600" y="4370388"/>
            <a:ext cx="2743200" cy="457200"/>
          </a:xfrm>
          <a:prstGeom prst="rect">
            <a:avLst/>
          </a:prstGeom>
          <a:solidFill>
            <a:srgbClr val="FFFB3B"/>
          </a:solidFill>
          <a:ln w="9525"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pPr>
            <a:r>
              <a:rPr lang="en-US" altLang="zh-TW" sz="2400" b="1">
                <a:solidFill>
                  <a:srgbClr val="00004D"/>
                </a:solidFill>
                <a:ea typeface="新細明體" panose="02020500000000000000" pitchFamily="18" charset="-120"/>
              </a:rPr>
              <a:t>b (x86 and IA64)</a:t>
            </a:r>
            <a:endParaRPr lang="zh-TW" altLang="en-US" sz="2400" b="1">
              <a:solidFill>
                <a:srgbClr val="00004D"/>
              </a:solidFill>
              <a:ea typeface="新細明體" panose="02020500000000000000" pitchFamily="18" charset="-120"/>
            </a:endParaRPr>
          </a:p>
        </p:txBody>
      </p:sp>
      <p:sp>
        <p:nvSpPr>
          <p:cNvPr id="4" name="頁尾版面配置區 3"/>
          <p:cNvSpPr>
            <a:spLocks noGrp="1"/>
          </p:cNvSpPr>
          <p:nvPr>
            <p:ph type="ftr" sz="quarter" idx="10"/>
          </p:nvPr>
        </p:nvSpPr>
        <p:spPr/>
        <p:txBody>
          <a:bodyPr/>
          <a:lstStyle/>
          <a:p>
            <a:pPr>
              <a:defRPr/>
            </a:pPr>
            <a:r>
              <a:rPr lang="en-US" altLang="zh-TW"/>
              <a:t>Department of Electrical Engineering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6"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712787"/>
          </a:xfrm>
        </p:spPr>
        <p:txBody>
          <a:bodyPr/>
          <a:lstStyle/>
          <a:p>
            <a:pPr>
              <a:defRPr/>
            </a:pPr>
            <a:r>
              <a:rPr lang="en-US" sz="4000" dirty="0"/>
              <a:t>Quick Overview</a:t>
            </a:r>
          </a:p>
        </p:txBody>
      </p:sp>
      <p:sp>
        <p:nvSpPr>
          <p:cNvPr id="3" name="Content Placeholder 2"/>
          <p:cNvSpPr>
            <a:spLocks noGrp="1"/>
          </p:cNvSpPr>
          <p:nvPr>
            <p:ph idx="1"/>
          </p:nvPr>
        </p:nvSpPr>
        <p:spPr>
          <a:xfrm>
            <a:off x="457200" y="1066800"/>
            <a:ext cx="8229600" cy="5064125"/>
          </a:xfrm>
        </p:spPr>
        <p:txBody>
          <a:bodyPr/>
          <a:lstStyle/>
          <a:p>
            <a:pPr>
              <a:defRPr/>
            </a:pPr>
            <a:r>
              <a:rPr lang="en-US" altLang="en-US" sz="2800" dirty="0"/>
              <a:t>What are the two main functions of translation?</a:t>
            </a:r>
          </a:p>
          <a:p>
            <a:pPr lvl="1">
              <a:defRPr/>
            </a:pPr>
            <a:r>
              <a:rPr lang="en-US" altLang="en-US" sz="2400" dirty="0"/>
              <a:t>Analysis and Synthesis</a:t>
            </a:r>
          </a:p>
          <a:p>
            <a:pPr>
              <a:defRPr/>
            </a:pPr>
            <a:r>
              <a:rPr lang="en-US" altLang="en-US" sz="2800" dirty="0"/>
              <a:t>What are major work involved in analysis?</a:t>
            </a:r>
          </a:p>
          <a:p>
            <a:pPr lvl="1">
              <a:defRPr/>
            </a:pPr>
            <a:r>
              <a:rPr lang="en-US" altLang="en-US" sz="2400" dirty="0"/>
              <a:t>Lexical, Syntax and Semantics analysis</a:t>
            </a:r>
          </a:p>
          <a:p>
            <a:pPr>
              <a:defRPr/>
            </a:pPr>
            <a:r>
              <a:rPr lang="en-US" altLang="en-US" sz="2800" dirty="0"/>
              <a:t>What are the typical phases in a compilation?</a:t>
            </a:r>
          </a:p>
          <a:p>
            <a:pPr lvl="1">
              <a:defRPr/>
            </a:pPr>
            <a:r>
              <a:rPr lang="en-US" altLang="en-US" sz="2000" dirty="0" err="1"/>
              <a:t>lexical,syntax,semantics,IR-CG,optimization,TargetCG</a:t>
            </a:r>
            <a:endParaRPr lang="en-US" altLang="en-US" sz="2000" dirty="0"/>
          </a:p>
          <a:p>
            <a:pPr>
              <a:defRPr/>
            </a:pPr>
            <a:r>
              <a:rPr lang="en-US" altLang="en-US" sz="2400" dirty="0"/>
              <a:t>What phases belong to FE (Front-End)</a:t>
            </a:r>
          </a:p>
          <a:p>
            <a:pPr lvl="1">
              <a:defRPr/>
            </a:pPr>
            <a:r>
              <a:rPr lang="en-US" altLang="en-US" sz="2000" dirty="0"/>
              <a:t>Analysis + IR  </a:t>
            </a:r>
          </a:p>
          <a:p>
            <a:pPr>
              <a:defRPr/>
            </a:pPr>
            <a:r>
              <a:rPr lang="en-US" altLang="en-US" sz="2400" dirty="0"/>
              <a:t>What phases belong to BE (Back-End)</a:t>
            </a:r>
          </a:p>
          <a:p>
            <a:pPr lvl="1">
              <a:defRPr/>
            </a:pPr>
            <a:r>
              <a:rPr lang="en-US" altLang="en-US" sz="2000" dirty="0"/>
              <a:t>Target Code Gen + Machine dependent optimization</a:t>
            </a:r>
          </a:p>
          <a:p>
            <a:pPr>
              <a:defRPr/>
            </a:pPr>
            <a:r>
              <a:rPr lang="en-US" altLang="en-US" sz="2400" dirty="0"/>
              <a:t>How is a JVM/JIT different from an ordinary compiler</a:t>
            </a:r>
          </a:p>
          <a:p>
            <a:pPr lvl="1">
              <a:defRPr/>
            </a:pPr>
            <a:r>
              <a:rPr lang="en-US" altLang="en-US" sz="2000" dirty="0"/>
              <a:t>JIT compiles </a:t>
            </a:r>
            <a:r>
              <a:rPr lang="en-US" altLang="en-US" sz="2000" dirty="0" err="1">
                <a:solidFill>
                  <a:srgbClr val="FFFF00"/>
                </a:solidFill>
              </a:rPr>
              <a:t>ByteCode</a:t>
            </a:r>
            <a:r>
              <a:rPr lang="en-US" altLang="en-US" sz="2000" dirty="0">
                <a:solidFill>
                  <a:srgbClr val="FFFF00"/>
                </a:solidFill>
              </a:rPr>
              <a:t> (VISA)</a:t>
            </a:r>
            <a:r>
              <a:rPr lang="en-US" altLang="en-US" sz="2000" dirty="0"/>
              <a:t> into native code at </a:t>
            </a:r>
            <a:r>
              <a:rPr lang="en-US" altLang="en-US" sz="2000" dirty="0">
                <a:solidFill>
                  <a:srgbClr val="FFFF00"/>
                </a:solidFill>
              </a:rPr>
              <a:t>runtime</a:t>
            </a:r>
          </a:p>
          <a:p>
            <a:pPr lvl="1">
              <a:buFontTx/>
              <a:buNone/>
              <a:defRPr/>
            </a:pPr>
            <a:endParaRPr lang="en-US" altLang="en-US" sz="2000" dirty="0"/>
          </a:p>
          <a:p>
            <a:pPr>
              <a:defRPr/>
            </a:pPr>
            <a:endParaRPr lang="en-US" altLang="en-US" sz="2400" dirty="0"/>
          </a:p>
        </p:txBody>
      </p:sp>
      <p:sp>
        <p:nvSpPr>
          <p:cNvPr id="4" name="Footer Placeholder 3"/>
          <p:cNvSpPr>
            <a:spLocks noGrp="1"/>
          </p:cNvSpPr>
          <p:nvPr>
            <p:ph type="ftr" sz="quarter" idx="10"/>
          </p:nvPr>
        </p:nvSpPr>
        <p:spPr/>
        <p:txBody>
          <a:bodyPr/>
          <a:lstStyle/>
          <a:p>
            <a:pPr>
              <a:defRPr/>
            </a:pPr>
            <a:r>
              <a:rPr lang="en-US" altLang="zh-TW"/>
              <a:t>Department of Electrical Engineering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p:cNvSpPr>
            <a:spLocks noChangeArrowheads="1"/>
          </p:cNvSpPr>
          <p:nvPr/>
        </p:nvSpPr>
        <p:spPr bwMode="auto">
          <a:xfrm>
            <a:off x="990600" y="1409700"/>
            <a:ext cx="2133600" cy="9144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C</a:t>
            </a:r>
            <a:r>
              <a:rPr lang="en-US" altLang="zh-TW" sz="2400">
                <a:solidFill>
                  <a:srgbClr val="FF0000"/>
                </a:solidFill>
                <a:ea typeface="新細明體" panose="02020500000000000000" pitchFamily="18" charset="-120"/>
              </a:rPr>
              <a:t> front-end</a:t>
            </a:r>
            <a:endParaRPr lang="zh-TW" altLang="en-US" sz="2400">
              <a:solidFill>
                <a:srgbClr val="FF0000"/>
              </a:solidFill>
              <a:ea typeface="新細明體" panose="02020500000000000000" pitchFamily="18" charset="-120"/>
            </a:endParaRPr>
          </a:p>
        </p:txBody>
      </p:sp>
      <p:sp>
        <p:nvSpPr>
          <p:cNvPr id="56323" name="Rectangle 6"/>
          <p:cNvSpPr>
            <a:spLocks noChangeArrowheads="1"/>
          </p:cNvSpPr>
          <p:nvPr/>
        </p:nvSpPr>
        <p:spPr bwMode="auto">
          <a:xfrm>
            <a:off x="5638800" y="1414463"/>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X86</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56324" name="Rectangle 7"/>
          <p:cNvSpPr>
            <a:spLocks noChangeArrowheads="1"/>
          </p:cNvSpPr>
          <p:nvPr/>
        </p:nvSpPr>
        <p:spPr bwMode="auto">
          <a:xfrm>
            <a:off x="990600" y="2749550"/>
            <a:ext cx="2133600" cy="9144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Fortran</a:t>
            </a:r>
            <a:r>
              <a:rPr lang="en-US" altLang="zh-TW" sz="2400">
                <a:solidFill>
                  <a:srgbClr val="FF0000"/>
                </a:solidFill>
                <a:ea typeface="新細明體" panose="02020500000000000000" pitchFamily="18" charset="-120"/>
              </a:rPr>
              <a:t> </a:t>
            </a:r>
          </a:p>
          <a:p>
            <a:pPr algn="ctr">
              <a:spcBef>
                <a:spcPct val="0"/>
              </a:spcBef>
              <a:buClrTx/>
              <a:buSzTx/>
              <a:buFontTx/>
              <a:buNone/>
            </a:pPr>
            <a:r>
              <a:rPr lang="en-US" altLang="zh-TW" sz="2400">
                <a:solidFill>
                  <a:srgbClr val="FF0000"/>
                </a:solidFill>
                <a:ea typeface="新細明體" panose="02020500000000000000" pitchFamily="18" charset="-120"/>
              </a:rPr>
              <a:t>front-end</a:t>
            </a:r>
            <a:endParaRPr lang="zh-TW" altLang="en-US" sz="2400">
              <a:solidFill>
                <a:srgbClr val="FF0000"/>
              </a:solidFill>
              <a:ea typeface="新細明體" panose="02020500000000000000" pitchFamily="18" charset="-120"/>
            </a:endParaRPr>
          </a:p>
        </p:txBody>
      </p:sp>
      <p:sp>
        <p:nvSpPr>
          <p:cNvPr id="56325" name="Rectangle 8"/>
          <p:cNvSpPr>
            <a:spLocks noChangeArrowheads="1"/>
          </p:cNvSpPr>
          <p:nvPr/>
        </p:nvSpPr>
        <p:spPr bwMode="auto">
          <a:xfrm>
            <a:off x="990600" y="4005263"/>
            <a:ext cx="2133600" cy="9144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Basic</a:t>
            </a:r>
          </a:p>
          <a:p>
            <a:pPr algn="ctr">
              <a:spcBef>
                <a:spcPct val="0"/>
              </a:spcBef>
              <a:buClrTx/>
              <a:buSzTx/>
              <a:buFontTx/>
              <a:buNone/>
            </a:pPr>
            <a:r>
              <a:rPr lang="en-US" altLang="zh-TW" sz="2400">
                <a:solidFill>
                  <a:srgbClr val="FF0000"/>
                </a:solidFill>
                <a:ea typeface="新細明體" panose="02020500000000000000" pitchFamily="18" charset="-120"/>
              </a:rPr>
              <a:t> front-end</a:t>
            </a:r>
            <a:endParaRPr lang="zh-TW" altLang="en-US" sz="2400">
              <a:solidFill>
                <a:srgbClr val="FF0000"/>
              </a:solidFill>
              <a:ea typeface="新細明體" panose="02020500000000000000" pitchFamily="18" charset="-120"/>
            </a:endParaRPr>
          </a:p>
        </p:txBody>
      </p:sp>
      <p:sp>
        <p:nvSpPr>
          <p:cNvPr id="56326" name="Rectangle 9"/>
          <p:cNvSpPr>
            <a:spLocks noChangeArrowheads="1"/>
          </p:cNvSpPr>
          <p:nvPr/>
        </p:nvSpPr>
        <p:spPr bwMode="auto">
          <a:xfrm>
            <a:off x="969963" y="5245100"/>
            <a:ext cx="2133600" cy="9144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Pascal</a:t>
            </a:r>
          </a:p>
          <a:p>
            <a:pPr algn="ctr">
              <a:spcBef>
                <a:spcPct val="0"/>
              </a:spcBef>
              <a:buClrTx/>
              <a:buSzTx/>
              <a:buFontTx/>
              <a:buNone/>
            </a:pPr>
            <a:r>
              <a:rPr lang="en-US" altLang="zh-TW" sz="2400">
                <a:solidFill>
                  <a:srgbClr val="FF0000"/>
                </a:solidFill>
                <a:ea typeface="新細明體" panose="02020500000000000000" pitchFamily="18" charset="-120"/>
              </a:rPr>
              <a:t> front-end</a:t>
            </a:r>
            <a:endParaRPr lang="zh-TW" altLang="en-US" sz="2400">
              <a:solidFill>
                <a:srgbClr val="FF0000"/>
              </a:solidFill>
              <a:ea typeface="新細明體" panose="02020500000000000000" pitchFamily="18" charset="-120"/>
            </a:endParaRPr>
          </a:p>
        </p:txBody>
      </p:sp>
      <p:sp>
        <p:nvSpPr>
          <p:cNvPr id="56327" name="Rectangle 10"/>
          <p:cNvSpPr>
            <a:spLocks noChangeArrowheads="1"/>
          </p:cNvSpPr>
          <p:nvPr/>
        </p:nvSpPr>
        <p:spPr bwMode="auto">
          <a:xfrm>
            <a:off x="5638800" y="27432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ARM</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56328" name="Rectangle 11"/>
          <p:cNvSpPr>
            <a:spLocks noChangeArrowheads="1"/>
          </p:cNvSpPr>
          <p:nvPr/>
        </p:nvSpPr>
        <p:spPr bwMode="auto">
          <a:xfrm>
            <a:off x="5638800" y="40386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PPC</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56329" name="Rectangle 12"/>
          <p:cNvSpPr>
            <a:spLocks noChangeArrowheads="1"/>
          </p:cNvSpPr>
          <p:nvPr/>
        </p:nvSpPr>
        <p:spPr bwMode="auto">
          <a:xfrm>
            <a:off x="5638800" y="52578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SPARC</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cxnSp>
        <p:nvCxnSpPr>
          <p:cNvPr id="56330" name="Straight Connector 14"/>
          <p:cNvCxnSpPr>
            <a:cxnSpLocks noChangeShapeType="1"/>
            <a:stCxn id="56322" idx="3"/>
            <a:endCxn id="56323" idx="1"/>
          </p:cNvCxnSpPr>
          <p:nvPr/>
        </p:nvCxnSpPr>
        <p:spPr bwMode="auto">
          <a:xfrm>
            <a:off x="3124200" y="1866900"/>
            <a:ext cx="2514600" cy="4763"/>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31" name="Straight Connector 15"/>
          <p:cNvCxnSpPr>
            <a:cxnSpLocks noChangeShapeType="1"/>
            <a:stCxn id="56322" idx="3"/>
            <a:endCxn id="56327" idx="1"/>
          </p:cNvCxnSpPr>
          <p:nvPr/>
        </p:nvCxnSpPr>
        <p:spPr bwMode="auto">
          <a:xfrm>
            <a:off x="3124200" y="1866900"/>
            <a:ext cx="2514600" cy="13335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32" name="Straight Connector 18"/>
          <p:cNvCxnSpPr>
            <a:cxnSpLocks noChangeShapeType="1"/>
            <a:stCxn id="56322" idx="3"/>
            <a:endCxn id="56328" idx="1"/>
          </p:cNvCxnSpPr>
          <p:nvPr/>
        </p:nvCxnSpPr>
        <p:spPr bwMode="auto">
          <a:xfrm>
            <a:off x="3124200" y="1866900"/>
            <a:ext cx="2514600" cy="26289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33" name="Straight Connector 21"/>
          <p:cNvCxnSpPr>
            <a:cxnSpLocks noChangeShapeType="1"/>
            <a:stCxn id="56322" idx="3"/>
          </p:cNvCxnSpPr>
          <p:nvPr/>
        </p:nvCxnSpPr>
        <p:spPr bwMode="auto">
          <a:xfrm>
            <a:off x="3124200" y="1866900"/>
            <a:ext cx="2514600" cy="39243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34" name="Straight Connector 24"/>
          <p:cNvCxnSpPr>
            <a:cxnSpLocks noChangeShapeType="1"/>
          </p:cNvCxnSpPr>
          <p:nvPr/>
        </p:nvCxnSpPr>
        <p:spPr bwMode="auto">
          <a:xfrm>
            <a:off x="3124200" y="3200400"/>
            <a:ext cx="2514600" cy="635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35" name="Straight Connector 25"/>
          <p:cNvCxnSpPr>
            <a:cxnSpLocks noChangeShapeType="1"/>
          </p:cNvCxnSpPr>
          <p:nvPr/>
        </p:nvCxnSpPr>
        <p:spPr bwMode="auto">
          <a:xfrm>
            <a:off x="3094038" y="4495800"/>
            <a:ext cx="2514600" cy="635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36" name="Straight Connector 26"/>
          <p:cNvCxnSpPr>
            <a:cxnSpLocks noChangeShapeType="1"/>
          </p:cNvCxnSpPr>
          <p:nvPr/>
        </p:nvCxnSpPr>
        <p:spPr bwMode="auto">
          <a:xfrm>
            <a:off x="3124200" y="5791200"/>
            <a:ext cx="2514600" cy="635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37" name="Straight Connector 27"/>
          <p:cNvCxnSpPr>
            <a:cxnSpLocks noChangeShapeType="1"/>
            <a:stCxn id="56324" idx="3"/>
            <a:endCxn id="56323" idx="1"/>
          </p:cNvCxnSpPr>
          <p:nvPr/>
        </p:nvCxnSpPr>
        <p:spPr bwMode="auto">
          <a:xfrm flipV="1">
            <a:off x="3124200" y="1871663"/>
            <a:ext cx="2514600" cy="1335087"/>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38" name="Straight Connector 30"/>
          <p:cNvCxnSpPr>
            <a:cxnSpLocks noChangeShapeType="1"/>
            <a:stCxn id="56324" idx="3"/>
            <a:endCxn id="56328" idx="1"/>
          </p:cNvCxnSpPr>
          <p:nvPr/>
        </p:nvCxnSpPr>
        <p:spPr bwMode="auto">
          <a:xfrm>
            <a:off x="3124200" y="3206750"/>
            <a:ext cx="2514600" cy="128905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39" name="Straight Connector 33"/>
          <p:cNvCxnSpPr>
            <a:cxnSpLocks noChangeShapeType="1"/>
            <a:stCxn id="56324" idx="3"/>
          </p:cNvCxnSpPr>
          <p:nvPr/>
        </p:nvCxnSpPr>
        <p:spPr bwMode="auto">
          <a:xfrm>
            <a:off x="3124200" y="3206750"/>
            <a:ext cx="2484438" cy="258445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40" name="Straight Connector 36"/>
          <p:cNvCxnSpPr>
            <a:cxnSpLocks noChangeShapeType="1"/>
          </p:cNvCxnSpPr>
          <p:nvPr/>
        </p:nvCxnSpPr>
        <p:spPr bwMode="auto">
          <a:xfrm flipV="1">
            <a:off x="3109913" y="3181350"/>
            <a:ext cx="2514600" cy="13335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41" name="Straight Connector 37"/>
          <p:cNvCxnSpPr>
            <a:cxnSpLocks noChangeShapeType="1"/>
          </p:cNvCxnSpPr>
          <p:nvPr/>
        </p:nvCxnSpPr>
        <p:spPr bwMode="auto">
          <a:xfrm flipV="1">
            <a:off x="3109913" y="4446588"/>
            <a:ext cx="2514600" cy="1335087"/>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42" name="Straight Connector 38"/>
          <p:cNvCxnSpPr>
            <a:cxnSpLocks noChangeShapeType="1"/>
            <a:stCxn id="56325" idx="3"/>
            <a:endCxn id="56323" idx="1"/>
          </p:cNvCxnSpPr>
          <p:nvPr/>
        </p:nvCxnSpPr>
        <p:spPr bwMode="auto">
          <a:xfrm flipV="1">
            <a:off x="3124200" y="1871663"/>
            <a:ext cx="2514600" cy="25908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43" name="Straight Connector 41"/>
          <p:cNvCxnSpPr>
            <a:cxnSpLocks noChangeShapeType="1"/>
            <a:stCxn id="56326" idx="3"/>
            <a:endCxn id="56323" idx="1"/>
          </p:cNvCxnSpPr>
          <p:nvPr/>
        </p:nvCxnSpPr>
        <p:spPr bwMode="auto">
          <a:xfrm flipV="1">
            <a:off x="3103563" y="1871663"/>
            <a:ext cx="2535237" cy="3830637"/>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6344" name="Straight Connector 44"/>
          <p:cNvCxnSpPr>
            <a:cxnSpLocks noChangeShapeType="1"/>
            <a:stCxn id="56325" idx="3"/>
          </p:cNvCxnSpPr>
          <p:nvPr/>
        </p:nvCxnSpPr>
        <p:spPr bwMode="auto">
          <a:xfrm>
            <a:off x="3124200" y="4462463"/>
            <a:ext cx="2484438" cy="1335087"/>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sp>
        <p:nvSpPr>
          <p:cNvPr id="48" name="Rectangle 2"/>
          <p:cNvSpPr>
            <a:spLocks noGrp="1" noChangeArrowheads="1"/>
          </p:cNvSpPr>
          <p:nvPr>
            <p:ph type="title"/>
          </p:nvPr>
        </p:nvSpPr>
        <p:spPr>
          <a:xfrm>
            <a:off x="457200" y="381000"/>
            <a:ext cx="8229600" cy="914400"/>
          </a:xfrm>
        </p:spPr>
        <p:txBody>
          <a:bodyPr/>
          <a:lstStyle/>
          <a:p>
            <a:pPr eaLnBrk="1" hangingPunct="1">
              <a:defRPr/>
            </a:pPr>
            <a:r>
              <a:rPr lang="en-US" altLang="zh-TW" sz="4000" dirty="0">
                <a:ea typeface="新細明體" pitchFamily="18" charset="-120"/>
              </a:rPr>
              <a:t>Without IR</a:t>
            </a:r>
          </a:p>
        </p:txBody>
      </p:sp>
      <p:sp>
        <p:nvSpPr>
          <p:cNvPr id="2" name="頁尾版面配置區 1"/>
          <p:cNvSpPr>
            <a:spLocks noGrp="1"/>
          </p:cNvSpPr>
          <p:nvPr>
            <p:ph type="ftr" sz="quarter" idx="10"/>
          </p:nvPr>
        </p:nvSpPr>
        <p:spPr/>
        <p:txBody>
          <a:bodyPr/>
          <a:lstStyle/>
          <a:p>
            <a:pPr>
              <a:defRPr/>
            </a:pPr>
            <a:r>
              <a:rPr lang="en-US" altLang="zh-TW"/>
              <a:t>Department of Electrical Engineering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5"/>
          <p:cNvSpPr>
            <a:spLocks noChangeArrowheads="1"/>
          </p:cNvSpPr>
          <p:nvPr/>
        </p:nvSpPr>
        <p:spPr bwMode="auto">
          <a:xfrm>
            <a:off x="990600" y="1409700"/>
            <a:ext cx="2133600" cy="9144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C</a:t>
            </a:r>
            <a:r>
              <a:rPr lang="en-US" altLang="zh-TW" sz="2400">
                <a:solidFill>
                  <a:srgbClr val="FF0000"/>
                </a:solidFill>
                <a:ea typeface="新細明體" panose="02020500000000000000" pitchFamily="18" charset="-120"/>
              </a:rPr>
              <a:t> front-end</a:t>
            </a:r>
            <a:endParaRPr lang="zh-TW" altLang="en-US" sz="2400">
              <a:solidFill>
                <a:srgbClr val="FF0000"/>
              </a:solidFill>
              <a:ea typeface="新細明體" panose="02020500000000000000" pitchFamily="18" charset="-120"/>
            </a:endParaRPr>
          </a:p>
        </p:txBody>
      </p:sp>
      <p:sp>
        <p:nvSpPr>
          <p:cNvPr id="58371" name="Rectangle 6"/>
          <p:cNvSpPr>
            <a:spLocks noChangeArrowheads="1"/>
          </p:cNvSpPr>
          <p:nvPr/>
        </p:nvSpPr>
        <p:spPr bwMode="auto">
          <a:xfrm>
            <a:off x="5638800" y="1414463"/>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X86</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58372" name="Rectangle 7"/>
          <p:cNvSpPr>
            <a:spLocks noChangeArrowheads="1"/>
          </p:cNvSpPr>
          <p:nvPr/>
        </p:nvSpPr>
        <p:spPr bwMode="auto">
          <a:xfrm>
            <a:off x="990600" y="2749550"/>
            <a:ext cx="2133600" cy="9144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Fortran</a:t>
            </a:r>
            <a:r>
              <a:rPr lang="en-US" altLang="zh-TW" sz="2400">
                <a:solidFill>
                  <a:srgbClr val="FF0000"/>
                </a:solidFill>
                <a:ea typeface="新細明體" panose="02020500000000000000" pitchFamily="18" charset="-120"/>
              </a:rPr>
              <a:t> </a:t>
            </a:r>
          </a:p>
          <a:p>
            <a:pPr algn="ctr">
              <a:spcBef>
                <a:spcPct val="0"/>
              </a:spcBef>
              <a:buClrTx/>
              <a:buSzTx/>
              <a:buFontTx/>
              <a:buNone/>
            </a:pPr>
            <a:r>
              <a:rPr lang="en-US" altLang="zh-TW" sz="2400">
                <a:solidFill>
                  <a:srgbClr val="FF0000"/>
                </a:solidFill>
                <a:ea typeface="新細明體" panose="02020500000000000000" pitchFamily="18" charset="-120"/>
              </a:rPr>
              <a:t>front-end</a:t>
            </a:r>
            <a:endParaRPr lang="zh-TW" altLang="en-US" sz="2400">
              <a:solidFill>
                <a:srgbClr val="FF0000"/>
              </a:solidFill>
              <a:ea typeface="新細明體" panose="02020500000000000000" pitchFamily="18" charset="-120"/>
            </a:endParaRPr>
          </a:p>
        </p:txBody>
      </p:sp>
      <p:sp>
        <p:nvSpPr>
          <p:cNvPr id="58373" name="Rectangle 8"/>
          <p:cNvSpPr>
            <a:spLocks noChangeArrowheads="1"/>
          </p:cNvSpPr>
          <p:nvPr/>
        </p:nvSpPr>
        <p:spPr bwMode="auto">
          <a:xfrm>
            <a:off x="990600" y="4005263"/>
            <a:ext cx="2133600" cy="9144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Basic</a:t>
            </a:r>
          </a:p>
          <a:p>
            <a:pPr algn="ctr">
              <a:spcBef>
                <a:spcPct val="0"/>
              </a:spcBef>
              <a:buClrTx/>
              <a:buSzTx/>
              <a:buFontTx/>
              <a:buNone/>
            </a:pPr>
            <a:r>
              <a:rPr lang="en-US" altLang="zh-TW" sz="2400">
                <a:solidFill>
                  <a:srgbClr val="FF0000"/>
                </a:solidFill>
                <a:ea typeface="新細明體" panose="02020500000000000000" pitchFamily="18" charset="-120"/>
              </a:rPr>
              <a:t> front-end</a:t>
            </a:r>
            <a:endParaRPr lang="zh-TW" altLang="en-US" sz="2400">
              <a:solidFill>
                <a:srgbClr val="FF0000"/>
              </a:solidFill>
              <a:ea typeface="新細明體" panose="02020500000000000000" pitchFamily="18" charset="-120"/>
            </a:endParaRPr>
          </a:p>
        </p:txBody>
      </p:sp>
      <p:sp>
        <p:nvSpPr>
          <p:cNvPr id="58374" name="Rectangle 9"/>
          <p:cNvSpPr>
            <a:spLocks noChangeArrowheads="1"/>
          </p:cNvSpPr>
          <p:nvPr/>
        </p:nvSpPr>
        <p:spPr bwMode="auto">
          <a:xfrm>
            <a:off x="969963" y="5245100"/>
            <a:ext cx="2133600" cy="9144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Pascal</a:t>
            </a:r>
          </a:p>
          <a:p>
            <a:pPr algn="ctr">
              <a:spcBef>
                <a:spcPct val="0"/>
              </a:spcBef>
              <a:buClrTx/>
              <a:buSzTx/>
              <a:buFontTx/>
              <a:buNone/>
            </a:pPr>
            <a:r>
              <a:rPr lang="en-US" altLang="zh-TW" sz="2400">
                <a:solidFill>
                  <a:srgbClr val="FF0000"/>
                </a:solidFill>
                <a:ea typeface="新細明體" panose="02020500000000000000" pitchFamily="18" charset="-120"/>
              </a:rPr>
              <a:t> front-end</a:t>
            </a:r>
            <a:endParaRPr lang="zh-TW" altLang="en-US" sz="2400">
              <a:solidFill>
                <a:srgbClr val="FF0000"/>
              </a:solidFill>
              <a:ea typeface="新細明體" panose="02020500000000000000" pitchFamily="18" charset="-120"/>
            </a:endParaRPr>
          </a:p>
        </p:txBody>
      </p:sp>
      <p:sp>
        <p:nvSpPr>
          <p:cNvPr id="58375" name="Rectangle 10"/>
          <p:cNvSpPr>
            <a:spLocks noChangeArrowheads="1"/>
          </p:cNvSpPr>
          <p:nvPr/>
        </p:nvSpPr>
        <p:spPr bwMode="auto">
          <a:xfrm>
            <a:off x="5638800" y="27432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ARM</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58376" name="Rectangle 11"/>
          <p:cNvSpPr>
            <a:spLocks noChangeArrowheads="1"/>
          </p:cNvSpPr>
          <p:nvPr/>
        </p:nvSpPr>
        <p:spPr bwMode="auto">
          <a:xfrm>
            <a:off x="5638800" y="40386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PPC</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58377" name="Rectangle 12"/>
          <p:cNvSpPr>
            <a:spLocks noChangeArrowheads="1"/>
          </p:cNvSpPr>
          <p:nvPr/>
        </p:nvSpPr>
        <p:spPr bwMode="auto">
          <a:xfrm>
            <a:off x="5638800" y="52578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SPARC</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48" name="Rectangle 2"/>
          <p:cNvSpPr>
            <a:spLocks noGrp="1" noChangeArrowheads="1"/>
          </p:cNvSpPr>
          <p:nvPr>
            <p:ph type="title"/>
          </p:nvPr>
        </p:nvSpPr>
        <p:spPr>
          <a:xfrm>
            <a:off x="457200" y="381000"/>
            <a:ext cx="8229600" cy="914400"/>
          </a:xfrm>
        </p:spPr>
        <p:txBody>
          <a:bodyPr/>
          <a:lstStyle/>
          <a:p>
            <a:pPr eaLnBrk="1" hangingPunct="1">
              <a:defRPr/>
            </a:pPr>
            <a:r>
              <a:rPr lang="en-US" altLang="zh-TW" sz="4000" dirty="0">
                <a:ea typeface="新細明體" pitchFamily="18" charset="-120"/>
              </a:rPr>
              <a:t>With IR</a:t>
            </a:r>
          </a:p>
        </p:txBody>
      </p:sp>
      <p:sp>
        <p:nvSpPr>
          <p:cNvPr id="2" name="Rounded Rectangle 1"/>
          <p:cNvSpPr/>
          <p:nvPr/>
        </p:nvSpPr>
        <p:spPr bwMode="auto">
          <a:xfrm>
            <a:off x="3962400" y="3235325"/>
            <a:ext cx="914400" cy="914400"/>
          </a:xfrm>
          <a:prstGeom prst="round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r>
              <a:rPr lang="en-US" altLang="zh-TW" sz="3200" b="1">
                <a:solidFill>
                  <a:srgbClr val="FF0000"/>
                </a:solidFill>
                <a:ea typeface="新細明體" panose="02020500000000000000" pitchFamily="18" charset="-120"/>
              </a:rPr>
              <a:t>IR</a:t>
            </a:r>
            <a:endParaRPr lang="zh-TW" altLang="en-US" sz="3200" b="1">
              <a:solidFill>
                <a:srgbClr val="FF0000"/>
              </a:solidFill>
              <a:ea typeface="新細明體" panose="02020500000000000000" pitchFamily="18" charset="-120"/>
            </a:endParaRPr>
          </a:p>
        </p:txBody>
      </p:sp>
      <p:cxnSp>
        <p:nvCxnSpPr>
          <p:cNvPr id="58380" name="Straight Connector 28"/>
          <p:cNvCxnSpPr>
            <a:cxnSpLocks noChangeShapeType="1"/>
          </p:cNvCxnSpPr>
          <p:nvPr/>
        </p:nvCxnSpPr>
        <p:spPr bwMode="auto">
          <a:xfrm>
            <a:off x="3124200" y="1866900"/>
            <a:ext cx="838200" cy="1520825"/>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8381" name="Straight Connector 29"/>
          <p:cNvCxnSpPr>
            <a:cxnSpLocks noChangeShapeType="1"/>
            <a:stCxn id="58372" idx="3"/>
          </p:cNvCxnSpPr>
          <p:nvPr/>
        </p:nvCxnSpPr>
        <p:spPr bwMode="auto">
          <a:xfrm>
            <a:off x="3124200" y="3206750"/>
            <a:ext cx="838200" cy="29845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8382" name="Straight Connector 32"/>
          <p:cNvCxnSpPr>
            <a:cxnSpLocks noChangeShapeType="1"/>
            <a:stCxn id="58373" idx="3"/>
            <a:endCxn id="2" idx="1"/>
          </p:cNvCxnSpPr>
          <p:nvPr/>
        </p:nvCxnSpPr>
        <p:spPr bwMode="auto">
          <a:xfrm flipV="1">
            <a:off x="3124200" y="3692525"/>
            <a:ext cx="838200" cy="769938"/>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8383" name="Straight Connector 35"/>
          <p:cNvCxnSpPr>
            <a:cxnSpLocks noChangeShapeType="1"/>
            <a:stCxn id="58374" idx="3"/>
          </p:cNvCxnSpPr>
          <p:nvPr/>
        </p:nvCxnSpPr>
        <p:spPr bwMode="auto">
          <a:xfrm flipV="1">
            <a:off x="3103563" y="3810000"/>
            <a:ext cx="858837" cy="18923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8384" name="Straight Connector 42"/>
          <p:cNvCxnSpPr>
            <a:cxnSpLocks noChangeShapeType="1"/>
            <a:endCxn id="58371" idx="1"/>
          </p:cNvCxnSpPr>
          <p:nvPr/>
        </p:nvCxnSpPr>
        <p:spPr bwMode="auto">
          <a:xfrm flipV="1">
            <a:off x="4876800" y="1871663"/>
            <a:ext cx="762000" cy="1516062"/>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8385" name="Straight Connector 45"/>
          <p:cNvCxnSpPr>
            <a:cxnSpLocks noChangeShapeType="1"/>
          </p:cNvCxnSpPr>
          <p:nvPr/>
        </p:nvCxnSpPr>
        <p:spPr bwMode="auto">
          <a:xfrm flipV="1">
            <a:off x="4876800" y="3200400"/>
            <a:ext cx="762000" cy="3048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8386" name="Straight Connector 48"/>
          <p:cNvCxnSpPr>
            <a:cxnSpLocks noChangeShapeType="1"/>
            <a:endCxn id="58376" idx="1"/>
          </p:cNvCxnSpPr>
          <p:nvPr/>
        </p:nvCxnSpPr>
        <p:spPr bwMode="auto">
          <a:xfrm>
            <a:off x="4876800" y="3692525"/>
            <a:ext cx="762000" cy="803275"/>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58387" name="Straight Connector 50"/>
          <p:cNvCxnSpPr>
            <a:cxnSpLocks noChangeShapeType="1"/>
            <a:endCxn id="58377" idx="1"/>
          </p:cNvCxnSpPr>
          <p:nvPr/>
        </p:nvCxnSpPr>
        <p:spPr bwMode="auto">
          <a:xfrm>
            <a:off x="4876800" y="4038600"/>
            <a:ext cx="762000" cy="16764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sp>
        <p:nvSpPr>
          <p:cNvPr id="3" name="頁尾版面配置區 2"/>
          <p:cNvSpPr>
            <a:spLocks noGrp="1"/>
          </p:cNvSpPr>
          <p:nvPr>
            <p:ph type="ftr" sz="quarter" idx="10"/>
          </p:nvPr>
        </p:nvSpPr>
        <p:spPr/>
        <p:txBody>
          <a:bodyPr/>
          <a:lstStyle/>
          <a:p>
            <a:pPr>
              <a:defRPr/>
            </a:pPr>
            <a:r>
              <a:rPr lang="en-US" altLang="zh-TW"/>
              <a:t>Department of Electrical Engineering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5"/>
          <p:cNvSpPr>
            <a:spLocks noChangeArrowheads="1"/>
          </p:cNvSpPr>
          <p:nvPr/>
        </p:nvSpPr>
        <p:spPr bwMode="auto">
          <a:xfrm>
            <a:off x="533400" y="1352550"/>
            <a:ext cx="2590800" cy="10287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C</a:t>
            </a:r>
            <a:r>
              <a:rPr lang="en-US" altLang="zh-TW" sz="2400">
                <a:solidFill>
                  <a:srgbClr val="FF0000"/>
                </a:solidFill>
                <a:ea typeface="新細明體" panose="02020500000000000000" pitchFamily="18" charset="-120"/>
              </a:rPr>
              <a:t>lang </a:t>
            </a:r>
          </a:p>
          <a:p>
            <a:pPr algn="ctr">
              <a:spcBef>
                <a:spcPct val="0"/>
              </a:spcBef>
              <a:buClrTx/>
              <a:buSzTx/>
              <a:buFontTx/>
              <a:buNone/>
            </a:pPr>
            <a:r>
              <a:rPr lang="en-US" altLang="zh-TW" sz="1800">
                <a:solidFill>
                  <a:srgbClr val="FF0000"/>
                </a:solidFill>
                <a:ea typeface="新細明體" panose="02020500000000000000" pitchFamily="18" charset="-120"/>
              </a:rPr>
              <a:t>(C/C++/Objective-C)</a:t>
            </a:r>
            <a:endParaRPr lang="zh-TW" altLang="en-US" sz="1800">
              <a:solidFill>
                <a:srgbClr val="FF0000"/>
              </a:solidFill>
              <a:ea typeface="新細明體" panose="02020500000000000000" pitchFamily="18" charset="-120"/>
            </a:endParaRPr>
          </a:p>
        </p:txBody>
      </p:sp>
      <p:sp>
        <p:nvSpPr>
          <p:cNvPr id="60419" name="Rectangle 6"/>
          <p:cNvSpPr>
            <a:spLocks noChangeArrowheads="1"/>
          </p:cNvSpPr>
          <p:nvPr/>
        </p:nvSpPr>
        <p:spPr bwMode="auto">
          <a:xfrm>
            <a:off x="5638800" y="1414463"/>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X86</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60420" name="Rectangle 10"/>
          <p:cNvSpPr>
            <a:spLocks noChangeArrowheads="1"/>
          </p:cNvSpPr>
          <p:nvPr/>
        </p:nvSpPr>
        <p:spPr bwMode="auto">
          <a:xfrm>
            <a:off x="5638800" y="27432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ARM</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60421" name="Rectangle 11"/>
          <p:cNvSpPr>
            <a:spLocks noChangeArrowheads="1"/>
          </p:cNvSpPr>
          <p:nvPr/>
        </p:nvSpPr>
        <p:spPr bwMode="auto">
          <a:xfrm>
            <a:off x="5638800" y="40386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PPC</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60422" name="Rectangle 12"/>
          <p:cNvSpPr>
            <a:spLocks noChangeArrowheads="1"/>
          </p:cNvSpPr>
          <p:nvPr/>
        </p:nvSpPr>
        <p:spPr bwMode="auto">
          <a:xfrm>
            <a:off x="5638800" y="52578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SPARC</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48" name="Rectangle 2"/>
          <p:cNvSpPr>
            <a:spLocks noGrp="1" noChangeArrowheads="1"/>
          </p:cNvSpPr>
          <p:nvPr>
            <p:ph type="title"/>
          </p:nvPr>
        </p:nvSpPr>
        <p:spPr>
          <a:xfrm>
            <a:off x="457200" y="381000"/>
            <a:ext cx="8229600" cy="914400"/>
          </a:xfrm>
        </p:spPr>
        <p:txBody>
          <a:bodyPr/>
          <a:lstStyle/>
          <a:p>
            <a:pPr eaLnBrk="1" hangingPunct="1">
              <a:defRPr/>
            </a:pPr>
            <a:r>
              <a:rPr lang="en-US" altLang="zh-TW" sz="4000" dirty="0">
                <a:ea typeface="新細明體" pitchFamily="18" charset="-120"/>
              </a:rPr>
              <a:t>LLVM Compiler Infrastructure</a:t>
            </a:r>
          </a:p>
        </p:txBody>
      </p:sp>
      <p:sp>
        <p:nvSpPr>
          <p:cNvPr id="2" name="Rounded Rectangle 1"/>
          <p:cNvSpPr/>
          <p:nvPr/>
        </p:nvSpPr>
        <p:spPr bwMode="auto">
          <a:xfrm>
            <a:off x="3473450" y="3124200"/>
            <a:ext cx="1403350" cy="1200150"/>
          </a:xfrm>
          <a:prstGeom prst="round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r>
              <a:rPr lang="en-US" altLang="zh-TW" sz="3200" b="1">
                <a:solidFill>
                  <a:srgbClr val="FF0000"/>
                </a:solidFill>
                <a:ea typeface="新細明體" panose="02020500000000000000" pitchFamily="18" charset="-120"/>
              </a:rPr>
              <a:t>LLVM IR</a:t>
            </a:r>
            <a:endParaRPr lang="zh-TW" altLang="en-US" sz="3200" b="1">
              <a:solidFill>
                <a:srgbClr val="FF0000"/>
              </a:solidFill>
              <a:ea typeface="新細明體" panose="02020500000000000000" pitchFamily="18" charset="-120"/>
            </a:endParaRPr>
          </a:p>
        </p:txBody>
      </p:sp>
      <p:cxnSp>
        <p:nvCxnSpPr>
          <p:cNvPr id="60425" name="Straight Connector 28"/>
          <p:cNvCxnSpPr>
            <a:cxnSpLocks noChangeShapeType="1"/>
          </p:cNvCxnSpPr>
          <p:nvPr/>
        </p:nvCxnSpPr>
        <p:spPr bwMode="auto">
          <a:xfrm>
            <a:off x="3124200" y="1866900"/>
            <a:ext cx="404813" cy="12573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60426" name="Straight Connector 42"/>
          <p:cNvCxnSpPr>
            <a:cxnSpLocks noChangeShapeType="1"/>
            <a:endCxn id="60419" idx="1"/>
          </p:cNvCxnSpPr>
          <p:nvPr/>
        </p:nvCxnSpPr>
        <p:spPr bwMode="auto">
          <a:xfrm flipV="1">
            <a:off x="4876800" y="1871663"/>
            <a:ext cx="762000" cy="1516062"/>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60427" name="Straight Connector 45"/>
          <p:cNvCxnSpPr>
            <a:cxnSpLocks noChangeShapeType="1"/>
          </p:cNvCxnSpPr>
          <p:nvPr/>
        </p:nvCxnSpPr>
        <p:spPr bwMode="auto">
          <a:xfrm flipV="1">
            <a:off x="4876800" y="3200400"/>
            <a:ext cx="762000" cy="3048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60428" name="Straight Connector 48"/>
          <p:cNvCxnSpPr>
            <a:cxnSpLocks noChangeShapeType="1"/>
            <a:endCxn id="60421" idx="1"/>
          </p:cNvCxnSpPr>
          <p:nvPr/>
        </p:nvCxnSpPr>
        <p:spPr bwMode="auto">
          <a:xfrm>
            <a:off x="4876800" y="3692525"/>
            <a:ext cx="762000" cy="803275"/>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60429" name="Straight Connector 50"/>
          <p:cNvCxnSpPr>
            <a:cxnSpLocks noChangeShapeType="1"/>
            <a:endCxn id="60422" idx="1"/>
          </p:cNvCxnSpPr>
          <p:nvPr/>
        </p:nvCxnSpPr>
        <p:spPr bwMode="auto">
          <a:xfrm>
            <a:off x="4876800" y="4038600"/>
            <a:ext cx="762000" cy="16764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sp>
        <p:nvSpPr>
          <p:cNvPr id="22" name="Rectangle 5"/>
          <p:cNvSpPr>
            <a:spLocks noChangeArrowheads="1"/>
          </p:cNvSpPr>
          <p:nvPr/>
        </p:nvSpPr>
        <p:spPr bwMode="auto">
          <a:xfrm>
            <a:off x="228600" y="2686050"/>
            <a:ext cx="2863850" cy="10287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dragonegg</a:t>
            </a:r>
            <a:r>
              <a:rPr lang="en-US" altLang="zh-TW" sz="2400">
                <a:solidFill>
                  <a:srgbClr val="FF0000"/>
                </a:solidFill>
                <a:ea typeface="新細明體" panose="02020500000000000000" pitchFamily="18" charset="-120"/>
              </a:rPr>
              <a:t> </a:t>
            </a:r>
          </a:p>
          <a:p>
            <a:pPr algn="ctr">
              <a:spcBef>
                <a:spcPct val="0"/>
              </a:spcBef>
              <a:buClrTx/>
              <a:buSzTx/>
              <a:buFontTx/>
              <a:buNone/>
            </a:pPr>
            <a:r>
              <a:rPr lang="en-US" altLang="zh-TW" sz="1800">
                <a:solidFill>
                  <a:srgbClr val="FF0000"/>
                </a:solidFill>
                <a:ea typeface="新細明體" panose="02020500000000000000" pitchFamily="18" charset="-120"/>
              </a:rPr>
              <a:t>(GCC tool chain)</a:t>
            </a:r>
          </a:p>
          <a:p>
            <a:pPr algn="ctr">
              <a:spcBef>
                <a:spcPct val="0"/>
              </a:spcBef>
              <a:buClrTx/>
              <a:buSzTx/>
              <a:buFontTx/>
              <a:buNone/>
            </a:pPr>
            <a:r>
              <a:rPr lang="en-US" altLang="zh-TW" sz="1800">
                <a:solidFill>
                  <a:srgbClr val="FF0000"/>
                </a:solidFill>
                <a:ea typeface="新細明體" panose="02020500000000000000" pitchFamily="18" charset="-120"/>
              </a:rPr>
              <a:t>(Fortran/Ada/OpenMP/…)</a:t>
            </a:r>
            <a:endParaRPr lang="zh-TW" altLang="en-US" sz="1800">
              <a:solidFill>
                <a:srgbClr val="FF0000"/>
              </a:solidFill>
              <a:ea typeface="新細明體" panose="02020500000000000000" pitchFamily="18" charset="-120"/>
            </a:endParaRPr>
          </a:p>
        </p:txBody>
      </p:sp>
      <p:cxnSp>
        <p:nvCxnSpPr>
          <p:cNvPr id="23" name="Straight Connector 28"/>
          <p:cNvCxnSpPr>
            <a:cxnSpLocks noChangeShapeType="1"/>
            <a:stCxn id="22" idx="3"/>
          </p:cNvCxnSpPr>
          <p:nvPr/>
        </p:nvCxnSpPr>
        <p:spPr bwMode="auto">
          <a:xfrm>
            <a:off x="3092450" y="3200400"/>
            <a:ext cx="381000" cy="3048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sp>
        <p:nvSpPr>
          <p:cNvPr id="26" name="Rectangle 5"/>
          <p:cNvSpPr>
            <a:spLocks noChangeArrowheads="1"/>
          </p:cNvSpPr>
          <p:nvPr/>
        </p:nvSpPr>
        <p:spPr bwMode="auto">
          <a:xfrm>
            <a:off x="228600" y="3981450"/>
            <a:ext cx="2863850" cy="10287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Others</a:t>
            </a:r>
            <a:r>
              <a:rPr lang="en-US" altLang="zh-TW" sz="2400">
                <a:solidFill>
                  <a:srgbClr val="FF0000"/>
                </a:solidFill>
                <a:ea typeface="新細明體" panose="02020500000000000000" pitchFamily="18" charset="-120"/>
              </a:rPr>
              <a:t> </a:t>
            </a: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1800">
                <a:solidFill>
                  <a:srgbClr val="FF0000"/>
                </a:solidFill>
                <a:ea typeface="新細明體" panose="02020500000000000000" pitchFamily="18" charset="-120"/>
              </a:rPr>
              <a:t>(Java, C#, Haskell, Ruby, Python, Rust,…) </a:t>
            </a:r>
            <a:endParaRPr lang="zh-TW" altLang="en-US" sz="1800">
              <a:solidFill>
                <a:srgbClr val="FF0000"/>
              </a:solidFill>
              <a:ea typeface="新細明體" panose="02020500000000000000" pitchFamily="18" charset="-120"/>
            </a:endParaRPr>
          </a:p>
        </p:txBody>
      </p:sp>
      <p:cxnSp>
        <p:nvCxnSpPr>
          <p:cNvPr id="27" name="Straight Connector 28"/>
          <p:cNvCxnSpPr>
            <a:cxnSpLocks noChangeShapeType="1"/>
            <a:stCxn id="26" idx="3"/>
            <a:endCxn id="2" idx="1"/>
          </p:cNvCxnSpPr>
          <p:nvPr/>
        </p:nvCxnSpPr>
        <p:spPr bwMode="auto">
          <a:xfrm flipV="1">
            <a:off x="3092450" y="3724275"/>
            <a:ext cx="381000" cy="771525"/>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sp>
        <p:nvSpPr>
          <p:cNvPr id="30" name="Rectangle 5"/>
          <p:cNvSpPr>
            <a:spLocks noChangeArrowheads="1"/>
          </p:cNvSpPr>
          <p:nvPr/>
        </p:nvSpPr>
        <p:spPr bwMode="auto">
          <a:xfrm>
            <a:off x="673100" y="5486400"/>
            <a:ext cx="2073275" cy="717550"/>
          </a:xfrm>
          <a:prstGeom prst="rect">
            <a:avLst/>
          </a:prstGeom>
          <a:solidFill>
            <a:schemeClr val="accent2">
              <a:lumMod val="20000"/>
              <a:lumOff val="80000"/>
            </a:schemeClr>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lgn="ctr">
              <a:spcBef>
                <a:spcPct val="0"/>
              </a:spcBef>
              <a:buClrTx/>
              <a:buSzTx/>
              <a:buFontTx/>
              <a:buNone/>
              <a:defRPr/>
            </a:pPr>
            <a:r>
              <a:rPr lang="en-US" altLang="zh-TW" sz="2400" b="1">
                <a:solidFill>
                  <a:srgbClr val="FF0000"/>
                </a:solidFill>
                <a:ea typeface="新細明體" panose="02020500000000000000" pitchFamily="18" charset="-120"/>
              </a:rPr>
              <a:t>LLBT</a:t>
            </a:r>
            <a:r>
              <a:rPr lang="en-US" altLang="zh-TW" sz="2400">
                <a:solidFill>
                  <a:srgbClr val="FF0000"/>
                </a:solidFill>
                <a:ea typeface="新細明體" panose="02020500000000000000" pitchFamily="18" charset="-120"/>
              </a:rPr>
              <a:t> </a:t>
            </a:r>
            <a:endParaRPr lang="en-US" altLang="zh-TW" sz="1800">
              <a:solidFill>
                <a:srgbClr val="FF0000"/>
              </a:solidFill>
              <a:ea typeface="新細明體" panose="02020500000000000000" pitchFamily="18" charset="-120"/>
            </a:endParaRPr>
          </a:p>
          <a:p>
            <a:pPr algn="ctr">
              <a:spcBef>
                <a:spcPct val="0"/>
              </a:spcBef>
              <a:buClrTx/>
              <a:buSzTx/>
              <a:buFontTx/>
              <a:buNone/>
              <a:defRPr/>
            </a:pPr>
            <a:r>
              <a:rPr lang="en-US" altLang="zh-TW" sz="1800">
                <a:solidFill>
                  <a:srgbClr val="FF0000"/>
                </a:solidFill>
                <a:ea typeface="新細明體" panose="02020500000000000000" pitchFamily="18" charset="-120"/>
              </a:rPr>
              <a:t>( Arm, x86, …) </a:t>
            </a:r>
            <a:endParaRPr lang="zh-TW" altLang="en-US" sz="1800">
              <a:solidFill>
                <a:srgbClr val="FF0000"/>
              </a:solidFill>
              <a:ea typeface="新細明體" panose="02020500000000000000" pitchFamily="18" charset="-120"/>
            </a:endParaRPr>
          </a:p>
        </p:txBody>
      </p:sp>
      <p:cxnSp>
        <p:nvCxnSpPr>
          <p:cNvPr id="31" name="Straight Connector 28"/>
          <p:cNvCxnSpPr>
            <a:cxnSpLocks noChangeShapeType="1"/>
            <a:stCxn id="30" idx="3"/>
          </p:cNvCxnSpPr>
          <p:nvPr/>
        </p:nvCxnSpPr>
        <p:spPr bwMode="auto">
          <a:xfrm flipV="1">
            <a:off x="2746375" y="4171950"/>
            <a:ext cx="782638" cy="1673225"/>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sp>
        <p:nvSpPr>
          <p:cNvPr id="3" name="頁尾版面配置區 2"/>
          <p:cNvSpPr>
            <a:spLocks noGrp="1"/>
          </p:cNvSpPr>
          <p:nvPr>
            <p:ph type="ftr" sz="quarter" idx="10"/>
          </p:nvPr>
        </p:nvSpPr>
        <p:spPr/>
        <p:txBody>
          <a:bodyPr/>
          <a:lstStyle/>
          <a:p>
            <a:pPr>
              <a:defRPr/>
            </a:pPr>
            <a:r>
              <a:rPr lang="en-US" altLang="zh-TW"/>
              <a:t>Department of Electrical Engineering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6" grpId="0" animBg="1"/>
      <p:bldP spid="3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5"/>
          <p:cNvSpPr>
            <a:spLocks noChangeArrowheads="1"/>
          </p:cNvSpPr>
          <p:nvPr/>
        </p:nvSpPr>
        <p:spPr bwMode="auto">
          <a:xfrm>
            <a:off x="533400" y="1352550"/>
            <a:ext cx="2590800" cy="10287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C</a:t>
            </a:r>
            <a:r>
              <a:rPr lang="en-US" altLang="zh-TW" sz="2400">
                <a:solidFill>
                  <a:srgbClr val="FF0000"/>
                </a:solidFill>
                <a:ea typeface="新細明體" panose="02020500000000000000" pitchFamily="18" charset="-120"/>
              </a:rPr>
              <a:t>lang </a:t>
            </a:r>
          </a:p>
          <a:p>
            <a:pPr algn="ctr">
              <a:spcBef>
                <a:spcPct val="0"/>
              </a:spcBef>
              <a:buClrTx/>
              <a:buSzTx/>
              <a:buFontTx/>
              <a:buNone/>
            </a:pPr>
            <a:r>
              <a:rPr lang="en-US" altLang="zh-TW" sz="1800">
                <a:solidFill>
                  <a:srgbClr val="FF0000"/>
                </a:solidFill>
                <a:ea typeface="新細明體" panose="02020500000000000000" pitchFamily="18" charset="-120"/>
              </a:rPr>
              <a:t>(C/C++/Objective-C)</a:t>
            </a:r>
            <a:endParaRPr lang="zh-TW" altLang="en-US" sz="1800">
              <a:solidFill>
                <a:srgbClr val="FF0000"/>
              </a:solidFill>
              <a:ea typeface="新細明體" panose="02020500000000000000" pitchFamily="18" charset="-120"/>
            </a:endParaRPr>
          </a:p>
        </p:txBody>
      </p:sp>
      <p:sp>
        <p:nvSpPr>
          <p:cNvPr id="62467" name="Rectangle 6"/>
          <p:cNvSpPr>
            <a:spLocks noChangeArrowheads="1"/>
          </p:cNvSpPr>
          <p:nvPr/>
        </p:nvSpPr>
        <p:spPr bwMode="auto">
          <a:xfrm>
            <a:off x="6119813" y="131445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X86</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62468" name="Rectangle 10"/>
          <p:cNvSpPr>
            <a:spLocks noChangeArrowheads="1"/>
          </p:cNvSpPr>
          <p:nvPr/>
        </p:nvSpPr>
        <p:spPr bwMode="auto">
          <a:xfrm>
            <a:off x="6157913" y="27432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ARM</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62469" name="Rectangle 11"/>
          <p:cNvSpPr>
            <a:spLocks noChangeArrowheads="1"/>
          </p:cNvSpPr>
          <p:nvPr/>
        </p:nvSpPr>
        <p:spPr bwMode="auto">
          <a:xfrm>
            <a:off x="6165850" y="40386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a:spcBef>
                <a:spcPct val="0"/>
              </a:spcBef>
              <a:buClrTx/>
              <a:buSzTx/>
              <a:buFontTx/>
              <a:buNone/>
            </a:pP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2400" b="1">
                <a:solidFill>
                  <a:srgbClr val="FF0000"/>
                </a:solidFill>
                <a:ea typeface="新細明體" panose="02020500000000000000" pitchFamily="18" charset="-120"/>
              </a:rPr>
              <a:t>PPC</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62470" name="Rectangle 12"/>
          <p:cNvSpPr>
            <a:spLocks noChangeArrowheads="1"/>
          </p:cNvSpPr>
          <p:nvPr/>
        </p:nvSpPr>
        <p:spPr bwMode="auto">
          <a:xfrm>
            <a:off x="6132513" y="5334000"/>
            <a:ext cx="2133600" cy="914400"/>
          </a:xfrm>
          <a:prstGeom prst="rect">
            <a:avLst/>
          </a:prstGeom>
          <a:solidFill>
            <a:srgbClr val="A7F864"/>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SPARC</a:t>
            </a:r>
            <a:r>
              <a:rPr lang="en-US" altLang="zh-TW" sz="2400">
                <a:solidFill>
                  <a:srgbClr val="FF0000"/>
                </a:solidFill>
                <a:ea typeface="新細明體" panose="02020500000000000000" pitchFamily="18" charset="-120"/>
              </a:rPr>
              <a:t> backend</a:t>
            </a:r>
            <a:endParaRPr lang="zh-TW" altLang="en-US" sz="2400">
              <a:solidFill>
                <a:srgbClr val="FF0000"/>
              </a:solidFill>
              <a:ea typeface="新細明體" panose="02020500000000000000" pitchFamily="18" charset="-120"/>
            </a:endParaRPr>
          </a:p>
        </p:txBody>
      </p:sp>
      <p:sp>
        <p:nvSpPr>
          <p:cNvPr id="48" name="Rectangle 2"/>
          <p:cNvSpPr>
            <a:spLocks noGrp="1" noChangeArrowheads="1"/>
          </p:cNvSpPr>
          <p:nvPr>
            <p:ph type="title"/>
          </p:nvPr>
        </p:nvSpPr>
        <p:spPr>
          <a:xfrm>
            <a:off x="457200" y="381000"/>
            <a:ext cx="8229600" cy="914400"/>
          </a:xfrm>
        </p:spPr>
        <p:txBody>
          <a:bodyPr/>
          <a:lstStyle/>
          <a:p>
            <a:pPr eaLnBrk="1" hangingPunct="1">
              <a:defRPr/>
            </a:pPr>
            <a:r>
              <a:rPr lang="en-US" altLang="zh-TW" sz="4000" dirty="0">
                <a:ea typeface="新細明體" pitchFamily="18" charset="-120"/>
              </a:rPr>
              <a:t>LLVM Compiler Infrastructure</a:t>
            </a:r>
          </a:p>
        </p:txBody>
      </p:sp>
      <p:sp>
        <p:nvSpPr>
          <p:cNvPr id="2" name="Rounded Rectangle 1"/>
          <p:cNvSpPr/>
          <p:nvPr/>
        </p:nvSpPr>
        <p:spPr bwMode="auto">
          <a:xfrm>
            <a:off x="3524250" y="2990850"/>
            <a:ext cx="1022350" cy="1600200"/>
          </a:xfrm>
          <a:prstGeom prst="roundRect">
            <a:avLst/>
          </a:prstGeom>
          <a:solidFill>
            <a:schemeClr val="accent6">
              <a:lumMod val="40000"/>
              <a:lumOff val="60000"/>
            </a:schemeClr>
          </a:solidFill>
          <a:ln w="9525" cap="flat" cmpd="sng" algn="ctr">
            <a:solidFill>
              <a:srgbClr val="FF0000"/>
            </a:solidFill>
            <a:prstDash val="solid"/>
            <a:round/>
            <a:headEnd type="none" w="med" len="med"/>
            <a:tailEnd type="none" w="med" len="me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en-US" altLang="zh-TW" sz="1400" b="1" dirty="0">
              <a:solidFill>
                <a:srgbClr val="FF0000"/>
              </a:solidFill>
              <a:ea typeface="新細明體" panose="02020500000000000000" pitchFamily="18" charset="-120"/>
            </a:endParaRPr>
          </a:p>
          <a:p>
            <a:pPr algn="ctr">
              <a:defRPr/>
            </a:pPr>
            <a:r>
              <a:rPr lang="en-US" altLang="zh-TW" sz="2000" b="1" dirty="0">
                <a:solidFill>
                  <a:srgbClr val="FF0000"/>
                </a:solidFill>
                <a:ea typeface="新細明體" panose="02020500000000000000" pitchFamily="18" charset="-120"/>
              </a:rPr>
              <a:t>LLVM </a:t>
            </a:r>
          </a:p>
          <a:p>
            <a:pPr algn="ctr">
              <a:defRPr/>
            </a:pPr>
            <a:endParaRPr lang="en-US" altLang="zh-TW" sz="2000" b="1" dirty="0">
              <a:solidFill>
                <a:srgbClr val="FF0000"/>
              </a:solidFill>
              <a:ea typeface="新細明體" panose="02020500000000000000" pitchFamily="18" charset="-120"/>
            </a:endParaRPr>
          </a:p>
          <a:p>
            <a:pPr algn="ctr">
              <a:defRPr/>
            </a:pPr>
            <a:r>
              <a:rPr lang="en-US" altLang="zh-TW" sz="2000" b="1" dirty="0">
                <a:solidFill>
                  <a:srgbClr val="FF0000"/>
                </a:solidFill>
                <a:ea typeface="新細明體" panose="02020500000000000000" pitchFamily="18" charset="-120"/>
              </a:rPr>
              <a:t>IR</a:t>
            </a:r>
            <a:endParaRPr lang="zh-TW" altLang="en-US" sz="2000" b="1" dirty="0">
              <a:solidFill>
                <a:srgbClr val="FF0000"/>
              </a:solidFill>
              <a:ea typeface="新細明體" panose="02020500000000000000" pitchFamily="18" charset="-120"/>
            </a:endParaRPr>
          </a:p>
        </p:txBody>
      </p:sp>
      <p:cxnSp>
        <p:nvCxnSpPr>
          <p:cNvPr id="62473" name="Straight Connector 28"/>
          <p:cNvCxnSpPr>
            <a:cxnSpLocks noChangeShapeType="1"/>
          </p:cNvCxnSpPr>
          <p:nvPr/>
        </p:nvCxnSpPr>
        <p:spPr bwMode="auto">
          <a:xfrm>
            <a:off x="3124200" y="1866900"/>
            <a:ext cx="404813" cy="12573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62474" name="Straight Connector 42"/>
          <p:cNvCxnSpPr>
            <a:cxnSpLocks noChangeShapeType="1"/>
            <a:endCxn id="62467" idx="1"/>
          </p:cNvCxnSpPr>
          <p:nvPr/>
        </p:nvCxnSpPr>
        <p:spPr bwMode="auto">
          <a:xfrm flipV="1">
            <a:off x="5454650" y="1771650"/>
            <a:ext cx="665163" cy="1404938"/>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62475" name="Straight Connector 45"/>
          <p:cNvCxnSpPr>
            <a:cxnSpLocks noChangeShapeType="1"/>
          </p:cNvCxnSpPr>
          <p:nvPr/>
        </p:nvCxnSpPr>
        <p:spPr bwMode="auto">
          <a:xfrm flipV="1">
            <a:off x="5467350" y="3178175"/>
            <a:ext cx="665163" cy="3048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62476" name="Straight Connector 48"/>
          <p:cNvCxnSpPr>
            <a:cxnSpLocks noChangeShapeType="1"/>
            <a:endCxn id="62469" idx="1"/>
          </p:cNvCxnSpPr>
          <p:nvPr/>
        </p:nvCxnSpPr>
        <p:spPr bwMode="auto">
          <a:xfrm>
            <a:off x="5500688" y="3790950"/>
            <a:ext cx="665162" cy="70485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cxnSp>
        <p:nvCxnSpPr>
          <p:cNvPr id="62477" name="Straight Connector 50"/>
          <p:cNvCxnSpPr>
            <a:cxnSpLocks noChangeShapeType="1"/>
            <a:endCxn id="62470" idx="1"/>
          </p:cNvCxnSpPr>
          <p:nvPr/>
        </p:nvCxnSpPr>
        <p:spPr bwMode="auto">
          <a:xfrm>
            <a:off x="5467350" y="4343400"/>
            <a:ext cx="665163" cy="14478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sp>
        <p:nvSpPr>
          <p:cNvPr id="62478" name="Rectangle 5"/>
          <p:cNvSpPr>
            <a:spLocks noChangeArrowheads="1"/>
          </p:cNvSpPr>
          <p:nvPr/>
        </p:nvSpPr>
        <p:spPr bwMode="auto">
          <a:xfrm>
            <a:off x="228600" y="2686050"/>
            <a:ext cx="2863850" cy="10287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dragonegg</a:t>
            </a:r>
            <a:r>
              <a:rPr lang="en-US" altLang="zh-TW" sz="2400">
                <a:solidFill>
                  <a:srgbClr val="FF0000"/>
                </a:solidFill>
                <a:ea typeface="新細明體" panose="02020500000000000000" pitchFamily="18" charset="-120"/>
              </a:rPr>
              <a:t> </a:t>
            </a:r>
          </a:p>
          <a:p>
            <a:pPr algn="ctr">
              <a:spcBef>
                <a:spcPct val="0"/>
              </a:spcBef>
              <a:buClrTx/>
              <a:buSzTx/>
              <a:buFontTx/>
              <a:buNone/>
            </a:pPr>
            <a:r>
              <a:rPr lang="en-US" altLang="zh-TW" sz="1800">
                <a:solidFill>
                  <a:srgbClr val="FF0000"/>
                </a:solidFill>
                <a:ea typeface="新細明體" panose="02020500000000000000" pitchFamily="18" charset="-120"/>
              </a:rPr>
              <a:t>(GCC tool chain)</a:t>
            </a:r>
          </a:p>
          <a:p>
            <a:pPr algn="ctr">
              <a:spcBef>
                <a:spcPct val="0"/>
              </a:spcBef>
              <a:buClrTx/>
              <a:buSzTx/>
              <a:buFontTx/>
              <a:buNone/>
            </a:pPr>
            <a:r>
              <a:rPr lang="en-US" altLang="zh-TW" sz="1800">
                <a:solidFill>
                  <a:srgbClr val="FF0000"/>
                </a:solidFill>
                <a:ea typeface="新細明體" panose="02020500000000000000" pitchFamily="18" charset="-120"/>
              </a:rPr>
              <a:t>(Fortran/Ada/OpenMP/…)</a:t>
            </a:r>
            <a:endParaRPr lang="zh-TW" altLang="en-US" sz="1800">
              <a:solidFill>
                <a:srgbClr val="FF0000"/>
              </a:solidFill>
              <a:ea typeface="新細明體" panose="02020500000000000000" pitchFamily="18" charset="-120"/>
            </a:endParaRPr>
          </a:p>
        </p:txBody>
      </p:sp>
      <p:cxnSp>
        <p:nvCxnSpPr>
          <p:cNvPr id="62479" name="Straight Connector 28"/>
          <p:cNvCxnSpPr>
            <a:cxnSpLocks noChangeShapeType="1"/>
            <a:stCxn id="62478" idx="3"/>
          </p:cNvCxnSpPr>
          <p:nvPr/>
        </p:nvCxnSpPr>
        <p:spPr bwMode="auto">
          <a:xfrm>
            <a:off x="3092450" y="3200400"/>
            <a:ext cx="381000" cy="30480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sp>
        <p:nvSpPr>
          <p:cNvPr id="62480" name="Rectangle 5"/>
          <p:cNvSpPr>
            <a:spLocks noChangeArrowheads="1"/>
          </p:cNvSpPr>
          <p:nvPr/>
        </p:nvSpPr>
        <p:spPr bwMode="auto">
          <a:xfrm>
            <a:off x="228600" y="3981450"/>
            <a:ext cx="2863850" cy="1028700"/>
          </a:xfrm>
          <a:prstGeom prst="rect">
            <a:avLst/>
          </a:prstGeom>
          <a:solidFill>
            <a:srgbClr val="FFFF00"/>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a:spcBef>
                <a:spcPct val="0"/>
              </a:spcBef>
              <a:buClrTx/>
              <a:buSzTx/>
              <a:buFontTx/>
              <a:buNone/>
            </a:pPr>
            <a:r>
              <a:rPr lang="en-US" altLang="zh-TW" sz="2400" b="1">
                <a:solidFill>
                  <a:srgbClr val="FF0000"/>
                </a:solidFill>
                <a:ea typeface="新細明體" panose="02020500000000000000" pitchFamily="18" charset="-120"/>
              </a:rPr>
              <a:t>Others</a:t>
            </a:r>
            <a:r>
              <a:rPr lang="en-US" altLang="zh-TW" sz="2400">
                <a:solidFill>
                  <a:srgbClr val="FF0000"/>
                </a:solidFill>
                <a:ea typeface="新細明體" panose="02020500000000000000" pitchFamily="18" charset="-120"/>
              </a:rPr>
              <a:t> </a:t>
            </a:r>
            <a:endParaRPr lang="en-US" altLang="zh-TW" sz="1800">
              <a:solidFill>
                <a:srgbClr val="FF0000"/>
              </a:solidFill>
              <a:ea typeface="新細明體" panose="02020500000000000000" pitchFamily="18" charset="-120"/>
            </a:endParaRPr>
          </a:p>
          <a:p>
            <a:pPr algn="ctr">
              <a:spcBef>
                <a:spcPct val="0"/>
              </a:spcBef>
              <a:buClrTx/>
              <a:buSzTx/>
              <a:buFontTx/>
              <a:buNone/>
            </a:pPr>
            <a:r>
              <a:rPr lang="en-US" altLang="zh-TW" sz="1800">
                <a:solidFill>
                  <a:srgbClr val="FF0000"/>
                </a:solidFill>
                <a:ea typeface="新細明體" panose="02020500000000000000" pitchFamily="18" charset="-120"/>
              </a:rPr>
              <a:t>(Java, C#, Haskell, Ruby, Python, Rust,…) </a:t>
            </a:r>
            <a:endParaRPr lang="zh-TW" altLang="en-US" sz="1800">
              <a:solidFill>
                <a:srgbClr val="FF0000"/>
              </a:solidFill>
              <a:ea typeface="新細明體" panose="02020500000000000000" pitchFamily="18" charset="-120"/>
            </a:endParaRPr>
          </a:p>
        </p:txBody>
      </p:sp>
      <p:cxnSp>
        <p:nvCxnSpPr>
          <p:cNvPr id="62481" name="Straight Connector 28"/>
          <p:cNvCxnSpPr>
            <a:cxnSpLocks noChangeShapeType="1"/>
            <a:stCxn id="62480" idx="3"/>
            <a:endCxn id="2" idx="1"/>
          </p:cNvCxnSpPr>
          <p:nvPr/>
        </p:nvCxnSpPr>
        <p:spPr bwMode="auto">
          <a:xfrm flipV="1">
            <a:off x="3092450" y="3790950"/>
            <a:ext cx="431800" cy="704850"/>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sp>
        <p:nvSpPr>
          <p:cNvPr id="30" name="Rectangle 5"/>
          <p:cNvSpPr>
            <a:spLocks noChangeArrowheads="1"/>
          </p:cNvSpPr>
          <p:nvPr/>
        </p:nvSpPr>
        <p:spPr bwMode="auto">
          <a:xfrm>
            <a:off x="673100" y="5486400"/>
            <a:ext cx="2073275" cy="717550"/>
          </a:xfrm>
          <a:prstGeom prst="rect">
            <a:avLst/>
          </a:prstGeom>
          <a:solidFill>
            <a:schemeClr val="accent2">
              <a:lumMod val="20000"/>
              <a:lumOff val="80000"/>
            </a:schemeClr>
          </a:solidFill>
          <a:ln w="127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a:spcBef>
                <a:spcPct val="0"/>
              </a:spcBef>
              <a:buClrTx/>
              <a:buSzTx/>
              <a:buFontTx/>
              <a:buNone/>
              <a:defRPr/>
            </a:pPr>
            <a:r>
              <a:rPr lang="en-US" altLang="zh-TW" sz="2400" b="1">
                <a:solidFill>
                  <a:srgbClr val="FF0000"/>
                </a:solidFill>
                <a:ea typeface="新細明體" panose="02020500000000000000" pitchFamily="18" charset="-120"/>
              </a:rPr>
              <a:t>LLBT</a:t>
            </a:r>
            <a:r>
              <a:rPr lang="en-US" altLang="zh-TW" sz="2400">
                <a:solidFill>
                  <a:srgbClr val="FF0000"/>
                </a:solidFill>
                <a:ea typeface="新細明體" panose="02020500000000000000" pitchFamily="18" charset="-120"/>
              </a:rPr>
              <a:t> </a:t>
            </a:r>
            <a:endParaRPr lang="en-US" altLang="zh-TW" sz="1800">
              <a:solidFill>
                <a:srgbClr val="FF0000"/>
              </a:solidFill>
              <a:ea typeface="新細明體" panose="02020500000000000000" pitchFamily="18" charset="-120"/>
            </a:endParaRPr>
          </a:p>
          <a:p>
            <a:pPr algn="ctr">
              <a:spcBef>
                <a:spcPct val="0"/>
              </a:spcBef>
              <a:buClrTx/>
              <a:buSzTx/>
              <a:buFontTx/>
              <a:buNone/>
              <a:defRPr/>
            </a:pPr>
            <a:r>
              <a:rPr lang="en-US" altLang="zh-TW" sz="1800">
                <a:solidFill>
                  <a:srgbClr val="FF0000"/>
                </a:solidFill>
                <a:ea typeface="新細明體" panose="02020500000000000000" pitchFamily="18" charset="-120"/>
              </a:rPr>
              <a:t>( Arm, x86, …) </a:t>
            </a:r>
            <a:endParaRPr lang="zh-TW" altLang="en-US" sz="1800">
              <a:solidFill>
                <a:srgbClr val="FF0000"/>
              </a:solidFill>
              <a:ea typeface="新細明體" panose="02020500000000000000" pitchFamily="18" charset="-120"/>
            </a:endParaRPr>
          </a:p>
        </p:txBody>
      </p:sp>
      <p:cxnSp>
        <p:nvCxnSpPr>
          <p:cNvPr id="62483" name="Straight Connector 28"/>
          <p:cNvCxnSpPr>
            <a:cxnSpLocks noChangeShapeType="1"/>
            <a:stCxn id="30" idx="3"/>
          </p:cNvCxnSpPr>
          <p:nvPr/>
        </p:nvCxnSpPr>
        <p:spPr bwMode="auto">
          <a:xfrm flipV="1">
            <a:off x="2746375" y="4171950"/>
            <a:ext cx="782638" cy="1673225"/>
          </a:xfrm>
          <a:prstGeom prst="line">
            <a:avLst/>
          </a:prstGeom>
          <a:noFill/>
          <a:ln w="28575" algn="ctr">
            <a:solidFill>
              <a:srgbClr val="FFFF00"/>
            </a:solidFill>
            <a:round/>
            <a:headEnd/>
            <a:tailEnd/>
          </a:ln>
          <a:extLst>
            <a:ext uri="{909E8E84-426E-40DD-AFC4-6F175D3DCCD1}">
              <a14:hiddenFill xmlns:a14="http://schemas.microsoft.com/office/drawing/2010/main">
                <a:noFill/>
              </a14:hiddenFill>
            </a:ext>
          </a:extLst>
        </p:spPr>
      </p:cxnSp>
      <p:sp>
        <p:nvSpPr>
          <p:cNvPr id="24" name="Rounded Rectangle 23"/>
          <p:cNvSpPr/>
          <p:nvPr/>
        </p:nvSpPr>
        <p:spPr bwMode="auto">
          <a:xfrm>
            <a:off x="4572000" y="2995613"/>
            <a:ext cx="877888" cy="1600200"/>
          </a:xfrm>
          <a:prstGeom prst="roundRect">
            <a:avLst/>
          </a:prstGeom>
          <a:solidFill>
            <a:schemeClr val="accent6">
              <a:lumMod val="40000"/>
              <a:lumOff val="60000"/>
            </a:schemeClr>
          </a:solidFill>
          <a:ln w="9525" cap="flat" cmpd="sng" algn="ctr">
            <a:solidFill>
              <a:srgbClr val="FF0000"/>
            </a:solidFill>
            <a:prstDash val="solid"/>
            <a:round/>
            <a:headEnd type="none" w="med" len="med"/>
            <a:tailEnd type="none" w="med" len="me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en-US" altLang="zh-TW" sz="1400" b="1" dirty="0">
              <a:solidFill>
                <a:srgbClr val="FF0000"/>
              </a:solidFill>
              <a:ea typeface="新細明體" panose="02020500000000000000" pitchFamily="18" charset="-120"/>
            </a:endParaRPr>
          </a:p>
          <a:p>
            <a:pPr algn="ctr">
              <a:defRPr/>
            </a:pPr>
            <a:r>
              <a:rPr lang="en-US" altLang="zh-TW" sz="2000" b="1" dirty="0" err="1">
                <a:solidFill>
                  <a:srgbClr val="FF0000"/>
                </a:solidFill>
                <a:ea typeface="新細明體" panose="02020500000000000000" pitchFamily="18" charset="-120"/>
              </a:rPr>
              <a:t>Ind</a:t>
            </a:r>
            <a:endParaRPr lang="en-US" altLang="zh-TW" sz="2000" b="1" dirty="0">
              <a:solidFill>
                <a:srgbClr val="FF0000"/>
              </a:solidFill>
              <a:ea typeface="新細明體" panose="02020500000000000000" pitchFamily="18" charset="-120"/>
            </a:endParaRPr>
          </a:p>
          <a:p>
            <a:pPr algn="ctr">
              <a:defRPr/>
            </a:pPr>
            <a:endParaRPr lang="en-US" altLang="zh-TW" sz="2000" b="1" dirty="0">
              <a:solidFill>
                <a:srgbClr val="FF0000"/>
              </a:solidFill>
              <a:ea typeface="新細明體" panose="02020500000000000000" pitchFamily="18" charset="-120"/>
            </a:endParaRPr>
          </a:p>
          <a:p>
            <a:pPr algn="ctr">
              <a:defRPr/>
            </a:pPr>
            <a:r>
              <a:rPr lang="en-US" altLang="zh-TW" sz="2000" b="1" dirty="0">
                <a:solidFill>
                  <a:srgbClr val="FF0000"/>
                </a:solidFill>
                <a:ea typeface="新細明體" panose="02020500000000000000" pitchFamily="18" charset="-120"/>
              </a:rPr>
              <a:t>Opt</a:t>
            </a:r>
            <a:endParaRPr lang="zh-TW" altLang="en-US" sz="2000" b="1" dirty="0">
              <a:solidFill>
                <a:srgbClr val="FF0000"/>
              </a:solidFill>
              <a:ea typeface="新細明體" panose="02020500000000000000" pitchFamily="18" charset="-120"/>
            </a:endParaRPr>
          </a:p>
        </p:txBody>
      </p:sp>
      <p:sp>
        <p:nvSpPr>
          <p:cNvPr id="3" name="頁尾版面配置區 2"/>
          <p:cNvSpPr>
            <a:spLocks noGrp="1"/>
          </p:cNvSpPr>
          <p:nvPr>
            <p:ph type="ftr" sz="quarter" idx="10"/>
          </p:nvPr>
        </p:nvSpPr>
        <p:spPr/>
        <p:txBody>
          <a:bodyPr/>
          <a:lstStyle/>
          <a:p>
            <a:pPr>
              <a:defRPr/>
            </a:pPr>
            <a:r>
              <a:rPr lang="en-US" altLang="zh-TW"/>
              <a:t>Department of Electrical Engineering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55686BC9-1F63-41E6-B957-5A9DD7CA6954}" type="slidenum">
              <a:rPr lang="zh-TW" altLang="en-US" sz="1200" smtClean="0"/>
              <a:pPr>
                <a:spcBef>
                  <a:spcPct val="0"/>
                </a:spcBef>
                <a:buClrTx/>
                <a:buSzTx/>
                <a:buFontTx/>
                <a:buNone/>
                <a:defRPr/>
              </a:pPr>
              <a:t>35</a:t>
            </a:fld>
            <a:endParaRPr lang="en-US" altLang="zh-TW" sz="1200"/>
          </a:p>
        </p:txBody>
      </p:sp>
      <p:sp>
        <p:nvSpPr>
          <p:cNvPr id="196610" name="Rectangle 2"/>
          <p:cNvSpPr>
            <a:spLocks noGrp="1" noChangeArrowheads="1"/>
          </p:cNvSpPr>
          <p:nvPr>
            <p:ph type="title"/>
          </p:nvPr>
        </p:nvSpPr>
        <p:spPr>
          <a:xfrm>
            <a:off x="457200" y="95250"/>
            <a:ext cx="8229600" cy="788988"/>
          </a:xfrm>
        </p:spPr>
        <p:txBody>
          <a:bodyPr/>
          <a:lstStyle/>
          <a:p>
            <a:pPr eaLnBrk="1" hangingPunct="1">
              <a:defRPr/>
            </a:pPr>
            <a:r>
              <a:rPr lang="en-US" altLang="zh-TW" sz="3600" dirty="0">
                <a:ea typeface="新細明體" pitchFamily="18" charset="-120"/>
              </a:rPr>
              <a:t>Syntax and Semantics</a:t>
            </a:r>
          </a:p>
        </p:txBody>
      </p:sp>
      <p:sp>
        <p:nvSpPr>
          <p:cNvPr id="196611" name="Rectangle 3"/>
          <p:cNvSpPr>
            <a:spLocks noGrp="1" noChangeArrowheads="1"/>
          </p:cNvSpPr>
          <p:nvPr>
            <p:ph type="body" idx="1"/>
          </p:nvPr>
        </p:nvSpPr>
        <p:spPr>
          <a:xfrm>
            <a:off x="304800" y="884238"/>
            <a:ext cx="8610600" cy="5211762"/>
          </a:xfrm>
        </p:spPr>
        <p:txBody>
          <a:bodyPr/>
          <a:lstStyle/>
          <a:p>
            <a:pPr eaLnBrk="1" hangingPunct="1">
              <a:lnSpc>
                <a:spcPct val="90000"/>
              </a:lnSpc>
              <a:defRPr/>
            </a:pPr>
            <a:r>
              <a:rPr lang="en-US" altLang="zh-TW" sz="2800" dirty="0">
                <a:ea typeface="新細明體" panose="02020500000000000000" pitchFamily="18" charset="-120"/>
              </a:rPr>
              <a:t>A complete definition of a PL includes specification of its </a:t>
            </a:r>
            <a:r>
              <a:rPr lang="en-US" altLang="zh-TW" sz="2800" b="1" i="1" dirty="0">
                <a:solidFill>
                  <a:srgbClr val="FFFB3B"/>
                </a:solidFill>
                <a:ea typeface="新細明體" panose="02020500000000000000" pitchFamily="18" charset="-120"/>
              </a:rPr>
              <a:t>syntax</a:t>
            </a:r>
            <a:r>
              <a:rPr lang="en-US" altLang="zh-TW" sz="2800" dirty="0">
                <a:ea typeface="新細明體" panose="02020500000000000000" pitchFamily="18" charset="-120"/>
              </a:rPr>
              <a:t> (structure) and </a:t>
            </a:r>
            <a:r>
              <a:rPr lang="en-US" altLang="zh-TW" sz="2800" b="1" i="1" dirty="0">
                <a:solidFill>
                  <a:srgbClr val="FFFB3B"/>
                </a:solidFill>
                <a:ea typeface="新細明體" panose="02020500000000000000" pitchFamily="18" charset="-120"/>
              </a:rPr>
              <a:t>semantics</a:t>
            </a:r>
            <a:r>
              <a:rPr lang="en-US" altLang="zh-TW" sz="2800" dirty="0">
                <a:ea typeface="新細明體" panose="02020500000000000000" pitchFamily="18" charset="-120"/>
              </a:rPr>
              <a:t> (meaning)</a:t>
            </a:r>
          </a:p>
          <a:p>
            <a:pPr eaLnBrk="1" hangingPunct="1">
              <a:lnSpc>
                <a:spcPct val="90000"/>
              </a:lnSpc>
              <a:defRPr/>
            </a:pPr>
            <a:r>
              <a:rPr lang="en-US" altLang="zh-TW" sz="2400" b="1" dirty="0">
                <a:solidFill>
                  <a:srgbClr val="FFFF00"/>
                </a:solidFill>
                <a:ea typeface="新細明體" panose="02020500000000000000" pitchFamily="18" charset="-120"/>
              </a:rPr>
              <a:t>Syntax</a:t>
            </a:r>
          </a:p>
          <a:p>
            <a:pPr eaLnBrk="1" hangingPunct="1">
              <a:lnSpc>
                <a:spcPct val="90000"/>
              </a:lnSpc>
              <a:buFont typeface="Wingdings" panose="05000000000000000000" pitchFamily="2" charset="2"/>
              <a:buNone/>
              <a:defRPr/>
            </a:pPr>
            <a:r>
              <a:rPr lang="en-US" altLang="zh-TW" sz="2400" dirty="0">
                <a:ea typeface="新細明體" panose="02020500000000000000" pitchFamily="18" charset="-120"/>
              </a:rPr>
              <a:t>    Syntax is usually defined by CFG (</a:t>
            </a:r>
            <a:r>
              <a:rPr lang="en-US" altLang="zh-TW" sz="2400" i="1" dirty="0">
                <a:solidFill>
                  <a:srgbClr val="FFFF00"/>
                </a:solidFill>
                <a:ea typeface="新細明體" panose="02020500000000000000" pitchFamily="18" charset="-120"/>
              </a:rPr>
              <a:t>context free </a:t>
            </a:r>
            <a:r>
              <a:rPr lang="en-US" altLang="zh-TW" sz="2400" dirty="0">
                <a:ea typeface="新細明體" panose="02020500000000000000" pitchFamily="18" charset="-120"/>
              </a:rPr>
              <a:t>grammar)</a:t>
            </a:r>
          </a:p>
          <a:p>
            <a:pPr eaLnBrk="1" hangingPunct="1">
              <a:lnSpc>
                <a:spcPct val="90000"/>
              </a:lnSpc>
              <a:buFont typeface="Wingdings" panose="05000000000000000000" pitchFamily="2" charset="2"/>
              <a:buNone/>
              <a:defRPr/>
            </a:pPr>
            <a:r>
              <a:rPr lang="en-US" altLang="zh-TW" sz="2400" dirty="0">
                <a:ea typeface="新細明體" panose="02020500000000000000" pitchFamily="18" charset="-120"/>
              </a:rPr>
              <a:t>	e.g. A := B+C; is legal, A:=B+; is not.</a:t>
            </a:r>
          </a:p>
          <a:p>
            <a:pPr eaLnBrk="1" hangingPunct="1">
              <a:lnSpc>
                <a:spcPct val="90000"/>
              </a:lnSpc>
              <a:buFont typeface="Wingdings" panose="05000000000000000000" pitchFamily="2" charset="2"/>
              <a:buNone/>
              <a:defRPr/>
            </a:pPr>
            <a:r>
              <a:rPr lang="en-US" altLang="zh-TW" sz="2400" dirty="0">
                <a:ea typeface="新細明體" panose="02020500000000000000" pitchFamily="18" charset="-120"/>
              </a:rPr>
              <a:t>     CFG example:</a:t>
            </a:r>
          </a:p>
          <a:p>
            <a:pPr eaLnBrk="1" hangingPunct="1">
              <a:lnSpc>
                <a:spcPct val="90000"/>
              </a:lnSpc>
              <a:buFont typeface="Wingdings" panose="05000000000000000000" pitchFamily="2" charset="2"/>
              <a:buNone/>
              <a:defRPr/>
            </a:pPr>
            <a:r>
              <a:rPr lang="en-US" altLang="zh-TW" sz="2400" dirty="0">
                <a:ea typeface="新細明體" panose="02020500000000000000" pitchFamily="18" charset="-120"/>
              </a:rPr>
              <a:t>		&lt;</a:t>
            </a:r>
            <a:r>
              <a:rPr lang="en-US" altLang="zh-TW" sz="2400" dirty="0" err="1">
                <a:ea typeface="新細明體" panose="02020500000000000000" pitchFamily="18" charset="-120"/>
              </a:rPr>
              <a:t>exp</a:t>
            </a:r>
            <a:r>
              <a:rPr lang="en-US" altLang="zh-TW" sz="2400" dirty="0">
                <a:ea typeface="新細明體" panose="02020500000000000000" pitchFamily="18" charset="-120"/>
              </a:rPr>
              <a:t>&gt; </a:t>
            </a:r>
            <a:r>
              <a:rPr lang="en-US" altLang="zh-TW" sz="2400" dirty="0">
                <a:ea typeface="新細明體" panose="02020500000000000000" pitchFamily="18" charset="-120"/>
                <a:sym typeface="Wingdings" panose="05000000000000000000" pitchFamily="2" charset="2"/>
              </a:rPr>
              <a:t> &lt;</a:t>
            </a:r>
            <a:r>
              <a:rPr lang="en-US" altLang="zh-TW" sz="2400" dirty="0" err="1">
                <a:ea typeface="新細明體" panose="02020500000000000000" pitchFamily="18" charset="-120"/>
                <a:sym typeface="Wingdings" panose="05000000000000000000" pitchFamily="2" charset="2"/>
              </a:rPr>
              <a:t>exp</a:t>
            </a:r>
            <a:r>
              <a:rPr lang="en-US" altLang="zh-TW" sz="2400" dirty="0">
                <a:ea typeface="新細明體" panose="02020500000000000000" pitchFamily="18" charset="-120"/>
                <a:sym typeface="Wingdings" panose="05000000000000000000" pitchFamily="2" charset="2"/>
              </a:rPr>
              <a:t>&gt; + identifier</a:t>
            </a:r>
          </a:p>
          <a:p>
            <a:pPr eaLnBrk="1" hangingPunct="1">
              <a:lnSpc>
                <a:spcPct val="90000"/>
              </a:lnSpc>
              <a:buFont typeface="Wingdings" panose="05000000000000000000" pitchFamily="2" charset="2"/>
              <a:buNone/>
              <a:defRPr/>
            </a:pPr>
            <a:r>
              <a:rPr lang="en-US" altLang="zh-TW" sz="2400" dirty="0">
                <a:ea typeface="新細明體" panose="02020500000000000000" pitchFamily="18" charset="-120"/>
                <a:sym typeface="Wingdings" panose="05000000000000000000" pitchFamily="2" charset="2"/>
              </a:rPr>
              <a:t>	 B+C, A+D, A+B+C, … are valid expressions</a:t>
            </a:r>
            <a:endParaRPr lang="en-US" altLang="zh-TW" sz="2400" dirty="0">
              <a:ea typeface="新細明體" panose="02020500000000000000" pitchFamily="18" charset="-120"/>
            </a:endParaRPr>
          </a:p>
          <a:p>
            <a:pPr eaLnBrk="1" hangingPunct="1">
              <a:lnSpc>
                <a:spcPct val="90000"/>
              </a:lnSpc>
              <a:defRPr/>
            </a:pPr>
            <a:r>
              <a:rPr lang="en-US" altLang="zh-TW" sz="2400" b="1" dirty="0">
                <a:solidFill>
                  <a:srgbClr val="FFFF00"/>
                </a:solidFill>
                <a:ea typeface="新細明體" panose="02020500000000000000" pitchFamily="18" charset="-120"/>
              </a:rPr>
              <a:t>Semantics </a:t>
            </a:r>
          </a:p>
          <a:p>
            <a:pPr marL="0" indent="0" eaLnBrk="1" hangingPunct="1">
              <a:lnSpc>
                <a:spcPct val="90000"/>
              </a:lnSpc>
              <a:buFont typeface="Wingdings" panose="05000000000000000000" pitchFamily="2" charset="2"/>
              <a:buNone/>
              <a:defRPr/>
            </a:pPr>
            <a:r>
              <a:rPr lang="en-US" altLang="zh-TW" sz="2400" b="1" dirty="0">
                <a:solidFill>
                  <a:srgbClr val="FFFF00"/>
                </a:solidFill>
                <a:ea typeface="新細明體" panose="02020500000000000000" pitchFamily="18" charset="-120"/>
              </a:rPr>
              <a:t>    </a:t>
            </a:r>
            <a:r>
              <a:rPr lang="en-US" altLang="zh-TW" sz="2400" dirty="0">
                <a:ea typeface="新細明體" panose="02020500000000000000" pitchFamily="18" charset="-120"/>
              </a:rPr>
              <a:t>Many important language features such as type    </a:t>
            </a:r>
          </a:p>
          <a:p>
            <a:pPr marL="0" indent="0" eaLnBrk="1" hangingPunct="1">
              <a:lnSpc>
                <a:spcPct val="90000"/>
              </a:lnSpc>
              <a:buFont typeface="Wingdings" panose="05000000000000000000" pitchFamily="2" charset="2"/>
              <a:buNone/>
              <a:defRPr/>
            </a:pPr>
            <a:r>
              <a:rPr lang="en-US" altLang="zh-TW" sz="2400" dirty="0">
                <a:ea typeface="新細明體" panose="02020500000000000000" pitchFamily="18" charset="-120"/>
              </a:rPr>
              <a:t>    compatibility and scoping rules are </a:t>
            </a:r>
            <a:r>
              <a:rPr lang="en-US" altLang="zh-TW" sz="2400" i="1" dirty="0">
                <a:solidFill>
                  <a:srgbClr val="FFFF00"/>
                </a:solidFill>
                <a:ea typeface="新細明體" panose="02020500000000000000" pitchFamily="18" charset="-120"/>
              </a:rPr>
              <a:t>context-sensitive</a:t>
            </a:r>
            <a:r>
              <a:rPr lang="en-US" altLang="zh-TW" sz="2400" dirty="0">
                <a:ea typeface="新細明體" panose="02020500000000000000" pitchFamily="18" charset="-120"/>
              </a:rPr>
              <a:t>.</a:t>
            </a:r>
          </a:p>
          <a:p>
            <a:pPr eaLnBrk="1" hangingPunct="1">
              <a:lnSpc>
                <a:spcPct val="90000"/>
              </a:lnSpc>
              <a:buFont typeface="Wingdings" panose="05000000000000000000" pitchFamily="2" charset="2"/>
              <a:buNone/>
              <a:defRPr/>
            </a:pPr>
            <a:r>
              <a:rPr lang="en-US" altLang="zh-TW" sz="2400" dirty="0">
                <a:ea typeface="新細明體" panose="02020500000000000000" pitchFamily="18" charset="-120"/>
              </a:rPr>
              <a:t>	e.g. A:=B+C; is legal when all variables are declared, are not </a:t>
            </a:r>
            <a:r>
              <a:rPr lang="en-US" altLang="zh-TW" sz="2400" dirty="0" err="1">
                <a:ea typeface="新細明體" panose="02020500000000000000" pitchFamily="18" charset="-120"/>
              </a:rPr>
              <a:t>boolean</a:t>
            </a:r>
            <a:r>
              <a:rPr lang="en-US" altLang="zh-TW" sz="2400" dirty="0">
                <a:ea typeface="新細明體" panose="02020500000000000000" pitchFamily="18" charset="-120"/>
              </a:rPr>
              <a:t> or structure type, and are type compatible</a:t>
            </a:r>
          </a:p>
          <a:p>
            <a:pPr eaLnBrk="1" hangingPunct="1">
              <a:lnSpc>
                <a:spcPct val="90000"/>
              </a:lnSpc>
              <a:buFont typeface="Wingdings" panose="05000000000000000000" pitchFamily="2" charset="2"/>
              <a:buNone/>
              <a:defRPr/>
            </a:pPr>
            <a:endParaRPr lang="en-US" altLang="zh-TW" sz="2400" dirty="0">
              <a:ea typeface="新細明體" panose="02020500000000000000" pitchFamily="18" charset="-12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7E2410AA-0408-41AD-818D-0CAEF8B708D2}" type="slidenum">
              <a:rPr lang="zh-TW" altLang="en-US" sz="1200" smtClean="0"/>
              <a:pPr>
                <a:spcBef>
                  <a:spcPct val="0"/>
                </a:spcBef>
                <a:buClrTx/>
                <a:buSzTx/>
                <a:buFontTx/>
                <a:buNone/>
                <a:defRPr/>
              </a:pPr>
              <a:t>36</a:t>
            </a:fld>
            <a:endParaRPr lang="en-US" altLang="zh-TW" sz="1200"/>
          </a:p>
        </p:txBody>
      </p:sp>
      <p:sp>
        <p:nvSpPr>
          <p:cNvPr id="196610" name="Rectangle 2"/>
          <p:cNvSpPr>
            <a:spLocks noGrp="1" noChangeArrowheads="1"/>
          </p:cNvSpPr>
          <p:nvPr>
            <p:ph type="title"/>
          </p:nvPr>
        </p:nvSpPr>
        <p:spPr>
          <a:xfrm>
            <a:off x="457200" y="277813"/>
            <a:ext cx="8229600" cy="788987"/>
          </a:xfrm>
        </p:spPr>
        <p:txBody>
          <a:bodyPr/>
          <a:lstStyle/>
          <a:p>
            <a:pPr eaLnBrk="1" hangingPunct="1">
              <a:defRPr/>
            </a:pPr>
            <a:r>
              <a:rPr lang="en-US" altLang="zh-TW" sz="3600" dirty="0">
                <a:ea typeface="新細明體" pitchFamily="18" charset="-120"/>
              </a:rPr>
              <a:t>Static Semantics</a:t>
            </a:r>
          </a:p>
        </p:txBody>
      </p:sp>
      <p:sp>
        <p:nvSpPr>
          <p:cNvPr id="196611" name="Rectangle 3"/>
          <p:cNvSpPr>
            <a:spLocks noGrp="1" noChangeArrowheads="1"/>
          </p:cNvSpPr>
          <p:nvPr>
            <p:ph type="body" idx="1"/>
          </p:nvPr>
        </p:nvSpPr>
        <p:spPr>
          <a:xfrm>
            <a:off x="457200" y="1143000"/>
            <a:ext cx="8458200" cy="4953000"/>
          </a:xfrm>
        </p:spPr>
        <p:txBody>
          <a:bodyPr/>
          <a:lstStyle/>
          <a:p>
            <a:pPr eaLnBrk="1" hangingPunct="1">
              <a:lnSpc>
                <a:spcPct val="90000"/>
              </a:lnSpc>
              <a:defRPr/>
            </a:pPr>
            <a:r>
              <a:rPr lang="en-US" altLang="zh-TW" sz="2400" dirty="0">
                <a:ea typeface="新細明體" panose="02020500000000000000" pitchFamily="18" charset="-120"/>
              </a:rPr>
              <a:t>Static semantics provide a set of rules which syntactically legal programs are actually valid, such as type rules. </a:t>
            </a:r>
          </a:p>
          <a:p>
            <a:pPr eaLnBrk="1" hangingPunct="1">
              <a:lnSpc>
                <a:spcPct val="90000"/>
              </a:lnSpc>
              <a:buFont typeface="Wingdings" panose="05000000000000000000" pitchFamily="2" charset="2"/>
              <a:buNone/>
              <a:defRPr/>
            </a:pPr>
            <a:r>
              <a:rPr lang="en-US" altLang="zh-TW" sz="2400" dirty="0">
                <a:ea typeface="新細明體" panose="02020500000000000000" pitchFamily="18" charset="-120"/>
              </a:rPr>
              <a:t>    e.g. </a:t>
            </a:r>
          </a:p>
          <a:p>
            <a:pPr lvl="1" eaLnBrk="1" hangingPunct="1">
              <a:lnSpc>
                <a:spcPct val="90000"/>
              </a:lnSpc>
              <a:buFont typeface="Wingdings" panose="05000000000000000000" pitchFamily="2" charset="2"/>
              <a:buChar char="l"/>
              <a:defRPr/>
            </a:pPr>
            <a:r>
              <a:rPr lang="en-US" altLang="zh-TW" sz="2000" dirty="0">
                <a:ea typeface="新細明體" panose="02020500000000000000" pitchFamily="18" charset="-120"/>
              </a:rPr>
              <a:t>all identifiers are declared </a:t>
            </a:r>
          </a:p>
          <a:p>
            <a:pPr lvl="1" eaLnBrk="1" hangingPunct="1">
              <a:lnSpc>
                <a:spcPct val="90000"/>
              </a:lnSpc>
              <a:buFont typeface="Wingdings" panose="05000000000000000000" pitchFamily="2" charset="2"/>
              <a:buChar char="l"/>
              <a:defRPr/>
            </a:pPr>
            <a:r>
              <a:rPr lang="en-US" altLang="zh-TW" sz="2000" dirty="0">
                <a:ea typeface="新細明體" panose="02020500000000000000" pitchFamily="18" charset="-120"/>
              </a:rPr>
              <a:t>operator and operands are type compatible</a:t>
            </a:r>
          </a:p>
          <a:p>
            <a:pPr lvl="1" eaLnBrk="1" hangingPunct="1">
              <a:lnSpc>
                <a:spcPct val="90000"/>
              </a:lnSpc>
              <a:buFont typeface="Wingdings" panose="05000000000000000000" pitchFamily="2" charset="2"/>
              <a:buChar char="l"/>
              <a:defRPr/>
            </a:pPr>
            <a:r>
              <a:rPr lang="en-US" altLang="zh-TW" sz="2000" dirty="0">
                <a:ea typeface="新細明體" panose="02020500000000000000" pitchFamily="18" charset="-120"/>
              </a:rPr>
              <a:t>procedures are called with the proper parameters </a:t>
            </a:r>
          </a:p>
          <a:p>
            <a:pPr eaLnBrk="1" hangingPunct="1">
              <a:lnSpc>
                <a:spcPct val="90000"/>
              </a:lnSpc>
              <a:buFont typeface="Wingdings" panose="05000000000000000000" pitchFamily="2" charset="2"/>
              <a:buNone/>
              <a:defRPr/>
            </a:pPr>
            <a:endParaRPr lang="en-US" altLang="zh-TW" sz="2400" dirty="0">
              <a:ea typeface="新細明體" panose="02020500000000000000" pitchFamily="18" charset="-120"/>
            </a:endParaRPr>
          </a:p>
          <a:p>
            <a:pPr eaLnBrk="1" hangingPunct="1">
              <a:lnSpc>
                <a:spcPct val="90000"/>
              </a:lnSpc>
              <a:defRPr/>
            </a:pPr>
            <a:r>
              <a:rPr lang="en-US" altLang="zh-TW" sz="2400" i="1" dirty="0">
                <a:solidFill>
                  <a:srgbClr val="FFFB3B"/>
                </a:solidFill>
                <a:ea typeface="新細明體" panose="02020500000000000000" pitchFamily="18" charset="-120"/>
              </a:rPr>
              <a:t>Attribute grammars</a:t>
            </a:r>
            <a:r>
              <a:rPr lang="en-US" altLang="zh-TW" sz="2400" dirty="0">
                <a:ea typeface="新細明體" panose="02020500000000000000" pitchFamily="18" charset="-120"/>
              </a:rPr>
              <a:t> are a popular method of formally specifying static semantics.  e.g.</a:t>
            </a:r>
          </a:p>
          <a:p>
            <a:pPr eaLnBrk="1" hangingPunct="1">
              <a:lnSpc>
                <a:spcPct val="90000"/>
              </a:lnSpc>
              <a:buFont typeface="Wingdings" panose="05000000000000000000" pitchFamily="2" charset="2"/>
              <a:buNone/>
              <a:defRPr/>
            </a:pPr>
            <a:r>
              <a:rPr lang="en-US" altLang="zh-TW" sz="2400" dirty="0">
                <a:ea typeface="新細明體" panose="02020500000000000000" pitchFamily="18" charset="-120"/>
              </a:rPr>
              <a:t>	</a:t>
            </a:r>
          </a:p>
          <a:p>
            <a:pPr algn="ctr" eaLnBrk="1" hangingPunct="1">
              <a:lnSpc>
                <a:spcPct val="90000"/>
              </a:lnSpc>
              <a:buFont typeface="Wingdings" panose="05000000000000000000" pitchFamily="2" charset="2"/>
              <a:buNone/>
              <a:defRPr/>
            </a:pPr>
            <a:r>
              <a:rPr lang="en-US" altLang="zh-TW" sz="2000" dirty="0">
                <a:ea typeface="新細明體" panose="02020500000000000000" pitchFamily="18" charset="-120"/>
              </a:rPr>
              <a:t>Exp1</a:t>
            </a:r>
            <a:r>
              <a:rPr lang="en-US" altLang="zh-TW" sz="2000" dirty="0">
                <a:ea typeface="新細明體" panose="02020500000000000000" pitchFamily="18" charset="-120"/>
                <a:sym typeface="Wingdings" panose="05000000000000000000" pitchFamily="2" charset="2"/>
              </a:rPr>
              <a:t>Exp2+Term (Exp2.type == numeric &amp;&amp; </a:t>
            </a:r>
            <a:r>
              <a:rPr lang="en-US" altLang="zh-TW" sz="2000" dirty="0" err="1">
                <a:ea typeface="新細明體" panose="02020500000000000000" pitchFamily="18" charset="-120"/>
                <a:sym typeface="Wingdings" panose="05000000000000000000" pitchFamily="2" charset="2"/>
              </a:rPr>
              <a:t>Term.type</a:t>
            </a:r>
            <a:r>
              <a:rPr lang="en-US" altLang="zh-TW" sz="2000" dirty="0">
                <a:ea typeface="新細明體" panose="02020500000000000000" pitchFamily="18" charset="-120"/>
                <a:sym typeface="Wingdings" panose="05000000000000000000" pitchFamily="2" charset="2"/>
              </a:rPr>
              <a:t>==numeric).</a:t>
            </a:r>
            <a:endParaRPr lang="en-US" altLang="zh-TW" sz="2000" dirty="0">
              <a:ea typeface="新細明體" panose="02020500000000000000" pitchFamily="18" charset="-12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40ABAECE-5A56-41F5-AC83-A08602D98FB1}" type="slidenum">
              <a:rPr lang="zh-TW" altLang="en-US" sz="1200" smtClean="0"/>
              <a:pPr>
                <a:spcBef>
                  <a:spcPct val="0"/>
                </a:spcBef>
                <a:buClrTx/>
                <a:buSzTx/>
                <a:buFontTx/>
                <a:buNone/>
                <a:defRPr/>
              </a:pPr>
              <a:t>37</a:t>
            </a:fld>
            <a:endParaRPr lang="en-US" altLang="zh-TW" sz="1200"/>
          </a:p>
        </p:txBody>
      </p:sp>
      <p:sp>
        <p:nvSpPr>
          <p:cNvPr id="9" name="Rectangle 2"/>
          <p:cNvSpPr>
            <a:spLocks noGrp="1" noChangeArrowheads="1"/>
          </p:cNvSpPr>
          <p:nvPr>
            <p:ph type="title" idx="4294967295"/>
          </p:nvPr>
        </p:nvSpPr>
        <p:spPr>
          <a:xfrm>
            <a:off x="647700" y="430213"/>
            <a:ext cx="8229600" cy="941387"/>
          </a:xfrm>
        </p:spPr>
        <p:txBody>
          <a:bodyPr/>
          <a:lstStyle/>
          <a:p>
            <a:pPr eaLnBrk="1" hangingPunct="1">
              <a:defRPr/>
            </a:pPr>
            <a:r>
              <a:rPr lang="en-US" altLang="zh-TW" dirty="0">
                <a:ea typeface="新細明體" pitchFamily="18" charset="-120"/>
              </a:rPr>
              <a:t>Imprecise Semantics </a:t>
            </a:r>
            <a:r>
              <a:rPr lang="en-US" altLang="zh-TW" sz="4000" dirty="0">
                <a:ea typeface="新細明體" pitchFamily="18" charset="-120"/>
              </a:rPr>
              <a:t>Challenges</a:t>
            </a:r>
          </a:p>
        </p:txBody>
      </p:sp>
      <p:sp>
        <p:nvSpPr>
          <p:cNvPr id="10" name="Rectangle 3"/>
          <p:cNvSpPr txBox="1">
            <a:spLocks noChangeArrowheads="1"/>
          </p:cNvSpPr>
          <p:nvPr/>
        </p:nvSpPr>
        <p:spPr bwMode="auto">
          <a:xfrm>
            <a:off x="457200" y="1371600"/>
            <a:ext cx="8458200" cy="3687763"/>
          </a:xfrm>
          <a:prstGeom prst="rect">
            <a:avLst/>
          </a:prstGeom>
          <a:noFill/>
          <a:ln w="9525">
            <a:noFill/>
            <a:miter lim="800000"/>
            <a:headEnd/>
            <a:tailEnd/>
          </a:ln>
          <a:effectLst/>
        </p:spPr>
        <p:txBody>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9pPr>
          </a:lstStyle>
          <a:p>
            <a:pPr eaLnBrk="1" hangingPunct="1">
              <a:buFont typeface="Wingdings" panose="05000000000000000000" pitchFamily="2" charset="2"/>
              <a:buNone/>
              <a:defRPr/>
            </a:pPr>
            <a:r>
              <a:rPr lang="en-US" altLang="zh-TW" sz="2400" kern="0" dirty="0">
                <a:ea typeface="新細明體" pitchFamily="18" charset="-120"/>
              </a:rPr>
              <a:t>	Example:</a:t>
            </a:r>
          </a:p>
          <a:p>
            <a:pPr eaLnBrk="1" hangingPunct="1">
              <a:buFont typeface="Wingdings" panose="05000000000000000000" pitchFamily="2" charset="2"/>
              <a:buNone/>
              <a:defRPr/>
            </a:pPr>
            <a:r>
              <a:rPr lang="en-US" altLang="zh-TW" sz="2400" kern="0" dirty="0">
                <a:ea typeface="新細明體" pitchFamily="18" charset="-120"/>
              </a:rPr>
              <a:t>	In Pascal, a logical expression</a:t>
            </a:r>
          </a:p>
          <a:p>
            <a:pPr algn="ctr" eaLnBrk="1" hangingPunct="1">
              <a:buFont typeface="Wingdings" panose="05000000000000000000" pitchFamily="2" charset="2"/>
              <a:buNone/>
              <a:defRPr/>
            </a:pPr>
            <a:r>
              <a:rPr lang="en-US" altLang="zh-TW" sz="2400" kern="0" dirty="0">
                <a:ea typeface="新細明體" pitchFamily="18" charset="-120"/>
              </a:rPr>
              <a:t>	(I &lt;&gt; 0) </a:t>
            </a:r>
            <a:r>
              <a:rPr lang="en-US" altLang="zh-TW" sz="2400" b="1" kern="0" dirty="0">
                <a:solidFill>
                  <a:srgbClr val="FFFB3B"/>
                </a:solidFill>
                <a:ea typeface="新細明體" pitchFamily="18" charset="-120"/>
              </a:rPr>
              <a:t>and</a:t>
            </a:r>
            <a:r>
              <a:rPr lang="en-US" altLang="zh-TW" sz="2400" kern="0" dirty="0">
                <a:ea typeface="新細明體" pitchFamily="18" charset="-120"/>
              </a:rPr>
              <a:t> (K div I &gt; 10)</a:t>
            </a:r>
          </a:p>
          <a:p>
            <a:pPr eaLnBrk="1" hangingPunct="1">
              <a:buFont typeface="Wingdings" panose="05000000000000000000" pitchFamily="2" charset="2"/>
              <a:buNone/>
              <a:defRPr/>
            </a:pPr>
            <a:r>
              <a:rPr lang="en-US" altLang="zh-TW" sz="2400" kern="0" dirty="0">
                <a:ea typeface="新細明體" pitchFamily="18" charset="-120"/>
              </a:rPr>
              <a:t>    is not well-defined – because it is not defined whether the </a:t>
            </a:r>
            <a:r>
              <a:rPr lang="en-US" altLang="zh-TW" sz="2800" b="1" kern="0" dirty="0">
                <a:solidFill>
                  <a:srgbClr val="FFFB3B"/>
                </a:solidFill>
                <a:ea typeface="新細明體" pitchFamily="18" charset="-120"/>
              </a:rPr>
              <a:t>and</a:t>
            </a:r>
            <a:r>
              <a:rPr lang="en-US" altLang="zh-TW" sz="2400" b="1" kern="0" dirty="0">
                <a:ea typeface="新細明體" pitchFamily="18" charset="-120"/>
              </a:rPr>
              <a:t> </a:t>
            </a:r>
            <a:r>
              <a:rPr lang="en-US" altLang="zh-TW" sz="2400" kern="0" dirty="0">
                <a:ea typeface="新細明體" pitchFamily="18" charset="-120"/>
              </a:rPr>
              <a:t>operator should be treated as ordinary </a:t>
            </a:r>
            <a:r>
              <a:rPr lang="en-US" altLang="zh-TW" sz="2400" kern="0" dirty="0">
                <a:solidFill>
                  <a:srgbClr val="FFFF00"/>
                </a:solidFill>
                <a:ea typeface="新細明體" pitchFamily="18" charset="-120"/>
              </a:rPr>
              <a:t>binary operator </a:t>
            </a:r>
            <a:r>
              <a:rPr lang="en-US" altLang="zh-TW" sz="2400" kern="0" dirty="0">
                <a:ea typeface="新細明體" pitchFamily="18" charset="-120"/>
              </a:rPr>
              <a:t>(both expressions </a:t>
            </a:r>
            <a:r>
              <a:rPr lang="en-US" altLang="zh-TW" sz="2400" kern="0" dirty="0">
                <a:solidFill>
                  <a:srgbClr val="A7F864"/>
                </a:solidFill>
                <a:ea typeface="新細明體" pitchFamily="18" charset="-120"/>
              </a:rPr>
              <a:t>{I&lt;&gt;0}</a:t>
            </a:r>
            <a:r>
              <a:rPr lang="en-US" altLang="zh-TW" sz="2400" kern="0" dirty="0">
                <a:ea typeface="新細明體" pitchFamily="18" charset="-120"/>
              </a:rPr>
              <a:t> and </a:t>
            </a:r>
            <a:r>
              <a:rPr lang="en-US" altLang="zh-TW" sz="2400" kern="0" dirty="0">
                <a:solidFill>
                  <a:srgbClr val="A7F864"/>
                </a:solidFill>
                <a:ea typeface="新細明體" pitchFamily="18" charset="-120"/>
              </a:rPr>
              <a:t>{K div I}</a:t>
            </a:r>
            <a:r>
              <a:rPr lang="en-US" altLang="zh-TW" sz="2400" kern="0" dirty="0">
                <a:ea typeface="新細明體" pitchFamily="18" charset="-120"/>
              </a:rPr>
              <a:t> should be evaluated first) or like a </a:t>
            </a:r>
            <a:r>
              <a:rPr lang="en-US" altLang="zh-TW" sz="2400" kern="0" dirty="0">
                <a:solidFill>
                  <a:srgbClr val="FFFF00"/>
                </a:solidFill>
                <a:ea typeface="新細明體" pitchFamily="18" charset="-120"/>
              </a:rPr>
              <a:t>short-circuit operator</a:t>
            </a:r>
            <a:r>
              <a:rPr lang="en-US" altLang="zh-TW" sz="2400" kern="0" dirty="0">
                <a:ea typeface="新細明體" pitchFamily="18" charset="-120"/>
              </a:rPr>
              <a:t> (i.e. expression </a:t>
            </a:r>
            <a:r>
              <a:rPr lang="en-US" altLang="zh-TW" sz="2400" kern="0" dirty="0">
                <a:solidFill>
                  <a:srgbClr val="A7F864"/>
                </a:solidFill>
                <a:ea typeface="新細明體" pitchFamily="18" charset="-120"/>
              </a:rPr>
              <a:t>{K div I} </a:t>
            </a:r>
            <a:r>
              <a:rPr lang="en-US" altLang="zh-TW" sz="2400" kern="0" dirty="0">
                <a:ea typeface="新細明體" pitchFamily="18" charset="-120"/>
              </a:rPr>
              <a:t>should not be evaluated if I==0).</a:t>
            </a:r>
          </a:p>
        </p:txBody>
      </p:sp>
      <p:sp>
        <p:nvSpPr>
          <p:cNvPr id="11" name="TextBox 10"/>
          <p:cNvSpPr txBox="1">
            <a:spLocks noChangeArrowheads="1"/>
          </p:cNvSpPr>
          <p:nvPr/>
        </p:nvSpPr>
        <p:spPr bwMode="auto">
          <a:xfrm>
            <a:off x="1143000" y="5181600"/>
            <a:ext cx="6002338" cy="830263"/>
          </a:xfrm>
          <a:prstGeom prst="rect">
            <a:avLst/>
          </a:prstGeom>
          <a:solidFill>
            <a:srgbClr val="FFC000"/>
          </a:solidFill>
          <a:ln w="9525">
            <a:solidFill>
              <a:srgbClr val="FF0000"/>
            </a:solidFill>
            <a:miter lim="800000"/>
            <a:headEnd/>
            <a:tailEnd/>
          </a:ln>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400" i="1">
                <a:solidFill>
                  <a:srgbClr val="002060"/>
                </a:solidFill>
              </a:rPr>
              <a:t>Why short-circuit is not always a preferred </a:t>
            </a:r>
          </a:p>
          <a:p>
            <a:pPr>
              <a:spcBef>
                <a:spcPct val="0"/>
              </a:spcBef>
              <a:buClrTx/>
              <a:buSzTx/>
              <a:buFontTx/>
              <a:buNone/>
            </a:pPr>
            <a:r>
              <a:rPr lang="en-US" altLang="en-US" sz="2400" i="1">
                <a:solidFill>
                  <a:srgbClr val="002060"/>
                </a:solidFill>
              </a:rPr>
              <a:t>implementation here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ltLang="zh-TW"/>
              <a:t>Department of Electrical Engineering</a:t>
            </a:r>
          </a:p>
        </p:txBody>
      </p:sp>
      <p:sp>
        <p:nvSpPr>
          <p:cNvPr id="5" name="Rectangle 3"/>
          <p:cNvSpPr txBox="1">
            <a:spLocks noChangeArrowheads="1"/>
          </p:cNvSpPr>
          <p:nvPr/>
        </p:nvSpPr>
        <p:spPr bwMode="auto">
          <a:xfrm>
            <a:off x="457200" y="1676400"/>
            <a:ext cx="8458200" cy="4419600"/>
          </a:xfrm>
          <a:prstGeom prst="rect">
            <a:avLst/>
          </a:prstGeom>
          <a:noFill/>
          <a:ln w="9525">
            <a:noFill/>
            <a:miter lim="800000"/>
            <a:headEnd/>
            <a:tailEnd/>
          </a:ln>
          <a:effectLst/>
        </p:spPr>
        <p:txBody>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9pPr>
          </a:lstStyle>
          <a:p>
            <a:pPr eaLnBrk="1" hangingPunct="1">
              <a:buFont typeface="Wingdings" panose="05000000000000000000" pitchFamily="2" charset="2"/>
              <a:buNone/>
              <a:defRPr/>
            </a:pPr>
            <a:r>
              <a:rPr lang="en-US" altLang="zh-TW" sz="2400" kern="0" dirty="0">
                <a:ea typeface="新細明體" panose="02020500000000000000" pitchFamily="18" charset="-120"/>
              </a:rPr>
              <a:t>Another Example:</a:t>
            </a:r>
          </a:p>
          <a:p>
            <a:pPr eaLnBrk="1" hangingPunct="1">
              <a:buFont typeface="Wingdings" panose="05000000000000000000" pitchFamily="2" charset="2"/>
              <a:buNone/>
              <a:defRPr/>
            </a:pPr>
            <a:endParaRPr lang="en-US" altLang="zh-TW" sz="2400" kern="0" dirty="0">
              <a:ea typeface="新細明體" panose="02020500000000000000" pitchFamily="18" charset="-120"/>
            </a:endParaRPr>
          </a:p>
          <a:p>
            <a:pPr eaLnBrk="1" hangingPunct="1">
              <a:buFont typeface="Wingdings" panose="05000000000000000000" pitchFamily="2" charset="2"/>
              <a:buNone/>
              <a:defRPr/>
            </a:pPr>
            <a:r>
              <a:rPr lang="en-US" altLang="zh-TW" sz="2400" kern="0" dirty="0">
                <a:ea typeface="新細明體" panose="02020500000000000000" pitchFamily="18" charset="-120"/>
              </a:rPr>
              <a:t>In Java, all functions must return via a </a:t>
            </a:r>
            <a:r>
              <a:rPr lang="en-US" altLang="zh-TW" sz="2400" b="1" i="1" kern="0" dirty="0">
                <a:ea typeface="新細明體" panose="02020500000000000000" pitchFamily="18" charset="-120"/>
              </a:rPr>
              <a:t>return expr </a:t>
            </a:r>
            <a:r>
              <a:rPr lang="en-US" altLang="zh-TW" sz="2400" kern="0" dirty="0">
                <a:solidFill>
                  <a:schemeClr val="tx2"/>
                </a:solidFill>
                <a:ea typeface="新細明體" panose="02020500000000000000" pitchFamily="18" charset="-120"/>
              </a:rPr>
              <a:t>statement.</a:t>
            </a:r>
          </a:p>
          <a:p>
            <a:pPr eaLnBrk="1" hangingPunct="1">
              <a:buFont typeface="Wingdings" panose="05000000000000000000" pitchFamily="2" charset="2"/>
              <a:buNone/>
              <a:defRPr/>
            </a:pPr>
            <a:r>
              <a:rPr lang="en-US" altLang="zh-TW" sz="2400" kern="0" dirty="0">
                <a:solidFill>
                  <a:schemeClr val="tx2"/>
                </a:solidFill>
                <a:ea typeface="新細明體" panose="02020500000000000000" pitchFamily="18" charset="-120"/>
              </a:rPr>
              <a:t>The following function is illegal:</a:t>
            </a:r>
          </a:p>
          <a:p>
            <a:pPr eaLnBrk="1" hangingPunct="1">
              <a:buFont typeface="Wingdings" panose="05000000000000000000" pitchFamily="2" charset="2"/>
              <a:buNone/>
              <a:defRPr/>
            </a:pPr>
            <a:r>
              <a:rPr lang="en-US" altLang="zh-TW" sz="2400" kern="0" dirty="0">
                <a:solidFill>
                  <a:schemeClr val="tx2"/>
                </a:solidFill>
                <a:ea typeface="新細明體" panose="02020500000000000000" pitchFamily="18" charset="-120"/>
              </a:rPr>
              <a:t>			public static </a:t>
            </a:r>
            <a:r>
              <a:rPr lang="en-US" altLang="zh-TW" sz="2400" kern="0" dirty="0" err="1">
                <a:solidFill>
                  <a:schemeClr val="tx2"/>
                </a:solidFill>
                <a:ea typeface="新細明體" panose="02020500000000000000" pitchFamily="18" charset="-120"/>
              </a:rPr>
              <a:t>int</a:t>
            </a:r>
            <a:r>
              <a:rPr lang="en-US" altLang="zh-TW" sz="2400" kern="0" dirty="0">
                <a:solidFill>
                  <a:schemeClr val="tx2"/>
                </a:solidFill>
                <a:ea typeface="新細明體" panose="02020500000000000000" pitchFamily="18" charset="-120"/>
              </a:rPr>
              <a:t> </a:t>
            </a:r>
            <a:r>
              <a:rPr lang="en-US" altLang="zh-TW" sz="2400" kern="0" dirty="0" err="1">
                <a:solidFill>
                  <a:schemeClr val="tx2"/>
                </a:solidFill>
                <a:ea typeface="新細明體" panose="02020500000000000000" pitchFamily="18" charset="-120"/>
              </a:rPr>
              <a:t>subr</a:t>
            </a:r>
            <a:r>
              <a:rPr lang="en-US" altLang="zh-TW" sz="2400" kern="0" dirty="0">
                <a:solidFill>
                  <a:schemeClr val="tx2"/>
                </a:solidFill>
                <a:ea typeface="新細明體" panose="02020500000000000000" pitchFamily="18" charset="-120"/>
              </a:rPr>
              <a:t>(</a:t>
            </a:r>
            <a:r>
              <a:rPr lang="en-US" altLang="zh-TW" sz="2400" kern="0" dirty="0" err="1">
                <a:solidFill>
                  <a:schemeClr val="tx2"/>
                </a:solidFill>
                <a:ea typeface="新細明體" panose="02020500000000000000" pitchFamily="18" charset="-120"/>
              </a:rPr>
              <a:t>int</a:t>
            </a:r>
            <a:r>
              <a:rPr lang="en-US" altLang="zh-TW" sz="2400" kern="0" dirty="0">
                <a:solidFill>
                  <a:schemeClr val="tx2"/>
                </a:solidFill>
                <a:ea typeface="新細明體" panose="02020500000000000000" pitchFamily="18" charset="-120"/>
              </a:rPr>
              <a:t> b) {</a:t>
            </a:r>
          </a:p>
          <a:p>
            <a:pPr eaLnBrk="1" hangingPunct="1">
              <a:buFont typeface="Wingdings" panose="05000000000000000000" pitchFamily="2" charset="2"/>
              <a:buNone/>
              <a:defRPr/>
            </a:pPr>
            <a:r>
              <a:rPr lang="en-US" altLang="zh-TW" sz="2400" kern="0" dirty="0">
                <a:solidFill>
                  <a:schemeClr val="tx2"/>
                </a:solidFill>
                <a:ea typeface="新細明體" panose="02020500000000000000" pitchFamily="18" charset="-120"/>
              </a:rPr>
              <a:t>			    if (b!=0) return b+100; }</a:t>
            </a:r>
          </a:p>
          <a:p>
            <a:pPr eaLnBrk="1" hangingPunct="1">
              <a:buFont typeface="Wingdings" panose="05000000000000000000" pitchFamily="2" charset="2"/>
              <a:buNone/>
              <a:defRPr/>
            </a:pPr>
            <a:r>
              <a:rPr lang="en-US" altLang="zh-TW" sz="2400" kern="0" dirty="0">
                <a:solidFill>
                  <a:schemeClr val="tx2"/>
                </a:solidFill>
                <a:ea typeface="新細明體" panose="02020500000000000000" pitchFamily="18" charset="-120"/>
              </a:rPr>
              <a:t>How about the following?</a:t>
            </a:r>
          </a:p>
          <a:p>
            <a:pPr eaLnBrk="1" hangingPunct="1">
              <a:buFont typeface="Wingdings" panose="05000000000000000000" pitchFamily="2" charset="2"/>
              <a:buNone/>
              <a:defRPr/>
            </a:pPr>
            <a:r>
              <a:rPr lang="en-US" altLang="zh-TW" sz="2400" kern="0" dirty="0">
                <a:solidFill>
                  <a:schemeClr val="tx2"/>
                </a:solidFill>
                <a:ea typeface="新細明體" panose="02020500000000000000" pitchFamily="18" charset="-120"/>
              </a:rPr>
              <a:t>			public static </a:t>
            </a:r>
            <a:r>
              <a:rPr lang="en-US" altLang="zh-TW" sz="2400" kern="0" dirty="0" err="1">
                <a:solidFill>
                  <a:schemeClr val="tx2"/>
                </a:solidFill>
                <a:ea typeface="新細明體" panose="02020500000000000000" pitchFamily="18" charset="-120"/>
              </a:rPr>
              <a:t>int</a:t>
            </a:r>
            <a:r>
              <a:rPr lang="en-US" altLang="zh-TW" sz="2400" kern="0" dirty="0">
                <a:solidFill>
                  <a:schemeClr val="tx2"/>
                </a:solidFill>
                <a:ea typeface="新細明體" panose="02020500000000000000" pitchFamily="18" charset="-120"/>
              </a:rPr>
              <a:t> </a:t>
            </a:r>
            <a:r>
              <a:rPr lang="en-US" altLang="zh-TW" sz="2400" kern="0" dirty="0" err="1">
                <a:solidFill>
                  <a:schemeClr val="tx2"/>
                </a:solidFill>
                <a:ea typeface="新細明體" panose="02020500000000000000" pitchFamily="18" charset="-120"/>
              </a:rPr>
              <a:t>subr</a:t>
            </a:r>
            <a:r>
              <a:rPr lang="en-US" altLang="zh-TW" sz="2400" kern="0" dirty="0">
                <a:solidFill>
                  <a:schemeClr val="tx2"/>
                </a:solidFill>
                <a:ea typeface="新細明體" panose="02020500000000000000" pitchFamily="18" charset="-120"/>
              </a:rPr>
              <a:t>(</a:t>
            </a:r>
            <a:r>
              <a:rPr lang="en-US" altLang="zh-TW" sz="2400" kern="0" dirty="0" err="1">
                <a:solidFill>
                  <a:schemeClr val="tx2"/>
                </a:solidFill>
                <a:ea typeface="新細明體" panose="02020500000000000000" pitchFamily="18" charset="-120"/>
              </a:rPr>
              <a:t>int</a:t>
            </a:r>
            <a:r>
              <a:rPr lang="en-US" altLang="zh-TW" sz="2400" kern="0" dirty="0">
                <a:solidFill>
                  <a:schemeClr val="tx2"/>
                </a:solidFill>
                <a:ea typeface="新細明體" panose="02020500000000000000" pitchFamily="18" charset="-120"/>
              </a:rPr>
              <a:t> b) {</a:t>
            </a:r>
          </a:p>
          <a:p>
            <a:pPr eaLnBrk="1" hangingPunct="1">
              <a:buFont typeface="Wingdings" panose="05000000000000000000" pitchFamily="2" charset="2"/>
              <a:buNone/>
              <a:defRPr/>
            </a:pPr>
            <a:r>
              <a:rPr lang="en-US" altLang="zh-TW" sz="2400" kern="0" dirty="0">
                <a:solidFill>
                  <a:schemeClr val="tx2"/>
                </a:solidFill>
                <a:ea typeface="新細明體" panose="02020500000000000000" pitchFamily="18" charset="-120"/>
              </a:rPr>
              <a:t>			 if (b!=0) return b+100; </a:t>
            </a:r>
          </a:p>
          <a:p>
            <a:pPr eaLnBrk="1" hangingPunct="1">
              <a:buFont typeface="Wingdings" panose="05000000000000000000" pitchFamily="2" charset="2"/>
              <a:buNone/>
              <a:defRPr/>
            </a:pPr>
            <a:r>
              <a:rPr lang="en-US" altLang="zh-TW" sz="2400" kern="0" dirty="0">
                <a:solidFill>
                  <a:schemeClr val="tx2"/>
                </a:solidFill>
                <a:ea typeface="新細明體" panose="02020500000000000000" pitchFamily="18" charset="-120"/>
              </a:rPr>
              <a:t>			 else if (10*b == 0) return 1; }</a:t>
            </a:r>
          </a:p>
          <a:p>
            <a:pPr eaLnBrk="1" hangingPunct="1">
              <a:buFont typeface="Wingdings" panose="05000000000000000000" pitchFamily="2" charset="2"/>
              <a:buNone/>
              <a:defRPr/>
            </a:pPr>
            <a:endParaRPr lang="en-US" altLang="zh-TW" sz="2400" kern="0" dirty="0">
              <a:solidFill>
                <a:schemeClr val="tx2"/>
              </a:solidFill>
              <a:ea typeface="新細明體" panose="02020500000000000000" pitchFamily="18" charset="-120"/>
            </a:endParaRPr>
          </a:p>
        </p:txBody>
      </p:sp>
      <p:sp>
        <p:nvSpPr>
          <p:cNvPr id="6" name="Rectangle 2"/>
          <p:cNvSpPr>
            <a:spLocks noGrp="1" noChangeArrowheads="1"/>
          </p:cNvSpPr>
          <p:nvPr>
            <p:ph type="title" idx="4294967295"/>
          </p:nvPr>
        </p:nvSpPr>
        <p:spPr>
          <a:xfrm>
            <a:off x="647700" y="430213"/>
            <a:ext cx="8229600" cy="941387"/>
          </a:xfrm>
        </p:spPr>
        <p:txBody>
          <a:bodyPr/>
          <a:lstStyle/>
          <a:p>
            <a:pPr eaLnBrk="1" hangingPunct="1">
              <a:defRPr/>
            </a:pPr>
            <a:r>
              <a:rPr lang="en-US" altLang="zh-TW" dirty="0">
                <a:ea typeface="新細明體" pitchFamily="18" charset="-120"/>
              </a:rPr>
              <a:t>Imprecise Semantics </a:t>
            </a:r>
            <a:r>
              <a:rPr lang="en-US" altLang="zh-TW" sz="4000" dirty="0">
                <a:ea typeface="新細明體" pitchFamily="18" charset="-120"/>
              </a:rPr>
              <a:t>Challenges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ltLang="zh-TW"/>
              <a:t>Department of Electrical Engineering</a:t>
            </a:r>
          </a:p>
        </p:txBody>
      </p:sp>
      <p:sp>
        <p:nvSpPr>
          <p:cNvPr id="5" name="Rectangle 2"/>
          <p:cNvSpPr>
            <a:spLocks noGrp="1" noChangeArrowheads="1"/>
          </p:cNvSpPr>
          <p:nvPr>
            <p:ph type="title" idx="4294967295"/>
          </p:nvPr>
        </p:nvSpPr>
        <p:spPr>
          <a:xfrm>
            <a:off x="457200" y="277813"/>
            <a:ext cx="8229600" cy="788987"/>
          </a:xfrm>
        </p:spPr>
        <p:txBody>
          <a:bodyPr/>
          <a:lstStyle/>
          <a:p>
            <a:pPr eaLnBrk="1" hangingPunct="1">
              <a:defRPr/>
            </a:pPr>
            <a:r>
              <a:rPr lang="en-US" altLang="zh-TW" sz="3600" dirty="0">
                <a:ea typeface="新細明體" pitchFamily="18" charset="-120"/>
              </a:rPr>
              <a:t>Why Study Compilers?</a:t>
            </a:r>
          </a:p>
        </p:txBody>
      </p:sp>
      <p:sp>
        <p:nvSpPr>
          <p:cNvPr id="6" name="Rectangle 3"/>
          <p:cNvSpPr txBox="1">
            <a:spLocks noChangeArrowheads="1"/>
          </p:cNvSpPr>
          <p:nvPr/>
        </p:nvSpPr>
        <p:spPr bwMode="auto">
          <a:xfrm>
            <a:off x="457200" y="838200"/>
            <a:ext cx="8458200" cy="4953000"/>
          </a:xfrm>
          <a:prstGeom prst="rect">
            <a:avLst/>
          </a:prstGeom>
          <a:noFill/>
          <a:ln w="9525">
            <a:noFill/>
            <a:miter lim="800000"/>
            <a:headEnd/>
            <a:tailEnd/>
          </a:ln>
          <a:effectLst/>
        </p:spPr>
        <p:txBody>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9pPr>
          </a:lstStyle>
          <a:p>
            <a:pPr eaLnBrk="1" hangingPunct="1">
              <a:defRPr/>
            </a:pPr>
            <a:r>
              <a:rPr lang="en-US" altLang="zh-TW" sz="2800" kern="0">
                <a:ea typeface="新細明體" panose="02020500000000000000" pitchFamily="18" charset="-120"/>
              </a:rPr>
              <a:t>Influences on programming language design (</a:t>
            </a:r>
            <a:r>
              <a:rPr lang="en-US" altLang="zh-TW" sz="2400" kern="0">
                <a:ea typeface="新細明體" panose="02020500000000000000" pitchFamily="18" charset="-120"/>
              </a:rPr>
              <a:t>see section 1.6</a:t>
            </a:r>
            <a:r>
              <a:rPr lang="en-US" altLang="zh-TW" sz="2800" kern="0">
                <a:ea typeface="新細明體" panose="02020500000000000000" pitchFamily="18" charset="-120"/>
              </a:rPr>
              <a:t>)</a:t>
            </a:r>
          </a:p>
          <a:p>
            <a:pPr eaLnBrk="1" hangingPunct="1">
              <a:defRPr/>
            </a:pPr>
            <a:r>
              <a:rPr lang="en-US" altLang="zh-TW" sz="2800" kern="0">
                <a:ea typeface="新細明體" panose="02020500000000000000" pitchFamily="18" charset="-120"/>
              </a:rPr>
              <a:t>Influences on computer design (</a:t>
            </a:r>
            <a:r>
              <a:rPr lang="en-US" altLang="zh-TW" sz="2400" kern="0">
                <a:ea typeface="新細明體" panose="02020500000000000000" pitchFamily="18" charset="-120"/>
              </a:rPr>
              <a:t>see section 1.7</a:t>
            </a:r>
            <a:r>
              <a:rPr lang="en-US" altLang="zh-TW" sz="2800" kern="0">
                <a:ea typeface="新細明體" panose="02020500000000000000" pitchFamily="18" charset="-120"/>
              </a:rPr>
              <a:t>)</a:t>
            </a:r>
          </a:p>
          <a:p>
            <a:pPr eaLnBrk="1" hangingPunct="1">
              <a:defRPr/>
            </a:pPr>
            <a:r>
              <a:rPr lang="en-US" altLang="zh-TW" sz="2800" kern="0">
                <a:ea typeface="新細明體" panose="02020500000000000000" pitchFamily="18" charset="-120"/>
              </a:rPr>
              <a:t>Compiling techniques are useful for software development</a:t>
            </a:r>
          </a:p>
          <a:p>
            <a:pPr lvl="1" eaLnBrk="1" hangingPunct="1">
              <a:defRPr/>
            </a:pPr>
            <a:r>
              <a:rPr lang="en-US" altLang="zh-TW" sz="2400" kern="0">
                <a:ea typeface="新細明體" panose="02020500000000000000" pitchFamily="18" charset="-120"/>
              </a:rPr>
              <a:t>Parsing techniques are often used </a:t>
            </a:r>
          </a:p>
          <a:p>
            <a:pPr lvl="1" eaLnBrk="1" hangingPunct="1">
              <a:defRPr/>
            </a:pPr>
            <a:r>
              <a:rPr lang="en-US" altLang="zh-TW" sz="2400" kern="0">
                <a:ea typeface="新細明體" panose="02020500000000000000" pitchFamily="18" charset="-120"/>
              </a:rPr>
              <a:t>Learn practical data structures and algorithms</a:t>
            </a:r>
          </a:p>
          <a:p>
            <a:pPr lvl="1" eaLnBrk="1" hangingPunct="1">
              <a:defRPr/>
            </a:pPr>
            <a:r>
              <a:rPr lang="en-US" altLang="zh-TW" sz="2400" kern="0">
                <a:ea typeface="新細明體" panose="02020500000000000000" pitchFamily="18" charset="-120"/>
              </a:rPr>
              <a:t>Basis for many tools such as text formatters, structure editors, silicon compilers, design verification tools,…</a:t>
            </a:r>
          </a:p>
          <a:p>
            <a:pPr eaLnBrk="1" hangingPunct="1">
              <a:defRPr/>
            </a:pPr>
            <a:r>
              <a:rPr lang="en-US" altLang="zh-TW" sz="2800" kern="0">
                <a:ea typeface="新細明體" panose="02020500000000000000" pitchFamily="18" charset="-120"/>
              </a:rPr>
              <a:t>So you may write more efficient code</a:t>
            </a:r>
          </a:p>
          <a:p>
            <a:pPr lvl="1" eaLnBrk="1" hangingPunct="1">
              <a:defRPr/>
            </a:pPr>
            <a:r>
              <a:rPr lang="en-US" altLang="zh-TW" sz="2400" kern="0">
                <a:ea typeface="新細明體" panose="02020500000000000000" pitchFamily="18" charset="-120"/>
              </a:rPr>
              <a:t>Writing a compiler requires an understanding of almost many important CS subfields</a:t>
            </a:r>
            <a:endParaRPr lang="zh-TW" altLang="en-US" sz="2400" kern="0" dirty="0">
              <a:ea typeface="新細明體" panose="02020500000000000000" pitchFamily="18" charset="-12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ltLang="zh-TW"/>
              <a:t>Department of Electrical Engineering</a:t>
            </a:r>
          </a:p>
        </p:txBody>
      </p:sp>
      <p:sp>
        <p:nvSpPr>
          <p:cNvPr id="5" name="Rectangle 2"/>
          <p:cNvSpPr>
            <a:spLocks noGrp="1" noChangeArrowheads="1"/>
          </p:cNvSpPr>
          <p:nvPr>
            <p:ph type="title" idx="4294967295"/>
          </p:nvPr>
        </p:nvSpPr>
        <p:spPr>
          <a:xfrm>
            <a:off x="457200" y="277813"/>
            <a:ext cx="8229600" cy="788987"/>
          </a:xfrm>
        </p:spPr>
        <p:txBody>
          <a:bodyPr/>
          <a:lstStyle/>
          <a:p>
            <a:pPr eaLnBrk="1" hangingPunct="1">
              <a:defRPr/>
            </a:pPr>
            <a:r>
              <a:rPr lang="en-US" altLang="zh-TW" sz="3600" dirty="0">
                <a:ea typeface="新細明體" pitchFamily="18" charset="-120"/>
              </a:rPr>
              <a:t>Why Study Compilers?</a:t>
            </a:r>
          </a:p>
        </p:txBody>
      </p:sp>
      <p:sp>
        <p:nvSpPr>
          <p:cNvPr id="6" name="Rectangle 3"/>
          <p:cNvSpPr txBox="1">
            <a:spLocks noChangeArrowheads="1"/>
          </p:cNvSpPr>
          <p:nvPr/>
        </p:nvSpPr>
        <p:spPr bwMode="auto">
          <a:xfrm>
            <a:off x="457200" y="838200"/>
            <a:ext cx="8458200" cy="4953000"/>
          </a:xfrm>
          <a:prstGeom prst="rect">
            <a:avLst/>
          </a:prstGeom>
          <a:noFill/>
          <a:ln w="9525">
            <a:noFill/>
            <a:miter lim="800000"/>
            <a:headEnd/>
            <a:tailEnd/>
          </a:ln>
          <a:effectLst/>
        </p:spPr>
        <p:txBody>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9pPr>
          </a:lstStyle>
          <a:p>
            <a:pPr eaLnBrk="1" hangingPunct="1">
              <a:defRPr/>
            </a:pPr>
            <a:r>
              <a:rPr lang="en-US" altLang="zh-TW" sz="2800" kern="0">
                <a:ea typeface="新細明體" panose="02020500000000000000" pitchFamily="18" charset="-120"/>
              </a:rPr>
              <a:t>Influences on programming language design (</a:t>
            </a:r>
            <a:r>
              <a:rPr lang="en-US" altLang="zh-TW" sz="2400" kern="0">
                <a:ea typeface="新細明體" panose="02020500000000000000" pitchFamily="18" charset="-120"/>
              </a:rPr>
              <a:t>see section 1.6</a:t>
            </a:r>
            <a:r>
              <a:rPr lang="en-US" altLang="zh-TW" sz="2800" kern="0">
                <a:ea typeface="新細明體" panose="02020500000000000000" pitchFamily="18" charset="-120"/>
              </a:rPr>
              <a:t>)</a:t>
            </a:r>
          </a:p>
          <a:p>
            <a:pPr eaLnBrk="1" hangingPunct="1">
              <a:defRPr/>
            </a:pPr>
            <a:r>
              <a:rPr lang="en-US" altLang="zh-TW" sz="2800" kern="0">
                <a:ea typeface="新細明體" panose="02020500000000000000" pitchFamily="18" charset="-120"/>
              </a:rPr>
              <a:t>Influences on computer design (</a:t>
            </a:r>
            <a:r>
              <a:rPr lang="en-US" altLang="zh-TW" sz="2400" kern="0">
                <a:ea typeface="新細明體" panose="02020500000000000000" pitchFamily="18" charset="-120"/>
              </a:rPr>
              <a:t>see section 1.7</a:t>
            </a:r>
            <a:r>
              <a:rPr lang="en-US" altLang="zh-TW" sz="2800" kern="0">
                <a:ea typeface="新細明體" panose="02020500000000000000" pitchFamily="18" charset="-120"/>
              </a:rPr>
              <a:t>)</a:t>
            </a:r>
          </a:p>
          <a:p>
            <a:pPr eaLnBrk="1" hangingPunct="1">
              <a:defRPr/>
            </a:pPr>
            <a:r>
              <a:rPr lang="en-US" altLang="zh-TW" sz="2800" kern="0">
                <a:ea typeface="新細明體" panose="02020500000000000000" pitchFamily="18" charset="-120"/>
              </a:rPr>
              <a:t>Compiling techniques are useful for software development</a:t>
            </a:r>
          </a:p>
          <a:p>
            <a:pPr lvl="1" eaLnBrk="1" hangingPunct="1">
              <a:defRPr/>
            </a:pPr>
            <a:r>
              <a:rPr lang="en-US" altLang="zh-TW" sz="2400" kern="0">
                <a:ea typeface="新細明體" panose="02020500000000000000" pitchFamily="18" charset="-120"/>
              </a:rPr>
              <a:t>Parsing techniques are often used </a:t>
            </a:r>
          </a:p>
          <a:p>
            <a:pPr lvl="1" eaLnBrk="1" hangingPunct="1">
              <a:defRPr/>
            </a:pPr>
            <a:r>
              <a:rPr lang="en-US" altLang="zh-TW" sz="2400" kern="0">
                <a:ea typeface="新細明體" panose="02020500000000000000" pitchFamily="18" charset="-120"/>
              </a:rPr>
              <a:t>Learn practical data structures and algorithms</a:t>
            </a:r>
          </a:p>
          <a:p>
            <a:pPr lvl="1" eaLnBrk="1" hangingPunct="1">
              <a:defRPr/>
            </a:pPr>
            <a:r>
              <a:rPr lang="en-US" altLang="zh-TW" sz="2400" kern="0">
                <a:ea typeface="新細明體" panose="02020500000000000000" pitchFamily="18" charset="-120"/>
              </a:rPr>
              <a:t>Basis for many tools such as text formatters, structure editors, silicon compilers, design verification tools,…</a:t>
            </a:r>
          </a:p>
          <a:p>
            <a:pPr eaLnBrk="1" hangingPunct="1">
              <a:defRPr/>
            </a:pPr>
            <a:r>
              <a:rPr lang="en-US" altLang="zh-TW" sz="2800" kern="0">
                <a:ea typeface="新細明體" panose="02020500000000000000" pitchFamily="18" charset="-120"/>
              </a:rPr>
              <a:t>So you may write more efficient code</a:t>
            </a:r>
          </a:p>
          <a:p>
            <a:pPr lvl="1" eaLnBrk="1" hangingPunct="1">
              <a:defRPr/>
            </a:pPr>
            <a:r>
              <a:rPr lang="en-US" altLang="zh-TW" sz="2400" kern="0">
                <a:ea typeface="新細明體" panose="02020500000000000000" pitchFamily="18" charset="-120"/>
              </a:rPr>
              <a:t>Writing a compiler requires an understanding of almost many important CS subfields</a:t>
            </a:r>
            <a:endParaRPr lang="zh-TW" altLang="en-US" sz="2400" kern="0" dirty="0">
              <a:ea typeface="新細明體" panose="02020500000000000000" pitchFamily="18" charset="-120"/>
            </a:endParaRPr>
          </a:p>
        </p:txBody>
      </p:sp>
      <p:sp>
        <p:nvSpPr>
          <p:cNvPr id="68613" name="文字方塊 1"/>
          <p:cNvSpPr txBox="1">
            <a:spLocks noChangeArrowheads="1"/>
          </p:cNvSpPr>
          <p:nvPr/>
        </p:nvSpPr>
        <p:spPr bwMode="auto">
          <a:xfrm>
            <a:off x="3429000" y="1143000"/>
            <a:ext cx="5562600" cy="4894263"/>
          </a:xfrm>
          <a:prstGeom prst="rect">
            <a:avLst/>
          </a:prstGeom>
          <a:solidFill>
            <a:srgbClr val="FFFF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a:solidFill>
                  <a:srgbClr val="FF0000"/>
                </a:solidFill>
                <a:ea typeface="新細明體" panose="02020500000000000000" pitchFamily="18" charset="-120"/>
              </a:rPr>
              <a:t>Requirements for a successful language </a:t>
            </a:r>
          </a:p>
          <a:p>
            <a:pPr>
              <a:spcBef>
                <a:spcPct val="0"/>
              </a:spcBef>
              <a:buClrTx/>
              <a:buSzTx/>
              <a:buFontTx/>
              <a:buNone/>
            </a:pPr>
            <a:endParaRPr lang="en-US" altLang="zh-TW" sz="2400">
              <a:solidFill>
                <a:srgbClr val="FF0000"/>
              </a:solidFill>
              <a:ea typeface="新細明體" panose="02020500000000000000" pitchFamily="18" charset="-120"/>
            </a:endParaRPr>
          </a:p>
          <a:p>
            <a:pPr>
              <a:spcBef>
                <a:spcPct val="0"/>
              </a:spcBef>
              <a:buClrTx/>
              <a:buSzTx/>
              <a:buFont typeface="Wingdings" panose="05000000000000000000" pitchFamily="2" charset="2"/>
              <a:buChar char="Ø"/>
            </a:pPr>
            <a:r>
              <a:rPr lang="en-US" altLang="zh-TW" sz="2400">
                <a:solidFill>
                  <a:srgbClr val="FF0000"/>
                </a:solidFill>
                <a:ea typeface="新細明體" panose="02020500000000000000" pitchFamily="18" charset="-120"/>
              </a:rPr>
              <a:t>Easy to compile</a:t>
            </a:r>
          </a:p>
          <a:p>
            <a:pPr>
              <a:spcBef>
                <a:spcPct val="0"/>
              </a:spcBef>
              <a:buClrTx/>
              <a:buSzTx/>
              <a:buFont typeface="Wingdings" panose="05000000000000000000" pitchFamily="2" charset="2"/>
              <a:buChar char="Ø"/>
            </a:pPr>
            <a:r>
              <a:rPr lang="en-US" altLang="zh-TW" sz="2400">
                <a:solidFill>
                  <a:srgbClr val="FF0000"/>
                </a:solidFill>
                <a:ea typeface="新細明體" panose="02020500000000000000" pitchFamily="18" charset="-120"/>
              </a:rPr>
              <a:t>Has a quality compiler on a wide variety of machines</a:t>
            </a:r>
          </a:p>
          <a:p>
            <a:pPr>
              <a:spcBef>
                <a:spcPct val="0"/>
              </a:spcBef>
              <a:buClrTx/>
              <a:buSzTx/>
              <a:buFont typeface="Wingdings" panose="05000000000000000000" pitchFamily="2" charset="2"/>
              <a:buChar char="Ø"/>
            </a:pPr>
            <a:r>
              <a:rPr lang="en-US" altLang="zh-TW" sz="2400">
                <a:solidFill>
                  <a:srgbClr val="FF0000"/>
                </a:solidFill>
                <a:ea typeface="新細明體" panose="02020500000000000000" pitchFamily="18" charset="-120"/>
              </a:rPr>
              <a:t>Better code will be generated</a:t>
            </a:r>
          </a:p>
          <a:p>
            <a:pPr>
              <a:spcBef>
                <a:spcPct val="0"/>
              </a:spcBef>
              <a:buClrTx/>
              <a:buSzTx/>
              <a:buFont typeface="Wingdings" panose="05000000000000000000" pitchFamily="2" charset="2"/>
              <a:buChar char="Ø"/>
            </a:pPr>
            <a:r>
              <a:rPr lang="en-US" altLang="zh-TW" sz="2400">
                <a:solidFill>
                  <a:srgbClr val="FF0000"/>
                </a:solidFill>
                <a:ea typeface="新細明體" panose="02020500000000000000" pitchFamily="18" charset="-120"/>
              </a:rPr>
              <a:t>Fewer compiler bugs</a:t>
            </a:r>
          </a:p>
          <a:p>
            <a:pPr>
              <a:spcBef>
                <a:spcPct val="0"/>
              </a:spcBef>
              <a:buClrTx/>
              <a:buSzTx/>
              <a:buFont typeface="Wingdings" panose="05000000000000000000" pitchFamily="2" charset="2"/>
              <a:buChar char="Ø"/>
            </a:pPr>
            <a:r>
              <a:rPr lang="en-US" altLang="zh-TW" sz="2400">
                <a:solidFill>
                  <a:srgbClr val="FF0000"/>
                </a:solidFill>
                <a:ea typeface="新細明體" panose="02020500000000000000" pitchFamily="18" charset="-120"/>
              </a:rPr>
              <a:t>Compiler is smaller, faster, reliable</a:t>
            </a:r>
          </a:p>
          <a:p>
            <a:pPr>
              <a:spcBef>
                <a:spcPct val="0"/>
              </a:spcBef>
              <a:buClrTx/>
              <a:buSzTx/>
              <a:buFont typeface="Wingdings" panose="05000000000000000000" pitchFamily="2" charset="2"/>
              <a:buChar char="Ø"/>
            </a:pPr>
            <a:r>
              <a:rPr lang="en-US" altLang="zh-TW" sz="2400">
                <a:solidFill>
                  <a:srgbClr val="FF0000"/>
                </a:solidFill>
                <a:ea typeface="新細明體" panose="02020500000000000000" pitchFamily="18" charset="-120"/>
              </a:rPr>
              <a:t>Good diagnostic messages and development tools</a:t>
            </a:r>
          </a:p>
          <a:p>
            <a:pPr>
              <a:spcBef>
                <a:spcPct val="0"/>
              </a:spcBef>
              <a:buClrTx/>
              <a:buSzTx/>
              <a:buFont typeface="Wingdings" panose="05000000000000000000" pitchFamily="2" charset="2"/>
              <a:buChar char="Ø"/>
            </a:pPr>
            <a:endParaRPr lang="en-US" altLang="zh-TW" sz="2400">
              <a:solidFill>
                <a:srgbClr val="FF0000"/>
              </a:solidFill>
              <a:ea typeface="新細明體" panose="02020500000000000000" pitchFamily="18" charset="-120"/>
            </a:endParaRPr>
          </a:p>
          <a:p>
            <a:pPr>
              <a:spcBef>
                <a:spcPct val="0"/>
              </a:spcBef>
              <a:buClrTx/>
              <a:buSzTx/>
              <a:buFontTx/>
              <a:buNone/>
            </a:pPr>
            <a:endParaRPr lang="zh-TW" altLang="en-US" sz="2400">
              <a:solidFill>
                <a:srgbClr val="FF0000"/>
              </a:solidFill>
              <a:ea typeface="新細明體" panose="02020500000000000000" pitchFamily="18" charset="-12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ltLang="zh-TW"/>
              <a:t>Department of Electrical Engineering</a:t>
            </a:r>
          </a:p>
        </p:txBody>
      </p:sp>
      <p:sp>
        <p:nvSpPr>
          <p:cNvPr id="5" name="Rectangle 2"/>
          <p:cNvSpPr>
            <a:spLocks noGrp="1" noChangeArrowheads="1"/>
          </p:cNvSpPr>
          <p:nvPr>
            <p:ph type="title" idx="4294967295"/>
          </p:nvPr>
        </p:nvSpPr>
        <p:spPr>
          <a:xfrm>
            <a:off x="457200" y="277813"/>
            <a:ext cx="8229600" cy="788987"/>
          </a:xfrm>
        </p:spPr>
        <p:txBody>
          <a:bodyPr/>
          <a:lstStyle/>
          <a:p>
            <a:pPr eaLnBrk="1" hangingPunct="1">
              <a:defRPr/>
            </a:pPr>
            <a:r>
              <a:rPr lang="en-US" altLang="zh-TW" sz="3600" dirty="0">
                <a:ea typeface="新細明體" pitchFamily="18" charset="-120"/>
              </a:rPr>
              <a:t>Why Study Compilers?</a:t>
            </a:r>
          </a:p>
        </p:txBody>
      </p:sp>
      <p:sp>
        <p:nvSpPr>
          <p:cNvPr id="6" name="Rectangle 3"/>
          <p:cNvSpPr txBox="1">
            <a:spLocks noChangeArrowheads="1"/>
          </p:cNvSpPr>
          <p:nvPr/>
        </p:nvSpPr>
        <p:spPr bwMode="auto">
          <a:xfrm>
            <a:off x="457200" y="838200"/>
            <a:ext cx="8458200" cy="4953000"/>
          </a:xfrm>
          <a:prstGeom prst="rect">
            <a:avLst/>
          </a:prstGeom>
          <a:noFill/>
          <a:ln w="9525">
            <a:noFill/>
            <a:miter lim="800000"/>
            <a:headEnd/>
            <a:tailEnd/>
          </a:ln>
          <a:effectLst/>
        </p:spPr>
        <p:txBody>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9pPr>
          </a:lstStyle>
          <a:p>
            <a:pPr eaLnBrk="1" hangingPunct="1">
              <a:defRPr/>
            </a:pPr>
            <a:r>
              <a:rPr lang="en-US" altLang="zh-TW" sz="2800" kern="0">
                <a:ea typeface="新細明體" panose="02020500000000000000" pitchFamily="18" charset="-120"/>
              </a:rPr>
              <a:t>Influences on programming language design (</a:t>
            </a:r>
            <a:r>
              <a:rPr lang="en-US" altLang="zh-TW" sz="2400" kern="0">
                <a:ea typeface="新細明體" panose="02020500000000000000" pitchFamily="18" charset="-120"/>
              </a:rPr>
              <a:t>see section 1.6</a:t>
            </a:r>
            <a:r>
              <a:rPr lang="en-US" altLang="zh-TW" sz="2800" kern="0">
                <a:ea typeface="新細明體" panose="02020500000000000000" pitchFamily="18" charset="-120"/>
              </a:rPr>
              <a:t>)</a:t>
            </a:r>
          </a:p>
          <a:p>
            <a:pPr eaLnBrk="1" hangingPunct="1">
              <a:defRPr/>
            </a:pPr>
            <a:r>
              <a:rPr lang="en-US" altLang="zh-TW" sz="2800" kern="0">
                <a:ea typeface="新細明體" panose="02020500000000000000" pitchFamily="18" charset="-120"/>
              </a:rPr>
              <a:t>Influences on computer design (</a:t>
            </a:r>
            <a:r>
              <a:rPr lang="en-US" altLang="zh-TW" sz="2400" kern="0">
                <a:ea typeface="新細明體" panose="02020500000000000000" pitchFamily="18" charset="-120"/>
              </a:rPr>
              <a:t>see section 1.7</a:t>
            </a:r>
            <a:r>
              <a:rPr lang="en-US" altLang="zh-TW" sz="2800" kern="0">
                <a:ea typeface="新細明體" panose="02020500000000000000" pitchFamily="18" charset="-120"/>
              </a:rPr>
              <a:t>)</a:t>
            </a:r>
          </a:p>
          <a:p>
            <a:pPr eaLnBrk="1" hangingPunct="1">
              <a:defRPr/>
            </a:pPr>
            <a:r>
              <a:rPr lang="en-US" altLang="zh-TW" sz="2800" kern="0">
                <a:ea typeface="新細明體" panose="02020500000000000000" pitchFamily="18" charset="-120"/>
              </a:rPr>
              <a:t>Compiling techniques are useful for software development</a:t>
            </a:r>
          </a:p>
          <a:p>
            <a:pPr lvl="1" eaLnBrk="1" hangingPunct="1">
              <a:defRPr/>
            </a:pPr>
            <a:r>
              <a:rPr lang="en-US" altLang="zh-TW" sz="2400" kern="0">
                <a:ea typeface="新細明體" panose="02020500000000000000" pitchFamily="18" charset="-120"/>
              </a:rPr>
              <a:t>Parsing techniques are often used </a:t>
            </a:r>
          </a:p>
          <a:p>
            <a:pPr lvl="1" eaLnBrk="1" hangingPunct="1">
              <a:defRPr/>
            </a:pPr>
            <a:r>
              <a:rPr lang="en-US" altLang="zh-TW" sz="2400" kern="0">
                <a:ea typeface="新細明體" panose="02020500000000000000" pitchFamily="18" charset="-120"/>
              </a:rPr>
              <a:t>Learn practical data structures and algorithms</a:t>
            </a:r>
          </a:p>
          <a:p>
            <a:pPr lvl="1" eaLnBrk="1" hangingPunct="1">
              <a:defRPr/>
            </a:pPr>
            <a:r>
              <a:rPr lang="en-US" altLang="zh-TW" sz="2400" kern="0">
                <a:ea typeface="新細明體" panose="02020500000000000000" pitchFamily="18" charset="-120"/>
              </a:rPr>
              <a:t>Basis for many tools such as text formatters, structure editors, silicon compilers, design verification tools,…</a:t>
            </a:r>
          </a:p>
          <a:p>
            <a:pPr eaLnBrk="1" hangingPunct="1">
              <a:defRPr/>
            </a:pPr>
            <a:r>
              <a:rPr lang="en-US" altLang="zh-TW" sz="2800" kern="0">
                <a:ea typeface="新細明體" panose="02020500000000000000" pitchFamily="18" charset="-120"/>
              </a:rPr>
              <a:t>So you may write more efficient code</a:t>
            </a:r>
          </a:p>
          <a:p>
            <a:pPr lvl="1" eaLnBrk="1" hangingPunct="1">
              <a:defRPr/>
            </a:pPr>
            <a:r>
              <a:rPr lang="en-US" altLang="zh-TW" sz="2400" kern="0">
                <a:ea typeface="新細明體" panose="02020500000000000000" pitchFamily="18" charset="-120"/>
              </a:rPr>
              <a:t>Writing a compiler requires an understanding of almost many important CS subfields</a:t>
            </a:r>
            <a:endParaRPr lang="zh-TW" altLang="en-US" sz="2400" kern="0" dirty="0">
              <a:ea typeface="新細明體" panose="02020500000000000000" pitchFamily="18" charset="-120"/>
            </a:endParaRPr>
          </a:p>
        </p:txBody>
      </p:sp>
      <p:sp>
        <p:nvSpPr>
          <p:cNvPr id="69637" name="文字方塊 7"/>
          <p:cNvSpPr txBox="1">
            <a:spLocks noChangeArrowheads="1"/>
          </p:cNvSpPr>
          <p:nvPr/>
        </p:nvSpPr>
        <p:spPr bwMode="auto">
          <a:xfrm>
            <a:off x="3429000" y="1143000"/>
            <a:ext cx="5562600" cy="2678113"/>
          </a:xfrm>
          <a:prstGeom prst="rect">
            <a:avLst/>
          </a:prstGeom>
          <a:solidFill>
            <a:srgbClr val="FFFF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a:solidFill>
                  <a:srgbClr val="FF0000"/>
                </a:solidFill>
                <a:ea typeface="新細明體" panose="02020500000000000000" pitchFamily="18" charset="-120"/>
              </a:rPr>
              <a:t>Many machines failed because they are hard to compile/optimize for:</a:t>
            </a:r>
          </a:p>
          <a:p>
            <a:pPr>
              <a:spcBef>
                <a:spcPct val="0"/>
              </a:spcBef>
              <a:buClrTx/>
              <a:buSzTx/>
              <a:buFontTx/>
              <a:buNone/>
            </a:pPr>
            <a:endParaRPr lang="en-US" altLang="zh-TW" sz="2400">
              <a:solidFill>
                <a:srgbClr val="FF0000"/>
              </a:solidFill>
              <a:ea typeface="新細明體" panose="02020500000000000000" pitchFamily="18" charset="-120"/>
            </a:endParaRPr>
          </a:p>
          <a:p>
            <a:pPr>
              <a:spcBef>
                <a:spcPct val="0"/>
              </a:spcBef>
              <a:buClrTx/>
              <a:buSzTx/>
              <a:buFontTx/>
              <a:buNone/>
            </a:pPr>
            <a:r>
              <a:rPr lang="en-US" altLang="zh-TW" sz="2400">
                <a:solidFill>
                  <a:srgbClr val="FF0000"/>
                </a:solidFill>
                <a:ea typeface="新細明體" panose="02020500000000000000" pitchFamily="18" charset="-120"/>
              </a:rPr>
              <a:t>Intel 860</a:t>
            </a:r>
          </a:p>
          <a:p>
            <a:pPr>
              <a:spcBef>
                <a:spcPct val="0"/>
              </a:spcBef>
              <a:buClrTx/>
              <a:buSzTx/>
              <a:buFontTx/>
              <a:buNone/>
            </a:pPr>
            <a:r>
              <a:rPr lang="en-US" altLang="zh-TW" sz="2400">
                <a:solidFill>
                  <a:srgbClr val="FF0000"/>
                </a:solidFill>
                <a:ea typeface="新細明體" panose="02020500000000000000" pitchFamily="18" charset="-120"/>
              </a:rPr>
              <a:t>IBM cell</a:t>
            </a:r>
          </a:p>
          <a:p>
            <a:pPr>
              <a:spcBef>
                <a:spcPct val="0"/>
              </a:spcBef>
              <a:buClrTx/>
              <a:buSzTx/>
              <a:buFontTx/>
              <a:buNone/>
            </a:pPr>
            <a:r>
              <a:rPr lang="en-US" altLang="zh-TW" sz="2400">
                <a:solidFill>
                  <a:srgbClr val="FF0000"/>
                </a:solidFill>
                <a:ea typeface="新細明體" panose="02020500000000000000" pitchFamily="18" charset="-120"/>
              </a:rPr>
              <a:t>Cray-2</a:t>
            </a:r>
          </a:p>
          <a:p>
            <a:pPr>
              <a:spcBef>
                <a:spcPct val="0"/>
              </a:spcBef>
              <a:buClrTx/>
              <a:buSzTx/>
              <a:buFontTx/>
              <a:buNone/>
            </a:pPr>
            <a:endParaRPr lang="zh-TW" altLang="en-US" sz="2400">
              <a:solidFill>
                <a:srgbClr val="FF0000"/>
              </a:solidFill>
              <a:ea typeface="新細明體" panose="02020500000000000000" pitchFamily="18" charset="-12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ltLang="zh-TW"/>
              <a:t>Department of Electrical Engineering</a:t>
            </a:r>
          </a:p>
        </p:txBody>
      </p:sp>
      <p:sp>
        <p:nvSpPr>
          <p:cNvPr id="5" name="Rectangle 2"/>
          <p:cNvSpPr>
            <a:spLocks noGrp="1" noChangeArrowheads="1"/>
          </p:cNvSpPr>
          <p:nvPr>
            <p:ph type="title" idx="4294967295"/>
          </p:nvPr>
        </p:nvSpPr>
        <p:spPr>
          <a:xfrm>
            <a:off x="457200" y="277813"/>
            <a:ext cx="8229600" cy="788987"/>
          </a:xfrm>
        </p:spPr>
        <p:txBody>
          <a:bodyPr/>
          <a:lstStyle/>
          <a:p>
            <a:pPr eaLnBrk="1" hangingPunct="1">
              <a:defRPr/>
            </a:pPr>
            <a:r>
              <a:rPr lang="en-US" altLang="zh-TW" sz="3600" dirty="0">
                <a:ea typeface="新細明體" pitchFamily="18" charset="-120"/>
              </a:rPr>
              <a:t>Why Study Compilers?</a:t>
            </a:r>
          </a:p>
        </p:txBody>
      </p:sp>
      <p:sp>
        <p:nvSpPr>
          <p:cNvPr id="6" name="Rectangle 3"/>
          <p:cNvSpPr txBox="1">
            <a:spLocks noChangeArrowheads="1"/>
          </p:cNvSpPr>
          <p:nvPr/>
        </p:nvSpPr>
        <p:spPr bwMode="auto">
          <a:xfrm>
            <a:off x="457200" y="838200"/>
            <a:ext cx="8458200" cy="4953000"/>
          </a:xfrm>
          <a:prstGeom prst="rect">
            <a:avLst/>
          </a:prstGeom>
          <a:noFill/>
          <a:ln w="9525">
            <a:noFill/>
            <a:miter lim="800000"/>
            <a:headEnd/>
            <a:tailEnd/>
          </a:ln>
          <a:effectLst/>
        </p:spPr>
        <p:txBody>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90000"/>
              <a:buFont typeface="Wingdings" pitchFamily="2" charset="2"/>
              <a:buBlip>
                <a:blip r:embed="rId4"/>
              </a:buBlip>
              <a:defRPr sz="2000">
                <a:solidFill>
                  <a:schemeClr val="tx1"/>
                </a:solidFill>
                <a:effectLst>
                  <a:outerShdw blurRad="38100" dist="38100" dir="2700000" algn="tl">
                    <a:srgbClr val="000000"/>
                  </a:outerShdw>
                </a:effectLst>
                <a:latin typeface="+mn-lt"/>
              </a:defRPr>
            </a:lvl9pPr>
          </a:lstStyle>
          <a:p>
            <a:pPr eaLnBrk="1" hangingPunct="1">
              <a:defRPr/>
            </a:pPr>
            <a:r>
              <a:rPr lang="en-US" altLang="zh-TW" sz="2800" kern="0">
                <a:ea typeface="新細明體" panose="02020500000000000000" pitchFamily="18" charset="-120"/>
              </a:rPr>
              <a:t>Influences on programming language design (</a:t>
            </a:r>
            <a:r>
              <a:rPr lang="en-US" altLang="zh-TW" sz="2400" kern="0">
                <a:ea typeface="新細明體" panose="02020500000000000000" pitchFamily="18" charset="-120"/>
              </a:rPr>
              <a:t>see section 1.6</a:t>
            </a:r>
            <a:r>
              <a:rPr lang="en-US" altLang="zh-TW" sz="2800" kern="0">
                <a:ea typeface="新細明體" panose="02020500000000000000" pitchFamily="18" charset="-120"/>
              </a:rPr>
              <a:t>)</a:t>
            </a:r>
          </a:p>
          <a:p>
            <a:pPr eaLnBrk="1" hangingPunct="1">
              <a:defRPr/>
            </a:pPr>
            <a:r>
              <a:rPr lang="en-US" altLang="zh-TW" sz="2800" kern="0">
                <a:ea typeface="新細明體" panose="02020500000000000000" pitchFamily="18" charset="-120"/>
              </a:rPr>
              <a:t>Influences on computer design (</a:t>
            </a:r>
            <a:r>
              <a:rPr lang="en-US" altLang="zh-TW" sz="2400" kern="0">
                <a:ea typeface="新細明體" panose="02020500000000000000" pitchFamily="18" charset="-120"/>
              </a:rPr>
              <a:t>see section 1.7</a:t>
            </a:r>
            <a:r>
              <a:rPr lang="en-US" altLang="zh-TW" sz="2800" kern="0">
                <a:ea typeface="新細明體" panose="02020500000000000000" pitchFamily="18" charset="-120"/>
              </a:rPr>
              <a:t>)</a:t>
            </a:r>
          </a:p>
          <a:p>
            <a:pPr eaLnBrk="1" hangingPunct="1">
              <a:defRPr/>
            </a:pPr>
            <a:r>
              <a:rPr lang="en-US" altLang="zh-TW" sz="2800" kern="0">
                <a:ea typeface="新細明體" panose="02020500000000000000" pitchFamily="18" charset="-120"/>
              </a:rPr>
              <a:t>Compiling techniques are useful for software development</a:t>
            </a:r>
          </a:p>
          <a:p>
            <a:pPr lvl="1" eaLnBrk="1" hangingPunct="1">
              <a:defRPr/>
            </a:pPr>
            <a:r>
              <a:rPr lang="en-US" altLang="zh-TW" sz="2400" kern="0">
                <a:ea typeface="新細明體" panose="02020500000000000000" pitchFamily="18" charset="-120"/>
              </a:rPr>
              <a:t>Parsing techniques are often used </a:t>
            </a:r>
          </a:p>
          <a:p>
            <a:pPr lvl="1" eaLnBrk="1" hangingPunct="1">
              <a:defRPr/>
            </a:pPr>
            <a:r>
              <a:rPr lang="en-US" altLang="zh-TW" sz="2400" kern="0">
                <a:ea typeface="新細明體" panose="02020500000000000000" pitchFamily="18" charset="-120"/>
              </a:rPr>
              <a:t>Learn practical data structures and algorithms</a:t>
            </a:r>
          </a:p>
          <a:p>
            <a:pPr lvl="1" eaLnBrk="1" hangingPunct="1">
              <a:defRPr/>
            </a:pPr>
            <a:r>
              <a:rPr lang="en-US" altLang="zh-TW" sz="2400" kern="0">
                <a:ea typeface="新細明體" panose="02020500000000000000" pitchFamily="18" charset="-120"/>
              </a:rPr>
              <a:t>Basis for many tools such as text formatters, structure editors, silicon compilers, design verification tools,…</a:t>
            </a:r>
          </a:p>
          <a:p>
            <a:pPr eaLnBrk="1" hangingPunct="1">
              <a:defRPr/>
            </a:pPr>
            <a:r>
              <a:rPr lang="en-US" altLang="zh-TW" sz="2800" kern="0">
                <a:ea typeface="新細明體" panose="02020500000000000000" pitchFamily="18" charset="-120"/>
              </a:rPr>
              <a:t>So you may write more efficient code</a:t>
            </a:r>
          </a:p>
          <a:p>
            <a:pPr lvl="1" eaLnBrk="1" hangingPunct="1">
              <a:defRPr/>
            </a:pPr>
            <a:r>
              <a:rPr lang="en-US" altLang="zh-TW" sz="2400" kern="0">
                <a:ea typeface="新細明體" panose="02020500000000000000" pitchFamily="18" charset="-120"/>
              </a:rPr>
              <a:t>Writing a compiler requires an understanding of almost many important CS subfields</a:t>
            </a:r>
            <a:endParaRPr lang="zh-TW" altLang="en-US" sz="2400" kern="0" dirty="0">
              <a:ea typeface="新細明體" panose="02020500000000000000" pitchFamily="18" charset="-120"/>
            </a:endParaRPr>
          </a:p>
        </p:txBody>
      </p:sp>
      <p:sp>
        <p:nvSpPr>
          <p:cNvPr id="70661" name="文字方塊 7"/>
          <p:cNvSpPr txBox="1">
            <a:spLocks noChangeArrowheads="1"/>
          </p:cNvSpPr>
          <p:nvPr/>
        </p:nvSpPr>
        <p:spPr bwMode="auto">
          <a:xfrm>
            <a:off x="1676400" y="5638800"/>
            <a:ext cx="7239000" cy="646113"/>
          </a:xfrm>
          <a:prstGeom prst="rect">
            <a:avLst/>
          </a:prstGeom>
          <a:solidFill>
            <a:srgbClr val="FFFF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1800">
                <a:solidFill>
                  <a:srgbClr val="FF0000"/>
                </a:solidFill>
                <a:ea typeface="新細明體" panose="02020500000000000000" pitchFamily="18" charset="-120"/>
              </a:rPr>
              <a:t>programming, data structures and algorithms, automata and formal language, system programming, computer organization. </a:t>
            </a:r>
            <a:endParaRPr lang="zh-TW" altLang="en-US" sz="1800">
              <a:solidFill>
                <a:srgbClr val="FF0000"/>
              </a:solidFill>
              <a:ea typeface="新細明體" panose="02020500000000000000" pitchFamily="18" charset="-12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ltLang="zh-TW"/>
              <a:t>Department of Electrical Engineering</a:t>
            </a:r>
          </a:p>
        </p:txBody>
      </p:sp>
      <p:sp>
        <p:nvSpPr>
          <p:cNvPr id="5" name="Rectangle 2"/>
          <p:cNvSpPr>
            <a:spLocks noGrp="1" noChangeArrowheads="1"/>
          </p:cNvSpPr>
          <p:nvPr>
            <p:ph type="title" idx="4294967295"/>
          </p:nvPr>
        </p:nvSpPr>
        <p:spPr>
          <a:xfrm>
            <a:off x="457200" y="277813"/>
            <a:ext cx="8229600" cy="788987"/>
          </a:xfrm>
        </p:spPr>
        <p:txBody>
          <a:bodyPr/>
          <a:lstStyle/>
          <a:p>
            <a:pPr eaLnBrk="1" hangingPunct="1">
              <a:defRPr/>
            </a:pPr>
            <a:r>
              <a:rPr lang="en-US" altLang="zh-TW" sz="3600" dirty="0">
                <a:solidFill>
                  <a:srgbClr val="FFFF00"/>
                </a:solidFill>
                <a:ea typeface="新細明體" pitchFamily="18" charset="-120"/>
              </a:rPr>
              <a:t>Compiler</a:t>
            </a:r>
            <a:r>
              <a:rPr lang="en-US" altLang="zh-TW" sz="3600" dirty="0">
                <a:ea typeface="新細明體" pitchFamily="18" charset="-120"/>
              </a:rPr>
              <a:t> and </a:t>
            </a:r>
            <a:r>
              <a:rPr lang="en-US" altLang="zh-TW" sz="3600" dirty="0">
                <a:solidFill>
                  <a:srgbClr val="FFFF00"/>
                </a:solidFill>
                <a:ea typeface="新細明體" pitchFamily="18" charset="-120"/>
              </a:rPr>
              <a:t>AI</a:t>
            </a:r>
          </a:p>
        </p:txBody>
      </p:sp>
      <p:sp>
        <p:nvSpPr>
          <p:cNvPr id="6" name="Rectangle 3"/>
          <p:cNvSpPr txBox="1">
            <a:spLocks noChangeArrowheads="1"/>
          </p:cNvSpPr>
          <p:nvPr/>
        </p:nvSpPr>
        <p:spPr bwMode="auto">
          <a:xfrm>
            <a:off x="152400" y="1066800"/>
            <a:ext cx="8839200" cy="5181600"/>
          </a:xfrm>
          <a:prstGeom prst="rect">
            <a:avLst/>
          </a:prstGeom>
          <a:noFill/>
          <a:ln w="9525">
            <a:noFill/>
            <a:miter lim="800000"/>
            <a:headEnd/>
            <a:tailEnd/>
          </a:ln>
          <a:effectLst/>
        </p:spPr>
        <p:txBody>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90000"/>
              <a:buFont typeface="Wingdings" pitchFamily="2" charset="2"/>
              <a:buBlip>
                <a:blip r:embed="rId5"/>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90000"/>
              <a:buFont typeface="Wingdings" pitchFamily="2" charset="2"/>
              <a:buBlip>
                <a:blip r:embed="rId5"/>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90000"/>
              <a:buFont typeface="Wingdings" pitchFamily="2" charset="2"/>
              <a:buBlip>
                <a:blip r:embed="rId5"/>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90000"/>
              <a:buFont typeface="Wingdings" pitchFamily="2" charset="2"/>
              <a:buBlip>
                <a:blip r:embed="rId5"/>
              </a:buBlip>
              <a:defRPr sz="2000">
                <a:solidFill>
                  <a:schemeClr val="tx1"/>
                </a:solidFill>
                <a:effectLst>
                  <a:outerShdw blurRad="38100" dist="38100" dir="2700000" algn="tl">
                    <a:srgbClr val="000000"/>
                  </a:outerShdw>
                </a:effectLst>
                <a:latin typeface="+mn-lt"/>
              </a:defRPr>
            </a:lvl9pPr>
          </a:lstStyle>
          <a:p>
            <a:pPr eaLnBrk="1" hangingPunct="1">
              <a:buFont typeface="Wingdings" panose="05000000000000000000" pitchFamily="2" charset="2"/>
              <a:buChar char="§"/>
              <a:defRPr/>
            </a:pPr>
            <a:r>
              <a:rPr lang="en-US" altLang="zh-TW" sz="2400" kern="0" dirty="0">
                <a:ea typeface="新細明體" panose="02020500000000000000" pitchFamily="18" charset="-120"/>
              </a:rPr>
              <a:t> Compiler is AI, it has high intelligence: </a:t>
            </a:r>
          </a:p>
          <a:p>
            <a:pPr lvl="1" eaLnBrk="1" hangingPunct="1">
              <a:buFont typeface="Wingdings" panose="05000000000000000000" pitchFamily="2" charset="2"/>
              <a:buChar char="§"/>
              <a:defRPr/>
            </a:pPr>
            <a:r>
              <a:rPr lang="en-US" altLang="zh-TW" sz="2000" kern="0" dirty="0">
                <a:ea typeface="新細明體" panose="02020500000000000000" pitchFamily="18" charset="-120"/>
              </a:rPr>
              <a:t>It can correct your syntax errors, ensure correct semantics </a:t>
            </a:r>
          </a:p>
          <a:p>
            <a:pPr lvl="1" eaLnBrk="1" hangingPunct="1">
              <a:buFont typeface="Wingdings" panose="05000000000000000000" pitchFamily="2" charset="2"/>
              <a:buChar char="§"/>
              <a:defRPr/>
            </a:pPr>
            <a:r>
              <a:rPr lang="en-US" altLang="zh-TW" sz="2000" kern="0" dirty="0">
                <a:ea typeface="新細明體" panose="02020500000000000000" pitchFamily="18" charset="-120"/>
              </a:rPr>
              <a:t>It is an expert in generating highly efficient machine code</a:t>
            </a:r>
          </a:p>
          <a:p>
            <a:pPr eaLnBrk="1" hangingPunct="1">
              <a:buFont typeface="Wingdings" panose="05000000000000000000" pitchFamily="2" charset="2"/>
              <a:buChar char="§"/>
              <a:defRPr/>
            </a:pPr>
            <a:r>
              <a:rPr lang="en-US" altLang="zh-TW" sz="2400" kern="0" dirty="0">
                <a:ea typeface="新細明體" panose="02020500000000000000" pitchFamily="18" charset="-120"/>
              </a:rPr>
              <a:t>Compiler is the key to “SDE” – Software Defined Everything. Retargeting a software for different devices enables SDE.</a:t>
            </a:r>
          </a:p>
          <a:p>
            <a:pPr eaLnBrk="1" hangingPunct="1">
              <a:buFont typeface="Wingdings" panose="05000000000000000000" pitchFamily="2" charset="2"/>
              <a:buChar char="§"/>
              <a:defRPr/>
            </a:pPr>
            <a:r>
              <a:rPr lang="en-US" altLang="zh-TW" sz="2200" kern="0" dirty="0">
                <a:ea typeface="新細明體" panose="02020500000000000000" pitchFamily="18" charset="-120"/>
              </a:rPr>
              <a:t>Machine Learning (ML and DL) need domain specific compilers (such as XLA from Google) to increase performance</a:t>
            </a:r>
          </a:p>
          <a:p>
            <a:pPr eaLnBrk="1" hangingPunct="1">
              <a:buFont typeface="Wingdings" panose="05000000000000000000" pitchFamily="2" charset="2"/>
              <a:buChar char="§"/>
              <a:defRPr/>
            </a:pPr>
            <a:r>
              <a:rPr lang="en-US" altLang="zh-TW" sz="2400" kern="0" dirty="0">
                <a:ea typeface="新細明體" panose="02020500000000000000" pitchFamily="18" charset="-120"/>
              </a:rPr>
              <a:t>Compilers need AI/ML to be more intelligent </a:t>
            </a:r>
          </a:p>
          <a:p>
            <a:pPr lvl="1" eaLnBrk="1" hangingPunct="1">
              <a:buFont typeface="Wingdings" panose="05000000000000000000" pitchFamily="2" charset="2"/>
              <a:buChar char="§"/>
              <a:defRPr/>
            </a:pPr>
            <a:r>
              <a:rPr lang="en-US" altLang="zh-TW" sz="2000" kern="0" dirty="0">
                <a:ea typeface="新細明體" panose="02020500000000000000" pitchFamily="18" charset="-120"/>
              </a:rPr>
              <a:t>Deep learning to discover most suitable optimizations</a:t>
            </a:r>
          </a:p>
          <a:p>
            <a:pPr lvl="1" eaLnBrk="1" hangingPunct="1">
              <a:buFont typeface="Wingdings" panose="05000000000000000000" pitchFamily="2" charset="2"/>
              <a:buChar char="§"/>
              <a:defRPr/>
            </a:pPr>
            <a:r>
              <a:rPr lang="en-US" altLang="zh-TW" sz="2000" kern="0" dirty="0">
                <a:ea typeface="新細明體" panose="02020500000000000000" pitchFamily="18" charset="-120"/>
              </a:rPr>
              <a:t>Efficient and effective retargeting to various devices</a:t>
            </a:r>
          </a:p>
          <a:p>
            <a:pPr lvl="1" eaLnBrk="1" hangingPunct="1">
              <a:buFont typeface="Wingdings" panose="05000000000000000000" pitchFamily="2" charset="2"/>
              <a:buChar char="§"/>
              <a:defRPr/>
            </a:pPr>
            <a:r>
              <a:rPr lang="en-US" altLang="zh-TW" sz="2000" kern="0" dirty="0">
                <a:ea typeface="新細明體" panose="02020500000000000000" pitchFamily="18" charset="-120"/>
              </a:rPr>
              <a:t>Resource allocation and management for heterogeneous systems</a:t>
            </a:r>
          </a:p>
          <a:p>
            <a:pPr lvl="1" eaLnBrk="1" hangingPunct="1">
              <a:buFont typeface="Wingdings" panose="05000000000000000000" pitchFamily="2" charset="2"/>
              <a:buChar char="§"/>
              <a:defRPr/>
            </a:pPr>
            <a:r>
              <a:rPr lang="en-US" altLang="zh-TW" sz="2000" kern="0" dirty="0">
                <a:ea typeface="新細明體" panose="02020500000000000000" pitchFamily="18" charset="-120"/>
              </a:rPr>
              <a:t>Automate the </a:t>
            </a:r>
            <a:r>
              <a:rPr lang="en-US" altLang="zh-TW" sz="2000" kern="0">
                <a:ea typeface="新細明體" panose="02020500000000000000" pitchFamily="18" charset="-120"/>
              </a:rPr>
              <a:t>compiler generation</a:t>
            </a:r>
            <a:endParaRPr lang="en-US" altLang="zh-TW" sz="2000" kern="0" dirty="0">
              <a:ea typeface="新細明體" panose="02020500000000000000" pitchFamily="18" charset="-12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978F2F9F-B884-4C35-9B6A-9EC52C28C7CF}" type="slidenum">
              <a:rPr lang="zh-TW" altLang="en-US" sz="1200" smtClean="0"/>
              <a:pPr>
                <a:spcBef>
                  <a:spcPct val="0"/>
                </a:spcBef>
                <a:buClrTx/>
                <a:buSzTx/>
                <a:buFontTx/>
                <a:buNone/>
                <a:defRPr/>
              </a:pPr>
              <a:t>44</a:t>
            </a:fld>
            <a:endParaRPr lang="en-US" altLang="zh-TW" sz="1200"/>
          </a:p>
        </p:txBody>
      </p:sp>
      <p:sp>
        <p:nvSpPr>
          <p:cNvPr id="208898" name="Rectangle 2"/>
          <p:cNvSpPr>
            <a:spLocks noGrp="1" noChangeArrowheads="1"/>
          </p:cNvSpPr>
          <p:nvPr>
            <p:ph type="title"/>
          </p:nvPr>
        </p:nvSpPr>
        <p:spPr>
          <a:xfrm>
            <a:off x="381000" y="277813"/>
            <a:ext cx="8534400" cy="742950"/>
          </a:xfrm>
        </p:spPr>
        <p:txBody>
          <a:bodyPr/>
          <a:lstStyle/>
          <a:p>
            <a:pPr eaLnBrk="1" hangingPunct="1">
              <a:defRPr/>
            </a:pPr>
            <a:r>
              <a:rPr lang="en-US" altLang="zh-TW" sz="3600" dirty="0">
                <a:ea typeface="新細明體" pitchFamily="18" charset="-120"/>
              </a:rPr>
              <a:t>A Short History of Compiler Construction</a:t>
            </a:r>
          </a:p>
        </p:txBody>
      </p:sp>
      <p:sp>
        <p:nvSpPr>
          <p:cNvPr id="208899" name="Rectangle 3"/>
          <p:cNvSpPr>
            <a:spLocks noGrp="1" noChangeArrowheads="1"/>
          </p:cNvSpPr>
          <p:nvPr>
            <p:ph type="body" idx="1"/>
          </p:nvPr>
        </p:nvSpPr>
        <p:spPr>
          <a:xfrm>
            <a:off x="533400" y="838200"/>
            <a:ext cx="8229600" cy="5638800"/>
          </a:xfrm>
          <a:ln>
            <a:solidFill>
              <a:schemeClr val="tx1"/>
            </a:solidFill>
          </a:ln>
        </p:spPr>
        <p:txBody>
          <a:bodyPr/>
          <a:lstStyle/>
          <a:p>
            <a:pPr eaLnBrk="1" hangingPunct="1">
              <a:defRPr/>
            </a:pPr>
            <a:r>
              <a:rPr lang="en-US" altLang="zh-TW" sz="2800" dirty="0">
                <a:solidFill>
                  <a:srgbClr val="66FF33"/>
                </a:solidFill>
                <a:ea typeface="新細明體" panose="02020500000000000000" pitchFamily="18" charset="-120"/>
              </a:rPr>
              <a:t>1945—1960		Code Generation</a:t>
            </a:r>
          </a:p>
          <a:p>
            <a:pPr eaLnBrk="1" hangingPunct="1">
              <a:buFont typeface="Wingdings" panose="05000000000000000000" pitchFamily="2" charset="2"/>
              <a:buNone/>
              <a:defRPr/>
            </a:pPr>
            <a:r>
              <a:rPr lang="en-US" altLang="zh-TW" sz="2800" dirty="0">
                <a:ea typeface="新細明體" panose="02020500000000000000" pitchFamily="18" charset="-120"/>
              </a:rPr>
              <a:t>	</a:t>
            </a:r>
            <a:r>
              <a:rPr lang="en-US" altLang="zh-TW" sz="2000" dirty="0">
                <a:ea typeface="新細明體" panose="02020500000000000000" pitchFamily="18" charset="-120"/>
              </a:rPr>
              <a:t>How to generate code for a given machine</a:t>
            </a:r>
          </a:p>
          <a:p>
            <a:pPr eaLnBrk="1" hangingPunct="1">
              <a:buFont typeface="Wingdings" panose="05000000000000000000" pitchFamily="2" charset="2"/>
              <a:buNone/>
              <a:defRPr/>
            </a:pPr>
            <a:r>
              <a:rPr lang="en-US" altLang="zh-TW" sz="2000" dirty="0">
                <a:ea typeface="新細明體" panose="02020500000000000000" pitchFamily="18" charset="-120"/>
              </a:rPr>
              <a:t>	The goal was to match the efficiency of assembly coding.</a:t>
            </a:r>
          </a:p>
          <a:p>
            <a:pPr eaLnBrk="1" hangingPunct="1">
              <a:defRPr/>
            </a:pPr>
            <a:r>
              <a:rPr lang="en-US" altLang="zh-TW" sz="2800" dirty="0">
                <a:solidFill>
                  <a:srgbClr val="66FF33"/>
                </a:solidFill>
                <a:ea typeface="新細明體" panose="02020500000000000000" pitchFamily="18" charset="-120"/>
              </a:rPr>
              <a:t>1960—1975		Parsing</a:t>
            </a:r>
          </a:p>
          <a:p>
            <a:pPr marL="0" indent="0" eaLnBrk="1" hangingPunct="1">
              <a:buFont typeface="Wingdings" panose="05000000000000000000" pitchFamily="2" charset="2"/>
              <a:buNone/>
              <a:defRPr/>
            </a:pPr>
            <a:r>
              <a:rPr lang="en-US" altLang="zh-TW" sz="2800" dirty="0">
                <a:solidFill>
                  <a:srgbClr val="66FF33"/>
                </a:solidFill>
                <a:ea typeface="新細明體" panose="02020500000000000000" pitchFamily="18" charset="-120"/>
              </a:rPr>
              <a:t>    </a:t>
            </a:r>
            <a:r>
              <a:rPr lang="en-US" altLang="zh-TW" sz="2000" dirty="0">
                <a:ea typeface="新細明體" panose="02020500000000000000" pitchFamily="18" charset="-120"/>
              </a:rPr>
              <a:t>Many new languages came out. Automatic parsing      </a:t>
            </a:r>
          </a:p>
          <a:p>
            <a:pPr marL="0" indent="0" eaLnBrk="1" hangingPunct="1">
              <a:buFont typeface="Wingdings" panose="05000000000000000000" pitchFamily="2" charset="2"/>
              <a:buNone/>
              <a:defRPr/>
            </a:pPr>
            <a:r>
              <a:rPr lang="en-US" altLang="zh-TW" sz="2000" dirty="0">
                <a:ea typeface="新細明體" panose="02020500000000000000" pitchFamily="18" charset="-120"/>
              </a:rPr>
              <a:t>     became more important.</a:t>
            </a:r>
            <a:endParaRPr lang="en-US" altLang="zh-TW" sz="2000" dirty="0">
              <a:solidFill>
                <a:srgbClr val="66FF33"/>
              </a:solidFill>
              <a:ea typeface="新細明體" panose="02020500000000000000" pitchFamily="18" charset="-120"/>
            </a:endParaRPr>
          </a:p>
          <a:p>
            <a:pPr eaLnBrk="1" hangingPunct="1">
              <a:defRPr/>
            </a:pPr>
            <a:r>
              <a:rPr lang="en-US" altLang="zh-TW" sz="2800" dirty="0">
                <a:solidFill>
                  <a:srgbClr val="66FF33"/>
                </a:solidFill>
                <a:ea typeface="新細明體" panose="02020500000000000000" pitchFamily="18" charset="-120"/>
              </a:rPr>
              <a:t>1975—present		Code Optimization</a:t>
            </a:r>
          </a:p>
          <a:p>
            <a:pPr eaLnBrk="1" hangingPunct="1">
              <a:buFont typeface="Wingdings" panose="05000000000000000000" pitchFamily="2" charset="2"/>
              <a:buNone/>
              <a:defRPr/>
            </a:pPr>
            <a:r>
              <a:rPr lang="en-US" altLang="zh-TW" sz="2800" dirty="0">
                <a:solidFill>
                  <a:srgbClr val="66FF33"/>
                </a:solidFill>
                <a:ea typeface="新細明體" panose="02020500000000000000" pitchFamily="18" charset="-120"/>
              </a:rPr>
              <a:t>	</a:t>
            </a:r>
            <a:r>
              <a:rPr lang="en-US" altLang="zh-TW" sz="2800" dirty="0">
                <a:solidFill>
                  <a:srgbClr val="FFFF00"/>
                </a:solidFill>
                <a:ea typeface="新細明體" panose="02020500000000000000" pitchFamily="18" charset="-120"/>
              </a:rPr>
              <a:t> </a:t>
            </a:r>
            <a:r>
              <a:rPr lang="en-US" altLang="zh-TW" sz="2000" dirty="0">
                <a:solidFill>
                  <a:srgbClr val="FFFF00"/>
                </a:solidFill>
                <a:ea typeface="新細明體" panose="02020500000000000000" pitchFamily="18" charset="-120"/>
              </a:rPr>
              <a:t>ILP</a:t>
            </a:r>
            <a:r>
              <a:rPr lang="en-US" altLang="zh-TW" sz="2000" dirty="0">
                <a:ea typeface="新細明體" panose="02020500000000000000" pitchFamily="18" charset="-120"/>
              </a:rPr>
              <a:t>: RISC and Post-RISC machines. </a:t>
            </a:r>
          </a:p>
          <a:p>
            <a:pPr eaLnBrk="1" hangingPunct="1">
              <a:buFont typeface="Wingdings" panose="05000000000000000000" pitchFamily="2" charset="2"/>
              <a:buNone/>
              <a:defRPr/>
            </a:pPr>
            <a:r>
              <a:rPr lang="en-US" altLang="zh-TW" sz="2000" dirty="0">
                <a:ea typeface="新細明體" panose="02020500000000000000" pitchFamily="18" charset="-120"/>
              </a:rPr>
              <a:t>	 </a:t>
            </a:r>
            <a:r>
              <a:rPr lang="en-US" altLang="zh-TW" sz="2000" dirty="0">
                <a:solidFill>
                  <a:srgbClr val="FFFF00"/>
                </a:solidFill>
                <a:ea typeface="新細明體" panose="02020500000000000000" pitchFamily="18" charset="-120"/>
              </a:rPr>
              <a:t>Vectorization</a:t>
            </a:r>
            <a:r>
              <a:rPr lang="en-US" altLang="zh-TW" sz="2000" dirty="0">
                <a:ea typeface="新細明體" panose="02020500000000000000" pitchFamily="18" charset="-120"/>
              </a:rPr>
              <a:t>: SIMD(SSE, GPGPU) </a:t>
            </a:r>
          </a:p>
          <a:p>
            <a:pPr eaLnBrk="1" hangingPunct="1">
              <a:buFont typeface="Wingdings" panose="05000000000000000000" pitchFamily="2" charset="2"/>
              <a:buNone/>
              <a:defRPr/>
            </a:pPr>
            <a:r>
              <a:rPr lang="en-US" altLang="zh-TW" sz="2000" dirty="0">
                <a:solidFill>
                  <a:srgbClr val="FFFF00"/>
                </a:solidFill>
                <a:ea typeface="新細明體" panose="02020500000000000000" pitchFamily="18" charset="-120"/>
              </a:rPr>
              <a:t>	 Parallelization:</a:t>
            </a:r>
            <a:r>
              <a:rPr lang="en-US" altLang="zh-TW" sz="2000" dirty="0">
                <a:ea typeface="新細明體" panose="02020500000000000000" pitchFamily="18" charset="-120"/>
              </a:rPr>
              <a:t>  Multiprocessors (SMP, MPP)</a:t>
            </a:r>
          </a:p>
          <a:p>
            <a:pPr eaLnBrk="1" hangingPunct="1">
              <a:buFont typeface="Wingdings" panose="05000000000000000000" pitchFamily="2" charset="2"/>
              <a:buNone/>
              <a:defRPr/>
            </a:pPr>
            <a:r>
              <a:rPr lang="en-US" altLang="zh-TW" sz="2000" dirty="0">
                <a:ea typeface="新細明體" panose="02020500000000000000" pitchFamily="18" charset="-120"/>
              </a:rPr>
              <a:t>	 </a:t>
            </a:r>
            <a:r>
              <a:rPr lang="en-US" altLang="zh-TW" sz="2000" dirty="0">
                <a:solidFill>
                  <a:srgbClr val="FFFF00"/>
                </a:solidFill>
                <a:ea typeface="新細明體" panose="02020500000000000000" pitchFamily="18" charset="-120"/>
              </a:rPr>
              <a:t>Heterogeneous Computing: </a:t>
            </a:r>
            <a:r>
              <a:rPr lang="en-US" altLang="zh-TW" sz="2000" dirty="0" err="1">
                <a:ea typeface="新細明體" panose="02020500000000000000" pitchFamily="18" charset="-120"/>
              </a:rPr>
              <a:t>Cuda</a:t>
            </a:r>
            <a:r>
              <a:rPr lang="en-US" altLang="zh-TW" sz="2000" dirty="0">
                <a:ea typeface="新細明體" panose="02020500000000000000" pitchFamily="18" charset="-120"/>
              </a:rPr>
              <a:t>, </a:t>
            </a:r>
            <a:r>
              <a:rPr lang="en-US" altLang="zh-TW" sz="2000" dirty="0" err="1">
                <a:ea typeface="新細明體" panose="02020500000000000000" pitchFamily="18" charset="-120"/>
              </a:rPr>
              <a:t>OpenCL,HSA</a:t>
            </a:r>
            <a:endParaRPr lang="en-US" altLang="zh-TW" sz="2000" dirty="0">
              <a:solidFill>
                <a:srgbClr val="66FF33"/>
              </a:solidFill>
              <a:ea typeface="新細明體" panose="02020500000000000000" pitchFamily="18" charset="-120"/>
            </a:endParaRPr>
          </a:p>
          <a:p>
            <a:pPr eaLnBrk="1" hangingPunct="1">
              <a:defRPr/>
            </a:pPr>
            <a:r>
              <a:rPr lang="en-US" altLang="zh-TW" sz="2800" dirty="0">
                <a:solidFill>
                  <a:srgbClr val="66FF33"/>
                </a:solidFill>
                <a:ea typeface="新細明體" panose="02020500000000000000" pitchFamily="18" charset="-120"/>
              </a:rPr>
              <a:t>Present to 2050	</a:t>
            </a:r>
            <a:r>
              <a:rPr lang="en-US" altLang="zh-TW" sz="2800" dirty="0">
                <a:solidFill>
                  <a:srgbClr val="35EB87"/>
                </a:solidFill>
                <a:ea typeface="新細明體" panose="02020500000000000000" pitchFamily="18" charset="-120"/>
              </a:rPr>
              <a:t>AI and Compilers</a:t>
            </a:r>
          </a:p>
          <a:p>
            <a:pPr eaLnBrk="1" hangingPunct="1">
              <a:buFont typeface="Wingdings" panose="05000000000000000000" pitchFamily="2" charset="2"/>
              <a:buNone/>
              <a:defRPr/>
            </a:pPr>
            <a:r>
              <a:rPr lang="en-US" altLang="zh-TW" sz="2800" dirty="0">
                <a:ea typeface="新細明體" panose="02020500000000000000" pitchFamily="18" charset="-120"/>
              </a:rPr>
              <a:t>	</a:t>
            </a:r>
            <a:endParaRPr lang="en-US" altLang="zh-TW" sz="2400" dirty="0">
              <a:ea typeface="新細明體" panose="02020500000000000000" pitchFamily="18" charset="-120"/>
            </a:endParaRPr>
          </a:p>
          <a:p>
            <a:pPr eaLnBrk="1" hangingPunct="1">
              <a:buFont typeface="Wingdings" panose="05000000000000000000" pitchFamily="2" charset="2"/>
              <a:buNone/>
              <a:defRPr/>
            </a:pPr>
            <a:endParaRPr lang="zh-TW" altLang="en-US" sz="2800" dirty="0">
              <a:ea typeface="新細明體" panose="02020500000000000000" pitchFamily="18" charset="-12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0723FB8E-5705-44CB-9AF7-E41B7B6FCACA}" type="slidenum">
              <a:rPr lang="zh-TW" altLang="en-US" sz="1200" smtClean="0"/>
              <a:pPr>
                <a:spcBef>
                  <a:spcPct val="0"/>
                </a:spcBef>
                <a:buClrTx/>
                <a:buSzTx/>
                <a:buFontTx/>
                <a:buNone/>
                <a:defRPr/>
              </a:pPr>
              <a:t>45</a:t>
            </a:fld>
            <a:endParaRPr lang="en-US" altLang="zh-TW" sz="1200"/>
          </a:p>
        </p:txBody>
      </p:sp>
      <p:sp>
        <p:nvSpPr>
          <p:cNvPr id="210946" name="Rectangle 2"/>
          <p:cNvSpPr>
            <a:spLocks noGrp="1" noChangeArrowheads="1"/>
          </p:cNvSpPr>
          <p:nvPr>
            <p:ph type="title"/>
          </p:nvPr>
        </p:nvSpPr>
        <p:spPr>
          <a:xfrm>
            <a:off x="447675" y="177800"/>
            <a:ext cx="8229600" cy="838200"/>
          </a:xfrm>
        </p:spPr>
        <p:txBody>
          <a:bodyPr/>
          <a:lstStyle/>
          <a:p>
            <a:pPr eaLnBrk="1" hangingPunct="1">
              <a:defRPr/>
            </a:pPr>
            <a:r>
              <a:rPr lang="en-US" altLang="zh-TW" dirty="0">
                <a:ea typeface="新細明體" pitchFamily="18" charset="-120"/>
              </a:rPr>
              <a:t>Compiler Constructions Tools</a:t>
            </a:r>
          </a:p>
        </p:txBody>
      </p:sp>
      <p:sp>
        <p:nvSpPr>
          <p:cNvPr id="210947" name="Rectangle 3"/>
          <p:cNvSpPr>
            <a:spLocks noGrp="1" noChangeArrowheads="1"/>
          </p:cNvSpPr>
          <p:nvPr>
            <p:ph type="body" idx="1"/>
          </p:nvPr>
        </p:nvSpPr>
        <p:spPr>
          <a:xfrm>
            <a:off x="676275" y="1004888"/>
            <a:ext cx="7772400" cy="5360987"/>
          </a:xfrm>
        </p:spPr>
        <p:txBody>
          <a:bodyPr/>
          <a:lstStyle/>
          <a:p>
            <a:pPr eaLnBrk="1" hangingPunct="1">
              <a:defRPr/>
            </a:pPr>
            <a:r>
              <a:rPr lang="en-US" altLang="zh-TW" sz="2800" dirty="0">
                <a:ea typeface="新細明體" pitchFamily="18" charset="-120"/>
              </a:rPr>
              <a:t>First Fortran compiler took 18 person-years. Now with compiler construction tools, you may build a simple compiler in one semester.</a:t>
            </a:r>
          </a:p>
          <a:p>
            <a:pPr eaLnBrk="1" hangingPunct="1">
              <a:defRPr/>
            </a:pPr>
            <a:r>
              <a:rPr lang="en-US" altLang="zh-TW" sz="2800" dirty="0">
                <a:ea typeface="新細明體" pitchFamily="18" charset="-120"/>
              </a:rPr>
              <a:t>Translator writing tools:</a:t>
            </a:r>
          </a:p>
          <a:p>
            <a:pPr lvl="1" eaLnBrk="1" hangingPunct="1">
              <a:defRPr/>
            </a:pPr>
            <a:r>
              <a:rPr lang="en-US" altLang="zh-TW" dirty="0">
                <a:ea typeface="新細明體" pitchFamily="18" charset="-120"/>
              </a:rPr>
              <a:t>Scanner generator</a:t>
            </a:r>
          </a:p>
          <a:p>
            <a:pPr lvl="1" eaLnBrk="1" hangingPunct="1">
              <a:defRPr/>
            </a:pPr>
            <a:r>
              <a:rPr lang="en-US" altLang="zh-TW" dirty="0">
                <a:ea typeface="新細明體" pitchFamily="18" charset="-120"/>
              </a:rPr>
              <a:t>Parser generator</a:t>
            </a:r>
          </a:p>
          <a:p>
            <a:pPr lvl="1" eaLnBrk="1" hangingPunct="1">
              <a:defRPr/>
            </a:pPr>
            <a:r>
              <a:rPr lang="en-US" altLang="zh-TW" dirty="0">
                <a:ea typeface="新細明體" pitchFamily="18" charset="-120"/>
              </a:rPr>
              <a:t>Symbol table manager </a:t>
            </a:r>
          </a:p>
          <a:p>
            <a:pPr lvl="1" eaLnBrk="1" hangingPunct="1">
              <a:defRPr/>
            </a:pPr>
            <a:r>
              <a:rPr lang="en-US" altLang="zh-TW" dirty="0">
                <a:ea typeface="新細明體" pitchFamily="18" charset="-120"/>
              </a:rPr>
              <a:t>Attribute grammar evaluator</a:t>
            </a:r>
          </a:p>
          <a:p>
            <a:pPr lvl="1" eaLnBrk="1" hangingPunct="1">
              <a:defRPr/>
            </a:pPr>
            <a:r>
              <a:rPr lang="en-US" altLang="zh-TW" dirty="0">
                <a:ea typeface="新細明體" pitchFamily="18" charset="-120"/>
              </a:rPr>
              <a:t>Automatic code generator</a:t>
            </a:r>
          </a:p>
          <a:p>
            <a:pPr lvl="1" eaLnBrk="1" hangingPunct="1">
              <a:defRPr/>
            </a:pPr>
            <a:r>
              <a:rPr lang="en-US" altLang="zh-TW" dirty="0">
                <a:ea typeface="新細明體" pitchFamily="18" charset="-120"/>
              </a:rPr>
              <a:t>Data flow analyzer generator</a:t>
            </a:r>
          </a:p>
        </p:txBody>
      </p:sp>
      <p:sp>
        <p:nvSpPr>
          <p:cNvPr id="2" name="Rectangle 1"/>
          <p:cNvSpPr>
            <a:spLocks noChangeArrowheads="1"/>
          </p:cNvSpPr>
          <p:nvPr/>
        </p:nvSpPr>
        <p:spPr bwMode="auto">
          <a:xfrm>
            <a:off x="6705600" y="4813300"/>
            <a:ext cx="2133600" cy="990600"/>
          </a:xfrm>
          <a:prstGeom prst="rect">
            <a:avLst/>
          </a:prstGeom>
          <a:solidFill>
            <a:srgbClr val="FFFB3B"/>
          </a:solidFill>
          <a:ln w="28575"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800" b="1">
                <a:solidFill>
                  <a:srgbClr val="FF0000"/>
                </a:solidFill>
                <a:ea typeface="新細明體" panose="02020500000000000000" pitchFamily="18" charset="-120"/>
              </a:rPr>
              <a:t>Compiler - Compiler</a:t>
            </a:r>
            <a:endParaRPr lang="zh-TW" altLang="en-US" sz="2800" b="1">
              <a:solidFill>
                <a:srgbClr val="FF0000"/>
              </a:solidFill>
              <a:ea typeface="新細明體" panose="02020500000000000000"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C0171225-8FB5-4BBC-AA26-1B4236423AB8}" type="slidenum">
              <a:rPr lang="zh-TW" altLang="en-US" sz="1200" smtClean="0"/>
              <a:pPr>
                <a:spcBef>
                  <a:spcPct val="0"/>
                </a:spcBef>
                <a:buClrTx/>
                <a:buSzTx/>
                <a:buFontTx/>
                <a:buNone/>
                <a:defRPr/>
              </a:pPr>
              <a:t>46</a:t>
            </a:fld>
            <a:endParaRPr lang="en-US" altLang="zh-TW" sz="1200"/>
          </a:p>
        </p:txBody>
      </p:sp>
      <p:sp>
        <p:nvSpPr>
          <p:cNvPr id="211971" name="Rectangle 3"/>
          <p:cNvSpPr>
            <a:spLocks noGrp="1" noChangeArrowheads="1"/>
          </p:cNvSpPr>
          <p:nvPr>
            <p:ph type="body" idx="1"/>
          </p:nvPr>
        </p:nvSpPr>
        <p:spPr>
          <a:xfrm>
            <a:off x="304800" y="838200"/>
            <a:ext cx="8534400" cy="5257800"/>
          </a:xfrm>
        </p:spPr>
        <p:txBody>
          <a:bodyPr/>
          <a:lstStyle/>
          <a:p>
            <a:pPr eaLnBrk="1" hangingPunct="1">
              <a:defRPr/>
            </a:pPr>
            <a:r>
              <a:rPr lang="en-US" altLang="zh-TW" sz="2800" dirty="0">
                <a:ea typeface="新細明體" pitchFamily="18" charset="-120"/>
              </a:rPr>
              <a:t>In 2001, Intel introduced the new 64-bit architecture IA-64 or IPF (called Itanium Processor Family), and a few generations of processors, including Merced(01), McKinley (02), Madison (03), Montecito (06), and Tukwila (2010).  IA-64 is not binary compatible to x86 (i.e. IA-32) machines.</a:t>
            </a:r>
          </a:p>
          <a:p>
            <a:pPr eaLnBrk="1" hangingPunct="1">
              <a:buFont typeface="Wingdings" panose="05000000000000000000" pitchFamily="2" charset="2"/>
              <a:buNone/>
              <a:defRPr/>
            </a:pPr>
            <a:r>
              <a:rPr lang="en-US" altLang="zh-TW" dirty="0">
                <a:solidFill>
                  <a:srgbClr val="FFFF00"/>
                </a:solidFill>
                <a:ea typeface="新細明體" pitchFamily="18" charset="-120"/>
              </a:rPr>
              <a:t> Q: How to create the first C compiler on the Itanium machine?</a:t>
            </a:r>
          </a:p>
          <a:p>
            <a:pPr eaLnBrk="1" hangingPunct="1">
              <a:buFont typeface="Wingdings" panose="05000000000000000000" pitchFamily="2" charset="2"/>
              <a:buNone/>
              <a:defRPr/>
            </a:pPr>
            <a:r>
              <a:rPr lang="en-US" altLang="zh-TW" dirty="0">
                <a:ea typeface="新細明體" pitchFamily="18" charset="-120"/>
              </a:rPr>
              <a:t>    Requirements:</a:t>
            </a:r>
          </a:p>
          <a:p>
            <a:pPr eaLnBrk="1" hangingPunct="1">
              <a:buFont typeface="Wingdings" panose="05000000000000000000" pitchFamily="2" charset="2"/>
              <a:buNone/>
              <a:defRPr/>
            </a:pPr>
            <a:r>
              <a:rPr lang="en-US" altLang="zh-TW" sz="2800" dirty="0">
                <a:ea typeface="新細明體" pitchFamily="18" charset="-120"/>
              </a:rPr>
              <a:t>		1) the compiler must generates Itanium code</a:t>
            </a:r>
          </a:p>
          <a:p>
            <a:pPr eaLnBrk="1" hangingPunct="1">
              <a:buFont typeface="Wingdings" panose="05000000000000000000" pitchFamily="2" charset="2"/>
              <a:buNone/>
              <a:defRPr/>
            </a:pPr>
            <a:r>
              <a:rPr lang="en-US" altLang="zh-TW" sz="2800" dirty="0">
                <a:ea typeface="新細明體" pitchFamily="18" charset="-120"/>
              </a:rPr>
              <a:t>		2) the compiler must run on Itanium machines</a:t>
            </a:r>
          </a:p>
        </p:txBody>
      </p:sp>
      <p:sp>
        <p:nvSpPr>
          <p:cNvPr id="7" name="Title 6"/>
          <p:cNvSpPr>
            <a:spLocks noGrp="1"/>
          </p:cNvSpPr>
          <p:nvPr>
            <p:ph type="title"/>
          </p:nvPr>
        </p:nvSpPr>
        <p:spPr>
          <a:xfrm>
            <a:off x="457200" y="152400"/>
            <a:ext cx="8229600" cy="560388"/>
          </a:xfrm>
        </p:spPr>
        <p:txBody>
          <a:bodyPr/>
          <a:lstStyle/>
          <a:p>
            <a:pPr>
              <a:defRPr/>
            </a:pPr>
            <a:r>
              <a:rPr lang="en-US" altLang="zh-TW" dirty="0">
                <a:ea typeface="新細明體" pitchFamily="18" charset="-120"/>
              </a:rPr>
              <a:t>Quiz</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65542F93-0D2E-4348-BE99-3BA40B379E31}" type="slidenum">
              <a:rPr lang="zh-TW" altLang="en-US" sz="1200" smtClean="0"/>
              <a:pPr>
                <a:spcBef>
                  <a:spcPct val="0"/>
                </a:spcBef>
                <a:buClrTx/>
                <a:buSzTx/>
                <a:buFontTx/>
                <a:buNone/>
                <a:defRPr/>
              </a:pPr>
              <a:t>47</a:t>
            </a:fld>
            <a:endParaRPr lang="en-US" altLang="zh-TW" sz="1200"/>
          </a:p>
        </p:txBody>
      </p:sp>
      <p:sp>
        <p:nvSpPr>
          <p:cNvPr id="211971" name="Rectangle 3"/>
          <p:cNvSpPr>
            <a:spLocks noGrp="1" noChangeArrowheads="1"/>
          </p:cNvSpPr>
          <p:nvPr>
            <p:ph type="body" idx="1"/>
          </p:nvPr>
        </p:nvSpPr>
        <p:spPr>
          <a:xfrm>
            <a:off x="304800" y="838200"/>
            <a:ext cx="8534400" cy="5257800"/>
          </a:xfrm>
        </p:spPr>
        <p:txBody>
          <a:bodyPr/>
          <a:lstStyle/>
          <a:p>
            <a:pPr eaLnBrk="1" hangingPunct="1">
              <a:defRPr/>
            </a:pPr>
            <a:r>
              <a:rPr lang="en-US" altLang="zh-TW" dirty="0">
                <a:solidFill>
                  <a:srgbClr val="FFFF00"/>
                </a:solidFill>
                <a:ea typeface="新細明體" pitchFamily="18" charset="-120"/>
              </a:rPr>
              <a:t>Q: How to create the first C compiler on the Itanium machine?</a:t>
            </a:r>
          </a:p>
          <a:p>
            <a:pPr eaLnBrk="1" hangingPunct="1">
              <a:buFont typeface="Wingdings" panose="05000000000000000000" pitchFamily="2" charset="2"/>
              <a:buNone/>
              <a:defRPr/>
            </a:pPr>
            <a:r>
              <a:rPr lang="en-US" altLang="zh-TW" dirty="0">
                <a:ea typeface="新細明體" pitchFamily="18" charset="-120"/>
              </a:rPr>
              <a:t>	a) </a:t>
            </a:r>
            <a:r>
              <a:rPr lang="en-US" altLang="zh-TW" sz="2800" dirty="0">
                <a:ea typeface="新細明體" pitchFamily="18" charset="-120"/>
              </a:rPr>
              <a:t>Write a C compiler in C, compiled it on Itanium machines using GCC.</a:t>
            </a:r>
          </a:p>
          <a:p>
            <a:pPr eaLnBrk="1" hangingPunct="1">
              <a:buFont typeface="Wingdings" panose="05000000000000000000" pitchFamily="2" charset="2"/>
              <a:buNone/>
              <a:defRPr/>
            </a:pPr>
            <a:r>
              <a:rPr lang="en-US" altLang="zh-TW" sz="2800" dirty="0">
                <a:ea typeface="新細明體" pitchFamily="18" charset="-120"/>
              </a:rPr>
              <a:t>	b) Write a C compiler in Itanium machine code</a:t>
            </a:r>
          </a:p>
          <a:p>
            <a:pPr eaLnBrk="1" hangingPunct="1">
              <a:buFont typeface="Wingdings" panose="05000000000000000000" pitchFamily="2" charset="2"/>
              <a:buNone/>
              <a:defRPr/>
            </a:pPr>
            <a:r>
              <a:rPr lang="en-US" altLang="zh-TW" sz="2800" dirty="0">
                <a:ea typeface="新細明體" pitchFamily="18" charset="-120"/>
              </a:rPr>
              <a:t>	c) Develop a Cross-compiler on x86 PC and use it to compile </a:t>
            </a:r>
            <a:r>
              <a:rPr lang="en-US" altLang="zh-TW" sz="2800" i="1" dirty="0">
                <a:ea typeface="新細明體" pitchFamily="18" charset="-120"/>
              </a:rPr>
              <a:t>itself</a:t>
            </a:r>
            <a:r>
              <a:rPr lang="en-US" altLang="zh-TW" sz="2800" dirty="0">
                <a:ea typeface="新細明體" pitchFamily="18" charset="-120"/>
              </a:rPr>
              <a:t> into C/Itanium.</a:t>
            </a:r>
          </a:p>
          <a:p>
            <a:pPr eaLnBrk="1" hangingPunct="1">
              <a:buFont typeface="Wingdings" panose="05000000000000000000" pitchFamily="2" charset="2"/>
              <a:buNone/>
              <a:defRPr/>
            </a:pPr>
            <a:r>
              <a:rPr lang="en-US" altLang="zh-TW" sz="2800" dirty="0">
                <a:ea typeface="新細明體" pitchFamily="18" charset="-120"/>
              </a:rPr>
              <a:t>	d) Leave it to Intel/</a:t>
            </a:r>
            <a:r>
              <a:rPr lang="en-US" altLang="zh-TW" sz="2800" dirty="0" err="1">
                <a:ea typeface="新細明體" pitchFamily="18" charset="-120"/>
              </a:rPr>
              <a:t>MicroSoft</a:t>
            </a:r>
            <a:r>
              <a:rPr lang="en-US" altLang="zh-TW" sz="2800" dirty="0">
                <a:ea typeface="新細明體" pitchFamily="18" charset="-120"/>
              </a:rPr>
              <a:t> (i.e. evil empire)</a:t>
            </a:r>
          </a:p>
        </p:txBody>
      </p:sp>
      <p:sp>
        <p:nvSpPr>
          <p:cNvPr id="7" name="Title 6"/>
          <p:cNvSpPr>
            <a:spLocks noGrp="1"/>
          </p:cNvSpPr>
          <p:nvPr>
            <p:ph type="title"/>
          </p:nvPr>
        </p:nvSpPr>
        <p:spPr>
          <a:xfrm>
            <a:off x="457200" y="152400"/>
            <a:ext cx="8229600" cy="560388"/>
          </a:xfrm>
        </p:spPr>
        <p:txBody>
          <a:bodyPr/>
          <a:lstStyle/>
          <a:p>
            <a:pPr>
              <a:defRPr/>
            </a:pPr>
            <a:r>
              <a:rPr lang="en-US" altLang="zh-TW" dirty="0">
                <a:ea typeface="新細明體" pitchFamily="18" charset="-120"/>
              </a:rPr>
              <a:t>Quiz</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A226379A-5D9A-435A-ADD5-FD8FE6F06910}" type="slidenum">
              <a:rPr lang="zh-TW" altLang="en-US" sz="1200" smtClean="0"/>
              <a:pPr>
                <a:spcBef>
                  <a:spcPct val="0"/>
                </a:spcBef>
                <a:buClrTx/>
                <a:buSzTx/>
                <a:buFontTx/>
                <a:buNone/>
                <a:defRPr/>
              </a:pPr>
              <a:t>48</a:t>
            </a:fld>
            <a:endParaRPr lang="en-US" altLang="zh-TW" sz="1200"/>
          </a:p>
        </p:txBody>
      </p:sp>
      <p:sp>
        <p:nvSpPr>
          <p:cNvPr id="212994" name="Rectangle 2"/>
          <p:cNvSpPr>
            <a:spLocks noGrp="1" noChangeArrowheads="1"/>
          </p:cNvSpPr>
          <p:nvPr>
            <p:ph type="title"/>
          </p:nvPr>
        </p:nvSpPr>
        <p:spPr>
          <a:xfrm>
            <a:off x="457200" y="277813"/>
            <a:ext cx="8229600" cy="685800"/>
          </a:xfrm>
        </p:spPr>
        <p:txBody>
          <a:bodyPr/>
          <a:lstStyle/>
          <a:p>
            <a:pPr eaLnBrk="1" hangingPunct="1">
              <a:defRPr/>
            </a:pPr>
            <a:r>
              <a:rPr lang="en-US" altLang="zh-TW" sz="3600" dirty="0">
                <a:ea typeface="新細明體" pitchFamily="18" charset="-120"/>
              </a:rPr>
              <a:t>Cross-Compilation</a:t>
            </a:r>
          </a:p>
        </p:txBody>
      </p:sp>
      <p:sp>
        <p:nvSpPr>
          <p:cNvPr id="78853" name="Rectangle 1"/>
          <p:cNvSpPr>
            <a:spLocks noChangeArrowheads="1"/>
          </p:cNvSpPr>
          <p:nvPr/>
        </p:nvSpPr>
        <p:spPr bwMode="auto">
          <a:xfrm>
            <a:off x="447675" y="1295400"/>
            <a:ext cx="2524125" cy="1524000"/>
          </a:xfrm>
          <a:prstGeom prst="rect">
            <a:avLst/>
          </a:prstGeom>
          <a:solidFill>
            <a:srgbClr val="FFFB3B"/>
          </a:solidFill>
          <a:ln w="38100"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b="1">
                <a:solidFill>
                  <a:srgbClr val="000040"/>
                </a:solidFill>
                <a:ea typeface="新細明體" panose="02020500000000000000" pitchFamily="18" charset="-120"/>
              </a:rPr>
              <a:t>A C Compiler</a:t>
            </a:r>
          </a:p>
          <a:p>
            <a:pPr>
              <a:spcBef>
                <a:spcPct val="0"/>
              </a:spcBef>
              <a:buClrTx/>
              <a:buSzTx/>
              <a:buFontTx/>
              <a:buChar char="-"/>
            </a:pPr>
            <a:r>
              <a:rPr lang="en-US" altLang="zh-TW" sz="2400" b="1">
                <a:solidFill>
                  <a:srgbClr val="000040"/>
                </a:solidFill>
                <a:ea typeface="新細明體" panose="02020500000000000000" pitchFamily="18" charset="-120"/>
              </a:rPr>
              <a:t>Written in C</a:t>
            </a:r>
          </a:p>
          <a:p>
            <a:pPr>
              <a:spcBef>
                <a:spcPct val="0"/>
              </a:spcBef>
              <a:buClrTx/>
              <a:buSzTx/>
              <a:buFontTx/>
              <a:buChar char="-"/>
            </a:pPr>
            <a:r>
              <a:rPr lang="en-US" altLang="zh-TW" sz="2400" b="1">
                <a:solidFill>
                  <a:srgbClr val="000040"/>
                </a:solidFill>
                <a:ea typeface="新細明體" panose="02020500000000000000" pitchFamily="18" charset="-120"/>
              </a:rPr>
              <a:t>Generates </a:t>
            </a:r>
          </a:p>
          <a:p>
            <a:pPr>
              <a:spcBef>
                <a:spcPct val="0"/>
              </a:spcBef>
              <a:buClrTx/>
              <a:buSzTx/>
              <a:buFontTx/>
              <a:buNone/>
            </a:pPr>
            <a:r>
              <a:rPr lang="en-US" altLang="zh-TW" sz="2400" b="1">
                <a:solidFill>
                  <a:srgbClr val="000040"/>
                </a:solidFill>
                <a:ea typeface="新細明體" panose="02020500000000000000" pitchFamily="18" charset="-120"/>
              </a:rPr>
              <a:t>    Itanium code</a:t>
            </a:r>
          </a:p>
          <a:p>
            <a:pPr>
              <a:spcBef>
                <a:spcPct val="0"/>
              </a:spcBef>
              <a:buClrTx/>
              <a:buSzTx/>
              <a:buFontTx/>
              <a:buChar char="-"/>
            </a:pPr>
            <a:endParaRPr lang="zh-TW" altLang="en-US" sz="2400" b="1">
              <a:solidFill>
                <a:srgbClr val="000040"/>
              </a:solidFill>
              <a:ea typeface="新細明體" panose="02020500000000000000" pitchFamily="18" charset="-120"/>
            </a:endParaRPr>
          </a:p>
        </p:txBody>
      </p:sp>
      <p:sp>
        <p:nvSpPr>
          <p:cNvPr id="11" name="Right Arrow 10"/>
          <p:cNvSpPr>
            <a:spLocks noChangeArrowheads="1"/>
          </p:cNvSpPr>
          <p:nvPr/>
        </p:nvSpPr>
        <p:spPr bwMode="auto">
          <a:xfrm rot="5400000">
            <a:off x="3919538" y="3613150"/>
            <a:ext cx="1001712" cy="458788"/>
          </a:xfrm>
          <a:prstGeom prst="rightArrow">
            <a:avLst>
              <a:gd name="adj1" fmla="val 50000"/>
              <a:gd name="adj2" fmla="val 50006"/>
            </a:avLst>
          </a:prstGeom>
          <a:solidFill>
            <a:srgbClr val="92D050"/>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endParaRPr lang="zh-TW" altLang="en-US" sz="1800">
              <a:ea typeface="新細明體" panose="02020500000000000000" pitchFamily="18" charset="-120"/>
            </a:endParaRPr>
          </a:p>
        </p:txBody>
      </p:sp>
      <p:sp>
        <p:nvSpPr>
          <p:cNvPr id="78855" name="Rectangle 3"/>
          <p:cNvSpPr>
            <a:spLocks noChangeArrowheads="1"/>
          </p:cNvSpPr>
          <p:nvPr/>
        </p:nvSpPr>
        <p:spPr bwMode="auto">
          <a:xfrm>
            <a:off x="3389313" y="2708275"/>
            <a:ext cx="3121025" cy="633413"/>
          </a:xfrm>
          <a:prstGeom prst="rect">
            <a:avLst/>
          </a:prstGeom>
          <a:solidFill>
            <a:srgbClr val="92D050"/>
          </a:solidFill>
          <a:ln w="28575"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a:solidFill>
                  <a:srgbClr val="000040"/>
                </a:solidFill>
                <a:ea typeface="新細明體" panose="02020500000000000000" pitchFamily="18" charset="-120"/>
              </a:rPr>
              <a:t>GCC compile on PC</a:t>
            </a:r>
            <a:endParaRPr lang="zh-TW" altLang="en-US" sz="2400">
              <a:solidFill>
                <a:srgbClr val="000040"/>
              </a:solidFill>
              <a:ea typeface="新細明體" panose="02020500000000000000" pitchFamily="18" charset="-120"/>
            </a:endParaRPr>
          </a:p>
        </p:txBody>
      </p:sp>
      <p:sp>
        <p:nvSpPr>
          <p:cNvPr id="78856" name="Rectangle 12"/>
          <p:cNvSpPr>
            <a:spLocks noChangeArrowheads="1"/>
          </p:cNvSpPr>
          <p:nvPr/>
        </p:nvSpPr>
        <p:spPr bwMode="auto">
          <a:xfrm>
            <a:off x="3006725" y="4343400"/>
            <a:ext cx="2424113" cy="1216025"/>
          </a:xfrm>
          <a:prstGeom prst="rect">
            <a:avLst/>
          </a:prstGeom>
          <a:solidFill>
            <a:srgbClr val="FFC000"/>
          </a:solidFill>
          <a:ln w="28575" algn="ctr">
            <a:solidFill>
              <a:srgbClr val="FF0000"/>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a:solidFill>
                  <a:srgbClr val="000040"/>
                </a:solidFill>
                <a:ea typeface="新細明體" panose="02020500000000000000" pitchFamily="18" charset="-120"/>
              </a:rPr>
              <a:t>A C Compiler</a:t>
            </a:r>
          </a:p>
          <a:p>
            <a:pPr>
              <a:spcBef>
                <a:spcPct val="0"/>
              </a:spcBef>
              <a:buClrTx/>
              <a:buSzTx/>
              <a:buFontTx/>
              <a:buChar char="-"/>
            </a:pPr>
            <a:r>
              <a:rPr lang="en-US" altLang="zh-TW" sz="2000">
                <a:solidFill>
                  <a:srgbClr val="000040"/>
                </a:solidFill>
                <a:ea typeface="新細明體" panose="02020500000000000000" pitchFamily="18" charset="-120"/>
              </a:rPr>
              <a:t>Gen Itanium code </a:t>
            </a:r>
          </a:p>
          <a:p>
            <a:pPr>
              <a:spcBef>
                <a:spcPct val="0"/>
              </a:spcBef>
              <a:buClrTx/>
              <a:buSzTx/>
              <a:buFontTx/>
              <a:buChar char="-"/>
            </a:pPr>
            <a:r>
              <a:rPr lang="en-US" altLang="zh-TW" sz="2000">
                <a:solidFill>
                  <a:srgbClr val="000040"/>
                </a:solidFill>
                <a:ea typeface="新細明體" panose="02020500000000000000" pitchFamily="18" charset="-120"/>
              </a:rPr>
              <a:t>Runs on x86</a:t>
            </a:r>
            <a:endParaRPr lang="zh-TW" altLang="en-US" sz="2000">
              <a:solidFill>
                <a:srgbClr val="000040"/>
              </a:solidFill>
              <a:ea typeface="新細明體" panose="02020500000000000000" pitchFamily="18" charset="-120"/>
            </a:endParaRPr>
          </a:p>
        </p:txBody>
      </p:sp>
      <p:sp>
        <p:nvSpPr>
          <p:cNvPr id="16" name="Right Arrow 15"/>
          <p:cNvSpPr>
            <a:spLocks noChangeArrowheads="1"/>
          </p:cNvSpPr>
          <p:nvPr/>
        </p:nvSpPr>
        <p:spPr bwMode="auto">
          <a:xfrm>
            <a:off x="5494338" y="4760913"/>
            <a:ext cx="754062" cy="304800"/>
          </a:xfrm>
          <a:prstGeom prst="rightArrow">
            <a:avLst>
              <a:gd name="adj1" fmla="val 50000"/>
              <a:gd name="adj2" fmla="val 49960"/>
            </a:avLst>
          </a:prstGeom>
          <a:solidFill>
            <a:srgbClr val="FF0000"/>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endParaRPr lang="zh-TW" altLang="en-US" sz="1800">
              <a:ea typeface="新細明體" panose="02020500000000000000" pitchFamily="18" charset="-120"/>
            </a:endParaRPr>
          </a:p>
        </p:txBody>
      </p:sp>
      <p:sp>
        <p:nvSpPr>
          <p:cNvPr id="78858" name="Rectangle 16"/>
          <p:cNvSpPr>
            <a:spLocks noChangeArrowheads="1"/>
          </p:cNvSpPr>
          <p:nvPr/>
        </p:nvSpPr>
        <p:spPr bwMode="auto">
          <a:xfrm>
            <a:off x="6311900" y="4343400"/>
            <a:ext cx="2514600" cy="1254125"/>
          </a:xfrm>
          <a:prstGeom prst="rect">
            <a:avLst/>
          </a:prstGeom>
          <a:solidFill>
            <a:srgbClr val="FF0000"/>
          </a:solidFill>
          <a:ln w="38100"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a:ea typeface="新細明體" panose="02020500000000000000" pitchFamily="18" charset="-120"/>
              </a:rPr>
              <a:t>C Compiler</a:t>
            </a:r>
          </a:p>
          <a:p>
            <a:pPr>
              <a:spcBef>
                <a:spcPct val="0"/>
              </a:spcBef>
              <a:buClrTx/>
              <a:buSzTx/>
              <a:buFontTx/>
              <a:buChar char="-"/>
            </a:pPr>
            <a:r>
              <a:rPr lang="en-US" altLang="zh-TW" sz="2000">
                <a:ea typeface="新細明體" panose="02020500000000000000" pitchFamily="18" charset="-120"/>
              </a:rPr>
              <a:t> Gen Itanium code </a:t>
            </a:r>
          </a:p>
          <a:p>
            <a:pPr>
              <a:spcBef>
                <a:spcPct val="0"/>
              </a:spcBef>
              <a:buClrTx/>
              <a:buSzTx/>
              <a:buFontTx/>
              <a:buChar char="-"/>
            </a:pPr>
            <a:r>
              <a:rPr lang="en-US" altLang="zh-TW" sz="2000">
                <a:ea typeface="新細明體" panose="02020500000000000000" pitchFamily="18" charset="-120"/>
              </a:rPr>
              <a:t> Runs on Itanium</a:t>
            </a:r>
            <a:endParaRPr lang="zh-TW" altLang="en-US" sz="2000">
              <a:ea typeface="新細明體" panose="02020500000000000000" pitchFamily="18" charset="-120"/>
            </a:endParaRPr>
          </a:p>
        </p:txBody>
      </p:sp>
      <p:sp>
        <p:nvSpPr>
          <p:cNvPr id="64526" name="TextBox 1"/>
          <p:cNvSpPr txBox="1">
            <a:spLocks noChangeArrowheads="1"/>
          </p:cNvSpPr>
          <p:nvPr/>
        </p:nvSpPr>
        <p:spPr bwMode="auto">
          <a:xfrm>
            <a:off x="4303713" y="1652588"/>
            <a:ext cx="1222375" cy="522287"/>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800"/>
              <a:t>Step 1</a:t>
            </a:r>
          </a:p>
        </p:txBody>
      </p:sp>
      <p:sp>
        <p:nvSpPr>
          <p:cNvPr id="17" name="TextBox 16"/>
          <p:cNvSpPr txBox="1">
            <a:spLocks noChangeArrowheads="1"/>
          </p:cNvSpPr>
          <p:nvPr/>
        </p:nvSpPr>
        <p:spPr bwMode="auto">
          <a:xfrm>
            <a:off x="528638" y="4867275"/>
            <a:ext cx="1222375" cy="52387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2800"/>
              <a:t>Step 2</a:t>
            </a:r>
          </a:p>
        </p:txBody>
      </p:sp>
      <p:sp>
        <p:nvSpPr>
          <p:cNvPr id="2" name="右彎箭號 1"/>
          <p:cNvSpPr/>
          <p:nvPr/>
        </p:nvSpPr>
        <p:spPr bwMode="auto">
          <a:xfrm rot="5400000">
            <a:off x="3441701" y="1500187"/>
            <a:ext cx="755650" cy="1660525"/>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endParaRPr lang="zh-TW" altLang="en-US">
              <a:latin typeface="Arial" charset="0"/>
            </a:endParaRPr>
          </a:p>
        </p:txBody>
      </p:sp>
      <p:sp>
        <p:nvSpPr>
          <p:cNvPr id="4" name="右彎箭號 3"/>
          <p:cNvSpPr/>
          <p:nvPr/>
        </p:nvSpPr>
        <p:spPr bwMode="auto">
          <a:xfrm flipV="1">
            <a:off x="1422400" y="2819400"/>
            <a:ext cx="1584325" cy="2514600"/>
          </a:xfrm>
          <a:prstGeom prst="bentArrow">
            <a:avLst>
              <a:gd name="adj1" fmla="val 15052"/>
              <a:gd name="adj2" fmla="val 21518"/>
              <a:gd name="adj3" fmla="val 25000"/>
              <a:gd name="adj4" fmla="val 43750"/>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endParaRPr lang="zh-TW" altLang="en-US">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645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64526" grpId="0" animBg="1"/>
      <p:bldP spid="1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FF5245DD-CF00-4E44-902F-4A51BC36727D}" type="slidenum">
              <a:rPr lang="zh-TW" altLang="en-US" sz="1200" smtClean="0"/>
              <a:pPr>
                <a:spcBef>
                  <a:spcPct val="0"/>
                </a:spcBef>
                <a:buClrTx/>
                <a:buSzTx/>
                <a:buFontTx/>
                <a:buNone/>
                <a:defRPr/>
              </a:pPr>
              <a:t>49</a:t>
            </a:fld>
            <a:endParaRPr lang="en-US" altLang="zh-TW" sz="1200"/>
          </a:p>
        </p:txBody>
      </p:sp>
      <p:sp>
        <p:nvSpPr>
          <p:cNvPr id="212994" name="Rectangle 2"/>
          <p:cNvSpPr>
            <a:spLocks noGrp="1" noChangeArrowheads="1"/>
          </p:cNvSpPr>
          <p:nvPr>
            <p:ph type="title"/>
          </p:nvPr>
        </p:nvSpPr>
        <p:spPr>
          <a:xfrm>
            <a:off x="457200" y="277813"/>
            <a:ext cx="8229600" cy="685800"/>
          </a:xfrm>
        </p:spPr>
        <p:txBody>
          <a:bodyPr/>
          <a:lstStyle/>
          <a:p>
            <a:pPr eaLnBrk="1" hangingPunct="1">
              <a:defRPr/>
            </a:pPr>
            <a:r>
              <a:rPr lang="en-US" altLang="zh-TW" sz="3600">
                <a:ea typeface="新細明體" pitchFamily="18" charset="-120"/>
              </a:rPr>
              <a:t>Cross-Compilation and Bootstrapping</a:t>
            </a:r>
          </a:p>
        </p:txBody>
      </p:sp>
      <p:sp>
        <p:nvSpPr>
          <p:cNvPr id="212995" name="Rectangle 3"/>
          <p:cNvSpPr>
            <a:spLocks noGrp="1" noChangeArrowheads="1"/>
          </p:cNvSpPr>
          <p:nvPr>
            <p:ph type="body" idx="1"/>
          </p:nvPr>
        </p:nvSpPr>
        <p:spPr>
          <a:xfrm>
            <a:off x="685800" y="1295400"/>
            <a:ext cx="7772400" cy="5334000"/>
          </a:xfrm>
        </p:spPr>
        <p:txBody>
          <a:bodyPr/>
          <a:lstStyle/>
          <a:p>
            <a:pPr eaLnBrk="1" hangingPunct="1">
              <a:defRPr/>
            </a:pPr>
            <a:r>
              <a:rPr lang="en-US" altLang="zh-TW" sz="3600">
                <a:ea typeface="新細明體" pitchFamily="18" charset="-120"/>
              </a:rPr>
              <a:t>Quiz: How to create the first C compiler on the new Itanium if no cross-compilers to use?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ltLang="zh-TW"/>
              <a:t>Department of Electrical Engineering</a:t>
            </a:r>
          </a:p>
        </p:txBody>
      </p:sp>
      <p:sp>
        <p:nvSpPr>
          <p:cNvPr id="5"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D7DD74E1-34DD-4C83-96A6-DD1DBA1089F7}" type="slidenum">
              <a:rPr lang="zh-TW" altLang="en-US" sz="1200" smtClean="0"/>
              <a:pPr>
                <a:spcBef>
                  <a:spcPct val="0"/>
                </a:spcBef>
                <a:buClrTx/>
                <a:buSzTx/>
                <a:buFontTx/>
                <a:buNone/>
                <a:defRPr/>
              </a:pPr>
              <a:t>50</a:t>
            </a:fld>
            <a:endParaRPr lang="en-US" altLang="zh-TW" sz="1200"/>
          </a:p>
        </p:txBody>
      </p:sp>
      <p:sp>
        <p:nvSpPr>
          <p:cNvPr id="214019" name="Rectangle 3"/>
          <p:cNvSpPr>
            <a:spLocks noGrp="1" noChangeArrowheads="1"/>
          </p:cNvSpPr>
          <p:nvPr>
            <p:ph type="body" idx="1"/>
          </p:nvPr>
        </p:nvSpPr>
        <p:spPr>
          <a:xfrm>
            <a:off x="685800" y="1295400"/>
            <a:ext cx="7772400" cy="5334000"/>
          </a:xfrm>
        </p:spPr>
        <p:txBody>
          <a:bodyPr/>
          <a:lstStyle/>
          <a:p>
            <a:pPr eaLnBrk="1" hangingPunct="1">
              <a:defRPr/>
            </a:pPr>
            <a:r>
              <a:rPr lang="en-US" altLang="zh-TW" dirty="0">
                <a:ea typeface="新細明體" pitchFamily="18" charset="-120"/>
              </a:rPr>
              <a:t>Answer: </a:t>
            </a:r>
            <a:r>
              <a:rPr lang="en-US" altLang="zh-TW" i="1" dirty="0">
                <a:solidFill>
                  <a:srgbClr val="66FF33"/>
                </a:solidFill>
                <a:ea typeface="新細明體" pitchFamily="18" charset="-120"/>
              </a:rPr>
              <a:t>Bootstrapping</a:t>
            </a:r>
            <a:r>
              <a:rPr lang="en-US" altLang="zh-TW" dirty="0">
                <a:ea typeface="新細明體" pitchFamily="18" charset="-120"/>
              </a:rPr>
              <a:t>.</a:t>
            </a:r>
          </a:p>
          <a:p>
            <a:pPr marL="514350" indent="-514350" eaLnBrk="1" hangingPunct="1">
              <a:buFont typeface="+mj-lt"/>
              <a:buAutoNum type="arabicPeriod"/>
              <a:defRPr/>
            </a:pPr>
            <a:r>
              <a:rPr lang="en-US" altLang="zh-TW" sz="2400" i="1" dirty="0">
                <a:ea typeface="新細明體" pitchFamily="18" charset="-120"/>
              </a:rPr>
              <a:t>A subset of C is selected (e.g. C--) and a simple compiler is written in assembly code, called this compiler C0. </a:t>
            </a:r>
          </a:p>
          <a:p>
            <a:pPr marL="457200" indent="-457200" eaLnBrk="1" hangingPunct="1">
              <a:buFont typeface="+mj-lt"/>
              <a:buAutoNum type="arabicPeriod"/>
              <a:defRPr/>
            </a:pPr>
            <a:r>
              <a:rPr lang="en-US" altLang="zh-TW" sz="2400" i="1" dirty="0">
                <a:ea typeface="新細明體" pitchFamily="18" charset="-120"/>
              </a:rPr>
              <a:t>Rewrite this subset compiler using the subset (C--), compile it with C0, get a new compiler called C1.</a:t>
            </a:r>
          </a:p>
          <a:p>
            <a:pPr marL="457200" indent="-457200" eaLnBrk="1" hangingPunct="1">
              <a:buFont typeface="+mj-lt"/>
              <a:buAutoNum type="arabicPeriod"/>
              <a:defRPr/>
            </a:pPr>
            <a:r>
              <a:rPr lang="en-US" altLang="zh-TW" sz="2400" i="1" dirty="0">
                <a:ea typeface="新細明體" pitchFamily="18" charset="-120"/>
              </a:rPr>
              <a:t>Write a more complete set of C in C--, compiled with C1, get a new compiler C2</a:t>
            </a:r>
          </a:p>
          <a:p>
            <a:pPr marL="457200" indent="-457200" eaLnBrk="1" hangingPunct="1">
              <a:buFont typeface="+mj-lt"/>
              <a:buAutoNum type="arabicPeriod"/>
              <a:defRPr/>
            </a:pPr>
            <a:r>
              <a:rPr lang="en-US" altLang="zh-TW" sz="2400" i="1" dirty="0">
                <a:ea typeface="新細明體" pitchFamily="18" charset="-120"/>
              </a:rPr>
              <a:t>Repeat the process until a complete C compiler is done</a:t>
            </a:r>
          </a:p>
        </p:txBody>
      </p:sp>
      <p:sp>
        <p:nvSpPr>
          <p:cNvPr id="6" name="Rectangle 2"/>
          <p:cNvSpPr>
            <a:spLocks noGrp="1" noChangeArrowheads="1"/>
          </p:cNvSpPr>
          <p:nvPr>
            <p:ph type="title"/>
          </p:nvPr>
        </p:nvSpPr>
        <p:spPr>
          <a:xfrm>
            <a:off x="457200" y="277813"/>
            <a:ext cx="8229600" cy="685800"/>
          </a:xfrm>
        </p:spPr>
        <p:txBody>
          <a:bodyPr/>
          <a:lstStyle/>
          <a:p>
            <a:pPr eaLnBrk="1" hangingPunct="1">
              <a:defRPr/>
            </a:pPr>
            <a:r>
              <a:rPr lang="en-US" altLang="zh-TW" sz="3600">
                <a:ea typeface="新細明體" pitchFamily="18" charset="-120"/>
              </a:rPr>
              <a:t>Cross-Compilation and Bootstrapping</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defRPr/>
            </a:pPr>
            <a:fld id="{BA90454A-418B-4ACE-AE96-D9F4DAC0A131}" type="slidenum">
              <a:rPr lang="zh-TW" altLang="en-US" sz="1200" smtClean="0"/>
              <a:pPr>
                <a:spcBef>
                  <a:spcPct val="0"/>
                </a:spcBef>
                <a:buClrTx/>
                <a:buSzTx/>
                <a:buFontTx/>
                <a:buNone/>
                <a:defRPr/>
              </a:pPr>
              <a:t>51</a:t>
            </a:fld>
            <a:endParaRPr lang="en-US" altLang="zh-TW" sz="1200"/>
          </a:p>
        </p:txBody>
      </p:sp>
      <p:sp>
        <p:nvSpPr>
          <p:cNvPr id="215042" name="Rectangle 2"/>
          <p:cNvSpPr>
            <a:spLocks noGrp="1" noChangeArrowheads="1"/>
          </p:cNvSpPr>
          <p:nvPr>
            <p:ph type="title"/>
          </p:nvPr>
        </p:nvSpPr>
        <p:spPr>
          <a:xfrm>
            <a:off x="457200" y="277813"/>
            <a:ext cx="8229600" cy="838200"/>
          </a:xfrm>
        </p:spPr>
        <p:txBody>
          <a:bodyPr/>
          <a:lstStyle/>
          <a:p>
            <a:pPr eaLnBrk="1" hangingPunct="1">
              <a:defRPr/>
            </a:pPr>
            <a:r>
              <a:rPr lang="en-US" altLang="zh-TW">
                <a:ea typeface="新細明體" pitchFamily="18" charset="-120"/>
              </a:rPr>
              <a:t>Summary</a:t>
            </a:r>
          </a:p>
        </p:txBody>
      </p:sp>
      <p:sp>
        <p:nvSpPr>
          <p:cNvPr id="215043" name="Rectangle 3"/>
          <p:cNvSpPr>
            <a:spLocks noGrp="1" noChangeArrowheads="1"/>
          </p:cNvSpPr>
          <p:nvPr>
            <p:ph type="body" idx="1"/>
          </p:nvPr>
        </p:nvSpPr>
        <p:spPr>
          <a:xfrm>
            <a:off x="685800" y="1295400"/>
            <a:ext cx="7772400" cy="4876800"/>
          </a:xfrm>
        </p:spPr>
        <p:txBody>
          <a:bodyPr/>
          <a:lstStyle/>
          <a:p>
            <a:pPr eaLnBrk="1" hangingPunct="1">
              <a:defRPr/>
            </a:pPr>
            <a:r>
              <a:rPr lang="en-US" altLang="zh-TW">
                <a:ea typeface="新細明體" pitchFamily="18" charset="-120"/>
              </a:rPr>
              <a:t>What is a compiler</a:t>
            </a:r>
          </a:p>
          <a:p>
            <a:pPr eaLnBrk="1" hangingPunct="1">
              <a:defRPr/>
            </a:pPr>
            <a:r>
              <a:rPr lang="en-US" altLang="zh-TW">
                <a:ea typeface="新細明體" pitchFamily="18" charset="-120"/>
              </a:rPr>
              <a:t>Why is compiling technique important</a:t>
            </a:r>
          </a:p>
          <a:p>
            <a:pPr eaLnBrk="1" hangingPunct="1">
              <a:defRPr/>
            </a:pPr>
            <a:r>
              <a:rPr lang="en-US" altLang="zh-TW">
                <a:ea typeface="新細明體" pitchFamily="18" charset="-120"/>
              </a:rPr>
              <a:t>Three phases of analysis</a:t>
            </a:r>
          </a:p>
          <a:p>
            <a:pPr eaLnBrk="1" hangingPunct="1">
              <a:defRPr/>
            </a:pPr>
            <a:r>
              <a:rPr lang="en-US" altLang="zh-TW">
                <a:ea typeface="新細明體" pitchFamily="18" charset="-120"/>
              </a:rPr>
              <a:t>Phases of a compiler</a:t>
            </a:r>
          </a:p>
          <a:p>
            <a:pPr eaLnBrk="1" hangingPunct="1">
              <a:defRPr/>
            </a:pPr>
            <a:r>
              <a:rPr lang="en-US" altLang="zh-TW">
                <a:ea typeface="新細明體" pitchFamily="18" charset="-120"/>
              </a:rPr>
              <a:t>Grouping of phases</a:t>
            </a:r>
          </a:p>
          <a:p>
            <a:pPr eaLnBrk="1" hangingPunct="1">
              <a:defRPr/>
            </a:pPr>
            <a:r>
              <a:rPr lang="en-US" altLang="zh-TW">
                <a:ea typeface="新細明體" pitchFamily="18" charset="-120"/>
              </a:rPr>
              <a:t>Compiler construction tools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ltLang="zh-TW"/>
              <a:t>Department of Electrical Engineering</a:t>
            </a:r>
          </a:p>
        </p:txBody>
      </p:sp>
      <p:sp>
        <p:nvSpPr>
          <p:cNvPr id="6" name="Slide Number Placeholder 5"/>
          <p:cNvSpPr>
            <a:spLocks noGrp="1"/>
          </p:cNvSpPr>
          <p:nvPr>
            <p:ph type="sldNum" sz="quarter" idx="4294967295"/>
          </p:nvPr>
        </p:nvSpPr>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defRPr/>
            </a:pPr>
            <a:fld id="{0F400CF4-0622-41BD-BC85-F7E975C62814}" type="slidenum">
              <a:rPr lang="zh-TW" altLang="en-US" sz="1200" smtClean="0"/>
              <a:pPr>
                <a:spcBef>
                  <a:spcPct val="0"/>
                </a:spcBef>
                <a:buClrTx/>
                <a:buSzTx/>
                <a:buFontTx/>
                <a:buNone/>
                <a:defRPr/>
              </a:pPr>
              <a:t>52</a:t>
            </a:fld>
            <a:endParaRPr lang="en-US" altLang="zh-TW" sz="1200"/>
          </a:p>
        </p:txBody>
      </p:sp>
      <p:sp>
        <p:nvSpPr>
          <p:cNvPr id="196610" name="Rectangle 2"/>
          <p:cNvSpPr>
            <a:spLocks noGrp="1" noChangeArrowheads="1"/>
          </p:cNvSpPr>
          <p:nvPr>
            <p:ph type="title"/>
          </p:nvPr>
        </p:nvSpPr>
        <p:spPr>
          <a:xfrm>
            <a:off x="457200" y="277813"/>
            <a:ext cx="8229600" cy="788987"/>
          </a:xfrm>
        </p:spPr>
        <p:txBody>
          <a:bodyPr/>
          <a:lstStyle/>
          <a:p>
            <a:pPr eaLnBrk="1" hangingPunct="1">
              <a:defRPr/>
            </a:pPr>
            <a:r>
              <a:rPr lang="en-US" altLang="zh-TW" sz="3600" dirty="0">
                <a:ea typeface="新細明體" pitchFamily="18" charset="-120"/>
              </a:rPr>
              <a:t>Runtime Semantics</a:t>
            </a:r>
          </a:p>
        </p:txBody>
      </p:sp>
      <p:sp>
        <p:nvSpPr>
          <p:cNvPr id="196611" name="Rectangle 3"/>
          <p:cNvSpPr>
            <a:spLocks noGrp="1" noChangeArrowheads="1"/>
          </p:cNvSpPr>
          <p:nvPr>
            <p:ph type="body" idx="1"/>
          </p:nvPr>
        </p:nvSpPr>
        <p:spPr>
          <a:xfrm>
            <a:off x="457200" y="1143000"/>
            <a:ext cx="8458200" cy="4365625"/>
          </a:xfrm>
        </p:spPr>
        <p:txBody>
          <a:bodyPr/>
          <a:lstStyle/>
          <a:p>
            <a:pPr eaLnBrk="1" hangingPunct="1">
              <a:lnSpc>
                <a:spcPct val="90000"/>
              </a:lnSpc>
              <a:defRPr/>
            </a:pPr>
            <a:r>
              <a:rPr lang="en-US" altLang="zh-TW" sz="2400" dirty="0">
                <a:ea typeface="新細明體" panose="02020500000000000000" pitchFamily="18" charset="-120"/>
              </a:rPr>
              <a:t>Runtime (or execution time) semantics specifies what a program computes.  </a:t>
            </a:r>
          </a:p>
          <a:p>
            <a:pPr lvl="1" eaLnBrk="1" hangingPunct="1">
              <a:lnSpc>
                <a:spcPct val="90000"/>
              </a:lnSpc>
              <a:defRPr/>
            </a:pPr>
            <a:r>
              <a:rPr lang="en-US" altLang="zh-TW" sz="2000" dirty="0">
                <a:ea typeface="新細明體" panose="02020500000000000000" pitchFamily="18" charset="-120"/>
              </a:rPr>
              <a:t>For example, a program state is defined, and program execution is described as in terms of changes to that state.</a:t>
            </a:r>
          </a:p>
          <a:p>
            <a:pPr eaLnBrk="1" hangingPunct="1">
              <a:lnSpc>
                <a:spcPct val="90000"/>
              </a:lnSpc>
              <a:defRPr/>
            </a:pPr>
            <a:r>
              <a:rPr lang="en-US" altLang="zh-TW" sz="2400" dirty="0">
                <a:ea typeface="新細明體" panose="02020500000000000000" pitchFamily="18" charset="-120"/>
              </a:rPr>
              <a:t>Natural semantics</a:t>
            </a:r>
          </a:p>
          <a:p>
            <a:pPr lvl="1" eaLnBrk="1" hangingPunct="1">
              <a:lnSpc>
                <a:spcPct val="90000"/>
              </a:lnSpc>
              <a:defRPr/>
            </a:pPr>
            <a:r>
              <a:rPr lang="en-US" altLang="zh-TW" sz="2000" dirty="0">
                <a:ea typeface="新細明體" panose="02020500000000000000" pitchFamily="18" charset="-120"/>
              </a:rPr>
              <a:t>Give assertions known to be true before a construct, we may infer assertions that will hold after the evaluation of the construct.</a:t>
            </a:r>
          </a:p>
          <a:p>
            <a:pPr eaLnBrk="1" hangingPunct="1">
              <a:lnSpc>
                <a:spcPct val="90000"/>
              </a:lnSpc>
              <a:defRPr/>
            </a:pPr>
            <a:r>
              <a:rPr lang="en-US" altLang="zh-TW" sz="2400" dirty="0">
                <a:ea typeface="新細明體" panose="02020500000000000000" pitchFamily="18" charset="-120"/>
              </a:rPr>
              <a:t>Axiomatic semantics</a:t>
            </a:r>
          </a:p>
          <a:p>
            <a:pPr lvl="1" eaLnBrk="1" hangingPunct="1">
              <a:lnSpc>
                <a:spcPct val="90000"/>
              </a:lnSpc>
              <a:defRPr/>
            </a:pPr>
            <a:r>
              <a:rPr lang="en-US" altLang="zh-TW" sz="2000" dirty="0">
                <a:ea typeface="新細明體" panose="02020500000000000000" pitchFamily="18" charset="-120"/>
              </a:rPr>
              <a:t> A set of formally specified relations or predicates that relate program variables.</a:t>
            </a:r>
          </a:p>
          <a:p>
            <a:pPr lvl="1" eaLnBrk="1" hangingPunct="1">
              <a:lnSpc>
                <a:spcPct val="90000"/>
              </a:lnSpc>
              <a:defRPr/>
            </a:pPr>
            <a:r>
              <a:rPr lang="en-US" altLang="zh-TW" sz="2000" dirty="0">
                <a:ea typeface="新細明體" panose="02020500000000000000" pitchFamily="18" charset="-120"/>
              </a:rPr>
              <a:t>Statements are defined by how they modify these relations</a:t>
            </a:r>
          </a:p>
          <a:p>
            <a:pPr eaLnBrk="1" hangingPunct="1">
              <a:lnSpc>
                <a:spcPct val="90000"/>
              </a:lnSpc>
              <a:defRPr/>
            </a:pPr>
            <a:r>
              <a:rPr lang="en-US" altLang="zh-TW" sz="2400" dirty="0">
                <a:ea typeface="新細明體" panose="02020500000000000000" pitchFamily="18" charset="-120"/>
              </a:rPr>
              <a:t>Denotational semantics</a:t>
            </a:r>
          </a:p>
        </p:txBody>
      </p:sp>
      <p:sp>
        <p:nvSpPr>
          <p:cNvPr id="82950" name="Rectangle 1"/>
          <p:cNvSpPr>
            <a:spLocks noChangeArrowheads="1"/>
          </p:cNvSpPr>
          <p:nvPr/>
        </p:nvSpPr>
        <p:spPr bwMode="auto">
          <a:xfrm>
            <a:off x="914400" y="5638800"/>
            <a:ext cx="7162800" cy="585788"/>
          </a:xfrm>
          <a:prstGeom prst="rect">
            <a:avLst/>
          </a:prstGeom>
          <a:solidFill>
            <a:schemeClr val="accent1"/>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a:spcBef>
                <a:spcPct val="0"/>
              </a:spcBef>
              <a:buClrTx/>
              <a:buSzTx/>
              <a:buFontTx/>
              <a:buNone/>
            </a:pPr>
            <a:r>
              <a:rPr lang="en-US" altLang="en-US" sz="1800"/>
              <a:t>Above methods try to enable runtime checks to be generated automatically from language semantic specification</a:t>
            </a:r>
          </a:p>
        </p:txBody>
      </p:sp>
    </p:spTree>
  </p:cSld>
  <p:clrMapOvr>
    <a:masterClrMapping/>
  </p:clrMapOvr>
</p:sld>
</file>

<file path=ppt/theme/theme1.xml><?xml version="1.0" encoding="utf-8"?>
<a:theme xmlns:a="http://schemas.openxmlformats.org/drawingml/2006/main" name="ClassNote">
  <a:themeElements>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fontScheme name="Beam">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eam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Beam</Template>
  <TotalTime>22133</TotalTime>
  <Words>5664</Words>
  <Application>Microsoft Office PowerPoint</Application>
  <PresentationFormat>如螢幕大小 (4:3)</PresentationFormat>
  <Paragraphs>774</Paragraphs>
  <Slides>52</Slides>
  <Notes>11</Notes>
  <HiddenSlides>0</HiddenSlides>
  <MMClips>0</MMClips>
  <ScaleCrop>false</ScaleCrop>
  <HeadingPairs>
    <vt:vector size="6" baseType="variant">
      <vt:variant>
        <vt:lpstr>使用字型</vt:lpstr>
      </vt:variant>
      <vt:variant>
        <vt:i4>6</vt:i4>
      </vt:variant>
      <vt:variant>
        <vt:lpstr>佈景主題</vt:lpstr>
      </vt:variant>
      <vt:variant>
        <vt:i4>3</vt:i4>
      </vt:variant>
      <vt:variant>
        <vt:lpstr>投影片標題</vt:lpstr>
      </vt:variant>
      <vt:variant>
        <vt:i4>52</vt:i4>
      </vt:variant>
    </vt:vector>
  </HeadingPairs>
  <TitlesOfParts>
    <vt:vector size="61" baseType="lpstr">
      <vt:lpstr>DFKai-SB</vt:lpstr>
      <vt:lpstr>Arial</vt:lpstr>
      <vt:lpstr>Calibri</vt:lpstr>
      <vt:lpstr>Calibri Light</vt:lpstr>
      <vt:lpstr>Times New Roman</vt:lpstr>
      <vt:lpstr>Wingdings</vt:lpstr>
      <vt:lpstr>ClassNote</vt:lpstr>
      <vt:lpstr>1_Custom Design</vt:lpstr>
      <vt:lpstr>Custom Design</vt:lpstr>
      <vt:lpstr>Compiler Technology of Programming Languages</vt:lpstr>
      <vt:lpstr>What is a compiler?  (original meaning)</vt:lpstr>
      <vt:lpstr>Fallacy and Facts</vt:lpstr>
      <vt:lpstr>PowerPoint 簡報</vt:lpstr>
      <vt:lpstr>What is a compiler?  (broader meaning)</vt:lpstr>
      <vt:lpstr>What Do Compilers Do?</vt:lpstr>
      <vt:lpstr>2025/09/05 stopped here</vt:lpstr>
      <vt:lpstr>Target machine code </vt:lpstr>
      <vt:lpstr>Analysis and Synthesis</vt:lpstr>
      <vt:lpstr>Interpreter and Compiler</vt:lpstr>
      <vt:lpstr>Why Interpretation</vt:lpstr>
      <vt:lpstr>Hybrid Translation</vt:lpstr>
      <vt:lpstr>Fallacy Compilation is always static.</vt:lpstr>
      <vt:lpstr>Structure of a Compiler</vt:lpstr>
      <vt:lpstr>PowerPoint 簡報</vt:lpstr>
      <vt:lpstr>Syntax-Directed Translation</vt:lpstr>
      <vt:lpstr>Lexical Analysis Example</vt:lpstr>
      <vt:lpstr>Syntax Analysis Example</vt:lpstr>
      <vt:lpstr>Transforming a Parse Tree to a Syntax Tree </vt:lpstr>
      <vt:lpstr>Semantic Analysis Example</vt:lpstr>
      <vt:lpstr>The Phases of a Compiler </vt:lpstr>
      <vt:lpstr>The Phases of a Compiler </vt:lpstr>
      <vt:lpstr>The Phases of a Compiler </vt:lpstr>
      <vt:lpstr>PowerPoint 簡報</vt:lpstr>
      <vt:lpstr>Grouping of Compiler Phases</vt:lpstr>
      <vt:lpstr>Pop quiz</vt:lpstr>
      <vt:lpstr>Common Back-end Compiling System</vt:lpstr>
      <vt:lpstr>Retargetable Compiler</vt:lpstr>
      <vt:lpstr>Pop quiz</vt:lpstr>
      <vt:lpstr>Quick Overview</vt:lpstr>
      <vt:lpstr>Without IR</vt:lpstr>
      <vt:lpstr>With IR</vt:lpstr>
      <vt:lpstr>LLVM Compiler Infrastructure</vt:lpstr>
      <vt:lpstr>LLVM Compiler Infrastructure</vt:lpstr>
      <vt:lpstr>Syntax and Semantics</vt:lpstr>
      <vt:lpstr>Static Semantics</vt:lpstr>
      <vt:lpstr>Imprecise Semantics Challenges</vt:lpstr>
      <vt:lpstr>Imprecise Semantics Challenges</vt:lpstr>
      <vt:lpstr>Why Study Compilers?</vt:lpstr>
      <vt:lpstr>Why Study Compilers?</vt:lpstr>
      <vt:lpstr>Why Study Compilers?</vt:lpstr>
      <vt:lpstr>Why Study Compilers?</vt:lpstr>
      <vt:lpstr>Compiler and AI</vt:lpstr>
      <vt:lpstr>A Short History of Compiler Construction</vt:lpstr>
      <vt:lpstr>Compiler Constructions Tools</vt:lpstr>
      <vt:lpstr>Quiz</vt:lpstr>
      <vt:lpstr>Quiz</vt:lpstr>
      <vt:lpstr>Cross-Compilation</vt:lpstr>
      <vt:lpstr>Cross-Compilation and Bootstrapping</vt:lpstr>
      <vt:lpstr>Cross-Compilation and Bootstrapping</vt:lpstr>
      <vt:lpstr>Summary</vt:lpstr>
      <vt:lpstr>Runtime Semantics</vt:lpstr>
    </vt:vector>
  </TitlesOfParts>
  <Company>MSI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Improving Dynamic Binary Optimization</dc:title>
  <dc:creator>adas</dc:creator>
  <cp:lastModifiedBy>Farn Wang</cp:lastModifiedBy>
  <cp:revision>344</cp:revision>
  <dcterms:created xsi:type="dcterms:W3CDTF">2005-12-19T17:13:25Z</dcterms:created>
  <dcterms:modified xsi:type="dcterms:W3CDTF">2025-09-05T04:17:51Z</dcterms:modified>
</cp:coreProperties>
</file>